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8" r:id="rId32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317"/>
    <p:restoredTop sz="94696"/>
  </p:normalViewPr>
  <p:slideViewPr>
    <p:cSldViewPr snapToGrid="0">
      <p:cViewPr>
        <p:scale>
          <a:sx n="190" d="100"/>
          <a:sy n="190" d="100"/>
        </p:scale>
        <p:origin x="264" y="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01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7666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Introducción: Ciencia de Datos en la Industria de Salud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647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 — Fundamentos de Python para datos biomédicos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3857082" cy="8309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</a:t>
            </a:r>
          </a:p>
          <a:p>
            <a:endParaRPr lang="es-ES" dirty="0">
              <a:solidFill>
                <a:srgbClr val="4A4A4A"/>
              </a:solidFill>
              <a:latin typeface="HelveticaNeue"/>
              <a:ea typeface="HelveticaNeue"/>
            </a:endParaRPr>
          </a:p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Semestre 2027-1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4135395" y="978840"/>
            <a:ext cx="1827936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Introducción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Forma libre 21"/>
          <p:cNvSpPr/>
          <p:nvPr/>
        </p:nvSpPr>
        <p:spPr>
          <a:xfrm>
            <a:off x="914040" y="30477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666720" y="2439720"/>
            <a:ext cx="3683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Antonio Daniel Martínez Gutiérrez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1123920" y="2935080"/>
            <a:ext cx="8435643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Doctorado en Ciencias Biomédicas 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— UNAM / Instituto Nacional de Cancerología,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Forma libre 24"/>
          <p:cNvSpPr/>
          <p:nvPr/>
        </p:nvSpPr>
        <p:spPr>
          <a:xfrm>
            <a:off x="914040" y="3790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1123920" y="3278160"/>
            <a:ext cx="1131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2017–2021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Forma libre 26"/>
          <p:cNvSpPr/>
          <p:nvPr/>
        </p:nvSpPr>
        <p:spPr>
          <a:xfrm>
            <a:off x="914040" y="41907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1123920" y="3678120"/>
            <a:ext cx="8503931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Biología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Ciencias de la Computación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FES Iztacala / Facultad de Ciencias, UNAM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1123920" y="4078080"/>
            <a:ext cx="7295267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Colaborador en el Laboratorio de Genómica del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INCan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FES Iztacala · </a:t>
            </a:r>
          </a:p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12+ artículos revisados por pares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 dirty="0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a libre 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Forma libre 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Forma libre 35"/>
          <p:cNvSpPr/>
          <p:nvPr/>
        </p:nvSpPr>
        <p:spPr>
          <a:xfrm>
            <a:off x="0" y="19728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Forma libre 36"/>
          <p:cNvSpPr/>
          <p:nvPr/>
        </p:nvSpPr>
        <p:spPr>
          <a:xfrm>
            <a:off x="676080" y="1895400"/>
            <a:ext cx="1010160" cy="409680"/>
          </a:xfrm>
          <a:custGeom>
            <a:avLst/>
            <a:gdLst/>
            <a:ahLst/>
            <a:cxnLst/>
            <a:rect l="0" t="0" r="r" b="b"/>
            <a:pathLst>
              <a:path w="2806" h="1138">
                <a:moveTo>
                  <a:pt x="0" y="0"/>
                </a:moveTo>
                <a:lnTo>
                  <a:pt x="2806" y="0"/>
                </a:lnTo>
                <a:lnTo>
                  <a:pt x="280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Forma libre 37"/>
          <p:cNvSpPr/>
          <p:nvPr/>
        </p:nvSpPr>
        <p:spPr>
          <a:xfrm>
            <a:off x="1685880" y="1895400"/>
            <a:ext cx="2267280" cy="409680"/>
          </a:xfrm>
          <a:custGeom>
            <a:avLst/>
            <a:gdLst/>
            <a:ahLst/>
            <a:cxnLst/>
            <a:rect l="0" t="0" r="r" b="b"/>
            <a:pathLst>
              <a:path w="6298" h="1138">
                <a:moveTo>
                  <a:pt x="0" y="0"/>
                </a:moveTo>
                <a:lnTo>
                  <a:pt x="6298" y="0"/>
                </a:lnTo>
                <a:lnTo>
                  <a:pt x="629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Forma libre 38"/>
          <p:cNvSpPr/>
          <p:nvPr/>
        </p:nvSpPr>
        <p:spPr>
          <a:xfrm>
            <a:off x="3952800" y="1895400"/>
            <a:ext cx="7572600" cy="409680"/>
          </a:xfrm>
          <a:custGeom>
            <a:avLst/>
            <a:gdLst/>
            <a:ahLst/>
            <a:cxnLst/>
            <a:rect l="0" t="0" r="r" b="b"/>
            <a:pathLst>
              <a:path w="21035" h="1138">
                <a:moveTo>
                  <a:pt x="0" y="0"/>
                </a:moveTo>
                <a:lnTo>
                  <a:pt x="21035" y="0"/>
                </a:lnTo>
                <a:lnTo>
                  <a:pt x="2103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orma libre 39"/>
          <p:cNvSpPr/>
          <p:nvPr/>
        </p:nvSpPr>
        <p:spPr>
          <a:xfrm>
            <a:off x="676080" y="1895400"/>
            <a:ext cx="1010160" cy="409680"/>
          </a:xfrm>
          <a:custGeom>
            <a:avLst/>
            <a:gdLst/>
            <a:ahLst/>
            <a:cxnLst/>
            <a:rect l="0" t="0" r="r" b="b"/>
            <a:pathLst>
              <a:path w="2806" h="1138">
                <a:moveTo>
                  <a:pt x="0" y="0"/>
                </a:moveTo>
                <a:lnTo>
                  <a:pt x="2806" y="0"/>
                </a:lnTo>
                <a:lnTo>
                  <a:pt x="280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Forma libre 40"/>
          <p:cNvSpPr/>
          <p:nvPr/>
        </p:nvSpPr>
        <p:spPr>
          <a:xfrm>
            <a:off x="1685880" y="1895400"/>
            <a:ext cx="2267280" cy="409680"/>
          </a:xfrm>
          <a:custGeom>
            <a:avLst/>
            <a:gdLst/>
            <a:ahLst/>
            <a:cxnLst/>
            <a:rect l="0" t="0" r="r" b="b"/>
            <a:pathLst>
              <a:path w="6298" h="1138">
                <a:moveTo>
                  <a:pt x="0" y="0"/>
                </a:moveTo>
                <a:lnTo>
                  <a:pt x="6298" y="0"/>
                </a:lnTo>
                <a:lnTo>
                  <a:pt x="629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orma libre 41"/>
          <p:cNvSpPr/>
          <p:nvPr/>
        </p:nvSpPr>
        <p:spPr>
          <a:xfrm>
            <a:off x="3952800" y="1895400"/>
            <a:ext cx="7572600" cy="409680"/>
          </a:xfrm>
          <a:custGeom>
            <a:avLst/>
            <a:gdLst/>
            <a:ahLst/>
            <a:cxnLst/>
            <a:rect l="0" t="0" r="r" b="b"/>
            <a:pathLst>
              <a:path w="21035" h="1138">
                <a:moveTo>
                  <a:pt x="0" y="0"/>
                </a:moveTo>
                <a:lnTo>
                  <a:pt x="21035" y="0"/>
                </a:lnTo>
                <a:lnTo>
                  <a:pt x="2103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Forma libre 42"/>
          <p:cNvSpPr/>
          <p:nvPr/>
        </p:nvSpPr>
        <p:spPr>
          <a:xfrm>
            <a:off x="676080" y="2304720"/>
            <a:ext cx="1010160" cy="705240"/>
          </a:xfrm>
          <a:custGeom>
            <a:avLst/>
            <a:gdLst/>
            <a:ahLst/>
            <a:cxnLst/>
            <a:rect l="0" t="0" r="r" b="b"/>
            <a:pathLst>
              <a:path w="2806" h="1959">
                <a:moveTo>
                  <a:pt x="0" y="0"/>
                </a:moveTo>
                <a:lnTo>
                  <a:pt x="2806" y="0"/>
                </a:lnTo>
                <a:lnTo>
                  <a:pt x="2806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Forma libre 43"/>
          <p:cNvSpPr/>
          <p:nvPr/>
        </p:nvSpPr>
        <p:spPr>
          <a:xfrm>
            <a:off x="1685880" y="2304720"/>
            <a:ext cx="2267280" cy="705240"/>
          </a:xfrm>
          <a:custGeom>
            <a:avLst/>
            <a:gdLst/>
            <a:ahLst/>
            <a:cxnLst/>
            <a:rect l="0" t="0" r="r" b="b"/>
            <a:pathLst>
              <a:path w="6298" h="1959">
                <a:moveTo>
                  <a:pt x="0" y="0"/>
                </a:moveTo>
                <a:lnTo>
                  <a:pt x="6298" y="0"/>
                </a:lnTo>
                <a:lnTo>
                  <a:pt x="629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Forma libre 44"/>
          <p:cNvSpPr/>
          <p:nvPr/>
        </p:nvSpPr>
        <p:spPr>
          <a:xfrm>
            <a:off x="3952800" y="2304720"/>
            <a:ext cx="7572600" cy="705240"/>
          </a:xfrm>
          <a:custGeom>
            <a:avLst/>
            <a:gdLst/>
            <a:ahLst/>
            <a:cxnLst/>
            <a:rect l="0" t="0" r="r" b="b"/>
            <a:pathLst>
              <a:path w="21035" h="1959">
                <a:moveTo>
                  <a:pt x="0" y="0"/>
                </a:moveTo>
                <a:lnTo>
                  <a:pt x="21035" y="0"/>
                </a:lnTo>
                <a:lnTo>
                  <a:pt x="21035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a libre 45"/>
          <p:cNvSpPr/>
          <p:nvPr/>
        </p:nvSpPr>
        <p:spPr>
          <a:xfrm>
            <a:off x="676080" y="3009600"/>
            <a:ext cx="1010160" cy="705240"/>
          </a:xfrm>
          <a:custGeom>
            <a:avLst/>
            <a:gdLst/>
            <a:ahLst/>
            <a:cxnLst/>
            <a:rect l="0" t="0" r="r" b="b"/>
            <a:pathLst>
              <a:path w="2806" h="1959">
                <a:moveTo>
                  <a:pt x="0" y="0"/>
                </a:moveTo>
                <a:lnTo>
                  <a:pt x="2806" y="0"/>
                </a:lnTo>
                <a:lnTo>
                  <a:pt x="2806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1685880" y="3009600"/>
            <a:ext cx="2267280" cy="705240"/>
          </a:xfrm>
          <a:custGeom>
            <a:avLst/>
            <a:gdLst/>
            <a:ahLst/>
            <a:cxnLst/>
            <a:rect l="0" t="0" r="r" b="b"/>
            <a:pathLst>
              <a:path w="6298" h="1959">
                <a:moveTo>
                  <a:pt x="0" y="0"/>
                </a:moveTo>
                <a:lnTo>
                  <a:pt x="6298" y="0"/>
                </a:lnTo>
                <a:lnTo>
                  <a:pt x="629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Forma libre 47"/>
          <p:cNvSpPr/>
          <p:nvPr/>
        </p:nvSpPr>
        <p:spPr>
          <a:xfrm>
            <a:off x="3952800" y="3009600"/>
            <a:ext cx="7572600" cy="705240"/>
          </a:xfrm>
          <a:custGeom>
            <a:avLst/>
            <a:gdLst/>
            <a:ahLst/>
            <a:cxnLst/>
            <a:rect l="0" t="0" r="r" b="b"/>
            <a:pathLst>
              <a:path w="21035" h="1959">
                <a:moveTo>
                  <a:pt x="0" y="0"/>
                </a:moveTo>
                <a:lnTo>
                  <a:pt x="21035" y="0"/>
                </a:lnTo>
                <a:lnTo>
                  <a:pt x="21035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orma libre 48"/>
          <p:cNvSpPr/>
          <p:nvPr/>
        </p:nvSpPr>
        <p:spPr>
          <a:xfrm>
            <a:off x="676080" y="3714480"/>
            <a:ext cx="1010160" cy="695880"/>
          </a:xfrm>
          <a:custGeom>
            <a:avLst/>
            <a:gdLst/>
            <a:ahLst/>
            <a:cxnLst/>
            <a:rect l="0" t="0" r="r" b="b"/>
            <a:pathLst>
              <a:path w="2806" h="1933">
                <a:moveTo>
                  <a:pt x="0" y="0"/>
                </a:moveTo>
                <a:lnTo>
                  <a:pt x="2806" y="0"/>
                </a:lnTo>
                <a:lnTo>
                  <a:pt x="2806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orma libre 49"/>
          <p:cNvSpPr/>
          <p:nvPr/>
        </p:nvSpPr>
        <p:spPr>
          <a:xfrm>
            <a:off x="1685880" y="3714480"/>
            <a:ext cx="2267280" cy="695880"/>
          </a:xfrm>
          <a:custGeom>
            <a:avLst/>
            <a:gdLst/>
            <a:ahLst/>
            <a:cxnLst/>
            <a:rect l="0" t="0" r="r" b="b"/>
            <a:pathLst>
              <a:path w="6298" h="1933">
                <a:moveTo>
                  <a:pt x="0" y="0"/>
                </a:moveTo>
                <a:lnTo>
                  <a:pt x="6298" y="0"/>
                </a:lnTo>
                <a:lnTo>
                  <a:pt x="6298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Forma libre 50"/>
          <p:cNvSpPr/>
          <p:nvPr/>
        </p:nvSpPr>
        <p:spPr>
          <a:xfrm>
            <a:off x="3952800" y="3714480"/>
            <a:ext cx="7572600" cy="695880"/>
          </a:xfrm>
          <a:custGeom>
            <a:avLst/>
            <a:gdLst/>
            <a:ahLst/>
            <a:cxnLst/>
            <a:rect l="0" t="0" r="r" b="b"/>
            <a:pathLst>
              <a:path w="21035" h="1933">
                <a:moveTo>
                  <a:pt x="0" y="0"/>
                </a:moveTo>
                <a:lnTo>
                  <a:pt x="21035" y="0"/>
                </a:lnTo>
                <a:lnTo>
                  <a:pt x="21035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Forma libre 51"/>
          <p:cNvSpPr/>
          <p:nvPr/>
        </p:nvSpPr>
        <p:spPr>
          <a:xfrm>
            <a:off x="676080" y="4410000"/>
            <a:ext cx="1010160" cy="705240"/>
          </a:xfrm>
          <a:custGeom>
            <a:avLst/>
            <a:gdLst/>
            <a:ahLst/>
            <a:cxnLst/>
            <a:rect l="0" t="0" r="r" b="b"/>
            <a:pathLst>
              <a:path w="2806" h="1959">
                <a:moveTo>
                  <a:pt x="0" y="0"/>
                </a:moveTo>
                <a:lnTo>
                  <a:pt x="2806" y="0"/>
                </a:lnTo>
                <a:lnTo>
                  <a:pt x="2806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1685880" y="4410000"/>
            <a:ext cx="2267280" cy="705240"/>
          </a:xfrm>
          <a:custGeom>
            <a:avLst/>
            <a:gdLst/>
            <a:ahLst/>
            <a:cxnLst/>
            <a:rect l="0" t="0" r="r" b="b"/>
            <a:pathLst>
              <a:path w="6298" h="1959">
                <a:moveTo>
                  <a:pt x="0" y="0"/>
                </a:moveTo>
                <a:lnTo>
                  <a:pt x="6298" y="0"/>
                </a:lnTo>
                <a:lnTo>
                  <a:pt x="629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3952800" y="4410000"/>
            <a:ext cx="7572600" cy="705240"/>
          </a:xfrm>
          <a:custGeom>
            <a:avLst/>
            <a:gdLst/>
            <a:ahLst/>
            <a:cxnLst/>
            <a:rect l="0" t="0" r="r" b="b"/>
            <a:pathLst>
              <a:path w="21035" h="1959">
                <a:moveTo>
                  <a:pt x="0" y="0"/>
                </a:moveTo>
                <a:lnTo>
                  <a:pt x="21035" y="0"/>
                </a:lnTo>
                <a:lnTo>
                  <a:pt x="21035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666720" y="1895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666720" y="1895400"/>
            <a:ext cx="1028880" cy="9720"/>
          </a:xfrm>
          <a:custGeom>
            <a:avLst/>
            <a:gdLst/>
            <a:ahLst/>
            <a:cxnLst/>
            <a:rect l="0" t="0" r="r" b="b"/>
            <a:pathLst>
              <a:path w="2858" h="27">
                <a:moveTo>
                  <a:pt x="0" y="0"/>
                </a:moveTo>
                <a:lnTo>
                  <a:pt x="2858" y="0"/>
                </a:lnTo>
                <a:lnTo>
                  <a:pt x="28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1685880" y="1895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1695240" y="189540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3943080" y="1895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3952800" y="1895400"/>
            <a:ext cx="7572600" cy="9720"/>
          </a:xfrm>
          <a:custGeom>
            <a:avLst/>
            <a:gdLst/>
            <a:ahLst/>
            <a:cxnLst/>
            <a:rect l="0" t="0" r="r" b="b"/>
            <a:pathLst>
              <a:path w="21035" h="27">
                <a:moveTo>
                  <a:pt x="0" y="0"/>
                </a:moveTo>
                <a:lnTo>
                  <a:pt x="21035" y="0"/>
                </a:lnTo>
                <a:lnTo>
                  <a:pt x="210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11515680" y="1895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666720" y="2304720"/>
            <a:ext cx="1028880" cy="10080"/>
          </a:xfrm>
          <a:custGeom>
            <a:avLst/>
            <a:gdLst/>
            <a:ahLst/>
            <a:cxnLst/>
            <a:rect l="0" t="0" r="r" b="b"/>
            <a:pathLst>
              <a:path w="2858" h="28">
                <a:moveTo>
                  <a:pt x="0" y="0"/>
                </a:moveTo>
                <a:lnTo>
                  <a:pt x="2858" y="0"/>
                </a:lnTo>
                <a:lnTo>
                  <a:pt x="28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1695240" y="230472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3952800" y="2304720"/>
            <a:ext cx="7572600" cy="10080"/>
          </a:xfrm>
          <a:custGeom>
            <a:avLst/>
            <a:gdLst/>
            <a:ahLst/>
            <a:cxnLst/>
            <a:rect l="0" t="0" r="r" b="b"/>
            <a:pathLst>
              <a:path w="21035" h="28">
                <a:moveTo>
                  <a:pt x="0" y="0"/>
                </a:moveTo>
                <a:lnTo>
                  <a:pt x="21035" y="0"/>
                </a:lnTo>
                <a:lnTo>
                  <a:pt x="210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666720" y="231444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1685880" y="231444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3943080" y="2314440"/>
            <a:ext cx="10080" cy="705240"/>
          </a:xfrm>
          <a:custGeom>
            <a:avLst/>
            <a:gdLst/>
            <a:ahLst/>
            <a:cxnLst/>
            <a:rect l="0" t="0" r="r" b="b"/>
            <a:pathLst>
              <a:path w="28" h="1959">
                <a:moveTo>
                  <a:pt x="0" y="0"/>
                </a:moveTo>
                <a:lnTo>
                  <a:pt x="28" y="0"/>
                </a:lnTo>
                <a:lnTo>
                  <a:pt x="2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11515680" y="231444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666720" y="301932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orma libre 69"/>
          <p:cNvSpPr/>
          <p:nvPr/>
        </p:nvSpPr>
        <p:spPr>
          <a:xfrm>
            <a:off x="666720" y="3009600"/>
            <a:ext cx="1028880" cy="10080"/>
          </a:xfrm>
          <a:custGeom>
            <a:avLst/>
            <a:gdLst/>
            <a:ahLst/>
            <a:cxnLst/>
            <a:rect l="0" t="0" r="r" b="b"/>
            <a:pathLst>
              <a:path w="2858" h="28">
                <a:moveTo>
                  <a:pt x="0" y="0"/>
                </a:moveTo>
                <a:lnTo>
                  <a:pt x="2858" y="0"/>
                </a:lnTo>
                <a:lnTo>
                  <a:pt x="28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1685880" y="301932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1695240" y="300960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3943080" y="3019320"/>
            <a:ext cx="10080" cy="705240"/>
          </a:xfrm>
          <a:custGeom>
            <a:avLst/>
            <a:gdLst/>
            <a:ahLst/>
            <a:cxnLst/>
            <a:rect l="0" t="0" r="r" b="b"/>
            <a:pathLst>
              <a:path w="28" h="1959">
                <a:moveTo>
                  <a:pt x="0" y="0"/>
                </a:moveTo>
                <a:lnTo>
                  <a:pt x="28" y="0"/>
                </a:lnTo>
                <a:lnTo>
                  <a:pt x="2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3952800" y="3009600"/>
            <a:ext cx="7572600" cy="10080"/>
          </a:xfrm>
          <a:custGeom>
            <a:avLst/>
            <a:gdLst/>
            <a:ahLst/>
            <a:cxnLst/>
            <a:rect l="0" t="0" r="r" b="b"/>
            <a:pathLst>
              <a:path w="21035" h="28">
                <a:moveTo>
                  <a:pt x="0" y="0"/>
                </a:moveTo>
                <a:lnTo>
                  <a:pt x="21035" y="0"/>
                </a:lnTo>
                <a:lnTo>
                  <a:pt x="210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11515680" y="301932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666720" y="3724200"/>
            <a:ext cx="9720" cy="695520"/>
          </a:xfrm>
          <a:custGeom>
            <a:avLst/>
            <a:gdLst/>
            <a:ahLst/>
            <a:cxnLst/>
            <a:rect l="0" t="0" r="r" b="b"/>
            <a:pathLst>
              <a:path w="27" h="1932">
                <a:moveTo>
                  <a:pt x="0" y="0"/>
                </a:moveTo>
                <a:lnTo>
                  <a:pt x="27" y="0"/>
                </a:lnTo>
                <a:lnTo>
                  <a:pt x="27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666720" y="3714480"/>
            <a:ext cx="1028880" cy="10080"/>
          </a:xfrm>
          <a:custGeom>
            <a:avLst/>
            <a:gdLst/>
            <a:ahLst/>
            <a:cxnLst/>
            <a:rect l="0" t="0" r="r" b="b"/>
            <a:pathLst>
              <a:path w="2858" h="28">
                <a:moveTo>
                  <a:pt x="0" y="0"/>
                </a:moveTo>
                <a:lnTo>
                  <a:pt x="2858" y="0"/>
                </a:lnTo>
                <a:lnTo>
                  <a:pt x="28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1685880" y="3724200"/>
            <a:ext cx="9720" cy="695520"/>
          </a:xfrm>
          <a:custGeom>
            <a:avLst/>
            <a:gdLst/>
            <a:ahLst/>
            <a:cxnLst/>
            <a:rect l="0" t="0" r="r" b="b"/>
            <a:pathLst>
              <a:path w="27" h="1932">
                <a:moveTo>
                  <a:pt x="0" y="0"/>
                </a:moveTo>
                <a:lnTo>
                  <a:pt x="27" y="0"/>
                </a:lnTo>
                <a:lnTo>
                  <a:pt x="27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1695240" y="3714480"/>
            <a:ext cx="2257920" cy="10080"/>
          </a:xfrm>
          <a:custGeom>
            <a:avLst/>
            <a:gdLst/>
            <a:ahLst/>
            <a:cxnLst/>
            <a:rect l="0" t="0" r="r" b="b"/>
            <a:pathLst>
              <a:path w="6272" h="28">
                <a:moveTo>
                  <a:pt x="0" y="0"/>
                </a:moveTo>
                <a:lnTo>
                  <a:pt x="6272" y="0"/>
                </a:lnTo>
                <a:lnTo>
                  <a:pt x="6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3943080" y="3724200"/>
            <a:ext cx="10080" cy="695520"/>
          </a:xfrm>
          <a:custGeom>
            <a:avLst/>
            <a:gdLst/>
            <a:ahLst/>
            <a:cxnLst/>
            <a:rect l="0" t="0" r="r" b="b"/>
            <a:pathLst>
              <a:path w="28" h="1932">
                <a:moveTo>
                  <a:pt x="0" y="0"/>
                </a:moveTo>
                <a:lnTo>
                  <a:pt x="28" y="0"/>
                </a:lnTo>
                <a:lnTo>
                  <a:pt x="28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3952800" y="3714480"/>
            <a:ext cx="7572600" cy="10080"/>
          </a:xfrm>
          <a:custGeom>
            <a:avLst/>
            <a:gdLst/>
            <a:ahLst/>
            <a:cxnLst/>
            <a:rect l="0" t="0" r="r" b="b"/>
            <a:pathLst>
              <a:path w="21035" h="28">
                <a:moveTo>
                  <a:pt x="0" y="0"/>
                </a:moveTo>
                <a:lnTo>
                  <a:pt x="21035" y="0"/>
                </a:lnTo>
                <a:lnTo>
                  <a:pt x="210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11515680" y="3724200"/>
            <a:ext cx="9720" cy="695520"/>
          </a:xfrm>
          <a:custGeom>
            <a:avLst/>
            <a:gdLst/>
            <a:ahLst/>
            <a:cxnLst/>
            <a:rect l="0" t="0" r="r" b="b"/>
            <a:pathLst>
              <a:path w="27" h="1932">
                <a:moveTo>
                  <a:pt x="0" y="0"/>
                </a:moveTo>
                <a:lnTo>
                  <a:pt x="27" y="0"/>
                </a:lnTo>
                <a:lnTo>
                  <a:pt x="27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666720" y="441936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666720" y="4410000"/>
            <a:ext cx="1028880" cy="9720"/>
          </a:xfrm>
          <a:custGeom>
            <a:avLst/>
            <a:gdLst/>
            <a:ahLst/>
            <a:cxnLst/>
            <a:rect l="0" t="0" r="r" b="b"/>
            <a:pathLst>
              <a:path w="2858" h="27">
                <a:moveTo>
                  <a:pt x="0" y="0"/>
                </a:moveTo>
                <a:lnTo>
                  <a:pt x="2858" y="0"/>
                </a:lnTo>
                <a:lnTo>
                  <a:pt x="28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1685880" y="441936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1695240" y="441000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3943080" y="4419360"/>
            <a:ext cx="10080" cy="705240"/>
          </a:xfrm>
          <a:custGeom>
            <a:avLst/>
            <a:gdLst/>
            <a:ahLst/>
            <a:cxnLst/>
            <a:rect l="0" t="0" r="r" b="b"/>
            <a:pathLst>
              <a:path w="28" h="1959">
                <a:moveTo>
                  <a:pt x="0" y="0"/>
                </a:moveTo>
                <a:lnTo>
                  <a:pt x="28" y="0"/>
                </a:lnTo>
                <a:lnTo>
                  <a:pt x="2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3952800" y="4410000"/>
            <a:ext cx="7572600" cy="9720"/>
          </a:xfrm>
          <a:custGeom>
            <a:avLst/>
            <a:gdLst/>
            <a:ahLst/>
            <a:cxnLst/>
            <a:rect l="0" t="0" r="r" b="b"/>
            <a:pathLst>
              <a:path w="21035" h="27">
                <a:moveTo>
                  <a:pt x="0" y="0"/>
                </a:moveTo>
                <a:lnTo>
                  <a:pt x="21035" y="0"/>
                </a:lnTo>
                <a:lnTo>
                  <a:pt x="210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11515680" y="4419360"/>
            <a:ext cx="9720" cy="705240"/>
          </a:xfrm>
          <a:custGeom>
            <a:avLst/>
            <a:gdLst/>
            <a:ahLst/>
            <a:cxnLst/>
            <a:rect l="0" t="0" r="r" b="b"/>
            <a:pathLst>
              <a:path w="27" h="1959">
                <a:moveTo>
                  <a:pt x="0" y="0"/>
                </a:moveTo>
                <a:lnTo>
                  <a:pt x="27" y="0"/>
                </a:lnTo>
                <a:lnTo>
                  <a:pt x="27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666720" y="5114880"/>
            <a:ext cx="1028880" cy="9720"/>
          </a:xfrm>
          <a:custGeom>
            <a:avLst/>
            <a:gdLst/>
            <a:ahLst/>
            <a:cxnLst/>
            <a:rect l="0" t="0" r="r" b="b"/>
            <a:pathLst>
              <a:path w="2858" h="27">
                <a:moveTo>
                  <a:pt x="0" y="0"/>
                </a:moveTo>
                <a:lnTo>
                  <a:pt x="2858" y="0"/>
                </a:lnTo>
                <a:lnTo>
                  <a:pt x="28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1695240" y="5114880"/>
            <a:ext cx="2257920" cy="9720"/>
          </a:xfrm>
          <a:custGeom>
            <a:avLst/>
            <a:gdLst/>
            <a:ahLst/>
            <a:cxnLst/>
            <a:rect l="0" t="0" r="r" b="b"/>
            <a:pathLst>
              <a:path w="6272" h="27">
                <a:moveTo>
                  <a:pt x="0" y="0"/>
                </a:moveTo>
                <a:lnTo>
                  <a:pt x="6272" y="0"/>
                </a:lnTo>
                <a:lnTo>
                  <a:pt x="62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3952800" y="5114880"/>
            <a:ext cx="7572600" cy="9720"/>
          </a:xfrm>
          <a:custGeom>
            <a:avLst/>
            <a:gdLst/>
            <a:ahLst/>
            <a:cxnLst/>
            <a:rect l="0" t="0" r="r" b="b"/>
            <a:pathLst>
              <a:path w="21035" h="27">
                <a:moveTo>
                  <a:pt x="0" y="0"/>
                </a:moveTo>
                <a:lnTo>
                  <a:pt x="21035" y="0"/>
                </a:lnTo>
                <a:lnTo>
                  <a:pt x="210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2640960" y="978825"/>
            <a:ext cx="5791650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Mi camino de la academia a la industria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949680" y="1999800"/>
            <a:ext cx="35266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Año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522160" y="1999800"/>
            <a:ext cx="596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Dónde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7278840" y="1999800"/>
            <a:ext cx="914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hacía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799920" y="2542680"/>
            <a:ext cx="424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1818720" y="2409480"/>
            <a:ext cx="1644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Grupo Modelo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(AB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1818720" y="2695320"/>
            <a:ext cx="505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InBev)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4079520" y="2542680"/>
            <a:ext cx="3350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ML para predecir satisfacción de clientes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799920" y="310464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2021–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CuadroTexto 101"/>
          <p:cNvSpPr txBox="1"/>
          <p:nvPr/>
        </p:nvSpPr>
        <p:spPr>
          <a:xfrm>
            <a:off x="799920" y="3390480"/>
            <a:ext cx="424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2026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1818720" y="3114360"/>
            <a:ext cx="1697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Holmusk</a:t>
            </a:r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(NY, salud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1818720" y="3400200"/>
            <a:ext cx="596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mental)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4079520" y="3104640"/>
            <a:ext cx="6468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Senior Data Scientist. Lideré un equipo; modelos de riesgo de hospitalización y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4079520" y="3390480"/>
            <a:ext cx="5117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suicidalidad sobre la mayor base de RWE en salud conductual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799920" y="380952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2024–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799920" y="4095360"/>
            <a:ext cx="424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2025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1818720" y="3952440"/>
            <a:ext cx="2005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Pﬁzer</a:t>
            </a:r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(Real </a:t>
            </a:r>
            <a:r>
              <a:rPr lang="es-ES" sz="15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World</a:t>
            </a:r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Data)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4079520" y="3952440"/>
            <a:ext cx="6344686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Herramientas de evaluación de bases OMOP para estudios de factibilidad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CuadroTexto 110"/>
          <p:cNvSpPr txBox="1"/>
          <p:nvPr/>
        </p:nvSpPr>
        <p:spPr>
          <a:xfrm>
            <a:off x="799920" y="464796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2026–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CuadroTexto 111"/>
          <p:cNvSpPr txBox="1"/>
          <p:nvPr/>
        </p:nvSpPr>
        <p:spPr>
          <a:xfrm>
            <a:off x="1818720" y="4514400"/>
            <a:ext cx="1841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Helix Genomics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(San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1818720" y="4800240"/>
            <a:ext cx="923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Mateo, CA)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4079520" y="4647960"/>
            <a:ext cx="5678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Senior Data Engineer/Scientist. Pipelines de datos genómicos y RWD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CuadroTexto 11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orma libre 1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CuadroTexto 121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869760" y="3268440"/>
            <a:ext cx="895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Distinguir los roles de data scientist, data engineer y ML engineer en la industria de salud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869760" y="3668400"/>
            <a:ext cx="5904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Describir el ciclo de vida de un proyecto de datos clínicos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869760" y="4068720"/>
            <a:ext cx="7590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Identiﬁcar qué son RWD y RWE, y por qué le importan a la FDA y a la 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Forma libre 1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CuadroTexto 136"/>
          <p:cNvSpPr txBox="1"/>
          <p:nvPr/>
        </p:nvSpPr>
        <p:spPr>
          <a:xfrm>
            <a:off x="869760" y="1858680"/>
            <a:ext cx="2757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Por qué este curso existe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869760" y="2259000"/>
            <a:ext cx="3443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El ecosistema de datos en salud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869760" y="2658960"/>
            <a:ext cx="3105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Roles y qué hace cada quien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869760" y="3058920"/>
            <a:ext cx="4163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Real-World Data y Real-World Evidence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869760" y="3458880"/>
            <a:ext cx="4794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Ciclo de vida de un proyecto de datos clínicos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869760" y="3859200"/>
            <a:ext cx="4636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Estandarización: por qué existe OMOP CDM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869760" y="4259160"/>
            <a:ext cx="185627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Mapa del curso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869760" y="4659120"/>
            <a:ext cx="242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Ética desde el día uno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orma libre 1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2954520" y="3063960"/>
            <a:ext cx="64328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Por qué este curso existe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rma libre 1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0" y="210467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_tradnl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1478053" y="932576"/>
            <a:ext cx="8570167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posgrado prepara para la academia, no para la industria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666721" y="2354040"/>
            <a:ext cx="11302560" cy="5539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se enseña en el posgrado: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método cientíﬁco, pensamiento crítico, conocimiento del dominio clínico/biomédico, tolerancia a la ambigüedad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914040" y="3800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666720" y="3192480"/>
            <a:ext cx="4517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casi nadie enseña en el posgrado: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914040" y="42004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1123920" y="3687480"/>
            <a:ext cx="6636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Programar de forma profesional, no sólo scripts que corren una vez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914040" y="4600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1123920" y="4087800"/>
            <a:ext cx="5566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Manejar datos que no caben en la memoria de su laptop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914040" y="5000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1123920" y="4487760"/>
            <a:ext cx="4150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Trabajar en equipo sobre el mismo código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1123920" y="4887720"/>
            <a:ext cx="609590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Reproducibilidad como requisito, no como buena intención</a:t>
            </a:r>
          </a:p>
          <a:p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9BEDB2-4B9D-2365-C3D5-1584B1580D7E}"/>
              </a:ext>
            </a:extLst>
          </p:cNvPr>
          <p:cNvSpPr txBox="1"/>
          <p:nvPr/>
        </p:nvSpPr>
        <p:spPr>
          <a:xfrm>
            <a:off x="666720" y="5536080"/>
            <a:ext cx="4442563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b="1" dirty="0">
                <a:solidFill>
                  <a:srgbClr val="4A4A4A"/>
                </a:solidFill>
                <a:latin typeface="HelveticaNeue"/>
                <a:ea typeface="HelveticaNeue"/>
              </a:rPr>
              <a:t>Precariedad laboral al terminar el posgrado</a:t>
            </a:r>
            <a:endParaRPr lang="es-ES" sz="1800" b="1" u="none" strike="noStrike" dirty="0">
              <a:solidFill>
                <a:srgbClr val="4A4A4A"/>
              </a:solidFill>
              <a:effectLst/>
              <a:uFillTx/>
              <a:latin typeface="HelveticaNeue"/>
              <a:ea typeface="HelveticaNeue"/>
            </a:endParaRPr>
          </a:p>
          <a:p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orma libre 1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666720" y="431460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666720" y="431460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orma libre 178"/>
          <p:cNvSpPr/>
          <p:nvPr/>
        </p:nvSpPr>
        <p:spPr>
          <a:xfrm>
            <a:off x="914040" y="2771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666720" y="1987200"/>
            <a:ext cx="43786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panorama de egreso cambió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914040" y="3171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1123920" y="2658960"/>
            <a:ext cx="6814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ruta académica tradicional sigue existiendo, pero ya no es la única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orma libre 182"/>
          <p:cNvSpPr/>
          <p:nvPr/>
        </p:nvSpPr>
        <p:spPr>
          <a:xfrm>
            <a:off x="914040" y="3571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1123920" y="3058920"/>
            <a:ext cx="841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Farmacéuticas, health-tech, RWE, CROs y consultoría contratan doctores en ciencias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914040" y="3971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CuadroTexto 185"/>
          <p:cNvSpPr txBox="1"/>
          <p:nvPr/>
        </p:nvSpPr>
        <p:spPr>
          <a:xfrm>
            <a:off x="1123920" y="3458880"/>
            <a:ext cx="6046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Muchas de esas posiciones son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remotas e internacionales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1123920" y="3859200"/>
            <a:ext cx="6915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PhD que además programa bien es un perﬁl escaso y bien pagado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905040" y="4468680"/>
            <a:ext cx="7988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No se trata de abandonar la ciencia. Se trata de tener más de una puerta abierta.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orma libre 1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CuadroTexto 194"/>
          <p:cNvSpPr txBox="1"/>
          <p:nvPr/>
        </p:nvSpPr>
        <p:spPr>
          <a:xfrm>
            <a:off x="2170440" y="3063960"/>
            <a:ext cx="8033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El ecosistema de datos en salud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CuadroTexto 19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CuadroTexto 19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CuadroTexto 19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Forma libre 1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676080" y="2504880"/>
            <a:ext cx="2648160" cy="410040"/>
          </a:xfrm>
          <a:custGeom>
            <a:avLst/>
            <a:gdLst/>
            <a:ahLst/>
            <a:cxnLst/>
            <a:rect l="0" t="0" r="r" b="b"/>
            <a:pathLst>
              <a:path w="7356" h="1139">
                <a:moveTo>
                  <a:pt x="0" y="0"/>
                </a:moveTo>
                <a:lnTo>
                  <a:pt x="7356" y="0"/>
                </a:lnTo>
                <a:lnTo>
                  <a:pt x="73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3323880" y="2504880"/>
            <a:ext cx="4267800" cy="410040"/>
          </a:xfrm>
          <a:custGeom>
            <a:avLst/>
            <a:gdLst/>
            <a:ahLst/>
            <a:cxnLst/>
            <a:rect l="0" t="0" r="r" b="b"/>
            <a:pathLst>
              <a:path w="11855" h="1139">
                <a:moveTo>
                  <a:pt x="0" y="0"/>
                </a:moveTo>
                <a:lnTo>
                  <a:pt x="11855" y="0"/>
                </a:lnTo>
                <a:lnTo>
                  <a:pt x="1185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7591320" y="2504880"/>
            <a:ext cx="3667320" cy="410040"/>
          </a:xfrm>
          <a:custGeom>
            <a:avLst/>
            <a:gdLst/>
            <a:ahLst/>
            <a:cxnLst/>
            <a:rect l="0" t="0" r="r" b="b"/>
            <a:pathLst>
              <a:path w="10187" h="1139">
                <a:moveTo>
                  <a:pt x="0" y="0"/>
                </a:moveTo>
                <a:lnTo>
                  <a:pt x="10187" y="0"/>
                </a:lnTo>
                <a:lnTo>
                  <a:pt x="1018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676080" y="2504880"/>
            <a:ext cx="2648160" cy="410040"/>
          </a:xfrm>
          <a:custGeom>
            <a:avLst/>
            <a:gdLst/>
            <a:ahLst/>
            <a:cxnLst/>
            <a:rect l="0" t="0" r="r" b="b"/>
            <a:pathLst>
              <a:path w="7356" h="1139">
                <a:moveTo>
                  <a:pt x="0" y="0"/>
                </a:moveTo>
                <a:lnTo>
                  <a:pt x="7356" y="0"/>
                </a:lnTo>
                <a:lnTo>
                  <a:pt x="73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3323880" y="2504880"/>
            <a:ext cx="4267800" cy="410040"/>
          </a:xfrm>
          <a:custGeom>
            <a:avLst/>
            <a:gdLst/>
            <a:ahLst/>
            <a:cxnLst/>
            <a:rect l="0" t="0" r="r" b="b"/>
            <a:pathLst>
              <a:path w="11855" h="1139">
                <a:moveTo>
                  <a:pt x="0" y="0"/>
                </a:moveTo>
                <a:lnTo>
                  <a:pt x="11855" y="0"/>
                </a:lnTo>
                <a:lnTo>
                  <a:pt x="1185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7591320" y="2504880"/>
            <a:ext cx="3667320" cy="410040"/>
          </a:xfrm>
          <a:custGeom>
            <a:avLst/>
            <a:gdLst/>
            <a:ahLst/>
            <a:cxnLst/>
            <a:rect l="0" t="0" r="r" b="b"/>
            <a:pathLst>
              <a:path w="10187" h="1139">
                <a:moveTo>
                  <a:pt x="0" y="0"/>
                </a:moveTo>
                <a:lnTo>
                  <a:pt x="10187" y="0"/>
                </a:lnTo>
                <a:lnTo>
                  <a:pt x="1018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676080" y="2914560"/>
            <a:ext cx="2648160" cy="419400"/>
          </a:xfrm>
          <a:custGeom>
            <a:avLst/>
            <a:gdLst/>
            <a:ahLst/>
            <a:cxnLst/>
            <a:rect l="0" t="0" r="r" b="b"/>
            <a:pathLst>
              <a:path w="7356" h="1165">
                <a:moveTo>
                  <a:pt x="0" y="0"/>
                </a:moveTo>
                <a:lnTo>
                  <a:pt x="7356" y="0"/>
                </a:lnTo>
                <a:lnTo>
                  <a:pt x="73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3323880" y="2914560"/>
            <a:ext cx="4267800" cy="419400"/>
          </a:xfrm>
          <a:custGeom>
            <a:avLst/>
            <a:gdLst/>
            <a:ahLst/>
            <a:cxnLst/>
            <a:rect l="0" t="0" r="r" b="b"/>
            <a:pathLst>
              <a:path w="11855" h="1165">
                <a:moveTo>
                  <a:pt x="0" y="0"/>
                </a:moveTo>
                <a:lnTo>
                  <a:pt x="11855" y="0"/>
                </a:lnTo>
                <a:lnTo>
                  <a:pt x="1185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7591320" y="2914560"/>
            <a:ext cx="3667320" cy="419400"/>
          </a:xfrm>
          <a:custGeom>
            <a:avLst/>
            <a:gdLst/>
            <a:ahLst/>
            <a:cxnLst/>
            <a:rect l="0" t="0" r="r" b="b"/>
            <a:pathLst>
              <a:path w="10187" h="1165">
                <a:moveTo>
                  <a:pt x="0" y="0"/>
                </a:moveTo>
                <a:lnTo>
                  <a:pt x="10187" y="0"/>
                </a:lnTo>
                <a:lnTo>
                  <a:pt x="101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676080" y="3333600"/>
            <a:ext cx="2648160" cy="419400"/>
          </a:xfrm>
          <a:custGeom>
            <a:avLst/>
            <a:gdLst/>
            <a:ahLst/>
            <a:cxnLst/>
            <a:rect l="0" t="0" r="r" b="b"/>
            <a:pathLst>
              <a:path w="7356" h="1165">
                <a:moveTo>
                  <a:pt x="0" y="0"/>
                </a:moveTo>
                <a:lnTo>
                  <a:pt x="7356" y="0"/>
                </a:lnTo>
                <a:lnTo>
                  <a:pt x="73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3323880" y="3333600"/>
            <a:ext cx="4267800" cy="419400"/>
          </a:xfrm>
          <a:custGeom>
            <a:avLst/>
            <a:gdLst/>
            <a:ahLst/>
            <a:cxnLst/>
            <a:rect l="0" t="0" r="r" b="b"/>
            <a:pathLst>
              <a:path w="11855" h="1165">
                <a:moveTo>
                  <a:pt x="0" y="0"/>
                </a:moveTo>
                <a:lnTo>
                  <a:pt x="11855" y="0"/>
                </a:lnTo>
                <a:lnTo>
                  <a:pt x="1185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7591320" y="3333600"/>
            <a:ext cx="3667320" cy="419400"/>
          </a:xfrm>
          <a:custGeom>
            <a:avLst/>
            <a:gdLst/>
            <a:ahLst/>
            <a:cxnLst/>
            <a:rect l="0" t="0" r="r" b="b"/>
            <a:pathLst>
              <a:path w="10187" h="1165">
                <a:moveTo>
                  <a:pt x="0" y="0"/>
                </a:moveTo>
                <a:lnTo>
                  <a:pt x="10187" y="0"/>
                </a:lnTo>
                <a:lnTo>
                  <a:pt x="101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676080" y="3752640"/>
            <a:ext cx="2648160" cy="419400"/>
          </a:xfrm>
          <a:custGeom>
            <a:avLst/>
            <a:gdLst/>
            <a:ahLst/>
            <a:cxnLst/>
            <a:rect l="0" t="0" r="r" b="b"/>
            <a:pathLst>
              <a:path w="7356" h="1165">
                <a:moveTo>
                  <a:pt x="0" y="0"/>
                </a:moveTo>
                <a:lnTo>
                  <a:pt x="7356" y="0"/>
                </a:lnTo>
                <a:lnTo>
                  <a:pt x="73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3323880" y="3752640"/>
            <a:ext cx="4267800" cy="419400"/>
          </a:xfrm>
          <a:custGeom>
            <a:avLst/>
            <a:gdLst/>
            <a:ahLst/>
            <a:cxnLst/>
            <a:rect l="0" t="0" r="r" b="b"/>
            <a:pathLst>
              <a:path w="11855" h="1165">
                <a:moveTo>
                  <a:pt x="0" y="0"/>
                </a:moveTo>
                <a:lnTo>
                  <a:pt x="11855" y="0"/>
                </a:lnTo>
                <a:lnTo>
                  <a:pt x="1185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7591320" y="3752640"/>
            <a:ext cx="3667320" cy="419400"/>
          </a:xfrm>
          <a:custGeom>
            <a:avLst/>
            <a:gdLst/>
            <a:ahLst/>
            <a:cxnLst/>
            <a:rect l="0" t="0" r="r" b="b"/>
            <a:pathLst>
              <a:path w="10187" h="1165">
                <a:moveTo>
                  <a:pt x="0" y="0"/>
                </a:moveTo>
                <a:lnTo>
                  <a:pt x="10187" y="0"/>
                </a:lnTo>
                <a:lnTo>
                  <a:pt x="101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676080" y="4171680"/>
            <a:ext cx="2648160" cy="419400"/>
          </a:xfrm>
          <a:custGeom>
            <a:avLst/>
            <a:gdLst/>
            <a:ahLst/>
            <a:cxnLst/>
            <a:rect l="0" t="0" r="r" b="b"/>
            <a:pathLst>
              <a:path w="7356" h="1165">
                <a:moveTo>
                  <a:pt x="0" y="0"/>
                </a:moveTo>
                <a:lnTo>
                  <a:pt x="7356" y="0"/>
                </a:lnTo>
                <a:lnTo>
                  <a:pt x="73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3323880" y="4171680"/>
            <a:ext cx="4267800" cy="419400"/>
          </a:xfrm>
          <a:custGeom>
            <a:avLst/>
            <a:gdLst/>
            <a:ahLst/>
            <a:cxnLst/>
            <a:rect l="0" t="0" r="r" b="b"/>
            <a:pathLst>
              <a:path w="11855" h="1165">
                <a:moveTo>
                  <a:pt x="0" y="0"/>
                </a:moveTo>
                <a:lnTo>
                  <a:pt x="11855" y="0"/>
                </a:lnTo>
                <a:lnTo>
                  <a:pt x="1185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7591320" y="4171680"/>
            <a:ext cx="3667320" cy="419400"/>
          </a:xfrm>
          <a:custGeom>
            <a:avLst/>
            <a:gdLst/>
            <a:ahLst/>
            <a:cxnLst/>
            <a:rect l="0" t="0" r="r" b="b"/>
            <a:pathLst>
              <a:path w="10187" h="1165">
                <a:moveTo>
                  <a:pt x="0" y="0"/>
                </a:moveTo>
                <a:lnTo>
                  <a:pt x="10187" y="0"/>
                </a:lnTo>
                <a:lnTo>
                  <a:pt x="101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676080" y="4590720"/>
            <a:ext cx="2648160" cy="419760"/>
          </a:xfrm>
          <a:custGeom>
            <a:avLst/>
            <a:gdLst/>
            <a:ahLst/>
            <a:cxnLst/>
            <a:rect l="0" t="0" r="r" b="b"/>
            <a:pathLst>
              <a:path w="7356" h="1166">
                <a:moveTo>
                  <a:pt x="0" y="0"/>
                </a:moveTo>
                <a:lnTo>
                  <a:pt x="7356" y="0"/>
                </a:lnTo>
                <a:lnTo>
                  <a:pt x="735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3323880" y="4590720"/>
            <a:ext cx="4267800" cy="419760"/>
          </a:xfrm>
          <a:custGeom>
            <a:avLst/>
            <a:gdLst/>
            <a:ahLst/>
            <a:cxnLst/>
            <a:rect l="0" t="0" r="r" b="b"/>
            <a:pathLst>
              <a:path w="11855" h="1166">
                <a:moveTo>
                  <a:pt x="0" y="0"/>
                </a:moveTo>
                <a:lnTo>
                  <a:pt x="11855" y="0"/>
                </a:lnTo>
                <a:lnTo>
                  <a:pt x="11855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7591320" y="4590720"/>
            <a:ext cx="3667320" cy="419760"/>
          </a:xfrm>
          <a:custGeom>
            <a:avLst/>
            <a:gdLst/>
            <a:ahLst/>
            <a:cxnLst/>
            <a:rect l="0" t="0" r="r" b="b"/>
            <a:pathLst>
              <a:path w="10187" h="1166">
                <a:moveTo>
                  <a:pt x="0" y="0"/>
                </a:moveTo>
                <a:lnTo>
                  <a:pt x="10187" y="0"/>
                </a:lnTo>
                <a:lnTo>
                  <a:pt x="1018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66672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666720" y="2495520"/>
            <a:ext cx="2667240" cy="9720"/>
          </a:xfrm>
          <a:custGeom>
            <a:avLst/>
            <a:gdLst/>
            <a:ahLst/>
            <a:cxn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3323880" y="2495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3333600" y="2495520"/>
            <a:ext cx="4258080" cy="9720"/>
          </a:xfrm>
          <a:custGeom>
            <a:avLst/>
            <a:gdLst/>
            <a:ahLst/>
            <a:cxn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7581600" y="2495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7591320" y="2495520"/>
            <a:ext cx="3677040" cy="9720"/>
          </a:xfrm>
          <a:custGeom>
            <a:avLst/>
            <a:gdLst/>
            <a:ahLst/>
            <a:cxn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11258280" y="2495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666720" y="2904840"/>
            <a:ext cx="2667240" cy="10080"/>
          </a:xfrm>
          <a:custGeom>
            <a:avLst/>
            <a:gdLst/>
            <a:ahLst/>
            <a:cxn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3333600" y="2904840"/>
            <a:ext cx="4258080" cy="10080"/>
          </a:xfrm>
          <a:custGeom>
            <a:avLst/>
            <a:gdLst/>
            <a:ahLst/>
            <a:cxn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7591320" y="2904840"/>
            <a:ext cx="3677040" cy="10080"/>
          </a:xfrm>
          <a:custGeom>
            <a:avLst/>
            <a:gdLst/>
            <a:ahLst/>
            <a:cxn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66672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3323880" y="2914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7581600" y="2914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11258280" y="2914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6672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66720" y="3323880"/>
            <a:ext cx="2667240" cy="10080"/>
          </a:xfrm>
          <a:custGeom>
            <a:avLst/>
            <a:gdLst/>
            <a:ahLst/>
            <a:cxn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332388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3333600" y="3323880"/>
            <a:ext cx="4258080" cy="10080"/>
          </a:xfrm>
          <a:custGeom>
            <a:avLst/>
            <a:gdLst/>
            <a:ahLst/>
            <a:cxn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orma libre 240"/>
          <p:cNvSpPr/>
          <p:nvPr/>
        </p:nvSpPr>
        <p:spPr>
          <a:xfrm>
            <a:off x="758160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orma libre 241"/>
          <p:cNvSpPr/>
          <p:nvPr/>
        </p:nvSpPr>
        <p:spPr>
          <a:xfrm>
            <a:off x="7591320" y="3323880"/>
            <a:ext cx="3677040" cy="10080"/>
          </a:xfrm>
          <a:custGeom>
            <a:avLst/>
            <a:gdLst/>
            <a:ahLst/>
            <a:cxn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orma libre 242"/>
          <p:cNvSpPr/>
          <p:nvPr/>
        </p:nvSpPr>
        <p:spPr>
          <a:xfrm>
            <a:off x="1125828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orma libre 243"/>
          <p:cNvSpPr/>
          <p:nvPr/>
        </p:nvSpPr>
        <p:spPr>
          <a:xfrm>
            <a:off x="66672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666720" y="3743280"/>
            <a:ext cx="2667240" cy="9720"/>
          </a:xfrm>
          <a:custGeom>
            <a:avLst/>
            <a:gdLst/>
            <a:ahLst/>
            <a:cxn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3323880" y="3752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3333600" y="3743280"/>
            <a:ext cx="4258080" cy="9720"/>
          </a:xfrm>
          <a:custGeom>
            <a:avLst/>
            <a:gdLst/>
            <a:ahLst/>
            <a:cxn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orma libre 247"/>
          <p:cNvSpPr/>
          <p:nvPr/>
        </p:nvSpPr>
        <p:spPr>
          <a:xfrm>
            <a:off x="7581600" y="3752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7591320" y="3743280"/>
            <a:ext cx="3677040" cy="9720"/>
          </a:xfrm>
          <a:custGeom>
            <a:avLst/>
            <a:gdLst/>
            <a:ahLst/>
            <a:cxn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orma libre 249"/>
          <p:cNvSpPr/>
          <p:nvPr/>
        </p:nvSpPr>
        <p:spPr>
          <a:xfrm>
            <a:off x="11258280" y="3752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orma libre 250"/>
          <p:cNvSpPr/>
          <p:nvPr/>
        </p:nvSpPr>
        <p:spPr>
          <a:xfrm>
            <a:off x="666720" y="4171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666720" y="4162320"/>
            <a:ext cx="2667240" cy="9720"/>
          </a:xfrm>
          <a:custGeom>
            <a:avLst/>
            <a:gdLst/>
            <a:ahLst/>
            <a:cxn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3323880" y="4171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orma libre 253"/>
          <p:cNvSpPr/>
          <p:nvPr/>
        </p:nvSpPr>
        <p:spPr>
          <a:xfrm>
            <a:off x="3333600" y="4162320"/>
            <a:ext cx="4258080" cy="9720"/>
          </a:xfrm>
          <a:custGeom>
            <a:avLst/>
            <a:gdLst/>
            <a:ahLst/>
            <a:cxn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7581600" y="4171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7591320" y="4162320"/>
            <a:ext cx="3677040" cy="9720"/>
          </a:xfrm>
          <a:custGeom>
            <a:avLst/>
            <a:gdLst/>
            <a:ahLst/>
            <a:cxn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orma libre 256"/>
          <p:cNvSpPr/>
          <p:nvPr/>
        </p:nvSpPr>
        <p:spPr>
          <a:xfrm>
            <a:off x="11258280" y="4171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orma libre 257"/>
          <p:cNvSpPr/>
          <p:nvPr/>
        </p:nvSpPr>
        <p:spPr>
          <a:xfrm>
            <a:off x="666720" y="45907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orma libre 258"/>
          <p:cNvSpPr/>
          <p:nvPr/>
        </p:nvSpPr>
        <p:spPr>
          <a:xfrm>
            <a:off x="666720" y="4581360"/>
            <a:ext cx="2667240" cy="9720"/>
          </a:xfrm>
          <a:custGeom>
            <a:avLst/>
            <a:gdLst/>
            <a:ahLst/>
            <a:cxn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3323880" y="45907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orma libre 260"/>
          <p:cNvSpPr/>
          <p:nvPr/>
        </p:nvSpPr>
        <p:spPr>
          <a:xfrm>
            <a:off x="3333600" y="4581360"/>
            <a:ext cx="4258080" cy="9720"/>
          </a:xfrm>
          <a:custGeom>
            <a:avLst/>
            <a:gdLst/>
            <a:ahLst/>
            <a:cxnLst/>
            <a:rect l="0" t="0" r="r" b="b"/>
            <a:pathLst>
              <a:path w="11828" h="27">
                <a:moveTo>
                  <a:pt x="0" y="0"/>
                </a:moveTo>
                <a:lnTo>
                  <a:pt x="11828" y="0"/>
                </a:lnTo>
                <a:lnTo>
                  <a:pt x="118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7581600" y="45907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7591320" y="4581360"/>
            <a:ext cx="3677040" cy="9720"/>
          </a:xfrm>
          <a:custGeom>
            <a:avLst/>
            <a:gdLst/>
            <a:ahLst/>
            <a:cxnLst/>
            <a:rect l="0" t="0" r="r" b="b"/>
            <a:pathLst>
              <a:path w="10214" h="27">
                <a:moveTo>
                  <a:pt x="0" y="0"/>
                </a:moveTo>
                <a:lnTo>
                  <a:pt x="10214" y="0"/>
                </a:lnTo>
                <a:lnTo>
                  <a:pt x="10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11258280" y="45907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666720" y="5000400"/>
            <a:ext cx="2667240" cy="10080"/>
          </a:xfrm>
          <a:custGeom>
            <a:avLst/>
            <a:gdLst/>
            <a:ahLst/>
            <a:cxn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3333600" y="5000400"/>
            <a:ext cx="4258080" cy="10080"/>
          </a:xfrm>
          <a:custGeom>
            <a:avLst/>
            <a:gdLst/>
            <a:ahLst/>
            <a:cxnLst/>
            <a:rect l="0" t="0" r="r" b="b"/>
            <a:pathLst>
              <a:path w="11828" h="28">
                <a:moveTo>
                  <a:pt x="0" y="0"/>
                </a:moveTo>
                <a:lnTo>
                  <a:pt x="11828" y="0"/>
                </a:lnTo>
                <a:lnTo>
                  <a:pt x="118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7591320" y="5000400"/>
            <a:ext cx="3677040" cy="10080"/>
          </a:xfrm>
          <a:custGeom>
            <a:avLst/>
            <a:gdLst/>
            <a:ahLst/>
            <a:cxnLst/>
            <a:rect l="0" t="0" r="r" b="b"/>
            <a:pathLst>
              <a:path w="10214" h="28">
                <a:moveTo>
                  <a:pt x="0" y="0"/>
                </a:moveTo>
                <a:lnTo>
                  <a:pt x="10214" y="0"/>
                </a:lnTo>
                <a:lnTo>
                  <a:pt x="10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666720" y="1863360"/>
            <a:ext cx="3560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 dónde salen los datos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1685880" y="2599920"/>
            <a:ext cx="625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Fuente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4852800" y="2599920"/>
            <a:ext cx="1210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contiene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8861040" y="2599920"/>
            <a:ext cx="1129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Sesgo típico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799920" y="3009600"/>
            <a:ext cx="2396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EHR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(expediente electrónico)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3453480" y="3009600"/>
            <a:ext cx="4008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Diagnósticos, notas, laboratorios, medicamentos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7719120" y="3009600"/>
            <a:ext cx="2869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Sólo ves al paciente cuando acude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799920" y="3428640"/>
            <a:ext cx="1676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Claims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(facturación)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CuadroTexto 275"/>
          <p:cNvSpPr txBox="1"/>
          <p:nvPr/>
        </p:nvSpPr>
        <p:spPr>
          <a:xfrm>
            <a:off x="3453480" y="3428640"/>
            <a:ext cx="2752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Servicios cobrados, dispensación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7719120" y="3428640"/>
            <a:ext cx="3430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Optimizado para cobrar, no para describir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799920" y="3847680"/>
            <a:ext cx="844527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Registros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3453480" y="3847680"/>
            <a:ext cx="2337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Cáncer, enfermedades raras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7719120" y="3847680"/>
            <a:ext cx="2527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Alta calidad, cobertura limitada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799920" y="4266720"/>
            <a:ext cx="1517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Ensayos clínicos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CuadroTexto 281"/>
          <p:cNvSpPr txBox="1"/>
          <p:nvPr/>
        </p:nvSpPr>
        <p:spPr>
          <a:xfrm>
            <a:off x="3453480" y="4266720"/>
            <a:ext cx="2460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Datos rigurosos y controlados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7719120" y="4266720"/>
            <a:ext cx="2340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Población muy seleccionada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799920" y="4685760"/>
            <a:ext cx="1795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Wearables / ómicas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CuadroTexto 284"/>
          <p:cNvSpPr txBox="1"/>
          <p:nvPr/>
        </p:nvSpPr>
        <p:spPr>
          <a:xfrm>
            <a:off x="3453480" y="4685760"/>
            <a:ext cx="3026213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Datos continuos, de alta resolución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7719120" y="4685760"/>
            <a:ext cx="2562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Poblaciones no representativas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Forma libre 2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0" y="21420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666720" y="240012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666720" y="240012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CuadroTexto 294"/>
          <p:cNvSpPr txBox="1"/>
          <p:nvPr/>
        </p:nvSpPr>
        <p:spPr>
          <a:xfrm>
            <a:off x="666720" y="1768320"/>
            <a:ext cx="4865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idea incómoda de todo el curso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905040" y="2554200"/>
            <a:ext cx="11125803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Los datos clínicos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fueron creados para hacer investigación</a:t>
            </a:r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Fueron creados para atender a un paciente y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905040" y="2896920"/>
            <a:ext cx="2309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para cobrarle a alguien.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914040" y="4114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666720" y="3506760"/>
            <a:ext cx="2537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Consecuencias prácticas: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914040" y="4514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1123920" y="4002120"/>
            <a:ext cx="7305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ausencia de un dato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 dato (nadie pidió esa prueba, y eso informa)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914040" y="4914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CuadroTexto 302"/>
          <p:cNvSpPr txBox="1"/>
          <p:nvPr/>
        </p:nvSpPr>
        <p:spPr>
          <a:xfrm>
            <a:off x="1123920" y="4402080"/>
            <a:ext cx="5229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mismo paciente aparece distinto en dos hospitales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CuadroTexto 303"/>
          <p:cNvSpPr txBox="1"/>
          <p:nvPr/>
        </p:nvSpPr>
        <p:spPr>
          <a:xfrm>
            <a:off x="1123920" y="4802040"/>
            <a:ext cx="5671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código de facturación no siempre es el diagnóstico real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CuadroTexto 30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Forma libre 3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CuadroTexto 310"/>
          <p:cNvSpPr txBox="1"/>
          <p:nvPr/>
        </p:nvSpPr>
        <p:spPr>
          <a:xfrm>
            <a:off x="2554200" y="3063960"/>
            <a:ext cx="7244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Roles y qué hace cada quien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Forma libre 3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676080" y="2466720"/>
            <a:ext cx="1543320" cy="410040"/>
          </a:xfrm>
          <a:custGeom>
            <a:avLst/>
            <a:gdLst/>
            <a:ahLst/>
            <a:cxnLst/>
            <a:rect l="0" t="0" r="r" b="b"/>
            <a:pathLst>
              <a:path w="4287" h="1139">
                <a:moveTo>
                  <a:pt x="0" y="0"/>
                </a:moveTo>
                <a:lnTo>
                  <a:pt x="4287" y="0"/>
                </a:lnTo>
                <a:lnTo>
                  <a:pt x="428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2219040" y="2466720"/>
            <a:ext cx="3705840" cy="410040"/>
          </a:xfrm>
          <a:custGeom>
            <a:avLst/>
            <a:gdLst/>
            <a:ahLst/>
            <a:cxnLst/>
            <a:rect l="0" t="0" r="r" b="b"/>
            <a:pathLst>
              <a:path w="10294" h="1139">
                <a:moveTo>
                  <a:pt x="0" y="0"/>
                </a:moveTo>
                <a:lnTo>
                  <a:pt x="10294" y="0"/>
                </a:lnTo>
                <a:lnTo>
                  <a:pt x="102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5924520" y="246672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676080" y="2466720"/>
            <a:ext cx="1543320" cy="410040"/>
          </a:xfrm>
          <a:custGeom>
            <a:avLst/>
            <a:gdLst/>
            <a:ahLst/>
            <a:cxnLst/>
            <a:rect l="0" t="0" r="r" b="b"/>
            <a:pathLst>
              <a:path w="4287" h="1139">
                <a:moveTo>
                  <a:pt x="0" y="0"/>
                </a:moveTo>
                <a:lnTo>
                  <a:pt x="4287" y="0"/>
                </a:lnTo>
                <a:lnTo>
                  <a:pt x="428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2219040" y="2466720"/>
            <a:ext cx="3705840" cy="410040"/>
          </a:xfrm>
          <a:custGeom>
            <a:avLst/>
            <a:gdLst/>
            <a:ahLst/>
            <a:cxnLst/>
            <a:rect l="0" t="0" r="r" b="b"/>
            <a:pathLst>
              <a:path w="10294" h="1139">
                <a:moveTo>
                  <a:pt x="0" y="0"/>
                </a:moveTo>
                <a:lnTo>
                  <a:pt x="10294" y="0"/>
                </a:lnTo>
                <a:lnTo>
                  <a:pt x="1029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5924520" y="2466720"/>
            <a:ext cx="2410200" cy="410040"/>
          </a:xfrm>
          <a:custGeom>
            <a:avLst/>
            <a:gdLst/>
            <a:ahLst/>
            <a:cxnLst/>
            <a:rect l="0" t="0" r="r" b="b"/>
            <a:pathLst>
              <a:path w="6695" h="1139">
                <a:moveTo>
                  <a:pt x="0" y="0"/>
                </a:moveTo>
                <a:lnTo>
                  <a:pt x="6695" y="0"/>
                </a:lnTo>
                <a:lnTo>
                  <a:pt x="66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676080" y="2876400"/>
            <a:ext cx="1543320" cy="419400"/>
          </a:xfrm>
          <a:custGeom>
            <a:avLst/>
            <a:gdLst/>
            <a:ahLst/>
            <a:cxnLst/>
            <a:rect l="0" t="0" r="r" b="b"/>
            <a:pathLst>
              <a:path w="4287" h="1165">
                <a:moveTo>
                  <a:pt x="0" y="0"/>
                </a:moveTo>
                <a:lnTo>
                  <a:pt x="4287" y="0"/>
                </a:lnTo>
                <a:lnTo>
                  <a:pt x="42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2219040" y="2876400"/>
            <a:ext cx="3705840" cy="419400"/>
          </a:xfrm>
          <a:custGeom>
            <a:avLst/>
            <a:gdLst/>
            <a:ahLst/>
            <a:cxnLst/>
            <a:rect l="0" t="0" r="r" b="b"/>
            <a:pathLst>
              <a:path w="10294" h="1165">
                <a:moveTo>
                  <a:pt x="0" y="0"/>
                </a:moveTo>
                <a:lnTo>
                  <a:pt x="10294" y="0"/>
                </a:lnTo>
                <a:lnTo>
                  <a:pt x="102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5924520" y="2876400"/>
            <a:ext cx="2410200" cy="419400"/>
          </a:xfrm>
          <a:custGeom>
            <a:avLst/>
            <a:gdLst/>
            <a:ahLst/>
            <a:cxnLst/>
            <a:rect l="0" t="0" r="r" b="b"/>
            <a:pathLst>
              <a:path w="6695" h="1165">
                <a:moveTo>
                  <a:pt x="0" y="0"/>
                </a:moveTo>
                <a:lnTo>
                  <a:pt x="6695" y="0"/>
                </a:lnTo>
                <a:lnTo>
                  <a:pt x="66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676080" y="3295440"/>
            <a:ext cx="1543320" cy="419400"/>
          </a:xfrm>
          <a:custGeom>
            <a:avLst/>
            <a:gdLst/>
            <a:ahLst/>
            <a:cxnLst/>
            <a:rect l="0" t="0" r="r" b="b"/>
            <a:pathLst>
              <a:path w="4287" h="1165">
                <a:moveTo>
                  <a:pt x="0" y="0"/>
                </a:moveTo>
                <a:lnTo>
                  <a:pt x="4287" y="0"/>
                </a:lnTo>
                <a:lnTo>
                  <a:pt x="42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2219040" y="3295440"/>
            <a:ext cx="3705840" cy="419400"/>
          </a:xfrm>
          <a:custGeom>
            <a:avLst/>
            <a:gdLst/>
            <a:ahLst/>
            <a:cxnLst/>
            <a:rect l="0" t="0" r="r" b="b"/>
            <a:pathLst>
              <a:path w="10294" h="1165">
                <a:moveTo>
                  <a:pt x="0" y="0"/>
                </a:moveTo>
                <a:lnTo>
                  <a:pt x="10294" y="0"/>
                </a:lnTo>
                <a:lnTo>
                  <a:pt x="102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5924520" y="3295440"/>
            <a:ext cx="2410200" cy="419400"/>
          </a:xfrm>
          <a:custGeom>
            <a:avLst/>
            <a:gdLst/>
            <a:ahLst/>
            <a:cxnLst/>
            <a:rect l="0" t="0" r="r" b="b"/>
            <a:pathLst>
              <a:path w="6695" h="1165">
                <a:moveTo>
                  <a:pt x="0" y="0"/>
                </a:moveTo>
                <a:lnTo>
                  <a:pt x="6695" y="0"/>
                </a:lnTo>
                <a:lnTo>
                  <a:pt x="66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676080" y="3714480"/>
            <a:ext cx="1543320" cy="419400"/>
          </a:xfrm>
          <a:custGeom>
            <a:avLst/>
            <a:gdLst/>
            <a:ahLst/>
            <a:cxnLst/>
            <a:rect l="0" t="0" r="r" b="b"/>
            <a:pathLst>
              <a:path w="4287" h="1165">
                <a:moveTo>
                  <a:pt x="0" y="0"/>
                </a:moveTo>
                <a:lnTo>
                  <a:pt x="4287" y="0"/>
                </a:lnTo>
                <a:lnTo>
                  <a:pt x="428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2219040" y="3714480"/>
            <a:ext cx="3705840" cy="419400"/>
          </a:xfrm>
          <a:custGeom>
            <a:avLst/>
            <a:gdLst/>
            <a:ahLst/>
            <a:cxnLst/>
            <a:rect l="0" t="0" r="r" b="b"/>
            <a:pathLst>
              <a:path w="10294" h="1165">
                <a:moveTo>
                  <a:pt x="0" y="0"/>
                </a:moveTo>
                <a:lnTo>
                  <a:pt x="10294" y="0"/>
                </a:lnTo>
                <a:lnTo>
                  <a:pt x="1029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5924520" y="3714480"/>
            <a:ext cx="2410200" cy="419400"/>
          </a:xfrm>
          <a:custGeom>
            <a:avLst/>
            <a:gdLst/>
            <a:ahLst/>
            <a:cxnLst/>
            <a:rect l="0" t="0" r="r" b="b"/>
            <a:pathLst>
              <a:path w="6695" h="1165">
                <a:moveTo>
                  <a:pt x="0" y="0"/>
                </a:moveTo>
                <a:lnTo>
                  <a:pt x="6695" y="0"/>
                </a:lnTo>
                <a:lnTo>
                  <a:pt x="669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676080" y="4133520"/>
            <a:ext cx="1543320" cy="419760"/>
          </a:xfrm>
          <a:custGeom>
            <a:avLst/>
            <a:gdLst/>
            <a:ahLst/>
            <a:cxnLst/>
            <a:rect l="0" t="0" r="r" b="b"/>
            <a:pathLst>
              <a:path w="4287" h="1166">
                <a:moveTo>
                  <a:pt x="0" y="0"/>
                </a:moveTo>
                <a:lnTo>
                  <a:pt x="4287" y="0"/>
                </a:lnTo>
                <a:lnTo>
                  <a:pt x="428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2219040" y="4133520"/>
            <a:ext cx="3705840" cy="419760"/>
          </a:xfrm>
          <a:custGeom>
            <a:avLst/>
            <a:gdLst/>
            <a:ahLst/>
            <a:cxnLst/>
            <a:rect l="0" t="0" r="r" b="b"/>
            <a:pathLst>
              <a:path w="10294" h="1166">
                <a:moveTo>
                  <a:pt x="0" y="0"/>
                </a:moveTo>
                <a:lnTo>
                  <a:pt x="10294" y="0"/>
                </a:lnTo>
                <a:lnTo>
                  <a:pt x="1029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5924520" y="4133520"/>
            <a:ext cx="2410200" cy="419760"/>
          </a:xfrm>
          <a:custGeom>
            <a:avLst/>
            <a:gdLst/>
            <a:ahLst/>
            <a:cxnLst/>
            <a:rect l="0" t="0" r="r" b="b"/>
            <a:pathLst>
              <a:path w="6695" h="1166">
                <a:moveTo>
                  <a:pt x="0" y="0"/>
                </a:moveTo>
                <a:lnTo>
                  <a:pt x="6695" y="0"/>
                </a:lnTo>
                <a:lnTo>
                  <a:pt x="6695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66672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666720" y="2457360"/>
            <a:ext cx="1552680" cy="9720"/>
          </a:xfrm>
          <a:custGeom>
            <a:avLst/>
            <a:gdLst/>
            <a:ahLst/>
            <a:cxn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220968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2219040" y="2457360"/>
            <a:ext cx="3705840" cy="9720"/>
          </a:xfrm>
          <a:custGeom>
            <a:avLst/>
            <a:gdLst/>
            <a:ahLst/>
            <a:cxnLst/>
            <a:rect l="0" t="0" r="r" b="b"/>
            <a:pathLst>
              <a:path w="10294" h="27">
                <a:moveTo>
                  <a:pt x="0" y="0"/>
                </a:moveTo>
                <a:lnTo>
                  <a:pt x="10294" y="0"/>
                </a:lnTo>
                <a:lnTo>
                  <a:pt x="10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5914800" y="2457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5924520" y="2457360"/>
            <a:ext cx="2410200" cy="9720"/>
          </a:xfrm>
          <a:custGeom>
            <a:avLst/>
            <a:gdLst/>
            <a:ahLst/>
            <a:cxn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8324640" y="2457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666720" y="2866680"/>
            <a:ext cx="1552680" cy="10080"/>
          </a:xfrm>
          <a:custGeom>
            <a:avLst/>
            <a:gdLst/>
            <a:ahLst/>
            <a:cxn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2219040" y="2866680"/>
            <a:ext cx="3705840" cy="10080"/>
          </a:xfrm>
          <a:custGeom>
            <a:avLst/>
            <a:gdLst/>
            <a:ahLst/>
            <a:cxn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5924520" y="2866680"/>
            <a:ext cx="2410200" cy="10080"/>
          </a:xfrm>
          <a:custGeom>
            <a:avLst/>
            <a:gdLst/>
            <a:ahLst/>
            <a:cxn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66672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220968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5914800" y="2876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8324640" y="2876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66672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666720" y="3286080"/>
            <a:ext cx="1552680" cy="9720"/>
          </a:xfrm>
          <a:custGeom>
            <a:avLst/>
            <a:gdLst/>
            <a:ahLst/>
            <a:cxn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220968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2219040" y="3286080"/>
            <a:ext cx="3705840" cy="9720"/>
          </a:xfrm>
          <a:custGeom>
            <a:avLst/>
            <a:gdLst/>
            <a:ahLst/>
            <a:cxnLst/>
            <a:rect l="0" t="0" r="r" b="b"/>
            <a:pathLst>
              <a:path w="10294" h="27">
                <a:moveTo>
                  <a:pt x="0" y="0"/>
                </a:moveTo>
                <a:lnTo>
                  <a:pt x="10294" y="0"/>
                </a:lnTo>
                <a:lnTo>
                  <a:pt x="10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5914800" y="3295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5924520" y="3286080"/>
            <a:ext cx="2410200" cy="9720"/>
          </a:xfrm>
          <a:custGeom>
            <a:avLst/>
            <a:gdLst/>
            <a:ahLst/>
            <a:cxn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8324640" y="3295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6667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666720" y="3705120"/>
            <a:ext cx="1552680" cy="9720"/>
          </a:xfrm>
          <a:custGeom>
            <a:avLst/>
            <a:gdLst/>
            <a:ahLst/>
            <a:cxn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220968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2219040" y="3705120"/>
            <a:ext cx="3705840" cy="9720"/>
          </a:xfrm>
          <a:custGeom>
            <a:avLst/>
            <a:gdLst/>
            <a:ahLst/>
            <a:cxnLst/>
            <a:rect l="0" t="0" r="r" b="b"/>
            <a:pathLst>
              <a:path w="10294" h="27">
                <a:moveTo>
                  <a:pt x="0" y="0"/>
                </a:moveTo>
                <a:lnTo>
                  <a:pt x="10294" y="0"/>
                </a:lnTo>
                <a:lnTo>
                  <a:pt x="10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591480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5924520" y="3705120"/>
            <a:ext cx="2410200" cy="9720"/>
          </a:xfrm>
          <a:custGeom>
            <a:avLst/>
            <a:gdLst/>
            <a:ahLst/>
            <a:cxn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832464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66672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666720" y="4124160"/>
            <a:ext cx="1552680" cy="9720"/>
          </a:xfrm>
          <a:custGeom>
            <a:avLst/>
            <a:gdLst/>
            <a:ahLst/>
            <a:cxn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2209680" y="41335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2219040" y="4124160"/>
            <a:ext cx="3705840" cy="9720"/>
          </a:xfrm>
          <a:custGeom>
            <a:avLst/>
            <a:gdLst/>
            <a:ahLst/>
            <a:cxnLst/>
            <a:rect l="0" t="0" r="r" b="b"/>
            <a:pathLst>
              <a:path w="10294" h="27">
                <a:moveTo>
                  <a:pt x="0" y="0"/>
                </a:moveTo>
                <a:lnTo>
                  <a:pt x="10294" y="0"/>
                </a:lnTo>
                <a:lnTo>
                  <a:pt x="102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591480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5924520" y="4124160"/>
            <a:ext cx="2410200" cy="9720"/>
          </a:xfrm>
          <a:custGeom>
            <a:avLst/>
            <a:gdLst/>
            <a:ahLst/>
            <a:cxn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8324640" y="41335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666720" y="4543200"/>
            <a:ext cx="1552680" cy="10080"/>
          </a:xfrm>
          <a:custGeom>
            <a:avLst/>
            <a:gdLst/>
            <a:ahLst/>
            <a:cxn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2219040" y="4543200"/>
            <a:ext cx="3705840" cy="10080"/>
          </a:xfrm>
          <a:custGeom>
            <a:avLst/>
            <a:gdLst/>
            <a:ahLst/>
            <a:cxn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5924520" y="4543200"/>
            <a:ext cx="2410200" cy="10080"/>
          </a:xfrm>
          <a:custGeom>
            <a:avLst/>
            <a:gdLst/>
            <a:ahLst/>
            <a:cxn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666720" y="1825200"/>
            <a:ext cx="5821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cuatro roles que más van a encontrar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CuadroTexto 374"/>
          <p:cNvSpPr txBox="1"/>
          <p:nvPr/>
        </p:nvSpPr>
        <p:spPr>
          <a:xfrm>
            <a:off x="1292400" y="2561760"/>
            <a:ext cx="303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Rol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3297960" y="2561760"/>
            <a:ext cx="1548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Entregable típico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CuadroTexto 376"/>
          <p:cNvSpPr txBox="1"/>
          <p:nvPr/>
        </p:nvSpPr>
        <p:spPr>
          <a:xfrm>
            <a:off x="6513480" y="2561760"/>
            <a:ext cx="1231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Herramientas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CuadroTexto 377"/>
          <p:cNvSpPr txBox="1"/>
          <p:nvPr/>
        </p:nvSpPr>
        <p:spPr>
          <a:xfrm>
            <a:off x="799920" y="2971440"/>
            <a:ext cx="1150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Data Analyst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2345040" y="2971440"/>
            <a:ext cx="2837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Reportes, dashboards, respuestas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uadroTexto 379"/>
          <p:cNvSpPr txBox="1"/>
          <p:nvPr/>
        </p:nvSpPr>
        <p:spPr>
          <a:xfrm>
            <a:off x="6052680" y="2971440"/>
            <a:ext cx="1182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SQL, BI, Excel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CuadroTexto 380"/>
          <p:cNvSpPr txBox="1"/>
          <p:nvPr/>
        </p:nvSpPr>
        <p:spPr>
          <a:xfrm>
            <a:off x="799920" y="3390480"/>
            <a:ext cx="1270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Data Scientist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2345040" y="3390480"/>
            <a:ext cx="2270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Modelos, análisis, evidencia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CuadroTexto 382"/>
          <p:cNvSpPr txBox="1"/>
          <p:nvPr/>
        </p:nvSpPr>
        <p:spPr>
          <a:xfrm>
            <a:off x="6052680" y="3390480"/>
            <a:ext cx="1600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Python/R, SQL, ML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CuadroTexto 383"/>
          <p:cNvSpPr txBox="1"/>
          <p:nvPr/>
        </p:nvSpPr>
        <p:spPr>
          <a:xfrm>
            <a:off x="799920" y="3809520"/>
            <a:ext cx="1288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Data Engineer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2345040" y="3809520"/>
            <a:ext cx="3451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Pipelines, infraestructura, datos conﬁables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CuadroTexto 385"/>
          <p:cNvSpPr txBox="1"/>
          <p:nvPr/>
        </p:nvSpPr>
        <p:spPr>
          <a:xfrm>
            <a:off x="6052680" y="3809520"/>
            <a:ext cx="2153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SQL, Python, nube, Spark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799920" y="4228560"/>
            <a:ext cx="1147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ML Engineer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CuadroTexto 387"/>
          <p:cNvSpPr txBox="1"/>
          <p:nvPr/>
        </p:nvSpPr>
        <p:spPr>
          <a:xfrm>
            <a:off x="2345040" y="4228560"/>
            <a:ext cx="2874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Modelos en producción, monitoreo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CuadroTexto 388"/>
          <p:cNvSpPr txBox="1"/>
          <p:nvPr/>
        </p:nvSpPr>
        <p:spPr>
          <a:xfrm>
            <a:off x="6052680" y="4228560"/>
            <a:ext cx="1977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Python, Docker, MLOps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666720" y="4744800"/>
            <a:ext cx="11404320" cy="569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la industria de la salud se añaden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Bioinformatician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Clinical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Informaticist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(el que traduce entre clínica y los datos).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CuadroTexto 39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CuadroTexto 39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Forma libre 3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orma libre 3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orma libre 396"/>
          <p:cNvSpPr/>
          <p:nvPr/>
        </p:nvSpPr>
        <p:spPr>
          <a:xfrm>
            <a:off x="666720" y="456228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666720" y="456228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666720" y="1739520"/>
            <a:ext cx="7252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Dónde encaja un doctorado en ciencias biomédicas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914040" y="30193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CuadroTexto 400"/>
          <p:cNvSpPr txBox="1"/>
          <p:nvPr/>
        </p:nvSpPr>
        <p:spPr>
          <a:xfrm>
            <a:off x="666720" y="2411280"/>
            <a:ext cx="7374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 ventaja competitiva no es programar mejor que un ingeniero.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914040" y="34192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1123920" y="2906640"/>
            <a:ext cx="4396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Saber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pregunta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vale la pena responder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914040" y="3819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1123920" y="3306600"/>
            <a:ext cx="6768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Reconocer cuándo un resultado es demasiado bonito para ser cierto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Forma libre 405"/>
          <p:cNvSpPr/>
          <p:nvPr/>
        </p:nvSpPr>
        <p:spPr>
          <a:xfrm>
            <a:off x="914040" y="42195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CuadroTexto 406"/>
          <p:cNvSpPr txBox="1"/>
          <p:nvPr/>
        </p:nvSpPr>
        <p:spPr>
          <a:xfrm>
            <a:off x="1123920" y="3706560"/>
            <a:ext cx="5209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Entender confusión, sesgo de selección y causalidad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1123920" y="4106880"/>
            <a:ext cx="3163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Hablar con clínicos sin traductor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905040" y="4716360"/>
            <a:ext cx="8414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 ingeniero aprende epidemiología en años. Ustedes aprenden Docker en semanas.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Forma libre 4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1355760" y="3063960"/>
            <a:ext cx="97135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Real-World Data y Real-World Evidence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CuadroTexto 41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Forma libre 4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690480" y="405756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4"/>
                  <a:pt x="30065" y="62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8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7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2"/>
                  <a:pt x="30058" y="2910"/>
                  <a:pt x="30051" y="2918"/>
                </a:cubicBezTo>
                <a:cubicBezTo>
                  <a:pt x="30043" y="2925"/>
                  <a:pt x="30035" y="2932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Forma libre 423"/>
          <p:cNvSpPr/>
          <p:nvPr/>
        </p:nvSpPr>
        <p:spPr>
          <a:xfrm>
            <a:off x="666720" y="405756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666720" y="1749240"/>
            <a:ext cx="5026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términos que no son sinónimos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666720" y="2420640"/>
            <a:ext cx="9844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RWD (Real-World Data)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el dato crudo generado en la atención rutinaria: EHR, claims, registros,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666720" y="2763720"/>
            <a:ext cx="1063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wearables.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666720" y="3259080"/>
            <a:ext cx="10748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RWE (Real-World Evidence)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evidencia clínica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derivada del análisis de RWD: ¿funciona este fármaco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666720" y="3601800"/>
            <a:ext cx="173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fuera del ensayo?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885960" y="4211640"/>
            <a:ext cx="9969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ensayo clínico dice si el fármaco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puede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funcionar (eﬁcacia). El RWE dice si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funciona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la práctica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885960" y="4554360"/>
            <a:ext cx="122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(efectividad).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Forma libre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666720" y="431460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orma libre 438"/>
          <p:cNvSpPr/>
          <p:nvPr/>
        </p:nvSpPr>
        <p:spPr>
          <a:xfrm>
            <a:off x="666720" y="431460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orma libre 439"/>
          <p:cNvSpPr/>
          <p:nvPr/>
        </p:nvSpPr>
        <p:spPr>
          <a:xfrm>
            <a:off x="914040" y="2771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666720" y="1987200"/>
            <a:ext cx="4312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 le importa al regulador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914040" y="3171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CuadroTexto 442"/>
          <p:cNvSpPr txBox="1"/>
          <p:nvPr/>
        </p:nvSpPr>
        <p:spPr>
          <a:xfrm>
            <a:off x="1123920" y="2658960"/>
            <a:ext cx="9224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21st Century Cures Act (2016)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obliga a la FDA a considerar RWE para nuevas indicaciones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914040" y="3571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1123920" y="3058920"/>
            <a:ext cx="7153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FDA Sentinel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vigilancia de seguridad sobre &gt;300 millones de pacientes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914040" y="3971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1123920" y="3458880"/>
            <a:ext cx="7114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EMA / DARWIN EU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red federada europea para decisiones regulatorias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1123920" y="3859200"/>
            <a:ext cx="7135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OHDSI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comunidad abierta, &gt;200 instituciones, el estándar OMOP CDM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905040" y="4468680"/>
            <a:ext cx="8969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Esto no es investigación de nicho. Es la infraestructura sobre la que se aprueban fármacos.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Forma libre 4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orma libre 4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1533600" y="2730600"/>
            <a:ext cx="93484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Ciclo de vida de un proyecto de datos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5272560" y="3397320"/>
            <a:ext cx="16898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clínicos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Forma libre 4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orma libre 4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orma libre 463"/>
          <p:cNvSpPr/>
          <p:nvPr/>
        </p:nvSpPr>
        <p:spPr>
          <a:xfrm>
            <a:off x="671400" y="1890360"/>
            <a:ext cx="10849320" cy="3734280"/>
          </a:xfrm>
          <a:custGeom>
            <a:avLst/>
            <a:gdLst/>
            <a:ahLst/>
            <a:cxnLst/>
            <a:rect l="0" t="0" r="r" b="b"/>
            <a:pathLst>
              <a:path w="30137" h="10373">
                <a:moveTo>
                  <a:pt x="0" y="10174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0174"/>
                </a:lnTo>
                <a:cubicBezTo>
                  <a:pt x="30137" y="10187"/>
                  <a:pt x="30136" y="10200"/>
                  <a:pt x="30133" y="10212"/>
                </a:cubicBezTo>
                <a:cubicBezTo>
                  <a:pt x="30130" y="10225"/>
                  <a:pt x="30127" y="10238"/>
                  <a:pt x="30122" y="10250"/>
                </a:cubicBezTo>
                <a:cubicBezTo>
                  <a:pt x="30117" y="10262"/>
                  <a:pt x="30111" y="10273"/>
                  <a:pt x="30103" y="10284"/>
                </a:cubicBezTo>
                <a:cubicBezTo>
                  <a:pt x="30096" y="10295"/>
                  <a:pt x="30088" y="10305"/>
                  <a:pt x="30079" y="10315"/>
                </a:cubicBezTo>
                <a:cubicBezTo>
                  <a:pt x="30070" y="10324"/>
                  <a:pt x="30059" y="10332"/>
                  <a:pt x="30049" y="10340"/>
                </a:cubicBezTo>
                <a:cubicBezTo>
                  <a:pt x="30038" y="10347"/>
                  <a:pt x="30026" y="10353"/>
                  <a:pt x="30014" y="10358"/>
                </a:cubicBezTo>
                <a:cubicBezTo>
                  <a:pt x="30002" y="10363"/>
                  <a:pt x="29990" y="10367"/>
                  <a:pt x="29977" y="10369"/>
                </a:cubicBezTo>
                <a:cubicBezTo>
                  <a:pt x="29964" y="10372"/>
                  <a:pt x="29951" y="10373"/>
                  <a:pt x="29938" y="10373"/>
                </a:cubicBezTo>
                <a:lnTo>
                  <a:pt x="198" y="10373"/>
                </a:lnTo>
                <a:cubicBezTo>
                  <a:pt x="185" y="10373"/>
                  <a:pt x="172" y="10372"/>
                  <a:pt x="160" y="10369"/>
                </a:cubicBezTo>
                <a:cubicBezTo>
                  <a:pt x="147" y="10367"/>
                  <a:pt x="134" y="10363"/>
                  <a:pt x="122" y="10358"/>
                </a:cubicBezTo>
                <a:cubicBezTo>
                  <a:pt x="110" y="10353"/>
                  <a:pt x="99" y="10347"/>
                  <a:pt x="88" y="10340"/>
                </a:cubicBezTo>
                <a:cubicBezTo>
                  <a:pt x="77" y="10332"/>
                  <a:pt x="67" y="10324"/>
                  <a:pt x="58" y="10315"/>
                </a:cubicBezTo>
                <a:cubicBezTo>
                  <a:pt x="49" y="10305"/>
                  <a:pt x="40" y="10295"/>
                  <a:pt x="33" y="10284"/>
                </a:cubicBezTo>
                <a:cubicBezTo>
                  <a:pt x="26" y="10273"/>
                  <a:pt x="20" y="10262"/>
                  <a:pt x="15" y="10250"/>
                </a:cubicBezTo>
                <a:cubicBezTo>
                  <a:pt x="10" y="10238"/>
                  <a:pt x="6" y="10225"/>
                  <a:pt x="4" y="10212"/>
                </a:cubicBezTo>
                <a:cubicBezTo>
                  <a:pt x="1" y="10200"/>
                  <a:pt x="0" y="10187"/>
                  <a:pt x="0" y="10174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671400" y="1890360"/>
            <a:ext cx="10849320" cy="3734280"/>
          </a:xfrm>
          <a:custGeom>
            <a:avLst/>
            <a:gdLst/>
            <a:ahLst/>
            <a:cxnLst/>
            <a:rect l="0" t="0" r="r" b="b"/>
            <a:pathLst>
              <a:path w="30137" h="10373">
                <a:moveTo>
                  <a:pt x="0" y="10174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0174"/>
                </a:lnTo>
                <a:cubicBezTo>
                  <a:pt x="30137" y="10187"/>
                  <a:pt x="30136" y="10200"/>
                  <a:pt x="30133" y="10212"/>
                </a:cubicBezTo>
                <a:cubicBezTo>
                  <a:pt x="30130" y="10225"/>
                  <a:pt x="30127" y="10238"/>
                  <a:pt x="30122" y="10250"/>
                </a:cubicBezTo>
                <a:cubicBezTo>
                  <a:pt x="30117" y="10262"/>
                  <a:pt x="30111" y="10273"/>
                  <a:pt x="30103" y="10284"/>
                </a:cubicBezTo>
                <a:cubicBezTo>
                  <a:pt x="30096" y="10295"/>
                  <a:pt x="30088" y="10305"/>
                  <a:pt x="30079" y="10315"/>
                </a:cubicBezTo>
                <a:cubicBezTo>
                  <a:pt x="30070" y="10324"/>
                  <a:pt x="30059" y="10332"/>
                  <a:pt x="30049" y="10340"/>
                </a:cubicBezTo>
                <a:cubicBezTo>
                  <a:pt x="30038" y="10347"/>
                  <a:pt x="30026" y="10353"/>
                  <a:pt x="30014" y="10358"/>
                </a:cubicBezTo>
                <a:cubicBezTo>
                  <a:pt x="30002" y="10363"/>
                  <a:pt x="29990" y="10367"/>
                  <a:pt x="29977" y="10369"/>
                </a:cubicBezTo>
                <a:cubicBezTo>
                  <a:pt x="29964" y="10372"/>
                  <a:pt x="29951" y="10373"/>
                  <a:pt x="29938" y="10373"/>
                </a:cubicBezTo>
                <a:lnTo>
                  <a:pt x="198" y="10373"/>
                </a:lnTo>
                <a:cubicBezTo>
                  <a:pt x="185" y="10373"/>
                  <a:pt x="172" y="10372"/>
                  <a:pt x="160" y="10369"/>
                </a:cubicBezTo>
                <a:cubicBezTo>
                  <a:pt x="147" y="10367"/>
                  <a:pt x="134" y="10363"/>
                  <a:pt x="122" y="10358"/>
                </a:cubicBezTo>
                <a:cubicBezTo>
                  <a:pt x="110" y="10353"/>
                  <a:pt x="99" y="10347"/>
                  <a:pt x="88" y="10340"/>
                </a:cubicBezTo>
                <a:cubicBezTo>
                  <a:pt x="77" y="10332"/>
                  <a:pt x="67" y="10324"/>
                  <a:pt x="58" y="10315"/>
                </a:cubicBezTo>
                <a:cubicBezTo>
                  <a:pt x="49" y="10305"/>
                  <a:pt x="40" y="10295"/>
                  <a:pt x="33" y="10284"/>
                </a:cubicBezTo>
                <a:cubicBezTo>
                  <a:pt x="26" y="10273"/>
                  <a:pt x="20" y="10262"/>
                  <a:pt x="15" y="10250"/>
                </a:cubicBezTo>
                <a:cubicBezTo>
                  <a:pt x="10" y="10238"/>
                  <a:pt x="6" y="10225"/>
                  <a:pt x="4" y="10212"/>
                </a:cubicBezTo>
                <a:cubicBezTo>
                  <a:pt x="1" y="10200"/>
                  <a:pt x="0" y="10187"/>
                  <a:pt x="0" y="1017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666720" y="1244160"/>
            <a:ext cx="2273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siete etapas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866880" y="2070360"/>
            <a:ext cx="174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Pregunta clínica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CuadroTexto 467"/>
          <p:cNvSpPr txBox="1"/>
          <p:nvPr/>
        </p:nvSpPr>
        <p:spPr>
          <a:xfrm>
            <a:off x="866880" y="233712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↓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CuadroTexto 468"/>
          <p:cNvSpPr txBox="1"/>
          <p:nvPr/>
        </p:nvSpPr>
        <p:spPr>
          <a:xfrm>
            <a:off x="866880" y="2594160"/>
            <a:ext cx="283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Definición de cohorte  ──┐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866880" y="286092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↓                  │  aquí se va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CuadroTexto 470"/>
          <p:cNvSpPr txBox="1"/>
          <p:nvPr/>
        </p:nvSpPr>
        <p:spPr>
          <a:xfrm>
            <a:off x="866880" y="311832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Extracción de datos      │  el 70% del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866880" y="338472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↓                  │  tiempo real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866880" y="3642120"/>
            <a:ext cx="283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Limpieza y validación  ──┘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CuadroTexto 473"/>
          <p:cNvSpPr txBox="1"/>
          <p:nvPr/>
        </p:nvSpPr>
        <p:spPr>
          <a:xfrm>
            <a:off x="866880" y="390888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↓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CuadroTexto 474"/>
          <p:cNvSpPr txBox="1"/>
          <p:nvPr/>
        </p:nvSpPr>
        <p:spPr>
          <a:xfrm>
            <a:off x="866880" y="4165920"/>
            <a:ext cx="2075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Análisis / modelado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CuadroTexto 475"/>
          <p:cNvSpPr txBox="1"/>
          <p:nvPr/>
        </p:nvSpPr>
        <p:spPr>
          <a:xfrm>
            <a:off x="866880" y="443268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↓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866880" y="468972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Validación e interpretación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CuadroTexto 477"/>
          <p:cNvSpPr txBox="1"/>
          <p:nvPr/>
        </p:nvSpPr>
        <p:spPr>
          <a:xfrm>
            <a:off x="866880" y="495648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↓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866880" y="5223240"/>
            <a:ext cx="1965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Reporte y decisión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Forma libre 4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orma libre 4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914040" y="2771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666720" y="1987200"/>
            <a:ext cx="4096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nadie te dice del 70%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Forma libre 489"/>
          <p:cNvSpPr/>
          <p:nvPr/>
        </p:nvSpPr>
        <p:spPr>
          <a:xfrm>
            <a:off x="914040" y="3171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1123920" y="2658960"/>
            <a:ext cx="6780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pregunta clínica casi nunca llega bien deﬁnida: hay que negociarla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orma libre 491"/>
          <p:cNvSpPr/>
          <p:nvPr/>
        </p:nvSpPr>
        <p:spPr>
          <a:xfrm>
            <a:off x="914040" y="3571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1123920" y="3058920"/>
            <a:ext cx="6186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"Pacientes con diabetes" puede signiﬁcar cinco cosas distintas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914040" y="3971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CuadroTexto 494"/>
          <p:cNvSpPr txBox="1"/>
          <p:nvPr/>
        </p:nvSpPr>
        <p:spPr>
          <a:xfrm>
            <a:off x="1123920" y="3458880"/>
            <a:ext cx="737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decisión de limpieza cambia el resultado, y hay que poder defenderla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1123920" y="3859200"/>
            <a:ext cx="5733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no puedes reproducir tu extracción, tu análisis no existe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CuadroTexto 49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Forma libre 5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CuadroTexto 503"/>
          <p:cNvSpPr txBox="1"/>
          <p:nvPr/>
        </p:nvSpPr>
        <p:spPr>
          <a:xfrm>
            <a:off x="802800" y="3063960"/>
            <a:ext cx="108165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Estandarización: por qué existe OMOP CDM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Forma libre 5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Forma libre 5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Forma libre 5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Forma libre 510"/>
          <p:cNvSpPr/>
          <p:nvPr/>
        </p:nvSpPr>
        <p:spPr>
          <a:xfrm>
            <a:off x="671400" y="190008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8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7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4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4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7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8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Forma libre 511"/>
          <p:cNvSpPr/>
          <p:nvPr/>
        </p:nvSpPr>
        <p:spPr>
          <a:xfrm>
            <a:off x="671400" y="1900080"/>
            <a:ext cx="10849320" cy="3210120"/>
          </a:xfrm>
          <a:custGeom>
            <a:avLst/>
            <a:gdLst/>
            <a:ahLst/>
            <a:cxnLst/>
            <a:rect l="0" t="0" r="r" b="b"/>
            <a:pathLst>
              <a:path w="30137" h="8917">
                <a:moveTo>
                  <a:pt x="0" y="871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8"/>
                </a:cubicBezTo>
                <a:cubicBezTo>
                  <a:pt x="30130" y="8770"/>
                  <a:pt x="30127" y="8783"/>
                  <a:pt x="30122" y="8795"/>
                </a:cubicBezTo>
                <a:cubicBezTo>
                  <a:pt x="30117" y="8807"/>
                  <a:pt x="30111" y="8818"/>
                  <a:pt x="30103" y="8829"/>
                </a:cubicBezTo>
                <a:cubicBezTo>
                  <a:pt x="30096" y="8840"/>
                  <a:pt x="30088" y="8850"/>
                  <a:pt x="30079" y="8859"/>
                </a:cubicBezTo>
                <a:cubicBezTo>
                  <a:pt x="30070" y="8868"/>
                  <a:pt x="30059" y="8877"/>
                  <a:pt x="30049" y="8884"/>
                </a:cubicBezTo>
                <a:cubicBezTo>
                  <a:pt x="30038" y="8891"/>
                  <a:pt x="30026" y="8897"/>
                  <a:pt x="30014" y="8902"/>
                </a:cubicBezTo>
                <a:cubicBezTo>
                  <a:pt x="30002" y="8907"/>
                  <a:pt x="29990" y="8911"/>
                  <a:pt x="29977" y="8914"/>
                </a:cubicBezTo>
                <a:cubicBezTo>
                  <a:pt x="29964" y="8916"/>
                  <a:pt x="29951" y="8917"/>
                  <a:pt x="29938" y="8917"/>
                </a:cubicBezTo>
                <a:lnTo>
                  <a:pt x="198" y="8917"/>
                </a:lnTo>
                <a:cubicBezTo>
                  <a:pt x="185" y="8917"/>
                  <a:pt x="172" y="8916"/>
                  <a:pt x="160" y="8914"/>
                </a:cubicBezTo>
                <a:cubicBezTo>
                  <a:pt x="147" y="8911"/>
                  <a:pt x="134" y="8907"/>
                  <a:pt x="122" y="8902"/>
                </a:cubicBezTo>
                <a:cubicBezTo>
                  <a:pt x="110" y="8897"/>
                  <a:pt x="99" y="8891"/>
                  <a:pt x="88" y="8884"/>
                </a:cubicBezTo>
                <a:cubicBezTo>
                  <a:pt x="77" y="8877"/>
                  <a:pt x="67" y="8868"/>
                  <a:pt x="58" y="8859"/>
                </a:cubicBezTo>
                <a:cubicBezTo>
                  <a:pt x="49" y="8850"/>
                  <a:pt x="40" y="8840"/>
                  <a:pt x="33" y="8829"/>
                </a:cubicBezTo>
                <a:cubicBezTo>
                  <a:pt x="26" y="8818"/>
                  <a:pt x="20" y="8807"/>
                  <a:pt x="15" y="8795"/>
                </a:cubicBezTo>
                <a:cubicBezTo>
                  <a:pt x="10" y="8783"/>
                  <a:pt x="6" y="8770"/>
                  <a:pt x="4" y="8758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666720" y="1263240"/>
            <a:ext cx="51048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mismo paciente en tres hospitales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66880" y="208008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-- Hospital 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866880" y="234648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dx_code, dx_desc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diagnosticos;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CuadroTexto 515"/>
          <p:cNvSpPr txBox="1"/>
          <p:nvPr/>
        </p:nvSpPr>
        <p:spPr>
          <a:xfrm>
            <a:off x="866880" y="260388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-- 'E11.9' | 'Diabetes mellitus tipo 2 sin complicaciones'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866880" y="312768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-- Hospital B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CuadroTexto 517"/>
          <p:cNvSpPr txBox="1"/>
          <p:nvPr/>
        </p:nvSpPr>
        <p:spPr>
          <a:xfrm>
            <a:off x="866880" y="339444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codigo, nombre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padecimientos;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866880" y="365148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-- 'DM2'   | 'DIABETES MELLITUS 2'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866880" y="4175280"/>
            <a:ext cx="14202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-- Hospital C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866880" y="4442040"/>
            <a:ext cx="3713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icd, label </a:t>
            </a:r>
            <a:r>
              <a:rPr lang="es-ES" sz="143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conditions;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866880" y="469944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-- '250.00' | 'Diabetes mellitus without mention of complication'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CuadroTexto 522"/>
          <p:cNvSpPr txBox="1"/>
          <p:nvPr/>
        </p:nvSpPr>
        <p:spPr>
          <a:xfrm>
            <a:off x="666720" y="5306760"/>
            <a:ext cx="8856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esquemas, tres vocabularios, tres versiones de ICD.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sólo son tres hospitales.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Forma libre 5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690480" y="4114440"/>
            <a:ext cx="10834920" cy="1067400"/>
          </a:xfrm>
          <a:custGeom>
            <a:avLst/>
            <a:gdLst/>
            <a:ahLst/>
            <a:cxnLst/>
            <a:rect l="0" t="0" r="r" b="b"/>
            <a:pathLst>
              <a:path w="30097" h="2965">
                <a:moveTo>
                  <a:pt x="0" y="2965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2"/>
                  <a:pt x="29969" y="4"/>
                </a:cubicBezTo>
                <a:cubicBezTo>
                  <a:pt x="29980" y="6"/>
                  <a:pt x="29989" y="9"/>
                  <a:pt x="29999" y="13"/>
                </a:cubicBezTo>
                <a:cubicBezTo>
                  <a:pt x="30009" y="17"/>
                  <a:pt x="30018" y="21"/>
                  <a:pt x="30027" y="27"/>
                </a:cubicBezTo>
                <a:cubicBezTo>
                  <a:pt x="30035" y="33"/>
                  <a:pt x="30043" y="40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80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9"/>
                  <a:pt x="30097" y="149"/>
                  <a:pt x="30097" y="159"/>
                </a:cubicBezTo>
                <a:lnTo>
                  <a:pt x="30097" y="2806"/>
                </a:lnTo>
                <a:cubicBezTo>
                  <a:pt x="30097" y="2817"/>
                  <a:pt x="30096" y="2827"/>
                  <a:pt x="30094" y="2837"/>
                </a:cubicBezTo>
                <a:cubicBezTo>
                  <a:pt x="30092" y="2847"/>
                  <a:pt x="30089" y="2857"/>
                  <a:pt x="30085" y="2867"/>
                </a:cubicBezTo>
                <a:cubicBezTo>
                  <a:pt x="30081" y="2876"/>
                  <a:pt x="30076" y="2886"/>
                  <a:pt x="30070" y="2894"/>
                </a:cubicBezTo>
                <a:cubicBezTo>
                  <a:pt x="30065" y="2903"/>
                  <a:pt x="30058" y="2911"/>
                  <a:pt x="30051" y="2918"/>
                </a:cubicBezTo>
                <a:cubicBezTo>
                  <a:pt x="30043" y="2926"/>
                  <a:pt x="30035" y="2932"/>
                  <a:pt x="30027" y="2938"/>
                </a:cubicBezTo>
                <a:cubicBezTo>
                  <a:pt x="30018" y="2944"/>
                  <a:pt x="30009" y="2949"/>
                  <a:pt x="29999" y="2953"/>
                </a:cubicBezTo>
                <a:cubicBezTo>
                  <a:pt x="29989" y="2957"/>
                  <a:pt x="29980" y="2960"/>
                  <a:pt x="29969" y="2962"/>
                </a:cubicBezTo>
                <a:cubicBezTo>
                  <a:pt x="29959" y="2964"/>
                  <a:pt x="29949" y="2965"/>
                  <a:pt x="29938" y="2965"/>
                </a:cubicBezTo>
                <a:lnTo>
                  <a:pt x="0" y="2965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666720" y="4114440"/>
            <a:ext cx="47880" cy="1067400"/>
          </a:xfrm>
          <a:custGeom>
            <a:avLst/>
            <a:gdLst/>
            <a:ahLst/>
            <a:cxnLst/>
            <a:rect l="0" t="0" r="r" b="b"/>
            <a:pathLst>
              <a:path w="133" h="2965">
                <a:moveTo>
                  <a:pt x="0" y="0"/>
                </a:moveTo>
                <a:lnTo>
                  <a:pt x="133" y="0"/>
                </a:lnTo>
                <a:lnTo>
                  <a:pt x="133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CuadroTexto 531"/>
          <p:cNvSpPr txBox="1"/>
          <p:nvPr/>
        </p:nvSpPr>
        <p:spPr>
          <a:xfrm>
            <a:off x="666720" y="1692000"/>
            <a:ext cx="4311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solución: un modelo común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914040" y="2971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CuadroTexto 533"/>
          <p:cNvSpPr txBox="1"/>
          <p:nvPr/>
        </p:nvSpPr>
        <p:spPr>
          <a:xfrm>
            <a:off x="666720" y="2363760"/>
            <a:ext cx="7466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OMOP CDM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= esquema estándar + vocabularios estándar + convenciones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4352760" y="287640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7" y="8"/>
                </a:cubicBezTo>
                <a:cubicBezTo>
                  <a:pt x="3520" y="13"/>
                  <a:pt x="3532" y="21"/>
                  <a:pt x="3542" y="31"/>
                </a:cubicBezTo>
                <a:cubicBezTo>
                  <a:pt x="3552" y="41"/>
                  <a:pt x="3559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3"/>
                  <a:pt x="3565" y="676"/>
                </a:cubicBezTo>
                <a:cubicBezTo>
                  <a:pt x="3559" y="689"/>
                  <a:pt x="3552" y="701"/>
                  <a:pt x="3542" y="711"/>
                </a:cubicBezTo>
                <a:cubicBezTo>
                  <a:pt x="3532" y="721"/>
                  <a:pt x="3520" y="728"/>
                  <a:pt x="3507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CuadroTexto 535"/>
          <p:cNvSpPr txBox="1"/>
          <p:nvPr/>
        </p:nvSpPr>
        <p:spPr>
          <a:xfrm>
            <a:off x="1123920" y="2859120"/>
            <a:ext cx="3232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evento clínico apunta a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4412520" y="289620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914040" y="3371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CuadroTexto 538"/>
          <p:cNvSpPr txBox="1"/>
          <p:nvPr/>
        </p:nvSpPr>
        <p:spPr>
          <a:xfrm>
            <a:off x="5639400" y="2859120"/>
            <a:ext cx="3783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estándar (SNOMED, RxNorm, LOINC)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4743360" y="3276360"/>
            <a:ext cx="1752840" cy="267120"/>
          </a:xfrm>
          <a:custGeom>
            <a:avLst/>
            <a:gdLst/>
            <a:ahLst/>
            <a:cxnLst/>
            <a:rect l="0" t="0" r="r" b="b"/>
            <a:pathLst>
              <a:path w="486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763" y="0"/>
                </a:lnTo>
                <a:cubicBezTo>
                  <a:pt x="4777" y="0"/>
                  <a:pt x="4791" y="3"/>
                  <a:pt x="4804" y="8"/>
                </a:cubicBezTo>
                <a:cubicBezTo>
                  <a:pt x="4817" y="14"/>
                  <a:pt x="4828" y="21"/>
                  <a:pt x="4838" y="31"/>
                </a:cubicBezTo>
                <a:cubicBezTo>
                  <a:pt x="4848" y="41"/>
                  <a:pt x="4856" y="53"/>
                  <a:pt x="4861" y="65"/>
                </a:cubicBezTo>
                <a:cubicBezTo>
                  <a:pt x="4866" y="78"/>
                  <a:pt x="4869" y="92"/>
                  <a:pt x="4869" y="106"/>
                </a:cubicBezTo>
                <a:lnTo>
                  <a:pt x="4869" y="636"/>
                </a:lnTo>
                <a:cubicBezTo>
                  <a:pt x="4869" y="650"/>
                  <a:pt x="4866" y="664"/>
                  <a:pt x="4861" y="677"/>
                </a:cubicBezTo>
                <a:cubicBezTo>
                  <a:pt x="4856" y="690"/>
                  <a:pt x="4848" y="701"/>
                  <a:pt x="4838" y="711"/>
                </a:cubicBezTo>
                <a:cubicBezTo>
                  <a:pt x="4828" y="721"/>
                  <a:pt x="4817" y="729"/>
                  <a:pt x="4804" y="734"/>
                </a:cubicBezTo>
                <a:cubicBezTo>
                  <a:pt x="4791" y="739"/>
                  <a:pt x="4777" y="742"/>
                  <a:pt x="476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1123920" y="3259080"/>
            <a:ext cx="3629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preserva siempre el dato original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4911660" y="3295800"/>
            <a:ext cx="1664309" cy="2354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*_</a:t>
            </a:r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source_value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914040" y="3771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CuadroTexto 543"/>
          <p:cNvSpPr txBox="1"/>
          <p:nvPr/>
        </p:nvSpPr>
        <p:spPr>
          <a:xfrm>
            <a:off x="6575969" y="3252081"/>
            <a:ext cx="379613" cy="2769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CuadroTexto 544"/>
          <p:cNvSpPr txBox="1"/>
          <p:nvPr/>
        </p:nvSpPr>
        <p:spPr>
          <a:xfrm>
            <a:off x="1123920" y="3659040"/>
            <a:ext cx="6811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análisis escrito una vez corre en cualquier base OMOP del mundo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CuadroTexto 545"/>
          <p:cNvSpPr txBox="1"/>
          <p:nvPr/>
        </p:nvSpPr>
        <p:spPr>
          <a:xfrm>
            <a:off x="885961" y="4268520"/>
            <a:ext cx="11021400" cy="8309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código viaja, los datos no.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un estudio de red (múltiples institutos/hospitales), cada sitio corre el mismo análisis y sólo comparte resultados agregados. Los datos del paciente nunca salen del hospital.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CuadroTexto 5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CuadroTexto 5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CuadroTexto 54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Forma libre 5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CuadroTexto 553"/>
          <p:cNvSpPr txBox="1"/>
          <p:nvPr/>
        </p:nvSpPr>
        <p:spPr>
          <a:xfrm>
            <a:off x="1729080" y="3063960"/>
            <a:ext cx="8927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Mapa del curso y entorno de trabajo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CuadroTexto 5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CuadroTexto 55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Forma libre 5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676080" y="1866600"/>
            <a:ext cx="2286360" cy="410040"/>
          </a:xfrm>
          <a:custGeom>
            <a:avLst/>
            <a:gdLst/>
            <a:ahLst/>
            <a:cxnLst/>
            <a:rect l="0" t="0" r="r" b="b"/>
            <a:pathLst>
              <a:path w="6351" h="1139">
                <a:moveTo>
                  <a:pt x="0" y="0"/>
                </a:moveTo>
                <a:lnTo>
                  <a:pt x="6351" y="0"/>
                </a:lnTo>
                <a:lnTo>
                  <a:pt x="63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2962080" y="1866600"/>
            <a:ext cx="1086120" cy="410040"/>
          </a:xfrm>
          <a:custGeom>
            <a:avLst/>
            <a:gdLst/>
            <a:ahLst/>
            <a:cxnLst/>
            <a:rect l="0" t="0" r="r" b="b"/>
            <a:pathLst>
              <a:path w="3017" h="1139">
                <a:moveTo>
                  <a:pt x="0" y="0"/>
                </a:moveTo>
                <a:lnTo>
                  <a:pt x="3017" y="0"/>
                </a:lnTo>
                <a:lnTo>
                  <a:pt x="30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4047840" y="186660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676080" y="1866600"/>
            <a:ext cx="2286360" cy="410040"/>
          </a:xfrm>
          <a:custGeom>
            <a:avLst/>
            <a:gdLst/>
            <a:ahLst/>
            <a:cxnLst/>
            <a:rect l="0" t="0" r="r" b="b"/>
            <a:pathLst>
              <a:path w="6351" h="1139">
                <a:moveTo>
                  <a:pt x="0" y="0"/>
                </a:moveTo>
                <a:lnTo>
                  <a:pt x="6351" y="0"/>
                </a:lnTo>
                <a:lnTo>
                  <a:pt x="63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2962080" y="1866600"/>
            <a:ext cx="1086120" cy="410040"/>
          </a:xfrm>
          <a:custGeom>
            <a:avLst/>
            <a:gdLst/>
            <a:ahLst/>
            <a:cxnLst/>
            <a:rect l="0" t="0" r="r" b="b"/>
            <a:pathLst>
              <a:path w="3017" h="1139">
                <a:moveTo>
                  <a:pt x="0" y="0"/>
                </a:moveTo>
                <a:lnTo>
                  <a:pt x="3017" y="0"/>
                </a:lnTo>
                <a:lnTo>
                  <a:pt x="30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4047840" y="186660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676080" y="2276280"/>
            <a:ext cx="2286360" cy="410040"/>
          </a:xfrm>
          <a:custGeom>
            <a:avLst/>
            <a:gdLst/>
            <a:ahLst/>
            <a:cxnLst/>
            <a:rect l="0" t="0" r="r" b="b"/>
            <a:pathLst>
              <a:path w="6351" h="1139">
                <a:moveTo>
                  <a:pt x="0" y="0"/>
                </a:moveTo>
                <a:lnTo>
                  <a:pt x="6351" y="0"/>
                </a:lnTo>
                <a:lnTo>
                  <a:pt x="63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2962080" y="2276280"/>
            <a:ext cx="1086120" cy="410040"/>
          </a:xfrm>
          <a:custGeom>
            <a:avLst/>
            <a:gdLst/>
            <a:ahLst/>
            <a:cxnLst/>
            <a:rect l="0" t="0" r="r" b="b"/>
            <a:pathLst>
              <a:path w="3017" h="1139">
                <a:moveTo>
                  <a:pt x="0" y="0"/>
                </a:moveTo>
                <a:lnTo>
                  <a:pt x="3017" y="0"/>
                </a:lnTo>
                <a:lnTo>
                  <a:pt x="30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4047840" y="227628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Forma libre 569"/>
          <p:cNvSpPr/>
          <p:nvPr/>
        </p:nvSpPr>
        <p:spPr>
          <a:xfrm>
            <a:off x="676080" y="2685960"/>
            <a:ext cx="2286360" cy="409680"/>
          </a:xfrm>
          <a:custGeom>
            <a:avLst/>
            <a:gdLst/>
            <a:ahLst/>
            <a:cxnLst/>
            <a:rect l="0" t="0" r="r" b="b"/>
            <a:pathLst>
              <a:path w="6351" h="1138">
                <a:moveTo>
                  <a:pt x="0" y="0"/>
                </a:moveTo>
                <a:lnTo>
                  <a:pt x="6351" y="0"/>
                </a:lnTo>
                <a:lnTo>
                  <a:pt x="635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2962080" y="2685960"/>
            <a:ext cx="1086120" cy="409680"/>
          </a:xfrm>
          <a:custGeom>
            <a:avLst/>
            <a:gdLst/>
            <a:ahLst/>
            <a:cxnLst/>
            <a:rect l="0" t="0" r="r" b="b"/>
            <a:pathLst>
              <a:path w="3017" h="1138">
                <a:moveTo>
                  <a:pt x="0" y="0"/>
                </a:moveTo>
                <a:lnTo>
                  <a:pt x="3017" y="0"/>
                </a:lnTo>
                <a:lnTo>
                  <a:pt x="301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4047840" y="2685960"/>
            <a:ext cx="3296160" cy="409680"/>
          </a:xfrm>
          <a:custGeom>
            <a:avLst/>
            <a:gdLst/>
            <a:ahLst/>
            <a:cxnLst/>
            <a:rect l="0" t="0" r="r" b="b"/>
            <a:pathLst>
              <a:path w="9156" h="1138">
                <a:moveTo>
                  <a:pt x="0" y="0"/>
                </a:moveTo>
                <a:lnTo>
                  <a:pt x="9156" y="0"/>
                </a:lnTo>
                <a:lnTo>
                  <a:pt x="915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676080" y="3095280"/>
            <a:ext cx="2286360" cy="410040"/>
          </a:xfrm>
          <a:custGeom>
            <a:avLst/>
            <a:gdLst/>
            <a:ahLst/>
            <a:cxnLst/>
            <a:rect l="0" t="0" r="r" b="b"/>
            <a:pathLst>
              <a:path w="6351" h="1139">
                <a:moveTo>
                  <a:pt x="0" y="0"/>
                </a:moveTo>
                <a:lnTo>
                  <a:pt x="6351" y="0"/>
                </a:lnTo>
                <a:lnTo>
                  <a:pt x="63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2962080" y="3095280"/>
            <a:ext cx="1086120" cy="410040"/>
          </a:xfrm>
          <a:custGeom>
            <a:avLst/>
            <a:gdLst/>
            <a:ahLst/>
            <a:cxnLst/>
            <a:rect l="0" t="0" r="r" b="b"/>
            <a:pathLst>
              <a:path w="3017" h="1139">
                <a:moveTo>
                  <a:pt x="0" y="0"/>
                </a:moveTo>
                <a:lnTo>
                  <a:pt x="3017" y="0"/>
                </a:lnTo>
                <a:lnTo>
                  <a:pt x="30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4047840" y="309528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Forma libre 575"/>
          <p:cNvSpPr/>
          <p:nvPr/>
        </p:nvSpPr>
        <p:spPr>
          <a:xfrm>
            <a:off x="676080" y="3504960"/>
            <a:ext cx="2286360" cy="410040"/>
          </a:xfrm>
          <a:custGeom>
            <a:avLst/>
            <a:gdLst/>
            <a:ahLst/>
            <a:cxnLst/>
            <a:rect l="0" t="0" r="r" b="b"/>
            <a:pathLst>
              <a:path w="6351" h="1139">
                <a:moveTo>
                  <a:pt x="0" y="0"/>
                </a:moveTo>
                <a:lnTo>
                  <a:pt x="6351" y="0"/>
                </a:lnTo>
                <a:lnTo>
                  <a:pt x="63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Forma libre 576"/>
          <p:cNvSpPr/>
          <p:nvPr/>
        </p:nvSpPr>
        <p:spPr>
          <a:xfrm>
            <a:off x="2962080" y="3504960"/>
            <a:ext cx="1086120" cy="410040"/>
          </a:xfrm>
          <a:custGeom>
            <a:avLst/>
            <a:gdLst/>
            <a:ahLst/>
            <a:cxnLst/>
            <a:rect l="0" t="0" r="r" b="b"/>
            <a:pathLst>
              <a:path w="3017" h="1139">
                <a:moveTo>
                  <a:pt x="0" y="0"/>
                </a:moveTo>
                <a:lnTo>
                  <a:pt x="3017" y="0"/>
                </a:lnTo>
                <a:lnTo>
                  <a:pt x="30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Forma libre 577"/>
          <p:cNvSpPr/>
          <p:nvPr/>
        </p:nvSpPr>
        <p:spPr>
          <a:xfrm>
            <a:off x="4047840" y="350496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Forma libre 578"/>
          <p:cNvSpPr/>
          <p:nvPr/>
        </p:nvSpPr>
        <p:spPr>
          <a:xfrm>
            <a:off x="676080" y="3914640"/>
            <a:ext cx="2286360" cy="410040"/>
          </a:xfrm>
          <a:custGeom>
            <a:avLst/>
            <a:gdLst/>
            <a:ahLst/>
            <a:cxnLst/>
            <a:rect l="0" t="0" r="r" b="b"/>
            <a:pathLst>
              <a:path w="6351" h="1139">
                <a:moveTo>
                  <a:pt x="0" y="0"/>
                </a:moveTo>
                <a:lnTo>
                  <a:pt x="6351" y="0"/>
                </a:lnTo>
                <a:lnTo>
                  <a:pt x="63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Forma libre 579"/>
          <p:cNvSpPr/>
          <p:nvPr/>
        </p:nvSpPr>
        <p:spPr>
          <a:xfrm>
            <a:off x="2962080" y="3914640"/>
            <a:ext cx="1086120" cy="410040"/>
          </a:xfrm>
          <a:custGeom>
            <a:avLst/>
            <a:gdLst/>
            <a:ahLst/>
            <a:cxnLst/>
            <a:rect l="0" t="0" r="r" b="b"/>
            <a:pathLst>
              <a:path w="3017" h="1139">
                <a:moveTo>
                  <a:pt x="0" y="0"/>
                </a:moveTo>
                <a:lnTo>
                  <a:pt x="3017" y="0"/>
                </a:lnTo>
                <a:lnTo>
                  <a:pt x="30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Forma libre 580"/>
          <p:cNvSpPr/>
          <p:nvPr/>
        </p:nvSpPr>
        <p:spPr>
          <a:xfrm>
            <a:off x="4047840" y="391464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Forma libre 581"/>
          <p:cNvSpPr/>
          <p:nvPr/>
        </p:nvSpPr>
        <p:spPr>
          <a:xfrm>
            <a:off x="676080" y="4324320"/>
            <a:ext cx="2286360" cy="409680"/>
          </a:xfrm>
          <a:custGeom>
            <a:avLst/>
            <a:gdLst/>
            <a:ahLst/>
            <a:cxnLst/>
            <a:rect l="0" t="0" r="r" b="b"/>
            <a:pathLst>
              <a:path w="6351" h="1138">
                <a:moveTo>
                  <a:pt x="0" y="0"/>
                </a:moveTo>
                <a:lnTo>
                  <a:pt x="6351" y="0"/>
                </a:lnTo>
                <a:lnTo>
                  <a:pt x="635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Forma libre 582"/>
          <p:cNvSpPr/>
          <p:nvPr/>
        </p:nvSpPr>
        <p:spPr>
          <a:xfrm>
            <a:off x="2962080" y="4324320"/>
            <a:ext cx="1086120" cy="409680"/>
          </a:xfrm>
          <a:custGeom>
            <a:avLst/>
            <a:gdLst/>
            <a:ahLst/>
            <a:cxnLst/>
            <a:rect l="0" t="0" r="r" b="b"/>
            <a:pathLst>
              <a:path w="3017" h="1138">
                <a:moveTo>
                  <a:pt x="0" y="0"/>
                </a:moveTo>
                <a:lnTo>
                  <a:pt x="3017" y="0"/>
                </a:lnTo>
                <a:lnTo>
                  <a:pt x="301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Forma libre 583"/>
          <p:cNvSpPr/>
          <p:nvPr/>
        </p:nvSpPr>
        <p:spPr>
          <a:xfrm>
            <a:off x="4047840" y="4324320"/>
            <a:ext cx="3296160" cy="409680"/>
          </a:xfrm>
          <a:custGeom>
            <a:avLst/>
            <a:gdLst/>
            <a:ahLst/>
            <a:cxnLst/>
            <a:rect l="0" t="0" r="r" b="b"/>
            <a:pathLst>
              <a:path w="9156" h="1138">
                <a:moveTo>
                  <a:pt x="0" y="0"/>
                </a:moveTo>
                <a:lnTo>
                  <a:pt x="9156" y="0"/>
                </a:lnTo>
                <a:lnTo>
                  <a:pt x="915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orma libre 584"/>
          <p:cNvSpPr/>
          <p:nvPr/>
        </p:nvSpPr>
        <p:spPr>
          <a:xfrm>
            <a:off x="676080" y="4733640"/>
            <a:ext cx="2286360" cy="410040"/>
          </a:xfrm>
          <a:custGeom>
            <a:avLst/>
            <a:gdLst/>
            <a:ahLst/>
            <a:cxnLst/>
            <a:rect l="0" t="0" r="r" b="b"/>
            <a:pathLst>
              <a:path w="6351" h="1139">
                <a:moveTo>
                  <a:pt x="0" y="0"/>
                </a:moveTo>
                <a:lnTo>
                  <a:pt x="6351" y="0"/>
                </a:lnTo>
                <a:lnTo>
                  <a:pt x="635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orma libre 585"/>
          <p:cNvSpPr/>
          <p:nvPr/>
        </p:nvSpPr>
        <p:spPr>
          <a:xfrm>
            <a:off x="2962080" y="4733640"/>
            <a:ext cx="1086120" cy="410040"/>
          </a:xfrm>
          <a:custGeom>
            <a:avLst/>
            <a:gdLst/>
            <a:ahLst/>
            <a:cxnLst/>
            <a:rect l="0" t="0" r="r" b="b"/>
            <a:pathLst>
              <a:path w="3017" h="1139">
                <a:moveTo>
                  <a:pt x="0" y="0"/>
                </a:moveTo>
                <a:lnTo>
                  <a:pt x="3017" y="0"/>
                </a:lnTo>
                <a:lnTo>
                  <a:pt x="30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Forma libre 586"/>
          <p:cNvSpPr/>
          <p:nvPr/>
        </p:nvSpPr>
        <p:spPr>
          <a:xfrm>
            <a:off x="4047840" y="4733640"/>
            <a:ext cx="3296160" cy="410040"/>
          </a:xfrm>
          <a:custGeom>
            <a:avLst/>
            <a:gdLst/>
            <a:ahLst/>
            <a:cxnLst/>
            <a:rect l="0" t="0" r="r" b="b"/>
            <a:pathLst>
              <a:path w="9156" h="1139">
                <a:moveTo>
                  <a:pt x="0" y="0"/>
                </a:moveTo>
                <a:lnTo>
                  <a:pt x="9156" y="0"/>
                </a:lnTo>
                <a:lnTo>
                  <a:pt x="91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666720" y="186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Forma libre 588"/>
          <p:cNvSpPr/>
          <p:nvPr/>
        </p:nvSpPr>
        <p:spPr>
          <a:xfrm>
            <a:off x="666720" y="1866600"/>
            <a:ext cx="2305080" cy="10080"/>
          </a:xfrm>
          <a:custGeom>
            <a:avLst/>
            <a:gdLst/>
            <a:ahLst/>
            <a:cxnLst/>
            <a:rect l="0" t="0" r="r" b="b"/>
            <a:pathLst>
              <a:path w="6403" h="28">
                <a:moveTo>
                  <a:pt x="0" y="0"/>
                </a:moveTo>
                <a:lnTo>
                  <a:pt x="6403" y="0"/>
                </a:lnTo>
                <a:lnTo>
                  <a:pt x="64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orma libre 589"/>
          <p:cNvSpPr/>
          <p:nvPr/>
        </p:nvSpPr>
        <p:spPr>
          <a:xfrm>
            <a:off x="2962080" y="186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Forma libre 590"/>
          <p:cNvSpPr/>
          <p:nvPr/>
        </p:nvSpPr>
        <p:spPr>
          <a:xfrm>
            <a:off x="2971440" y="1866600"/>
            <a:ext cx="1076760" cy="10080"/>
          </a:xfrm>
          <a:custGeom>
            <a:avLst/>
            <a:gdLst/>
            <a:ahLst/>
            <a:cxnLst/>
            <a:rect l="0" t="0" r="r" b="b"/>
            <a:pathLst>
              <a:path w="2991" h="28">
                <a:moveTo>
                  <a:pt x="0" y="0"/>
                </a:moveTo>
                <a:lnTo>
                  <a:pt x="2991" y="0"/>
                </a:lnTo>
                <a:lnTo>
                  <a:pt x="2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Forma libre 591"/>
          <p:cNvSpPr/>
          <p:nvPr/>
        </p:nvSpPr>
        <p:spPr>
          <a:xfrm>
            <a:off x="4038480" y="186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Forma libre 592"/>
          <p:cNvSpPr/>
          <p:nvPr/>
        </p:nvSpPr>
        <p:spPr>
          <a:xfrm>
            <a:off x="4047840" y="186660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Forma libre 593"/>
          <p:cNvSpPr/>
          <p:nvPr/>
        </p:nvSpPr>
        <p:spPr>
          <a:xfrm>
            <a:off x="7343640" y="1866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Forma libre 594"/>
          <p:cNvSpPr/>
          <p:nvPr/>
        </p:nvSpPr>
        <p:spPr>
          <a:xfrm>
            <a:off x="666720" y="2276280"/>
            <a:ext cx="2305080" cy="9720"/>
          </a:xfrm>
          <a:custGeom>
            <a:avLst/>
            <a:gdLst/>
            <a:ahLst/>
            <a:cxnLst/>
            <a:rect l="0" t="0" r="r" b="b"/>
            <a:pathLst>
              <a:path w="6403" h="27">
                <a:moveTo>
                  <a:pt x="0" y="0"/>
                </a:moveTo>
                <a:lnTo>
                  <a:pt x="6403" y="0"/>
                </a:lnTo>
                <a:lnTo>
                  <a:pt x="6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2971440" y="2276280"/>
            <a:ext cx="1076760" cy="9720"/>
          </a:xfrm>
          <a:custGeom>
            <a:avLst/>
            <a:gdLst/>
            <a:ahLst/>
            <a:cxn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4047840" y="2276280"/>
            <a:ext cx="3305520" cy="9720"/>
          </a:xfrm>
          <a:custGeom>
            <a:avLst/>
            <a:gdLst/>
            <a:ahLst/>
            <a:cxnLst/>
            <a:rect l="0" t="0" r="r" b="b"/>
            <a:pathLst>
              <a:path w="9182" h="27">
                <a:moveTo>
                  <a:pt x="0" y="0"/>
                </a:moveTo>
                <a:lnTo>
                  <a:pt x="9182" y="0"/>
                </a:lnTo>
                <a:lnTo>
                  <a:pt x="9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666720" y="2285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Forma libre 598"/>
          <p:cNvSpPr/>
          <p:nvPr/>
        </p:nvSpPr>
        <p:spPr>
          <a:xfrm>
            <a:off x="2962080" y="2285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orma libre 599"/>
          <p:cNvSpPr/>
          <p:nvPr/>
        </p:nvSpPr>
        <p:spPr>
          <a:xfrm>
            <a:off x="4038480" y="2285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Forma libre 600"/>
          <p:cNvSpPr/>
          <p:nvPr/>
        </p:nvSpPr>
        <p:spPr>
          <a:xfrm>
            <a:off x="7343640" y="2285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orma libre 601"/>
          <p:cNvSpPr/>
          <p:nvPr/>
        </p:nvSpPr>
        <p:spPr>
          <a:xfrm>
            <a:off x="666720" y="2695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Forma libre 602"/>
          <p:cNvSpPr/>
          <p:nvPr/>
        </p:nvSpPr>
        <p:spPr>
          <a:xfrm>
            <a:off x="666720" y="2685960"/>
            <a:ext cx="2305080" cy="9720"/>
          </a:xfrm>
          <a:custGeom>
            <a:avLst/>
            <a:gdLst/>
            <a:ahLst/>
            <a:cxnLst/>
            <a:rect l="0" t="0" r="r" b="b"/>
            <a:pathLst>
              <a:path w="6403" h="27">
                <a:moveTo>
                  <a:pt x="0" y="0"/>
                </a:moveTo>
                <a:lnTo>
                  <a:pt x="6403" y="0"/>
                </a:lnTo>
                <a:lnTo>
                  <a:pt x="6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orma libre 603"/>
          <p:cNvSpPr/>
          <p:nvPr/>
        </p:nvSpPr>
        <p:spPr>
          <a:xfrm>
            <a:off x="2962080" y="2695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Forma libre 604"/>
          <p:cNvSpPr/>
          <p:nvPr/>
        </p:nvSpPr>
        <p:spPr>
          <a:xfrm>
            <a:off x="2971440" y="2685960"/>
            <a:ext cx="1076760" cy="9720"/>
          </a:xfrm>
          <a:custGeom>
            <a:avLst/>
            <a:gdLst/>
            <a:ahLst/>
            <a:cxn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4038480" y="2695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Forma libre 606"/>
          <p:cNvSpPr/>
          <p:nvPr/>
        </p:nvSpPr>
        <p:spPr>
          <a:xfrm>
            <a:off x="4047840" y="2685960"/>
            <a:ext cx="3305520" cy="9720"/>
          </a:xfrm>
          <a:custGeom>
            <a:avLst/>
            <a:gdLst/>
            <a:ahLst/>
            <a:cxnLst/>
            <a:rect l="0" t="0" r="r" b="b"/>
            <a:pathLst>
              <a:path w="9182" h="27">
                <a:moveTo>
                  <a:pt x="0" y="0"/>
                </a:moveTo>
                <a:lnTo>
                  <a:pt x="9182" y="0"/>
                </a:lnTo>
                <a:lnTo>
                  <a:pt x="9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7343640" y="2695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Forma libre 608"/>
          <p:cNvSpPr/>
          <p:nvPr/>
        </p:nvSpPr>
        <p:spPr>
          <a:xfrm>
            <a:off x="666720" y="3105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Forma libre 609"/>
          <p:cNvSpPr/>
          <p:nvPr/>
        </p:nvSpPr>
        <p:spPr>
          <a:xfrm>
            <a:off x="666720" y="3095280"/>
            <a:ext cx="2305080" cy="10080"/>
          </a:xfrm>
          <a:custGeom>
            <a:avLst/>
            <a:gdLst/>
            <a:ahLst/>
            <a:cxnLst/>
            <a:rect l="0" t="0" r="r" b="b"/>
            <a:pathLst>
              <a:path w="6403" h="28">
                <a:moveTo>
                  <a:pt x="0" y="0"/>
                </a:moveTo>
                <a:lnTo>
                  <a:pt x="6403" y="0"/>
                </a:lnTo>
                <a:lnTo>
                  <a:pt x="64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Forma libre 610"/>
          <p:cNvSpPr/>
          <p:nvPr/>
        </p:nvSpPr>
        <p:spPr>
          <a:xfrm>
            <a:off x="2962080" y="3105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orma libre 611"/>
          <p:cNvSpPr/>
          <p:nvPr/>
        </p:nvSpPr>
        <p:spPr>
          <a:xfrm>
            <a:off x="2971440" y="3095280"/>
            <a:ext cx="1076760" cy="10080"/>
          </a:xfrm>
          <a:custGeom>
            <a:avLst/>
            <a:gdLst/>
            <a:ahLst/>
            <a:cxnLst/>
            <a:rect l="0" t="0" r="r" b="b"/>
            <a:pathLst>
              <a:path w="2991" h="28">
                <a:moveTo>
                  <a:pt x="0" y="0"/>
                </a:moveTo>
                <a:lnTo>
                  <a:pt x="2991" y="0"/>
                </a:lnTo>
                <a:lnTo>
                  <a:pt x="2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Forma libre 612"/>
          <p:cNvSpPr/>
          <p:nvPr/>
        </p:nvSpPr>
        <p:spPr>
          <a:xfrm>
            <a:off x="4038480" y="3105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orma libre 613"/>
          <p:cNvSpPr/>
          <p:nvPr/>
        </p:nvSpPr>
        <p:spPr>
          <a:xfrm>
            <a:off x="4047840" y="309528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Forma libre 614"/>
          <p:cNvSpPr/>
          <p:nvPr/>
        </p:nvSpPr>
        <p:spPr>
          <a:xfrm>
            <a:off x="7343640" y="3105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Forma libre 615"/>
          <p:cNvSpPr/>
          <p:nvPr/>
        </p:nvSpPr>
        <p:spPr>
          <a:xfrm>
            <a:off x="666720" y="35146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Forma libre 616"/>
          <p:cNvSpPr/>
          <p:nvPr/>
        </p:nvSpPr>
        <p:spPr>
          <a:xfrm>
            <a:off x="666720" y="3504960"/>
            <a:ext cx="2305080" cy="10440"/>
          </a:xfrm>
          <a:custGeom>
            <a:avLst/>
            <a:gdLst/>
            <a:ahLst/>
            <a:cxnLst/>
            <a:rect l="0" t="0" r="r" b="b"/>
            <a:pathLst>
              <a:path w="6403" h="29">
                <a:moveTo>
                  <a:pt x="0" y="0"/>
                </a:moveTo>
                <a:lnTo>
                  <a:pt x="6403" y="0"/>
                </a:lnTo>
                <a:lnTo>
                  <a:pt x="640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Forma libre 617"/>
          <p:cNvSpPr/>
          <p:nvPr/>
        </p:nvSpPr>
        <p:spPr>
          <a:xfrm>
            <a:off x="2962080" y="35146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Forma libre 618"/>
          <p:cNvSpPr/>
          <p:nvPr/>
        </p:nvSpPr>
        <p:spPr>
          <a:xfrm>
            <a:off x="2971440" y="3504960"/>
            <a:ext cx="1076760" cy="10440"/>
          </a:xfrm>
          <a:custGeom>
            <a:avLst/>
            <a:gdLst/>
            <a:ahLst/>
            <a:cxnLst/>
            <a:rect l="0" t="0" r="r" b="b"/>
            <a:pathLst>
              <a:path w="2991" h="29">
                <a:moveTo>
                  <a:pt x="0" y="0"/>
                </a:moveTo>
                <a:lnTo>
                  <a:pt x="2991" y="0"/>
                </a:lnTo>
                <a:lnTo>
                  <a:pt x="299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Forma libre 619"/>
          <p:cNvSpPr/>
          <p:nvPr/>
        </p:nvSpPr>
        <p:spPr>
          <a:xfrm>
            <a:off x="4038480" y="35146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Forma libre 620"/>
          <p:cNvSpPr/>
          <p:nvPr/>
        </p:nvSpPr>
        <p:spPr>
          <a:xfrm>
            <a:off x="4047840" y="3504960"/>
            <a:ext cx="3305520" cy="10440"/>
          </a:xfrm>
          <a:custGeom>
            <a:avLst/>
            <a:gdLst/>
            <a:ahLst/>
            <a:cxnLst/>
            <a:rect l="0" t="0" r="r" b="b"/>
            <a:pathLst>
              <a:path w="9182" h="29">
                <a:moveTo>
                  <a:pt x="0" y="0"/>
                </a:moveTo>
                <a:lnTo>
                  <a:pt x="9182" y="0"/>
                </a:lnTo>
                <a:lnTo>
                  <a:pt x="918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Forma libre 621"/>
          <p:cNvSpPr/>
          <p:nvPr/>
        </p:nvSpPr>
        <p:spPr>
          <a:xfrm>
            <a:off x="7343640" y="351468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Forma libre 622"/>
          <p:cNvSpPr/>
          <p:nvPr/>
        </p:nvSpPr>
        <p:spPr>
          <a:xfrm>
            <a:off x="666720" y="3924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Forma libre 623"/>
          <p:cNvSpPr/>
          <p:nvPr/>
        </p:nvSpPr>
        <p:spPr>
          <a:xfrm>
            <a:off x="666720" y="3914640"/>
            <a:ext cx="2305080" cy="9720"/>
          </a:xfrm>
          <a:custGeom>
            <a:avLst/>
            <a:gdLst/>
            <a:ahLst/>
            <a:cxnLst/>
            <a:rect l="0" t="0" r="r" b="b"/>
            <a:pathLst>
              <a:path w="6403" h="27">
                <a:moveTo>
                  <a:pt x="0" y="0"/>
                </a:moveTo>
                <a:lnTo>
                  <a:pt x="6403" y="0"/>
                </a:lnTo>
                <a:lnTo>
                  <a:pt x="6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Forma libre 624"/>
          <p:cNvSpPr/>
          <p:nvPr/>
        </p:nvSpPr>
        <p:spPr>
          <a:xfrm>
            <a:off x="2962080" y="3924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Forma libre 625"/>
          <p:cNvSpPr/>
          <p:nvPr/>
        </p:nvSpPr>
        <p:spPr>
          <a:xfrm>
            <a:off x="2971440" y="3914640"/>
            <a:ext cx="1076760" cy="9720"/>
          </a:xfrm>
          <a:custGeom>
            <a:avLst/>
            <a:gdLst/>
            <a:ahLst/>
            <a:cxn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Forma libre 626"/>
          <p:cNvSpPr/>
          <p:nvPr/>
        </p:nvSpPr>
        <p:spPr>
          <a:xfrm>
            <a:off x="4038480" y="3924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Forma libre 627"/>
          <p:cNvSpPr/>
          <p:nvPr/>
        </p:nvSpPr>
        <p:spPr>
          <a:xfrm>
            <a:off x="4047840" y="3914640"/>
            <a:ext cx="3305520" cy="9720"/>
          </a:xfrm>
          <a:custGeom>
            <a:avLst/>
            <a:gdLst/>
            <a:ahLst/>
            <a:cxnLst/>
            <a:rect l="0" t="0" r="r" b="b"/>
            <a:pathLst>
              <a:path w="9182" h="27">
                <a:moveTo>
                  <a:pt x="0" y="0"/>
                </a:moveTo>
                <a:lnTo>
                  <a:pt x="9182" y="0"/>
                </a:lnTo>
                <a:lnTo>
                  <a:pt x="9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Forma libre 628"/>
          <p:cNvSpPr/>
          <p:nvPr/>
        </p:nvSpPr>
        <p:spPr>
          <a:xfrm>
            <a:off x="7343640" y="3924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Forma libre 629"/>
          <p:cNvSpPr/>
          <p:nvPr/>
        </p:nvSpPr>
        <p:spPr>
          <a:xfrm>
            <a:off x="666720" y="4333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Forma libre 630"/>
          <p:cNvSpPr/>
          <p:nvPr/>
        </p:nvSpPr>
        <p:spPr>
          <a:xfrm>
            <a:off x="666720" y="4324320"/>
            <a:ext cx="2305080" cy="9720"/>
          </a:xfrm>
          <a:custGeom>
            <a:avLst/>
            <a:gdLst/>
            <a:ahLst/>
            <a:cxnLst/>
            <a:rect l="0" t="0" r="r" b="b"/>
            <a:pathLst>
              <a:path w="6403" h="27">
                <a:moveTo>
                  <a:pt x="0" y="0"/>
                </a:moveTo>
                <a:lnTo>
                  <a:pt x="6403" y="0"/>
                </a:lnTo>
                <a:lnTo>
                  <a:pt x="6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Forma libre 631"/>
          <p:cNvSpPr/>
          <p:nvPr/>
        </p:nvSpPr>
        <p:spPr>
          <a:xfrm>
            <a:off x="2962080" y="4333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2971440" y="4324320"/>
            <a:ext cx="1076760" cy="9720"/>
          </a:xfrm>
          <a:custGeom>
            <a:avLst/>
            <a:gdLst/>
            <a:ahLst/>
            <a:cxn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Forma libre 633"/>
          <p:cNvSpPr/>
          <p:nvPr/>
        </p:nvSpPr>
        <p:spPr>
          <a:xfrm>
            <a:off x="4038480" y="4333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Forma libre 634"/>
          <p:cNvSpPr/>
          <p:nvPr/>
        </p:nvSpPr>
        <p:spPr>
          <a:xfrm>
            <a:off x="4047840" y="4324320"/>
            <a:ext cx="3305520" cy="9720"/>
          </a:xfrm>
          <a:custGeom>
            <a:avLst/>
            <a:gdLst/>
            <a:ahLst/>
            <a:cxnLst/>
            <a:rect l="0" t="0" r="r" b="b"/>
            <a:pathLst>
              <a:path w="9182" h="27">
                <a:moveTo>
                  <a:pt x="0" y="0"/>
                </a:moveTo>
                <a:lnTo>
                  <a:pt x="9182" y="0"/>
                </a:lnTo>
                <a:lnTo>
                  <a:pt x="9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Forma libre 635"/>
          <p:cNvSpPr/>
          <p:nvPr/>
        </p:nvSpPr>
        <p:spPr>
          <a:xfrm>
            <a:off x="7343640" y="4333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Forma libre 636"/>
          <p:cNvSpPr/>
          <p:nvPr/>
        </p:nvSpPr>
        <p:spPr>
          <a:xfrm>
            <a:off x="666720" y="4743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Forma libre 637"/>
          <p:cNvSpPr/>
          <p:nvPr/>
        </p:nvSpPr>
        <p:spPr>
          <a:xfrm>
            <a:off x="666720" y="4733640"/>
            <a:ext cx="2305080" cy="10080"/>
          </a:xfrm>
          <a:custGeom>
            <a:avLst/>
            <a:gdLst/>
            <a:ahLst/>
            <a:cxnLst/>
            <a:rect l="0" t="0" r="r" b="b"/>
            <a:pathLst>
              <a:path w="6403" h="28">
                <a:moveTo>
                  <a:pt x="0" y="0"/>
                </a:moveTo>
                <a:lnTo>
                  <a:pt x="6403" y="0"/>
                </a:lnTo>
                <a:lnTo>
                  <a:pt x="64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Forma libre 638"/>
          <p:cNvSpPr/>
          <p:nvPr/>
        </p:nvSpPr>
        <p:spPr>
          <a:xfrm>
            <a:off x="2962080" y="4743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Forma libre 639"/>
          <p:cNvSpPr/>
          <p:nvPr/>
        </p:nvSpPr>
        <p:spPr>
          <a:xfrm>
            <a:off x="2971440" y="4733640"/>
            <a:ext cx="1076760" cy="10080"/>
          </a:xfrm>
          <a:custGeom>
            <a:avLst/>
            <a:gdLst/>
            <a:ahLst/>
            <a:cxnLst/>
            <a:rect l="0" t="0" r="r" b="b"/>
            <a:pathLst>
              <a:path w="2991" h="28">
                <a:moveTo>
                  <a:pt x="0" y="0"/>
                </a:moveTo>
                <a:lnTo>
                  <a:pt x="2991" y="0"/>
                </a:lnTo>
                <a:lnTo>
                  <a:pt x="2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Forma libre 640"/>
          <p:cNvSpPr/>
          <p:nvPr/>
        </p:nvSpPr>
        <p:spPr>
          <a:xfrm>
            <a:off x="4038480" y="4743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orma libre 641"/>
          <p:cNvSpPr/>
          <p:nvPr/>
        </p:nvSpPr>
        <p:spPr>
          <a:xfrm>
            <a:off x="4047840" y="4733640"/>
            <a:ext cx="3305520" cy="10080"/>
          </a:xfrm>
          <a:custGeom>
            <a:avLst/>
            <a:gdLst/>
            <a:ahLst/>
            <a:cxnLst/>
            <a:rect l="0" t="0" r="r" b="b"/>
            <a:pathLst>
              <a:path w="9182" h="28">
                <a:moveTo>
                  <a:pt x="0" y="0"/>
                </a:moveTo>
                <a:lnTo>
                  <a:pt x="9182" y="0"/>
                </a:lnTo>
                <a:lnTo>
                  <a:pt x="9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Forma libre 642"/>
          <p:cNvSpPr/>
          <p:nvPr/>
        </p:nvSpPr>
        <p:spPr>
          <a:xfrm>
            <a:off x="7343640" y="47433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Forma libre 643"/>
          <p:cNvSpPr/>
          <p:nvPr/>
        </p:nvSpPr>
        <p:spPr>
          <a:xfrm>
            <a:off x="666720" y="5143320"/>
            <a:ext cx="2305080" cy="9720"/>
          </a:xfrm>
          <a:custGeom>
            <a:avLst/>
            <a:gdLst/>
            <a:ahLst/>
            <a:cxnLst/>
            <a:rect l="0" t="0" r="r" b="b"/>
            <a:pathLst>
              <a:path w="6403" h="27">
                <a:moveTo>
                  <a:pt x="0" y="0"/>
                </a:moveTo>
                <a:lnTo>
                  <a:pt x="6403" y="0"/>
                </a:lnTo>
                <a:lnTo>
                  <a:pt x="6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Forma libre 644"/>
          <p:cNvSpPr/>
          <p:nvPr/>
        </p:nvSpPr>
        <p:spPr>
          <a:xfrm>
            <a:off x="2971440" y="5143320"/>
            <a:ext cx="1076760" cy="9720"/>
          </a:xfrm>
          <a:custGeom>
            <a:avLst/>
            <a:gdLst/>
            <a:ahLst/>
            <a:cxn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Forma libre 645"/>
          <p:cNvSpPr/>
          <p:nvPr/>
        </p:nvSpPr>
        <p:spPr>
          <a:xfrm>
            <a:off x="4047840" y="5143320"/>
            <a:ext cx="3305520" cy="9720"/>
          </a:xfrm>
          <a:custGeom>
            <a:avLst/>
            <a:gdLst/>
            <a:ahLst/>
            <a:cxnLst/>
            <a:rect l="0" t="0" r="r" b="b"/>
            <a:pathLst>
              <a:path w="9182" h="27">
                <a:moveTo>
                  <a:pt x="0" y="0"/>
                </a:moveTo>
                <a:lnTo>
                  <a:pt x="9182" y="0"/>
                </a:lnTo>
                <a:lnTo>
                  <a:pt x="9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666720" y="1225080"/>
            <a:ext cx="2453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siete bloques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CuadroTexto 647"/>
          <p:cNvSpPr txBox="1"/>
          <p:nvPr/>
        </p:nvSpPr>
        <p:spPr>
          <a:xfrm>
            <a:off x="1499040" y="1971360"/>
            <a:ext cx="639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Bloque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3093480" y="1971360"/>
            <a:ext cx="826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Sesiones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CuadroTexto 649"/>
          <p:cNvSpPr txBox="1"/>
          <p:nvPr/>
        </p:nvSpPr>
        <p:spPr>
          <a:xfrm>
            <a:off x="5088600" y="1971360"/>
            <a:ext cx="121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se llevan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799920" y="2371320"/>
            <a:ext cx="1712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 · Python para datos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CuadroTexto 651"/>
          <p:cNvSpPr txBox="1"/>
          <p:nvPr/>
        </p:nvSpPr>
        <p:spPr>
          <a:xfrm>
            <a:off x="3093480" y="2371320"/>
            <a:ext cx="307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1–3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4176360" y="2371320"/>
            <a:ext cx="2202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pandas, EDA, visualización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CuadroTexto 653"/>
          <p:cNvSpPr txBox="1"/>
          <p:nvPr/>
        </p:nvSpPr>
        <p:spPr>
          <a:xfrm>
            <a:off x="799920" y="2781000"/>
            <a:ext cx="2040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II · Ingeniería de software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3093480" y="2781000"/>
            <a:ext cx="307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4–9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4176360" y="2781000"/>
            <a:ext cx="206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Git, testing, Docker, APIs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CuadroTexto 656"/>
          <p:cNvSpPr txBox="1"/>
          <p:nvPr/>
        </p:nvSpPr>
        <p:spPr>
          <a:xfrm>
            <a:off x="799920" y="3190320"/>
            <a:ext cx="1402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III · SQL y OMOP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3093480" y="319032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10–18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4176360" y="3190320"/>
            <a:ext cx="2823978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Analisis</a:t>
            </a:r>
            <a:r>
              <a:rPr lang="es-ES" sz="15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el espacio RWD/RWE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799920" y="3600000"/>
            <a:ext cx="759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IV · Nube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CuadroTexto 660"/>
          <p:cNvSpPr txBox="1"/>
          <p:nvPr/>
        </p:nvSpPr>
        <p:spPr>
          <a:xfrm>
            <a:off x="3093480" y="360000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19–21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CuadroTexto 661"/>
          <p:cNvSpPr txBox="1"/>
          <p:nvPr/>
        </p:nvSpPr>
        <p:spPr>
          <a:xfrm>
            <a:off x="4176360" y="3600000"/>
            <a:ext cx="1629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AWS: IAM, S3, EC2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CuadroTexto 662"/>
          <p:cNvSpPr txBox="1"/>
          <p:nvPr/>
        </p:nvSpPr>
        <p:spPr>
          <a:xfrm>
            <a:off x="799920" y="4009680"/>
            <a:ext cx="1724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 · Machine Learning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uadroTexto 663"/>
          <p:cNvSpPr txBox="1"/>
          <p:nvPr/>
        </p:nvSpPr>
        <p:spPr>
          <a:xfrm>
            <a:off x="3093480" y="400968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22–26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4176360" y="4009680"/>
            <a:ext cx="2753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Del feature al modelo desplegado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CuadroTexto 665"/>
          <p:cNvSpPr txBox="1"/>
          <p:nvPr/>
        </p:nvSpPr>
        <p:spPr>
          <a:xfrm>
            <a:off x="799920" y="4419360"/>
            <a:ext cx="1373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VI · IA generativa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CuadroTexto 666"/>
          <p:cNvSpPr txBox="1"/>
          <p:nvPr/>
        </p:nvSpPr>
        <p:spPr>
          <a:xfrm>
            <a:off x="3093480" y="441936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27–30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CuadroTexto 667"/>
          <p:cNvSpPr txBox="1"/>
          <p:nvPr/>
        </p:nvSpPr>
        <p:spPr>
          <a:xfrm>
            <a:off x="4176360" y="4419360"/>
            <a:ext cx="2531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LLMs, RAG, desarrollo asistido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CuadroTexto 668"/>
          <p:cNvSpPr txBox="1"/>
          <p:nvPr/>
        </p:nvSpPr>
        <p:spPr>
          <a:xfrm>
            <a:off x="799920" y="4828680"/>
            <a:ext cx="844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VII · Cierre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CuadroTexto 669"/>
          <p:cNvSpPr txBox="1"/>
          <p:nvPr/>
        </p:nvSpPr>
        <p:spPr>
          <a:xfrm>
            <a:off x="3093480" y="4828680"/>
            <a:ext cx="519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31–32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CuadroTexto 670"/>
          <p:cNvSpPr txBox="1"/>
          <p:nvPr/>
        </p:nvSpPr>
        <p:spPr>
          <a:xfrm>
            <a:off x="4176360" y="4828680"/>
            <a:ext cx="3045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Proyecto ﬁnal y búsqueda de empleo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CuadroTexto 671"/>
          <p:cNvSpPr txBox="1"/>
          <p:nvPr/>
        </p:nvSpPr>
        <p:spPr>
          <a:xfrm>
            <a:off x="666720" y="5344920"/>
            <a:ext cx="5136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Evaluación: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proyecto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ﬁnal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70% · presentación 30%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CuadroTexto 67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CuadroTexto 67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CuadroTexto 67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125154-225C-A3A9-B89E-DB624FA17236}"/>
              </a:ext>
            </a:extLst>
          </p:cNvPr>
          <p:cNvSpPr txBox="1"/>
          <p:nvPr/>
        </p:nvSpPr>
        <p:spPr>
          <a:xfrm>
            <a:off x="666720" y="5689800"/>
            <a:ext cx="218329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b="1" dirty="0">
                <a:solidFill>
                  <a:srgbClr val="0B3C5D"/>
                </a:solidFill>
                <a:latin typeface="HelveticaNeue"/>
                <a:ea typeface="HelveticaNeue"/>
              </a:rPr>
              <a:t>Comunicación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Slack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Forma libre 7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Forma libre 7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Forma libre 7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Forma libre 752"/>
          <p:cNvSpPr/>
          <p:nvPr/>
        </p:nvSpPr>
        <p:spPr>
          <a:xfrm>
            <a:off x="666720" y="411444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Forma libre 753"/>
          <p:cNvSpPr/>
          <p:nvPr/>
        </p:nvSpPr>
        <p:spPr>
          <a:xfrm>
            <a:off x="666720" y="411444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Forma libre 754"/>
          <p:cNvSpPr/>
          <p:nvPr/>
        </p:nvSpPr>
        <p:spPr>
          <a:xfrm>
            <a:off x="914040" y="2971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CuadroTexto 755"/>
          <p:cNvSpPr txBox="1"/>
          <p:nvPr/>
        </p:nvSpPr>
        <p:spPr>
          <a:xfrm>
            <a:off x="666720" y="2187360"/>
            <a:ext cx="3626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 portafolio empieza hoy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Forma libre 756"/>
          <p:cNvSpPr/>
          <p:nvPr/>
        </p:nvSpPr>
        <p:spPr>
          <a:xfrm>
            <a:off x="914040" y="3371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CuadroTexto 757"/>
          <p:cNvSpPr txBox="1"/>
          <p:nvPr/>
        </p:nvSpPr>
        <p:spPr>
          <a:xfrm>
            <a:off x="1123920" y="2859120"/>
            <a:ext cx="5933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 lo que hagan vive 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repositorio de GitHub, público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Forma libre 758"/>
          <p:cNvSpPr/>
          <p:nvPr/>
        </p:nvSpPr>
        <p:spPr>
          <a:xfrm>
            <a:off x="914040" y="3771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CuadroTexto 759"/>
          <p:cNvSpPr txBox="1"/>
          <p:nvPr/>
        </p:nvSpPr>
        <p:spPr>
          <a:xfrm>
            <a:off x="1123920" y="3259080"/>
            <a:ext cx="499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reclutador va a mirar ese perﬁl antes que su CV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CuadroTexto 760"/>
          <p:cNvSpPr txBox="1"/>
          <p:nvPr/>
        </p:nvSpPr>
        <p:spPr>
          <a:xfrm>
            <a:off x="1123920" y="3659040"/>
            <a:ext cx="8545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Tres proyectos bien documentados valen más que cuarenta repositorios abandonados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CuadroTexto 761"/>
          <p:cNvSpPr txBox="1"/>
          <p:nvPr/>
        </p:nvSpPr>
        <p:spPr>
          <a:xfrm>
            <a:off x="905040" y="4268520"/>
            <a:ext cx="633731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proyecto </a:t>
            </a:r>
            <a:r>
              <a:rPr lang="es-ES" sz="1800" b="0" u="none" strike="noStrike" dirty="0" err="1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ﬁnal</a:t>
            </a:r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no es un trámite: es la pieza de su portafolio.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CuadroTexto 76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CuadroTexto 76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CuadroTexto 76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Forma libre 7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Forma libre 7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Forma libre 7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CuadroTexto 768"/>
          <p:cNvSpPr txBox="1"/>
          <p:nvPr/>
        </p:nvSpPr>
        <p:spPr>
          <a:xfrm>
            <a:off x="3331440" y="3063960"/>
            <a:ext cx="56628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Ética desde el día uno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CuadroTexto 76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CuadroTexto 77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CuadroTexto 77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Forma libre 7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Forma libre 7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Forma libre 7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Forma libre 775"/>
          <p:cNvSpPr/>
          <p:nvPr/>
        </p:nvSpPr>
        <p:spPr>
          <a:xfrm>
            <a:off x="666720" y="411444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Forma libre 776"/>
          <p:cNvSpPr/>
          <p:nvPr/>
        </p:nvSpPr>
        <p:spPr>
          <a:xfrm>
            <a:off x="666720" y="411444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Forma libre 777"/>
          <p:cNvSpPr/>
          <p:nvPr/>
        </p:nvSpPr>
        <p:spPr>
          <a:xfrm>
            <a:off x="914040" y="2971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CuadroTexto 778"/>
          <p:cNvSpPr txBox="1"/>
          <p:nvPr/>
        </p:nvSpPr>
        <p:spPr>
          <a:xfrm>
            <a:off x="666720" y="2187360"/>
            <a:ext cx="5929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Datos de pacientes: reglas no negociables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Forma libre 779"/>
          <p:cNvSpPr/>
          <p:nvPr/>
        </p:nvSpPr>
        <p:spPr>
          <a:xfrm>
            <a:off x="914040" y="33717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CuadroTexto 780"/>
          <p:cNvSpPr txBox="1"/>
          <p:nvPr/>
        </p:nvSpPr>
        <p:spPr>
          <a:xfrm>
            <a:off x="1123920" y="2859120"/>
            <a:ext cx="8846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Nunca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datos identiﬁcables en un repositorio, en una laptop sin cifrar o en una API externa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Forma libre 781"/>
          <p:cNvSpPr/>
          <p:nvPr/>
        </p:nvSpPr>
        <p:spPr>
          <a:xfrm>
            <a:off x="914040" y="3771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CuadroTexto 782"/>
          <p:cNvSpPr txBox="1"/>
          <p:nvPr/>
        </p:nvSpPr>
        <p:spPr>
          <a:xfrm>
            <a:off x="1123920" y="3259080"/>
            <a:ext cx="6520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Marcos aplicables: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HIPAA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(EUA),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GDPR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(UE),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LFPDPPP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(México)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CuadroTexto 783"/>
          <p:cNvSpPr txBox="1"/>
          <p:nvPr/>
        </p:nvSpPr>
        <p:spPr>
          <a:xfrm>
            <a:off x="1123920" y="3659040"/>
            <a:ext cx="9059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De-identiﬁcación ≠ anonimización: la reidentiﬁcación es posible más veces de lo que se cree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CuadroTexto 784"/>
          <p:cNvSpPr txBox="1"/>
          <p:nvPr/>
        </p:nvSpPr>
        <p:spPr>
          <a:xfrm>
            <a:off x="905040" y="4268520"/>
            <a:ext cx="8027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este curso usaremos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exclusivamente datos sintéticos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Ninguna excepción.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CuadroTexto 78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CuadroTexto 78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CuadroTexto 78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Forma libre 7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Forma libre 7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Forma libre 7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Forma libre 791"/>
          <p:cNvSpPr/>
          <p:nvPr/>
        </p:nvSpPr>
        <p:spPr>
          <a:xfrm>
            <a:off x="666720" y="428616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Forma libre 792"/>
          <p:cNvSpPr/>
          <p:nvPr/>
        </p:nvSpPr>
        <p:spPr>
          <a:xfrm>
            <a:off x="666720" y="428616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Forma libre 793"/>
          <p:cNvSpPr/>
          <p:nvPr/>
        </p:nvSpPr>
        <p:spPr>
          <a:xfrm>
            <a:off x="914040" y="2800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CuadroTexto 794"/>
          <p:cNvSpPr txBox="1"/>
          <p:nvPr/>
        </p:nvSpPr>
        <p:spPr>
          <a:xfrm>
            <a:off x="666720" y="2015640"/>
            <a:ext cx="7877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sesgo entra por los datos y sale como decisión clínica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Forma libre 795"/>
          <p:cNvSpPr/>
          <p:nvPr/>
        </p:nvSpPr>
        <p:spPr>
          <a:xfrm>
            <a:off x="91404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CuadroTexto 796"/>
          <p:cNvSpPr txBox="1"/>
          <p:nvPr/>
        </p:nvSpPr>
        <p:spPr>
          <a:xfrm>
            <a:off x="1123920" y="2687400"/>
            <a:ext cx="6382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modelo entrenado en una población no funciona igual en otra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Forma libre 797"/>
          <p:cNvSpPr/>
          <p:nvPr/>
        </p:nvSpPr>
        <p:spPr>
          <a:xfrm>
            <a:off x="914040" y="3600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CuadroTexto 798"/>
          <p:cNvSpPr txBox="1"/>
          <p:nvPr/>
        </p:nvSpPr>
        <p:spPr>
          <a:xfrm>
            <a:off x="1123920" y="3087720"/>
            <a:ext cx="8148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el dato reﬂeja acceso desigual a la atención, el modelo aprende esa desigualdad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CuadroTexto 799"/>
          <p:cNvSpPr txBox="1"/>
          <p:nvPr/>
        </p:nvSpPr>
        <p:spPr>
          <a:xfrm>
            <a:off x="1123920" y="3487680"/>
            <a:ext cx="10337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Caso de referencia: el algoritmo de Obermeyer et al. (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Science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2019), que subestimaba sistemáticamente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CuadroTexto 800"/>
          <p:cNvSpPr txBox="1"/>
          <p:nvPr/>
        </p:nvSpPr>
        <p:spPr>
          <a:xfrm>
            <a:off x="1123920" y="3830400"/>
            <a:ext cx="535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necesidad de atención de pacientes afroamericanos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CuadroTexto 801"/>
          <p:cNvSpPr txBox="1"/>
          <p:nvPr/>
        </p:nvSpPr>
        <p:spPr>
          <a:xfrm>
            <a:off x="905040" y="4440240"/>
            <a:ext cx="554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Volveremos a esto con datos y métricas en la sesión 25.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CuadroTexto 80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CuadroTexto 80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CuadroTexto 80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Forma libre 8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Forma libre 8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Forma libre 8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CuadroTexto 808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CuadroTexto 809"/>
          <p:cNvSpPr txBox="1"/>
          <p:nvPr/>
        </p:nvSpPr>
        <p:spPr>
          <a:xfrm>
            <a:off x="869760" y="2535120"/>
            <a:ext cx="10152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datos clínicos no se hicieron para investigación.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Todo lo demás en este curso se deriva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CuadroTexto 810"/>
          <p:cNvSpPr txBox="1"/>
          <p:nvPr/>
        </p:nvSpPr>
        <p:spPr>
          <a:xfrm>
            <a:off x="1123920" y="2877840"/>
            <a:ext cx="1229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aceptar eso.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CuadroTexto 811"/>
          <p:cNvSpPr txBox="1"/>
          <p:nvPr/>
        </p:nvSpPr>
        <p:spPr>
          <a:xfrm>
            <a:off x="869760" y="3373200"/>
            <a:ext cx="10658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Su ventaja no es programar mejor que un ingeniero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es saber qué pregunta vale la pena y reconocer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CuadroTexto 812"/>
          <p:cNvSpPr txBox="1"/>
          <p:nvPr/>
        </p:nvSpPr>
        <p:spPr>
          <a:xfrm>
            <a:off x="1123920" y="3716280"/>
            <a:ext cx="3574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cuándo un resultado no se sostiene.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CuadroTexto 813"/>
          <p:cNvSpPr txBox="1"/>
          <p:nvPr/>
        </p:nvSpPr>
        <p:spPr>
          <a:xfrm>
            <a:off x="869760" y="4211640"/>
            <a:ext cx="9534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estandarización (OMOP) es lo que hace posible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 investigación a escala y la evidencia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CuadroTexto 814"/>
          <p:cNvSpPr txBox="1"/>
          <p:nvPr/>
        </p:nvSpPr>
        <p:spPr>
          <a:xfrm>
            <a:off x="1123920" y="4554360"/>
            <a:ext cx="109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regulatoria.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CuadroTexto 81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CuadroTexto 81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CuadroTexto 81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Forma libre 8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Forma libre 8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Forma libre 832"/>
          <p:cNvSpPr/>
          <p:nvPr/>
        </p:nvSpPr>
        <p:spPr>
          <a:xfrm>
            <a:off x="0" y="24763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CuadroTexto 833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CuadroTexto 8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01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CuadroTexto 8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CuadroTexto 8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9808</TotalTime>
  <Words>2191</Words>
  <Application>Microsoft Macintosh PowerPoint</Application>
  <PresentationFormat>Panorámica</PresentationFormat>
  <Paragraphs>318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13</cp:revision>
  <dcterms:modified xsi:type="dcterms:W3CDTF">2026-08-16T23:27:30Z</dcterms:modified>
  <dc:language>es-ES</dc:language>
</cp:coreProperties>
</file>