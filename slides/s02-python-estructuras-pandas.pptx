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9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40"/>
    <p:restoredTop sz="94671"/>
  </p:normalViewPr>
  <p:slideViewPr>
    <p:cSldViewPr snapToGrid="0">
      <p:cViewPr varScale="1">
        <p:scale>
          <a:sx n="138" d="100"/>
          <a:sy n="138" d="100"/>
        </p:scale>
        <p:origin x="7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02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6720" y="3187440"/>
            <a:ext cx="80157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Python para Biomedicina: Estructuras de Datos y Pandas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868560"/>
            <a:ext cx="6472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 — Fundamentos de Python para datos biomédicos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Forma libre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Forma libre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9760" y="3268440"/>
            <a:ext cx="8082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Elegir la estructura de datos correcta según su costo en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memoria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en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tiempo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869760" y="3668400"/>
            <a:ext cx="9357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Explicar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por qué Python consume tanta memoria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reducir el consumo de un DataFrame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869760" y="4068720"/>
            <a:ext cx="6540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Manipular datos clínicos con pandas: ﬁltrado, agrupación y joins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869760" y="4468680"/>
            <a:ext cx="8097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Reconocer cuándo pandas deja de alcanzar y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por qué la industria usa Spark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rma libre 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Forma libre 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Forma libre 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Forma libre 30"/>
          <p:cNvSpPr/>
          <p:nvPr/>
        </p:nvSpPr>
        <p:spPr>
          <a:xfrm>
            <a:off x="666720" y="491472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orma libre 31"/>
          <p:cNvSpPr/>
          <p:nvPr/>
        </p:nvSpPr>
        <p:spPr>
          <a:xfrm>
            <a:off x="666720" y="491472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666720" y="13870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869760" y="2058840"/>
            <a:ext cx="3201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Estructuras nativas y su costo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869760" y="2458800"/>
            <a:ext cx="4250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Por qué Python gasta tanta memoria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869760" y="2859120"/>
            <a:ext cx="5234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Del diccionario al DataFrame: dtypes que importan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869760" y="3259080"/>
            <a:ext cx="2169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Filtrar, agrupar, unir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869760" y="3659040"/>
            <a:ext cx="4248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Formato ancho y largo · valores faltantes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869760" y="4059000"/>
            <a:ext cx="6254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Cuando pandas ya no alcanza: Polars, DuckDB y Spark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869760" y="4459320"/>
            <a:ext cx="3604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 Escribir pandas que se puede leer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905040" y="5068800"/>
            <a:ext cx="9270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análisis con presupuesto de memoria + comparación pandas / Polars / PySpark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CuadroTexto 4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orma libre 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Forma libre 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Forma libre 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449440" y="3063960"/>
            <a:ext cx="7469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Estructuras nativas y su costo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orma libre 57"/>
          <p:cNvSpPr/>
          <p:nvPr/>
        </p:nvSpPr>
        <p:spPr>
          <a:xfrm>
            <a:off x="4028760" y="2466720"/>
            <a:ext cx="1172160" cy="410040"/>
          </a:xfrm>
          <a:custGeom>
            <a:avLst/>
            <a:gdLst/>
            <a:ahLst/>
            <a:cxnLst/>
            <a:rect l="0" t="0" r="r" b="b"/>
            <a:pathLst>
              <a:path w="3256" h="1139">
                <a:moveTo>
                  <a:pt x="0" y="0"/>
                </a:moveTo>
                <a:lnTo>
                  <a:pt x="3256" y="0"/>
                </a:lnTo>
                <a:lnTo>
                  <a:pt x="32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Forma libre 66"/>
          <p:cNvSpPr/>
          <p:nvPr/>
        </p:nvSpPr>
        <p:spPr>
          <a:xfrm>
            <a:off x="3028680" y="2876400"/>
            <a:ext cx="1000440" cy="419400"/>
          </a:xfrm>
          <a:custGeom>
            <a:avLst/>
            <a:gdLst/>
            <a:ahLst/>
            <a:cxnLst/>
            <a:rect l="0" t="0" r="r" b="b"/>
            <a:pathLst>
              <a:path w="2779" h="1165">
                <a:moveTo>
                  <a:pt x="0" y="0"/>
                </a:moveTo>
                <a:lnTo>
                  <a:pt x="2779" y="0"/>
                </a:lnTo>
                <a:lnTo>
                  <a:pt x="277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Forma libre 67"/>
          <p:cNvSpPr/>
          <p:nvPr/>
        </p:nvSpPr>
        <p:spPr>
          <a:xfrm>
            <a:off x="4028760" y="2876400"/>
            <a:ext cx="1172160" cy="419400"/>
          </a:xfrm>
          <a:custGeom>
            <a:avLst/>
            <a:gdLst/>
            <a:ahLst/>
            <a:cxnLst/>
            <a:rect l="0" t="0" r="r" b="b"/>
            <a:pathLst>
              <a:path w="3256" h="1165">
                <a:moveTo>
                  <a:pt x="0" y="0"/>
                </a:moveTo>
                <a:lnTo>
                  <a:pt x="3256" y="0"/>
                </a:lnTo>
                <a:lnTo>
                  <a:pt x="325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Forma libre 71"/>
          <p:cNvSpPr/>
          <p:nvPr/>
        </p:nvSpPr>
        <p:spPr>
          <a:xfrm>
            <a:off x="3028680" y="3295440"/>
            <a:ext cx="1000440" cy="410040"/>
          </a:xfrm>
          <a:custGeom>
            <a:avLst/>
            <a:gdLst/>
            <a:ahLst/>
            <a:cxnLst/>
            <a:rect l="0" t="0" r="r" b="b"/>
            <a:pathLst>
              <a:path w="2779" h="1139">
                <a:moveTo>
                  <a:pt x="0" y="0"/>
                </a:moveTo>
                <a:lnTo>
                  <a:pt x="2779" y="0"/>
                </a:lnTo>
                <a:lnTo>
                  <a:pt x="277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Forma libre 72"/>
          <p:cNvSpPr/>
          <p:nvPr/>
        </p:nvSpPr>
        <p:spPr>
          <a:xfrm>
            <a:off x="4028760" y="3295440"/>
            <a:ext cx="1172160" cy="410040"/>
          </a:xfrm>
          <a:custGeom>
            <a:avLst/>
            <a:gdLst/>
            <a:ahLst/>
            <a:cxnLst/>
            <a:rect l="0" t="0" r="r" b="b"/>
            <a:pathLst>
              <a:path w="3256" h="1139">
                <a:moveTo>
                  <a:pt x="0" y="0"/>
                </a:moveTo>
                <a:lnTo>
                  <a:pt x="3256" y="0"/>
                </a:lnTo>
                <a:lnTo>
                  <a:pt x="32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Forma libre 75"/>
          <p:cNvSpPr/>
          <p:nvPr/>
        </p:nvSpPr>
        <p:spPr>
          <a:xfrm>
            <a:off x="1885680" y="3705120"/>
            <a:ext cx="1143360" cy="419400"/>
          </a:xfrm>
          <a:custGeom>
            <a:avLst/>
            <a:gdLst/>
            <a:ahLst/>
            <a:cxnLst/>
            <a:rect l="0" t="0" r="r" b="b"/>
            <a:pathLst>
              <a:path w="3176" h="1165">
                <a:moveTo>
                  <a:pt x="0" y="0"/>
                </a:moveTo>
                <a:lnTo>
                  <a:pt x="3176" y="0"/>
                </a:lnTo>
                <a:lnTo>
                  <a:pt x="317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Forma libre 76"/>
          <p:cNvSpPr/>
          <p:nvPr/>
        </p:nvSpPr>
        <p:spPr>
          <a:xfrm>
            <a:off x="3028680" y="3705120"/>
            <a:ext cx="1000440" cy="419400"/>
          </a:xfrm>
          <a:custGeom>
            <a:avLst/>
            <a:gdLst/>
            <a:ahLst/>
            <a:cxnLst/>
            <a:rect l="0" t="0" r="r" b="b"/>
            <a:pathLst>
              <a:path w="2779" h="1165">
                <a:moveTo>
                  <a:pt x="0" y="0"/>
                </a:moveTo>
                <a:lnTo>
                  <a:pt x="2779" y="0"/>
                </a:lnTo>
                <a:lnTo>
                  <a:pt x="277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Forma libre 77"/>
          <p:cNvSpPr/>
          <p:nvPr/>
        </p:nvSpPr>
        <p:spPr>
          <a:xfrm>
            <a:off x="4028760" y="3705120"/>
            <a:ext cx="1172160" cy="419400"/>
          </a:xfrm>
          <a:custGeom>
            <a:avLst/>
            <a:gdLst/>
            <a:ahLst/>
            <a:cxnLst/>
            <a:rect l="0" t="0" r="r" b="b"/>
            <a:pathLst>
              <a:path w="3256" h="1165">
                <a:moveTo>
                  <a:pt x="0" y="0"/>
                </a:moveTo>
                <a:lnTo>
                  <a:pt x="3256" y="0"/>
                </a:lnTo>
                <a:lnTo>
                  <a:pt x="325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Forma libre 80"/>
          <p:cNvSpPr/>
          <p:nvPr/>
        </p:nvSpPr>
        <p:spPr>
          <a:xfrm>
            <a:off x="1885680" y="4124160"/>
            <a:ext cx="1143360" cy="419400"/>
          </a:xfrm>
          <a:custGeom>
            <a:avLst/>
            <a:gdLst/>
            <a:ahLst/>
            <a:cxnLst/>
            <a:rect l="0" t="0" r="r" b="b"/>
            <a:pathLst>
              <a:path w="3176" h="1165">
                <a:moveTo>
                  <a:pt x="0" y="0"/>
                </a:moveTo>
                <a:lnTo>
                  <a:pt x="3176" y="0"/>
                </a:lnTo>
                <a:lnTo>
                  <a:pt x="317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Forma libre 81"/>
          <p:cNvSpPr/>
          <p:nvPr/>
        </p:nvSpPr>
        <p:spPr>
          <a:xfrm>
            <a:off x="3028680" y="4124160"/>
            <a:ext cx="1000440" cy="419400"/>
          </a:xfrm>
          <a:custGeom>
            <a:avLst/>
            <a:gdLst/>
            <a:ahLst/>
            <a:cxnLst/>
            <a:rect l="0" t="0" r="r" b="b"/>
            <a:pathLst>
              <a:path w="2779" h="1165">
                <a:moveTo>
                  <a:pt x="0" y="0"/>
                </a:moveTo>
                <a:lnTo>
                  <a:pt x="2779" y="0"/>
                </a:lnTo>
                <a:lnTo>
                  <a:pt x="277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Forma libre 82"/>
          <p:cNvSpPr/>
          <p:nvPr/>
        </p:nvSpPr>
        <p:spPr>
          <a:xfrm>
            <a:off x="4028760" y="4124160"/>
            <a:ext cx="1172160" cy="419400"/>
          </a:xfrm>
          <a:custGeom>
            <a:avLst/>
            <a:gdLst/>
            <a:ahLst/>
            <a:cxnLst/>
            <a:rect l="0" t="0" r="r" b="b"/>
            <a:pathLst>
              <a:path w="3256" h="1165">
                <a:moveTo>
                  <a:pt x="0" y="0"/>
                </a:moveTo>
                <a:lnTo>
                  <a:pt x="3256" y="0"/>
                </a:lnTo>
                <a:lnTo>
                  <a:pt x="325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Forma libre 88"/>
          <p:cNvSpPr/>
          <p:nvPr/>
        </p:nvSpPr>
        <p:spPr>
          <a:xfrm>
            <a:off x="3028680" y="24667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Forma libre 89"/>
          <p:cNvSpPr/>
          <p:nvPr/>
        </p:nvSpPr>
        <p:spPr>
          <a:xfrm>
            <a:off x="3038400" y="2466720"/>
            <a:ext cx="990720" cy="10080"/>
          </a:xfrm>
          <a:custGeom>
            <a:avLst/>
            <a:gdLst/>
            <a:ahLst/>
            <a:cxnLst/>
            <a:rect l="0" t="0" r="r" b="b"/>
            <a:pathLst>
              <a:path w="2752" h="28">
                <a:moveTo>
                  <a:pt x="0" y="0"/>
                </a:moveTo>
                <a:lnTo>
                  <a:pt x="2752" y="0"/>
                </a:lnTo>
                <a:lnTo>
                  <a:pt x="27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Forma libre 90"/>
          <p:cNvSpPr/>
          <p:nvPr/>
        </p:nvSpPr>
        <p:spPr>
          <a:xfrm>
            <a:off x="4019400" y="2466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Forma libre 91"/>
          <p:cNvSpPr/>
          <p:nvPr/>
        </p:nvSpPr>
        <p:spPr>
          <a:xfrm>
            <a:off x="4028760" y="2466720"/>
            <a:ext cx="1172160" cy="10080"/>
          </a:xfrm>
          <a:custGeom>
            <a:avLst/>
            <a:gdLst/>
            <a:ahLst/>
            <a:cxnLst/>
            <a:rect l="0" t="0" r="r" b="b"/>
            <a:pathLst>
              <a:path w="3256" h="28">
                <a:moveTo>
                  <a:pt x="0" y="0"/>
                </a:moveTo>
                <a:lnTo>
                  <a:pt x="3256" y="0"/>
                </a:lnTo>
                <a:lnTo>
                  <a:pt x="32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Forma libre 92"/>
          <p:cNvSpPr/>
          <p:nvPr/>
        </p:nvSpPr>
        <p:spPr>
          <a:xfrm>
            <a:off x="5190840" y="24667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Forma libre 96"/>
          <p:cNvSpPr/>
          <p:nvPr/>
        </p:nvSpPr>
        <p:spPr>
          <a:xfrm>
            <a:off x="1885680" y="2876400"/>
            <a:ext cx="1153080" cy="9720"/>
          </a:xfrm>
          <a:custGeom>
            <a:avLst/>
            <a:gdLst/>
            <a:ahLst/>
            <a:cxnLst/>
            <a:rect l="0" t="0" r="r" b="b"/>
            <a:pathLst>
              <a:path w="3203" h="27">
                <a:moveTo>
                  <a:pt x="0" y="0"/>
                </a:moveTo>
                <a:lnTo>
                  <a:pt x="3203" y="0"/>
                </a:lnTo>
                <a:lnTo>
                  <a:pt x="32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Forma libre 97"/>
          <p:cNvSpPr/>
          <p:nvPr/>
        </p:nvSpPr>
        <p:spPr>
          <a:xfrm>
            <a:off x="3038400" y="2876400"/>
            <a:ext cx="990720" cy="9720"/>
          </a:xfrm>
          <a:custGeom>
            <a:avLst/>
            <a:gdLst/>
            <a:ahLst/>
            <a:cxnLst/>
            <a:rect l="0" t="0" r="r" b="b"/>
            <a:pathLst>
              <a:path w="2752" h="27">
                <a:moveTo>
                  <a:pt x="0" y="0"/>
                </a:moveTo>
                <a:lnTo>
                  <a:pt x="2752" y="0"/>
                </a:lnTo>
                <a:lnTo>
                  <a:pt x="27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Forma libre 98"/>
          <p:cNvSpPr/>
          <p:nvPr/>
        </p:nvSpPr>
        <p:spPr>
          <a:xfrm>
            <a:off x="4028760" y="2876400"/>
            <a:ext cx="1172160" cy="9720"/>
          </a:xfrm>
          <a:custGeom>
            <a:avLst/>
            <a:gdLst/>
            <a:ahLst/>
            <a:cxnLst/>
            <a:rect l="0" t="0" r="r" b="b"/>
            <a:pathLst>
              <a:path w="3256" h="27">
                <a:moveTo>
                  <a:pt x="0" y="0"/>
                </a:moveTo>
                <a:lnTo>
                  <a:pt x="3256" y="0"/>
                </a:lnTo>
                <a:lnTo>
                  <a:pt x="32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Forma libre 101"/>
          <p:cNvSpPr/>
          <p:nvPr/>
        </p:nvSpPr>
        <p:spPr>
          <a:xfrm>
            <a:off x="1876320" y="28857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Forma libre 102"/>
          <p:cNvSpPr/>
          <p:nvPr/>
        </p:nvSpPr>
        <p:spPr>
          <a:xfrm>
            <a:off x="3028680" y="288576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Forma libre 103"/>
          <p:cNvSpPr/>
          <p:nvPr/>
        </p:nvSpPr>
        <p:spPr>
          <a:xfrm>
            <a:off x="4019400" y="28857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Forma libre 104"/>
          <p:cNvSpPr/>
          <p:nvPr/>
        </p:nvSpPr>
        <p:spPr>
          <a:xfrm>
            <a:off x="5190840" y="288576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Forma libre 108"/>
          <p:cNvSpPr/>
          <p:nvPr/>
        </p:nvSpPr>
        <p:spPr>
          <a:xfrm>
            <a:off x="1876320" y="33051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orma libre 109"/>
          <p:cNvSpPr/>
          <p:nvPr/>
        </p:nvSpPr>
        <p:spPr>
          <a:xfrm>
            <a:off x="1885680" y="3295440"/>
            <a:ext cx="1153080" cy="10080"/>
          </a:xfrm>
          <a:custGeom>
            <a:avLst/>
            <a:gdLst/>
            <a:ahLst/>
            <a:cxnLst/>
            <a:rect l="0" t="0" r="r" b="b"/>
            <a:pathLst>
              <a:path w="3203" h="28">
                <a:moveTo>
                  <a:pt x="0" y="0"/>
                </a:moveTo>
                <a:lnTo>
                  <a:pt x="3203" y="0"/>
                </a:lnTo>
                <a:lnTo>
                  <a:pt x="32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Forma libre 110"/>
          <p:cNvSpPr/>
          <p:nvPr/>
        </p:nvSpPr>
        <p:spPr>
          <a:xfrm>
            <a:off x="3028680" y="330516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orma libre 111"/>
          <p:cNvSpPr/>
          <p:nvPr/>
        </p:nvSpPr>
        <p:spPr>
          <a:xfrm>
            <a:off x="3038400" y="3295440"/>
            <a:ext cx="990720" cy="10080"/>
          </a:xfrm>
          <a:custGeom>
            <a:avLst/>
            <a:gdLst/>
            <a:ahLst/>
            <a:cxnLst/>
            <a:rect l="0" t="0" r="r" b="b"/>
            <a:pathLst>
              <a:path w="2752" h="28">
                <a:moveTo>
                  <a:pt x="0" y="0"/>
                </a:moveTo>
                <a:lnTo>
                  <a:pt x="2752" y="0"/>
                </a:lnTo>
                <a:lnTo>
                  <a:pt x="27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Forma libre 112"/>
          <p:cNvSpPr/>
          <p:nvPr/>
        </p:nvSpPr>
        <p:spPr>
          <a:xfrm>
            <a:off x="4019400" y="33051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Forma libre 113"/>
          <p:cNvSpPr/>
          <p:nvPr/>
        </p:nvSpPr>
        <p:spPr>
          <a:xfrm>
            <a:off x="4028760" y="3295440"/>
            <a:ext cx="1172160" cy="10080"/>
          </a:xfrm>
          <a:custGeom>
            <a:avLst/>
            <a:gdLst/>
            <a:ahLst/>
            <a:cxnLst/>
            <a:rect l="0" t="0" r="r" b="b"/>
            <a:pathLst>
              <a:path w="3256" h="28">
                <a:moveTo>
                  <a:pt x="0" y="0"/>
                </a:moveTo>
                <a:lnTo>
                  <a:pt x="3256" y="0"/>
                </a:lnTo>
                <a:lnTo>
                  <a:pt x="32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Forma libre 114"/>
          <p:cNvSpPr/>
          <p:nvPr/>
        </p:nvSpPr>
        <p:spPr>
          <a:xfrm>
            <a:off x="5190840" y="330516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Forma libre 119"/>
          <p:cNvSpPr/>
          <p:nvPr/>
        </p:nvSpPr>
        <p:spPr>
          <a:xfrm>
            <a:off x="1876320" y="3714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Forma libre 120"/>
          <p:cNvSpPr/>
          <p:nvPr/>
        </p:nvSpPr>
        <p:spPr>
          <a:xfrm>
            <a:off x="1885680" y="3705120"/>
            <a:ext cx="1153080" cy="9720"/>
          </a:xfrm>
          <a:custGeom>
            <a:avLst/>
            <a:gdLst/>
            <a:ahLst/>
            <a:cxnLst/>
            <a:rect l="0" t="0" r="r" b="b"/>
            <a:pathLst>
              <a:path w="3203" h="27">
                <a:moveTo>
                  <a:pt x="0" y="0"/>
                </a:moveTo>
                <a:lnTo>
                  <a:pt x="3203" y="0"/>
                </a:lnTo>
                <a:lnTo>
                  <a:pt x="32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Forma libre 121"/>
          <p:cNvSpPr/>
          <p:nvPr/>
        </p:nvSpPr>
        <p:spPr>
          <a:xfrm>
            <a:off x="3028680" y="37144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Forma libre 122"/>
          <p:cNvSpPr/>
          <p:nvPr/>
        </p:nvSpPr>
        <p:spPr>
          <a:xfrm>
            <a:off x="3038400" y="3705120"/>
            <a:ext cx="990720" cy="9720"/>
          </a:xfrm>
          <a:custGeom>
            <a:avLst/>
            <a:gdLst/>
            <a:ahLst/>
            <a:cxnLst/>
            <a:rect l="0" t="0" r="r" b="b"/>
            <a:pathLst>
              <a:path w="2752" h="27">
                <a:moveTo>
                  <a:pt x="0" y="0"/>
                </a:moveTo>
                <a:lnTo>
                  <a:pt x="2752" y="0"/>
                </a:lnTo>
                <a:lnTo>
                  <a:pt x="27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Forma libre 123"/>
          <p:cNvSpPr/>
          <p:nvPr/>
        </p:nvSpPr>
        <p:spPr>
          <a:xfrm>
            <a:off x="4019400" y="3714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Forma libre 124"/>
          <p:cNvSpPr/>
          <p:nvPr/>
        </p:nvSpPr>
        <p:spPr>
          <a:xfrm>
            <a:off x="4028760" y="3705120"/>
            <a:ext cx="1172160" cy="9720"/>
          </a:xfrm>
          <a:custGeom>
            <a:avLst/>
            <a:gdLst/>
            <a:ahLst/>
            <a:cxnLst/>
            <a:rect l="0" t="0" r="r" b="b"/>
            <a:pathLst>
              <a:path w="3256" h="27">
                <a:moveTo>
                  <a:pt x="0" y="0"/>
                </a:moveTo>
                <a:lnTo>
                  <a:pt x="3256" y="0"/>
                </a:lnTo>
                <a:lnTo>
                  <a:pt x="32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Forma libre 125"/>
          <p:cNvSpPr/>
          <p:nvPr/>
        </p:nvSpPr>
        <p:spPr>
          <a:xfrm>
            <a:off x="5190840" y="37144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Forma libre 130"/>
          <p:cNvSpPr/>
          <p:nvPr/>
        </p:nvSpPr>
        <p:spPr>
          <a:xfrm>
            <a:off x="1876320" y="41335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Forma libre 131"/>
          <p:cNvSpPr/>
          <p:nvPr/>
        </p:nvSpPr>
        <p:spPr>
          <a:xfrm>
            <a:off x="1885680" y="4124160"/>
            <a:ext cx="1153080" cy="9720"/>
          </a:xfrm>
          <a:custGeom>
            <a:avLst/>
            <a:gdLst/>
            <a:ahLst/>
            <a:cxnLst/>
            <a:rect l="0" t="0" r="r" b="b"/>
            <a:pathLst>
              <a:path w="3203" h="27">
                <a:moveTo>
                  <a:pt x="0" y="0"/>
                </a:moveTo>
                <a:lnTo>
                  <a:pt x="3203" y="0"/>
                </a:lnTo>
                <a:lnTo>
                  <a:pt x="32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Forma libre 132"/>
          <p:cNvSpPr/>
          <p:nvPr/>
        </p:nvSpPr>
        <p:spPr>
          <a:xfrm>
            <a:off x="3028680" y="41335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Forma libre 133"/>
          <p:cNvSpPr/>
          <p:nvPr/>
        </p:nvSpPr>
        <p:spPr>
          <a:xfrm>
            <a:off x="3038400" y="4124160"/>
            <a:ext cx="990720" cy="9720"/>
          </a:xfrm>
          <a:custGeom>
            <a:avLst/>
            <a:gdLst/>
            <a:ahLst/>
            <a:cxnLst/>
            <a:rect l="0" t="0" r="r" b="b"/>
            <a:pathLst>
              <a:path w="2752" h="27">
                <a:moveTo>
                  <a:pt x="0" y="0"/>
                </a:moveTo>
                <a:lnTo>
                  <a:pt x="2752" y="0"/>
                </a:lnTo>
                <a:lnTo>
                  <a:pt x="27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Forma libre 134"/>
          <p:cNvSpPr/>
          <p:nvPr/>
        </p:nvSpPr>
        <p:spPr>
          <a:xfrm>
            <a:off x="4019400" y="41335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Forma libre 135"/>
          <p:cNvSpPr/>
          <p:nvPr/>
        </p:nvSpPr>
        <p:spPr>
          <a:xfrm>
            <a:off x="4028760" y="4124160"/>
            <a:ext cx="1172160" cy="9720"/>
          </a:xfrm>
          <a:custGeom>
            <a:avLst/>
            <a:gdLst/>
            <a:ahLst/>
            <a:cxnLst/>
            <a:rect l="0" t="0" r="r" b="b"/>
            <a:pathLst>
              <a:path w="3256" h="27">
                <a:moveTo>
                  <a:pt x="0" y="0"/>
                </a:moveTo>
                <a:lnTo>
                  <a:pt x="3256" y="0"/>
                </a:lnTo>
                <a:lnTo>
                  <a:pt x="32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Forma libre 136"/>
          <p:cNvSpPr/>
          <p:nvPr/>
        </p:nvSpPr>
        <p:spPr>
          <a:xfrm>
            <a:off x="5190840" y="41335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Forma libre 140"/>
          <p:cNvSpPr/>
          <p:nvPr/>
        </p:nvSpPr>
        <p:spPr>
          <a:xfrm>
            <a:off x="1885680" y="4543200"/>
            <a:ext cx="1153080" cy="10080"/>
          </a:xfrm>
          <a:custGeom>
            <a:avLst/>
            <a:gdLst/>
            <a:ahLst/>
            <a:cxnLst/>
            <a:rect l="0" t="0" r="r" b="b"/>
            <a:pathLst>
              <a:path w="3203" h="28">
                <a:moveTo>
                  <a:pt x="0" y="0"/>
                </a:moveTo>
                <a:lnTo>
                  <a:pt x="3203" y="0"/>
                </a:lnTo>
                <a:lnTo>
                  <a:pt x="32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Forma libre 141"/>
          <p:cNvSpPr/>
          <p:nvPr/>
        </p:nvSpPr>
        <p:spPr>
          <a:xfrm>
            <a:off x="3038400" y="4543200"/>
            <a:ext cx="990720" cy="10080"/>
          </a:xfrm>
          <a:custGeom>
            <a:avLst/>
            <a:gdLst/>
            <a:ahLst/>
            <a:cxnLst/>
            <a:rect l="0" t="0" r="r" b="b"/>
            <a:pathLst>
              <a:path w="2752" h="28">
                <a:moveTo>
                  <a:pt x="0" y="0"/>
                </a:moveTo>
                <a:lnTo>
                  <a:pt x="2752" y="0"/>
                </a:lnTo>
                <a:lnTo>
                  <a:pt x="27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Forma libre 142"/>
          <p:cNvSpPr/>
          <p:nvPr/>
        </p:nvSpPr>
        <p:spPr>
          <a:xfrm>
            <a:off x="4028760" y="4543200"/>
            <a:ext cx="1172160" cy="10080"/>
          </a:xfrm>
          <a:custGeom>
            <a:avLst/>
            <a:gdLst/>
            <a:ahLst/>
            <a:cxnLst/>
            <a:rect l="0" t="0" r="r" b="b"/>
            <a:pathLst>
              <a:path w="3256" h="28">
                <a:moveTo>
                  <a:pt x="0" y="0"/>
                </a:moveTo>
                <a:lnTo>
                  <a:pt x="3256" y="0"/>
                </a:lnTo>
                <a:lnTo>
                  <a:pt x="32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CuadroTexto 144"/>
          <p:cNvSpPr txBox="1"/>
          <p:nvPr/>
        </p:nvSpPr>
        <p:spPr>
          <a:xfrm>
            <a:off x="1052460" y="987278"/>
            <a:ext cx="2106346" cy="392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Big O </a:t>
            </a:r>
            <a:r>
              <a:rPr lang="es-ES" sz="2550" b="0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notation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CuadroTexto 145"/>
          <p:cNvSpPr txBox="1"/>
          <p:nvPr/>
        </p:nvSpPr>
        <p:spPr>
          <a:xfrm>
            <a:off x="799920" y="2571480"/>
            <a:ext cx="953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Estructura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CuadroTexto 146"/>
          <p:cNvSpPr txBox="1"/>
          <p:nvPr/>
        </p:nvSpPr>
        <p:spPr>
          <a:xfrm>
            <a:off x="2010240" y="2571480"/>
            <a:ext cx="896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 dirty="0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Ordenada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CuadroTexto 147"/>
          <p:cNvSpPr txBox="1"/>
          <p:nvPr/>
        </p:nvSpPr>
        <p:spPr>
          <a:xfrm>
            <a:off x="3160080" y="2571480"/>
            <a:ext cx="737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 dirty="0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Mutable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Forma libre 149"/>
          <p:cNvSpPr/>
          <p:nvPr/>
        </p:nvSpPr>
        <p:spPr>
          <a:xfrm>
            <a:off x="799920" y="2981160"/>
            <a:ext cx="505080" cy="228960"/>
          </a:xfrm>
          <a:custGeom>
            <a:avLst/>
            <a:gdLst/>
            <a:ahLst/>
            <a:cxnLst/>
            <a:rect l="0" t="0" r="r" b="b"/>
            <a:pathLst>
              <a:path w="140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297" y="0"/>
                </a:lnTo>
                <a:cubicBezTo>
                  <a:pt x="1311" y="0"/>
                  <a:pt x="1325" y="3"/>
                  <a:pt x="1338" y="8"/>
                </a:cubicBezTo>
                <a:cubicBezTo>
                  <a:pt x="1351" y="13"/>
                  <a:pt x="1362" y="21"/>
                  <a:pt x="1372" y="31"/>
                </a:cubicBezTo>
                <a:cubicBezTo>
                  <a:pt x="1382" y="41"/>
                  <a:pt x="1390" y="52"/>
                  <a:pt x="1395" y="65"/>
                </a:cubicBezTo>
                <a:cubicBezTo>
                  <a:pt x="1401" y="78"/>
                  <a:pt x="1403" y="92"/>
                  <a:pt x="1403" y="106"/>
                </a:cubicBezTo>
                <a:lnTo>
                  <a:pt x="1403" y="530"/>
                </a:lnTo>
                <a:cubicBezTo>
                  <a:pt x="1403" y="544"/>
                  <a:pt x="1401" y="558"/>
                  <a:pt x="1395" y="571"/>
                </a:cubicBezTo>
                <a:cubicBezTo>
                  <a:pt x="1390" y="584"/>
                  <a:pt x="1382" y="595"/>
                  <a:pt x="1372" y="605"/>
                </a:cubicBezTo>
                <a:cubicBezTo>
                  <a:pt x="1362" y="615"/>
                  <a:pt x="1351" y="623"/>
                  <a:pt x="1338" y="628"/>
                </a:cubicBezTo>
                <a:cubicBezTo>
                  <a:pt x="1325" y="633"/>
                  <a:pt x="1311" y="636"/>
                  <a:pt x="129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CuadroTexto 150"/>
          <p:cNvSpPr txBox="1"/>
          <p:nvPr/>
        </p:nvSpPr>
        <p:spPr>
          <a:xfrm>
            <a:off x="5744880" y="2571480"/>
            <a:ext cx="2511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 dirty="0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Uso típico en datos clínicos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Forma libre 155"/>
          <p:cNvSpPr/>
          <p:nvPr/>
        </p:nvSpPr>
        <p:spPr>
          <a:xfrm>
            <a:off x="799920" y="3400200"/>
            <a:ext cx="600480" cy="228960"/>
          </a:xfrm>
          <a:custGeom>
            <a:avLst/>
            <a:gdLst/>
            <a:ahLst/>
            <a:cxnLst/>
            <a:rect l="0" t="0" r="r" b="b"/>
            <a:pathLst>
              <a:path w="1668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562" y="0"/>
                </a:lnTo>
                <a:cubicBezTo>
                  <a:pt x="1576" y="0"/>
                  <a:pt x="1590" y="3"/>
                  <a:pt x="1603" y="8"/>
                </a:cubicBezTo>
                <a:cubicBezTo>
                  <a:pt x="1616" y="14"/>
                  <a:pt x="1627" y="21"/>
                  <a:pt x="1637" y="31"/>
                </a:cubicBezTo>
                <a:cubicBezTo>
                  <a:pt x="1647" y="41"/>
                  <a:pt x="1654" y="52"/>
                  <a:pt x="1660" y="65"/>
                </a:cubicBezTo>
                <a:cubicBezTo>
                  <a:pt x="1665" y="78"/>
                  <a:pt x="1668" y="92"/>
                  <a:pt x="1668" y="106"/>
                </a:cubicBezTo>
                <a:lnTo>
                  <a:pt x="1668" y="530"/>
                </a:lnTo>
                <a:cubicBezTo>
                  <a:pt x="1668" y="544"/>
                  <a:pt x="1665" y="558"/>
                  <a:pt x="1660" y="571"/>
                </a:cubicBezTo>
                <a:cubicBezTo>
                  <a:pt x="1654" y="584"/>
                  <a:pt x="1647" y="595"/>
                  <a:pt x="1637" y="605"/>
                </a:cubicBezTo>
                <a:cubicBezTo>
                  <a:pt x="1627" y="615"/>
                  <a:pt x="1616" y="623"/>
                  <a:pt x="1603" y="628"/>
                </a:cubicBezTo>
                <a:cubicBezTo>
                  <a:pt x="1590" y="633"/>
                  <a:pt x="1576" y="636"/>
                  <a:pt x="1562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CuadroTexto 158"/>
          <p:cNvSpPr txBox="1"/>
          <p:nvPr/>
        </p:nvSpPr>
        <p:spPr>
          <a:xfrm>
            <a:off x="2392920" y="339048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sí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CuadroTexto 159"/>
          <p:cNvSpPr txBox="1"/>
          <p:nvPr/>
        </p:nvSpPr>
        <p:spPr>
          <a:xfrm>
            <a:off x="3424320" y="3390480"/>
            <a:ext cx="2088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Forma libre 161"/>
          <p:cNvSpPr/>
          <p:nvPr/>
        </p:nvSpPr>
        <p:spPr>
          <a:xfrm>
            <a:off x="6391080" y="3400200"/>
            <a:ext cx="1867320" cy="228960"/>
          </a:xfrm>
          <a:custGeom>
            <a:avLst/>
            <a:gdLst/>
            <a:ahLst/>
            <a:cxnLst/>
            <a:rect l="0" t="0" r="r" b="b"/>
            <a:pathLst>
              <a:path w="5187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081" y="0"/>
                </a:lnTo>
                <a:cubicBezTo>
                  <a:pt x="5095" y="0"/>
                  <a:pt x="5109" y="3"/>
                  <a:pt x="5122" y="8"/>
                </a:cubicBezTo>
                <a:cubicBezTo>
                  <a:pt x="5135" y="14"/>
                  <a:pt x="5146" y="21"/>
                  <a:pt x="5156" y="31"/>
                </a:cubicBezTo>
                <a:cubicBezTo>
                  <a:pt x="5166" y="41"/>
                  <a:pt x="5173" y="52"/>
                  <a:pt x="5179" y="65"/>
                </a:cubicBezTo>
                <a:cubicBezTo>
                  <a:pt x="5184" y="78"/>
                  <a:pt x="5187" y="92"/>
                  <a:pt x="5187" y="106"/>
                </a:cubicBezTo>
                <a:lnTo>
                  <a:pt x="5187" y="530"/>
                </a:lnTo>
                <a:cubicBezTo>
                  <a:pt x="5187" y="544"/>
                  <a:pt x="5184" y="558"/>
                  <a:pt x="5179" y="571"/>
                </a:cubicBezTo>
                <a:cubicBezTo>
                  <a:pt x="5173" y="584"/>
                  <a:pt x="5166" y="595"/>
                  <a:pt x="5156" y="605"/>
                </a:cubicBezTo>
                <a:cubicBezTo>
                  <a:pt x="5146" y="615"/>
                  <a:pt x="5135" y="623"/>
                  <a:pt x="5122" y="628"/>
                </a:cubicBezTo>
                <a:cubicBezTo>
                  <a:pt x="5109" y="633"/>
                  <a:pt x="5095" y="636"/>
                  <a:pt x="5081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Forma libre 163"/>
          <p:cNvSpPr/>
          <p:nvPr/>
        </p:nvSpPr>
        <p:spPr>
          <a:xfrm>
            <a:off x="799920" y="3809880"/>
            <a:ext cx="505080" cy="228960"/>
          </a:xfrm>
          <a:custGeom>
            <a:avLst/>
            <a:gdLst/>
            <a:ahLst/>
            <a:cxnLst/>
            <a:rect l="0" t="0" r="r" b="b"/>
            <a:pathLst>
              <a:path w="140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297" y="0"/>
                </a:lnTo>
                <a:cubicBezTo>
                  <a:pt x="1311" y="0"/>
                  <a:pt x="1325" y="3"/>
                  <a:pt x="1338" y="8"/>
                </a:cubicBezTo>
                <a:cubicBezTo>
                  <a:pt x="1351" y="13"/>
                  <a:pt x="1362" y="21"/>
                  <a:pt x="1372" y="31"/>
                </a:cubicBezTo>
                <a:cubicBezTo>
                  <a:pt x="1382" y="41"/>
                  <a:pt x="1390" y="52"/>
                  <a:pt x="1395" y="65"/>
                </a:cubicBezTo>
                <a:cubicBezTo>
                  <a:pt x="1401" y="78"/>
                  <a:pt x="1403" y="92"/>
                  <a:pt x="1403" y="106"/>
                </a:cubicBezTo>
                <a:lnTo>
                  <a:pt x="1403" y="530"/>
                </a:lnTo>
                <a:cubicBezTo>
                  <a:pt x="1403" y="544"/>
                  <a:pt x="1401" y="558"/>
                  <a:pt x="1395" y="570"/>
                </a:cubicBezTo>
                <a:cubicBezTo>
                  <a:pt x="1390" y="583"/>
                  <a:pt x="1382" y="595"/>
                  <a:pt x="1372" y="605"/>
                </a:cubicBezTo>
                <a:cubicBezTo>
                  <a:pt x="1362" y="615"/>
                  <a:pt x="1351" y="622"/>
                  <a:pt x="1338" y="628"/>
                </a:cubicBezTo>
                <a:cubicBezTo>
                  <a:pt x="1325" y="633"/>
                  <a:pt x="1311" y="636"/>
                  <a:pt x="129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CuadroTexto 166"/>
          <p:cNvSpPr txBox="1"/>
          <p:nvPr/>
        </p:nvSpPr>
        <p:spPr>
          <a:xfrm>
            <a:off x="2359440" y="3800160"/>
            <a:ext cx="194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sí*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CuadroTexto 167"/>
          <p:cNvSpPr txBox="1"/>
          <p:nvPr/>
        </p:nvSpPr>
        <p:spPr>
          <a:xfrm>
            <a:off x="3465000" y="380016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sí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Forma libre 171"/>
          <p:cNvSpPr/>
          <p:nvPr/>
        </p:nvSpPr>
        <p:spPr>
          <a:xfrm>
            <a:off x="799920" y="4228920"/>
            <a:ext cx="410040" cy="228960"/>
          </a:xfrm>
          <a:custGeom>
            <a:avLst/>
            <a:gdLst/>
            <a:ahLst/>
            <a:cxnLst/>
            <a:rect l="0" t="0" r="r" b="b"/>
            <a:pathLst>
              <a:path w="1139" h="636">
                <a:moveTo>
                  <a:pt x="0" y="529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033" y="0"/>
                </a:lnTo>
                <a:cubicBezTo>
                  <a:pt x="1047" y="0"/>
                  <a:pt x="1060" y="3"/>
                  <a:pt x="1073" y="8"/>
                </a:cubicBezTo>
                <a:cubicBezTo>
                  <a:pt x="1086" y="13"/>
                  <a:pt x="1098" y="21"/>
                  <a:pt x="1108" y="31"/>
                </a:cubicBezTo>
                <a:cubicBezTo>
                  <a:pt x="1118" y="41"/>
                  <a:pt x="1125" y="52"/>
                  <a:pt x="1131" y="65"/>
                </a:cubicBezTo>
                <a:cubicBezTo>
                  <a:pt x="1136" y="78"/>
                  <a:pt x="1139" y="92"/>
                  <a:pt x="1139" y="106"/>
                </a:cubicBezTo>
                <a:lnTo>
                  <a:pt x="1139" y="529"/>
                </a:lnTo>
                <a:cubicBezTo>
                  <a:pt x="1139" y="543"/>
                  <a:pt x="1136" y="557"/>
                  <a:pt x="1131" y="570"/>
                </a:cubicBezTo>
                <a:cubicBezTo>
                  <a:pt x="1125" y="583"/>
                  <a:pt x="1118" y="594"/>
                  <a:pt x="1108" y="604"/>
                </a:cubicBezTo>
                <a:cubicBezTo>
                  <a:pt x="1098" y="614"/>
                  <a:pt x="1086" y="623"/>
                  <a:pt x="1073" y="628"/>
                </a:cubicBezTo>
                <a:cubicBezTo>
                  <a:pt x="1060" y="633"/>
                  <a:pt x="1047" y="636"/>
                  <a:pt x="1033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4"/>
                  <a:pt x="31" y="604"/>
                </a:cubicBezTo>
                <a:cubicBezTo>
                  <a:pt x="21" y="594"/>
                  <a:pt x="13" y="583"/>
                  <a:pt x="8" y="570"/>
                </a:cubicBezTo>
                <a:cubicBezTo>
                  <a:pt x="3" y="557"/>
                  <a:pt x="0" y="543"/>
                  <a:pt x="0" y="529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CuadroTexto 172"/>
          <p:cNvSpPr txBox="1"/>
          <p:nvPr/>
        </p:nvSpPr>
        <p:spPr>
          <a:xfrm>
            <a:off x="6752520" y="3800160"/>
            <a:ext cx="52900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CuadroTexto 174"/>
          <p:cNvSpPr txBox="1"/>
          <p:nvPr/>
        </p:nvSpPr>
        <p:spPr>
          <a:xfrm>
            <a:off x="2352240" y="4219200"/>
            <a:ext cx="2088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CuadroTexto 175"/>
          <p:cNvSpPr txBox="1"/>
          <p:nvPr/>
        </p:nvSpPr>
        <p:spPr>
          <a:xfrm>
            <a:off x="3465000" y="421920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sí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Forma libre 177"/>
          <p:cNvSpPr/>
          <p:nvPr/>
        </p:nvSpPr>
        <p:spPr>
          <a:xfrm>
            <a:off x="6381720" y="4228920"/>
            <a:ext cx="990720" cy="228960"/>
          </a:xfrm>
          <a:custGeom>
            <a:avLst/>
            <a:gdLst/>
            <a:ahLst/>
            <a:cxnLst/>
            <a:rect l="0" t="0" r="r" b="b"/>
            <a:pathLst>
              <a:path w="2752" h="636">
                <a:moveTo>
                  <a:pt x="0" y="529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646" y="0"/>
                </a:lnTo>
                <a:cubicBezTo>
                  <a:pt x="2660" y="0"/>
                  <a:pt x="2674" y="3"/>
                  <a:pt x="2687" y="8"/>
                </a:cubicBezTo>
                <a:cubicBezTo>
                  <a:pt x="2700" y="13"/>
                  <a:pt x="2711" y="21"/>
                  <a:pt x="2721" y="31"/>
                </a:cubicBezTo>
                <a:cubicBezTo>
                  <a:pt x="2731" y="41"/>
                  <a:pt x="2739" y="52"/>
                  <a:pt x="2744" y="65"/>
                </a:cubicBezTo>
                <a:cubicBezTo>
                  <a:pt x="2750" y="78"/>
                  <a:pt x="2752" y="92"/>
                  <a:pt x="2752" y="106"/>
                </a:cubicBezTo>
                <a:lnTo>
                  <a:pt x="2752" y="529"/>
                </a:lnTo>
                <a:cubicBezTo>
                  <a:pt x="2752" y="543"/>
                  <a:pt x="2750" y="557"/>
                  <a:pt x="2744" y="570"/>
                </a:cubicBezTo>
                <a:cubicBezTo>
                  <a:pt x="2739" y="583"/>
                  <a:pt x="2731" y="594"/>
                  <a:pt x="2721" y="604"/>
                </a:cubicBezTo>
                <a:cubicBezTo>
                  <a:pt x="2711" y="614"/>
                  <a:pt x="2700" y="623"/>
                  <a:pt x="2687" y="628"/>
                </a:cubicBezTo>
                <a:cubicBezTo>
                  <a:pt x="2674" y="633"/>
                  <a:pt x="2660" y="636"/>
                  <a:pt x="2646" y="636"/>
                </a:cubicBezTo>
                <a:lnTo>
                  <a:pt x="105" y="636"/>
                </a:lnTo>
                <a:cubicBezTo>
                  <a:pt x="91" y="636"/>
                  <a:pt x="78" y="633"/>
                  <a:pt x="65" y="628"/>
                </a:cubicBezTo>
                <a:cubicBezTo>
                  <a:pt x="52" y="623"/>
                  <a:pt x="41" y="614"/>
                  <a:pt x="31" y="604"/>
                </a:cubicBezTo>
                <a:cubicBezTo>
                  <a:pt x="21" y="594"/>
                  <a:pt x="13" y="583"/>
                  <a:pt x="8" y="570"/>
                </a:cubicBezTo>
                <a:cubicBezTo>
                  <a:pt x="2" y="557"/>
                  <a:pt x="0" y="543"/>
                  <a:pt x="0" y="529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CuadroTexto 18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CuadroTexto 18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CuadroTexto 18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26" name="Picture 2" descr="The Big O notation and its significance in LLMs">
            <a:extLst>
              <a:ext uri="{FF2B5EF4-FFF2-40B4-BE49-F238E27FC236}">
                <a16:creationId xmlns:a16="http://schemas.microsoft.com/office/drawing/2014/main" id="{DF310761-DC32-AAF6-32DB-422330210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251" y="1911037"/>
            <a:ext cx="6942956" cy="423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172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orma libre 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Forma libre 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Forma libre 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Forma libre 54"/>
          <p:cNvSpPr/>
          <p:nvPr/>
        </p:nvSpPr>
        <p:spPr>
          <a:xfrm>
            <a:off x="676080" y="2466720"/>
            <a:ext cx="1209960" cy="410040"/>
          </a:xfrm>
          <a:custGeom>
            <a:avLst/>
            <a:gdLst/>
            <a:ahLst/>
            <a:cxnLst/>
            <a:rect l="0" t="0" r="r" b="b"/>
            <a:pathLst>
              <a:path w="3361" h="1139">
                <a:moveTo>
                  <a:pt x="0" y="0"/>
                </a:moveTo>
                <a:lnTo>
                  <a:pt x="3361" y="0"/>
                </a:lnTo>
                <a:lnTo>
                  <a:pt x="336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Forma libre 55"/>
          <p:cNvSpPr/>
          <p:nvPr/>
        </p:nvSpPr>
        <p:spPr>
          <a:xfrm>
            <a:off x="1885680" y="2466720"/>
            <a:ext cx="1143360" cy="410040"/>
          </a:xfrm>
          <a:custGeom>
            <a:avLst/>
            <a:gdLst/>
            <a:ahLst/>
            <a:cxnLst/>
            <a:rect l="0" t="0" r="r" b="b"/>
            <a:pathLst>
              <a:path w="3176" h="1139">
                <a:moveTo>
                  <a:pt x="0" y="0"/>
                </a:moveTo>
                <a:lnTo>
                  <a:pt x="3176" y="0"/>
                </a:lnTo>
                <a:lnTo>
                  <a:pt x="317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Forma libre 56"/>
          <p:cNvSpPr/>
          <p:nvPr/>
        </p:nvSpPr>
        <p:spPr>
          <a:xfrm>
            <a:off x="3028680" y="2466720"/>
            <a:ext cx="1000440" cy="410040"/>
          </a:xfrm>
          <a:custGeom>
            <a:avLst/>
            <a:gdLst/>
            <a:ahLst/>
            <a:cxnLst/>
            <a:rect l="0" t="0" r="r" b="b"/>
            <a:pathLst>
              <a:path w="2779" h="1139">
                <a:moveTo>
                  <a:pt x="0" y="0"/>
                </a:moveTo>
                <a:lnTo>
                  <a:pt x="2779" y="0"/>
                </a:lnTo>
                <a:lnTo>
                  <a:pt x="277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Forma libre 57"/>
          <p:cNvSpPr/>
          <p:nvPr/>
        </p:nvSpPr>
        <p:spPr>
          <a:xfrm>
            <a:off x="4028760" y="2466720"/>
            <a:ext cx="1172160" cy="410040"/>
          </a:xfrm>
          <a:custGeom>
            <a:avLst/>
            <a:gdLst/>
            <a:ahLst/>
            <a:cxnLst/>
            <a:rect l="0" t="0" r="r" b="b"/>
            <a:pathLst>
              <a:path w="3256" h="1139">
                <a:moveTo>
                  <a:pt x="0" y="0"/>
                </a:moveTo>
                <a:lnTo>
                  <a:pt x="3256" y="0"/>
                </a:lnTo>
                <a:lnTo>
                  <a:pt x="32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Forma libre 58"/>
          <p:cNvSpPr/>
          <p:nvPr/>
        </p:nvSpPr>
        <p:spPr>
          <a:xfrm>
            <a:off x="5200560" y="2466720"/>
            <a:ext cx="3600720" cy="410040"/>
          </a:xfrm>
          <a:custGeom>
            <a:avLst/>
            <a:gdLst/>
            <a:ahLst/>
            <a:cxnLst/>
            <a:rect l="0" t="0" r="r" b="b"/>
            <a:pathLst>
              <a:path w="10002" h="1139">
                <a:moveTo>
                  <a:pt x="0" y="0"/>
                </a:moveTo>
                <a:lnTo>
                  <a:pt x="10002" y="0"/>
                </a:lnTo>
                <a:lnTo>
                  <a:pt x="1000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Forma libre 59"/>
          <p:cNvSpPr/>
          <p:nvPr/>
        </p:nvSpPr>
        <p:spPr>
          <a:xfrm>
            <a:off x="676080" y="2466720"/>
            <a:ext cx="1209960" cy="410040"/>
          </a:xfrm>
          <a:custGeom>
            <a:avLst/>
            <a:gdLst/>
            <a:ahLst/>
            <a:cxnLst/>
            <a:rect l="0" t="0" r="r" b="b"/>
            <a:pathLst>
              <a:path w="3361" h="1139">
                <a:moveTo>
                  <a:pt x="0" y="0"/>
                </a:moveTo>
                <a:lnTo>
                  <a:pt x="3361" y="0"/>
                </a:lnTo>
                <a:lnTo>
                  <a:pt x="336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Forma libre 60"/>
          <p:cNvSpPr/>
          <p:nvPr/>
        </p:nvSpPr>
        <p:spPr>
          <a:xfrm>
            <a:off x="1885680" y="2466720"/>
            <a:ext cx="1143360" cy="410040"/>
          </a:xfrm>
          <a:custGeom>
            <a:avLst/>
            <a:gdLst/>
            <a:ahLst/>
            <a:cxnLst/>
            <a:rect l="0" t="0" r="r" b="b"/>
            <a:pathLst>
              <a:path w="3176" h="1139">
                <a:moveTo>
                  <a:pt x="0" y="0"/>
                </a:moveTo>
                <a:lnTo>
                  <a:pt x="3176" y="0"/>
                </a:lnTo>
                <a:lnTo>
                  <a:pt x="317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Forma libre 61"/>
          <p:cNvSpPr/>
          <p:nvPr/>
        </p:nvSpPr>
        <p:spPr>
          <a:xfrm>
            <a:off x="3028680" y="2466720"/>
            <a:ext cx="1000440" cy="410040"/>
          </a:xfrm>
          <a:custGeom>
            <a:avLst/>
            <a:gdLst/>
            <a:ahLst/>
            <a:cxnLst/>
            <a:rect l="0" t="0" r="r" b="b"/>
            <a:pathLst>
              <a:path w="2779" h="1139">
                <a:moveTo>
                  <a:pt x="0" y="0"/>
                </a:moveTo>
                <a:lnTo>
                  <a:pt x="2779" y="0"/>
                </a:lnTo>
                <a:lnTo>
                  <a:pt x="277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Forma libre 62"/>
          <p:cNvSpPr/>
          <p:nvPr/>
        </p:nvSpPr>
        <p:spPr>
          <a:xfrm>
            <a:off x="4028760" y="2466720"/>
            <a:ext cx="1172160" cy="410040"/>
          </a:xfrm>
          <a:custGeom>
            <a:avLst/>
            <a:gdLst/>
            <a:ahLst/>
            <a:cxnLst/>
            <a:rect l="0" t="0" r="r" b="b"/>
            <a:pathLst>
              <a:path w="3256" h="1139">
                <a:moveTo>
                  <a:pt x="0" y="0"/>
                </a:moveTo>
                <a:lnTo>
                  <a:pt x="3256" y="0"/>
                </a:lnTo>
                <a:lnTo>
                  <a:pt x="32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Forma libre 63"/>
          <p:cNvSpPr/>
          <p:nvPr/>
        </p:nvSpPr>
        <p:spPr>
          <a:xfrm>
            <a:off x="5200560" y="2466720"/>
            <a:ext cx="3600720" cy="410040"/>
          </a:xfrm>
          <a:custGeom>
            <a:avLst/>
            <a:gdLst/>
            <a:ahLst/>
            <a:cxnLst/>
            <a:rect l="0" t="0" r="r" b="b"/>
            <a:pathLst>
              <a:path w="10002" h="1139">
                <a:moveTo>
                  <a:pt x="0" y="0"/>
                </a:moveTo>
                <a:lnTo>
                  <a:pt x="10002" y="0"/>
                </a:lnTo>
                <a:lnTo>
                  <a:pt x="1000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Forma libre 64"/>
          <p:cNvSpPr/>
          <p:nvPr/>
        </p:nvSpPr>
        <p:spPr>
          <a:xfrm>
            <a:off x="676080" y="2876400"/>
            <a:ext cx="1209960" cy="419400"/>
          </a:xfrm>
          <a:custGeom>
            <a:avLst/>
            <a:gdLst/>
            <a:ahLst/>
            <a:cxnLst/>
            <a:rect l="0" t="0" r="r" b="b"/>
            <a:pathLst>
              <a:path w="3361" h="1165">
                <a:moveTo>
                  <a:pt x="0" y="0"/>
                </a:moveTo>
                <a:lnTo>
                  <a:pt x="3361" y="0"/>
                </a:lnTo>
                <a:lnTo>
                  <a:pt x="336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Forma libre 65"/>
          <p:cNvSpPr/>
          <p:nvPr/>
        </p:nvSpPr>
        <p:spPr>
          <a:xfrm>
            <a:off x="1885680" y="2876400"/>
            <a:ext cx="1143360" cy="419400"/>
          </a:xfrm>
          <a:custGeom>
            <a:avLst/>
            <a:gdLst/>
            <a:ahLst/>
            <a:cxnLst/>
            <a:rect l="0" t="0" r="r" b="b"/>
            <a:pathLst>
              <a:path w="3176" h="1165">
                <a:moveTo>
                  <a:pt x="0" y="0"/>
                </a:moveTo>
                <a:lnTo>
                  <a:pt x="3176" y="0"/>
                </a:lnTo>
                <a:lnTo>
                  <a:pt x="317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Forma libre 66"/>
          <p:cNvSpPr/>
          <p:nvPr/>
        </p:nvSpPr>
        <p:spPr>
          <a:xfrm>
            <a:off x="3028680" y="2876400"/>
            <a:ext cx="1000440" cy="419400"/>
          </a:xfrm>
          <a:custGeom>
            <a:avLst/>
            <a:gdLst/>
            <a:ahLst/>
            <a:cxnLst/>
            <a:rect l="0" t="0" r="r" b="b"/>
            <a:pathLst>
              <a:path w="2779" h="1165">
                <a:moveTo>
                  <a:pt x="0" y="0"/>
                </a:moveTo>
                <a:lnTo>
                  <a:pt x="2779" y="0"/>
                </a:lnTo>
                <a:lnTo>
                  <a:pt x="277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Forma libre 67"/>
          <p:cNvSpPr/>
          <p:nvPr/>
        </p:nvSpPr>
        <p:spPr>
          <a:xfrm>
            <a:off x="4028760" y="2876400"/>
            <a:ext cx="1172160" cy="419400"/>
          </a:xfrm>
          <a:custGeom>
            <a:avLst/>
            <a:gdLst/>
            <a:ahLst/>
            <a:cxnLst/>
            <a:rect l="0" t="0" r="r" b="b"/>
            <a:pathLst>
              <a:path w="3256" h="1165">
                <a:moveTo>
                  <a:pt x="0" y="0"/>
                </a:moveTo>
                <a:lnTo>
                  <a:pt x="3256" y="0"/>
                </a:lnTo>
                <a:lnTo>
                  <a:pt x="325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Forma libre 68"/>
          <p:cNvSpPr/>
          <p:nvPr/>
        </p:nvSpPr>
        <p:spPr>
          <a:xfrm>
            <a:off x="5200560" y="2876400"/>
            <a:ext cx="3600720" cy="419400"/>
          </a:xfrm>
          <a:custGeom>
            <a:avLst/>
            <a:gdLst/>
            <a:ahLst/>
            <a:cxnLst/>
            <a:rect l="0" t="0" r="r" b="b"/>
            <a:pathLst>
              <a:path w="10002" h="1165">
                <a:moveTo>
                  <a:pt x="0" y="0"/>
                </a:moveTo>
                <a:lnTo>
                  <a:pt x="10002" y="0"/>
                </a:lnTo>
                <a:lnTo>
                  <a:pt x="1000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Forma libre 69"/>
          <p:cNvSpPr/>
          <p:nvPr/>
        </p:nvSpPr>
        <p:spPr>
          <a:xfrm>
            <a:off x="676080" y="3295440"/>
            <a:ext cx="1209960" cy="410040"/>
          </a:xfrm>
          <a:custGeom>
            <a:avLst/>
            <a:gdLst/>
            <a:ahLst/>
            <a:cxnLst/>
            <a:rect l="0" t="0" r="r" b="b"/>
            <a:pathLst>
              <a:path w="3361" h="1139">
                <a:moveTo>
                  <a:pt x="0" y="0"/>
                </a:moveTo>
                <a:lnTo>
                  <a:pt x="3361" y="0"/>
                </a:lnTo>
                <a:lnTo>
                  <a:pt x="336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Forma libre 70"/>
          <p:cNvSpPr/>
          <p:nvPr/>
        </p:nvSpPr>
        <p:spPr>
          <a:xfrm>
            <a:off x="1885680" y="3295440"/>
            <a:ext cx="1143360" cy="410040"/>
          </a:xfrm>
          <a:custGeom>
            <a:avLst/>
            <a:gdLst/>
            <a:ahLst/>
            <a:cxnLst/>
            <a:rect l="0" t="0" r="r" b="b"/>
            <a:pathLst>
              <a:path w="3176" h="1139">
                <a:moveTo>
                  <a:pt x="0" y="0"/>
                </a:moveTo>
                <a:lnTo>
                  <a:pt x="3176" y="0"/>
                </a:lnTo>
                <a:lnTo>
                  <a:pt x="317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Forma libre 71"/>
          <p:cNvSpPr/>
          <p:nvPr/>
        </p:nvSpPr>
        <p:spPr>
          <a:xfrm>
            <a:off x="3028680" y="3295440"/>
            <a:ext cx="1000440" cy="410040"/>
          </a:xfrm>
          <a:custGeom>
            <a:avLst/>
            <a:gdLst/>
            <a:ahLst/>
            <a:cxnLst/>
            <a:rect l="0" t="0" r="r" b="b"/>
            <a:pathLst>
              <a:path w="2779" h="1139">
                <a:moveTo>
                  <a:pt x="0" y="0"/>
                </a:moveTo>
                <a:lnTo>
                  <a:pt x="2779" y="0"/>
                </a:lnTo>
                <a:lnTo>
                  <a:pt x="277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Forma libre 72"/>
          <p:cNvSpPr/>
          <p:nvPr/>
        </p:nvSpPr>
        <p:spPr>
          <a:xfrm>
            <a:off x="4028760" y="3295440"/>
            <a:ext cx="1172160" cy="410040"/>
          </a:xfrm>
          <a:custGeom>
            <a:avLst/>
            <a:gdLst/>
            <a:ahLst/>
            <a:cxnLst/>
            <a:rect l="0" t="0" r="r" b="b"/>
            <a:pathLst>
              <a:path w="3256" h="1139">
                <a:moveTo>
                  <a:pt x="0" y="0"/>
                </a:moveTo>
                <a:lnTo>
                  <a:pt x="3256" y="0"/>
                </a:lnTo>
                <a:lnTo>
                  <a:pt x="32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Forma libre 73"/>
          <p:cNvSpPr/>
          <p:nvPr/>
        </p:nvSpPr>
        <p:spPr>
          <a:xfrm>
            <a:off x="5200560" y="3295440"/>
            <a:ext cx="3600720" cy="410040"/>
          </a:xfrm>
          <a:custGeom>
            <a:avLst/>
            <a:gdLst/>
            <a:ahLst/>
            <a:cxnLst/>
            <a:rect l="0" t="0" r="r" b="b"/>
            <a:pathLst>
              <a:path w="10002" h="1139">
                <a:moveTo>
                  <a:pt x="0" y="0"/>
                </a:moveTo>
                <a:lnTo>
                  <a:pt x="10002" y="0"/>
                </a:lnTo>
                <a:lnTo>
                  <a:pt x="1000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Forma libre 74"/>
          <p:cNvSpPr/>
          <p:nvPr/>
        </p:nvSpPr>
        <p:spPr>
          <a:xfrm>
            <a:off x="676080" y="3705120"/>
            <a:ext cx="1209960" cy="419400"/>
          </a:xfrm>
          <a:custGeom>
            <a:avLst/>
            <a:gdLst/>
            <a:ahLst/>
            <a:cxnLst/>
            <a:rect l="0" t="0" r="r" b="b"/>
            <a:pathLst>
              <a:path w="3361" h="1165">
                <a:moveTo>
                  <a:pt x="0" y="0"/>
                </a:moveTo>
                <a:lnTo>
                  <a:pt x="3361" y="0"/>
                </a:lnTo>
                <a:lnTo>
                  <a:pt x="336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Forma libre 75"/>
          <p:cNvSpPr/>
          <p:nvPr/>
        </p:nvSpPr>
        <p:spPr>
          <a:xfrm>
            <a:off x="1885680" y="3705120"/>
            <a:ext cx="1143360" cy="419400"/>
          </a:xfrm>
          <a:custGeom>
            <a:avLst/>
            <a:gdLst/>
            <a:ahLst/>
            <a:cxnLst/>
            <a:rect l="0" t="0" r="r" b="b"/>
            <a:pathLst>
              <a:path w="3176" h="1165">
                <a:moveTo>
                  <a:pt x="0" y="0"/>
                </a:moveTo>
                <a:lnTo>
                  <a:pt x="3176" y="0"/>
                </a:lnTo>
                <a:lnTo>
                  <a:pt x="317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Forma libre 76"/>
          <p:cNvSpPr/>
          <p:nvPr/>
        </p:nvSpPr>
        <p:spPr>
          <a:xfrm>
            <a:off x="3028680" y="3705120"/>
            <a:ext cx="1000440" cy="419400"/>
          </a:xfrm>
          <a:custGeom>
            <a:avLst/>
            <a:gdLst/>
            <a:ahLst/>
            <a:cxnLst/>
            <a:rect l="0" t="0" r="r" b="b"/>
            <a:pathLst>
              <a:path w="2779" h="1165">
                <a:moveTo>
                  <a:pt x="0" y="0"/>
                </a:moveTo>
                <a:lnTo>
                  <a:pt x="2779" y="0"/>
                </a:lnTo>
                <a:lnTo>
                  <a:pt x="277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Forma libre 77"/>
          <p:cNvSpPr/>
          <p:nvPr/>
        </p:nvSpPr>
        <p:spPr>
          <a:xfrm>
            <a:off x="4028760" y="3705120"/>
            <a:ext cx="1172160" cy="419400"/>
          </a:xfrm>
          <a:custGeom>
            <a:avLst/>
            <a:gdLst/>
            <a:ahLst/>
            <a:cxnLst/>
            <a:rect l="0" t="0" r="r" b="b"/>
            <a:pathLst>
              <a:path w="3256" h="1165">
                <a:moveTo>
                  <a:pt x="0" y="0"/>
                </a:moveTo>
                <a:lnTo>
                  <a:pt x="3256" y="0"/>
                </a:lnTo>
                <a:lnTo>
                  <a:pt x="325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Forma libre 78"/>
          <p:cNvSpPr/>
          <p:nvPr/>
        </p:nvSpPr>
        <p:spPr>
          <a:xfrm>
            <a:off x="5200560" y="3705120"/>
            <a:ext cx="3600720" cy="419400"/>
          </a:xfrm>
          <a:custGeom>
            <a:avLst/>
            <a:gdLst/>
            <a:ahLst/>
            <a:cxnLst/>
            <a:rect l="0" t="0" r="r" b="b"/>
            <a:pathLst>
              <a:path w="10002" h="1165">
                <a:moveTo>
                  <a:pt x="0" y="0"/>
                </a:moveTo>
                <a:lnTo>
                  <a:pt x="10002" y="0"/>
                </a:lnTo>
                <a:lnTo>
                  <a:pt x="1000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Forma libre 79"/>
          <p:cNvSpPr/>
          <p:nvPr/>
        </p:nvSpPr>
        <p:spPr>
          <a:xfrm>
            <a:off x="676080" y="4124160"/>
            <a:ext cx="1209960" cy="419400"/>
          </a:xfrm>
          <a:custGeom>
            <a:avLst/>
            <a:gdLst/>
            <a:ahLst/>
            <a:cxnLst/>
            <a:rect l="0" t="0" r="r" b="b"/>
            <a:pathLst>
              <a:path w="3361" h="1165">
                <a:moveTo>
                  <a:pt x="0" y="0"/>
                </a:moveTo>
                <a:lnTo>
                  <a:pt x="3361" y="0"/>
                </a:lnTo>
                <a:lnTo>
                  <a:pt x="336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Forma libre 80"/>
          <p:cNvSpPr/>
          <p:nvPr/>
        </p:nvSpPr>
        <p:spPr>
          <a:xfrm>
            <a:off x="1885680" y="4124160"/>
            <a:ext cx="1143360" cy="419400"/>
          </a:xfrm>
          <a:custGeom>
            <a:avLst/>
            <a:gdLst/>
            <a:ahLst/>
            <a:cxnLst/>
            <a:rect l="0" t="0" r="r" b="b"/>
            <a:pathLst>
              <a:path w="3176" h="1165">
                <a:moveTo>
                  <a:pt x="0" y="0"/>
                </a:moveTo>
                <a:lnTo>
                  <a:pt x="3176" y="0"/>
                </a:lnTo>
                <a:lnTo>
                  <a:pt x="317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Forma libre 81"/>
          <p:cNvSpPr/>
          <p:nvPr/>
        </p:nvSpPr>
        <p:spPr>
          <a:xfrm>
            <a:off x="3028680" y="4124160"/>
            <a:ext cx="1000440" cy="419400"/>
          </a:xfrm>
          <a:custGeom>
            <a:avLst/>
            <a:gdLst/>
            <a:ahLst/>
            <a:cxnLst/>
            <a:rect l="0" t="0" r="r" b="b"/>
            <a:pathLst>
              <a:path w="2779" h="1165">
                <a:moveTo>
                  <a:pt x="0" y="0"/>
                </a:moveTo>
                <a:lnTo>
                  <a:pt x="2779" y="0"/>
                </a:lnTo>
                <a:lnTo>
                  <a:pt x="277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Forma libre 82"/>
          <p:cNvSpPr/>
          <p:nvPr/>
        </p:nvSpPr>
        <p:spPr>
          <a:xfrm>
            <a:off x="4028760" y="4124160"/>
            <a:ext cx="1172160" cy="419400"/>
          </a:xfrm>
          <a:custGeom>
            <a:avLst/>
            <a:gdLst/>
            <a:ahLst/>
            <a:cxnLst/>
            <a:rect l="0" t="0" r="r" b="b"/>
            <a:pathLst>
              <a:path w="3256" h="1165">
                <a:moveTo>
                  <a:pt x="0" y="0"/>
                </a:moveTo>
                <a:lnTo>
                  <a:pt x="3256" y="0"/>
                </a:lnTo>
                <a:lnTo>
                  <a:pt x="325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Forma libre 83"/>
          <p:cNvSpPr/>
          <p:nvPr/>
        </p:nvSpPr>
        <p:spPr>
          <a:xfrm>
            <a:off x="5200560" y="4124160"/>
            <a:ext cx="3600720" cy="419400"/>
          </a:xfrm>
          <a:custGeom>
            <a:avLst/>
            <a:gdLst/>
            <a:ahLst/>
            <a:cxnLst/>
            <a:rect l="0" t="0" r="r" b="b"/>
            <a:pathLst>
              <a:path w="10002" h="1165">
                <a:moveTo>
                  <a:pt x="0" y="0"/>
                </a:moveTo>
                <a:lnTo>
                  <a:pt x="10002" y="0"/>
                </a:lnTo>
                <a:lnTo>
                  <a:pt x="1000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Forma libre 84"/>
          <p:cNvSpPr/>
          <p:nvPr/>
        </p:nvSpPr>
        <p:spPr>
          <a:xfrm>
            <a:off x="666720" y="2466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Forma libre 85"/>
          <p:cNvSpPr/>
          <p:nvPr/>
        </p:nvSpPr>
        <p:spPr>
          <a:xfrm>
            <a:off x="666720" y="2466720"/>
            <a:ext cx="1219320" cy="10080"/>
          </a:xfrm>
          <a:custGeom>
            <a:avLst/>
            <a:gdLst/>
            <a:ahLst/>
            <a:cxnLst/>
            <a:rect l="0" t="0" r="r" b="b"/>
            <a:pathLst>
              <a:path w="3387" h="28">
                <a:moveTo>
                  <a:pt x="0" y="0"/>
                </a:moveTo>
                <a:lnTo>
                  <a:pt x="3387" y="0"/>
                </a:lnTo>
                <a:lnTo>
                  <a:pt x="33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Forma libre 86"/>
          <p:cNvSpPr/>
          <p:nvPr/>
        </p:nvSpPr>
        <p:spPr>
          <a:xfrm>
            <a:off x="1876320" y="2466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Forma libre 87"/>
          <p:cNvSpPr/>
          <p:nvPr/>
        </p:nvSpPr>
        <p:spPr>
          <a:xfrm>
            <a:off x="1885680" y="2466720"/>
            <a:ext cx="1153080" cy="10080"/>
          </a:xfrm>
          <a:custGeom>
            <a:avLst/>
            <a:gdLst/>
            <a:ahLst/>
            <a:cxnLst/>
            <a:rect l="0" t="0" r="r" b="b"/>
            <a:pathLst>
              <a:path w="3203" h="28">
                <a:moveTo>
                  <a:pt x="0" y="0"/>
                </a:moveTo>
                <a:lnTo>
                  <a:pt x="3203" y="0"/>
                </a:lnTo>
                <a:lnTo>
                  <a:pt x="32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Forma libre 88"/>
          <p:cNvSpPr/>
          <p:nvPr/>
        </p:nvSpPr>
        <p:spPr>
          <a:xfrm>
            <a:off x="3028680" y="24667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Forma libre 89"/>
          <p:cNvSpPr/>
          <p:nvPr/>
        </p:nvSpPr>
        <p:spPr>
          <a:xfrm>
            <a:off x="3038400" y="2466720"/>
            <a:ext cx="990720" cy="10080"/>
          </a:xfrm>
          <a:custGeom>
            <a:avLst/>
            <a:gdLst/>
            <a:ahLst/>
            <a:cxnLst/>
            <a:rect l="0" t="0" r="r" b="b"/>
            <a:pathLst>
              <a:path w="2752" h="28">
                <a:moveTo>
                  <a:pt x="0" y="0"/>
                </a:moveTo>
                <a:lnTo>
                  <a:pt x="2752" y="0"/>
                </a:lnTo>
                <a:lnTo>
                  <a:pt x="27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Forma libre 90"/>
          <p:cNvSpPr/>
          <p:nvPr/>
        </p:nvSpPr>
        <p:spPr>
          <a:xfrm>
            <a:off x="4019400" y="2466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Forma libre 91"/>
          <p:cNvSpPr/>
          <p:nvPr/>
        </p:nvSpPr>
        <p:spPr>
          <a:xfrm>
            <a:off x="4028760" y="2466720"/>
            <a:ext cx="1172160" cy="10080"/>
          </a:xfrm>
          <a:custGeom>
            <a:avLst/>
            <a:gdLst/>
            <a:ahLst/>
            <a:cxnLst/>
            <a:rect l="0" t="0" r="r" b="b"/>
            <a:pathLst>
              <a:path w="3256" h="28">
                <a:moveTo>
                  <a:pt x="0" y="0"/>
                </a:moveTo>
                <a:lnTo>
                  <a:pt x="3256" y="0"/>
                </a:lnTo>
                <a:lnTo>
                  <a:pt x="32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Forma libre 92"/>
          <p:cNvSpPr/>
          <p:nvPr/>
        </p:nvSpPr>
        <p:spPr>
          <a:xfrm>
            <a:off x="5190840" y="24667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Forma libre 93"/>
          <p:cNvSpPr/>
          <p:nvPr/>
        </p:nvSpPr>
        <p:spPr>
          <a:xfrm>
            <a:off x="5200560" y="2466720"/>
            <a:ext cx="3610080" cy="10080"/>
          </a:xfrm>
          <a:custGeom>
            <a:avLst/>
            <a:gdLst/>
            <a:ahLst/>
            <a:cxnLst/>
            <a:rect l="0" t="0" r="r" b="b"/>
            <a:pathLst>
              <a:path w="10028" h="28">
                <a:moveTo>
                  <a:pt x="0" y="0"/>
                </a:moveTo>
                <a:lnTo>
                  <a:pt x="10028" y="0"/>
                </a:lnTo>
                <a:lnTo>
                  <a:pt x="10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Forma libre 94"/>
          <p:cNvSpPr/>
          <p:nvPr/>
        </p:nvSpPr>
        <p:spPr>
          <a:xfrm>
            <a:off x="8800920" y="2466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Forma libre 95"/>
          <p:cNvSpPr/>
          <p:nvPr/>
        </p:nvSpPr>
        <p:spPr>
          <a:xfrm>
            <a:off x="666720" y="2876400"/>
            <a:ext cx="1219320" cy="9720"/>
          </a:xfrm>
          <a:custGeom>
            <a:avLst/>
            <a:gdLst/>
            <a:ahLst/>
            <a:cxnLst/>
            <a:rect l="0" t="0" r="r" b="b"/>
            <a:pathLst>
              <a:path w="3387" h="27">
                <a:moveTo>
                  <a:pt x="0" y="0"/>
                </a:moveTo>
                <a:lnTo>
                  <a:pt x="3387" y="0"/>
                </a:lnTo>
                <a:lnTo>
                  <a:pt x="33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Forma libre 96"/>
          <p:cNvSpPr/>
          <p:nvPr/>
        </p:nvSpPr>
        <p:spPr>
          <a:xfrm>
            <a:off x="1885680" y="2876400"/>
            <a:ext cx="1153080" cy="9720"/>
          </a:xfrm>
          <a:custGeom>
            <a:avLst/>
            <a:gdLst/>
            <a:ahLst/>
            <a:cxnLst/>
            <a:rect l="0" t="0" r="r" b="b"/>
            <a:pathLst>
              <a:path w="3203" h="27">
                <a:moveTo>
                  <a:pt x="0" y="0"/>
                </a:moveTo>
                <a:lnTo>
                  <a:pt x="3203" y="0"/>
                </a:lnTo>
                <a:lnTo>
                  <a:pt x="32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Forma libre 97"/>
          <p:cNvSpPr/>
          <p:nvPr/>
        </p:nvSpPr>
        <p:spPr>
          <a:xfrm>
            <a:off x="3038400" y="2876400"/>
            <a:ext cx="990720" cy="9720"/>
          </a:xfrm>
          <a:custGeom>
            <a:avLst/>
            <a:gdLst/>
            <a:ahLst/>
            <a:cxnLst/>
            <a:rect l="0" t="0" r="r" b="b"/>
            <a:pathLst>
              <a:path w="2752" h="27">
                <a:moveTo>
                  <a:pt x="0" y="0"/>
                </a:moveTo>
                <a:lnTo>
                  <a:pt x="2752" y="0"/>
                </a:lnTo>
                <a:lnTo>
                  <a:pt x="27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Forma libre 98"/>
          <p:cNvSpPr/>
          <p:nvPr/>
        </p:nvSpPr>
        <p:spPr>
          <a:xfrm>
            <a:off x="4028760" y="2876400"/>
            <a:ext cx="1172160" cy="9720"/>
          </a:xfrm>
          <a:custGeom>
            <a:avLst/>
            <a:gdLst/>
            <a:ahLst/>
            <a:cxnLst/>
            <a:rect l="0" t="0" r="r" b="b"/>
            <a:pathLst>
              <a:path w="3256" h="27">
                <a:moveTo>
                  <a:pt x="0" y="0"/>
                </a:moveTo>
                <a:lnTo>
                  <a:pt x="3256" y="0"/>
                </a:lnTo>
                <a:lnTo>
                  <a:pt x="32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Forma libre 99"/>
          <p:cNvSpPr/>
          <p:nvPr/>
        </p:nvSpPr>
        <p:spPr>
          <a:xfrm>
            <a:off x="5200560" y="2876400"/>
            <a:ext cx="3610080" cy="9720"/>
          </a:xfrm>
          <a:custGeom>
            <a:avLst/>
            <a:gdLst/>
            <a:ahLst/>
            <a:cxnLst/>
            <a:rect l="0" t="0" r="r" b="b"/>
            <a:pathLst>
              <a:path w="10028" h="27">
                <a:moveTo>
                  <a:pt x="0" y="0"/>
                </a:moveTo>
                <a:lnTo>
                  <a:pt x="10028" y="0"/>
                </a:lnTo>
                <a:lnTo>
                  <a:pt x="10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Forma libre 100"/>
          <p:cNvSpPr/>
          <p:nvPr/>
        </p:nvSpPr>
        <p:spPr>
          <a:xfrm>
            <a:off x="666720" y="28857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Forma libre 101"/>
          <p:cNvSpPr/>
          <p:nvPr/>
        </p:nvSpPr>
        <p:spPr>
          <a:xfrm>
            <a:off x="1876320" y="28857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Forma libre 102"/>
          <p:cNvSpPr/>
          <p:nvPr/>
        </p:nvSpPr>
        <p:spPr>
          <a:xfrm>
            <a:off x="3028680" y="288576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Forma libre 103"/>
          <p:cNvSpPr/>
          <p:nvPr/>
        </p:nvSpPr>
        <p:spPr>
          <a:xfrm>
            <a:off x="4019400" y="28857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Forma libre 104"/>
          <p:cNvSpPr/>
          <p:nvPr/>
        </p:nvSpPr>
        <p:spPr>
          <a:xfrm>
            <a:off x="5190840" y="288576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Forma libre 105"/>
          <p:cNvSpPr/>
          <p:nvPr/>
        </p:nvSpPr>
        <p:spPr>
          <a:xfrm>
            <a:off x="8800920" y="28857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Forma libre 106"/>
          <p:cNvSpPr/>
          <p:nvPr/>
        </p:nvSpPr>
        <p:spPr>
          <a:xfrm>
            <a:off x="666720" y="33051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Forma libre 107"/>
          <p:cNvSpPr/>
          <p:nvPr/>
        </p:nvSpPr>
        <p:spPr>
          <a:xfrm>
            <a:off x="666720" y="3295440"/>
            <a:ext cx="1219320" cy="10080"/>
          </a:xfrm>
          <a:custGeom>
            <a:avLst/>
            <a:gdLst/>
            <a:ahLst/>
            <a:cxnLst/>
            <a:rect l="0" t="0" r="r" b="b"/>
            <a:pathLst>
              <a:path w="3387" h="28">
                <a:moveTo>
                  <a:pt x="0" y="0"/>
                </a:moveTo>
                <a:lnTo>
                  <a:pt x="3387" y="0"/>
                </a:lnTo>
                <a:lnTo>
                  <a:pt x="33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Forma libre 108"/>
          <p:cNvSpPr/>
          <p:nvPr/>
        </p:nvSpPr>
        <p:spPr>
          <a:xfrm>
            <a:off x="1876320" y="33051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orma libre 109"/>
          <p:cNvSpPr/>
          <p:nvPr/>
        </p:nvSpPr>
        <p:spPr>
          <a:xfrm>
            <a:off x="1885680" y="3295440"/>
            <a:ext cx="1153080" cy="10080"/>
          </a:xfrm>
          <a:custGeom>
            <a:avLst/>
            <a:gdLst/>
            <a:ahLst/>
            <a:cxnLst/>
            <a:rect l="0" t="0" r="r" b="b"/>
            <a:pathLst>
              <a:path w="3203" h="28">
                <a:moveTo>
                  <a:pt x="0" y="0"/>
                </a:moveTo>
                <a:lnTo>
                  <a:pt x="3203" y="0"/>
                </a:lnTo>
                <a:lnTo>
                  <a:pt x="32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Forma libre 110"/>
          <p:cNvSpPr/>
          <p:nvPr/>
        </p:nvSpPr>
        <p:spPr>
          <a:xfrm>
            <a:off x="3028680" y="330516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orma libre 111"/>
          <p:cNvSpPr/>
          <p:nvPr/>
        </p:nvSpPr>
        <p:spPr>
          <a:xfrm>
            <a:off x="3038400" y="3295440"/>
            <a:ext cx="990720" cy="10080"/>
          </a:xfrm>
          <a:custGeom>
            <a:avLst/>
            <a:gdLst/>
            <a:ahLst/>
            <a:cxnLst/>
            <a:rect l="0" t="0" r="r" b="b"/>
            <a:pathLst>
              <a:path w="2752" h="28">
                <a:moveTo>
                  <a:pt x="0" y="0"/>
                </a:moveTo>
                <a:lnTo>
                  <a:pt x="2752" y="0"/>
                </a:lnTo>
                <a:lnTo>
                  <a:pt x="27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Forma libre 112"/>
          <p:cNvSpPr/>
          <p:nvPr/>
        </p:nvSpPr>
        <p:spPr>
          <a:xfrm>
            <a:off x="4019400" y="33051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Forma libre 113"/>
          <p:cNvSpPr/>
          <p:nvPr/>
        </p:nvSpPr>
        <p:spPr>
          <a:xfrm>
            <a:off x="4028760" y="3295440"/>
            <a:ext cx="1172160" cy="10080"/>
          </a:xfrm>
          <a:custGeom>
            <a:avLst/>
            <a:gdLst/>
            <a:ahLst/>
            <a:cxnLst/>
            <a:rect l="0" t="0" r="r" b="b"/>
            <a:pathLst>
              <a:path w="3256" h="28">
                <a:moveTo>
                  <a:pt x="0" y="0"/>
                </a:moveTo>
                <a:lnTo>
                  <a:pt x="3256" y="0"/>
                </a:lnTo>
                <a:lnTo>
                  <a:pt x="32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Forma libre 114"/>
          <p:cNvSpPr/>
          <p:nvPr/>
        </p:nvSpPr>
        <p:spPr>
          <a:xfrm>
            <a:off x="5190840" y="330516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Forma libre 115"/>
          <p:cNvSpPr/>
          <p:nvPr/>
        </p:nvSpPr>
        <p:spPr>
          <a:xfrm>
            <a:off x="5200560" y="3295440"/>
            <a:ext cx="3610080" cy="10080"/>
          </a:xfrm>
          <a:custGeom>
            <a:avLst/>
            <a:gdLst/>
            <a:ahLst/>
            <a:cxnLst/>
            <a:rect l="0" t="0" r="r" b="b"/>
            <a:pathLst>
              <a:path w="10028" h="28">
                <a:moveTo>
                  <a:pt x="0" y="0"/>
                </a:moveTo>
                <a:lnTo>
                  <a:pt x="10028" y="0"/>
                </a:lnTo>
                <a:lnTo>
                  <a:pt x="10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Forma libre 116"/>
          <p:cNvSpPr/>
          <p:nvPr/>
        </p:nvSpPr>
        <p:spPr>
          <a:xfrm>
            <a:off x="8800920" y="33051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Forma libre 117"/>
          <p:cNvSpPr/>
          <p:nvPr/>
        </p:nvSpPr>
        <p:spPr>
          <a:xfrm>
            <a:off x="666720" y="3714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Forma libre 118"/>
          <p:cNvSpPr/>
          <p:nvPr/>
        </p:nvSpPr>
        <p:spPr>
          <a:xfrm>
            <a:off x="666720" y="3705120"/>
            <a:ext cx="1219320" cy="9720"/>
          </a:xfrm>
          <a:custGeom>
            <a:avLst/>
            <a:gdLst/>
            <a:ahLst/>
            <a:cxnLst/>
            <a:rect l="0" t="0" r="r" b="b"/>
            <a:pathLst>
              <a:path w="3387" h="27">
                <a:moveTo>
                  <a:pt x="0" y="0"/>
                </a:moveTo>
                <a:lnTo>
                  <a:pt x="3387" y="0"/>
                </a:lnTo>
                <a:lnTo>
                  <a:pt x="33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Forma libre 119"/>
          <p:cNvSpPr/>
          <p:nvPr/>
        </p:nvSpPr>
        <p:spPr>
          <a:xfrm>
            <a:off x="1876320" y="3714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Forma libre 120"/>
          <p:cNvSpPr/>
          <p:nvPr/>
        </p:nvSpPr>
        <p:spPr>
          <a:xfrm>
            <a:off x="1885680" y="3705120"/>
            <a:ext cx="1153080" cy="9720"/>
          </a:xfrm>
          <a:custGeom>
            <a:avLst/>
            <a:gdLst/>
            <a:ahLst/>
            <a:cxnLst/>
            <a:rect l="0" t="0" r="r" b="b"/>
            <a:pathLst>
              <a:path w="3203" h="27">
                <a:moveTo>
                  <a:pt x="0" y="0"/>
                </a:moveTo>
                <a:lnTo>
                  <a:pt x="3203" y="0"/>
                </a:lnTo>
                <a:lnTo>
                  <a:pt x="32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Forma libre 121"/>
          <p:cNvSpPr/>
          <p:nvPr/>
        </p:nvSpPr>
        <p:spPr>
          <a:xfrm>
            <a:off x="3028680" y="37144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Forma libre 122"/>
          <p:cNvSpPr/>
          <p:nvPr/>
        </p:nvSpPr>
        <p:spPr>
          <a:xfrm>
            <a:off x="3038400" y="3705120"/>
            <a:ext cx="990720" cy="9720"/>
          </a:xfrm>
          <a:custGeom>
            <a:avLst/>
            <a:gdLst/>
            <a:ahLst/>
            <a:cxnLst/>
            <a:rect l="0" t="0" r="r" b="b"/>
            <a:pathLst>
              <a:path w="2752" h="27">
                <a:moveTo>
                  <a:pt x="0" y="0"/>
                </a:moveTo>
                <a:lnTo>
                  <a:pt x="2752" y="0"/>
                </a:lnTo>
                <a:lnTo>
                  <a:pt x="27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Forma libre 123"/>
          <p:cNvSpPr/>
          <p:nvPr/>
        </p:nvSpPr>
        <p:spPr>
          <a:xfrm>
            <a:off x="4019400" y="3714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Forma libre 124"/>
          <p:cNvSpPr/>
          <p:nvPr/>
        </p:nvSpPr>
        <p:spPr>
          <a:xfrm>
            <a:off x="4028760" y="3705120"/>
            <a:ext cx="1172160" cy="9720"/>
          </a:xfrm>
          <a:custGeom>
            <a:avLst/>
            <a:gdLst/>
            <a:ahLst/>
            <a:cxnLst/>
            <a:rect l="0" t="0" r="r" b="b"/>
            <a:pathLst>
              <a:path w="3256" h="27">
                <a:moveTo>
                  <a:pt x="0" y="0"/>
                </a:moveTo>
                <a:lnTo>
                  <a:pt x="3256" y="0"/>
                </a:lnTo>
                <a:lnTo>
                  <a:pt x="32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Forma libre 125"/>
          <p:cNvSpPr/>
          <p:nvPr/>
        </p:nvSpPr>
        <p:spPr>
          <a:xfrm>
            <a:off x="5190840" y="37144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Forma libre 126"/>
          <p:cNvSpPr/>
          <p:nvPr/>
        </p:nvSpPr>
        <p:spPr>
          <a:xfrm>
            <a:off x="5200560" y="3705120"/>
            <a:ext cx="3610080" cy="9720"/>
          </a:xfrm>
          <a:custGeom>
            <a:avLst/>
            <a:gdLst/>
            <a:ahLst/>
            <a:cxnLst/>
            <a:rect l="0" t="0" r="r" b="b"/>
            <a:pathLst>
              <a:path w="10028" h="27">
                <a:moveTo>
                  <a:pt x="0" y="0"/>
                </a:moveTo>
                <a:lnTo>
                  <a:pt x="10028" y="0"/>
                </a:lnTo>
                <a:lnTo>
                  <a:pt x="10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Forma libre 127"/>
          <p:cNvSpPr/>
          <p:nvPr/>
        </p:nvSpPr>
        <p:spPr>
          <a:xfrm>
            <a:off x="8800920" y="3714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Forma libre 128"/>
          <p:cNvSpPr/>
          <p:nvPr/>
        </p:nvSpPr>
        <p:spPr>
          <a:xfrm>
            <a:off x="666720" y="41335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Forma libre 129"/>
          <p:cNvSpPr/>
          <p:nvPr/>
        </p:nvSpPr>
        <p:spPr>
          <a:xfrm>
            <a:off x="666720" y="4124160"/>
            <a:ext cx="1219320" cy="9720"/>
          </a:xfrm>
          <a:custGeom>
            <a:avLst/>
            <a:gdLst/>
            <a:ahLst/>
            <a:cxnLst/>
            <a:rect l="0" t="0" r="r" b="b"/>
            <a:pathLst>
              <a:path w="3387" h="27">
                <a:moveTo>
                  <a:pt x="0" y="0"/>
                </a:moveTo>
                <a:lnTo>
                  <a:pt x="3387" y="0"/>
                </a:lnTo>
                <a:lnTo>
                  <a:pt x="33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Forma libre 130"/>
          <p:cNvSpPr/>
          <p:nvPr/>
        </p:nvSpPr>
        <p:spPr>
          <a:xfrm>
            <a:off x="1876320" y="41335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Forma libre 131"/>
          <p:cNvSpPr/>
          <p:nvPr/>
        </p:nvSpPr>
        <p:spPr>
          <a:xfrm>
            <a:off x="1885680" y="4124160"/>
            <a:ext cx="1153080" cy="9720"/>
          </a:xfrm>
          <a:custGeom>
            <a:avLst/>
            <a:gdLst/>
            <a:ahLst/>
            <a:cxnLst/>
            <a:rect l="0" t="0" r="r" b="b"/>
            <a:pathLst>
              <a:path w="3203" h="27">
                <a:moveTo>
                  <a:pt x="0" y="0"/>
                </a:moveTo>
                <a:lnTo>
                  <a:pt x="3203" y="0"/>
                </a:lnTo>
                <a:lnTo>
                  <a:pt x="32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Forma libre 132"/>
          <p:cNvSpPr/>
          <p:nvPr/>
        </p:nvSpPr>
        <p:spPr>
          <a:xfrm>
            <a:off x="3028680" y="41335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Forma libre 133"/>
          <p:cNvSpPr/>
          <p:nvPr/>
        </p:nvSpPr>
        <p:spPr>
          <a:xfrm>
            <a:off x="3038400" y="4124160"/>
            <a:ext cx="990720" cy="9720"/>
          </a:xfrm>
          <a:custGeom>
            <a:avLst/>
            <a:gdLst/>
            <a:ahLst/>
            <a:cxnLst/>
            <a:rect l="0" t="0" r="r" b="b"/>
            <a:pathLst>
              <a:path w="2752" h="27">
                <a:moveTo>
                  <a:pt x="0" y="0"/>
                </a:moveTo>
                <a:lnTo>
                  <a:pt x="2752" y="0"/>
                </a:lnTo>
                <a:lnTo>
                  <a:pt x="27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Forma libre 134"/>
          <p:cNvSpPr/>
          <p:nvPr/>
        </p:nvSpPr>
        <p:spPr>
          <a:xfrm>
            <a:off x="4019400" y="41335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Forma libre 135"/>
          <p:cNvSpPr/>
          <p:nvPr/>
        </p:nvSpPr>
        <p:spPr>
          <a:xfrm>
            <a:off x="4028760" y="4124160"/>
            <a:ext cx="1172160" cy="9720"/>
          </a:xfrm>
          <a:custGeom>
            <a:avLst/>
            <a:gdLst/>
            <a:ahLst/>
            <a:cxnLst/>
            <a:rect l="0" t="0" r="r" b="b"/>
            <a:pathLst>
              <a:path w="3256" h="27">
                <a:moveTo>
                  <a:pt x="0" y="0"/>
                </a:moveTo>
                <a:lnTo>
                  <a:pt x="3256" y="0"/>
                </a:lnTo>
                <a:lnTo>
                  <a:pt x="32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Forma libre 136"/>
          <p:cNvSpPr/>
          <p:nvPr/>
        </p:nvSpPr>
        <p:spPr>
          <a:xfrm>
            <a:off x="5190840" y="41335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Forma libre 137"/>
          <p:cNvSpPr/>
          <p:nvPr/>
        </p:nvSpPr>
        <p:spPr>
          <a:xfrm>
            <a:off x="5200560" y="4124160"/>
            <a:ext cx="3610080" cy="9720"/>
          </a:xfrm>
          <a:custGeom>
            <a:avLst/>
            <a:gdLst/>
            <a:ahLst/>
            <a:cxnLst/>
            <a:rect l="0" t="0" r="r" b="b"/>
            <a:pathLst>
              <a:path w="10028" h="27">
                <a:moveTo>
                  <a:pt x="0" y="0"/>
                </a:moveTo>
                <a:lnTo>
                  <a:pt x="10028" y="0"/>
                </a:lnTo>
                <a:lnTo>
                  <a:pt x="10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Forma libre 138"/>
          <p:cNvSpPr/>
          <p:nvPr/>
        </p:nvSpPr>
        <p:spPr>
          <a:xfrm>
            <a:off x="8800920" y="41335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Forma libre 139"/>
          <p:cNvSpPr/>
          <p:nvPr/>
        </p:nvSpPr>
        <p:spPr>
          <a:xfrm>
            <a:off x="666720" y="4543200"/>
            <a:ext cx="1219320" cy="10080"/>
          </a:xfrm>
          <a:custGeom>
            <a:avLst/>
            <a:gdLst/>
            <a:ahLst/>
            <a:cxnLst/>
            <a:rect l="0" t="0" r="r" b="b"/>
            <a:pathLst>
              <a:path w="3387" h="28">
                <a:moveTo>
                  <a:pt x="0" y="0"/>
                </a:moveTo>
                <a:lnTo>
                  <a:pt x="3387" y="0"/>
                </a:lnTo>
                <a:lnTo>
                  <a:pt x="33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Forma libre 140"/>
          <p:cNvSpPr/>
          <p:nvPr/>
        </p:nvSpPr>
        <p:spPr>
          <a:xfrm>
            <a:off x="1885680" y="4543200"/>
            <a:ext cx="1153080" cy="10080"/>
          </a:xfrm>
          <a:custGeom>
            <a:avLst/>
            <a:gdLst/>
            <a:ahLst/>
            <a:cxnLst/>
            <a:rect l="0" t="0" r="r" b="b"/>
            <a:pathLst>
              <a:path w="3203" h="28">
                <a:moveTo>
                  <a:pt x="0" y="0"/>
                </a:moveTo>
                <a:lnTo>
                  <a:pt x="3203" y="0"/>
                </a:lnTo>
                <a:lnTo>
                  <a:pt x="32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Forma libre 141"/>
          <p:cNvSpPr/>
          <p:nvPr/>
        </p:nvSpPr>
        <p:spPr>
          <a:xfrm>
            <a:off x="3038400" y="4543200"/>
            <a:ext cx="990720" cy="10080"/>
          </a:xfrm>
          <a:custGeom>
            <a:avLst/>
            <a:gdLst/>
            <a:ahLst/>
            <a:cxnLst/>
            <a:rect l="0" t="0" r="r" b="b"/>
            <a:pathLst>
              <a:path w="2752" h="28">
                <a:moveTo>
                  <a:pt x="0" y="0"/>
                </a:moveTo>
                <a:lnTo>
                  <a:pt x="2752" y="0"/>
                </a:lnTo>
                <a:lnTo>
                  <a:pt x="27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Forma libre 142"/>
          <p:cNvSpPr/>
          <p:nvPr/>
        </p:nvSpPr>
        <p:spPr>
          <a:xfrm>
            <a:off x="4028760" y="4543200"/>
            <a:ext cx="1172160" cy="10080"/>
          </a:xfrm>
          <a:custGeom>
            <a:avLst/>
            <a:gdLst/>
            <a:ahLst/>
            <a:cxnLst/>
            <a:rect l="0" t="0" r="r" b="b"/>
            <a:pathLst>
              <a:path w="3256" h="28">
                <a:moveTo>
                  <a:pt x="0" y="0"/>
                </a:moveTo>
                <a:lnTo>
                  <a:pt x="3256" y="0"/>
                </a:lnTo>
                <a:lnTo>
                  <a:pt x="32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Forma libre 143"/>
          <p:cNvSpPr/>
          <p:nvPr/>
        </p:nvSpPr>
        <p:spPr>
          <a:xfrm>
            <a:off x="5200560" y="4543200"/>
            <a:ext cx="3610080" cy="10080"/>
          </a:xfrm>
          <a:custGeom>
            <a:avLst/>
            <a:gdLst/>
            <a:ahLst/>
            <a:cxnLst/>
            <a:rect l="0" t="0" r="r" b="b"/>
            <a:pathLst>
              <a:path w="10028" h="28">
                <a:moveTo>
                  <a:pt x="0" y="0"/>
                </a:moveTo>
                <a:lnTo>
                  <a:pt x="10028" y="0"/>
                </a:lnTo>
                <a:lnTo>
                  <a:pt x="10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CuadroTexto 144"/>
          <p:cNvSpPr txBox="1"/>
          <p:nvPr/>
        </p:nvSpPr>
        <p:spPr>
          <a:xfrm>
            <a:off x="666720" y="1825200"/>
            <a:ext cx="4431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Cuatro estructuras, cuatro usos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CuadroTexto 145"/>
          <p:cNvSpPr txBox="1"/>
          <p:nvPr/>
        </p:nvSpPr>
        <p:spPr>
          <a:xfrm>
            <a:off x="799920" y="2571480"/>
            <a:ext cx="953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Estructura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CuadroTexto 146"/>
          <p:cNvSpPr txBox="1"/>
          <p:nvPr/>
        </p:nvSpPr>
        <p:spPr>
          <a:xfrm>
            <a:off x="2010240" y="2571480"/>
            <a:ext cx="896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Ordenada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CuadroTexto 147"/>
          <p:cNvSpPr txBox="1"/>
          <p:nvPr/>
        </p:nvSpPr>
        <p:spPr>
          <a:xfrm>
            <a:off x="3160080" y="2571480"/>
            <a:ext cx="737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Mutable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CuadroTexto 148"/>
          <p:cNvSpPr txBox="1"/>
          <p:nvPr/>
        </p:nvSpPr>
        <p:spPr>
          <a:xfrm>
            <a:off x="4075354" y="2570544"/>
            <a:ext cx="1134926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 dirty="0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Complejidad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Forma libre 149"/>
          <p:cNvSpPr/>
          <p:nvPr/>
        </p:nvSpPr>
        <p:spPr>
          <a:xfrm>
            <a:off x="799920" y="2981160"/>
            <a:ext cx="505080" cy="228960"/>
          </a:xfrm>
          <a:custGeom>
            <a:avLst/>
            <a:gdLst/>
            <a:ahLst/>
            <a:cxnLst/>
            <a:rect l="0" t="0" r="r" b="b"/>
            <a:pathLst>
              <a:path w="140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297" y="0"/>
                </a:lnTo>
                <a:cubicBezTo>
                  <a:pt x="1311" y="0"/>
                  <a:pt x="1325" y="3"/>
                  <a:pt x="1338" y="8"/>
                </a:cubicBezTo>
                <a:cubicBezTo>
                  <a:pt x="1351" y="13"/>
                  <a:pt x="1362" y="21"/>
                  <a:pt x="1372" y="31"/>
                </a:cubicBezTo>
                <a:cubicBezTo>
                  <a:pt x="1382" y="41"/>
                  <a:pt x="1390" y="52"/>
                  <a:pt x="1395" y="65"/>
                </a:cubicBezTo>
                <a:cubicBezTo>
                  <a:pt x="1401" y="78"/>
                  <a:pt x="1403" y="92"/>
                  <a:pt x="1403" y="106"/>
                </a:cubicBezTo>
                <a:lnTo>
                  <a:pt x="1403" y="530"/>
                </a:lnTo>
                <a:cubicBezTo>
                  <a:pt x="1403" y="544"/>
                  <a:pt x="1401" y="558"/>
                  <a:pt x="1395" y="571"/>
                </a:cubicBezTo>
                <a:cubicBezTo>
                  <a:pt x="1390" y="584"/>
                  <a:pt x="1382" y="595"/>
                  <a:pt x="1372" y="605"/>
                </a:cubicBezTo>
                <a:cubicBezTo>
                  <a:pt x="1362" y="615"/>
                  <a:pt x="1351" y="623"/>
                  <a:pt x="1338" y="628"/>
                </a:cubicBezTo>
                <a:cubicBezTo>
                  <a:pt x="1325" y="633"/>
                  <a:pt x="1311" y="636"/>
                  <a:pt x="129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CuadroTexto 150"/>
          <p:cNvSpPr txBox="1"/>
          <p:nvPr/>
        </p:nvSpPr>
        <p:spPr>
          <a:xfrm>
            <a:off x="5744880" y="2571480"/>
            <a:ext cx="2511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 dirty="0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Uso típico en datos clínicos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CuadroTexto 151"/>
          <p:cNvSpPr txBox="1"/>
          <p:nvPr/>
        </p:nvSpPr>
        <p:spPr>
          <a:xfrm>
            <a:off x="857160" y="3002400"/>
            <a:ext cx="38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list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CuadroTexto 152"/>
          <p:cNvSpPr txBox="1"/>
          <p:nvPr/>
        </p:nvSpPr>
        <p:spPr>
          <a:xfrm>
            <a:off x="2392920" y="297144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sí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CuadroTexto 153"/>
          <p:cNvSpPr txBox="1"/>
          <p:nvPr/>
        </p:nvSpPr>
        <p:spPr>
          <a:xfrm>
            <a:off x="3465000" y="297144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sí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CuadroTexto 154"/>
          <p:cNvSpPr txBox="1"/>
          <p:nvPr/>
        </p:nvSpPr>
        <p:spPr>
          <a:xfrm>
            <a:off x="4424400" y="2980800"/>
            <a:ext cx="374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O(n)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Forma libre 155"/>
          <p:cNvSpPr/>
          <p:nvPr/>
        </p:nvSpPr>
        <p:spPr>
          <a:xfrm>
            <a:off x="799920" y="3400200"/>
            <a:ext cx="600480" cy="228960"/>
          </a:xfrm>
          <a:custGeom>
            <a:avLst/>
            <a:gdLst/>
            <a:ahLst/>
            <a:cxnLst/>
            <a:rect l="0" t="0" r="r" b="b"/>
            <a:pathLst>
              <a:path w="1668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562" y="0"/>
                </a:lnTo>
                <a:cubicBezTo>
                  <a:pt x="1576" y="0"/>
                  <a:pt x="1590" y="3"/>
                  <a:pt x="1603" y="8"/>
                </a:cubicBezTo>
                <a:cubicBezTo>
                  <a:pt x="1616" y="14"/>
                  <a:pt x="1627" y="21"/>
                  <a:pt x="1637" y="31"/>
                </a:cubicBezTo>
                <a:cubicBezTo>
                  <a:pt x="1647" y="41"/>
                  <a:pt x="1654" y="52"/>
                  <a:pt x="1660" y="65"/>
                </a:cubicBezTo>
                <a:cubicBezTo>
                  <a:pt x="1665" y="78"/>
                  <a:pt x="1668" y="92"/>
                  <a:pt x="1668" y="106"/>
                </a:cubicBezTo>
                <a:lnTo>
                  <a:pt x="1668" y="530"/>
                </a:lnTo>
                <a:cubicBezTo>
                  <a:pt x="1668" y="544"/>
                  <a:pt x="1665" y="558"/>
                  <a:pt x="1660" y="571"/>
                </a:cubicBezTo>
                <a:cubicBezTo>
                  <a:pt x="1654" y="584"/>
                  <a:pt x="1647" y="595"/>
                  <a:pt x="1637" y="605"/>
                </a:cubicBezTo>
                <a:cubicBezTo>
                  <a:pt x="1627" y="615"/>
                  <a:pt x="1616" y="623"/>
                  <a:pt x="1603" y="628"/>
                </a:cubicBezTo>
                <a:cubicBezTo>
                  <a:pt x="1590" y="633"/>
                  <a:pt x="1576" y="636"/>
                  <a:pt x="1562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CuadroTexto 156"/>
          <p:cNvSpPr txBox="1"/>
          <p:nvPr/>
        </p:nvSpPr>
        <p:spPr>
          <a:xfrm>
            <a:off x="5325480" y="2971440"/>
            <a:ext cx="2802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Secuencia de resultados en orden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CuadroTexto 157"/>
          <p:cNvSpPr txBox="1"/>
          <p:nvPr/>
        </p:nvSpPr>
        <p:spPr>
          <a:xfrm>
            <a:off x="857160" y="3421440"/>
            <a:ext cx="4870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tuple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CuadroTexto 158"/>
          <p:cNvSpPr txBox="1"/>
          <p:nvPr/>
        </p:nvSpPr>
        <p:spPr>
          <a:xfrm>
            <a:off x="2392920" y="339048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sí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CuadroTexto 159"/>
          <p:cNvSpPr txBox="1"/>
          <p:nvPr/>
        </p:nvSpPr>
        <p:spPr>
          <a:xfrm>
            <a:off x="3424320" y="3390480"/>
            <a:ext cx="2088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CuadroTexto 160"/>
          <p:cNvSpPr txBox="1"/>
          <p:nvPr/>
        </p:nvSpPr>
        <p:spPr>
          <a:xfrm>
            <a:off x="4443840" y="3390480"/>
            <a:ext cx="335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O(n)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Forma libre 161"/>
          <p:cNvSpPr/>
          <p:nvPr/>
        </p:nvSpPr>
        <p:spPr>
          <a:xfrm>
            <a:off x="6391080" y="3400200"/>
            <a:ext cx="1867320" cy="228960"/>
          </a:xfrm>
          <a:custGeom>
            <a:avLst/>
            <a:gdLst/>
            <a:ahLst/>
            <a:cxnLst/>
            <a:rect l="0" t="0" r="r" b="b"/>
            <a:pathLst>
              <a:path w="5187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081" y="0"/>
                </a:lnTo>
                <a:cubicBezTo>
                  <a:pt x="5095" y="0"/>
                  <a:pt x="5109" y="3"/>
                  <a:pt x="5122" y="8"/>
                </a:cubicBezTo>
                <a:cubicBezTo>
                  <a:pt x="5135" y="14"/>
                  <a:pt x="5146" y="21"/>
                  <a:pt x="5156" y="31"/>
                </a:cubicBezTo>
                <a:cubicBezTo>
                  <a:pt x="5166" y="41"/>
                  <a:pt x="5173" y="52"/>
                  <a:pt x="5179" y="65"/>
                </a:cubicBezTo>
                <a:cubicBezTo>
                  <a:pt x="5184" y="78"/>
                  <a:pt x="5187" y="92"/>
                  <a:pt x="5187" y="106"/>
                </a:cubicBezTo>
                <a:lnTo>
                  <a:pt x="5187" y="530"/>
                </a:lnTo>
                <a:cubicBezTo>
                  <a:pt x="5187" y="544"/>
                  <a:pt x="5184" y="558"/>
                  <a:pt x="5179" y="571"/>
                </a:cubicBezTo>
                <a:cubicBezTo>
                  <a:pt x="5173" y="584"/>
                  <a:pt x="5166" y="595"/>
                  <a:pt x="5156" y="605"/>
                </a:cubicBezTo>
                <a:cubicBezTo>
                  <a:pt x="5146" y="615"/>
                  <a:pt x="5135" y="623"/>
                  <a:pt x="5122" y="628"/>
                </a:cubicBezTo>
                <a:cubicBezTo>
                  <a:pt x="5109" y="633"/>
                  <a:pt x="5095" y="636"/>
                  <a:pt x="5081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CuadroTexto 162"/>
          <p:cNvSpPr txBox="1"/>
          <p:nvPr/>
        </p:nvSpPr>
        <p:spPr>
          <a:xfrm>
            <a:off x="5325480" y="3390480"/>
            <a:ext cx="1066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Registro ﬁjo: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Forma libre 163"/>
          <p:cNvSpPr/>
          <p:nvPr/>
        </p:nvSpPr>
        <p:spPr>
          <a:xfrm>
            <a:off x="799920" y="3809880"/>
            <a:ext cx="505080" cy="228960"/>
          </a:xfrm>
          <a:custGeom>
            <a:avLst/>
            <a:gdLst/>
            <a:ahLst/>
            <a:cxnLst/>
            <a:rect l="0" t="0" r="r" b="b"/>
            <a:pathLst>
              <a:path w="140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297" y="0"/>
                </a:lnTo>
                <a:cubicBezTo>
                  <a:pt x="1311" y="0"/>
                  <a:pt x="1325" y="3"/>
                  <a:pt x="1338" y="8"/>
                </a:cubicBezTo>
                <a:cubicBezTo>
                  <a:pt x="1351" y="13"/>
                  <a:pt x="1362" y="21"/>
                  <a:pt x="1372" y="31"/>
                </a:cubicBezTo>
                <a:cubicBezTo>
                  <a:pt x="1382" y="41"/>
                  <a:pt x="1390" y="52"/>
                  <a:pt x="1395" y="65"/>
                </a:cubicBezTo>
                <a:cubicBezTo>
                  <a:pt x="1401" y="78"/>
                  <a:pt x="1403" y="92"/>
                  <a:pt x="1403" y="106"/>
                </a:cubicBezTo>
                <a:lnTo>
                  <a:pt x="1403" y="530"/>
                </a:lnTo>
                <a:cubicBezTo>
                  <a:pt x="1403" y="544"/>
                  <a:pt x="1401" y="558"/>
                  <a:pt x="1395" y="570"/>
                </a:cubicBezTo>
                <a:cubicBezTo>
                  <a:pt x="1390" y="583"/>
                  <a:pt x="1382" y="595"/>
                  <a:pt x="1372" y="605"/>
                </a:cubicBezTo>
                <a:cubicBezTo>
                  <a:pt x="1362" y="615"/>
                  <a:pt x="1351" y="622"/>
                  <a:pt x="1338" y="628"/>
                </a:cubicBezTo>
                <a:cubicBezTo>
                  <a:pt x="1325" y="633"/>
                  <a:pt x="1311" y="636"/>
                  <a:pt x="129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CuadroTexto 164"/>
          <p:cNvSpPr txBox="1"/>
          <p:nvPr/>
        </p:nvSpPr>
        <p:spPr>
          <a:xfrm>
            <a:off x="6445080" y="3421440"/>
            <a:ext cx="17514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(person_id, fecha)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CuadroTexto 165"/>
          <p:cNvSpPr txBox="1"/>
          <p:nvPr/>
        </p:nvSpPr>
        <p:spPr>
          <a:xfrm>
            <a:off x="857160" y="3831120"/>
            <a:ext cx="38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dict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CuadroTexto 166"/>
          <p:cNvSpPr txBox="1"/>
          <p:nvPr/>
        </p:nvSpPr>
        <p:spPr>
          <a:xfrm>
            <a:off x="2359440" y="3800160"/>
            <a:ext cx="194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sí*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CuadroTexto 167"/>
          <p:cNvSpPr txBox="1"/>
          <p:nvPr/>
        </p:nvSpPr>
        <p:spPr>
          <a:xfrm>
            <a:off x="3465000" y="380016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sí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CuadroTexto 168"/>
          <p:cNvSpPr txBox="1"/>
          <p:nvPr/>
        </p:nvSpPr>
        <p:spPr>
          <a:xfrm>
            <a:off x="4427640" y="3809520"/>
            <a:ext cx="367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O(1)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CuadroTexto 169"/>
          <p:cNvSpPr txBox="1"/>
          <p:nvPr/>
        </p:nvSpPr>
        <p:spPr>
          <a:xfrm>
            <a:off x="5325480" y="3800160"/>
            <a:ext cx="1237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Mapeo código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CuadroTexto 170"/>
          <p:cNvSpPr txBox="1"/>
          <p:nvPr/>
        </p:nvSpPr>
        <p:spPr>
          <a:xfrm>
            <a:off x="6562080" y="3809160"/>
            <a:ext cx="1911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Forma libre 171"/>
          <p:cNvSpPr/>
          <p:nvPr/>
        </p:nvSpPr>
        <p:spPr>
          <a:xfrm>
            <a:off x="799920" y="4228920"/>
            <a:ext cx="410040" cy="228960"/>
          </a:xfrm>
          <a:custGeom>
            <a:avLst/>
            <a:gdLst/>
            <a:ahLst/>
            <a:cxnLst/>
            <a:rect l="0" t="0" r="r" b="b"/>
            <a:pathLst>
              <a:path w="1139" h="636">
                <a:moveTo>
                  <a:pt x="0" y="529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033" y="0"/>
                </a:lnTo>
                <a:cubicBezTo>
                  <a:pt x="1047" y="0"/>
                  <a:pt x="1060" y="3"/>
                  <a:pt x="1073" y="8"/>
                </a:cubicBezTo>
                <a:cubicBezTo>
                  <a:pt x="1086" y="13"/>
                  <a:pt x="1098" y="21"/>
                  <a:pt x="1108" y="31"/>
                </a:cubicBezTo>
                <a:cubicBezTo>
                  <a:pt x="1118" y="41"/>
                  <a:pt x="1125" y="52"/>
                  <a:pt x="1131" y="65"/>
                </a:cubicBezTo>
                <a:cubicBezTo>
                  <a:pt x="1136" y="78"/>
                  <a:pt x="1139" y="92"/>
                  <a:pt x="1139" y="106"/>
                </a:cubicBezTo>
                <a:lnTo>
                  <a:pt x="1139" y="529"/>
                </a:lnTo>
                <a:cubicBezTo>
                  <a:pt x="1139" y="543"/>
                  <a:pt x="1136" y="557"/>
                  <a:pt x="1131" y="570"/>
                </a:cubicBezTo>
                <a:cubicBezTo>
                  <a:pt x="1125" y="583"/>
                  <a:pt x="1118" y="594"/>
                  <a:pt x="1108" y="604"/>
                </a:cubicBezTo>
                <a:cubicBezTo>
                  <a:pt x="1098" y="614"/>
                  <a:pt x="1086" y="623"/>
                  <a:pt x="1073" y="628"/>
                </a:cubicBezTo>
                <a:cubicBezTo>
                  <a:pt x="1060" y="633"/>
                  <a:pt x="1047" y="636"/>
                  <a:pt x="1033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4"/>
                  <a:pt x="31" y="604"/>
                </a:cubicBezTo>
                <a:cubicBezTo>
                  <a:pt x="21" y="594"/>
                  <a:pt x="13" y="583"/>
                  <a:pt x="8" y="570"/>
                </a:cubicBezTo>
                <a:cubicBezTo>
                  <a:pt x="3" y="557"/>
                  <a:pt x="0" y="543"/>
                  <a:pt x="0" y="529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CuadroTexto 172"/>
          <p:cNvSpPr txBox="1"/>
          <p:nvPr/>
        </p:nvSpPr>
        <p:spPr>
          <a:xfrm>
            <a:off x="6752520" y="3800160"/>
            <a:ext cx="830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concepto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CuadroTexto 173"/>
          <p:cNvSpPr txBox="1"/>
          <p:nvPr/>
        </p:nvSpPr>
        <p:spPr>
          <a:xfrm>
            <a:off x="857160" y="4250160"/>
            <a:ext cx="2923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set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CuadroTexto 174"/>
          <p:cNvSpPr txBox="1"/>
          <p:nvPr/>
        </p:nvSpPr>
        <p:spPr>
          <a:xfrm>
            <a:off x="2352240" y="4219200"/>
            <a:ext cx="2088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CuadroTexto 175"/>
          <p:cNvSpPr txBox="1"/>
          <p:nvPr/>
        </p:nvSpPr>
        <p:spPr>
          <a:xfrm>
            <a:off x="3465000" y="421920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sí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CuadroTexto 176"/>
          <p:cNvSpPr txBox="1"/>
          <p:nvPr/>
        </p:nvSpPr>
        <p:spPr>
          <a:xfrm>
            <a:off x="4427640" y="4228560"/>
            <a:ext cx="367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O(1)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Forma libre 177"/>
          <p:cNvSpPr/>
          <p:nvPr/>
        </p:nvSpPr>
        <p:spPr>
          <a:xfrm>
            <a:off x="6381720" y="4228920"/>
            <a:ext cx="990720" cy="228960"/>
          </a:xfrm>
          <a:custGeom>
            <a:avLst/>
            <a:gdLst/>
            <a:ahLst/>
            <a:cxnLst/>
            <a:rect l="0" t="0" r="r" b="b"/>
            <a:pathLst>
              <a:path w="2752" h="636">
                <a:moveTo>
                  <a:pt x="0" y="529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646" y="0"/>
                </a:lnTo>
                <a:cubicBezTo>
                  <a:pt x="2660" y="0"/>
                  <a:pt x="2674" y="3"/>
                  <a:pt x="2687" y="8"/>
                </a:cubicBezTo>
                <a:cubicBezTo>
                  <a:pt x="2700" y="13"/>
                  <a:pt x="2711" y="21"/>
                  <a:pt x="2721" y="31"/>
                </a:cubicBezTo>
                <a:cubicBezTo>
                  <a:pt x="2731" y="41"/>
                  <a:pt x="2739" y="52"/>
                  <a:pt x="2744" y="65"/>
                </a:cubicBezTo>
                <a:cubicBezTo>
                  <a:pt x="2750" y="78"/>
                  <a:pt x="2752" y="92"/>
                  <a:pt x="2752" y="106"/>
                </a:cubicBezTo>
                <a:lnTo>
                  <a:pt x="2752" y="529"/>
                </a:lnTo>
                <a:cubicBezTo>
                  <a:pt x="2752" y="543"/>
                  <a:pt x="2750" y="557"/>
                  <a:pt x="2744" y="570"/>
                </a:cubicBezTo>
                <a:cubicBezTo>
                  <a:pt x="2739" y="583"/>
                  <a:pt x="2731" y="594"/>
                  <a:pt x="2721" y="604"/>
                </a:cubicBezTo>
                <a:cubicBezTo>
                  <a:pt x="2711" y="614"/>
                  <a:pt x="2700" y="623"/>
                  <a:pt x="2687" y="628"/>
                </a:cubicBezTo>
                <a:cubicBezTo>
                  <a:pt x="2674" y="633"/>
                  <a:pt x="2660" y="636"/>
                  <a:pt x="2646" y="636"/>
                </a:cubicBezTo>
                <a:lnTo>
                  <a:pt x="105" y="636"/>
                </a:lnTo>
                <a:cubicBezTo>
                  <a:pt x="91" y="636"/>
                  <a:pt x="78" y="633"/>
                  <a:pt x="65" y="628"/>
                </a:cubicBezTo>
                <a:cubicBezTo>
                  <a:pt x="52" y="623"/>
                  <a:pt x="41" y="614"/>
                  <a:pt x="31" y="604"/>
                </a:cubicBezTo>
                <a:cubicBezTo>
                  <a:pt x="21" y="594"/>
                  <a:pt x="13" y="583"/>
                  <a:pt x="8" y="570"/>
                </a:cubicBezTo>
                <a:cubicBezTo>
                  <a:pt x="2" y="557"/>
                  <a:pt x="0" y="543"/>
                  <a:pt x="0" y="529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CuadroTexto 178"/>
          <p:cNvSpPr txBox="1"/>
          <p:nvPr/>
        </p:nvSpPr>
        <p:spPr>
          <a:xfrm>
            <a:off x="5325480" y="4219200"/>
            <a:ext cx="1059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Conjunto de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CuadroTexto 179"/>
          <p:cNvSpPr txBox="1"/>
          <p:nvPr/>
        </p:nvSpPr>
        <p:spPr>
          <a:xfrm>
            <a:off x="6441120" y="4250160"/>
            <a:ext cx="875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person_id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CuadroTexto 180"/>
          <p:cNvSpPr txBox="1"/>
          <p:nvPr/>
        </p:nvSpPr>
        <p:spPr>
          <a:xfrm>
            <a:off x="7376040" y="4219200"/>
            <a:ext cx="12996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una cohorte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Forma libre 181"/>
          <p:cNvSpPr/>
          <p:nvPr/>
        </p:nvSpPr>
        <p:spPr>
          <a:xfrm>
            <a:off x="2695320" y="4781520"/>
            <a:ext cx="533880" cy="238320"/>
          </a:xfrm>
          <a:custGeom>
            <a:avLst/>
            <a:gdLst/>
            <a:ahLst/>
            <a:cxnLst/>
            <a:rect l="0" t="0" r="r" b="b"/>
            <a:pathLst>
              <a:path w="1483" h="662">
                <a:moveTo>
                  <a:pt x="0" y="55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377" y="0"/>
                </a:lnTo>
                <a:cubicBezTo>
                  <a:pt x="1391" y="0"/>
                  <a:pt x="1405" y="2"/>
                  <a:pt x="1418" y="8"/>
                </a:cubicBezTo>
                <a:cubicBezTo>
                  <a:pt x="1431" y="13"/>
                  <a:pt x="1442" y="21"/>
                  <a:pt x="1452" y="31"/>
                </a:cubicBezTo>
                <a:cubicBezTo>
                  <a:pt x="1462" y="41"/>
                  <a:pt x="1469" y="52"/>
                  <a:pt x="1475" y="65"/>
                </a:cubicBezTo>
                <a:cubicBezTo>
                  <a:pt x="1480" y="78"/>
                  <a:pt x="1483" y="91"/>
                  <a:pt x="1483" y="105"/>
                </a:cubicBezTo>
                <a:lnTo>
                  <a:pt x="1483" y="556"/>
                </a:lnTo>
                <a:cubicBezTo>
                  <a:pt x="1483" y="570"/>
                  <a:pt x="1480" y="584"/>
                  <a:pt x="1475" y="597"/>
                </a:cubicBezTo>
                <a:cubicBezTo>
                  <a:pt x="1469" y="610"/>
                  <a:pt x="1462" y="621"/>
                  <a:pt x="1452" y="631"/>
                </a:cubicBezTo>
                <a:cubicBezTo>
                  <a:pt x="1442" y="641"/>
                  <a:pt x="1431" y="649"/>
                  <a:pt x="1418" y="654"/>
                </a:cubicBezTo>
                <a:cubicBezTo>
                  <a:pt x="1405" y="659"/>
                  <a:pt x="1391" y="662"/>
                  <a:pt x="1377" y="662"/>
                </a:cubicBezTo>
                <a:lnTo>
                  <a:pt x="106" y="662"/>
                </a:lnTo>
                <a:cubicBezTo>
                  <a:pt x="92" y="662"/>
                  <a:pt x="79" y="659"/>
                  <a:pt x="66" y="654"/>
                </a:cubicBezTo>
                <a:cubicBezTo>
                  <a:pt x="53" y="649"/>
                  <a:pt x="41" y="641"/>
                  <a:pt x="31" y="631"/>
                </a:cubicBezTo>
                <a:cubicBezTo>
                  <a:pt x="21" y="621"/>
                  <a:pt x="14" y="610"/>
                  <a:pt x="8" y="597"/>
                </a:cubicBezTo>
                <a:cubicBezTo>
                  <a:pt x="3" y="584"/>
                  <a:pt x="0" y="570"/>
                  <a:pt x="0" y="55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CuadroTexto 182"/>
          <p:cNvSpPr txBox="1"/>
          <p:nvPr/>
        </p:nvSpPr>
        <p:spPr>
          <a:xfrm>
            <a:off x="666720" y="4766760"/>
            <a:ext cx="2031840" cy="24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62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*Desde Python 3.7 los </a:t>
            </a:r>
            <a:endParaRPr lang="es-E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CuadroTexto 183"/>
          <p:cNvSpPr txBox="1"/>
          <p:nvPr/>
        </p:nvSpPr>
        <p:spPr>
          <a:xfrm>
            <a:off x="2755080" y="4800240"/>
            <a:ext cx="42264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7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dict</a:t>
            </a:r>
            <a:endParaRPr lang="es-E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CuadroTexto 184"/>
          <p:cNvSpPr txBox="1"/>
          <p:nvPr/>
        </p:nvSpPr>
        <p:spPr>
          <a:xfrm>
            <a:off x="3233520" y="4766760"/>
            <a:ext cx="2931840" cy="24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62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conservan el orden de inserción.</a:t>
            </a:r>
            <a:endParaRPr lang="es-E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CuadroTexto 18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CuadroTexto 18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CuadroTexto 18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Forma libre 18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Forma libre 18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Forma libre 190"/>
          <p:cNvSpPr/>
          <p:nvPr/>
        </p:nvSpPr>
        <p:spPr>
          <a:xfrm>
            <a:off x="12780" y="202506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Forma libre 191"/>
          <p:cNvSpPr/>
          <p:nvPr/>
        </p:nvSpPr>
        <p:spPr>
          <a:xfrm>
            <a:off x="671400" y="1747800"/>
            <a:ext cx="10849320" cy="2943360"/>
          </a:xfrm>
          <a:custGeom>
            <a:avLst/>
            <a:gdLst/>
            <a:ahLst/>
            <a:cxnLst/>
            <a:rect l="0" t="0" r="r" b="b"/>
            <a:pathLst>
              <a:path w="30137" h="8176">
                <a:moveTo>
                  <a:pt x="0" y="797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7978"/>
                </a:lnTo>
                <a:cubicBezTo>
                  <a:pt x="30137" y="7991"/>
                  <a:pt x="30136" y="8004"/>
                  <a:pt x="30133" y="8017"/>
                </a:cubicBezTo>
                <a:cubicBezTo>
                  <a:pt x="30130" y="8029"/>
                  <a:pt x="30127" y="8042"/>
                  <a:pt x="30122" y="8054"/>
                </a:cubicBezTo>
                <a:cubicBezTo>
                  <a:pt x="30117" y="8066"/>
                  <a:pt x="30111" y="8077"/>
                  <a:pt x="30103" y="8088"/>
                </a:cubicBezTo>
                <a:cubicBezTo>
                  <a:pt x="30096" y="8099"/>
                  <a:pt x="30088" y="8109"/>
                  <a:pt x="30079" y="8118"/>
                </a:cubicBezTo>
                <a:cubicBezTo>
                  <a:pt x="30070" y="8127"/>
                  <a:pt x="30059" y="8136"/>
                  <a:pt x="30049" y="8143"/>
                </a:cubicBezTo>
                <a:cubicBezTo>
                  <a:pt x="30038" y="8150"/>
                  <a:pt x="30026" y="8156"/>
                  <a:pt x="30014" y="8161"/>
                </a:cubicBezTo>
                <a:cubicBezTo>
                  <a:pt x="30002" y="8166"/>
                  <a:pt x="29990" y="8170"/>
                  <a:pt x="29977" y="8172"/>
                </a:cubicBezTo>
                <a:cubicBezTo>
                  <a:pt x="29964" y="8175"/>
                  <a:pt x="29951" y="8176"/>
                  <a:pt x="29938" y="8176"/>
                </a:cubicBezTo>
                <a:lnTo>
                  <a:pt x="198" y="8176"/>
                </a:lnTo>
                <a:cubicBezTo>
                  <a:pt x="185" y="8176"/>
                  <a:pt x="172" y="8175"/>
                  <a:pt x="160" y="8172"/>
                </a:cubicBezTo>
                <a:cubicBezTo>
                  <a:pt x="147" y="8170"/>
                  <a:pt x="134" y="8166"/>
                  <a:pt x="122" y="8161"/>
                </a:cubicBezTo>
                <a:cubicBezTo>
                  <a:pt x="110" y="8156"/>
                  <a:pt x="99" y="8150"/>
                  <a:pt x="88" y="8143"/>
                </a:cubicBezTo>
                <a:cubicBezTo>
                  <a:pt x="77" y="8136"/>
                  <a:pt x="67" y="8127"/>
                  <a:pt x="58" y="8118"/>
                </a:cubicBezTo>
                <a:cubicBezTo>
                  <a:pt x="49" y="8109"/>
                  <a:pt x="40" y="8099"/>
                  <a:pt x="33" y="8088"/>
                </a:cubicBezTo>
                <a:cubicBezTo>
                  <a:pt x="26" y="8077"/>
                  <a:pt x="20" y="8066"/>
                  <a:pt x="15" y="8054"/>
                </a:cubicBezTo>
                <a:cubicBezTo>
                  <a:pt x="10" y="8042"/>
                  <a:pt x="6" y="8029"/>
                  <a:pt x="4" y="8017"/>
                </a:cubicBezTo>
                <a:cubicBezTo>
                  <a:pt x="1" y="8004"/>
                  <a:pt x="0" y="7991"/>
                  <a:pt x="0" y="797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Forma libre 192"/>
          <p:cNvSpPr/>
          <p:nvPr/>
        </p:nvSpPr>
        <p:spPr>
          <a:xfrm>
            <a:off x="671400" y="1747800"/>
            <a:ext cx="10849320" cy="2943360"/>
          </a:xfrm>
          <a:custGeom>
            <a:avLst/>
            <a:gdLst/>
            <a:ahLst/>
            <a:cxnLst/>
            <a:rect l="0" t="0" r="r" b="b"/>
            <a:pathLst>
              <a:path w="30137" h="8176">
                <a:moveTo>
                  <a:pt x="0" y="797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7978"/>
                </a:lnTo>
                <a:cubicBezTo>
                  <a:pt x="30137" y="7991"/>
                  <a:pt x="30136" y="8004"/>
                  <a:pt x="30133" y="8017"/>
                </a:cubicBezTo>
                <a:cubicBezTo>
                  <a:pt x="30130" y="8029"/>
                  <a:pt x="30127" y="8042"/>
                  <a:pt x="30122" y="8054"/>
                </a:cubicBezTo>
                <a:cubicBezTo>
                  <a:pt x="30117" y="8066"/>
                  <a:pt x="30111" y="8077"/>
                  <a:pt x="30103" y="8088"/>
                </a:cubicBezTo>
                <a:cubicBezTo>
                  <a:pt x="30096" y="8099"/>
                  <a:pt x="30088" y="8109"/>
                  <a:pt x="30079" y="8118"/>
                </a:cubicBezTo>
                <a:cubicBezTo>
                  <a:pt x="30070" y="8127"/>
                  <a:pt x="30059" y="8136"/>
                  <a:pt x="30049" y="8143"/>
                </a:cubicBezTo>
                <a:cubicBezTo>
                  <a:pt x="30038" y="8150"/>
                  <a:pt x="30026" y="8156"/>
                  <a:pt x="30014" y="8161"/>
                </a:cubicBezTo>
                <a:cubicBezTo>
                  <a:pt x="30002" y="8166"/>
                  <a:pt x="29990" y="8170"/>
                  <a:pt x="29977" y="8172"/>
                </a:cubicBezTo>
                <a:cubicBezTo>
                  <a:pt x="29964" y="8175"/>
                  <a:pt x="29951" y="8176"/>
                  <a:pt x="29938" y="8176"/>
                </a:cubicBezTo>
                <a:lnTo>
                  <a:pt x="198" y="8176"/>
                </a:lnTo>
                <a:cubicBezTo>
                  <a:pt x="185" y="8176"/>
                  <a:pt x="172" y="8175"/>
                  <a:pt x="160" y="8172"/>
                </a:cubicBezTo>
                <a:cubicBezTo>
                  <a:pt x="147" y="8170"/>
                  <a:pt x="134" y="8166"/>
                  <a:pt x="122" y="8161"/>
                </a:cubicBezTo>
                <a:cubicBezTo>
                  <a:pt x="110" y="8156"/>
                  <a:pt x="99" y="8150"/>
                  <a:pt x="88" y="8143"/>
                </a:cubicBezTo>
                <a:cubicBezTo>
                  <a:pt x="77" y="8136"/>
                  <a:pt x="67" y="8127"/>
                  <a:pt x="58" y="8118"/>
                </a:cubicBezTo>
                <a:cubicBezTo>
                  <a:pt x="49" y="8109"/>
                  <a:pt x="40" y="8099"/>
                  <a:pt x="33" y="8088"/>
                </a:cubicBezTo>
                <a:cubicBezTo>
                  <a:pt x="26" y="8077"/>
                  <a:pt x="20" y="8066"/>
                  <a:pt x="15" y="8054"/>
                </a:cubicBezTo>
                <a:cubicBezTo>
                  <a:pt x="10" y="8042"/>
                  <a:pt x="6" y="8029"/>
                  <a:pt x="4" y="8017"/>
                </a:cubicBezTo>
                <a:cubicBezTo>
                  <a:pt x="1" y="8004"/>
                  <a:pt x="0" y="7991"/>
                  <a:pt x="0" y="79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Forma libre 193"/>
          <p:cNvSpPr/>
          <p:nvPr/>
        </p:nvSpPr>
        <p:spPr>
          <a:xfrm>
            <a:off x="666720" y="484812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Forma libre 194"/>
          <p:cNvSpPr/>
          <p:nvPr/>
        </p:nvSpPr>
        <p:spPr>
          <a:xfrm>
            <a:off x="666720" y="484812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CuadroTexto 195"/>
          <p:cNvSpPr txBox="1"/>
          <p:nvPr/>
        </p:nvSpPr>
        <p:spPr>
          <a:xfrm>
            <a:off x="666720" y="1110960"/>
            <a:ext cx="42404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O(n) contra O(1), con números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CuadroTexto 196"/>
          <p:cNvSpPr txBox="1"/>
          <p:nvPr/>
        </p:nvSpPr>
        <p:spPr>
          <a:xfrm>
            <a:off x="866880" y="1927440"/>
            <a:ext cx="1201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import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time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CuadroTexto 197"/>
          <p:cNvSpPr txBox="1"/>
          <p:nvPr/>
        </p:nvSpPr>
        <p:spPr>
          <a:xfrm>
            <a:off x="866880" y="2194200"/>
            <a:ext cx="4149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cohorte_lista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= </a:t>
            </a:r>
            <a:r>
              <a:rPr lang="es-ES" sz="1430" b="0" u="none" strike="noStrike" dirty="0" err="1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list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 err="1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range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1_000_000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CuadroTexto 198"/>
          <p:cNvSpPr txBox="1"/>
          <p:nvPr/>
        </p:nvSpPr>
        <p:spPr>
          <a:xfrm>
            <a:off x="866880" y="2451600"/>
            <a:ext cx="3713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cohorte_set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= </a:t>
            </a:r>
            <a:r>
              <a:rPr lang="es-ES" sz="1430" b="0" u="none" strike="noStrike" dirty="0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set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cohorte_lista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CuadroTexto 199"/>
          <p:cNvSpPr txBox="1"/>
          <p:nvPr/>
        </p:nvSpPr>
        <p:spPr>
          <a:xfrm>
            <a:off x="866880" y="2718000"/>
            <a:ext cx="5787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objetivo = </a:t>
            </a:r>
            <a:r>
              <a:rPr lang="es-ES" sz="1430" b="0" u="none" strike="noStrike" dirty="0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999_999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</a:t>
            </a:r>
            <a:r>
              <a:rPr lang="es-ES" sz="1430" b="0" u="none" strike="noStrike" dirty="0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el peor caso: el último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CuadroTexto 200"/>
          <p:cNvSpPr txBox="1"/>
          <p:nvPr/>
        </p:nvSpPr>
        <p:spPr>
          <a:xfrm>
            <a:off x="866880" y="3242160"/>
            <a:ext cx="5460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t =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time.perf_counter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(); objetivo </a:t>
            </a:r>
            <a:r>
              <a:rPr lang="es-ES" sz="1430" b="0" u="none" strike="noStrike" dirty="0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in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cohorte_lista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CuadroTexto 201"/>
          <p:cNvSpPr txBox="1"/>
          <p:nvPr/>
        </p:nvSpPr>
        <p:spPr>
          <a:xfrm>
            <a:off x="866880" y="3499200"/>
            <a:ext cx="5972789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print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f"lista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: {(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time.perf_counter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()-t)*1000:.2f} ms")</a:t>
            </a:r>
            <a:endParaRPr lang="es-ES" sz="1430" b="0" u="none" strike="noStrike" dirty="0">
              <a:solidFill>
                <a:schemeClr val="accent1">
                  <a:lumMod val="60000"/>
                  <a:lumOff val="4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CuadroTexto 202"/>
          <p:cNvSpPr txBox="1"/>
          <p:nvPr/>
        </p:nvSpPr>
        <p:spPr>
          <a:xfrm>
            <a:off x="866880" y="4023000"/>
            <a:ext cx="5241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t =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time.perf_counter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(); objetivo </a:t>
            </a:r>
            <a:r>
              <a:rPr lang="es-ES" sz="1430" b="0" u="none" strike="noStrike" dirty="0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in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cohorte_set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CuadroTexto 203"/>
          <p:cNvSpPr txBox="1"/>
          <p:nvPr/>
        </p:nvSpPr>
        <p:spPr>
          <a:xfrm>
            <a:off x="866880" y="4289760"/>
            <a:ext cx="5972789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print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f"set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:   {(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time.perf_counter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()-t)*1000:.4f} ms")</a:t>
            </a:r>
            <a:endParaRPr lang="es-ES" sz="1430" b="0" u="none" strike="noStrike" dirty="0">
              <a:solidFill>
                <a:schemeClr val="accent1">
                  <a:lumMod val="60000"/>
                  <a:lumOff val="4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Forma libre 204"/>
          <p:cNvSpPr/>
          <p:nvPr/>
        </p:nvSpPr>
        <p:spPr>
          <a:xfrm>
            <a:off x="10134360" y="501948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5" y="8"/>
                </a:cubicBezTo>
                <a:cubicBezTo>
                  <a:pt x="79" y="3"/>
                  <a:pt x="93" y="0"/>
                  <a:pt x="107" y="0"/>
                </a:cubicBezTo>
                <a:lnTo>
                  <a:pt x="1509" y="0"/>
                </a:lnTo>
                <a:cubicBezTo>
                  <a:pt x="1523" y="0"/>
                  <a:pt x="1537" y="3"/>
                  <a:pt x="1550" y="8"/>
                </a:cubicBezTo>
                <a:cubicBezTo>
                  <a:pt x="1563" y="13"/>
                  <a:pt x="1574" y="21"/>
                  <a:pt x="1584" y="31"/>
                </a:cubicBezTo>
                <a:cubicBezTo>
                  <a:pt x="1594" y="41"/>
                  <a:pt x="1602" y="52"/>
                  <a:pt x="1607" y="65"/>
                </a:cubicBezTo>
                <a:cubicBezTo>
                  <a:pt x="1612" y="78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2" y="664"/>
                  <a:pt x="1607" y="677"/>
                </a:cubicBezTo>
                <a:cubicBezTo>
                  <a:pt x="1602" y="690"/>
                  <a:pt x="1594" y="701"/>
                  <a:pt x="1584" y="711"/>
                </a:cubicBezTo>
                <a:cubicBezTo>
                  <a:pt x="1574" y="721"/>
                  <a:pt x="1563" y="728"/>
                  <a:pt x="1550" y="734"/>
                </a:cubicBezTo>
                <a:cubicBezTo>
                  <a:pt x="1537" y="739"/>
                  <a:pt x="1523" y="742"/>
                  <a:pt x="1509" y="742"/>
                </a:cubicBezTo>
                <a:lnTo>
                  <a:pt x="107" y="742"/>
                </a:lnTo>
                <a:cubicBezTo>
                  <a:pt x="93" y="742"/>
                  <a:pt x="79" y="739"/>
                  <a:pt x="65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CuadroTexto 205"/>
          <p:cNvSpPr txBox="1"/>
          <p:nvPr/>
        </p:nvSpPr>
        <p:spPr>
          <a:xfrm>
            <a:off x="905040" y="5002200"/>
            <a:ext cx="10225876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Si vas a preguntar «¿este paciente está en la cohorte?» un millón de veces, la diferencia entre </a:t>
            </a:r>
            <a:r>
              <a:rPr lang="es-ES" sz="1800" b="0" u="none" strike="noStrike" dirty="0" err="1">
                <a:solidFill>
                  <a:srgbClr val="FF0000"/>
                </a:solidFill>
                <a:effectLst/>
                <a:uFillTx/>
                <a:latin typeface="HelveticaNeue"/>
                <a:ea typeface="HelveticaNeue"/>
              </a:rPr>
              <a:t>list</a:t>
            </a:r>
            <a:r>
              <a:rPr lang="es-ES" sz="1800" b="0" u="none" strike="noStrike" dirty="0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Forma libre 207"/>
          <p:cNvSpPr/>
          <p:nvPr/>
        </p:nvSpPr>
        <p:spPr>
          <a:xfrm>
            <a:off x="904680" y="5362560"/>
            <a:ext cx="466920" cy="266760"/>
          </a:xfrm>
          <a:custGeom>
            <a:avLst/>
            <a:gdLst/>
            <a:ahLst/>
            <a:cxnLst/>
            <a:rect l="0" t="0" r="r" b="b"/>
            <a:pathLst>
              <a:path w="1297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192" y="0"/>
                </a:lnTo>
                <a:cubicBezTo>
                  <a:pt x="1206" y="0"/>
                  <a:pt x="1219" y="2"/>
                  <a:pt x="1232" y="8"/>
                </a:cubicBezTo>
                <a:cubicBezTo>
                  <a:pt x="1245" y="13"/>
                  <a:pt x="1257" y="21"/>
                  <a:pt x="1267" y="31"/>
                </a:cubicBezTo>
                <a:cubicBezTo>
                  <a:pt x="1276" y="40"/>
                  <a:pt x="1284" y="52"/>
                  <a:pt x="1289" y="65"/>
                </a:cubicBezTo>
                <a:cubicBezTo>
                  <a:pt x="1295" y="78"/>
                  <a:pt x="1297" y="91"/>
                  <a:pt x="1297" y="105"/>
                </a:cubicBezTo>
                <a:lnTo>
                  <a:pt x="1297" y="636"/>
                </a:lnTo>
                <a:cubicBezTo>
                  <a:pt x="1297" y="650"/>
                  <a:pt x="1295" y="663"/>
                  <a:pt x="1289" y="676"/>
                </a:cubicBezTo>
                <a:cubicBezTo>
                  <a:pt x="1284" y="689"/>
                  <a:pt x="1276" y="700"/>
                  <a:pt x="1267" y="710"/>
                </a:cubicBezTo>
                <a:cubicBezTo>
                  <a:pt x="1257" y="720"/>
                  <a:pt x="1245" y="728"/>
                  <a:pt x="1232" y="733"/>
                </a:cubicBezTo>
                <a:cubicBezTo>
                  <a:pt x="1219" y="739"/>
                  <a:pt x="1206" y="741"/>
                  <a:pt x="1192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CuadroTexto 209"/>
          <p:cNvSpPr txBox="1"/>
          <p:nvPr/>
        </p:nvSpPr>
        <p:spPr>
          <a:xfrm>
            <a:off x="961920" y="5382360"/>
            <a:ext cx="353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set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CuadroTexto 210"/>
          <p:cNvSpPr txBox="1"/>
          <p:nvPr/>
        </p:nvSpPr>
        <p:spPr>
          <a:xfrm>
            <a:off x="1370160" y="5344920"/>
            <a:ext cx="3968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es la diferencia entre horas y segundos.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CuadroTexto 21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CuadroTexto 21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CuadroTexto 213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E4ABDE6-64E3-4D99-230F-C6F977B66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936" y="3685250"/>
            <a:ext cx="2420424" cy="5867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Forma libre 2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Forma libre 2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Forma libre 2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CuadroTexto 217"/>
          <p:cNvSpPr txBox="1"/>
          <p:nvPr/>
        </p:nvSpPr>
        <p:spPr>
          <a:xfrm>
            <a:off x="1674000" y="3063960"/>
            <a:ext cx="90417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Por qué Python gasta tanta memoria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CuadroTexto 21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CuadroTexto 21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CuadroTexto 220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Forma libre 2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Forma libre 2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Forma libre 22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Forma libre 224"/>
          <p:cNvSpPr/>
          <p:nvPr/>
        </p:nvSpPr>
        <p:spPr>
          <a:xfrm>
            <a:off x="671400" y="2681280"/>
            <a:ext cx="10849320" cy="2152800"/>
          </a:xfrm>
          <a:custGeom>
            <a:avLst/>
            <a:gdLst/>
            <a:ahLst/>
            <a:cxnLst/>
            <a:rect l="0" t="0" r="r" b="b"/>
            <a:pathLst>
              <a:path w="30137" h="5980">
                <a:moveTo>
                  <a:pt x="0" y="5782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782"/>
                </a:lnTo>
                <a:cubicBezTo>
                  <a:pt x="30137" y="5795"/>
                  <a:pt x="30136" y="5808"/>
                  <a:pt x="30133" y="5820"/>
                </a:cubicBezTo>
                <a:cubicBezTo>
                  <a:pt x="30130" y="5833"/>
                  <a:pt x="30127" y="5846"/>
                  <a:pt x="30122" y="5858"/>
                </a:cubicBezTo>
                <a:cubicBezTo>
                  <a:pt x="30117" y="5870"/>
                  <a:pt x="30111" y="5881"/>
                  <a:pt x="30103" y="5892"/>
                </a:cubicBezTo>
                <a:cubicBezTo>
                  <a:pt x="30096" y="5903"/>
                  <a:pt x="30088" y="5913"/>
                  <a:pt x="30079" y="5922"/>
                </a:cubicBezTo>
                <a:cubicBezTo>
                  <a:pt x="30070" y="5931"/>
                  <a:pt x="30059" y="5939"/>
                  <a:pt x="30049" y="5947"/>
                </a:cubicBezTo>
                <a:cubicBezTo>
                  <a:pt x="30038" y="5954"/>
                  <a:pt x="30026" y="5960"/>
                  <a:pt x="30014" y="5965"/>
                </a:cubicBezTo>
                <a:cubicBezTo>
                  <a:pt x="30002" y="5970"/>
                  <a:pt x="29990" y="5974"/>
                  <a:pt x="29977" y="5976"/>
                </a:cubicBezTo>
                <a:cubicBezTo>
                  <a:pt x="29964" y="5979"/>
                  <a:pt x="29951" y="5980"/>
                  <a:pt x="29938" y="5980"/>
                </a:cubicBezTo>
                <a:lnTo>
                  <a:pt x="198" y="5980"/>
                </a:lnTo>
                <a:cubicBezTo>
                  <a:pt x="185" y="5980"/>
                  <a:pt x="172" y="5979"/>
                  <a:pt x="160" y="5976"/>
                </a:cubicBezTo>
                <a:cubicBezTo>
                  <a:pt x="147" y="5974"/>
                  <a:pt x="134" y="5970"/>
                  <a:pt x="122" y="5965"/>
                </a:cubicBezTo>
                <a:cubicBezTo>
                  <a:pt x="110" y="5960"/>
                  <a:pt x="99" y="5954"/>
                  <a:pt x="88" y="5947"/>
                </a:cubicBezTo>
                <a:cubicBezTo>
                  <a:pt x="77" y="5939"/>
                  <a:pt x="67" y="5931"/>
                  <a:pt x="58" y="5922"/>
                </a:cubicBezTo>
                <a:cubicBezTo>
                  <a:pt x="49" y="5913"/>
                  <a:pt x="40" y="5903"/>
                  <a:pt x="33" y="5892"/>
                </a:cubicBezTo>
                <a:cubicBezTo>
                  <a:pt x="26" y="5881"/>
                  <a:pt x="20" y="5870"/>
                  <a:pt x="15" y="5858"/>
                </a:cubicBezTo>
                <a:cubicBezTo>
                  <a:pt x="10" y="5846"/>
                  <a:pt x="6" y="5833"/>
                  <a:pt x="4" y="5820"/>
                </a:cubicBezTo>
                <a:cubicBezTo>
                  <a:pt x="1" y="5808"/>
                  <a:pt x="0" y="5795"/>
                  <a:pt x="0" y="578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Forma libre 225"/>
          <p:cNvSpPr/>
          <p:nvPr/>
        </p:nvSpPr>
        <p:spPr>
          <a:xfrm>
            <a:off x="671400" y="2681280"/>
            <a:ext cx="10849320" cy="2152800"/>
          </a:xfrm>
          <a:custGeom>
            <a:avLst/>
            <a:gdLst/>
            <a:ahLst/>
            <a:cxnLst/>
            <a:rect l="0" t="0" r="r" b="b"/>
            <a:pathLst>
              <a:path w="30137" h="5980">
                <a:moveTo>
                  <a:pt x="0" y="5782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782"/>
                </a:lnTo>
                <a:cubicBezTo>
                  <a:pt x="30137" y="5795"/>
                  <a:pt x="30136" y="5808"/>
                  <a:pt x="30133" y="5820"/>
                </a:cubicBezTo>
                <a:cubicBezTo>
                  <a:pt x="30130" y="5833"/>
                  <a:pt x="30127" y="5846"/>
                  <a:pt x="30122" y="5858"/>
                </a:cubicBezTo>
                <a:cubicBezTo>
                  <a:pt x="30117" y="5870"/>
                  <a:pt x="30111" y="5881"/>
                  <a:pt x="30103" y="5892"/>
                </a:cubicBezTo>
                <a:cubicBezTo>
                  <a:pt x="30096" y="5903"/>
                  <a:pt x="30088" y="5913"/>
                  <a:pt x="30079" y="5922"/>
                </a:cubicBezTo>
                <a:cubicBezTo>
                  <a:pt x="30070" y="5931"/>
                  <a:pt x="30059" y="5939"/>
                  <a:pt x="30049" y="5947"/>
                </a:cubicBezTo>
                <a:cubicBezTo>
                  <a:pt x="30038" y="5954"/>
                  <a:pt x="30026" y="5960"/>
                  <a:pt x="30014" y="5965"/>
                </a:cubicBezTo>
                <a:cubicBezTo>
                  <a:pt x="30002" y="5970"/>
                  <a:pt x="29990" y="5974"/>
                  <a:pt x="29977" y="5976"/>
                </a:cubicBezTo>
                <a:cubicBezTo>
                  <a:pt x="29964" y="5979"/>
                  <a:pt x="29951" y="5980"/>
                  <a:pt x="29938" y="5980"/>
                </a:cubicBezTo>
                <a:lnTo>
                  <a:pt x="198" y="5980"/>
                </a:lnTo>
                <a:cubicBezTo>
                  <a:pt x="185" y="5980"/>
                  <a:pt x="172" y="5979"/>
                  <a:pt x="160" y="5976"/>
                </a:cubicBezTo>
                <a:cubicBezTo>
                  <a:pt x="147" y="5974"/>
                  <a:pt x="134" y="5970"/>
                  <a:pt x="122" y="5965"/>
                </a:cubicBezTo>
                <a:cubicBezTo>
                  <a:pt x="110" y="5960"/>
                  <a:pt x="99" y="5954"/>
                  <a:pt x="88" y="5947"/>
                </a:cubicBezTo>
                <a:cubicBezTo>
                  <a:pt x="77" y="5939"/>
                  <a:pt x="67" y="5931"/>
                  <a:pt x="58" y="5922"/>
                </a:cubicBezTo>
                <a:cubicBezTo>
                  <a:pt x="49" y="5913"/>
                  <a:pt x="40" y="5903"/>
                  <a:pt x="33" y="5892"/>
                </a:cubicBezTo>
                <a:cubicBezTo>
                  <a:pt x="26" y="5881"/>
                  <a:pt x="20" y="5870"/>
                  <a:pt x="15" y="5858"/>
                </a:cubicBezTo>
                <a:cubicBezTo>
                  <a:pt x="10" y="5846"/>
                  <a:pt x="6" y="5833"/>
                  <a:pt x="4" y="5820"/>
                </a:cubicBezTo>
                <a:cubicBezTo>
                  <a:pt x="1" y="5808"/>
                  <a:pt x="0" y="5795"/>
                  <a:pt x="0" y="578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CuadroTexto 226"/>
          <p:cNvSpPr txBox="1"/>
          <p:nvPr/>
        </p:nvSpPr>
        <p:spPr>
          <a:xfrm>
            <a:off x="666720" y="1539720"/>
            <a:ext cx="40773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 Python, </a:t>
            </a:r>
            <a:r>
              <a:rPr lang="es-ES" sz="2550" b="0" i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todo </a:t>
            </a:r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 un objeto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CuadroTexto 227"/>
          <p:cNvSpPr txBox="1"/>
          <p:nvPr/>
        </p:nvSpPr>
        <p:spPr>
          <a:xfrm>
            <a:off x="666720" y="2220840"/>
            <a:ext cx="10596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entero no es 8 bytes. Es una estructura de C con cabecera, contador de referencias y puntero a su tipo.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CuadroTexto 228"/>
          <p:cNvSpPr txBox="1"/>
          <p:nvPr/>
        </p:nvSpPr>
        <p:spPr>
          <a:xfrm>
            <a:off x="866880" y="2860920"/>
            <a:ext cx="2512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import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sys, numpy </a:t>
            </a:r>
            <a:r>
              <a:rPr lang="es-ES" sz="143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np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CuadroTexto 229"/>
          <p:cNvSpPr txBox="1"/>
          <p:nvPr/>
        </p:nvSpPr>
        <p:spPr>
          <a:xfrm>
            <a:off x="866880" y="3384720"/>
            <a:ext cx="5862182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sys.getsizeof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1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       </a:t>
            </a:r>
            <a:r>
              <a:rPr lang="es-ES" sz="1430" b="0" u="none" strike="noStrike" dirty="0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28 bytes   ← un solo entero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CuadroTexto 230"/>
          <p:cNvSpPr txBox="1"/>
          <p:nvPr/>
        </p:nvSpPr>
        <p:spPr>
          <a:xfrm>
            <a:off x="866880" y="3651480"/>
            <a:ext cx="6083397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sys.getsizeof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      </a:t>
            </a:r>
            <a:r>
              <a:rPr lang="es-ES" sz="1430" b="0" u="none" strike="noStrike" dirty="0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49 bytes   ← una cadena vacía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CuadroTexto 231"/>
          <p:cNvSpPr txBox="1"/>
          <p:nvPr/>
        </p:nvSpPr>
        <p:spPr>
          <a:xfrm>
            <a:off x="866880" y="3908880"/>
            <a:ext cx="6415218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sys.getsizeof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'E11.9'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 </a:t>
            </a:r>
            <a:r>
              <a:rPr lang="es-ES" sz="1430" b="0" u="none" strike="noStrike" dirty="0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54 bytes   ← 5 caracteres útiles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CuadroTexto 232"/>
          <p:cNvSpPr txBox="1"/>
          <p:nvPr/>
        </p:nvSpPr>
        <p:spPr>
          <a:xfrm>
            <a:off x="866880" y="4432680"/>
            <a:ext cx="5309146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np.zeros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1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dtype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=np.int64).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itemsize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</a:t>
            </a:r>
            <a:r>
              <a:rPr lang="es-ES" sz="1430" b="0" u="none" strike="noStrike" dirty="0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8 bytes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Forma libre 233"/>
          <p:cNvSpPr/>
          <p:nvPr/>
        </p:nvSpPr>
        <p:spPr>
          <a:xfrm>
            <a:off x="1037880" y="5047920"/>
            <a:ext cx="467280" cy="267120"/>
          </a:xfrm>
          <a:custGeom>
            <a:avLst/>
            <a:gdLst/>
            <a:ahLst/>
            <a:cxnLst/>
            <a:rect l="0" t="0" r="r" b="b"/>
            <a:pathLst>
              <a:path w="1298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192" y="0"/>
                </a:lnTo>
                <a:cubicBezTo>
                  <a:pt x="1206" y="0"/>
                  <a:pt x="1220" y="3"/>
                  <a:pt x="1233" y="8"/>
                </a:cubicBezTo>
                <a:cubicBezTo>
                  <a:pt x="1246" y="14"/>
                  <a:pt x="1257" y="21"/>
                  <a:pt x="1267" y="31"/>
                </a:cubicBezTo>
                <a:cubicBezTo>
                  <a:pt x="1277" y="41"/>
                  <a:pt x="1284" y="53"/>
                  <a:pt x="1290" y="66"/>
                </a:cubicBezTo>
                <a:cubicBezTo>
                  <a:pt x="1295" y="79"/>
                  <a:pt x="1298" y="92"/>
                  <a:pt x="1298" y="106"/>
                </a:cubicBezTo>
                <a:lnTo>
                  <a:pt x="1298" y="636"/>
                </a:lnTo>
                <a:cubicBezTo>
                  <a:pt x="1298" y="650"/>
                  <a:pt x="1295" y="664"/>
                  <a:pt x="1290" y="677"/>
                </a:cubicBezTo>
                <a:cubicBezTo>
                  <a:pt x="1284" y="690"/>
                  <a:pt x="1277" y="701"/>
                  <a:pt x="1267" y="711"/>
                </a:cubicBezTo>
                <a:cubicBezTo>
                  <a:pt x="1257" y="721"/>
                  <a:pt x="1246" y="729"/>
                  <a:pt x="1233" y="734"/>
                </a:cubicBezTo>
                <a:cubicBezTo>
                  <a:pt x="1220" y="740"/>
                  <a:pt x="1206" y="742"/>
                  <a:pt x="1192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2" y="701"/>
                  <a:pt x="14" y="690"/>
                  <a:pt x="9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CuadroTexto 234"/>
          <p:cNvSpPr txBox="1"/>
          <p:nvPr/>
        </p:nvSpPr>
        <p:spPr>
          <a:xfrm>
            <a:off x="666720" y="5030640"/>
            <a:ext cx="369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CuadroTexto 235"/>
          <p:cNvSpPr txBox="1"/>
          <p:nvPr/>
        </p:nvSpPr>
        <p:spPr>
          <a:xfrm>
            <a:off x="1092600" y="5068080"/>
            <a:ext cx="353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int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CuadroTexto 236"/>
          <p:cNvSpPr txBox="1"/>
          <p:nvPr/>
        </p:nvSpPr>
        <p:spPr>
          <a:xfrm>
            <a:off x="1500840" y="5030640"/>
            <a:ext cx="6964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de Python cuesta 3.5 veces lo que el mismo número en NumPy.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CuadroTexto 23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CuadroTexto 23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CuadroTexto 239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Forma libre 24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Forma libre 2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Forma libre 242"/>
          <p:cNvSpPr/>
          <p:nvPr/>
        </p:nvSpPr>
        <p:spPr>
          <a:xfrm>
            <a:off x="0" y="21420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Forma libre 243"/>
          <p:cNvSpPr/>
          <p:nvPr/>
        </p:nvSpPr>
        <p:spPr>
          <a:xfrm>
            <a:off x="671400" y="189036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4"/>
                  <a:pt x="30127" y="2936"/>
                  <a:pt x="30122" y="2948"/>
                </a:cubicBezTo>
                <a:cubicBezTo>
                  <a:pt x="30117" y="2960"/>
                  <a:pt x="30111" y="2972"/>
                  <a:pt x="30103" y="2982"/>
                </a:cubicBezTo>
                <a:cubicBezTo>
                  <a:pt x="30096" y="2993"/>
                  <a:pt x="30088" y="3003"/>
                  <a:pt x="30079" y="3013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1"/>
                  <a:pt x="30014" y="3056"/>
                </a:cubicBezTo>
                <a:cubicBezTo>
                  <a:pt x="30002" y="3061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1"/>
                  <a:pt x="122" y="3056"/>
                </a:cubicBezTo>
                <a:cubicBezTo>
                  <a:pt x="110" y="3051"/>
                  <a:pt x="99" y="3044"/>
                  <a:pt x="88" y="3037"/>
                </a:cubicBezTo>
                <a:cubicBezTo>
                  <a:pt x="77" y="3030"/>
                  <a:pt x="67" y="3022"/>
                  <a:pt x="58" y="3013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2"/>
                  <a:pt x="20" y="2960"/>
                  <a:pt x="15" y="2948"/>
                </a:cubicBezTo>
                <a:cubicBezTo>
                  <a:pt x="10" y="2936"/>
                  <a:pt x="6" y="2924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Forma libre 244"/>
          <p:cNvSpPr/>
          <p:nvPr/>
        </p:nvSpPr>
        <p:spPr>
          <a:xfrm>
            <a:off x="671400" y="189036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4"/>
                  <a:pt x="30127" y="2936"/>
                  <a:pt x="30122" y="2948"/>
                </a:cubicBezTo>
                <a:cubicBezTo>
                  <a:pt x="30117" y="2960"/>
                  <a:pt x="30111" y="2972"/>
                  <a:pt x="30103" y="2982"/>
                </a:cubicBezTo>
                <a:cubicBezTo>
                  <a:pt x="30096" y="2993"/>
                  <a:pt x="30088" y="3003"/>
                  <a:pt x="30079" y="3013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1"/>
                  <a:pt x="30014" y="3056"/>
                </a:cubicBezTo>
                <a:cubicBezTo>
                  <a:pt x="30002" y="3061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1"/>
                  <a:pt x="122" y="3056"/>
                </a:cubicBezTo>
                <a:cubicBezTo>
                  <a:pt x="110" y="3051"/>
                  <a:pt x="99" y="3044"/>
                  <a:pt x="88" y="3037"/>
                </a:cubicBezTo>
                <a:cubicBezTo>
                  <a:pt x="77" y="3030"/>
                  <a:pt x="67" y="3022"/>
                  <a:pt x="58" y="3013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2"/>
                  <a:pt x="20" y="2960"/>
                  <a:pt x="15" y="2948"/>
                </a:cubicBezTo>
                <a:cubicBezTo>
                  <a:pt x="10" y="2936"/>
                  <a:pt x="6" y="2924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Forma libre 245"/>
          <p:cNvSpPr/>
          <p:nvPr/>
        </p:nvSpPr>
        <p:spPr>
          <a:xfrm>
            <a:off x="676080" y="3162240"/>
            <a:ext cx="1686240" cy="409680"/>
          </a:xfrm>
          <a:custGeom>
            <a:avLst/>
            <a:gdLst/>
            <a:ahLst/>
            <a:cxnLst/>
            <a:rect l="0" t="0" r="r" b="b"/>
            <a:pathLst>
              <a:path w="4684" h="1138">
                <a:moveTo>
                  <a:pt x="0" y="0"/>
                </a:moveTo>
                <a:lnTo>
                  <a:pt x="4684" y="0"/>
                </a:lnTo>
                <a:lnTo>
                  <a:pt x="468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Forma libre 246"/>
          <p:cNvSpPr/>
          <p:nvPr/>
        </p:nvSpPr>
        <p:spPr>
          <a:xfrm>
            <a:off x="2361960" y="3162240"/>
            <a:ext cx="1057680" cy="409680"/>
          </a:xfrm>
          <a:custGeom>
            <a:avLst/>
            <a:gdLst/>
            <a:ahLst/>
            <a:cxnLst/>
            <a:rect l="0" t="0" r="r" b="b"/>
            <a:pathLst>
              <a:path w="2938" h="1138">
                <a:moveTo>
                  <a:pt x="0" y="0"/>
                </a:moveTo>
                <a:lnTo>
                  <a:pt x="2938" y="0"/>
                </a:lnTo>
                <a:lnTo>
                  <a:pt x="293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Forma libre 247"/>
          <p:cNvSpPr/>
          <p:nvPr/>
        </p:nvSpPr>
        <p:spPr>
          <a:xfrm>
            <a:off x="3419280" y="3162240"/>
            <a:ext cx="4210560" cy="409680"/>
          </a:xfrm>
          <a:custGeom>
            <a:avLst/>
            <a:gdLst/>
            <a:ahLst/>
            <a:cxnLst/>
            <a:rect l="0" t="0" r="r" b="b"/>
            <a:pathLst>
              <a:path w="11696" h="1138">
                <a:moveTo>
                  <a:pt x="0" y="0"/>
                </a:moveTo>
                <a:lnTo>
                  <a:pt x="11696" y="0"/>
                </a:lnTo>
                <a:lnTo>
                  <a:pt x="1169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Forma libre 248"/>
          <p:cNvSpPr/>
          <p:nvPr/>
        </p:nvSpPr>
        <p:spPr>
          <a:xfrm>
            <a:off x="676080" y="3162240"/>
            <a:ext cx="1686240" cy="409680"/>
          </a:xfrm>
          <a:custGeom>
            <a:avLst/>
            <a:gdLst/>
            <a:ahLst/>
            <a:cxnLst/>
            <a:rect l="0" t="0" r="r" b="b"/>
            <a:pathLst>
              <a:path w="4684" h="1138">
                <a:moveTo>
                  <a:pt x="0" y="0"/>
                </a:moveTo>
                <a:lnTo>
                  <a:pt x="4684" y="0"/>
                </a:lnTo>
                <a:lnTo>
                  <a:pt x="468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Forma libre 249"/>
          <p:cNvSpPr/>
          <p:nvPr/>
        </p:nvSpPr>
        <p:spPr>
          <a:xfrm>
            <a:off x="2361960" y="3162240"/>
            <a:ext cx="1057680" cy="409680"/>
          </a:xfrm>
          <a:custGeom>
            <a:avLst/>
            <a:gdLst/>
            <a:ahLst/>
            <a:cxnLst/>
            <a:rect l="0" t="0" r="r" b="b"/>
            <a:pathLst>
              <a:path w="2938" h="1138">
                <a:moveTo>
                  <a:pt x="0" y="0"/>
                </a:moveTo>
                <a:lnTo>
                  <a:pt x="2938" y="0"/>
                </a:lnTo>
                <a:lnTo>
                  <a:pt x="293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Forma libre 250"/>
          <p:cNvSpPr/>
          <p:nvPr/>
        </p:nvSpPr>
        <p:spPr>
          <a:xfrm>
            <a:off x="3419280" y="3162240"/>
            <a:ext cx="4210560" cy="409680"/>
          </a:xfrm>
          <a:custGeom>
            <a:avLst/>
            <a:gdLst/>
            <a:ahLst/>
            <a:cxnLst/>
            <a:rect l="0" t="0" r="r" b="b"/>
            <a:pathLst>
              <a:path w="11696" h="1138">
                <a:moveTo>
                  <a:pt x="0" y="0"/>
                </a:moveTo>
                <a:lnTo>
                  <a:pt x="11696" y="0"/>
                </a:lnTo>
                <a:lnTo>
                  <a:pt x="1169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Forma libre 251"/>
          <p:cNvSpPr/>
          <p:nvPr/>
        </p:nvSpPr>
        <p:spPr>
          <a:xfrm>
            <a:off x="676080" y="3571560"/>
            <a:ext cx="1686240" cy="419760"/>
          </a:xfrm>
          <a:custGeom>
            <a:avLst/>
            <a:gdLst/>
            <a:ahLst/>
            <a:cxnLst/>
            <a:rect l="0" t="0" r="r" b="b"/>
            <a:pathLst>
              <a:path w="4684" h="1166">
                <a:moveTo>
                  <a:pt x="0" y="0"/>
                </a:moveTo>
                <a:lnTo>
                  <a:pt x="4684" y="0"/>
                </a:lnTo>
                <a:lnTo>
                  <a:pt x="4684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Forma libre 252"/>
          <p:cNvSpPr/>
          <p:nvPr/>
        </p:nvSpPr>
        <p:spPr>
          <a:xfrm>
            <a:off x="2361960" y="3571560"/>
            <a:ext cx="1057680" cy="419760"/>
          </a:xfrm>
          <a:custGeom>
            <a:avLst/>
            <a:gdLst/>
            <a:ahLst/>
            <a:cxnLst/>
            <a:rect l="0" t="0" r="r" b="b"/>
            <a:pathLst>
              <a:path w="2938" h="1166">
                <a:moveTo>
                  <a:pt x="0" y="0"/>
                </a:moveTo>
                <a:lnTo>
                  <a:pt x="2938" y="0"/>
                </a:lnTo>
                <a:lnTo>
                  <a:pt x="293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Forma libre 253"/>
          <p:cNvSpPr/>
          <p:nvPr/>
        </p:nvSpPr>
        <p:spPr>
          <a:xfrm>
            <a:off x="3419280" y="3571560"/>
            <a:ext cx="4210560" cy="419760"/>
          </a:xfrm>
          <a:custGeom>
            <a:avLst/>
            <a:gdLst/>
            <a:ahLst/>
            <a:cxnLst/>
            <a:rect l="0" t="0" r="r" b="b"/>
            <a:pathLst>
              <a:path w="11696" h="1166">
                <a:moveTo>
                  <a:pt x="0" y="0"/>
                </a:moveTo>
                <a:lnTo>
                  <a:pt x="11696" y="0"/>
                </a:lnTo>
                <a:lnTo>
                  <a:pt x="11696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Forma libre 254"/>
          <p:cNvSpPr/>
          <p:nvPr/>
        </p:nvSpPr>
        <p:spPr>
          <a:xfrm>
            <a:off x="676080" y="3990960"/>
            <a:ext cx="1686240" cy="409680"/>
          </a:xfrm>
          <a:custGeom>
            <a:avLst/>
            <a:gdLst/>
            <a:ahLst/>
            <a:cxnLst/>
            <a:rect l="0" t="0" r="r" b="b"/>
            <a:pathLst>
              <a:path w="4684" h="1138">
                <a:moveTo>
                  <a:pt x="0" y="0"/>
                </a:moveTo>
                <a:lnTo>
                  <a:pt x="4684" y="0"/>
                </a:lnTo>
                <a:lnTo>
                  <a:pt x="468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Forma libre 255"/>
          <p:cNvSpPr/>
          <p:nvPr/>
        </p:nvSpPr>
        <p:spPr>
          <a:xfrm>
            <a:off x="2361960" y="3990960"/>
            <a:ext cx="1057680" cy="409680"/>
          </a:xfrm>
          <a:custGeom>
            <a:avLst/>
            <a:gdLst/>
            <a:ahLst/>
            <a:cxnLst/>
            <a:rect l="0" t="0" r="r" b="b"/>
            <a:pathLst>
              <a:path w="2938" h="1138">
                <a:moveTo>
                  <a:pt x="0" y="0"/>
                </a:moveTo>
                <a:lnTo>
                  <a:pt x="2938" y="0"/>
                </a:lnTo>
                <a:lnTo>
                  <a:pt x="293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Forma libre 256"/>
          <p:cNvSpPr/>
          <p:nvPr/>
        </p:nvSpPr>
        <p:spPr>
          <a:xfrm>
            <a:off x="3419280" y="3990960"/>
            <a:ext cx="4210560" cy="409680"/>
          </a:xfrm>
          <a:custGeom>
            <a:avLst/>
            <a:gdLst/>
            <a:ahLst/>
            <a:cxnLst/>
            <a:rect l="0" t="0" r="r" b="b"/>
            <a:pathLst>
              <a:path w="11696" h="1138">
                <a:moveTo>
                  <a:pt x="0" y="0"/>
                </a:moveTo>
                <a:lnTo>
                  <a:pt x="11696" y="0"/>
                </a:lnTo>
                <a:lnTo>
                  <a:pt x="1169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Forma libre 257"/>
          <p:cNvSpPr/>
          <p:nvPr/>
        </p:nvSpPr>
        <p:spPr>
          <a:xfrm>
            <a:off x="666720" y="3152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Forma libre 258"/>
          <p:cNvSpPr/>
          <p:nvPr/>
        </p:nvSpPr>
        <p:spPr>
          <a:xfrm>
            <a:off x="666720" y="3152520"/>
            <a:ext cx="1695600" cy="10080"/>
          </a:xfrm>
          <a:custGeom>
            <a:avLst/>
            <a:gdLst/>
            <a:ahLst/>
            <a:cxnLst/>
            <a:rect l="0" t="0" r="r" b="b"/>
            <a:pathLst>
              <a:path w="4710" h="28">
                <a:moveTo>
                  <a:pt x="0" y="0"/>
                </a:moveTo>
                <a:lnTo>
                  <a:pt x="4710" y="0"/>
                </a:lnTo>
                <a:lnTo>
                  <a:pt x="47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Forma libre 259"/>
          <p:cNvSpPr/>
          <p:nvPr/>
        </p:nvSpPr>
        <p:spPr>
          <a:xfrm>
            <a:off x="2352600" y="3152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Forma libre 260"/>
          <p:cNvSpPr/>
          <p:nvPr/>
        </p:nvSpPr>
        <p:spPr>
          <a:xfrm>
            <a:off x="2361960" y="3152520"/>
            <a:ext cx="1067040" cy="10080"/>
          </a:xfrm>
          <a:custGeom>
            <a:avLst/>
            <a:gdLst/>
            <a:ahLst/>
            <a:cxnLst/>
            <a:rect l="0" t="0" r="r" b="b"/>
            <a:pathLst>
              <a:path w="2964" h="28">
                <a:moveTo>
                  <a:pt x="0" y="0"/>
                </a:moveTo>
                <a:lnTo>
                  <a:pt x="2964" y="0"/>
                </a:lnTo>
                <a:lnTo>
                  <a:pt x="29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Forma libre 261"/>
          <p:cNvSpPr/>
          <p:nvPr/>
        </p:nvSpPr>
        <p:spPr>
          <a:xfrm>
            <a:off x="3419280" y="3152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Forma libre 262"/>
          <p:cNvSpPr/>
          <p:nvPr/>
        </p:nvSpPr>
        <p:spPr>
          <a:xfrm>
            <a:off x="3428640" y="3152520"/>
            <a:ext cx="4201200" cy="10080"/>
          </a:xfrm>
          <a:custGeom>
            <a:avLst/>
            <a:gdLst/>
            <a:ahLst/>
            <a:cxnLst/>
            <a:rect l="0" t="0" r="r" b="b"/>
            <a:pathLst>
              <a:path w="11670" h="28">
                <a:moveTo>
                  <a:pt x="0" y="0"/>
                </a:moveTo>
                <a:lnTo>
                  <a:pt x="11670" y="0"/>
                </a:lnTo>
                <a:lnTo>
                  <a:pt x="116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Forma libre 263"/>
          <p:cNvSpPr/>
          <p:nvPr/>
        </p:nvSpPr>
        <p:spPr>
          <a:xfrm>
            <a:off x="7619760" y="3152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Forma libre 264"/>
          <p:cNvSpPr/>
          <p:nvPr/>
        </p:nvSpPr>
        <p:spPr>
          <a:xfrm>
            <a:off x="666720" y="3562200"/>
            <a:ext cx="1695600" cy="9720"/>
          </a:xfrm>
          <a:custGeom>
            <a:avLst/>
            <a:gdLst/>
            <a:ahLst/>
            <a:cxnLst/>
            <a:rect l="0" t="0" r="r" b="b"/>
            <a:pathLst>
              <a:path w="4710" h="27">
                <a:moveTo>
                  <a:pt x="0" y="0"/>
                </a:moveTo>
                <a:lnTo>
                  <a:pt x="4710" y="0"/>
                </a:lnTo>
                <a:lnTo>
                  <a:pt x="47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Forma libre 265"/>
          <p:cNvSpPr/>
          <p:nvPr/>
        </p:nvSpPr>
        <p:spPr>
          <a:xfrm>
            <a:off x="2361960" y="3562200"/>
            <a:ext cx="1067040" cy="9720"/>
          </a:xfrm>
          <a:custGeom>
            <a:avLst/>
            <a:gdLst/>
            <a:ahLst/>
            <a:cxn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Forma libre 266"/>
          <p:cNvSpPr/>
          <p:nvPr/>
        </p:nvSpPr>
        <p:spPr>
          <a:xfrm>
            <a:off x="3428640" y="3562200"/>
            <a:ext cx="4201200" cy="9720"/>
          </a:xfrm>
          <a:custGeom>
            <a:avLst/>
            <a:gdLst/>
            <a:ahLst/>
            <a:cxnLst/>
            <a:rect l="0" t="0" r="r" b="b"/>
            <a:pathLst>
              <a:path w="11670" h="27">
                <a:moveTo>
                  <a:pt x="0" y="0"/>
                </a:moveTo>
                <a:lnTo>
                  <a:pt x="11670" y="0"/>
                </a:lnTo>
                <a:lnTo>
                  <a:pt x="116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Forma libre 267"/>
          <p:cNvSpPr/>
          <p:nvPr/>
        </p:nvSpPr>
        <p:spPr>
          <a:xfrm>
            <a:off x="666720" y="35715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Forma libre 268"/>
          <p:cNvSpPr/>
          <p:nvPr/>
        </p:nvSpPr>
        <p:spPr>
          <a:xfrm>
            <a:off x="2352600" y="35715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Forma libre 269"/>
          <p:cNvSpPr/>
          <p:nvPr/>
        </p:nvSpPr>
        <p:spPr>
          <a:xfrm>
            <a:off x="3419280" y="35715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Forma libre 270"/>
          <p:cNvSpPr/>
          <p:nvPr/>
        </p:nvSpPr>
        <p:spPr>
          <a:xfrm>
            <a:off x="7619760" y="357156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Forma libre 271"/>
          <p:cNvSpPr/>
          <p:nvPr/>
        </p:nvSpPr>
        <p:spPr>
          <a:xfrm>
            <a:off x="666720" y="39909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Forma libre 272"/>
          <p:cNvSpPr/>
          <p:nvPr/>
        </p:nvSpPr>
        <p:spPr>
          <a:xfrm>
            <a:off x="666720" y="3981240"/>
            <a:ext cx="1695600" cy="10080"/>
          </a:xfrm>
          <a:custGeom>
            <a:avLst/>
            <a:gdLst/>
            <a:ahLst/>
            <a:cxnLst/>
            <a:rect l="0" t="0" r="r" b="b"/>
            <a:pathLst>
              <a:path w="4710" h="28">
                <a:moveTo>
                  <a:pt x="0" y="0"/>
                </a:moveTo>
                <a:lnTo>
                  <a:pt x="4710" y="0"/>
                </a:lnTo>
                <a:lnTo>
                  <a:pt x="47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Forma libre 273"/>
          <p:cNvSpPr/>
          <p:nvPr/>
        </p:nvSpPr>
        <p:spPr>
          <a:xfrm>
            <a:off x="2352600" y="39909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Forma libre 274"/>
          <p:cNvSpPr/>
          <p:nvPr/>
        </p:nvSpPr>
        <p:spPr>
          <a:xfrm>
            <a:off x="2361960" y="3981240"/>
            <a:ext cx="1067040" cy="10080"/>
          </a:xfrm>
          <a:custGeom>
            <a:avLst/>
            <a:gdLst/>
            <a:ahLst/>
            <a:cxnLst/>
            <a:rect l="0" t="0" r="r" b="b"/>
            <a:pathLst>
              <a:path w="2964" h="28">
                <a:moveTo>
                  <a:pt x="0" y="0"/>
                </a:moveTo>
                <a:lnTo>
                  <a:pt x="2964" y="0"/>
                </a:lnTo>
                <a:lnTo>
                  <a:pt x="29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Forma libre 275"/>
          <p:cNvSpPr/>
          <p:nvPr/>
        </p:nvSpPr>
        <p:spPr>
          <a:xfrm>
            <a:off x="3419280" y="39909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Forma libre 276"/>
          <p:cNvSpPr/>
          <p:nvPr/>
        </p:nvSpPr>
        <p:spPr>
          <a:xfrm>
            <a:off x="3428640" y="3981240"/>
            <a:ext cx="4201200" cy="10080"/>
          </a:xfrm>
          <a:custGeom>
            <a:avLst/>
            <a:gdLst/>
            <a:ahLst/>
            <a:cxnLst/>
            <a:rect l="0" t="0" r="r" b="b"/>
            <a:pathLst>
              <a:path w="11670" h="28">
                <a:moveTo>
                  <a:pt x="0" y="0"/>
                </a:moveTo>
                <a:lnTo>
                  <a:pt x="11670" y="0"/>
                </a:lnTo>
                <a:lnTo>
                  <a:pt x="116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Forma libre 277"/>
          <p:cNvSpPr/>
          <p:nvPr/>
        </p:nvSpPr>
        <p:spPr>
          <a:xfrm>
            <a:off x="7619760" y="399096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Forma libre 278"/>
          <p:cNvSpPr/>
          <p:nvPr/>
        </p:nvSpPr>
        <p:spPr>
          <a:xfrm>
            <a:off x="666720" y="4390920"/>
            <a:ext cx="1695600" cy="9720"/>
          </a:xfrm>
          <a:custGeom>
            <a:avLst/>
            <a:gdLst/>
            <a:ahLst/>
            <a:cxnLst/>
            <a:rect l="0" t="0" r="r" b="b"/>
            <a:pathLst>
              <a:path w="4710" h="27">
                <a:moveTo>
                  <a:pt x="0" y="0"/>
                </a:moveTo>
                <a:lnTo>
                  <a:pt x="4710" y="0"/>
                </a:lnTo>
                <a:lnTo>
                  <a:pt x="47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Forma libre 279"/>
          <p:cNvSpPr/>
          <p:nvPr/>
        </p:nvSpPr>
        <p:spPr>
          <a:xfrm>
            <a:off x="2361960" y="4390920"/>
            <a:ext cx="1067040" cy="9720"/>
          </a:xfrm>
          <a:custGeom>
            <a:avLst/>
            <a:gdLst/>
            <a:ahLst/>
            <a:cxn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Forma libre 280"/>
          <p:cNvSpPr/>
          <p:nvPr/>
        </p:nvSpPr>
        <p:spPr>
          <a:xfrm>
            <a:off x="3428640" y="4390920"/>
            <a:ext cx="4201200" cy="9720"/>
          </a:xfrm>
          <a:custGeom>
            <a:avLst/>
            <a:gdLst/>
            <a:ahLst/>
            <a:cxnLst/>
            <a:rect l="0" t="0" r="r" b="b"/>
            <a:pathLst>
              <a:path w="11670" h="27">
                <a:moveTo>
                  <a:pt x="0" y="0"/>
                </a:moveTo>
                <a:lnTo>
                  <a:pt x="11670" y="0"/>
                </a:lnTo>
                <a:lnTo>
                  <a:pt x="116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Forma libre 281"/>
          <p:cNvSpPr/>
          <p:nvPr/>
        </p:nvSpPr>
        <p:spPr>
          <a:xfrm>
            <a:off x="690480" y="4552920"/>
            <a:ext cx="10834920" cy="1067040"/>
          </a:xfrm>
          <a:custGeom>
            <a:avLst/>
            <a:gdLst/>
            <a:ahLst/>
            <a:cxnLst/>
            <a:rect l="0" t="0" r="r" b="b"/>
            <a:pathLst>
              <a:path w="30097" h="2964">
                <a:moveTo>
                  <a:pt x="0" y="2964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6"/>
                </a:cubicBezTo>
                <a:cubicBezTo>
                  <a:pt x="30035" y="32"/>
                  <a:pt x="30043" y="39"/>
                  <a:pt x="30051" y="46"/>
                </a:cubicBezTo>
                <a:cubicBezTo>
                  <a:pt x="30058" y="53"/>
                  <a:pt x="30065" y="61"/>
                  <a:pt x="30070" y="70"/>
                </a:cubicBezTo>
                <a:cubicBezTo>
                  <a:pt x="30076" y="79"/>
                  <a:pt x="30081" y="88"/>
                  <a:pt x="30085" y="98"/>
                </a:cubicBezTo>
                <a:cubicBezTo>
                  <a:pt x="30089" y="107"/>
                  <a:pt x="30092" y="117"/>
                  <a:pt x="30094" y="127"/>
                </a:cubicBezTo>
                <a:cubicBezTo>
                  <a:pt x="30096" y="138"/>
                  <a:pt x="30097" y="148"/>
                  <a:pt x="30097" y="158"/>
                </a:cubicBezTo>
                <a:lnTo>
                  <a:pt x="30097" y="2805"/>
                </a:lnTo>
                <a:cubicBezTo>
                  <a:pt x="30097" y="2816"/>
                  <a:pt x="30096" y="2826"/>
                  <a:pt x="30094" y="2836"/>
                </a:cubicBezTo>
                <a:cubicBezTo>
                  <a:pt x="30092" y="2846"/>
                  <a:pt x="30089" y="2856"/>
                  <a:pt x="30085" y="2866"/>
                </a:cubicBezTo>
                <a:cubicBezTo>
                  <a:pt x="30081" y="2876"/>
                  <a:pt x="30076" y="2885"/>
                  <a:pt x="30070" y="2893"/>
                </a:cubicBezTo>
                <a:cubicBezTo>
                  <a:pt x="30065" y="2902"/>
                  <a:pt x="30058" y="2910"/>
                  <a:pt x="30051" y="2917"/>
                </a:cubicBezTo>
                <a:cubicBezTo>
                  <a:pt x="30043" y="2925"/>
                  <a:pt x="30035" y="2931"/>
                  <a:pt x="30027" y="2937"/>
                </a:cubicBezTo>
                <a:cubicBezTo>
                  <a:pt x="30018" y="2943"/>
                  <a:pt x="30009" y="2948"/>
                  <a:pt x="29999" y="2952"/>
                </a:cubicBezTo>
                <a:cubicBezTo>
                  <a:pt x="29989" y="2956"/>
                  <a:pt x="29980" y="2959"/>
                  <a:pt x="29969" y="2961"/>
                </a:cubicBezTo>
                <a:cubicBezTo>
                  <a:pt x="29959" y="2963"/>
                  <a:pt x="29949" y="2964"/>
                  <a:pt x="29938" y="2964"/>
                </a:cubicBezTo>
                <a:lnTo>
                  <a:pt x="0" y="2964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Forma libre 282"/>
          <p:cNvSpPr/>
          <p:nvPr/>
        </p:nvSpPr>
        <p:spPr>
          <a:xfrm>
            <a:off x="666720" y="4552920"/>
            <a:ext cx="47880" cy="1067040"/>
          </a:xfrm>
          <a:custGeom>
            <a:avLst/>
            <a:gdLst/>
            <a:ahLst/>
            <a:cxnLst/>
            <a:rect l="0" t="0" r="r" b="b"/>
            <a:pathLst>
              <a:path w="133" h="2964">
                <a:moveTo>
                  <a:pt x="0" y="0"/>
                </a:moveTo>
                <a:lnTo>
                  <a:pt x="133" y="0"/>
                </a:lnTo>
                <a:lnTo>
                  <a:pt x="133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CuadroTexto 283"/>
          <p:cNvSpPr txBox="1"/>
          <p:nvPr/>
        </p:nvSpPr>
        <p:spPr>
          <a:xfrm>
            <a:off x="666720" y="1253880"/>
            <a:ext cx="4630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costo se multiplica al acumular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CuadroTexto 284"/>
          <p:cNvSpPr txBox="1"/>
          <p:nvPr/>
        </p:nvSpPr>
        <p:spPr>
          <a:xfrm>
            <a:off x="866880" y="2070360"/>
            <a:ext cx="1420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N = </a:t>
            </a:r>
            <a:r>
              <a:rPr lang="es-ES" sz="1430" b="0" u="none" strike="noStrike" dirty="0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1_000_000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CuadroTexto 285"/>
          <p:cNvSpPr txBox="1"/>
          <p:nvPr/>
        </p:nvSpPr>
        <p:spPr>
          <a:xfrm>
            <a:off x="866880" y="2337120"/>
            <a:ext cx="5022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lista = </a:t>
            </a:r>
            <a:r>
              <a:rPr lang="es-ES" sz="1430" b="0" u="none" strike="noStrik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list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range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(N))                </a:t>
            </a:r>
            <a:r>
              <a:rPr lang="es-ES" sz="143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~36 MB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CuadroTexto 286"/>
          <p:cNvSpPr txBox="1"/>
          <p:nvPr/>
        </p:nvSpPr>
        <p:spPr>
          <a:xfrm>
            <a:off x="866880" y="2594160"/>
            <a:ext cx="4977325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arreglo =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np.arange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(N,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dtype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'int64'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</a:t>
            </a:r>
            <a:r>
              <a:rPr lang="es-ES" sz="1430" b="0" u="none" strike="noStrike" dirty="0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~8 MB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CuadroTexto 287"/>
          <p:cNvSpPr txBox="1"/>
          <p:nvPr/>
        </p:nvSpPr>
        <p:spPr>
          <a:xfrm>
            <a:off x="799920" y="3257280"/>
            <a:ext cx="1436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Representación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CuadroTexto 288"/>
          <p:cNvSpPr txBox="1"/>
          <p:nvPr/>
        </p:nvSpPr>
        <p:spPr>
          <a:xfrm>
            <a:off x="2489760" y="3257280"/>
            <a:ext cx="804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Memoria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Forma libre 289"/>
          <p:cNvSpPr/>
          <p:nvPr/>
        </p:nvSpPr>
        <p:spPr>
          <a:xfrm>
            <a:off x="799920" y="3676320"/>
            <a:ext cx="505080" cy="228960"/>
          </a:xfrm>
          <a:custGeom>
            <a:avLst/>
            <a:gdLst/>
            <a:ahLst/>
            <a:cxnLst/>
            <a:rect l="0" t="0" r="r" b="b"/>
            <a:pathLst>
              <a:path w="1403" h="636">
                <a:moveTo>
                  <a:pt x="0" y="531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297" y="0"/>
                </a:lnTo>
                <a:cubicBezTo>
                  <a:pt x="1311" y="0"/>
                  <a:pt x="1325" y="3"/>
                  <a:pt x="1338" y="8"/>
                </a:cubicBezTo>
                <a:cubicBezTo>
                  <a:pt x="1351" y="14"/>
                  <a:pt x="1362" y="21"/>
                  <a:pt x="1372" y="31"/>
                </a:cubicBezTo>
                <a:cubicBezTo>
                  <a:pt x="1382" y="41"/>
                  <a:pt x="1390" y="53"/>
                  <a:pt x="1395" y="66"/>
                </a:cubicBezTo>
                <a:cubicBezTo>
                  <a:pt x="1401" y="79"/>
                  <a:pt x="1403" y="92"/>
                  <a:pt x="1403" y="106"/>
                </a:cubicBezTo>
                <a:lnTo>
                  <a:pt x="1403" y="531"/>
                </a:lnTo>
                <a:cubicBezTo>
                  <a:pt x="1403" y="545"/>
                  <a:pt x="1401" y="558"/>
                  <a:pt x="1395" y="571"/>
                </a:cubicBezTo>
                <a:cubicBezTo>
                  <a:pt x="1390" y="584"/>
                  <a:pt x="1382" y="595"/>
                  <a:pt x="1372" y="605"/>
                </a:cubicBezTo>
                <a:cubicBezTo>
                  <a:pt x="1362" y="615"/>
                  <a:pt x="1351" y="623"/>
                  <a:pt x="1338" y="628"/>
                </a:cubicBezTo>
                <a:cubicBezTo>
                  <a:pt x="1325" y="634"/>
                  <a:pt x="1311" y="636"/>
                  <a:pt x="1297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5"/>
                  <a:pt x="0" y="531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CuadroTexto 290"/>
          <p:cNvSpPr txBox="1"/>
          <p:nvPr/>
        </p:nvSpPr>
        <p:spPr>
          <a:xfrm>
            <a:off x="5169240" y="3257280"/>
            <a:ext cx="709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Por qué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CuadroTexto 291"/>
          <p:cNvSpPr txBox="1"/>
          <p:nvPr/>
        </p:nvSpPr>
        <p:spPr>
          <a:xfrm>
            <a:off x="857160" y="3697920"/>
            <a:ext cx="38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list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CuadroTexto 292"/>
          <p:cNvSpPr txBox="1"/>
          <p:nvPr/>
        </p:nvSpPr>
        <p:spPr>
          <a:xfrm>
            <a:off x="1304640" y="3666600"/>
            <a:ext cx="9288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enteros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CuadroTexto 293"/>
          <p:cNvSpPr txBox="1"/>
          <p:nvPr/>
        </p:nvSpPr>
        <p:spPr>
          <a:xfrm>
            <a:off x="2630880" y="3666600"/>
            <a:ext cx="663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~36 MB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Forma libre 294"/>
          <p:cNvSpPr/>
          <p:nvPr/>
        </p:nvSpPr>
        <p:spPr>
          <a:xfrm>
            <a:off x="799920" y="4086000"/>
            <a:ext cx="895680" cy="228960"/>
          </a:xfrm>
          <a:custGeom>
            <a:avLst/>
            <a:gdLst/>
            <a:ahLst/>
            <a:cxnLst/>
            <a:rect l="0" t="0" r="r" b="b"/>
            <a:pathLst>
              <a:path w="2488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382" y="0"/>
                </a:lnTo>
                <a:cubicBezTo>
                  <a:pt x="2396" y="0"/>
                  <a:pt x="2410" y="3"/>
                  <a:pt x="2423" y="8"/>
                </a:cubicBezTo>
                <a:cubicBezTo>
                  <a:pt x="2436" y="14"/>
                  <a:pt x="2447" y="21"/>
                  <a:pt x="2457" y="31"/>
                </a:cubicBezTo>
                <a:cubicBezTo>
                  <a:pt x="2467" y="41"/>
                  <a:pt x="2475" y="52"/>
                  <a:pt x="2480" y="65"/>
                </a:cubicBezTo>
                <a:cubicBezTo>
                  <a:pt x="2485" y="78"/>
                  <a:pt x="2488" y="92"/>
                  <a:pt x="2488" y="106"/>
                </a:cubicBezTo>
                <a:lnTo>
                  <a:pt x="2488" y="530"/>
                </a:lnTo>
                <a:cubicBezTo>
                  <a:pt x="2488" y="544"/>
                  <a:pt x="2485" y="558"/>
                  <a:pt x="2480" y="571"/>
                </a:cubicBezTo>
                <a:cubicBezTo>
                  <a:pt x="2475" y="584"/>
                  <a:pt x="2467" y="595"/>
                  <a:pt x="2457" y="605"/>
                </a:cubicBezTo>
                <a:cubicBezTo>
                  <a:pt x="2447" y="615"/>
                  <a:pt x="2436" y="623"/>
                  <a:pt x="2423" y="628"/>
                </a:cubicBezTo>
                <a:cubicBezTo>
                  <a:pt x="2410" y="633"/>
                  <a:pt x="2396" y="636"/>
                  <a:pt x="2382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CuadroTexto 295"/>
          <p:cNvSpPr txBox="1"/>
          <p:nvPr/>
        </p:nvSpPr>
        <p:spPr>
          <a:xfrm>
            <a:off x="3550680" y="3666600"/>
            <a:ext cx="3950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 B de puntero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+ 28 B del objeto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por elemento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CuadroTexto 296"/>
          <p:cNvSpPr txBox="1"/>
          <p:nvPr/>
        </p:nvSpPr>
        <p:spPr>
          <a:xfrm>
            <a:off x="857160" y="4107240"/>
            <a:ext cx="778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np.array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CuadroTexto 297"/>
          <p:cNvSpPr txBox="1"/>
          <p:nvPr/>
        </p:nvSpPr>
        <p:spPr>
          <a:xfrm>
            <a:off x="1694520" y="4076280"/>
            <a:ext cx="459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int64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CuadroTexto 298"/>
          <p:cNvSpPr txBox="1"/>
          <p:nvPr/>
        </p:nvSpPr>
        <p:spPr>
          <a:xfrm>
            <a:off x="2850840" y="4076280"/>
            <a:ext cx="443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 MB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CuadroTexto 299"/>
          <p:cNvSpPr txBox="1"/>
          <p:nvPr/>
        </p:nvSpPr>
        <p:spPr>
          <a:xfrm>
            <a:off x="3550680" y="4076280"/>
            <a:ext cx="2135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 B contiguos, sin objetos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Forma libre 300"/>
          <p:cNvSpPr/>
          <p:nvPr/>
        </p:nvSpPr>
        <p:spPr>
          <a:xfrm>
            <a:off x="6715080" y="4724280"/>
            <a:ext cx="819360" cy="267120"/>
          </a:xfrm>
          <a:custGeom>
            <a:avLst/>
            <a:gdLst/>
            <a:ahLst/>
            <a:cxnLst/>
            <a:rect l="0" t="0" r="r" b="b"/>
            <a:pathLst>
              <a:path w="227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170" y="0"/>
                </a:lnTo>
                <a:cubicBezTo>
                  <a:pt x="2184" y="0"/>
                  <a:pt x="2198" y="3"/>
                  <a:pt x="2211" y="8"/>
                </a:cubicBezTo>
                <a:cubicBezTo>
                  <a:pt x="2224" y="13"/>
                  <a:pt x="2235" y="21"/>
                  <a:pt x="2245" y="31"/>
                </a:cubicBezTo>
                <a:cubicBezTo>
                  <a:pt x="2255" y="41"/>
                  <a:pt x="2263" y="52"/>
                  <a:pt x="2268" y="65"/>
                </a:cubicBezTo>
                <a:cubicBezTo>
                  <a:pt x="2273" y="78"/>
                  <a:pt x="2276" y="92"/>
                  <a:pt x="2276" y="106"/>
                </a:cubicBezTo>
                <a:lnTo>
                  <a:pt x="2276" y="636"/>
                </a:lnTo>
                <a:cubicBezTo>
                  <a:pt x="2276" y="650"/>
                  <a:pt x="2273" y="663"/>
                  <a:pt x="2268" y="676"/>
                </a:cubicBezTo>
                <a:cubicBezTo>
                  <a:pt x="2263" y="689"/>
                  <a:pt x="2255" y="701"/>
                  <a:pt x="2245" y="711"/>
                </a:cubicBezTo>
                <a:cubicBezTo>
                  <a:pt x="2235" y="721"/>
                  <a:pt x="2224" y="728"/>
                  <a:pt x="2211" y="734"/>
                </a:cubicBezTo>
                <a:cubicBezTo>
                  <a:pt x="2198" y="739"/>
                  <a:pt x="2184" y="742"/>
                  <a:pt x="2170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CuadroTexto 301"/>
          <p:cNvSpPr txBox="1"/>
          <p:nvPr/>
        </p:nvSpPr>
        <p:spPr>
          <a:xfrm>
            <a:off x="885960" y="4706640"/>
            <a:ext cx="5848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 cadenas es peor. Una columna de códigos ICD-10 en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CuadroTexto 302"/>
          <p:cNvSpPr txBox="1"/>
          <p:nvPr/>
        </p:nvSpPr>
        <p:spPr>
          <a:xfrm>
            <a:off x="6852960" y="4736406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object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Forma libre 303"/>
          <p:cNvSpPr/>
          <p:nvPr/>
        </p:nvSpPr>
        <p:spPr>
          <a:xfrm>
            <a:off x="9324720" y="4724280"/>
            <a:ext cx="467280" cy="267120"/>
          </a:xfrm>
          <a:custGeom>
            <a:avLst/>
            <a:gdLst/>
            <a:ahLst/>
            <a:cxnLst/>
            <a:rect l="0" t="0" r="r" b="b"/>
            <a:pathLst>
              <a:path w="1298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192" y="0"/>
                </a:lnTo>
                <a:cubicBezTo>
                  <a:pt x="1206" y="0"/>
                  <a:pt x="1219" y="3"/>
                  <a:pt x="1232" y="8"/>
                </a:cubicBezTo>
                <a:cubicBezTo>
                  <a:pt x="1245" y="13"/>
                  <a:pt x="1257" y="21"/>
                  <a:pt x="1267" y="31"/>
                </a:cubicBezTo>
                <a:cubicBezTo>
                  <a:pt x="1277" y="41"/>
                  <a:pt x="1284" y="52"/>
                  <a:pt x="1290" y="65"/>
                </a:cubicBezTo>
                <a:cubicBezTo>
                  <a:pt x="1295" y="78"/>
                  <a:pt x="1298" y="92"/>
                  <a:pt x="1298" y="106"/>
                </a:cubicBezTo>
                <a:lnTo>
                  <a:pt x="1298" y="636"/>
                </a:lnTo>
                <a:cubicBezTo>
                  <a:pt x="1298" y="650"/>
                  <a:pt x="1295" y="663"/>
                  <a:pt x="1290" y="676"/>
                </a:cubicBezTo>
                <a:cubicBezTo>
                  <a:pt x="1284" y="689"/>
                  <a:pt x="1277" y="701"/>
                  <a:pt x="1267" y="711"/>
                </a:cubicBezTo>
                <a:cubicBezTo>
                  <a:pt x="1257" y="721"/>
                  <a:pt x="1245" y="728"/>
                  <a:pt x="1232" y="734"/>
                </a:cubicBezTo>
                <a:cubicBezTo>
                  <a:pt x="1219" y="739"/>
                  <a:pt x="1206" y="742"/>
                  <a:pt x="1192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CuadroTexto 304"/>
          <p:cNvSpPr txBox="1"/>
          <p:nvPr/>
        </p:nvSpPr>
        <p:spPr>
          <a:xfrm>
            <a:off x="7529400" y="4706640"/>
            <a:ext cx="1804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guarda un objeto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CuadroTexto 305"/>
          <p:cNvSpPr txBox="1"/>
          <p:nvPr/>
        </p:nvSpPr>
        <p:spPr>
          <a:xfrm>
            <a:off x="9386640" y="4744080"/>
            <a:ext cx="353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str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CuadroTexto 306"/>
          <p:cNvSpPr txBox="1"/>
          <p:nvPr/>
        </p:nvSpPr>
        <p:spPr>
          <a:xfrm>
            <a:off x="9794880" y="4706640"/>
            <a:ext cx="1452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independiente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CuadroTexto 307"/>
          <p:cNvSpPr txBox="1"/>
          <p:nvPr/>
        </p:nvSpPr>
        <p:spPr>
          <a:xfrm>
            <a:off x="885960" y="5049720"/>
            <a:ext cx="5834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por cada ﬁla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aunque sólo existan cinco códigos distintos.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CuadroTexto 30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CuadroTexto 30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CuadroTexto 310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Forma libre 31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Forma libre 31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Forma libre 3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Forma libre 314"/>
          <p:cNvSpPr/>
          <p:nvPr/>
        </p:nvSpPr>
        <p:spPr>
          <a:xfrm>
            <a:off x="666720" y="212400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Forma libre 315"/>
          <p:cNvSpPr/>
          <p:nvPr/>
        </p:nvSpPr>
        <p:spPr>
          <a:xfrm>
            <a:off x="666720" y="212400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CuadroTexto 316"/>
          <p:cNvSpPr txBox="1"/>
          <p:nvPr/>
        </p:nvSpPr>
        <p:spPr>
          <a:xfrm>
            <a:off x="666720" y="1491840"/>
            <a:ext cx="30340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regla de los 5–10×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CuadroTexto 317"/>
          <p:cNvSpPr txBox="1"/>
          <p:nvPr/>
        </p:nvSpPr>
        <p:spPr>
          <a:xfrm>
            <a:off x="905040" y="2278080"/>
            <a:ext cx="6488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Un CSV de 2 GB puede necesitar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10–20 GB de RAM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en pandas.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Forma libre 318"/>
          <p:cNvSpPr/>
          <p:nvPr/>
        </p:nvSpPr>
        <p:spPr>
          <a:xfrm>
            <a:off x="914040" y="34956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Forma libre 319"/>
          <p:cNvSpPr/>
          <p:nvPr/>
        </p:nvSpPr>
        <p:spPr>
          <a:xfrm>
            <a:off x="1123920" y="3400200"/>
            <a:ext cx="819360" cy="267120"/>
          </a:xfrm>
          <a:custGeom>
            <a:avLst/>
            <a:gdLst/>
            <a:ahLst/>
            <a:cxnLst/>
            <a:rect l="0" t="0" r="r" b="b"/>
            <a:pathLst>
              <a:path w="227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170" y="0"/>
                </a:lnTo>
                <a:cubicBezTo>
                  <a:pt x="2184" y="0"/>
                  <a:pt x="2198" y="3"/>
                  <a:pt x="2211" y="8"/>
                </a:cubicBezTo>
                <a:cubicBezTo>
                  <a:pt x="2224" y="14"/>
                  <a:pt x="2235" y="21"/>
                  <a:pt x="2245" y="31"/>
                </a:cubicBezTo>
                <a:cubicBezTo>
                  <a:pt x="2255" y="41"/>
                  <a:pt x="2263" y="52"/>
                  <a:pt x="2268" y="65"/>
                </a:cubicBezTo>
                <a:cubicBezTo>
                  <a:pt x="2273" y="78"/>
                  <a:pt x="2276" y="92"/>
                  <a:pt x="2276" y="106"/>
                </a:cubicBezTo>
                <a:lnTo>
                  <a:pt x="2276" y="636"/>
                </a:lnTo>
                <a:cubicBezTo>
                  <a:pt x="2276" y="650"/>
                  <a:pt x="2273" y="664"/>
                  <a:pt x="2268" y="677"/>
                </a:cubicBezTo>
                <a:cubicBezTo>
                  <a:pt x="2263" y="690"/>
                  <a:pt x="2255" y="701"/>
                  <a:pt x="2245" y="711"/>
                </a:cubicBezTo>
                <a:cubicBezTo>
                  <a:pt x="2235" y="721"/>
                  <a:pt x="2224" y="729"/>
                  <a:pt x="2211" y="734"/>
                </a:cubicBezTo>
                <a:cubicBezTo>
                  <a:pt x="2198" y="739"/>
                  <a:pt x="2184" y="742"/>
                  <a:pt x="2170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CuadroTexto 320"/>
          <p:cNvSpPr txBox="1"/>
          <p:nvPr/>
        </p:nvSpPr>
        <p:spPr>
          <a:xfrm>
            <a:off x="666720" y="2887560"/>
            <a:ext cx="843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Por qué: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CuadroTexto 321"/>
          <p:cNvSpPr txBox="1"/>
          <p:nvPr/>
        </p:nvSpPr>
        <p:spPr>
          <a:xfrm>
            <a:off x="1181160" y="342000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object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Forma libre 322"/>
          <p:cNvSpPr/>
          <p:nvPr/>
        </p:nvSpPr>
        <p:spPr>
          <a:xfrm>
            <a:off x="3781080" y="3400200"/>
            <a:ext cx="1048320" cy="267120"/>
          </a:xfrm>
          <a:custGeom>
            <a:avLst/>
            <a:gdLst/>
            <a:ahLst/>
            <a:cxnLst/>
            <a:rect l="0" t="0" r="r" b="b"/>
            <a:pathLst>
              <a:path w="291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806" y="0"/>
                </a:lnTo>
                <a:cubicBezTo>
                  <a:pt x="2820" y="0"/>
                  <a:pt x="2834" y="3"/>
                  <a:pt x="2847" y="8"/>
                </a:cubicBezTo>
                <a:cubicBezTo>
                  <a:pt x="2860" y="14"/>
                  <a:pt x="2871" y="21"/>
                  <a:pt x="2881" y="31"/>
                </a:cubicBezTo>
                <a:cubicBezTo>
                  <a:pt x="2891" y="41"/>
                  <a:pt x="2898" y="52"/>
                  <a:pt x="2904" y="65"/>
                </a:cubicBezTo>
                <a:cubicBezTo>
                  <a:pt x="2909" y="78"/>
                  <a:pt x="2912" y="92"/>
                  <a:pt x="2912" y="106"/>
                </a:cubicBezTo>
                <a:lnTo>
                  <a:pt x="2912" y="636"/>
                </a:lnTo>
                <a:cubicBezTo>
                  <a:pt x="2912" y="650"/>
                  <a:pt x="2909" y="664"/>
                  <a:pt x="2904" y="677"/>
                </a:cubicBezTo>
                <a:cubicBezTo>
                  <a:pt x="2898" y="690"/>
                  <a:pt x="2891" y="701"/>
                  <a:pt x="2881" y="711"/>
                </a:cubicBezTo>
                <a:cubicBezTo>
                  <a:pt x="2871" y="721"/>
                  <a:pt x="2860" y="729"/>
                  <a:pt x="2847" y="734"/>
                </a:cubicBezTo>
                <a:cubicBezTo>
                  <a:pt x="2834" y="739"/>
                  <a:pt x="2820" y="742"/>
                  <a:pt x="2806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2" y="701"/>
                  <a:pt x="14" y="690"/>
                  <a:pt x="9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CuadroTexto 323"/>
          <p:cNvSpPr txBox="1"/>
          <p:nvPr/>
        </p:nvSpPr>
        <p:spPr>
          <a:xfrm>
            <a:off x="1940400" y="3382920"/>
            <a:ext cx="1842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para cadenas: un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CuadroTexto 324"/>
          <p:cNvSpPr txBox="1"/>
          <p:nvPr/>
        </p:nvSpPr>
        <p:spPr>
          <a:xfrm>
            <a:off x="3839760" y="342000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PyObject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Forma libre 325"/>
          <p:cNvSpPr/>
          <p:nvPr/>
        </p:nvSpPr>
        <p:spPr>
          <a:xfrm>
            <a:off x="914040" y="38955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CuadroTexto 326"/>
          <p:cNvSpPr txBox="1"/>
          <p:nvPr/>
        </p:nvSpPr>
        <p:spPr>
          <a:xfrm>
            <a:off x="4833000" y="3382920"/>
            <a:ext cx="987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por celda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Forma libre 327"/>
          <p:cNvSpPr/>
          <p:nvPr/>
        </p:nvSpPr>
        <p:spPr>
          <a:xfrm>
            <a:off x="5305320" y="3800160"/>
            <a:ext cx="705240" cy="267120"/>
          </a:xfrm>
          <a:custGeom>
            <a:avLst/>
            <a:gdLst/>
            <a:ahLst/>
            <a:cxnLst/>
            <a:rect l="0" t="0" r="r" b="b"/>
            <a:pathLst>
              <a:path w="195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852" y="0"/>
                </a:lnTo>
                <a:cubicBezTo>
                  <a:pt x="1866" y="0"/>
                  <a:pt x="1879" y="3"/>
                  <a:pt x="1892" y="8"/>
                </a:cubicBezTo>
                <a:cubicBezTo>
                  <a:pt x="1906" y="14"/>
                  <a:pt x="1918" y="21"/>
                  <a:pt x="1928" y="31"/>
                </a:cubicBezTo>
                <a:cubicBezTo>
                  <a:pt x="1938" y="41"/>
                  <a:pt x="1945" y="53"/>
                  <a:pt x="1951" y="66"/>
                </a:cubicBezTo>
                <a:cubicBezTo>
                  <a:pt x="1956" y="79"/>
                  <a:pt x="1959" y="92"/>
                  <a:pt x="1959" y="106"/>
                </a:cubicBezTo>
                <a:lnTo>
                  <a:pt x="1959" y="636"/>
                </a:lnTo>
                <a:cubicBezTo>
                  <a:pt x="1959" y="650"/>
                  <a:pt x="1956" y="664"/>
                  <a:pt x="1951" y="677"/>
                </a:cubicBezTo>
                <a:cubicBezTo>
                  <a:pt x="1945" y="690"/>
                  <a:pt x="1938" y="701"/>
                  <a:pt x="1928" y="711"/>
                </a:cubicBezTo>
                <a:cubicBezTo>
                  <a:pt x="1918" y="721"/>
                  <a:pt x="1906" y="729"/>
                  <a:pt x="1892" y="734"/>
                </a:cubicBezTo>
                <a:cubicBezTo>
                  <a:pt x="1879" y="740"/>
                  <a:pt x="1866" y="742"/>
                  <a:pt x="1852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CuadroTexto 328"/>
          <p:cNvSpPr txBox="1"/>
          <p:nvPr/>
        </p:nvSpPr>
        <p:spPr>
          <a:xfrm>
            <a:off x="1123920" y="3782880"/>
            <a:ext cx="4184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pandas copia en muchas operaciones (un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CuadroTexto 329"/>
          <p:cNvSpPr txBox="1"/>
          <p:nvPr/>
        </p:nvSpPr>
        <p:spPr>
          <a:xfrm>
            <a:off x="5365080" y="382032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merge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Forma libre 330"/>
          <p:cNvSpPr/>
          <p:nvPr/>
        </p:nvSpPr>
        <p:spPr>
          <a:xfrm>
            <a:off x="914040" y="42955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8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8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CuadroTexto 331"/>
          <p:cNvSpPr txBox="1"/>
          <p:nvPr/>
        </p:nvSpPr>
        <p:spPr>
          <a:xfrm>
            <a:off x="6007320" y="3782880"/>
            <a:ext cx="2770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duplica el pico de memoria)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Forma libre 332"/>
          <p:cNvSpPr/>
          <p:nvPr/>
        </p:nvSpPr>
        <p:spPr>
          <a:xfrm>
            <a:off x="914040" y="46954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CuadroTexto 333"/>
          <p:cNvSpPr txBox="1"/>
          <p:nvPr/>
        </p:nvSpPr>
        <p:spPr>
          <a:xfrm>
            <a:off x="1123920" y="4182840"/>
            <a:ext cx="3976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Los índices intermedios también ocupan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CuadroTexto 334"/>
          <p:cNvSpPr txBox="1"/>
          <p:nvPr/>
        </p:nvSpPr>
        <p:spPr>
          <a:xfrm>
            <a:off x="1123920" y="4582800"/>
            <a:ext cx="7288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 hay evaluación diferida: cada paso materializa un DataFrame completo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CuadroTexto 335"/>
          <p:cNvSpPr txBox="1"/>
          <p:nvPr/>
        </p:nvSpPr>
        <p:spPr>
          <a:xfrm>
            <a:off x="666720" y="5100120"/>
            <a:ext cx="6865920" cy="24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62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 el propio Wes </a:t>
            </a:r>
            <a:r>
              <a:rPr lang="es-ES" sz="162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McKinney</a:t>
            </a:r>
            <a:r>
              <a:rPr lang="es-ES" sz="162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creador de pandas, quien documentó esta regla.</a:t>
            </a:r>
            <a:endParaRPr lang="es-ES" sz="16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CuadroTexto 33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CuadroTexto 33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CuadroTexto 33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Forma libre 3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Forma libre 34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Forma libre 3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Forma libre 342"/>
          <p:cNvSpPr/>
          <p:nvPr/>
        </p:nvSpPr>
        <p:spPr>
          <a:xfrm>
            <a:off x="666720" y="436212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Forma libre 343"/>
          <p:cNvSpPr/>
          <p:nvPr/>
        </p:nvSpPr>
        <p:spPr>
          <a:xfrm>
            <a:off x="666720" y="436212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CuadroTexto 344"/>
          <p:cNvSpPr txBox="1"/>
          <p:nvPr/>
        </p:nvSpPr>
        <p:spPr>
          <a:xfrm>
            <a:off x="666720" y="1939680"/>
            <a:ext cx="22856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Y encima, el GIL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Forma libre 345"/>
          <p:cNvSpPr/>
          <p:nvPr/>
        </p:nvSpPr>
        <p:spPr>
          <a:xfrm>
            <a:off x="914040" y="32191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CuadroTexto 346"/>
          <p:cNvSpPr txBox="1"/>
          <p:nvPr/>
        </p:nvSpPr>
        <p:spPr>
          <a:xfrm>
            <a:off x="666720" y="2611440"/>
            <a:ext cx="7457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Global Interpreter Lock: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un solo hilo ejecuta bytecode de Python a la vez.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Forma libre 347"/>
          <p:cNvSpPr/>
          <p:nvPr/>
        </p:nvSpPr>
        <p:spPr>
          <a:xfrm>
            <a:off x="914040" y="361944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0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CuadroTexto 348"/>
          <p:cNvSpPr txBox="1"/>
          <p:nvPr/>
        </p:nvSpPr>
        <p:spPr>
          <a:xfrm>
            <a:off x="1123920" y="3106440"/>
            <a:ext cx="4743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Añadir hilos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acelera trabajo intensivo en CPU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Forma libre 349"/>
          <p:cNvSpPr/>
          <p:nvPr/>
        </p:nvSpPr>
        <p:spPr>
          <a:xfrm>
            <a:off x="914040" y="40194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CuadroTexto 350"/>
          <p:cNvSpPr txBox="1"/>
          <p:nvPr/>
        </p:nvSpPr>
        <p:spPr>
          <a:xfrm>
            <a:off x="1123920" y="3506760"/>
            <a:ext cx="5848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Sí ayuda en E/S (leer archivos, llamadas a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APIs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sesión 8)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CuadroTexto 351"/>
          <p:cNvSpPr txBox="1"/>
          <p:nvPr/>
        </p:nvSpPr>
        <p:spPr>
          <a:xfrm>
            <a:off x="1123920" y="3906720"/>
            <a:ext cx="10234468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Para paralelizar de verdad: procesos (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Threads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), o bajar a C/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Rust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NumPy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Polars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), o distribuir (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Spark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)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CuadroTexto 352"/>
          <p:cNvSpPr txBox="1"/>
          <p:nvPr/>
        </p:nvSpPr>
        <p:spPr>
          <a:xfrm>
            <a:off x="905040" y="4516200"/>
            <a:ext cx="4256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Tu laptop tiene 8 núcleos. pandas usa uno.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CuadroTexto 35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CuadroTexto 35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CuadroTexto 35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Forma libre 35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Forma libre 3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Forma libre 35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CuadroTexto 359"/>
          <p:cNvSpPr txBox="1"/>
          <p:nvPr/>
        </p:nvSpPr>
        <p:spPr>
          <a:xfrm>
            <a:off x="2596680" y="3063960"/>
            <a:ext cx="71647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Del diccionario al DataFrame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CuadroTexto 36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CuadroTexto 36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CuadroTexto 36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Forma libre 36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Forma libre 3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Forma libre 36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Forma libre 366"/>
          <p:cNvSpPr/>
          <p:nvPr/>
        </p:nvSpPr>
        <p:spPr>
          <a:xfrm>
            <a:off x="671400" y="2195280"/>
            <a:ext cx="10849320" cy="1629360"/>
          </a:xfrm>
          <a:custGeom>
            <a:avLst/>
            <a:gdLst/>
            <a:ahLst/>
            <a:cxnLst/>
            <a:rect l="0" t="0" r="r" b="b"/>
            <a:pathLst>
              <a:path w="30137" h="4526">
                <a:moveTo>
                  <a:pt x="0" y="432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9"/>
                  <a:pt x="30127" y="4391"/>
                  <a:pt x="30122" y="4403"/>
                </a:cubicBezTo>
                <a:cubicBezTo>
                  <a:pt x="30117" y="4415"/>
                  <a:pt x="30111" y="4426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7"/>
                  <a:pt x="30059" y="4485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2"/>
                </a:cubicBezTo>
                <a:cubicBezTo>
                  <a:pt x="29964" y="4524"/>
                  <a:pt x="29951" y="4526"/>
                  <a:pt x="29938" y="4526"/>
                </a:cubicBezTo>
                <a:lnTo>
                  <a:pt x="198" y="4526"/>
                </a:lnTo>
                <a:cubicBezTo>
                  <a:pt x="185" y="4526"/>
                  <a:pt x="172" y="4524"/>
                  <a:pt x="160" y="4522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5"/>
                  <a:pt x="67" y="4477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6"/>
                  <a:pt x="20" y="4415"/>
                  <a:pt x="15" y="4403"/>
                </a:cubicBezTo>
                <a:cubicBezTo>
                  <a:pt x="10" y="4391"/>
                  <a:pt x="6" y="4379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Forma libre 367"/>
          <p:cNvSpPr/>
          <p:nvPr/>
        </p:nvSpPr>
        <p:spPr>
          <a:xfrm>
            <a:off x="671400" y="2195280"/>
            <a:ext cx="10849320" cy="1629360"/>
          </a:xfrm>
          <a:custGeom>
            <a:avLst/>
            <a:gdLst/>
            <a:ahLst/>
            <a:cxnLst/>
            <a:rect l="0" t="0" r="r" b="b"/>
            <a:pathLst>
              <a:path w="30137" h="4526">
                <a:moveTo>
                  <a:pt x="0" y="432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9"/>
                  <a:pt x="30127" y="4391"/>
                  <a:pt x="30122" y="4403"/>
                </a:cubicBezTo>
                <a:cubicBezTo>
                  <a:pt x="30117" y="4415"/>
                  <a:pt x="30111" y="4426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7"/>
                  <a:pt x="30059" y="4485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2"/>
                </a:cubicBezTo>
                <a:cubicBezTo>
                  <a:pt x="29964" y="4524"/>
                  <a:pt x="29951" y="4526"/>
                  <a:pt x="29938" y="4526"/>
                </a:cubicBezTo>
                <a:lnTo>
                  <a:pt x="198" y="4526"/>
                </a:lnTo>
                <a:cubicBezTo>
                  <a:pt x="185" y="4526"/>
                  <a:pt x="172" y="4524"/>
                  <a:pt x="160" y="4522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5"/>
                  <a:pt x="67" y="4477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6"/>
                  <a:pt x="20" y="4415"/>
                  <a:pt x="15" y="4403"/>
                </a:cubicBezTo>
                <a:cubicBezTo>
                  <a:pt x="10" y="4391"/>
                  <a:pt x="6" y="4379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CuadroTexto 368"/>
          <p:cNvSpPr txBox="1"/>
          <p:nvPr/>
        </p:nvSpPr>
        <p:spPr>
          <a:xfrm>
            <a:off x="666720" y="1558440"/>
            <a:ext cx="3072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Series, Index y dtypes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CuadroTexto 369"/>
          <p:cNvSpPr txBox="1"/>
          <p:nvPr/>
        </p:nvSpPr>
        <p:spPr>
          <a:xfrm>
            <a:off x="866880" y="2375280"/>
            <a:ext cx="2075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import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pandas </a:t>
            </a:r>
            <a:r>
              <a:rPr lang="es-ES" sz="143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CuadroTexto 370"/>
          <p:cNvSpPr txBox="1"/>
          <p:nvPr/>
        </p:nvSpPr>
        <p:spPr>
          <a:xfrm>
            <a:off x="866880" y="2899080"/>
            <a:ext cx="8406147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 =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pd.Series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([</a:t>
            </a:r>
            <a:r>
              <a:rPr lang="es-ES" sz="1430" b="0" u="none" strike="noStrike" dirty="0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7.1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8.4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6.9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],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index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=[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'p001'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'p002'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'p003'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],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name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'hba1c'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CuadroTexto 371"/>
          <p:cNvSpPr txBox="1"/>
          <p:nvPr/>
        </p:nvSpPr>
        <p:spPr>
          <a:xfrm>
            <a:off x="866880" y="3165840"/>
            <a:ext cx="2621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s.dtype        </a:t>
            </a:r>
            <a:r>
              <a:rPr lang="es-ES" sz="143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float64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CuadroTexto 372"/>
          <p:cNvSpPr txBox="1"/>
          <p:nvPr/>
        </p:nvSpPr>
        <p:spPr>
          <a:xfrm>
            <a:off x="866880" y="3422880"/>
            <a:ext cx="2212144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s.loc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[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'p002'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  </a:t>
            </a:r>
            <a:r>
              <a:rPr lang="es-ES" sz="1430" b="0" u="none" strike="noStrike" dirty="0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8.4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Forma libre 373"/>
          <p:cNvSpPr/>
          <p:nvPr/>
        </p:nvSpPr>
        <p:spPr>
          <a:xfrm>
            <a:off x="2952720" y="4038480"/>
            <a:ext cx="590760" cy="267120"/>
          </a:xfrm>
          <a:custGeom>
            <a:avLst/>
            <a:gdLst/>
            <a:ahLst/>
            <a:cxnLst/>
            <a:rect l="0" t="0" r="r" b="b"/>
            <a:pathLst>
              <a:path w="164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535" y="0"/>
                </a:lnTo>
                <a:cubicBezTo>
                  <a:pt x="1549" y="0"/>
                  <a:pt x="1563" y="3"/>
                  <a:pt x="1576" y="8"/>
                </a:cubicBezTo>
                <a:cubicBezTo>
                  <a:pt x="1589" y="13"/>
                  <a:pt x="1600" y="21"/>
                  <a:pt x="1610" y="31"/>
                </a:cubicBezTo>
                <a:cubicBezTo>
                  <a:pt x="1620" y="41"/>
                  <a:pt x="1628" y="52"/>
                  <a:pt x="1633" y="65"/>
                </a:cubicBezTo>
                <a:cubicBezTo>
                  <a:pt x="1638" y="78"/>
                  <a:pt x="1641" y="92"/>
                  <a:pt x="1641" y="106"/>
                </a:cubicBezTo>
                <a:lnTo>
                  <a:pt x="1641" y="636"/>
                </a:lnTo>
                <a:cubicBezTo>
                  <a:pt x="1641" y="650"/>
                  <a:pt x="1638" y="663"/>
                  <a:pt x="1633" y="676"/>
                </a:cubicBezTo>
                <a:cubicBezTo>
                  <a:pt x="1628" y="689"/>
                  <a:pt x="1620" y="701"/>
                  <a:pt x="1610" y="711"/>
                </a:cubicBezTo>
                <a:cubicBezTo>
                  <a:pt x="1600" y="721"/>
                  <a:pt x="1589" y="728"/>
                  <a:pt x="1576" y="734"/>
                </a:cubicBezTo>
                <a:cubicBezTo>
                  <a:pt x="1563" y="739"/>
                  <a:pt x="1549" y="742"/>
                  <a:pt x="1535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CuadroTexto 374"/>
          <p:cNvSpPr txBox="1"/>
          <p:nvPr/>
        </p:nvSpPr>
        <p:spPr>
          <a:xfrm>
            <a:off x="666720" y="4020840"/>
            <a:ext cx="2291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DataFrame es un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CuadroTexto 375"/>
          <p:cNvSpPr txBox="1"/>
          <p:nvPr/>
        </p:nvSpPr>
        <p:spPr>
          <a:xfrm>
            <a:off x="3014640" y="405828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dict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CuadroTexto 376"/>
          <p:cNvSpPr txBox="1"/>
          <p:nvPr/>
        </p:nvSpPr>
        <p:spPr>
          <a:xfrm>
            <a:off x="3539880" y="4020840"/>
            <a:ext cx="3581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de Series que comparten índice.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Forma libre 377"/>
          <p:cNvSpPr/>
          <p:nvPr/>
        </p:nvSpPr>
        <p:spPr>
          <a:xfrm>
            <a:off x="666720" y="5028840"/>
            <a:ext cx="695520" cy="267120"/>
          </a:xfrm>
          <a:custGeom>
            <a:avLst/>
            <a:gdLst/>
            <a:ahLst/>
            <a:cxnLst/>
            <a:rect l="0" t="0" r="r" b="b"/>
            <a:pathLst>
              <a:path w="193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1" y="0"/>
                  <a:pt x="105" y="0"/>
                </a:cubicBezTo>
                <a:lnTo>
                  <a:pt x="1826" y="0"/>
                </a:lnTo>
                <a:cubicBezTo>
                  <a:pt x="1840" y="0"/>
                  <a:pt x="1854" y="3"/>
                  <a:pt x="1867" y="9"/>
                </a:cubicBezTo>
                <a:cubicBezTo>
                  <a:pt x="1880" y="14"/>
                  <a:pt x="1891" y="22"/>
                  <a:pt x="1901" y="31"/>
                </a:cubicBezTo>
                <a:cubicBezTo>
                  <a:pt x="1911" y="41"/>
                  <a:pt x="1919" y="53"/>
                  <a:pt x="1924" y="66"/>
                </a:cubicBezTo>
                <a:cubicBezTo>
                  <a:pt x="1929" y="79"/>
                  <a:pt x="1932" y="92"/>
                  <a:pt x="1932" y="106"/>
                </a:cubicBezTo>
                <a:lnTo>
                  <a:pt x="1932" y="636"/>
                </a:lnTo>
                <a:cubicBezTo>
                  <a:pt x="1932" y="651"/>
                  <a:pt x="1929" y="664"/>
                  <a:pt x="1924" y="677"/>
                </a:cubicBezTo>
                <a:cubicBezTo>
                  <a:pt x="1919" y="690"/>
                  <a:pt x="1911" y="701"/>
                  <a:pt x="1901" y="711"/>
                </a:cubicBezTo>
                <a:cubicBezTo>
                  <a:pt x="1891" y="721"/>
                  <a:pt x="1880" y="729"/>
                  <a:pt x="1867" y="734"/>
                </a:cubicBezTo>
                <a:cubicBezTo>
                  <a:pt x="1854" y="740"/>
                  <a:pt x="1840" y="742"/>
                  <a:pt x="1826" y="742"/>
                </a:cubicBezTo>
                <a:lnTo>
                  <a:pt x="105" y="742"/>
                </a:lnTo>
                <a:cubicBezTo>
                  <a:pt x="91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1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CuadroTexto 378"/>
          <p:cNvSpPr txBox="1"/>
          <p:nvPr/>
        </p:nvSpPr>
        <p:spPr>
          <a:xfrm>
            <a:off x="666720" y="4516200"/>
            <a:ext cx="2786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Los dtypes que más usarás: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CuadroTexto 379"/>
          <p:cNvSpPr txBox="1"/>
          <p:nvPr/>
        </p:nvSpPr>
        <p:spPr>
          <a:xfrm>
            <a:off x="723960" y="504900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int64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Forma libre 380"/>
          <p:cNvSpPr/>
          <p:nvPr/>
        </p:nvSpPr>
        <p:spPr>
          <a:xfrm>
            <a:off x="1552320" y="5028840"/>
            <a:ext cx="933840" cy="267120"/>
          </a:xfrm>
          <a:custGeom>
            <a:avLst/>
            <a:gdLst/>
            <a:ahLst/>
            <a:cxnLst/>
            <a:rect l="0" t="0" r="r" b="b"/>
            <a:pathLst>
              <a:path w="2594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lnTo>
                  <a:pt x="2488" y="0"/>
                </a:lnTo>
                <a:cubicBezTo>
                  <a:pt x="2502" y="0"/>
                  <a:pt x="2516" y="3"/>
                  <a:pt x="2529" y="9"/>
                </a:cubicBezTo>
                <a:cubicBezTo>
                  <a:pt x="2542" y="14"/>
                  <a:pt x="2553" y="22"/>
                  <a:pt x="2563" y="31"/>
                </a:cubicBezTo>
                <a:cubicBezTo>
                  <a:pt x="2573" y="41"/>
                  <a:pt x="2581" y="53"/>
                  <a:pt x="2586" y="66"/>
                </a:cubicBezTo>
                <a:cubicBezTo>
                  <a:pt x="2591" y="79"/>
                  <a:pt x="2594" y="92"/>
                  <a:pt x="2594" y="106"/>
                </a:cubicBezTo>
                <a:lnTo>
                  <a:pt x="2594" y="636"/>
                </a:lnTo>
                <a:cubicBezTo>
                  <a:pt x="2594" y="651"/>
                  <a:pt x="2591" y="664"/>
                  <a:pt x="2586" y="677"/>
                </a:cubicBezTo>
                <a:cubicBezTo>
                  <a:pt x="2581" y="690"/>
                  <a:pt x="2573" y="701"/>
                  <a:pt x="2563" y="711"/>
                </a:cubicBezTo>
                <a:cubicBezTo>
                  <a:pt x="2553" y="721"/>
                  <a:pt x="2542" y="729"/>
                  <a:pt x="2529" y="734"/>
                </a:cubicBezTo>
                <a:cubicBezTo>
                  <a:pt x="2516" y="740"/>
                  <a:pt x="2502" y="742"/>
                  <a:pt x="2488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1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CuadroTexto 381"/>
          <p:cNvSpPr txBox="1"/>
          <p:nvPr/>
        </p:nvSpPr>
        <p:spPr>
          <a:xfrm>
            <a:off x="1366200" y="501156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·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CuadroTexto 382"/>
          <p:cNvSpPr txBox="1"/>
          <p:nvPr/>
        </p:nvSpPr>
        <p:spPr>
          <a:xfrm>
            <a:off x="1613880" y="504900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float64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Forma libre 383"/>
          <p:cNvSpPr/>
          <p:nvPr/>
        </p:nvSpPr>
        <p:spPr>
          <a:xfrm>
            <a:off x="2676240" y="5028840"/>
            <a:ext cx="591120" cy="267120"/>
          </a:xfrm>
          <a:custGeom>
            <a:avLst/>
            <a:gdLst/>
            <a:ahLst/>
            <a:cxnLst/>
            <a:rect l="0" t="0" r="r" b="b"/>
            <a:pathLst>
              <a:path w="164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lnTo>
                  <a:pt x="1535" y="0"/>
                </a:lnTo>
                <a:cubicBezTo>
                  <a:pt x="1549" y="0"/>
                  <a:pt x="1562" y="3"/>
                  <a:pt x="1575" y="9"/>
                </a:cubicBezTo>
                <a:cubicBezTo>
                  <a:pt x="1589" y="14"/>
                  <a:pt x="1601" y="22"/>
                  <a:pt x="1611" y="31"/>
                </a:cubicBezTo>
                <a:cubicBezTo>
                  <a:pt x="1621" y="41"/>
                  <a:pt x="1628" y="53"/>
                  <a:pt x="1634" y="66"/>
                </a:cubicBezTo>
                <a:cubicBezTo>
                  <a:pt x="1639" y="79"/>
                  <a:pt x="1642" y="92"/>
                  <a:pt x="1642" y="106"/>
                </a:cubicBezTo>
                <a:lnTo>
                  <a:pt x="1642" y="636"/>
                </a:lnTo>
                <a:cubicBezTo>
                  <a:pt x="1642" y="651"/>
                  <a:pt x="1639" y="664"/>
                  <a:pt x="1634" y="677"/>
                </a:cubicBezTo>
                <a:cubicBezTo>
                  <a:pt x="1628" y="690"/>
                  <a:pt x="1621" y="701"/>
                  <a:pt x="1611" y="711"/>
                </a:cubicBezTo>
                <a:cubicBezTo>
                  <a:pt x="1601" y="721"/>
                  <a:pt x="1589" y="729"/>
                  <a:pt x="1575" y="734"/>
                </a:cubicBezTo>
                <a:cubicBezTo>
                  <a:pt x="1562" y="740"/>
                  <a:pt x="1549" y="742"/>
                  <a:pt x="1535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1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CuadroTexto 384"/>
          <p:cNvSpPr txBox="1"/>
          <p:nvPr/>
        </p:nvSpPr>
        <p:spPr>
          <a:xfrm>
            <a:off x="2490120" y="501156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·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CuadroTexto 385"/>
          <p:cNvSpPr txBox="1"/>
          <p:nvPr/>
        </p:nvSpPr>
        <p:spPr>
          <a:xfrm>
            <a:off x="2738160" y="504900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bool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Forma libre 386"/>
          <p:cNvSpPr/>
          <p:nvPr/>
        </p:nvSpPr>
        <p:spPr>
          <a:xfrm>
            <a:off x="3457440" y="5028840"/>
            <a:ext cx="1752840" cy="267120"/>
          </a:xfrm>
          <a:custGeom>
            <a:avLst/>
            <a:gdLst/>
            <a:ahLst/>
            <a:cxnLst/>
            <a:rect l="0" t="0" r="r" b="b"/>
            <a:pathLst>
              <a:path w="486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4763" y="0"/>
                </a:lnTo>
                <a:cubicBezTo>
                  <a:pt x="4777" y="0"/>
                  <a:pt x="4791" y="3"/>
                  <a:pt x="4804" y="9"/>
                </a:cubicBezTo>
                <a:cubicBezTo>
                  <a:pt x="4817" y="14"/>
                  <a:pt x="4828" y="22"/>
                  <a:pt x="4838" y="31"/>
                </a:cubicBezTo>
                <a:cubicBezTo>
                  <a:pt x="4848" y="41"/>
                  <a:pt x="4856" y="53"/>
                  <a:pt x="4861" y="66"/>
                </a:cubicBezTo>
                <a:cubicBezTo>
                  <a:pt x="4867" y="79"/>
                  <a:pt x="4869" y="92"/>
                  <a:pt x="4869" y="106"/>
                </a:cubicBezTo>
                <a:lnTo>
                  <a:pt x="4869" y="636"/>
                </a:lnTo>
                <a:cubicBezTo>
                  <a:pt x="4869" y="651"/>
                  <a:pt x="4867" y="664"/>
                  <a:pt x="4861" y="677"/>
                </a:cubicBezTo>
                <a:cubicBezTo>
                  <a:pt x="4856" y="690"/>
                  <a:pt x="4848" y="701"/>
                  <a:pt x="4838" y="711"/>
                </a:cubicBezTo>
                <a:cubicBezTo>
                  <a:pt x="4828" y="721"/>
                  <a:pt x="4817" y="729"/>
                  <a:pt x="4804" y="734"/>
                </a:cubicBezTo>
                <a:cubicBezTo>
                  <a:pt x="4791" y="740"/>
                  <a:pt x="4777" y="742"/>
                  <a:pt x="4763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1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CuadroTexto 387"/>
          <p:cNvSpPr txBox="1"/>
          <p:nvPr/>
        </p:nvSpPr>
        <p:spPr>
          <a:xfrm>
            <a:off x="3263400" y="501156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·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CuadroTexto 388"/>
          <p:cNvSpPr txBox="1"/>
          <p:nvPr/>
        </p:nvSpPr>
        <p:spPr>
          <a:xfrm>
            <a:off x="3511440" y="5049000"/>
            <a:ext cx="1644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datetime64[ns]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Forma libre 389"/>
          <p:cNvSpPr/>
          <p:nvPr/>
        </p:nvSpPr>
        <p:spPr>
          <a:xfrm>
            <a:off x="5400360" y="5028840"/>
            <a:ext cx="1048320" cy="267120"/>
          </a:xfrm>
          <a:custGeom>
            <a:avLst/>
            <a:gdLst/>
            <a:ahLst/>
            <a:cxnLst/>
            <a:rect l="0" t="0" r="r" b="b"/>
            <a:pathLst>
              <a:path w="291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lnTo>
                  <a:pt x="2806" y="0"/>
                </a:lnTo>
                <a:cubicBezTo>
                  <a:pt x="2820" y="0"/>
                  <a:pt x="2833" y="3"/>
                  <a:pt x="2846" y="9"/>
                </a:cubicBezTo>
                <a:cubicBezTo>
                  <a:pt x="2859" y="14"/>
                  <a:pt x="2871" y="22"/>
                  <a:pt x="2881" y="31"/>
                </a:cubicBezTo>
                <a:cubicBezTo>
                  <a:pt x="2891" y="41"/>
                  <a:pt x="2898" y="53"/>
                  <a:pt x="2904" y="66"/>
                </a:cubicBezTo>
                <a:cubicBezTo>
                  <a:pt x="2909" y="79"/>
                  <a:pt x="2912" y="92"/>
                  <a:pt x="2912" y="106"/>
                </a:cubicBezTo>
                <a:lnTo>
                  <a:pt x="2912" y="636"/>
                </a:lnTo>
                <a:cubicBezTo>
                  <a:pt x="2912" y="651"/>
                  <a:pt x="2909" y="664"/>
                  <a:pt x="2904" y="677"/>
                </a:cubicBezTo>
                <a:cubicBezTo>
                  <a:pt x="2898" y="690"/>
                  <a:pt x="2891" y="701"/>
                  <a:pt x="2881" y="711"/>
                </a:cubicBezTo>
                <a:cubicBezTo>
                  <a:pt x="2871" y="721"/>
                  <a:pt x="2859" y="729"/>
                  <a:pt x="2846" y="734"/>
                </a:cubicBezTo>
                <a:cubicBezTo>
                  <a:pt x="2833" y="740"/>
                  <a:pt x="2820" y="742"/>
                  <a:pt x="2806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1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CuadroTexto 390"/>
          <p:cNvSpPr txBox="1"/>
          <p:nvPr/>
        </p:nvSpPr>
        <p:spPr>
          <a:xfrm>
            <a:off x="5206320" y="501156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·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CuadroTexto 391"/>
          <p:cNvSpPr txBox="1"/>
          <p:nvPr/>
        </p:nvSpPr>
        <p:spPr>
          <a:xfrm>
            <a:off x="5454360" y="504900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category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Forma libre 392"/>
          <p:cNvSpPr/>
          <p:nvPr/>
        </p:nvSpPr>
        <p:spPr>
          <a:xfrm>
            <a:off x="6638760" y="5028840"/>
            <a:ext cx="819360" cy="267120"/>
          </a:xfrm>
          <a:custGeom>
            <a:avLst/>
            <a:gdLst/>
            <a:ahLst/>
            <a:cxnLst/>
            <a:rect l="0" t="0" r="r" b="b"/>
            <a:pathLst>
              <a:path w="227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2171" y="0"/>
                </a:lnTo>
                <a:cubicBezTo>
                  <a:pt x="2185" y="0"/>
                  <a:pt x="2198" y="3"/>
                  <a:pt x="2211" y="9"/>
                </a:cubicBezTo>
                <a:cubicBezTo>
                  <a:pt x="2224" y="14"/>
                  <a:pt x="2235" y="22"/>
                  <a:pt x="2245" y="31"/>
                </a:cubicBezTo>
                <a:cubicBezTo>
                  <a:pt x="2255" y="41"/>
                  <a:pt x="2263" y="53"/>
                  <a:pt x="2268" y="66"/>
                </a:cubicBezTo>
                <a:cubicBezTo>
                  <a:pt x="2274" y="79"/>
                  <a:pt x="2276" y="92"/>
                  <a:pt x="2276" y="106"/>
                </a:cubicBezTo>
                <a:lnTo>
                  <a:pt x="2276" y="636"/>
                </a:lnTo>
                <a:cubicBezTo>
                  <a:pt x="2276" y="651"/>
                  <a:pt x="2274" y="664"/>
                  <a:pt x="2268" y="677"/>
                </a:cubicBezTo>
                <a:cubicBezTo>
                  <a:pt x="2263" y="690"/>
                  <a:pt x="2255" y="701"/>
                  <a:pt x="2245" y="711"/>
                </a:cubicBezTo>
                <a:cubicBezTo>
                  <a:pt x="2235" y="721"/>
                  <a:pt x="2224" y="729"/>
                  <a:pt x="2211" y="734"/>
                </a:cubicBezTo>
                <a:cubicBezTo>
                  <a:pt x="2198" y="740"/>
                  <a:pt x="2185" y="742"/>
                  <a:pt x="2171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1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CuadroTexto 393"/>
          <p:cNvSpPr txBox="1"/>
          <p:nvPr/>
        </p:nvSpPr>
        <p:spPr>
          <a:xfrm>
            <a:off x="6447240" y="501156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·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CuadroTexto 394"/>
          <p:cNvSpPr txBox="1"/>
          <p:nvPr/>
        </p:nvSpPr>
        <p:spPr>
          <a:xfrm>
            <a:off x="6695280" y="504900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string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Forma libre 395"/>
          <p:cNvSpPr/>
          <p:nvPr/>
        </p:nvSpPr>
        <p:spPr>
          <a:xfrm>
            <a:off x="7648560" y="5028840"/>
            <a:ext cx="695520" cy="267120"/>
          </a:xfrm>
          <a:custGeom>
            <a:avLst/>
            <a:gdLst/>
            <a:ahLst/>
            <a:cxnLst/>
            <a:rect l="0" t="0" r="r" b="b"/>
            <a:pathLst>
              <a:path w="193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0" y="22"/>
                  <a:pt x="52" y="14"/>
                  <a:pt x="65" y="9"/>
                </a:cubicBezTo>
                <a:cubicBezTo>
                  <a:pt x="78" y="3"/>
                  <a:pt x="91" y="0"/>
                  <a:pt x="105" y="0"/>
                </a:cubicBezTo>
                <a:lnTo>
                  <a:pt x="1826" y="0"/>
                </a:lnTo>
                <a:cubicBezTo>
                  <a:pt x="1840" y="0"/>
                  <a:pt x="1854" y="3"/>
                  <a:pt x="1867" y="9"/>
                </a:cubicBezTo>
                <a:cubicBezTo>
                  <a:pt x="1880" y="14"/>
                  <a:pt x="1891" y="22"/>
                  <a:pt x="1901" y="31"/>
                </a:cubicBezTo>
                <a:cubicBezTo>
                  <a:pt x="1911" y="41"/>
                  <a:pt x="1919" y="53"/>
                  <a:pt x="1924" y="66"/>
                </a:cubicBezTo>
                <a:cubicBezTo>
                  <a:pt x="1929" y="79"/>
                  <a:pt x="1932" y="92"/>
                  <a:pt x="1932" y="106"/>
                </a:cubicBezTo>
                <a:lnTo>
                  <a:pt x="1932" y="636"/>
                </a:lnTo>
                <a:cubicBezTo>
                  <a:pt x="1932" y="651"/>
                  <a:pt x="1929" y="664"/>
                  <a:pt x="1924" y="677"/>
                </a:cubicBezTo>
                <a:cubicBezTo>
                  <a:pt x="1919" y="690"/>
                  <a:pt x="1911" y="701"/>
                  <a:pt x="1901" y="711"/>
                </a:cubicBezTo>
                <a:cubicBezTo>
                  <a:pt x="1891" y="721"/>
                  <a:pt x="1880" y="729"/>
                  <a:pt x="1867" y="734"/>
                </a:cubicBezTo>
                <a:cubicBezTo>
                  <a:pt x="1854" y="740"/>
                  <a:pt x="1840" y="742"/>
                  <a:pt x="1826" y="742"/>
                </a:cubicBezTo>
                <a:lnTo>
                  <a:pt x="105" y="742"/>
                </a:lnTo>
                <a:cubicBezTo>
                  <a:pt x="91" y="742"/>
                  <a:pt x="78" y="740"/>
                  <a:pt x="65" y="734"/>
                </a:cubicBezTo>
                <a:cubicBezTo>
                  <a:pt x="52" y="729"/>
                  <a:pt x="40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1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CuadroTexto 396"/>
          <p:cNvSpPr txBox="1"/>
          <p:nvPr/>
        </p:nvSpPr>
        <p:spPr>
          <a:xfrm>
            <a:off x="7454520" y="501156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·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CuadroTexto 397"/>
          <p:cNvSpPr txBox="1"/>
          <p:nvPr/>
        </p:nvSpPr>
        <p:spPr>
          <a:xfrm>
            <a:off x="7702560" y="504900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Int64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CuadroTexto 398"/>
          <p:cNvSpPr txBox="1"/>
          <p:nvPr/>
        </p:nvSpPr>
        <p:spPr>
          <a:xfrm>
            <a:off x="8344800" y="5011560"/>
            <a:ext cx="1431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(admite nulos)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CuadroTexto 39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CuadroTexto 40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CuadroTexto 40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Forma libre 4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Forma libre 40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Forma libre 40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Forma libre 405"/>
          <p:cNvSpPr/>
          <p:nvPr/>
        </p:nvSpPr>
        <p:spPr>
          <a:xfrm>
            <a:off x="671400" y="190944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417"/>
                </a:lnTo>
                <a:cubicBezTo>
                  <a:pt x="30137" y="1430"/>
                  <a:pt x="30136" y="1443"/>
                  <a:pt x="30133" y="1456"/>
                </a:cubicBezTo>
                <a:cubicBezTo>
                  <a:pt x="30130" y="1468"/>
                  <a:pt x="30127" y="1481"/>
                  <a:pt x="30122" y="1493"/>
                </a:cubicBezTo>
                <a:cubicBezTo>
                  <a:pt x="30117" y="1505"/>
                  <a:pt x="30111" y="1516"/>
                  <a:pt x="30103" y="1527"/>
                </a:cubicBezTo>
                <a:cubicBezTo>
                  <a:pt x="30096" y="1538"/>
                  <a:pt x="30088" y="1548"/>
                  <a:pt x="30079" y="1557"/>
                </a:cubicBezTo>
                <a:cubicBezTo>
                  <a:pt x="30070" y="1566"/>
                  <a:pt x="30059" y="1575"/>
                  <a:pt x="30049" y="1582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2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2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2"/>
                </a:cubicBezTo>
                <a:cubicBezTo>
                  <a:pt x="77" y="1575"/>
                  <a:pt x="67" y="1566"/>
                  <a:pt x="58" y="1557"/>
                </a:cubicBezTo>
                <a:cubicBezTo>
                  <a:pt x="49" y="1548"/>
                  <a:pt x="40" y="1538"/>
                  <a:pt x="33" y="1527"/>
                </a:cubicBezTo>
                <a:cubicBezTo>
                  <a:pt x="26" y="1516"/>
                  <a:pt x="20" y="1505"/>
                  <a:pt x="15" y="1493"/>
                </a:cubicBezTo>
                <a:cubicBezTo>
                  <a:pt x="10" y="1481"/>
                  <a:pt x="6" y="1468"/>
                  <a:pt x="4" y="1456"/>
                </a:cubicBezTo>
                <a:cubicBezTo>
                  <a:pt x="1" y="1443"/>
                  <a:pt x="0" y="1430"/>
                  <a:pt x="0" y="141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 dirty="0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Forma libre 406"/>
          <p:cNvSpPr/>
          <p:nvPr/>
        </p:nvSpPr>
        <p:spPr>
          <a:xfrm>
            <a:off x="671400" y="190944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417"/>
                </a:lnTo>
                <a:cubicBezTo>
                  <a:pt x="30137" y="1430"/>
                  <a:pt x="30136" y="1443"/>
                  <a:pt x="30133" y="1456"/>
                </a:cubicBezTo>
                <a:cubicBezTo>
                  <a:pt x="30130" y="1468"/>
                  <a:pt x="30127" y="1481"/>
                  <a:pt x="30122" y="1493"/>
                </a:cubicBezTo>
                <a:cubicBezTo>
                  <a:pt x="30117" y="1505"/>
                  <a:pt x="30111" y="1516"/>
                  <a:pt x="30103" y="1527"/>
                </a:cubicBezTo>
                <a:cubicBezTo>
                  <a:pt x="30096" y="1538"/>
                  <a:pt x="30088" y="1548"/>
                  <a:pt x="30079" y="1557"/>
                </a:cubicBezTo>
                <a:cubicBezTo>
                  <a:pt x="30070" y="1566"/>
                  <a:pt x="30059" y="1575"/>
                  <a:pt x="30049" y="1582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2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2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2"/>
                </a:cubicBezTo>
                <a:cubicBezTo>
                  <a:pt x="77" y="1575"/>
                  <a:pt x="67" y="1566"/>
                  <a:pt x="58" y="1557"/>
                </a:cubicBezTo>
                <a:cubicBezTo>
                  <a:pt x="49" y="1548"/>
                  <a:pt x="40" y="1538"/>
                  <a:pt x="33" y="1527"/>
                </a:cubicBezTo>
                <a:cubicBezTo>
                  <a:pt x="26" y="1516"/>
                  <a:pt x="20" y="1505"/>
                  <a:pt x="15" y="1493"/>
                </a:cubicBezTo>
                <a:cubicBezTo>
                  <a:pt x="10" y="1481"/>
                  <a:pt x="6" y="1468"/>
                  <a:pt x="4" y="1456"/>
                </a:cubicBezTo>
                <a:cubicBezTo>
                  <a:pt x="1" y="1443"/>
                  <a:pt x="0" y="1430"/>
                  <a:pt x="0" y="141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Forma libre 407"/>
          <p:cNvSpPr/>
          <p:nvPr/>
        </p:nvSpPr>
        <p:spPr>
          <a:xfrm>
            <a:off x="676080" y="3152520"/>
            <a:ext cx="3839040" cy="410040"/>
          </a:xfrm>
          <a:custGeom>
            <a:avLst/>
            <a:gdLst/>
            <a:ahLst/>
            <a:cxnLst/>
            <a:rect l="0" t="0" r="r" b="b"/>
            <a:pathLst>
              <a:path w="10664" h="1139">
                <a:moveTo>
                  <a:pt x="0" y="0"/>
                </a:moveTo>
                <a:lnTo>
                  <a:pt x="10664" y="0"/>
                </a:lnTo>
                <a:lnTo>
                  <a:pt x="1066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Forma libre 408"/>
          <p:cNvSpPr/>
          <p:nvPr/>
        </p:nvSpPr>
        <p:spPr>
          <a:xfrm>
            <a:off x="4514760" y="3152520"/>
            <a:ext cx="2171880" cy="410040"/>
          </a:xfrm>
          <a:custGeom>
            <a:avLst/>
            <a:gdLst/>
            <a:ahLst/>
            <a:cxnLst/>
            <a:rect l="0" t="0" r="r" b="b"/>
            <a:pathLst>
              <a:path w="6033" h="1139">
                <a:moveTo>
                  <a:pt x="0" y="0"/>
                </a:moveTo>
                <a:lnTo>
                  <a:pt x="6033" y="0"/>
                </a:lnTo>
                <a:lnTo>
                  <a:pt x="603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Forma libre 409"/>
          <p:cNvSpPr/>
          <p:nvPr/>
        </p:nvSpPr>
        <p:spPr>
          <a:xfrm>
            <a:off x="676080" y="3152520"/>
            <a:ext cx="3839040" cy="410040"/>
          </a:xfrm>
          <a:custGeom>
            <a:avLst/>
            <a:gdLst/>
            <a:ahLst/>
            <a:cxnLst/>
            <a:rect l="0" t="0" r="r" b="b"/>
            <a:pathLst>
              <a:path w="10664" h="1139">
                <a:moveTo>
                  <a:pt x="0" y="0"/>
                </a:moveTo>
                <a:lnTo>
                  <a:pt x="10664" y="0"/>
                </a:lnTo>
                <a:lnTo>
                  <a:pt x="1066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Forma libre 410"/>
          <p:cNvSpPr/>
          <p:nvPr/>
        </p:nvSpPr>
        <p:spPr>
          <a:xfrm>
            <a:off x="4514760" y="3152520"/>
            <a:ext cx="2171880" cy="410040"/>
          </a:xfrm>
          <a:custGeom>
            <a:avLst/>
            <a:gdLst/>
            <a:ahLst/>
            <a:cxnLst/>
            <a:rect l="0" t="0" r="r" b="b"/>
            <a:pathLst>
              <a:path w="6033" h="1139">
                <a:moveTo>
                  <a:pt x="0" y="0"/>
                </a:moveTo>
                <a:lnTo>
                  <a:pt x="6033" y="0"/>
                </a:lnTo>
                <a:lnTo>
                  <a:pt x="603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Forma libre 411"/>
          <p:cNvSpPr/>
          <p:nvPr/>
        </p:nvSpPr>
        <p:spPr>
          <a:xfrm>
            <a:off x="676080" y="3562200"/>
            <a:ext cx="3839040" cy="410040"/>
          </a:xfrm>
          <a:custGeom>
            <a:avLst/>
            <a:gdLst/>
            <a:ahLst/>
            <a:cxnLst/>
            <a:rect l="0" t="0" r="r" b="b"/>
            <a:pathLst>
              <a:path w="10664" h="1139">
                <a:moveTo>
                  <a:pt x="0" y="0"/>
                </a:moveTo>
                <a:lnTo>
                  <a:pt x="10664" y="0"/>
                </a:lnTo>
                <a:lnTo>
                  <a:pt x="1066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Forma libre 412"/>
          <p:cNvSpPr/>
          <p:nvPr/>
        </p:nvSpPr>
        <p:spPr>
          <a:xfrm>
            <a:off x="4514760" y="3562200"/>
            <a:ext cx="2171880" cy="410040"/>
          </a:xfrm>
          <a:custGeom>
            <a:avLst/>
            <a:gdLst/>
            <a:ahLst/>
            <a:cxnLst/>
            <a:rect l="0" t="0" r="r" b="b"/>
            <a:pathLst>
              <a:path w="6033" h="1139">
                <a:moveTo>
                  <a:pt x="0" y="0"/>
                </a:moveTo>
                <a:lnTo>
                  <a:pt x="6033" y="0"/>
                </a:lnTo>
                <a:lnTo>
                  <a:pt x="603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Forma libre 413"/>
          <p:cNvSpPr/>
          <p:nvPr/>
        </p:nvSpPr>
        <p:spPr>
          <a:xfrm>
            <a:off x="676080" y="3971880"/>
            <a:ext cx="3839040" cy="409680"/>
          </a:xfrm>
          <a:custGeom>
            <a:avLst/>
            <a:gdLst/>
            <a:ahLst/>
            <a:cxnLst/>
            <a:rect l="0" t="0" r="r" b="b"/>
            <a:pathLst>
              <a:path w="10664" h="1138">
                <a:moveTo>
                  <a:pt x="0" y="0"/>
                </a:moveTo>
                <a:lnTo>
                  <a:pt x="10664" y="0"/>
                </a:lnTo>
                <a:lnTo>
                  <a:pt x="1066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Forma libre 414"/>
          <p:cNvSpPr/>
          <p:nvPr/>
        </p:nvSpPr>
        <p:spPr>
          <a:xfrm>
            <a:off x="4514760" y="3971880"/>
            <a:ext cx="2171880" cy="409680"/>
          </a:xfrm>
          <a:custGeom>
            <a:avLst/>
            <a:gdLst/>
            <a:ahLst/>
            <a:cxnLst/>
            <a:rect l="0" t="0" r="r" b="b"/>
            <a:pathLst>
              <a:path w="6033" h="1138">
                <a:moveTo>
                  <a:pt x="0" y="0"/>
                </a:moveTo>
                <a:lnTo>
                  <a:pt x="6033" y="0"/>
                </a:lnTo>
                <a:lnTo>
                  <a:pt x="6033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Forma libre 415"/>
          <p:cNvSpPr/>
          <p:nvPr/>
        </p:nvSpPr>
        <p:spPr>
          <a:xfrm>
            <a:off x="676080" y="4381200"/>
            <a:ext cx="3839040" cy="410040"/>
          </a:xfrm>
          <a:custGeom>
            <a:avLst/>
            <a:gdLst/>
            <a:ahLst/>
            <a:cxnLst/>
            <a:rect l="0" t="0" r="r" b="b"/>
            <a:pathLst>
              <a:path w="10664" h="1139">
                <a:moveTo>
                  <a:pt x="0" y="0"/>
                </a:moveTo>
                <a:lnTo>
                  <a:pt x="10664" y="0"/>
                </a:lnTo>
                <a:lnTo>
                  <a:pt x="1066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Forma libre 416"/>
          <p:cNvSpPr/>
          <p:nvPr/>
        </p:nvSpPr>
        <p:spPr>
          <a:xfrm>
            <a:off x="4514760" y="4381200"/>
            <a:ext cx="2171880" cy="410040"/>
          </a:xfrm>
          <a:custGeom>
            <a:avLst/>
            <a:gdLst/>
            <a:ahLst/>
            <a:cxnLst/>
            <a:rect l="0" t="0" r="r" b="b"/>
            <a:pathLst>
              <a:path w="6033" h="1139">
                <a:moveTo>
                  <a:pt x="0" y="0"/>
                </a:moveTo>
                <a:lnTo>
                  <a:pt x="6033" y="0"/>
                </a:lnTo>
                <a:lnTo>
                  <a:pt x="603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Forma libre 417"/>
          <p:cNvSpPr/>
          <p:nvPr/>
        </p:nvSpPr>
        <p:spPr>
          <a:xfrm>
            <a:off x="676080" y="4790880"/>
            <a:ext cx="3839040" cy="410040"/>
          </a:xfrm>
          <a:custGeom>
            <a:avLst/>
            <a:gdLst/>
            <a:ahLst/>
            <a:cxnLst/>
            <a:rect l="0" t="0" r="r" b="b"/>
            <a:pathLst>
              <a:path w="10664" h="1139">
                <a:moveTo>
                  <a:pt x="0" y="0"/>
                </a:moveTo>
                <a:lnTo>
                  <a:pt x="10664" y="0"/>
                </a:lnTo>
                <a:lnTo>
                  <a:pt x="1066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Forma libre 418"/>
          <p:cNvSpPr/>
          <p:nvPr/>
        </p:nvSpPr>
        <p:spPr>
          <a:xfrm>
            <a:off x="4514760" y="4790880"/>
            <a:ext cx="2171880" cy="410040"/>
          </a:xfrm>
          <a:custGeom>
            <a:avLst/>
            <a:gdLst/>
            <a:ahLst/>
            <a:cxnLst/>
            <a:rect l="0" t="0" r="r" b="b"/>
            <a:pathLst>
              <a:path w="6033" h="1139">
                <a:moveTo>
                  <a:pt x="0" y="0"/>
                </a:moveTo>
                <a:lnTo>
                  <a:pt x="6033" y="0"/>
                </a:lnTo>
                <a:lnTo>
                  <a:pt x="603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Forma libre 419"/>
          <p:cNvSpPr/>
          <p:nvPr/>
        </p:nvSpPr>
        <p:spPr>
          <a:xfrm>
            <a:off x="676080" y="5200560"/>
            <a:ext cx="3839040" cy="409680"/>
          </a:xfrm>
          <a:custGeom>
            <a:avLst/>
            <a:gdLst/>
            <a:ahLst/>
            <a:cxnLst/>
            <a:rect l="0" t="0" r="r" b="b"/>
            <a:pathLst>
              <a:path w="10664" h="1138">
                <a:moveTo>
                  <a:pt x="0" y="0"/>
                </a:moveTo>
                <a:lnTo>
                  <a:pt x="10664" y="0"/>
                </a:lnTo>
                <a:lnTo>
                  <a:pt x="1066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Forma libre 420"/>
          <p:cNvSpPr/>
          <p:nvPr/>
        </p:nvSpPr>
        <p:spPr>
          <a:xfrm>
            <a:off x="4514760" y="5200560"/>
            <a:ext cx="2171880" cy="409680"/>
          </a:xfrm>
          <a:custGeom>
            <a:avLst/>
            <a:gdLst/>
            <a:ahLst/>
            <a:cxnLst/>
            <a:rect l="0" t="0" r="r" b="b"/>
            <a:pathLst>
              <a:path w="6033" h="1138">
                <a:moveTo>
                  <a:pt x="0" y="0"/>
                </a:moveTo>
                <a:lnTo>
                  <a:pt x="6033" y="0"/>
                </a:lnTo>
                <a:lnTo>
                  <a:pt x="6033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Forma libre 421"/>
          <p:cNvSpPr/>
          <p:nvPr/>
        </p:nvSpPr>
        <p:spPr>
          <a:xfrm>
            <a:off x="666720" y="31431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Forma libre 422"/>
          <p:cNvSpPr/>
          <p:nvPr/>
        </p:nvSpPr>
        <p:spPr>
          <a:xfrm>
            <a:off x="666720" y="3143160"/>
            <a:ext cx="3848400" cy="9720"/>
          </a:xfrm>
          <a:custGeom>
            <a:avLst/>
            <a:gdLst/>
            <a:ahLst/>
            <a:cxnLst/>
            <a:rect l="0" t="0" r="r" b="b"/>
            <a:pathLst>
              <a:path w="10690" h="27">
                <a:moveTo>
                  <a:pt x="0" y="0"/>
                </a:moveTo>
                <a:lnTo>
                  <a:pt x="10690" y="0"/>
                </a:lnTo>
                <a:lnTo>
                  <a:pt x="106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Forma libre 423"/>
          <p:cNvSpPr/>
          <p:nvPr/>
        </p:nvSpPr>
        <p:spPr>
          <a:xfrm>
            <a:off x="4505040" y="31431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Forma libre 424"/>
          <p:cNvSpPr/>
          <p:nvPr/>
        </p:nvSpPr>
        <p:spPr>
          <a:xfrm>
            <a:off x="4514760" y="3143160"/>
            <a:ext cx="2181600" cy="9720"/>
          </a:xfrm>
          <a:custGeom>
            <a:avLst/>
            <a:gdLst/>
            <a:ahLst/>
            <a:cxn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Forma libre 425"/>
          <p:cNvSpPr/>
          <p:nvPr/>
        </p:nvSpPr>
        <p:spPr>
          <a:xfrm>
            <a:off x="6686280" y="31431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Forma libre 426"/>
          <p:cNvSpPr/>
          <p:nvPr/>
        </p:nvSpPr>
        <p:spPr>
          <a:xfrm>
            <a:off x="666720" y="3552480"/>
            <a:ext cx="3848400" cy="10080"/>
          </a:xfrm>
          <a:custGeom>
            <a:avLst/>
            <a:gdLst/>
            <a:ahLst/>
            <a:cxnLst/>
            <a:rect l="0" t="0" r="r" b="b"/>
            <a:pathLst>
              <a:path w="10690" h="28">
                <a:moveTo>
                  <a:pt x="0" y="0"/>
                </a:moveTo>
                <a:lnTo>
                  <a:pt x="10690" y="0"/>
                </a:lnTo>
                <a:lnTo>
                  <a:pt x="106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Forma libre 427"/>
          <p:cNvSpPr/>
          <p:nvPr/>
        </p:nvSpPr>
        <p:spPr>
          <a:xfrm>
            <a:off x="4514760" y="3552480"/>
            <a:ext cx="2181600" cy="10080"/>
          </a:xfrm>
          <a:custGeom>
            <a:avLst/>
            <a:gdLst/>
            <a:ahLst/>
            <a:cxnLst/>
            <a:rect l="0" t="0" r="r" b="b"/>
            <a:pathLst>
              <a:path w="6060" h="28">
                <a:moveTo>
                  <a:pt x="0" y="0"/>
                </a:moveTo>
                <a:lnTo>
                  <a:pt x="6060" y="0"/>
                </a:lnTo>
                <a:lnTo>
                  <a:pt x="60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Forma libre 428"/>
          <p:cNvSpPr/>
          <p:nvPr/>
        </p:nvSpPr>
        <p:spPr>
          <a:xfrm>
            <a:off x="666720" y="35622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Forma libre 429"/>
          <p:cNvSpPr/>
          <p:nvPr/>
        </p:nvSpPr>
        <p:spPr>
          <a:xfrm>
            <a:off x="4505040" y="356220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Forma libre 430"/>
          <p:cNvSpPr/>
          <p:nvPr/>
        </p:nvSpPr>
        <p:spPr>
          <a:xfrm>
            <a:off x="6686280" y="356220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Forma libre 431"/>
          <p:cNvSpPr/>
          <p:nvPr/>
        </p:nvSpPr>
        <p:spPr>
          <a:xfrm>
            <a:off x="666720" y="397188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Forma libre 432"/>
          <p:cNvSpPr/>
          <p:nvPr/>
        </p:nvSpPr>
        <p:spPr>
          <a:xfrm>
            <a:off x="666720" y="3962160"/>
            <a:ext cx="3848400" cy="10080"/>
          </a:xfrm>
          <a:custGeom>
            <a:avLst/>
            <a:gdLst/>
            <a:ahLst/>
            <a:cxnLst/>
            <a:rect l="0" t="0" r="r" b="b"/>
            <a:pathLst>
              <a:path w="10690" h="28">
                <a:moveTo>
                  <a:pt x="0" y="0"/>
                </a:moveTo>
                <a:lnTo>
                  <a:pt x="10690" y="0"/>
                </a:lnTo>
                <a:lnTo>
                  <a:pt x="106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Forma libre 433"/>
          <p:cNvSpPr/>
          <p:nvPr/>
        </p:nvSpPr>
        <p:spPr>
          <a:xfrm>
            <a:off x="4505040" y="397188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Forma libre 434"/>
          <p:cNvSpPr/>
          <p:nvPr/>
        </p:nvSpPr>
        <p:spPr>
          <a:xfrm>
            <a:off x="4514760" y="3962160"/>
            <a:ext cx="2181600" cy="10080"/>
          </a:xfrm>
          <a:custGeom>
            <a:avLst/>
            <a:gdLst/>
            <a:ahLst/>
            <a:cxnLst/>
            <a:rect l="0" t="0" r="r" b="b"/>
            <a:pathLst>
              <a:path w="6060" h="28">
                <a:moveTo>
                  <a:pt x="0" y="0"/>
                </a:moveTo>
                <a:lnTo>
                  <a:pt x="6060" y="0"/>
                </a:lnTo>
                <a:lnTo>
                  <a:pt x="60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Forma libre 435"/>
          <p:cNvSpPr/>
          <p:nvPr/>
        </p:nvSpPr>
        <p:spPr>
          <a:xfrm>
            <a:off x="6686280" y="397188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Forma libre 436"/>
          <p:cNvSpPr/>
          <p:nvPr/>
        </p:nvSpPr>
        <p:spPr>
          <a:xfrm>
            <a:off x="666720" y="43812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Forma libre 437"/>
          <p:cNvSpPr/>
          <p:nvPr/>
        </p:nvSpPr>
        <p:spPr>
          <a:xfrm>
            <a:off x="666720" y="4371840"/>
            <a:ext cx="3848400" cy="9720"/>
          </a:xfrm>
          <a:custGeom>
            <a:avLst/>
            <a:gdLst/>
            <a:ahLst/>
            <a:cxnLst/>
            <a:rect l="0" t="0" r="r" b="b"/>
            <a:pathLst>
              <a:path w="10690" h="27">
                <a:moveTo>
                  <a:pt x="0" y="0"/>
                </a:moveTo>
                <a:lnTo>
                  <a:pt x="10690" y="0"/>
                </a:lnTo>
                <a:lnTo>
                  <a:pt x="106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Forma libre 438"/>
          <p:cNvSpPr/>
          <p:nvPr/>
        </p:nvSpPr>
        <p:spPr>
          <a:xfrm>
            <a:off x="4505040" y="438120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Forma libre 439"/>
          <p:cNvSpPr/>
          <p:nvPr/>
        </p:nvSpPr>
        <p:spPr>
          <a:xfrm>
            <a:off x="4514760" y="4371840"/>
            <a:ext cx="2181600" cy="9720"/>
          </a:xfrm>
          <a:custGeom>
            <a:avLst/>
            <a:gdLst/>
            <a:ahLst/>
            <a:cxn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Forma libre 440"/>
          <p:cNvSpPr/>
          <p:nvPr/>
        </p:nvSpPr>
        <p:spPr>
          <a:xfrm>
            <a:off x="6686280" y="438120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Forma libre 441"/>
          <p:cNvSpPr/>
          <p:nvPr/>
        </p:nvSpPr>
        <p:spPr>
          <a:xfrm>
            <a:off x="666720" y="47908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Forma libre 442"/>
          <p:cNvSpPr/>
          <p:nvPr/>
        </p:nvSpPr>
        <p:spPr>
          <a:xfrm>
            <a:off x="666720" y="4781520"/>
            <a:ext cx="3848400" cy="9720"/>
          </a:xfrm>
          <a:custGeom>
            <a:avLst/>
            <a:gdLst/>
            <a:ahLst/>
            <a:cxnLst/>
            <a:rect l="0" t="0" r="r" b="b"/>
            <a:pathLst>
              <a:path w="10690" h="27">
                <a:moveTo>
                  <a:pt x="0" y="0"/>
                </a:moveTo>
                <a:lnTo>
                  <a:pt x="10690" y="0"/>
                </a:lnTo>
                <a:lnTo>
                  <a:pt x="106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Forma libre 443"/>
          <p:cNvSpPr/>
          <p:nvPr/>
        </p:nvSpPr>
        <p:spPr>
          <a:xfrm>
            <a:off x="4505040" y="47908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Forma libre 444"/>
          <p:cNvSpPr/>
          <p:nvPr/>
        </p:nvSpPr>
        <p:spPr>
          <a:xfrm>
            <a:off x="4514760" y="4781520"/>
            <a:ext cx="2181600" cy="9720"/>
          </a:xfrm>
          <a:custGeom>
            <a:avLst/>
            <a:gdLst/>
            <a:ahLst/>
            <a:cxn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Forma libre 445"/>
          <p:cNvSpPr/>
          <p:nvPr/>
        </p:nvSpPr>
        <p:spPr>
          <a:xfrm>
            <a:off x="6686280" y="47908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Forma libre 446"/>
          <p:cNvSpPr/>
          <p:nvPr/>
        </p:nvSpPr>
        <p:spPr>
          <a:xfrm>
            <a:off x="666720" y="52005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Forma libre 447"/>
          <p:cNvSpPr/>
          <p:nvPr/>
        </p:nvSpPr>
        <p:spPr>
          <a:xfrm>
            <a:off x="666720" y="5190840"/>
            <a:ext cx="3848400" cy="10080"/>
          </a:xfrm>
          <a:custGeom>
            <a:avLst/>
            <a:gdLst/>
            <a:ahLst/>
            <a:cxnLst/>
            <a:rect l="0" t="0" r="r" b="b"/>
            <a:pathLst>
              <a:path w="10690" h="28">
                <a:moveTo>
                  <a:pt x="0" y="0"/>
                </a:moveTo>
                <a:lnTo>
                  <a:pt x="10690" y="0"/>
                </a:lnTo>
                <a:lnTo>
                  <a:pt x="106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Forma libre 448"/>
          <p:cNvSpPr/>
          <p:nvPr/>
        </p:nvSpPr>
        <p:spPr>
          <a:xfrm>
            <a:off x="4505040" y="520056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Forma libre 449"/>
          <p:cNvSpPr/>
          <p:nvPr/>
        </p:nvSpPr>
        <p:spPr>
          <a:xfrm>
            <a:off x="4514760" y="5190840"/>
            <a:ext cx="2181600" cy="10080"/>
          </a:xfrm>
          <a:custGeom>
            <a:avLst/>
            <a:gdLst/>
            <a:ahLst/>
            <a:cxnLst/>
            <a:rect l="0" t="0" r="r" b="b"/>
            <a:pathLst>
              <a:path w="6060" h="28">
                <a:moveTo>
                  <a:pt x="0" y="0"/>
                </a:moveTo>
                <a:lnTo>
                  <a:pt x="6060" y="0"/>
                </a:lnTo>
                <a:lnTo>
                  <a:pt x="60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Forma libre 450"/>
          <p:cNvSpPr/>
          <p:nvPr/>
        </p:nvSpPr>
        <p:spPr>
          <a:xfrm>
            <a:off x="6686280" y="520056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Forma libre 451"/>
          <p:cNvSpPr/>
          <p:nvPr/>
        </p:nvSpPr>
        <p:spPr>
          <a:xfrm>
            <a:off x="666720" y="5600520"/>
            <a:ext cx="3848400" cy="9720"/>
          </a:xfrm>
          <a:custGeom>
            <a:avLst/>
            <a:gdLst/>
            <a:ahLst/>
            <a:cxnLst/>
            <a:rect l="0" t="0" r="r" b="b"/>
            <a:pathLst>
              <a:path w="10690" h="27">
                <a:moveTo>
                  <a:pt x="0" y="0"/>
                </a:moveTo>
                <a:lnTo>
                  <a:pt x="10690" y="0"/>
                </a:lnTo>
                <a:lnTo>
                  <a:pt x="106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Forma libre 452"/>
          <p:cNvSpPr/>
          <p:nvPr/>
        </p:nvSpPr>
        <p:spPr>
          <a:xfrm>
            <a:off x="4514760" y="5600520"/>
            <a:ext cx="2181600" cy="9720"/>
          </a:xfrm>
          <a:custGeom>
            <a:avLst/>
            <a:gdLst/>
            <a:ahLst/>
            <a:cxn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Forma libre 453"/>
          <p:cNvSpPr/>
          <p:nvPr/>
        </p:nvSpPr>
        <p:spPr>
          <a:xfrm>
            <a:off x="1857240" y="1266480"/>
            <a:ext cx="1276560" cy="381600"/>
          </a:xfrm>
          <a:custGeom>
            <a:avLst/>
            <a:gdLst/>
            <a:ahLst/>
            <a:cxnLst/>
            <a:rect l="0" t="0" r="r" b="b"/>
            <a:pathLst>
              <a:path w="3546" h="1060">
                <a:moveTo>
                  <a:pt x="0" y="954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3440" y="0"/>
                </a:lnTo>
                <a:cubicBezTo>
                  <a:pt x="3454" y="0"/>
                  <a:pt x="3468" y="3"/>
                  <a:pt x="3481" y="9"/>
                </a:cubicBezTo>
                <a:cubicBezTo>
                  <a:pt x="3494" y="14"/>
                  <a:pt x="3505" y="22"/>
                  <a:pt x="3515" y="31"/>
                </a:cubicBezTo>
                <a:cubicBezTo>
                  <a:pt x="3525" y="41"/>
                  <a:pt x="3533" y="53"/>
                  <a:pt x="3538" y="66"/>
                </a:cubicBezTo>
                <a:cubicBezTo>
                  <a:pt x="3544" y="79"/>
                  <a:pt x="3546" y="92"/>
                  <a:pt x="3546" y="106"/>
                </a:cubicBezTo>
                <a:lnTo>
                  <a:pt x="3546" y="954"/>
                </a:lnTo>
                <a:cubicBezTo>
                  <a:pt x="3546" y="968"/>
                  <a:pt x="3544" y="981"/>
                  <a:pt x="3538" y="994"/>
                </a:cubicBezTo>
                <a:cubicBezTo>
                  <a:pt x="3533" y="1007"/>
                  <a:pt x="3525" y="1019"/>
                  <a:pt x="3515" y="1029"/>
                </a:cubicBezTo>
                <a:cubicBezTo>
                  <a:pt x="3505" y="1039"/>
                  <a:pt x="3494" y="1046"/>
                  <a:pt x="3481" y="1052"/>
                </a:cubicBezTo>
                <a:cubicBezTo>
                  <a:pt x="3468" y="1057"/>
                  <a:pt x="3454" y="1060"/>
                  <a:pt x="3440" y="1060"/>
                </a:cubicBezTo>
                <a:lnTo>
                  <a:pt x="106" y="1060"/>
                </a:lnTo>
                <a:cubicBezTo>
                  <a:pt x="92" y="1060"/>
                  <a:pt x="78" y="1057"/>
                  <a:pt x="65" y="1052"/>
                </a:cubicBezTo>
                <a:cubicBezTo>
                  <a:pt x="52" y="1046"/>
                  <a:pt x="41" y="1039"/>
                  <a:pt x="31" y="1029"/>
                </a:cubicBezTo>
                <a:cubicBezTo>
                  <a:pt x="21" y="1019"/>
                  <a:pt x="13" y="1007"/>
                  <a:pt x="8" y="994"/>
                </a:cubicBezTo>
                <a:cubicBezTo>
                  <a:pt x="3" y="981"/>
                  <a:pt x="0" y="968"/>
                  <a:pt x="0" y="954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CuadroTexto 454"/>
          <p:cNvSpPr txBox="1"/>
          <p:nvPr/>
        </p:nvSpPr>
        <p:spPr>
          <a:xfrm>
            <a:off x="666720" y="1263240"/>
            <a:ext cx="12211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dtype 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CuadroTexto 455"/>
          <p:cNvSpPr txBox="1"/>
          <p:nvPr/>
        </p:nvSpPr>
        <p:spPr>
          <a:xfrm>
            <a:off x="1919880" y="1271160"/>
            <a:ext cx="117324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object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CuadroTexto 456"/>
          <p:cNvSpPr txBox="1"/>
          <p:nvPr/>
        </p:nvSpPr>
        <p:spPr>
          <a:xfrm>
            <a:off x="3135240" y="1263240"/>
            <a:ext cx="20692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es tu enemigo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CuadroTexto 457"/>
          <p:cNvSpPr txBox="1"/>
          <p:nvPr/>
        </p:nvSpPr>
        <p:spPr>
          <a:xfrm>
            <a:off x="866880" y="2089440"/>
            <a:ext cx="3097002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df.info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memory_usage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deep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Forma libre 458"/>
          <p:cNvSpPr/>
          <p:nvPr/>
        </p:nvSpPr>
        <p:spPr>
          <a:xfrm>
            <a:off x="1314360" y="2705040"/>
            <a:ext cx="819360" cy="266760"/>
          </a:xfrm>
          <a:custGeom>
            <a:avLst/>
            <a:gdLst/>
            <a:ahLst/>
            <a:cxnLst/>
            <a:rect l="0" t="0" r="r" b="b"/>
            <a:pathLst>
              <a:path w="2276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170" y="0"/>
                </a:lnTo>
                <a:cubicBezTo>
                  <a:pt x="2184" y="0"/>
                  <a:pt x="2198" y="2"/>
                  <a:pt x="2211" y="8"/>
                </a:cubicBezTo>
                <a:cubicBezTo>
                  <a:pt x="2224" y="13"/>
                  <a:pt x="2235" y="21"/>
                  <a:pt x="2245" y="31"/>
                </a:cubicBezTo>
                <a:cubicBezTo>
                  <a:pt x="2255" y="41"/>
                  <a:pt x="2263" y="52"/>
                  <a:pt x="2268" y="65"/>
                </a:cubicBezTo>
                <a:cubicBezTo>
                  <a:pt x="2273" y="78"/>
                  <a:pt x="2276" y="91"/>
                  <a:pt x="2276" y="105"/>
                </a:cubicBezTo>
                <a:lnTo>
                  <a:pt x="2276" y="636"/>
                </a:lnTo>
                <a:cubicBezTo>
                  <a:pt x="2276" y="650"/>
                  <a:pt x="2273" y="663"/>
                  <a:pt x="2268" y="676"/>
                </a:cubicBezTo>
                <a:cubicBezTo>
                  <a:pt x="2263" y="689"/>
                  <a:pt x="2255" y="701"/>
                  <a:pt x="2245" y="711"/>
                </a:cubicBezTo>
                <a:cubicBezTo>
                  <a:pt x="2235" y="720"/>
                  <a:pt x="2224" y="728"/>
                  <a:pt x="2211" y="733"/>
                </a:cubicBezTo>
                <a:cubicBezTo>
                  <a:pt x="2198" y="739"/>
                  <a:pt x="2184" y="741"/>
                  <a:pt x="2170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CuadroTexto 459"/>
          <p:cNvSpPr txBox="1"/>
          <p:nvPr/>
        </p:nvSpPr>
        <p:spPr>
          <a:xfrm>
            <a:off x="666720" y="2687400"/>
            <a:ext cx="648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 ves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CuadroTexto 460"/>
          <p:cNvSpPr txBox="1"/>
          <p:nvPr/>
        </p:nvSpPr>
        <p:spPr>
          <a:xfrm>
            <a:off x="1371960" y="272484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object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CuadroTexto 461"/>
          <p:cNvSpPr txBox="1"/>
          <p:nvPr/>
        </p:nvSpPr>
        <p:spPr>
          <a:xfrm>
            <a:off x="2131200" y="2687400"/>
            <a:ext cx="6202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 una columna de texto, estás pagando ~50 bytes por celda.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CuadroTexto 462"/>
          <p:cNvSpPr txBox="1"/>
          <p:nvPr/>
        </p:nvSpPr>
        <p:spPr>
          <a:xfrm>
            <a:off x="2167560" y="3247560"/>
            <a:ext cx="850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Situación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CuadroTexto 463"/>
          <p:cNvSpPr txBox="1"/>
          <p:nvPr/>
        </p:nvSpPr>
        <p:spPr>
          <a:xfrm>
            <a:off x="5089320" y="3247560"/>
            <a:ext cx="1026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Cámbialo 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Forma libre 464"/>
          <p:cNvSpPr/>
          <p:nvPr/>
        </p:nvSpPr>
        <p:spPr>
          <a:xfrm>
            <a:off x="4638600" y="3657240"/>
            <a:ext cx="895680" cy="228960"/>
          </a:xfrm>
          <a:custGeom>
            <a:avLst/>
            <a:gdLst/>
            <a:ahLst/>
            <a:cxnLst/>
            <a:rect l="0" t="0" r="r" b="b"/>
            <a:pathLst>
              <a:path w="2488" h="636">
                <a:moveTo>
                  <a:pt x="0" y="531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2382" y="0"/>
                </a:lnTo>
                <a:cubicBezTo>
                  <a:pt x="2396" y="0"/>
                  <a:pt x="2409" y="3"/>
                  <a:pt x="2422" y="9"/>
                </a:cubicBezTo>
                <a:cubicBezTo>
                  <a:pt x="2435" y="14"/>
                  <a:pt x="2447" y="22"/>
                  <a:pt x="2457" y="31"/>
                </a:cubicBezTo>
                <a:cubicBezTo>
                  <a:pt x="2467" y="41"/>
                  <a:pt x="2474" y="53"/>
                  <a:pt x="2480" y="66"/>
                </a:cubicBezTo>
                <a:cubicBezTo>
                  <a:pt x="2485" y="79"/>
                  <a:pt x="2488" y="92"/>
                  <a:pt x="2488" y="106"/>
                </a:cubicBezTo>
                <a:lnTo>
                  <a:pt x="2488" y="531"/>
                </a:lnTo>
                <a:cubicBezTo>
                  <a:pt x="2488" y="545"/>
                  <a:pt x="2485" y="558"/>
                  <a:pt x="2480" y="571"/>
                </a:cubicBezTo>
                <a:cubicBezTo>
                  <a:pt x="2474" y="584"/>
                  <a:pt x="2467" y="596"/>
                  <a:pt x="2457" y="606"/>
                </a:cubicBezTo>
                <a:cubicBezTo>
                  <a:pt x="2447" y="615"/>
                  <a:pt x="2435" y="623"/>
                  <a:pt x="2422" y="628"/>
                </a:cubicBezTo>
                <a:cubicBezTo>
                  <a:pt x="2409" y="634"/>
                  <a:pt x="2396" y="636"/>
                  <a:pt x="2382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6"/>
                </a:cubicBezTo>
                <a:cubicBezTo>
                  <a:pt x="21" y="596"/>
                  <a:pt x="13" y="584"/>
                  <a:pt x="8" y="571"/>
                </a:cubicBezTo>
                <a:cubicBezTo>
                  <a:pt x="2" y="558"/>
                  <a:pt x="0" y="545"/>
                  <a:pt x="0" y="531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CuadroTexto 465"/>
          <p:cNvSpPr txBox="1"/>
          <p:nvPr/>
        </p:nvSpPr>
        <p:spPr>
          <a:xfrm>
            <a:off x="799920" y="3647520"/>
            <a:ext cx="3501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Pocas categorías repetidas (sexo, dx, sitio)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CuadroTexto 466"/>
          <p:cNvSpPr txBox="1"/>
          <p:nvPr/>
        </p:nvSpPr>
        <p:spPr>
          <a:xfrm>
            <a:off x="4699440" y="3678840"/>
            <a:ext cx="778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category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Forma libre 467"/>
          <p:cNvSpPr/>
          <p:nvPr/>
        </p:nvSpPr>
        <p:spPr>
          <a:xfrm>
            <a:off x="4638600" y="4066920"/>
            <a:ext cx="705240" cy="228960"/>
          </a:xfrm>
          <a:custGeom>
            <a:avLst/>
            <a:gdLst/>
            <a:ahLst/>
            <a:cxnLst/>
            <a:rect l="0" t="0" r="r" b="b"/>
            <a:pathLst>
              <a:path w="1959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853" y="0"/>
                </a:lnTo>
                <a:cubicBezTo>
                  <a:pt x="1867" y="0"/>
                  <a:pt x="1880" y="3"/>
                  <a:pt x="1893" y="8"/>
                </a:cubicBezTo>
                <a:cubicBezTo>
                  <a:pt x="1906" y="14"/>
                  <a:pt x="1918" y="21"/>
                  <a:pt x="1928" y="31"/>
                </a:cubicBezTo>
                <a:cubicBezTo>
                  <a:pt x="1938" y="41"/>
                  <a:pt x="1945" y="53"/>
                  <a:pt x="1951" y="66"/>
                </a:cubicBezTo>
                <a:cubicBezTo>
                  <a:pt x="1956" y="79"/>
                  <a:pt x="1959" y="92"/>
                  <a:pt x="1959" y="106"/>
                </a:cubicBezTo>
                <a:lnTo>
                  <a:pt x="1959" y="530"/>
                </a:lnTo>
                <a:cubicBezTo>
                  <a:pt x="1959" y="544"/>
                  <a:pt x="1956" y="558"/>
                  <a:pt x="1951" y="571"/>
                </a:cubicBezTo>
                <a:cubicBezTo>
                  <a:pt x="1945" y="584"/>
                  <a:pt x="1938" y="595"/>
                  <a:pt x="1928" y="605"/>
                </a:cubicBezTo>
                <a:cubicBezTo>
                  <a:pt x="1918" y="615"/>
                  <a:pt x="1906" y="623"/>
                  <a:pt x="1893" y="628"/>
                </a:cubicBezTo>
                <a:cubicBezTo>
                  <a:pt x="1880" y="634"/>
                  <a:pt x="1867" y="636"/>
                  <a:pt x="1853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2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CuadroTexto 468"/>
          <p:cNvSpPr txBox="1"/>
          <p:nvPr/>
        </p:nvSpPr>
        <p:spPr>
          <a:xfrm>
            <a:off x="799920" y="4057200"/>
            <a:ext cx="24462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Texto libre real (notas clínicas)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CuadroTexto 469"/>
          <p:cNvSpPr txBox="1"/>
          <p:nvPr/>
        </p:nvSpPr>
        <p:spPr>
          <a:xfrm>
            <a:off x="4699440" y="4088520"/>
            <a:ext cx="5842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string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Forma libre 470"/>
          <p:cNvSpPr/>
          <p:nvPr/>
        </p:nvSpPr>
        <p:spPr>
          <a:xfrm>
            <a:off x="4638600" y="4476600"/>
            <a:ext cx="609840" cy="228960"/>
          </a:xfrm>
          <a:custGeom>
            <a:avLst/>
            <a:gdLst/>
            <a:ahLst/>
            <a:cxnLst/>
            <a:rect l="0" t="0" r="r" b="b"/>
            <a:pathLst>
              <a:path w="1694" h="636">
                <a:moveTo>
                  <a:pt x="0" y="529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588" y="0"/>
                </a:lnTo>
                <a:cubicBezTo>
                  <a:pt x="1602" y="0"/>
                  <a:pt x="1616" y="3"/>
                  <a:pt x="1629" y="8"/>
                </a:cubicBezTo>
                <a:cubicBezTo>
                  <a:pt x="1642" y="13"/>
                  <a:pt x="1653" y="21"/>
                  <a:pt x="1663" y="31"/>
                </a:cubicBezTo>
                <a:cubicBezTo>
                  <a:pt x="1673" y="41"/>
                  <a:pt x="1681" y="52"/>
                  <a:pt x="1686" y="65"/>
                </a:cubicBezTo>
                <a:cubicBezTo>
                  <a:pt x="1691" y="78"/>
                  <a:pt x="1694" y="92"/>
                  <a:pt x="1694" y="106"/>
                </a:cubicBezTo>
                <a:lnTo>
                  <a:pt x="1694" y="529"/>
                </a:lnTo>
                <a:cubicBezTo>
                  <a:pt x="1694" y="543"/>
                  <a:pt x="1691" y="557"/>
                  <a:pt x="1686" y="571"/>
                </a:cubicBezTo>
                <a:cubicBezTo>
                  <a:pt x="1681" y="584"/>
                  <a:pt x="1673" y="595"/>
                  <a:pt x="1663" y="605"/>
                </a:cubicBezTo>
                <a:cubicBezTo>
                  <a:pt x="1653" y="615"/>
                  <a:pt x="1642" y="622"/>
                  <a:pt x="1629" y="628"/>
                </a:cubicBezTo>
                <a:cubicBezTo>
                  <a:pt x="1616" y="633"/>
                  <a:pt x="1602" y="636"/>
                  <a:pt x="1588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2" y="557"/>
                  <a:pt x="0" y="543"/>
                  <a:pt x="0" y="529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CuadroTexto 471"/>
          <p:cNvSpPr txBox="1"/>
          <p:nvPr/>
        </p:nvSpPr>
        <p:spPr>
          <a:xfrm>
            <a:off x="799920" y="4466880"/>
            <a:ext cx="27637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Enteros que caben en menos bits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CuadroTexto 472"/>
          <p:cNvSpPr txBox="1"/>
          <p:nvPr/>
        </p:nvSpPr>
        <p:spPr>
          <a:xfrm>
            <a:off x="4699440" y="4497840"/>
            <a:ext cx="4870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int32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Forma libre 473"/>
          <p:cNvSpPr/>
          <p:nvPr/>
        </p:nvSpPr>
        <p:spPr>
          <a:xfrm>
            <a:off x="5352840" y="4476600"/>
            <a:ext cx="600480" cy="228960"/>
          </a:xfrm>
          <a:custGeom>
            <a:avLst/>
            <a:gdLst/>
            <a:ahLst/>
            <a:cxnLst/>
            <a:rect l="0" t="0" r="r" b="b"/>
            <a:pathLst>
              <a:path w="1668" h="636">
                <a:moveTo>
                  <a:pt x="0" y="529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562" y="0"/>
                </a:lnTo>
                <a:cubicBezTo>
                  <a:pt x="1576" y="0"/>
                  <a:pt x="1590" y="3"/>
                  <a:pt x="1603" y="8"/>
                </a:cubicBezTo>
                <a:cubicBezTo>
                  <a:pt x="1616" y="13"/>
                  <a:pt x="1627" y="21"/>
                  <a:pt x="1637" y="31"/>
                </a:cubicBezTo>
                <a:cubicBezTo>
                  <a:pt x="1647" y="41"/>
                  <a:pt x="1655" y="52"/>
                  <a:pt x="1660" y="65"/>
                </a:cubicBezTo>
                <a:cubicBezTo>
                  <a:pt x="1665" y="78"/>
                  <a:pt x="1668" y="92"/>
                  <a:pt x="1668" y="106"/>
                </a:cubicBezTo>
                <a:lnTo>
                  <a:pt x="1668" y="529"/>
                </a:lnTo>
                <a:cubicBezTo>
                  <a:pt x="1668" y="543"/>
                  <a:pt x="1665" y="557"/>
                  <a:pt x="1660" y="571"/>
                </a:cubicBezTo>
                <a:cubicBezTo>
                  <a:pt x="1655" y="584"/>
                  <a:pt x="1647" y="595"/>
                  <a:pt x="1637" y="605"/>
                </a:cubicBezTo>
                <a:cubicBezTo>
                  <a:pt x="1627" y="615"/>
                  <a:pt x="1616" y="622"/>
                  <a:pt x="1603" y="628"/>
                </a:cubicBezTo>
                <a:cubicBezTo>
                  <a:pt x="1590" y="633"/>
                  <a:pt x="1576" y="636"/>
                  <a:pt x="1562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4" y="584"/>
                  <a:pt x="8" y="571"/>
                </a:cubicBezTo>
                <a:cubicBezTo>
                  <a:pt x="3" y="557"/>
                  <a:pt x="0" y="543"/>
                  <a:pt x="0" y="529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CuadroTexto 474"/>
          <p:cNvSpPr txBox="1"/>
          <p:nvPr/>
        </p:nvSpPr>
        <p:spPr>
          <a:xfrm>
            <a:off x="5244120" y="446688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CuadroTexto 475"/>
          <p:cNvSpPr txBox="1"/>
          <p:nvPr/>
        </p:nvSpPr>
        <p:spPr>
          <a:xfrm>
            <a:off x="5407200" y="4497840"/>
            <a:ext cx="4870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int16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Forma libre 476"/>
          <p:cNvSpPr/>
          <p:nvPr/>
        </p:nvSpPr>
        <p:spPr>
          <a:xfrm>
            <a:off x="6057720" y="4476600"/>
            <a:ext cx="505080" cy="228960"/>
          </a:xfrm>
          <a:custGeom>
            <a:avLst/>
            <a:gdLst/>
            <a:ahLst/>
            <a:cxnLst/>
            <a:rect l="0" t="0" r="r" b="b"/>
            <a:pathLst>
              <a:path w="1403" h="636">
                <a:moveTo>
                  <a:pt x="0" y="529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297" y="0"/>
                </a:lnTo>
                <a:cubicBezTo>
                  <a:pt x="1311" y="0"/>
                  <a:pt x="1325" y="3"/>
                  <a:pt x="1338" y="8"/>
                </a:cubicBezTo>
                <a:cubicBezTo>
                  <a:pt x="1351" y="13"/>
                  <a:pt x="1362" y="21"/>
                  <a:pt x="1372" y="31"/>
                </a:cubicBezTo>
                <a:cubicBezTo>
                  <a:pt x="1382" y="41"/>
                  <a:pt x="1390" y="52"/>
                  <a:pt x="1395" y="65"/>
                </a:cubicBezTo>
                <a:cubicBezTo>
                  <a:pt x="1401" y="78"/>
                  <a:pt x="1403" y="92"/>
                  <a:pt x="1403" y="106"/>
                </a:cubicBezTo>
                <a:lnTo>
                  <a:pt x="1403" y="529"/>
                </a:lnTo>
                <a:cubicBezTo>
                  <a:pt x="1403" y="543"/>
                  <a:pt x="1401" y="557"/>
                  <a:pt x="1395" y="571"/>
                </a:cubicBezTo>
                <a:cubicBezTo>
                  <a:pt x="1390" y="584"/>
                  <a:pt x="1382" y="595"/>
                  <a:pt x="1372" y="605"/>
                </a:cubicBezTo>
                <a:cubicBezTo>
                  <a:pt x="1362" y="615"/>
                  <a:pt x="1351" y="622"/>
                  <a:pt x="1338" y="628"/>
                </a:cubicBezTo>
                <a:cubicBezTo>
                  <a:pt x="1325" y="633"/>
                  <a:pt x="1311" y="636"/>
                  <a:pt x="129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7"/>
                  <a:pt x="0" y="543"/>
                  <a:pt x="0" y="529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CuadroTexto 477"/>
          <p:cNvSpPr txBox="1"/>
          <p:nvPr/>
        </p:nvSpPr>
        <p:spPr>
          <a:xfrm>
            <a:off x="5952240" y="446688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CuadroTexto 478"/>
          <p:cNvSpPr txBox="1"/>
          <p:nvPr/>
        </p:nvSpPr>
        <p:spPr>
          <a:xfrm>
            <a:off x="6115320" y="4497840"/>
            <a:ext cx="38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int8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Forma libre 479"/>
          <p:cNvSpPr/>
          <p:nvPr/>
        </p:nvSpPr>
        <p:spPr>
          <a:xfrm>
            <a:off x="4638600" y="4886280"/>
            <a:ext cx="800280" cy="228960"/>
          </a:xfrm>
          <a:custGeom>
            <a:avLst/>
            <a:gdLst/>
            <a:ahLst/>
            <a:cxnLst/>
            <a:rect l="0" t="0" r="r" b="b"/>
            <a:pathLst>
              <a:path w="222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117" y="0"/>
                </a:lnTo>
                <a:cubicBezTo>
                  <a:pt x="2131" y="0"/>
                  <a:pt x="2145" y="2"/>
                  <a:pt x="2158" y="8"/>
                </a:cubicBezTo>
                <a:cubicBezTo>
                  <a:pt x="2171" y="13"/>
                  <a:pt x="2182" y="21"/>
                  <a:pt x="2192" y="31"/>
                </a:cubicBezTo>
                <a:cubicBezTo>
                  <a:pt x="2202" y="41"/>
                  <a:pt x="2210" y="52"/>
                  <a:pt x="2215" y="66"/>
                </a:cubicBezTo>
                <a:cubicBezTo>
                  <a:pt x="2221" y="79"/>
                  <a:pt x="2223" y="92"/>
                  <a:pt x="2223" y="106"/>
                </a:cubicBezTo>
                <a:lnTo>
                  <a:pt x="2223" y="530"/>
                </a:lnTo>
                <a:cubicBezTo>
                  <a:pt x="2223" y="544"/>
                  <a:pt x="2221" y="557"/>
                  <a:pt x="2215" y="570"/>
                </a:cubicBezTo>
                <a:cubicBezTo>
                  <a:pt x="2210" y="583"/>
                  <a:pt x="2202" y="595"/>
                  <a:pt x="2192" y="605"/>
                </a:cubicBezTo>
                <a:cubicBezTo>
                  <a:pt x="2182" y="615"/>
                  <a:pt x="2171" y="622"/>
                  <a:pt x="2158" y="628"/>
                </a:cubicBezTo>
                <a:cubicBezTo>
                  <a:pt x="2145" y="633"/>
                  <a:pt x="2131" y="636"/>
                  <a:pt x="211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2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CuadroTexto 480"/>
          <p:cNvSpPr txBox="1"/>
          <p:nvPr/>
        </p:nvSpPr>
        <p:spPr>
          <a:xfrm>
            <a:off x="799920" y="4876560"/>
            <a:ext cx="35892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Decimales sin necesidad de precisión doble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CuadroTexto 481"/>
          <p:cNvSpPr txBox="1"/>
          <p:nvPr/>
        </p:nvSpPr>
        <p:spPr>
          <a:xfrm>
            <a:off x="4699440" y="4907520"/>
            <a:ext cx="6814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float32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Forma libre 482"/>
          <p:cNvSpPr/>
          <p:nvPr/>
        </p:nvSpPr>
        <p:spPr>
          <a:xfrm>
            <a:off x="4638600" y="5295600"/>
            <a:ext cx="1486080" cy="228960"/>
          </a:xfrm>
          <a:custGeom>
            <a:avLst/>
            <a:gdLst/>
            <a:ahLst/>
            <a:cxnLst/>
            <a:rect l="0" t="0" r="r" b="b"/>
            <a:pathLst>
              <a:path w="4128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022" y="0"/>
                </a:lnTo>
                <a:cubicBezTo>
                  <a:pt x="4036" y="0"/>
                  <a:pt x="4050" y="3"/>
                  <a:pt x="4063" y="8"/>
                </a:cubicBezTo>
                <a:cubicBezTo>
                  <a:pt x="4076" y="14"/>
                  <a:pt x="4087" y="21"/>
                  <a:pt x="4097" y="31"/>
                </a:cubicBezTo>
                <a:cubicBezTo>
                  <a:pt x="4107" y="41"/>
                  <a:pt x="4115" y="53"/>
                  <a:pt x="4120" y="66"/>
                </a:cubicBezTo>
                <a:cubicBezTo>
                  <a:pt x="4126" y="79"/>
                  <a:pt x="4128" y="92"/>
                  <a:pt x="4128" y="106"/>
                </a:cubicBezTo>
                <a:lnTo>
                  <a:pt x="4128" y="530"/>
                </a:lnTo>
                <a:cubicBezTo>
                  <a:pt x="4128" y="545"/>
                  <a:pt x="4126" y="558"/>
                  <a:pt x="4120" y="571"/>
                </a:cubicBezTo>
                <a:cubicBezTo>
                  <a:pt x="4115" y="584"/>
                  <a:pt x="4107" y="595"/>
                  <a:pt x="4097" y="605"/>
                </a:cubicBezTo>
                <a:cubicBezTo>
                  <a:pt x="4087" y="615"/>
                  <a:pt x="4076" y="623"/>
                  <a:pt x="4063" y="628"/>
                </a:cubicBezTo>
                <a:cubicBezTo>
                  <a:pt x="4050" y="634"/>
                  <a:pt x="4036" y="636"/>
                  <a:pt x="4022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2" y="558"/>
                  <a:pt x="0" y="545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CuadroTexto 483"/>
          <p:cNvSpPr txBox="1"/>
          <p:nvPr/>
        </p:nvSpPr>
        <p:spPr>
          <a:xfrm>
            <a:off x="799920" y="5285880"/>
            <a:ext cx="2506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Fechas guardadas como texto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CuadroTexto 484"/>
          <p:cNvSpPr txBox="1"/>
          <p:nvPr/>
        </p:nvSpPr>
        <p:spPr>
          <a:xfrm>
            <a:off x="4699440" y="5317200"/>
            <a:ext cx="13622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datetime64[ns]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CuadroTexto 48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CuadroTexto 48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CuadroTexto 48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Forma libre 48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Forma libre 48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Forma libre 49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Forma libre 491"/>
          <p:cNvSpPr/>
          <p:nvPr/>
        </p:nvSpPr>
        <p:spPr>
          <a:xfrm>
            <a:off x="671400" y="2300040"/>
            <a:ext cx="10849320" cy="2419920"/>
          </a:xfrm>
          <a:custGeom>
            <a:avLst/>
            <a:gdLst/>
            <a:ahLst/>
            <a:cxnLst/>
            <a:rect l="0" t="0" r="r" b="b"/>
            <a:pathLst>
              <a:path w="30137" h="6722">
                <a:moveTo>
                  <a:pt x="0" y="652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6523"/>
                </a:lnTo>
                <a:cubicBezTo>
                  <a:pt x="30137" y="6536"/>
                  <a:pt x="30136" y="6549"/>
                  <a:pt x="30133" y="6562"/>
                </a:cubicBezTo>
                <a:cubicBezTo>
                  <a:pt x="30130" y="6575"/>
                  <a:pt x="30127" y="6587"/>
                  <a:pt x="30122" y="6599"/>
                </a:cubicBezTo>
                <a:cubicBezTo>
                  <a:pt x="30117" y="6611"/>
                  <a:pt x="30111" y="6623"/>
                  <a:pt x="30103" y="6633"/>
                </a:cubicBezTo>
                <a:cubicBezTo>
                  <a:pt x="30096" y="6644"/>
                  <a:pt x="30088" y="6654"/>
                  <a:pt x="30079" y="6663"/>
                </a:cubicBezTo>
                <a:cubicBezTo>
                  <a:pt x="30070" y="6673"/>
                  <a:pt x="30059" y="6681"/>
                  <a:pt x="30049" y="6688"/>
                </a:cubicBezTo>
                <a:cubicBezTo>
                  <a:pt x="30038" y="6695"/>
                  <a:pt x="30026" y="6702"/>
                  <a:pt x="30014" y="6706"/>
                </a:cubicBezTo>
                <a:cubicBezTo>
                  <a:pt x="30002" y="6711"/>
                  <a:pt x="29990" y="6715"/>
                  <a:pt x="29977" y="6718"/>
                </a:cubicBezTo>
                <a:cubicBezTo>
                  <a:pt x="29964" y="6720"/>
                  <a:pt x="29951" y="6722"/>
                  <a:pt x="29938" y="6722"/>
                </a:cubicBezTo>
                <a:lnTo>
                  <a:pt x="198" y="6722"/>
                </a:lnTo>
                <a:cubicBezTo>
                  <a:pt x="185" y="6722"/>
                  <a:pt x="172" y="6720"/>
                  <a:pt x="160" y="6718"/>
                </a:cubicBezTo>
                <a:cubicBezTo>
                  <a:pt x="147" y="6715"/>
                  <a:pt x="134" y="6711"/>
                  <a:pt x="122" y="6706"/>
                </a:cubicBezTo>
                <a:cubicBezTo>
                  <a:pt x="110" y="6702"/>
                  <a:pt x="99" y="6695"/>
                  <a:pt x="88" y="6688"/>
                </a:cubicBezTo>
                <a:cubicBezTo>
                  <a:pt x="77" y="6681"/>
                  <a:pt x="67" y="6673"/>
                  <a:pt x="58" y="6663"/>
                </a:cubicBezTo>
                <a:cubicBezTo>
                  <a:pt x="49" y="6654"/>
                  <a:pt x="40" y="6644"/>
                  <a:pt x="33" y="6633"/>
                </a:cubicBezTo>
                <a:cubicBezTo>
                  <a:pt x="26" y="6623"/>
                  <a:pt x="20" y="6611"/>
                  <a:pt x="15" y="6599"/>
                </a:cubicBezTo>
                <a:cubicBezTo>
                  <a:pt x="10" y="6587"/>
                  <a:pt x="6" y="6575"/>
                  <a:pt x="4" y="6562"/>
                </a:cubicBezTo>
                <a:cubicBezTo>
                  <a:pt x="1" y="6549"/>
                  <a:pt x="0" y="6536"/>
                  <a:pt x="0" y="652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Forma libre 492"/>
          <p:cNvSpPr/>
          <p:nvPr/>
        </p:nvSpPr>
        <p:spPr>
          <a:xfrm>
            <a:off x="671400" y="2300040"/>
            <a:ext cx="10849320" cy="2419920"/>
          </a:xfrm>
          <a:custGeom>
            <a:avLst/>
            <a:gdLst/>
            <a:ahLst/>
            <a:cxnLst/>
            <a:rect l="0" t="0" r="r" b="b"/>
            <a:pathLst>
              <a:path w="30137" h="6722">
                <a:moveTo>
                  <a:pt x="0" y="652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6523"/>
                </a:lnTo>
                <a:cubicBezTo>
                  <a:pt x="30137" y="6536"/>
                  <a:pt x="30136" y="6549"/>
                  <a:pt x="30133" y="6562"/>
                </a:cubicBezTo>
                <a:cubicBezTo>
                  <a:pt x="30130" y="6575"/>
                  <a:pt x="30127" y="6587"/>
                  <a:pt x="30122" y="6599"/>
                </a:cubicBezTo>
                <a:cubicBezTo>
                  <a:pt x="30117" y="6611"/>
                  <a:pt x="30111" y="6623"/>
                  <a:pt x="30103" y="6633"/>
                </a:cubicBezTo>
                <a:cubicBezTo>
                  <a:pt x="30096" y="6644"/>
                  <a:pt x="30088" y="6654"/>
                  <a:pt x="30079" y="6663"/>
                </a:cubicBezTo>
                <a:cubicBezTo>
                  <a:pt x="30070" y="6673"/>
                  <a:pt x="30059" y="6681"/>
                  <a:pt x="30049" y="6688"/>
                </a:cubicBezTo>
                <a:cubicBezTo>
                  <a:pt x="30038" y="6695"/>
                  <a:pt x="30026" y="6702"/>
                  <a:pt x="30014" y="6706"/>
                </a:cubicBezTo>
                <a:cubicBezTo>
                  <a:pt x="30002" y="6711"/>
                  <a:pt x="29990" y="6715"/>
                  <a:pt x="29977" y="6718"/>
                </a:cubicBezTo>
                <a:cubicBezTo>
                  <a:pt x="29964" y="6720"/>
                  <a:pt x="29951" y="6722"/>
                  <a:pt x="29938" y="6722"/>
                </a:cubicBezTo>
                <a:lnTo>
                  <a:pt x="198" y="6722"/>
                </a:lnTo>
                <a:cubicBezTo>
                  <a:pt x="185" y="6722"/>
                  <a:pt x="172" y="6720"/>
                  <a:pt x="160" y="6718"/>
                </a:cubicBezTo>
                <a:cubicBezTo>
                  <a:pt x="147" y="6715"/>
                  <a:pt x="134" y="6711"/>
                  <a:pt x="122" y="6706"/>
                </a:cubicBezTo>
                <a:cubicBezTo>
                  <a:pt x="110" y="6702"/>
                  <a:pt x="99" y="6695"/>
                  <a:pt x="88" y="6688"/>
                </a:cubicBezTo>
                <a:cubicBezTo>
                  <a:pt x="77" y="6681"/>
                  <a:pt x="67" y="6673"/>
                  <a:pt x="58" y="6663"/>
                </a:cubicBezTo>
                <a:cubicBezTo>
                  <a:pt x="49" y="6654"/>
                  <a:pt x="40" y="6644"/>
                  <a:pt x="33" y="6633"/>
                </a:cubicBezTo>
                <a:cubicBezTo>
                  <a:pt x="26" y="6623"/>
                  <a:pt x="20" y="6611"/>
                  <a:pt x="15" y="6599"/>
                </a:cubicBezTo>
                <a:cubicBezTo>
                  <a:pt x="10" y="6587"/>
                  <a:pt x="6" y="6575"/>
                  <a:pt x="4" y="6562"/>
                </a:cubicBezTo>
                <a:cubicBezTo>
                  <a:pt x="1" y="6549"/>
                  <a:pt x="0" y="6536"/>
                  <a:pt x="0" y="652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CuadroTexto 493"/>
          <p:cNvSpPr txBox="1"/>
          <p:nvPr/>
        </p:nvSpPr>
        <p:spPr>
          <a:xfrm>
            <a:off x="666720" y="1653840"/>
            <a:ext cx="2253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Medido: 27 MB 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CuadroTexto 494"/>
          <p:cNvSpPr txBox="1"/>
          <p:nvPr/>
        </p:nvSpPr>
        <p:spPr>
          <a:xfrm>
            <a:off x="2869200" y="1668960"/>
            <a:ext cx="3254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CuadroTexto 495"/>
          <p:cNvSpPr txBox="1"/>
          <p:nvPr/>
        </p:nvSpPr>
        <p:spPr>
          <a:xfrm>
            <a:off x="3189960" y="1653840"/>
            <a:ext cx="844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2 MB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CuadroTexto 496"/>
          <p:cNvSpPr txBox="1"/>
          <p:nvPr/>
        </p:nvSpPr>
        <p:spPr>
          <a:xfrm>
            <a:off x="866880" y="2480040"/>
            <a:ext cx="5896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df.memory_usage(deep=</a:t>
            </a:r>
            <a:r>
              <a:rPr lang="es-ES" sz="143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True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).</a:t>
            </a:r>
            <a:r>
              <a:rPr lang="es-ES" sz="1430" b="0" u="none" strike="noStrik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sum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() / </a:t>
            </a:r>
            <a:r>
              <a:rPr lang="es-ES" sz="143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1e6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</a:t>
            </a:r>
            <a:r>
              <a:rPr lang="es-ES" sz="143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27.20 MB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CuadroTexto 497"/>
          <p:cNvSpPr txBox="1"/>
          <p:nvPr/>
        </p:nvSpPr>
        <p:spPr>
          <a:xfrm>
            <a:off x="866880" y="3003840"/>
            <a:ext cx="5419753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df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[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person_id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 =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df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[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person_id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].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astype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'int32'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CuadroTexto 498"/>
          <p:cNvSpPr txBox="1"/>
          <p:nvPr/>
        </p:nvSpPr>
        <p:spPr>
          <a:xfrm>
            <a:off x="866880" y="3270600"/>
            <a:ext cx="5198539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df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[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'sexo'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      =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df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[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'sexo'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].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astype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category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CuadroTexto 499"/>
          <p:cNvSpPr txBox="1"/>
          <p:nvPr/>
        </p:nvSpPr>
        <p:spPr>
          <a:xfrm>
            <a:off x="866880" y="3527640"/>
            <a:ext cx="4977325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df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[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dx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        =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df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[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dx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].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astype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category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CuadroTexto 500"/>
          <p:cNvSpPr txBox="1"/>
          <p:nvPr/>
        </p:nvSpPr>
        <p:spPr>
          <a:xfrm>
            <a:off x="866880" y="3794400"/>
            <a:ext cx="5198539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df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[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'valor'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     =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df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[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'valor'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].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astype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'float32'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CuadroTexto 501"/>
          <p:cNvSpPr txBox="1"/>
          <p:nvPr/>
        </p:nvSpPr>
        <p:spPr>
          <a:xfrm>
            <a:off x="866880" y="4318200"/>
            <a:ext cx="5896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df.memory_usage(deep=</a:t>
            </a:r>
            <a:r>
              <a:rPr lang="es-ES" sz="143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True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).</a:t>
            </a:r>
            <a:r>
              <a:rPr lang="es-ES" sz="1430" b="0" u="none" strike="noStrik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sum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() / </a:t>
            </a:r>
            <a:r>
              <a:rPr lang="es-ES" sz="143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1e6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</a:t>
            </a:r>
            <a:r>
              <a:rPr lang="es-ES" sz="143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 2.00 MB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CuadroTexto 502"/>
          <p:cNvSpPr txBox="1"/>
          <p:nvPr/>
        </p:nvSpPr>
        <p:spPr>
          <a:xfrm>
            <a:off x="666720" y="4916520"/>
            <a:ext cx="5133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13.6× menos memoria.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200 000 ﬁlas, 4 columnas.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CuadroTexto 50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CuadroTexto 50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CuadroTexto 50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Forma libre 50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Forma libre 50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Forma libre 50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Forma libre 509"/>
          <p:cNvSpPr/>
          <p:nvPr/>
        </p:nvSpPr>
        <p:spPr>
          <a:xfrm>
            <a:off x="671400" y="2280960"/>
            <a:ext cx="10849320" cy="2943720"/>
          </a:xfrm>
          <a:custGeom>
            <a:avLst/>
            <a:gdLst/>
            <a:ahLst/>
            <a:cxnLst/>
            <a:rect l="0" t="0" r="r" b="b"/>
            <a:pathLst>
              <a:path w="30137" h="8177">
                <a:moveTo>
                  <a:pt x="0" y="797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7978"/>
                </a:lnTo>
                <a:cubicBezTo>
                  <a:pt x="30137" y="7991"/>
                  <a:pt x="30136" y="8004"/>
                  <a:pt x="30133" y="8017"/>
                </a:cubicBezTo>
                <a:cubicBezTo>
                  <a:pt x="30130" y="8030"/>
                  <a:pt x="30127" y="8042"/>
                  <a:pt x="30122" y="8054"/>
                </a:cubicBezTo>
                <a:cubicBezTo>
                  <a:pt x="30117" y="8066"/>
                  <a:pt x="30111" y="8078"/>
                  <a:pt x="30103" y="8089"/>
                </a:cubicBezTo>
                <a:cubicBezTo>
                  <a:pt x="30096" y="8100"/>
                  <a:pt x="30088" y="8110"/>
                  <a:pt x="30079" y="8119"/>
                </a:cubicBezTo>
                <a:cubicBezTo>
                  <a:pt x="30070" y="8128"/>
                  <a:pt x="30059" y="8136"/>
                  <a:pt x="30049" y="8143"/>
                </a:cubicBezTo>
                <a:cubicBezTo>
                  <a:pt x="30038" y="8151"/>
                  <a:pt x="30026" y="8157"/>
                  <a:pt x="30014" y="8162"/>
                </a:cubicBezTo>
                <a:cubicBezTo>
                  <a:pt x="30002" y="8167"/>
                  <a:pt x="29990" y="8171"/>
                  <a:pt x="29977" y="8173"/>
                </a:cubicBezTo>
                <a:cubicBezTo>
                  <a:pt x="29964" y="8176"/>
                  <a:pt x="29951" y="8177"/>
                  <a:pt x="29938" y="8177"/>
                </a:cubicBezTo>
                <a:lnTo>
                  <a:pt x="198" y="8177"/>
                </a:lnTo>
                <a:cubicBezTo>
                  <a:pt x="185" y="8177"/>
                  <a:pt x="172" y="8176"/>
                  <a:pt x="160" y="8173"/>
                </a:cubicBezTo>
                <a:cubicBezTo>
                  <a:pt x="147" y="8171"/>
                  <a:pt x="134" y="8167"/>
                  <a:pt x="122" y="8162"/>
                </a:cubicBezTo>
                <a:cubicBezTo>
                  <a:pt x="110" y="8157"/>
                  <a:pt x="99" y="8151"/>
                  <a:pt x="88" y="8143"/>
                </a:cubicBezTo>
                <a:cubicBezTo>
                  <a:pt x="77" y="8136"/>
                  <a:pt x="67" y="8128"/>
                  <a:pt x="58" y="8119"/>
                </a:cubicBezTo>
                <a:cubicBezTo>
                  <a:pt x="49" y="8110"/>
                  <a:pt x="40" y="8100"/>
                  <a:pt x="33" y="8089"/>
                </a:cubicBezTo>
                <a:cubicBezTo>
                  <a:pt x="26" y="8078"/>
                  <a:pt x="20" y="8066"/>
                  <a:pt x="15" y="8054"/>
                </a:cubicBezTo>
                <a:cubicBezTo>
                  <a:pt x="10" y="8042"/>
                  <a:pt x="6" y="8030"/>
                  <a:pt x="4" y="8017"/>
                </a:cubicBezTo>
                <a:cubicBezTo>
                  <a:pt x="1" y="8004"/>
                  <a:pt x="0" y="7991"/>
                  <a:pt x="0" y="797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Forma libre 510"/>
          <p:cNvSpPr/>
          <p:nvPr/>
        </p:nvSpPr>
        <p:spPr>
          <a:xfrm>
            <a:off x="671400" y="2280960"/>
            <a:ext cx="10849320" cy="2943720"/>
          </a:xfrm>
          <a:custGeom>
            <a:avLst/>
            <a:gdLst/>
            <a:ahLst/>
            <a:cxnLst/>
            <a:rect l="0" t="0" r="r" b="b"/>
            <a:pathLst>
              <a:path w="30137" h="8177">
                <a:moveTo>
                  <a:pt x="0" y="797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7978"/>
                </a:lnTo>
                <a:cubicBezTo>
                  <a:pt x="30137" y="7991"/>
                  <a:pt x="30136" y="8004"/>
                  <a:pt x="30133" y="8017"/>
                </a:cubicBezTo>
                <a:cubicBezTo>
                  <a:pt x="30130" y="8030"/>
                  <a:pt x="30127" y="8042"/>
                  <a:pt x="30122" y="8054"/>
                </a:cubicBezTo>
                <a:cubicBezTo>
                  <a:pt x="30117" y="8066"/>
                  <a:pt x="30111" y="8078"/>
                  <a:pt x="30103" y="8089"/>
                </a:cubicBezTo>
                <a:cubicBezTo>
                  <a:pt x="30096" y="8100"/>
                  <a:pt x="30088" y="8110"/>
                  <a:pt x="30079" y="8119"/>
                </a:cubicBezTo>
                <a:cubicBezTo>
                  <a:pt x="30070" y="8128"/>
                  <a:pt x="30059" y="8136"/>
                  <a:pt x="30049" y="8143"/>
                </a:cubicBezTo>
                <a:cubicBezTo>
                  <a:pt x="30038" y="8151"/>
                  <a:pt x="30026" y="8157"/>
                  <a:pt x="30014" y="8162"/>
                </a:cubicBezTo>
                <a:cubicBezTo>
                  <a:pt x="30002" y="8167"/>
                  <a:pt x="29990" y="8171"/>
                  <a:pt x="29977" y="8173"/>
                </a:cubicBezTo>
                <a:cubicBezTo>
                  <a:pt x="29964" y="8176"/>
                  <a:pt x="29951" y="8177"/>
                  <a:pt x="29938" y="8177"/>
                </a:cubicBezTo>
                <a:lnTo>
                  <a:pt x="198" y="8177"/>
                </a:lnTo>
                <a:cubicBezTo>
                  <a:pt x="185" y="8177"/>
                  <a:pt x="172" y="8176"/>
                  <a:pt x="160" y="8173"/>
                </a:cubicBezTo>
                <a:cubicBezTo>
                  <a:pt x="147" y="8171"/>
                  <a:pt x="134" y="8167"/>
                  <a:pt x="122" y="8162"/>
                </a:cubicBezTo>
                <a:cubicBezTo>
                  <a:pt x="110" y="8157"/>
                  <a:pt x="99" y="8151"/>
                  <a:pt x="88" y="8143"/>
                </a:cubicBezTo>
                <a:cubicBezTo>
                  <a:pt x="77" y="8136"/>
                  <a:pt x="67" y="8128"/>
                  <a:pt x="58" y="8119"/>
                </a:cubicBezTo>
                <a:cubicBezTo>
                  <a:pt x="49" y="8110"/>
                  <a:pt x="40" y="8100"/>
                  <a:pt x="33" y="8089"/>
                </a:cubicBezTo>
                <a:cubicBezTo>
                  <a:pt x="26" y="8078"/>
                  <a:pt x="20" y="8066"/>
                  <a:pt x="15" y="8054"/>
                </a:cubicBezTo>
                <a:cubicBezTo>
                  <a:pt x="10" y="8042"/>
                  <a:pt x="6" y="8030"/>
                  <a:pt x="4" y="8017"/>
                </a:cubicBezTo>
                <a:cubicBezTo>
                  <a:pt x="1" y="8004"/>
                  <a:pt x="0" y="7991"/>
                  <a:pt x="0" y="79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CuadroTexto 511"/>
          <p:cNvSpPr txBox="1"/>
          <p:nvPr/>
        </p:nvSpPr>
        <p:spPr>
          <a:xfrm>
            <a:off x="666720" y="1644480"/>
            <a:ext cx="36925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Leer sin morir en el intento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CuadroTexto 512"/>
          <p:cNvSpPr txBox="1"/>
          <p:nvPr/>
        </p:nvSpPr>
        <p:spPr>
          <a:xfrm>
            <a:off x="866880" y="2460960"/>
            <a:ext cx="1856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df = pd.read_csv(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CuadroTexto 513"/>
          <p:cNvSpPr txBox="1"/>
          <p:nvPr/>
        </p:nvSpPr>
        <p:spPr>
          <a:xfrm>
            <a:off x="866880" y="2727720"/>
            <a:ext cx="2543966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laboratorios.csv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CuadroTexto 514"/>
          <p:cNvSpPr txBox="1"/>
          <p:nvPr/>
        </p:nvSpPr>
        <p:spPr>
          <a:xfrm>
            <a:off x="866880" y="2984760"/>
            <a:ext cx="8184933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usecols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=[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person_id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'fecha'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loinc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'valor'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],  </a:t>
            </a:r>
            <a:r>
              <a:rPr lang="es-ES" sz="1430" b="0" u="none" strike="noStrike" dirty="0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sólo lo necesario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CuadroTexto 515"/>
          <p:cNvSpPr txBox="1"/>
          <p:nvPr/>
        </p:nvSpPr>
        <p:spPr>
          <a:xfrm>
            <a:off x="866880" y="3251520"/>
            <a:ext cx="5972789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dtype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={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person_id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'int32'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loinc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category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},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CuadroTexto 516"/>
          <p:cNvSpPr txBox="1"/>
          <p:nvPr/>
        </p:nvSpPr>
        <p:spPr>
          <a:xfrm>
            <a:off x="866880" y="3508560"/>
            <a:ext cx="2875787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parse_dates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=[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'fecha'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],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CuadroTexto 517"/>
          <p:cNvSpPr txBox="1"/>
          <p:nvPr/>
        </p:nvSpPr>
        <p:spPr>
          <a:xfrm>
            <a:off x="866880" y="3775320"/>
            <a:ext cx="180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CuadroTexto 518"/>
          <p:cNvSpPr txBox="1"/>
          <p:nvPr/>
        </p:nvSpPr>
        <p:spPr>
          <a:xfrm>
            <a:off x="866880" y="4299120"/>
            <a:ext cx="3385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Si aun así no cabe: por lotes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CuadroTexto 519"/>
          <p:cNvSpPr txBox="1"/>
          <p:nvPr/>
        </p:nvSpPr>
        <p:spPr>
          <a:xfrm>
            <a:off x="866880" y="4556520"/>
            <a:ext cx="6304611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for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lote </a:t>
            </a:r>
            <a:r>
              <a:rPr lang="es-ES" sz="1430" b="0" u="none" strike="noStrike" dirty="0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in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pd.read_csv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enorme.csv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chunksize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100_000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):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CuadroTexto 520"/>
          <p:cNvSpPr txBox="1"/>
          <p:nvPr/>
        </p:nvSpPr>
        <p:spPr>
          <a:xfrm>
            <a:off x="866880" y="4823280"/>
            <a:ext cx="1965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procesar(lote)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CuadroTexto 52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CuadroTexto 52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CuadroTexto 52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Forma libre 52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Forma libre 52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Forma libre 5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CuadroTexto 527"/>
          <p:cNvSpPr txBox="1"/>
          <p:nvPr/>
        </p:nvSpPr>
        <p:spPr>
          <a:xfrm>
            <a:off x="3682080" y="3063960"/>
            <a:ext cx="50601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Filtrar, agrupar, unir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CuadroTexto 52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CuadroTexto 52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CuadroTexto 53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Forma libre 5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Forma libre 5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Forma libre 5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Forma libre 534"/>
          <p:cNvSpPr/>
          <p:nvPr/>
        </p:nvSpPr>
        <p:spPr>
          <a:xfrm>
            <a:off x="671400" y="267156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Forma libre 535"/>
          <p:cNvSpPr/>
          <p:nvPr/>
        </p:nvSpPr>
        <p:spPr>
          <a:xfrm>
            <a:off x="671400" y="267156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Forma libre 538"/>
          <p:cNvSpPr/>
          <p:nvPr/>
        </p:nvSpPr>
        <p:spPr>
          <a:xfrm>
            <a:off x="2162160" y="2028600"/>
            <a:ext cx="895680" cy="381240"/>
          </a:xfrm>
          <a:custGeom>
            <a:avLst/>
            <a:gdLst/>
            <a:ahLst/>
            <a:cxnLst/>
            <a:rect l="0" t="0" r="r" b="b"/>
            <a:pathLst>
              <a:path w="2488" h="1059">
                <a:moveTo>
                  <a:pt x="0" y="954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382" y="0"/>
                </a:lnTo>
                <a:cubicBezTo>
                  <a:pt x="2396" y="0"/>
                  <a:pt x="2409" y="3"/>
                  <a:pt x="2422" y="8"/>
                </a:cubicBezTo>
                <a:cubicBezTo>
                  <a:pt x="2435" y="14"/>
                  <a:pt x="2447" y="21"/>
                  <a:pt x="2457" y="31"/>
                </a:cubicBezTo>
                <a:cubicBezTo>
                  <a:pt x="2467" y="41"/>
                  <a:pt x="2474" y="52"/>
                  <a:pt x="2480" y="65"/>
                </a:cubicBezTo>
                <a:cubicBezTo>
                  <a:pt x="2485" y="78"/>
                  <a:pt x="2488" y="92"/>
                  <a:pt x="2488" y="106"/>
                </a:cubicBezTo>
                <a:lnTo>
                  <a:pt x="2488" y="954"/>
                </a:lnTo>
                <a:cubicBezTo>
                  <a:pt x="2488" y="968"/>
                  <a:pt x="2485" y="981"/>
                  <a:pt x="2480" y="994"/>
                </a:cubicBezTo>
                <a:cubicBezTo>
                  <a:pt x="2474" y="1007"/>
                  <a:pt x="2467" y="1019"/>
                  <a:pt x="2457" y="1028"/>
                </a:cubicBezTo>
                <a:cubicBezTo>
                  <a:pt x="2447" y="1038"/>
                  <a:pt x="2435" y="1046"/>
                  <a:pt x="2422" y="1051"/>
                </a:cubicBezTo>
                <a:cubicBezTo>
                  <a:pt x="2409" y="1057"/>
                  <a:pt x="2396" y="1059"/>
                  <a:pt x="2382" y="1059"/>
                </a:cubicBezTo>
                <a:lnTo>
                  <a:pt x="105" y="1059"/>
                </a:lnTo>
                <a:cubicBezTo>
                  <a:pt x="91" y="1059"/>
                  <a:pt x="78" y="1057"/>
                  <a:pt x="65" y="1051"/>
                </a:cubicBezTo>
                <a:cubicBezTo>
                  <a:pt x="52" y="1046"/>
                  <a:pt x="40" y="1038"/>
                  <a:pt x="31" y="1028"/>
                </a:cubicBezTo>
                <a:cubicBezTo>
                  <a:pt x="21" y="1019"/>
                  <a:pt x="13" y="1007"/>
                  <a:pt x="8" y="994"/>
                </a:cubicBezTo>
                <a:cubicBezTo>
                  <a:pt x="2" y="981"/>
                  <a:pt x="0" y="968"/>
                  <a:pt x="0" y="954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CuadroTexto 539"/>
          <p:cNvSpPr txBox="1"/>
          <p:nvPr/>
        </p:nvSpPr>
        <p:spPr>
          <a:xfrm>
            <a:off x="666720" y="2025360"/>
            <a:ext cx="15346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Selección: 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CuadroTexto 540"/>
          <p:cNvSpPr txBox="1"/>
          <p:nvPr/>
        </p:nvSpPr>
        <p:spPr>
          <a:xfrm>
            <a:off x="2226240" y="2032920"/>
            <a:ext cx="78228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.loc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Forma libre 541"/>
          <p:cNvSpPr/>
          <p:nvPr/>
        </p:nvSpPr>
        <p:spPr>
          <a:xfrm>
            <a:off x="3381120" y="2028600"/>
            <a:ext cx="1086120" cy="381240"/>
          </a:xfrm>
          <a:custGeom>
            <a:avLst/>
            <a:gdLst/>
            <a:ahLst/>
            <a:cxnLst/>
            <a:rect l="0" t="0" r="r" b="b"/>
            <a:pathLst>
              <a:path w="3017" h="1059">
                <a:moveTo>
                  <a:pt x="0" y="954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912" y="0"/>
                </a:lnTo>
                <a:cubicBezTo>
                  <a:pt x="2926" y="0"/>
                  <a:pt x="2939" y="3"/>
                  <a:pt x="2952" y="8"/>
                </a:cubicBezTo>
                <a:cubicBezTo>
                  <a:pt x="2965" y="14"/>
                  <a:pt x="2977" y="21"/>
                  <a:pt x="2986" y="31"/>
                </a:cubicBezTo>
                <a:cubicBezTo>
                  <a:pt x="2996" y="41"/>
                  <a:pt x="3004" y="52"/>
                  <a:pt x="3009" y="65"/>
                </a:cubicBezTo>
                <a:cubicBezTo>
                  <a:pt x="3015" y="78"/>
                  <a:pt x="3017" y="92"/>
                  <a:pt x="3017" y="106"/>
                </a:cubicBezTo>
                <a:lnTo>
                  <a:pt x="3017" y="954"/>
                </a:lnTo>
                <a:cubicBezTo>
                  <a:pt x="3017" y="968"/>
                  <a:pt x="3015" y="981"/>
                  <a:pt x="3009" y="994"/>
                </a:cubicBezTo>
                <a:cubicBezTo>
                  <a:pt x="3004" y="1007"/>
                  <a:pt x="2996" y="1019"/>
                  <a:pt x="2986" y="1028"/>
                </a:cubicBezTo>
                <a:cubicBezTo>
                  <a:pt x="2977" y="1038"/>
                  <a:pt x="2965" y="1046"/>
                  <a:pt x="2952" y="1051"/>
                </a:cubicBezTo>
                <a:cubicBezTo>
                  <a:pt x="2939" y="1057"/>
                  <a:pt x="2926" y="1059"/>
                  <a:pt x="2912" y="1059"/>
                </a:cubicBezTo>
                <a:lnTo>
                  <a:pt x="106" y="1059"/>
                </a:lnTo>
                <a:cubicBezTo>
                  <a:pt x="92" y="1059"/>
                  <a:pt x="79" y="1057"/>
                  <a:pt x="66" y="1051"/>
                </a:cubicBezTo>
                <a:cubicBezTo>
                  <a:pt x="53" y="1046"/>
                  <a:pt x="41" y="1038"/>
                  <a:pt x="31" y="1028"/>
                </a:cubicBezTo>
                <a:cubicBezTo>
                  <a:pt x="21" y="1019"/>
                  <a:pt x="14" y="1007"/>
                  <a:pt x="8" y="994"/>
                </a:cubicBezTo>
                <a:cubicBezTo>
                  <a:pt x="3" y="981"/>
                  <a:pt x="0" y="968"/>
                  <a:pt x="0" y="954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CuadroTexto 542"/>
          <p:cNvSpPr txBox="1"/>
          <p:nvPr/>
        </p:nvSpPr>
        <p:spPr>
          <a:xfrm>
            <a:off x="3057840" y="2025360"/>
            <a:ext cx="331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CuadroTexto 543"/>
          <p:cNvSpPr txBox="1"/>
          <p:nvPr/>
        </p:nvSpPr>
        <p:spPr>
          <a:xfrm>
            <a:off x="3443040" y="2032920"/>
            <a:ext cx="97776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.iloc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CuadroTexto 544"/>
          <p:cNvSpPr txBox="1"/>
          <p:nvPr/>
        </p:nvSpPr>
        <p:spPr>
          <a:xfrm>
            <a:off x="866880" y="2851560"/>
            <a:ext cx="7742504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df.loc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[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df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[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'hba1c'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 &gt; </a:t>
            </a:r>
            <a:r>
              <a:rPr lang="es-ES" sz="1430" b="0" u="none" strike="noStrike" dirty="0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9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[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person_id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'hba1c'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]]   </a:t>
            </a:r>
            <a:r>
              <a:rPr lang="es-ES" sz="1430" b="0" u="none" strike="noStrike" dirty="0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etiqueta + máscara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CuadroTexto 545"/>
          <p:cNvSpPr txBox="1"/>
          <p:nvPr/>
        </p:nvSpPr>
        <p:spPr>
          <a:xfrm>
            <a:off x="866880" y="3118320"/>
            <a:ext cx="6660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df.iloc[</a:t>
            </a:r>
            <a:r>
              <a:rPr lang="es-ES" sz="143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</a:t>
            </a:r>
            <a:r>
              <a:rPr lang="es-ES" sz="143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5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</a:t>
            </a:r>
            <a:r>
              <a:rPr lang="es-ES" sz="143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3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                                  </a:t>
            </a:r>
            <a:r>
              <a:rPr lang="es-ES" sz="143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posición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CuadroTexto 546"/>
          <p:cNvSpPr txBox="1"/>
          <p:nvPr/>
        </p:nvSpPr>
        <p:spPr>
          <a:xfrm>
            <a:off x="866880" y="3375360"/>
            <a:ext cx="9180398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df.query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'hba1c &gt; 9 and edad &lt; 65'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               </a:t>
            </a:r>
            <a:r>
              <a:rPr lang="es-ES" sz="1430" b="0" u="none" strike="noStrike" dirty="0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legible con condiciones largas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Forma libre 548"/>
          <p:cNvSpPr/>
          <p:nvPr/>
        </p:nvSpPr>
        <p:spPr>
          <a:xfrm>
            <a:off x="4552920" y="4448160"/>
            <a:ext cx="581400" cy="266760"/>
          </a:xfrm>
          <a:custGeom>
            <a:avLst/>
            <a:gdLst/>
            <a:ahLst/>
            <a:cxnLst/>
            <a:rect l="0" t="0" r="r" b="b"/>
            <a:pathLst>
              <a:path w="1615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1509" y="0"/>
                </a:lnTo>
                <a:cubicBezTo>
                  <a:pt x="1523" y="0"/>
                  <a:pt x="1536" y="2"/>
                  <a:pt x="1549" y="8"/>
                </a:cubicBezTo>
                <a:cubicBezTo>
                  <a:pt x="1562" y="13"/>
                  <a:pt x="1574" y="21"/>
                  <a:pt x="1584" y="31"/>
                </a:cubicBezTo>
                <a:cubicBezTo>
                  <a:pt x="1593" y="40"/>
                  <a:pt x="1601" y="52"/>
                  <a:pt x="1606" y="65"/>
                </a:cubicBezTo>
                <a:cubicBezTo>
                  <a:pt x="1612" y="78"/>
                  <a:pt x="1615" y="91"/>
                  <a:pt x="1615" y="105"/>
                </a:cubicBezTo>
                <a:lnTo>
                  <a:pt x="1615" y="636"/>
                </a:lnTo>
                <a:cubicBezTo>
                  <a:pt x="1615" y="650"/>
                  <a:pt x="1612" y="663"/>
                  <a:pt x="1606" y="676"/>
                </a:cubicBezTo>
                <a:cubicBezTo>
                  <a:pt x="1601" y="689"/>
                  <a:pt x="1593" y="700"/>
                  <a:pt x="1584" y="710"/>
                </a:cubicBezTo>
                <a:cubicBezTo>
                  <a:pt x="1574" y="720"/>
                  <a:pt x="1562" y="728"/>
                  <a:pt x="1549" y="733"/>
                </a:cubicBezTo>
                <a:cubicBezTo>
                  <a:pt x="1536" y="739"/>
                  <a:pt x="1523" y="741"/>
                  <a:pt x="1509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CuadroTexto 554"/>
          <p:cNvSpPr txBox="1"/>
          <p:nvPr/>
        </p:nvSpPr>
        <p:spPr>
          <a:xfrm>
            <a:off x="10371240" y="443052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CuadroTexto 55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CuadroTexto 55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CuadroTexto 55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Forma libre 55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Forma libre 55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Forma libre 56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Forma libre 561"/>
          <p:cNvSpPr/>
          <p:nvPr/>
        </p:nvSpPr>
        <p:spPr>
          <a:xfrm>
            <a:off x="671400" y="2433600"/>
            <a:ext cx="10849320" cy="2152800"/>
          </a:xfrm>
          <a:custGeom>
            <a:avLst/>
            <a:gdLst/>
            <a:ahLst/>
            <a:cxnLst/>
            <a:rect l="0" t="0" r="r" b="b"/>
            <a:pathLst>
              <a:path w="30137" h="5980">
                <a:moveTo>
                  <a:pt x="0" y="5782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782"/>
                </a:lnTo>
                <a:cubicBezTo>
                  <a:pt x="30137" y="5795"/>
                  <a:pt x="30136" y="5808"/>
                  <a:pt x="30133" y="5820"/>
                </a:cubicBezTo>
                <a:cubicBezTo>
                  <a:pt x="30130" y="5833"/>
                  <a:pt x="30127" y="5846"/>
                  <a:pt x="30122" y="5858"/>
                </a:cubicBezTo>
                <a:cubicBezTo>
                  <a:pt x="30117" y="5870"/>
                  <a:pt x="30111" y="5881"/>
                  <a:pt x="30103" y="5892"/>
                </a:cubicBezTo>
                <a:cubicBezTo>
                  <a:pt x="30096" y="5903"/>
                  <a:pt x="30088" y="5913"/>
                  <a:pt x="30079" y="5922"/>
                </a:cubicBezTo>
                <a:cubicBezTo>
                  <a:pt x="30070" y="5931"/>
                  <a:pt x="30059" y="5940"/>
                  <a:pt x="30049" y="5947"/>
                </a:cubicBezTo>
                <a:cubicBezTo>
                  <a:pt x="30038" y="5954"/>
                  <a:pt x="30026" y="5960"/>
                  <a:pt x="30014" y="5965"/>
                </a:cubicBezTo>
                <a:cubicBezTo>
                  <a:pt x="30002" y="5970"/>
                  <a:pt x="29990" y="5974"/>
                  <a:pt x="29977" y="5976"/>
                </a:cubicBezTo>
                <a:cubicBezTo>
                  <a:pt x="29964" y="5979"/>
                  <a:pt x="29951" y="5980"/>
                  <a:pt x="29938" y="5980"/>
                </a:cubicBezTo>
                <a:lnTo>
                  <a:pt x="198" y="5980"/>
                </a:lnTo>
                <a:cubicBezTo>
                  <a:pt x="185" y="5980"/>
                  <a:pt x="172" y="5979"/>
                  <a:pt x="160" y="5976"/>
                </a:cubicBezTo>
                <a:cubicBezTo>
                  <a:pt x="147" y="5974"/>
                  <a:pt x="134" y="5970"/>
                  <a:pt x="122" y="5965"/>
                </a:cubicBezTo>
                <a:cubicBezTo>
                  <a:pt x="110" y="5960"/>
                  <a:pt x="99" y="5954"/>
                  <a:pt x="88" y="5947"/>
                </a:cubicBezTo>
                <a:cubicBezTo>
                  <a:pt x="77" y="5940"/>
                  <a:pt x="67" y="5931"/>
                  <a:pt x="58" y="5922"/>
                </a:cubicBezTo>
                <a:cubicBezTo>
                  <a:pt x="49" y="5913"/>
                  <a:pt x="40" y="5903"/>
                  <a:pt x="33" y="5892"/>
                </a:cubicBezTo>
                <a:cubicBezTo>
                  <a:pt x="26" y="5881"/>
                  <a:pt x="20" y="5870"/>
                  <a:pt x="15" y="5858"/>
                </a:cubicBezTo>
                <a:cubicBezTo>
                  <a:pt x="10" y="5846"/>
                  <a:pt x="6" y="5833"/>
                  <a:pt x="4" y="5820"/>
                </a:cubicBezTo>
                <a:cubicBezTo>
                  <a:pt x="1" y="5808"/>
                  <a:pt x="0" y="5795"/>
                  <a:pt x="0" y="578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Forma libre 562"/>
          <p:cNvSpPr/>
          <p:nvPr/>
        </p:nvSpPr>
        <p:spPr>
          <a:xfrm>
            <a:off x="671400" y="2433600"/>
            <a:ext cx="10849320" cy="2152800"/>
          </a:xfrm>
          <a:custGeom>
            <a:avLst/>
            <a:gdLst/>
            <a:ahLst/>
            <a:cxnLst/>
            <a:rect l="0" t="0" r="r" b="b"/>
            <a:pathLst>
              <a:path w="30137" h="5980">
                <a:moveTo>
                  <a:pt x="0" y="5782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782"/>
                </a:lnTo>
                <a:cubicBezTo>
                  <a:pt x="30137" y="5795"/>
                  <a:pt x="30136" y="5808"/>
                  <a:pt x="30133" y="5820"/>
                </a:cubicBezTo>
                <a:cubicBezTo>
                  <a:pt x="30130" y="5833"/>
                  <a:pt x="30127" y="5846"/>
                  <a:pt x="30122" y="5858"/>
                </a:cubicBezTo>
                <a:cubicBezTo>
                  <a:pt x="30117" y="5870"/>
                  <a:pt x="30111" y="5881"/>
                  <a:pt x="30103" y="5892"/>
                </a:cubicBezTo>
                <a:cubicBezTo>
                  <a:pt x="30096" y="5903"/>
                  <a:pt x="30088" y="5913"/>
                  <a:pt x="30079" y="5922"/>
                </a:cubicBezTo>
                <a:cubicBezTo>
                  <a:pt x="30070" y="5931"/>
                  <a:pt x="30059" y="5940"/>
                  <a:pt x="30049" y="5947"/>
                </a:cubicBezTo>
                <a:cubicBezTo>
                  <a:pt x="30038" y="5954"/>
                  <a:pt x="30026" y="5960"/>
                  <a:pt x="30014" y="5965"/>
                </a:cubicBezTo>
                <a:cubicBezTo>
                  <a:pt x="30002" y="5970"/>
                  <a:pt x="29990" y="5974"/>
                  <a:pt x="29977" y="5976"/>
                </a:cubicBezTo>
                <a:cubicBezTo>
                  <a:pt x="29964" y="5979"/>
                  <a:pt x="29951" y="5980"/>
                  <a:pt x="29938" y="5980"/>
                </a:cubicBezTo>
                <a:lnTo>
                  <a:pt x="198" y="5980"/>
                </a:lnTo>
                <a:cubicBezTo>
                  <a:pt x="185" y="5980"/>
                  <a:pt x="172" y="5979"/>
                  <a:pt x="160" y="5976"/>
                </a:cubicBezTo>
                <a:cubicBezTo>
                  <a:pt x="147" y="5974"/>
                  <a:pt x="134" y="5970"/>
                  <a:pt x="122" y="5965"/>
                </a:cubicBezTo>
                <a:cubicBezTo>
                  <a:pt x="110" y="5960"/>
                  <a:pt x="99" y="5954"/>
                  <a:pt x="88" y="5947"/>
                </a:cubicBezTo>
                <a:cubicBezTo>
                  <a:pt x="77" y="5940"/>
                  <a:pt x="67" y="5931"/>
                  <a:pt x="58" y="5922"/>
                </a:cubicBezTo>
                <a:cubicBezTo>
                  <a:pt x="49" y="5913"/>
                  <a:pt x="40" y="5903"/>
                  <a:pt x="33" y="5892"/>
                </a:cubicBezTo>
                <a:cubicBezTo>
                  <a:pt x="26" y="5881"/>
                  <a:pt x="20" y="5870"/>
                  <a:pt x="15" y="5858"/>
                </a:cubicBezTo>
                <a:cubicBezTo>
                  <a:pt x="10" y="5846"/>
                  <a:pt x="6" y="5833"/>
                  <a:pt x="4" y="5820"/>
                </a:cubicBezTo>
                <a:cubicBezTo>
                  <a:pt x="1" y="5808"/>
                  <a:pt x="0" y="5795"/>
                  <a:pt x="0" y="578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CuadroTexto 563"/>
          <p:cNvSpPr txBox="1"/>
          <p:nvPr/>
        </p:nvSpPr>
        <p:spPr>
          <a:xfrm>
            <a:off x="666720" y="1787040"/>
            <a:ext cx="4359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Agrupar: split · apply · combine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CuadroTexto 564"/>
          <p:cNvSpPr txBox="1"/>
          <p:nvPr/>
        </p:nvSpPr>
        <p:spPr>
          <a:xfrm>
            <a:off x="866880" y="2613240"/>
            <a:ext cx="328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(df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CuadroTexto 565"/>
          <p:cNvSpPr txBox="1"/>
          <p:nvPr/>
        </p:nvSpPr>
        <p:spPr>
          <a:xfrm>
            <a:off x="866880" y="2880000"/>
            <a:ext cx="3318216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.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groupby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dx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observed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True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CuadroTexto 566"/>
          <p:cNvSpPr txBox="1"/>
          <p:nvPr/>
        </p:nvSpPr>
        <p:spPr>
          <a:xfrm>
            <a:off x="866880" y="3137400"/>
            <a:ext cx="3650038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.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agg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(n=(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person_id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nunique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),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CuadroTexto 567"/>
          <p:cNvSpPr txBox="1"/>
          <p:nvPr/>
        </p:nvSpPr>
        <p:spPr>
          <a:xfrm>
            <a:off x="866880" y="3403800"/>
            <a:ext cx="3981859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hba1c_media=(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'valor'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'mean'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),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CuadroTexto 568"/>
          <p:cNvSpPr txBox="1"/>
          <p:nvPr/>
        </p:nvSpPr>
        <p:spPr>
          <a:xfrm>
            <a:off x="866880" y="3661200"/>
            <a:ext cx="5862182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hba1c_p90=(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'valor'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lambda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s: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s.quantile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0.9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)))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CuadroTexto 569"/>
          <p:cNvSpPr txBox="1"/>
          <p:nvPr/>
        </p:nvSpPr>
        <p:spPr>
          <a:xfrm>
            <a:off x="866880" y="3927960"/>
            <a:ext cx="3871253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.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sort_values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'n'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ascending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False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Forma libre 570"/>
          <p:cNvSpPr/>
          <p:nvPr/>
        </p:nvSpPr>
        <p:spPr>
          <a:xfrm>
            <a:off x="666720" y="4800240"/>
            <a:ext cx="1638360" cy="267120"/>
          </a:xfrm>
          <a:custGeom>
            <a:avLst/>
            <a:gdLst/>
            <a:ahLst/>
            <a:cxnLst/>
            <a:rect l="0" t="0" r="r" b="b"/>
            <a:pathLst>
              <a:path w="455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1" y="0"/>
                  <a:pt x="105" y="0"/>
                </a:cubicBezTo>
                <a:lnTo>
                  <a:pt x="4446" y="0"/>
                </a:lnTo>
                <a:cubicBezTo>
                  <a:pt x="4460" y="0"/>
                  <a:pt x="4473" y="3"/>
                  <a:pt x="4486" y="9"/>
                </a:cubicBezTo>
                <a:cubicBezTo>
                  <a:pt x="4499" y="14"/>
                  <a:pt x="4510" y="22"/>
                  <a:pt x="4520" y="31"/>
                </a:cubicBezTo>
                <a:cubicBezTo>
                  <a:pt x="4530" y="41"/>
                  <a:pt x="4538" y="53"/>
                  <a:pt x="4543" y="66"/>
                </a:cubicBezTo>
                <a:cubicBezTo>
                  <a:pt x="4549" y="79"/>
                  <a:pt x="4551" y="92"/>
                  <a:pt x="4551" y="106"/>
                </a:cubicBezTo>
                <a:lnTo>
                  <a:pt x="4551" y="636"/>
                </a:lnTo>
                <a:cubicBezTo>
                  <a:pt x="4551" y="651"/>
                  <a:pt x="4549" y="664"/>
                  <a:pt x="4543" y="677"/>
                </a:cubicBezTo>
                <a:cubicBezTo>
                  <a:pt x="4538" y="690"/>
                  <a:pt x="4530" y="701"/>
                  <a:pt x="4520" y="711"/>
                </a:cubicBezTo>
                <a:cubicBezTo>
                  <a:pt x="4510" y="721"/>
                  <a:pt x="4499" y="729"/>
                  <a:pt x="4486" y="734"/>
                </a:cubicBezTo>
                <a:cubicBezTo>
                  <a:pt x="4473" y="740"/>
                  <a:pt x="4460" y="742"/>
                  <a:pt x="4446" y="742"/>
                </a:cubicBezTo>
                <a:lnTo>
                  <a:pt x="105" y="742"/>
                </a:lnTo>
                <a:cubicBezTo>
                  <a:pt x="91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1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CuadroTexto 571"/>
          <p:cNvSpPr txBox="1"/>
          <p:nvPr/>
        </p:nvSpPr>
        <p:spPr>
          <a:xfrm>
            <a:off x="866880" y="4185000"/>
            <a:ext cx="1202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.head(</a:t>
            </a:r>
            <a:r>
              <a:rPr lang="es-ES" sz="143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10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CuadroTexto 572"/>
          <p:cNvSpPr txBox="1"/>
          <p:nvPr/>
        </p:nvSpPr>
        <p:spPr>
          <a:xfrm>
            <a:off x="723960" y="482040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observed=True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Forma libre 573"/>
          <p:cNvSpPr/>
          <p:nvPr/>
        </p:nvSpPr>
        <p:spPr>
          <a:xfrm>
            <a:off x="3314520" y="4800240"/>
            <a:ext cx="1057680" cy="267120"/>
          </a:xfrm>
          <a:custGeom>
            <a:avLst/>
            <a:gdLst/>
            <a:ahLst/>
            <a:cxnLst/>
            <a:rect l="0" t="0" r="r" b="b"/>
            <a:pathLst>
              <a:path w="2938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2832" y="0"/>
                </a:lnTo>
                <a:cubicBezTo>
                  <a:pt x="2846" y="0"/>
                  <a:pt x="2860" y="3"/>
                  <a:pt x="2873" y="9"/>
                </a:cubicBezTo>
                <a:cubicBezTo>
                  <a:pt x="2886" y="14"/>
                  <a:pt x="2897" y="22"/>
                  <a:pt x="2907" y="31"/>
                </a:cubicBezTo>
                <a:cubicBezTo>
                  <a:pt x="2917" y="41"/>
                  <a:pt x="2924" y="53"/>
                  <a:pt x="2930" y="66"/>
                </a:cubicBezTo>
                <a:cubicBezTo>
                  <a:pt x="2935" y="79"/>
                  <a:pt x="2938" y="92"/>
                  <a:pt x="2938" y="106"/>
                </a:cubicBezTo>
                <a:lnTo>
                  <a:pt x="2938" y="636"/>
                </a:lnTo>
                <a:cubicBezTo>
                  <a:pt x="2938" y="651"/>
                  <a:pt x="2935" y="664"/>
                  <a:pt x="2930" y="677"/>
                </a:cubicBezTo>
                <a:cubicBezTo>
                  <a:pt x="2924" y="690"/>
                  <a:pt x="2917" y="701"/>
                  <a:pt x="2907" y="711"/>
                </a:cubicBezTo>
                <a:cubicBezTo>
                  <a:pt x="2897" y="721"/>
                  <a:pt x="2886" y="729"/>
                  <a:pt x="2873" y="734"/>
                </a:cubicBezTo>
                <a:cubicBezTo>
                  <a:pt x="2860" y="740"/>
                  <a:pt x="2846" y="742"/>
                  <a:pt x="2832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1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CuadroTexto 574"/>
          <p:cNvSpPr txBox="1"/>
          <p:nvPr/>
        </p:nvSpPr>
        <p:spPr>
          <a:xfrm>
            <a:off x="2301840" y="4782960"/>
            <a:ext cx="1017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evita que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CuadroTexto 575"/>
          <p:cNvSpPr txBox="1"/>
          <p:nvPr/>
        </p:nvSpPr>
        <p:spPr>
          <a:xfrm>
            <a:off x="3375720" y="482040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category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CuadroTexto 576"/>
          <p:cNvSpPr txBox="1"/>
          <p:nvPr/>
        </p:nvSpPr>
        <p:spPr>
          <a:xfrm>
            <a:off x="4368600" y="4782960"/>
            <a:ext cx="3989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genere todas las combinaciones vacías.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CuadroTexto 57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CuadroTexto 57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CuadroTexto 57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Forma libre 58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Forma libre 58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Forma libre 58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Forma libre 583"/>
          <p:cNvSpPr/>
          <p:nvPr/>
        </p:nvSpPr>
        <p:spPr>
          <a:xfrm>
            <a:off x="671400" y="2128680"/>
            <a:ext cx="10849320" cy="2419560"/>
          </a:xfrm>
          <a:custGeom>
            <a:avLst/>
            <a:gdLst/>
            <a:ahLst/>
            <a:cxnLst/>
            <a:rect l="0" t="0" r="r" b="b"/>
            <a:pathLst>
              <a:path w="30137" h="6721">
                <a:moveTo>
                  <a:pt x="0" y="6523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6523"/>
                </a:lnTo>
                <a:cubicBezTo>
                  <a:pt x="30137" y="6536"/>
                  <a:pt x="30136" y="6549"/>
                  <a:pt x="30133" y="6562"/>
                </a:cubicBezTo>
                <a:cubicBezTo>
                  <a:pt x="30130" y="6574"/>
                  <a:pt x="30127" y="6587"/>
                  <a:pt x="30122" y="6599"/>
                </a:cubicBezTo>
                <a:cubicBezTo>
                  <a:pt x="30117" y="6611"/>
                  <a:pt x="30111" y="6622"/>
                  <a:pt x="30103" y="6633"/>
                </a:cubicBezTo>
                <a:cubicBezTo>
                  <a:pt x="30096" y="6644"/>
                  <a:pt x="30088" y="6654"/>
                  <a:pt x="30079" y="6663"/>
                </a:cubicBezTo>
                <a:cubicBezTo>
                  <a:pt x="30070" y="6672"/>
                  <a:pt x="30059" y="6681"/>
                  <a:pt x="30049" y="6688"/>
                </a:cubicBezTo>
                <a:cubicBezTo>
                  <a:pt x="30038" y="6695"/>
                  <a:pt x="30026" y="6701"/>
                  <a:pt x="30014" y="6706"/>
                </a:cubicBezTo>
                <a:cubicBezTo>
                  <a:pt x="30002" y="6711"/>
                  <a:pt x="29990" y="6715"/>
                  <a:pt x="29977" y="6718"/>
                </a:cubicBezTo>
                <a:cubicBezTo>
                  <a:pt x="29964" y="6720"/>
                  <a:pt x="29951" y="6721"/>
                  <a:pt x="29938" y="6721"/>
                </a:cubicBezTo>
                <a:lnTo>
                  <a:pt x="198" y="6721"/>
                </a:lnTo>
                <a:cubicBezTo>
                  <a:pt x="185" y="6721"/>
                  <a:pt x="172" y="6720"/>
                  <a:pt x="160" y="6718"/>
                </a:cubicBezTo>
                <a:cubicBezTo>
                  <a:pt x="147" y="6715"/>
                  <a:pt x="134" y="6711"/>
                  <a:pt x="122" y="6706"/>
                </a:cubicBezTo>
                <a:cubicBezTo>
                  <a:pt x="110" y="6701"/>
                  <a:pt x="99" y="6695"/>
                  <a:pt x="88" y="6688"/>
                </a:cubicBezTo>
                <a:cubicBezTo>
                  <a:pt x="77" y="6681"/>
                  <a:pt x="67" y="6672"/>
                  <a:pt x="58" y="6663"/>
                </a:cubicBezTo>
                <a:cubicBezTo>
                  <a:pt x="49" y="6654"/>
                  <a:pt x="40" y="6644"/>
                  <a:pt x="33" y="6633"/>
                </a:cubicBezTo>
                <a:cubicBezTo>
                  <a:pt x="26" y="6622"/>
                  <a:pt x="20" y="6611"/>
                  <a:pt x="15" y="6599"/>
                </a:cubicBezTo>
                <a:cubicBezTo>
                  <a:pt x="10" y="6587"/>
                  <a:pt x="6" y="6574"/>
                  <a:pt x="4" y="6562"/>
                </a:cubicBezTo>
                <a:cubicBezTo>
                  <a:pt x="1" y="6549"/>
                  <a:pt x="0" y="6536"/>
                  <a:pt x="0" y="652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Forma libre 584"/>
          <p:cNvSpPr/>
          <p:nvPr/>
        </p:nvSpPr>
        <p:spPr>
          <a:xfrm>
            <a:off x="671400" y="2128680"/>
            <a:ext cx="10849320" cy="2419560"/>
          </a:xfrm>
          <a:custGeom>
            <a:avLst/>
            <a:gdLst/>
            <a:ahLst/>
            <a:cxnLst/>
            <a:rect l="0" t="0" r="r" b="b"/>
            <a:pathLst>
              <a:path w="30137" h="6721">
                <a:moveTo>
                  <a:pt x="0" y="6523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6523"/>
                </a:lnTo>
                <a:cubicBezTo>
                  <a:pt x="30137" y="6536"/>
                  <a:pt x="30136" y="6549"/>
                  <a:pt x="30133" y="6562"/>
                </a:cubicBezTo>
                <a:cubicBezTo>
                  <a:pt x="30130" y="6574"/>
                  <a:pt x="30127" y="6587"/>
                  <a:pt x="30122" y="6599"/>
                </a:cubicBezTo>
                <a:cubicBezTo>
                  <a:pt x="30117" y="6611"/>
                  <a:pt x="30111" y="6622"/>
                  <a:pt x="30103" y="6633"/>
                </a:cubicBezTo>
                <a:cubicBezTo>
                  <a:pt x="30096" y="6644"/>
                  <a:pt x="30088" y="6654"/>
                  <a:pt x="30079" y="6663"/>
                </a:cubicBezTo>
                <a:cubicBezTo>
                  <a:pt x="30070" y="6672"/>
                  <a:pt x="30059" y="6681"/>
                  <a:pt x="30049" y="6688"/>
                </a:cubicBezTo>
                <a:cubicBezTo>
                  <a:pt x="30038" y="6695"/>
                  <a:pt x="30026" y="6701"/>
                  <a:pt x="30014" y="6706"/>
                </a:cubicBezTo>
                <a:cubicBezTo>
                  <a:pt x="30002" y="6711"/>
                  <a:pt x="29990" y="6715"/>
                  <a:pt x="29977" y="6718"/>
                </a:cubicBezTo>
                <a:cubicBezTo>
                  <a:pt x="29964" y="6720"/>
                  <a:pt x="29951" y="6721"/>
                  <a:pt x="29938" y="6721"/>
                </a:cubicBezTo>
                <a:lnTo>
                  <a:pt x="198" y="6721"/>
                </a:lnTo>
                <a:cubicBezTo>
                  <a:pt x="185" y="6721"/>
                  <a:pt x="172" y="6720"/>
                  <a:pt x="160" y="6718"/>
                </a:cubicBezTo>
                <a:cubicBezTo>
                  <a:pt x="147" y="6715"/>
                  <a:pt x="134" y="6711"/>
                  <a:pt x="122" y="6706"/>
                </a:cubicBezTo>
                <a:cubicBezTo>
                  <a:pt x="110" y="6701"/>
                  <a:pt x="99" y="6695"/>
                  <a:pt x="88" y="6688"/>
                </a:cubicBezTo>
                <a:cubicBezTo>
                  <a:pt x="77" y="6681"/>
                  <a:pt x="67" y="6672"/>
                  <a:pt x="58" y="6663"/>
                </a:cubicBezTo>
                <a:cubicBezTo>
                  <a:pt x="49" y="6654"/>
                  <a:pt x="40" y="6644"/>
                  <a:pt x="33" y="6633"/>
                </a:cubicBezTo>
                <a:cubicBezTo>
                  <a:pt x="26" y="6622"/>
                  <a:pt x="20" y="6611"/>
                  <a:pt x="15" y="6599"/>
                </a:cubicBezTo>
                <a:cubicBezTo>
                  <a:pt x="10" y="6587"/>
                  <a:pt x="6" y="6574"/>
                  <a:pt x="4" y="6562"/>
                </a:cubicBezTo>
                <a:cubicBezTo>
                  <a:pt x="1" y="6549"/>
                  <a:pt x="0" y="6536"/>
                  <a:pt x="0" y="652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CuadroTexto 585"/>
          <p:cNvSpPr txBox="1"/>
          <p:nvPr/>
        </p:nvSpPr>
        <p:spPr>
          <a:xfrm>
            <a:off x="666720" y="1482480"/>
            <a:ext cx="36619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Unir tablas: valida siempre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CuadroTexto 586"/>
          <p:cNvSpPr txBox="1"/>
          <p:nvPr/>
        </p:nvSpPr>
        <p:spPr>
          <a:xfrm>
            <a:off x="866880" y="2308680"/>
            <a:ext cx="3057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visitas_pac = visitas.merge(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CuadroTexto 587"/>
          <p:cNvSpPr txBox="1"/>
          <p:nvPr/>
        </p:nvSpPr>
        <p:spPr>
          <a:xfrm>
            <a:off x="866880" y="2575080"/>
            <a:ext cx="1529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pacientes,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CuadroTexto 588"/>
          <p:cNvSpPr txBox="1"/>
          <p:nvPr/>
        </p:nvSpPr>
        <p:spPr>
          <a:xfrm>
            <a:off x="866880" y="2832480"/>
            <a:ext cx="2101537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on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person_id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CuadroTexto 589"/>
          <p:cNvSpPr txBox="1"/>
          <p:nvPr/>
        </p:nvSpPr>
        <p:spPr>
          <a:xfrm>
            <a:off x="866880" y="3099240"/>
            <a:ext cx="1659109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how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left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CuadroTexto 590"/>
          <p:cNvSpPr txBox="1"/>
          <p:nvPr/>
        </p:nvSpPr>
        <p:spPr>
          <a:xfrm>
            <a:off x="866880" y="3356280"/>
            <a:ext cx="7742504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validate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many_to_one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  </a:t>
            </a:r>
            <a:r>
              <a:rPr lang="es-ES" sz="1430" b="0" u="none" strike="noStrike" dirty="0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← falla ruidosamente si hay duplicados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CuadroTexto 591"/>
          <p:cNvSpPr txBox="1"/>
          <p:nvPr/>
        </p:nvSpPr>
        <p:spPr>
          <a:xfrm>
            <a:off x="866880" y="3623040"/>
            <a:ext cx="6661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indicator=</a:t>
            </a:r>
            <a:r>
              <a:rPr lang="es-ES" sz="143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True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          </a:t>
            </a:r>
            <a:r>
              <a:rPr lang="es-ES" sz="143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← columna _merge para auditar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CuadroTexto 592"/>
          <p:cNvSpPr txBox="1"/>
          <p:nvPr/>
        </p:nvSpPr>
        <p:spPr>
          <a:xfrm>
            <a:off x="866880" y="3880080"/>
            <a:ext cx="180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CuadroTexto 593"/>
          <p:cNvSpPr txBox="1"/>
          <p:nvPr/>
        </p:nvSpPr>
        <p:spPr>
          <a:xfrm>
            <a:off x="866880" y="4146840"/>
            <a:ext cx="4756110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print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visitas_pac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[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'_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merge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].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value_counts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())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Forma libre 594"/>
          <p:cNvSpPr/>
          <p:nvPr/>
        </p:nvSpPr>
        <p:spPr>
          <a:xfrm>
            <a:off x="1076040" y="4762440"/>
            <a:ext cx="1048320" cy="266760"/>
          </a:xfrm>
          <a:custGeom>
            <a:avLst/>
            <a:gdLst/>
            <a:ahLst/>
            <a:cxnLst/>
            <a:rect l="0" t="0" r="r" b="b"/>
            <a:pathLst>
              <a:path w="2912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806" y="0"/>
                </a:lnTo>
                <a:cubicBezTo>
                  <a:pt x="2820" y="0"/>
                  <a:pt x="2833" y="2"/>
                  <a:pt x="2846" y="8"/>
                </a:cubicBezTo>
                <a:cubicBezTo>
                  <a:pt x="2859" y="13"/>
                  <a:pt x="2871" y="21"/>
                  <a:pt x="2881" y="31"/>
                </a:cubicBezTo>
                <a:cubicBezTo>
                  <a:pt x="2891" y="41"/>
                  <a:pt x="2898" y="52"/>
                  <a:pt x="2904" y="65"/>
                </a:cubicBezTo>
                <a:cubicBezTo>
                  <a:pt x="2909" y="78"/>
                  <a:pt x="2912" y="91"/>
                  <a:pt x="2912" y="105"/>
                </a:cubicBezTo>
                <a:lnTo>
                  <a:pt x="2912" y="636"/>
                </a:lnTo>
                <a:cubicBezTo>
                  <a:pt x="2912" y="650"/>
                  <a:pt x="2909" y="663"/>
                  <a:pt x="2904" y="676"/>
                </a:cubicBezTo>
                <a:cubicBezTo>
                  <a:pt x="2898" y="689"/>
                  <a:pt x="2891" y="701"/>
                  <a:pt x="2881" y="711"/>
                </a:cubicBezTo>
                <a:cubicBezTo>
                  <a:pt x="2871" y="720"/>
                  <a:pt x="2859" y="728"/>
                  <a:pt x="2846" y="733"/>
                </a:cubicBezTo>
                <a:cubicBezTo>
                  <a:pt x="2833" y="739"/>
                  <a:pt x="2820" y="741"/>
                  <a:pt x="2806" y="741"/>
                </a:cubicBezTo>
                <a:lnTo>
                  <a:pt x="106" y="741"/>
                </a:lnTo>
                <a:cubicBezTo>
                  <a:pt x="92" y="741"/>
                  <a:pt x="79" y="739"/>
                  <a:pt x="66" y="733"/>
                </a:cubicBezTo>
                <a:cubicBezTo>
                  <a:pt x="53" y="728"/>
                  <a:pt x="41" y="720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CuadroTexto 595"/>
          <p:cNvSpPr txBox="1"/>
          <p:nvPr/>
        </p:nvSpPr>
        <p:spPr>
          <a:xfrm>
            <a:off x="666720" y="4744800"/>
            <a:ext cx="407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CuadroTexto 596"/>
          <p:cNvSpPr txBox="1"/>
          <p:nvPr/>
        </p:nvSpPr>
        <p:spPr>
          <a:xfrm>
            <a:off x="1130400" y="478224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validate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Forma libre 597"/>
          <p:cNvSpPr/>
          <p:nvPr/>
        </p:nvSpPr>
        <p:spPr>
          <a:xfrm>
            <a:off x="4057560" y="4762440"/>
            <a:ext cx="1162440" cy="266760"/>
          </a:xfrm>
          <a:custGeom>
            <a:avLst/>
            <a:gdLst/>
            <a:ahLst/>
            <a:cxnLst/>
            <a:rect l="0" t="0" r="r" b="b"/>
            <a:pathLst>
              <a:path w="3229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lnTo>
                  <a:pt x="3123" y="0"/>
                </a:lnTo>
                <a:cubicBezTo>
                  <a:pt x="3137" y="0"/>
                  <a:pt x="3150" y="2"/>
                  <a:pt x="3163" y="8"/>
                </a:cubicBezTo>
                <a:cubicBezTo>
                  <a:pt x="3176" y="13"/>
                  <a:pt x="3188" y="21"/>
                  <a:pt x="3198" y="31"/>
                </a:cubicBezTo>
                <a:cubicBezTo>
                  <a:pt x="3208" y="41"/>
                  <a:pt x="3215" y="52"/>
                  <a:pt x="3221" y="65"/>
                </a:cubicBezTo>
                <a:cubicBezTo>
                  <a:pt x="3226" y="78"/>
                  <a:pt x="3229" y="91"/>
                  <a:pt x="3229" y="105"/>
                </a:cubicBezTo>
                <a:lnTo>
                  <a:pt x="3229" y="636"/>
                </a:lnTo>
                <a:cubicBezTo>
                  <a:pt x="3229" y="650"/>
                  <a:pt x="3226" y="663"/>
                  <a:pt x="3221" y="676"/>
                </a:cubicBezTo>
                <a:cubicBezTo>
                  <a:pt x="3215" y="689"/>
                  <a:pt x="3208" y="701"/>
                  <a:pt x="3198" y="711"/>
                </a:cubicBezTo>
                <a:cubicBezTo>
                  <a:pt x="3188" y="720"/>
                  <a:pt x="3176" y="728"/>
                  <a:pt x="3163" y="733"/>
                </a:cubicBezTo>
                <a:cubicBezTo>
                  <a:pt x="3150" y="739"/>
                  <a:pt x="3137" y="741"/>
                  <a:pt x="3123" y="741"/>
                </a:cubicBezTo>
                <a:lnTo>
                  <a:pt x="107" y="741"/>
                </a:lnTo>
                <a:cubicBezTo>
                  <a:pt x="93" y="741"/>
                  <a:pt x="79" y="739"/>
                  <a:pt x="66" y="733"/>
                </a:cubicBezTo>
                <a:cubicBezTo>
                  <a:pt x="53" y="728"/>
                  <a:pt x="42" y="720"/>
                  <a:pt x="32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CuadroTexto 598"/>
          <p:cNvSpPr txBox="1"/>
          <p:nvPr/>
        </p:nvSpPr>
        <p:spPr>
          <a:xfrm>
            <a:off x="2123640" y="4744800"/>
            <a:ext cx="1931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, un duplicado en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CuadroTexto 599"/>
          <p:cNvSpPr txBox="1"/>
          <p:nvPr/>
        </p:nvSpPr>
        <p:spPr>
          <a:xfrm>
            <a:off x="4111200" y="478224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pacientes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CuadroTexto 600"/>
          <p:cNvSpPr txBox="1"/>
          <p:nvPr/>
        </p:nvSpPr>
        <p:spPr>
          <a:xfrm>
            <a:off x="5221080" y="4744800"/>
            <a:ext cx="5878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multiplica silenciosamente tus ﬁlas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todos los conteos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CuadroTexto 601"/>
          <p:cNvSpPr txBox="1"/>
          <p:nvPr/>
        </p:nvSpPr>
        <p:spPr>
          <a:xfrm>
            <a:off x="666720" y="5087880"/>
            <a:ext cx="2384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posteriores quedan mal.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CuadroTexto 60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CuadroTexto 60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CuadroTexto 60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3A93D46-AD16-4B54-3512-39A747251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359" y="5222880"/>
            <a:ext cx="4510050" cy="1155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Forma libre 60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Forma libre 60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Forma libre 60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CuadroTexto 608"/>
          <p:cNvSpPr txBox="1"/>
          <p:nvPr/>
        </p:nvSpPr>
        <p:spPr>
          <a:xfrm>
            <a:off x="3178800" y="3063960"/>
            <a:ext cx="59792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Ancho, largo y faltantes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CuadroTexto 60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CuadroTexto 61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CuadroTexto 61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Forma libre 61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Forma libre 6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Forma libre 615"/>
          <p:cNvSpPr/>
          <p:nvPr/>
        </p:nvSpPr>
        <p:spPr>
          <a:xfrm>
            <a:off x="671400" y="2233440"/>
            <a:ext cx="10849320" cy="2153160"/>
          </a:xfrm>
          <a:custGeom>
            <a:avLst/>
            <a:gdLst/>
            <a:ahLst/>
            <a:cxnLst/>
            <a:rect l="0" t="0" r="r" b="b"/>
            <a:pathLst>
              <a:path w="30137" h="5981">
                <a:moveTo>
                  <a:pt x="0" y="578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782"/>
                </a:lnTo>
                <a:cubicBezTo>
                  <a:pt x="30137" y="5795"/>
                  <a:pt x="30136" y="5808"/>
                  <a:pt x="30133" y="5821"/>
                </a:cubicBezTo>
                <a:cubicBezTo>
                  <a:pt x="30130" y="5834"/>
                  <a:pt x="30127" y="5846"/>
                  <a:pt x="30122" y="5858"/>
                </a:cubicBezTo>
                <a:cubicBezTo>
                  <a:pt x="30117" y="5870"/>
                  <a:pt x="30111" y="5882"/>
                  <a:pt x="30103" y="5892"/>
                </a:cubicBezTo>
                <a:cubicBezTo>
                  <a:pt x="30096" y="5903"/>
                  <a:pt x="30088" y="5913"/>
                  <a:pt x="30079" y="5922"/>
                </a:cubicBezTo>
                <a:cubicBezTo>
                  <a:pt x="30070" y="5932"/>
                  <a:pt x="30059" y="5940"/>
                  <a:pt x="30049" y="5947"/>
                </a:cubicBezTo>
                <a:cubicBezTo>
                  <a:pt x="30038" y="5954"/>
                  <a:pt x="30026" y="5960"/>
                  <a:pt x="30014" y="5965"/>
                </a:cubicBezTo>
                <a:cubicBezTo>
                  <a:pt x="30002" y="5970"/>
                  <a:pt x="29990" y="5974"/>
                  <a:pt x="29977" y="5977"/>
                </a:cubicBezTo>
                <a:cubicBezTo>
                  <a:pt x="29964" y="5979"/>
                  <a:pt x="29951" y="5981"/>
                  <a:pt x="29938" y="5981"/>
                </a:cubicBezTo>
                <a:lnTo>
                  <a:pt x="198" y="5981"/>
                </a:lnTo>
                <a:cubicBezTo>
                  <a:pt x="185" y="5981"/>
                  <a:pt x="172" y="5979"/>
                  <a:pt x="160" y="5977"/>
                </a:cubicBezTo>
                <a:cubicBezTo>
                  <a:pt x="147" y="5974"/>
                  <a:pt x="134" y="5970"/>
                  <a:pt x="122" y="5965"/>
                </a:cubicBezTo>
                <a:cubicBezTo>
                  <a:pt x="110" y="5960"/>
                  <a:pt x="99" y="5954"/>
                  <a:pt x="88" y="5947"/>
                </a:cubicBezTo>
                <a:cubicBezTo>
                  <a:pt x="77" y="5940"/>
                  <a:pt x="67" y="5932"/>
                  <a:pt x="58" y="5922"/>
                </a:cubicBezTo>
                <a:cubicBezTo>
                  <a:pt x="49" y="5913"/>
                  <a:pt x="40" y="5903"/>
                  <a:pt x="33" y="5892"/>
                </a:cubicBezTo>
                <a:cubicBezTo>
                  <a:pt x="26" y="5882"/>
                  <a:pt x="20" y="5870"/>
                  <a:pt x="15" y="5858"/>
                </a:cubicBezTo>
                <a:cubicBezTo>
                  <a:pt x="10" y="5846"/>
                  <a:pt x="6" y="5834"/>
                  <a:pt x="4" y="5821"/>
                </a:cubicBezTo>
                <a:cubicBezTo>
                  <a:pt x="1" y="5808"/>
                  <a:pt x="0" y="5795"/>
                  <a:pt x="0" y="578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Forma libre 616"/>
          <p:cNvSpPr/>
          <p:nvPr/>
        </p:nvSpPr>
        <p:spPr>
          <a:xfrm>
            <a:off x="671400" y="2233440"/>
            <a:ext cx="10849320" cy="2153160"/>
          </a:xfrm>
          <a:custGeom>
            <a:avLst/>
            <a:gdLst/>
            <a:ahLst/>
            <a:cxnLst/>
            <a:rect l="0" t="0" r="r" b="b"/>
            <a:pathLst>
              <a:path w="30137" h="5981">
                <a:moveTo>
                  <a:pt x="0" y="578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782"/>
                </a:lnTo>
                <a:cubicBezTo>
                  <a:pt x="30137" y="5795"/>
                  <a:pt x="30136" y="5808"/>
                  <a:pt x="30133" y="5821"/>
                </a:cubicBezTo>
                <a:cubicBezTo>
                  <a:pt x="30130" y="5834"/>
                  <a:pt x="30127" y="5846"/>
                  <a:pt x="30122" y="5858"/>
                </a:cubicBezTo>
                <a:cubicBezTo>
                  <a:pt x="30117" y="5870"/>
                  <a:pt x="30111" y="5882"/>
                  <a:pt x="30103" y="5892"/>
                </a:cubicBezTo>
                <a:cubicBezTo>
                  <a:pt x="30096" y="5903"/>
                  <a:pt x="30088" y="5913"/>
                  <a:pt x="30079" y="5922"/>
                </a:cubicBezTo>
                <a:cubicBezTo>
                  <a:pt x="30070" y="5932"/>
                  <a:pt x="30059" y="5940"/>
                  <a:pt x="30049" y="5947"/>
                </a:cubicBezTo>
                <a:cubicBezTo>
                  <a:pt x="30038" y="5954"/>
                  <a:pt x="30026" y="5960"/>
                  <a:pt x="30014" y="5965"/>
                </a:cubicBezTo>
                <a:cubicBezTo>
                  <a:pt x="30002" y="5970"/>
                  <a:pt x="29990" y="5974"/>
                  <a:pt x="29977" y="5977"/>
                </a:cubicBezTo>
                <a:cubicBezTo>
                  <a:pt x="29964" y="5979"/>
                  <a:pt x="29951" y="5981"/>
                  <a:pt x="29938" y="5981"/>
                </a:cubicBezTo>
                <a:lnTo>
                  <a:pt x="198" y="5981"/>
                </a:lnTo>
                <a:cubicBezTo>
                  <a:pt x="185" y="5981"/>
                  <a:pt x="172" y="5979"/>
                  <a:pt x="160" y="5977"/>
                </a:cubicBezTo>
                <a:cubicBezTo>
                  <a:pt x="147" y="5974"/>
                  <a:pt x="134" y="5970"/>
                  <a:pt x="122" y="5965"/>
                </a:cubicBezTo>
                <a:cubicBezTo>
                  <a:pt x="110" y="5960"/>
                  <a:pt x="99" y="5954"/>
                  <a:pt x="88" y="5947"/>
                </a:cubicBezTo>
                <a:cubicBezTo>
                  <a:pt x="77" y="5940"/>
                  <a:pt x="67" y="5932"/>
                  <a:pt x="58" y="5922"/>
                </a:cubicBezTo>
                <a:cubicBezTo>
                  <a:pt x="49" y="5913"/>
                  <a:pt x="40" y="5903"/>
                  <a:pt x="33" y="5892"/>
                </a:cubicBezTo>
                <a:cubicBezTo>
                  <a:pt x="26" y="5882"/>
                  <a:pt x="20" y="5870"/>
                  <a:pt x="15" y="5858"/>
                </a:cubicBezTo>
                <a:cubicBezTo>
                  <a:pt x="10" y="5846"/>
                  <a:pt x="6" y="5834"/>
                  <a:pt x="4" y="5821"/>
                </a:cubicBezTo>
                <a:cubicBezTo>
                  <a:pt x="1" y="5808"/>
                  <a:pt x="0" y="5795"/>
                  <a:pt x="0" y="578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CuadroTexto 617"/>
          <p:cNvSpPr txBox="1"/>
          <p:nvPr/>
        </p:nvSpPr>
        <p:spPr>
          <a:xfrm>
            <a:off x="666720" y="1587240"/>
            <a:ext cx="34462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renglón por medición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CuadroTexto 618"/>
          <p:cNvSpPr txBox="1"/>
          <p:nvPr/>
        </p:nvSpPr>
        <p:spPr>
          <a:xfrm>
            <a:off x="866880" y="2413440"/>
            <a:ext cx="2075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largo = ancho.melt(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CuadroTexto 619"/>
          <p:cNvSpPr txBox="1"/>
          <p:nvPr/>
        </p:nvSpPr>
        <p:spPr>
          <a:xfrm>
            <a:off x="866880" y="2680200"/>
            <a:ext cx="3871253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id_vars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=[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person_id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'fecha'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],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CuadroTexto 620"/>
          <p:cNvSpPr txBox="1"/>
          <p:nvPr/>
        </p:nvSpPr>
        <p:spPr>
          <a:xfrm>
            <a:off x="866880" y="2937240"/>
            <a:ext cx="4313681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var_name</a:t>
            </a:r>
            <a:r>
              <a:rPr lang="es-ES" sz="1430" b="0" u="none" strike="noStrike" dirty="0">
                <a:solidFill>
                  <a:schemeClr val="bg1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‘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lab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value_name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'valor'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CuadroTexto 621"/>
          <p:cNvSpPr txBox="1"/>
          <p:nvPr/>
        </p:nvSpPr>
        <p:spPr>
          <a:xfrm>
            <a:off x="866880" y="3461040"/>
            <a:ext cx="2839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ancho = largo.pivot_table(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CuadroTexto 622"/>
          <p:cNvSpPr txBox="1"/>
          <p:nvPr/>
        </p:nvSpPr>
        <p:spPr>
          <a:xfrm>
            <a:off x="866880" y="3727800"/>
            <a:ext cx="3650038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index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=[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person_id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'fecha'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],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Forma libre 623"/>
          <p:cNvSpPr/>
          <p:nvPr/>
        </p:nvSpPr>
        <p:spPr>
          <a:xfrm>
            <a:off x="914040" y="46954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CuadroTexto 624"/>
          <p:cNvSpPr txBox="1"/>
          <p:nvPr/>
        </p:nvSpPr>
        <p:spPr>
          <a:xfrm>
            <a:off x="866880" y="3984840"/>
            <a:ext cx="3760645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columns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‘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lab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values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'valor'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Forma libre 625"/>
          <p:cNvSpPr/>
          <p:nvPr/>
        </p:nvSpPr>
        <p:spPr>
          <a:xfrm>
            <a:off x="914040" y="50958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CuadroTexto 626"/>
          <p:cNvSpPr txBox="1"/>
          <p:nvPr/>
        </p:nvSpPr>
        <p:spPr>
          <a:xfrm>
            <a:off x="1123920" y="4582800"/>
            <a:ext cx="8457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Largo (tidy):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una observación por ﬁla. Lo que esperan seaborn, statsmodels y OMOP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CuadroTexto 627"/>
          <p:cNvSpPr txBox="1"/>
          <p:nvPr/>
        </p:nvSpPr>
        <p:spPr>
          <a:xfrm>
            <a:off x="1123920" y="4983120"/>
            <a:ext cx="6751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Ancho: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una columna por variable. Cómodo para leer y para modelar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CuadroTexto 62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 dirty="0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CuadroTexto 62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CuadroTexto 63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50" name="Picture 2" descr="Data reshaping: from wide to long and back – Introduction to R/tidyverse  for Exploratory Data Analysis">
            <a:extLst>
              <a:ext uri="{FF2B5EF4-FFF2-40B4-BE49-F238E27FC236}">
                <a16:creationId xmlns:a16="http://schemas.microsoft.com/office/drawing/2014/main" id="{CF4A624E-F921-1E1D-DECF-788935FE3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877" y="1134074"/>
            <a:ext cx="5278383" cy="338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Forma libre 6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Forma libre 6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Forma libre 6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Forma libre 634"/>
          <p:cNvSpPr/>
          <p:nvPr/>
        </p:nvSpPr>
        <p:spPr>
          <a:xfrm>
            <a:off x="671400" y="2452680"/>
            <a:ext cx="10849320" cy="581040"/>
          </a:xfrm>
          <a:custGeom>
            <a:avLst/>
            <a:gdLst/>
            <a:ahLst/>
            <a:cxnLst/>
            <a:rect l="0" t="0" r="r" b="b"/>
            <a:pathLst>
              <a:path w="30137" h="1614">
                <a:moveTo>
                  <a:pt x="0" y="1416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416"/>
                </a:lnTo>
                <a:cubicBezTo>
                  <a:pt x="30137" y="1429"/>
                  <a:pt x="30136" y="1442"/>
                  <a:pt x="30133" y="1455"/>
                </a:cubicBezTo>
                <a:cubicBezTo>
                  <a:pt x="30130" y="1468"/>
                  <a:pt x="30127" y="1480"/>
                  <a:pt x="30122" y="1492"/>
                </a:cubicBezTo>
                <a:cubicBezTo>
                  <a:pt x="30117" y="1504"/>
                  <a:pt x="30111" y="1515"/>
                  <a:pt x="30103" y="1526"/>
                </a:cubicBezTo>
                <a:cubicBezTo>
                  <a:pt x="30096" y="1537"/>
                  <a:pt x="30088" y="1547"/>
                  <a:pt x="30079" y="1556"/>
                </a:cubicBezTo>
                <a:cubicBezTo>
                  <a:pt x="30070" y="1566"/>
                  <a:pt x="30059" y="1574"/>
                  <a:pt x="30049" y="1581"/>
                </a:cubicBezTo>
                <a:cubicBezTo>
                  <a:pt x="30038" y="1588"/>
                  <a:pt x="30026" y="1594"/>
                  <a:pt x="30014" y="1599"/>
                </a:cubicBezTo>
                <a:cubicBezTo>
                  <a:pt x="30002" y="1604"/>
                  <a:pt x="29990" y="1608"/>
                  <a:pt x="29977" y="1611"/>
                </a:cubicBezTo>
                <a:cubicBezTo>
                  <a:pt x="29964" y="1613"/>
                  <a:pt x="29951" y="1614"/>
                  <a:pt x="29938" y="1614"/>
                </a:cubicBezTo>
                <a:lnTo>
                  <a:pt x="198" y="1614"/>
                </a:lnTo>
                <a:cubicBezTo>
                  <a:pt x="185" y="1614"/>
                  <a:pt x="172" y="1613"/>
                  <a:pt x="160" y="1611"/>
                </a:cubicBezTo>
                <a:cubicBezTo>
                  <a:pt x="147" y="1608"/>
                  <a:pt x="134" y="1604"/>
                  <a:pt x="122" y="1599"/>
                </a:cubicBezTo>
                <a:cubicBezTo>
                  <a:pt x="110" y="1594"/>
                  <a:pt x="99" y="1588"/>
                  <a:pt x="88" y="1581"/>
                </a:cubicBezTo>
                <a:cubicBezTo>
                  <a:pt x="77" y="1574"/>
                  <a:pt x="67" y="1566"/>
                  <a:pt x="58" y="1556"/>
                </a:cubicBezTo>
                <a:cubicBezTo>
                  <a:pt x="49" y="1547"/>
                  <a:pt x="40" y="1537"/>
                  <a:pt x="33" y="1526"/>
                </a:cubicBezTo>
                <a:cubicBezTo>
                  <a:pt x="26" y="1515"/>
                  <a:pt x="20" y="1504"/>
                  <a:pt x="15" y="1492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2"/>
                  <a:pt x="0" y="1429"/>
                  <a:pt x="0" y="1416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Forma libre 635"/>
          <p:cNvSpPr/>
          <p:nvPr/>
        </p:nvSpPr>
        <p:spPr>
          <a:xfrm>
            <a:off x="671400" y="2452680"/>
            <a:ext cx="10849320" cy="581040"/>
          </a:xfrm>
          <a:custGeom>
            <a:avLst/>
            <a:gdLst/>
            <a:ahLst/>
            <a:cxnLst/>
            <a:rect l="0" t="0" r="r" b="b"/>
            <a:pathLst>
              <a:path w="30137" h="1614">
                <a:moveTo>
                  <a:pt x="0" y="1416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416"/>
                </a:lnTo>
                <a:cubicBezTo>
                  <a:pt x="30137" y="1429"/>
                  <a:pt x="30136" y="1442"/>
                  <a:pt x="30133" y="1455"/>
                </a:cubicBezTo>
                <a:cubicBezTo>
                  <a:pt x="30130" y="1468"/>
                  <a:pt x="30127" y="1480"/>
                  <a:pt x="30122" y="1492"/>
                </a:cubicBezTo>
                <a:cubicBezTo>
                  <a:pt x="30117" y="1504"/>
                  <a:pt x="30111" y="1515"/>
                  <a:pt x="30103" y="1526"/>
                </a:cubicBezTo>
                <a:cubicBezTo>
                  <a:pt x="30096" y="1537"/>
                  <a:pt x="30088" y="1547"/>
                  <a:pt x="30079" y="1556"/>
                </a:cubicBezTo>
                <a:cubicBezTo>
                  <a:pt x="30070" y="1566"/>
                  <a:pt x="30059" y="1574"/>
                  <a:pt x="30049" y="1581"/>
                </a:cubicBezTo>
                <a:cubicBezTo>
                  <a:pt x="30038" y="1588"/>
                  <a:pt x="30026" y="1594"/>
                  <a:pt x="30014" y="1599"/>
                </a:cubicBezTo>
                <a:cubicBezTo>
                  <a:pt x="30002" y="1604"/>
                  <a:pt x="29990" y="1608"/>
                  <a:pt x="29977" y="1611"/>
                </a:cubicBezTo>
                <a:cubicBezTo>
                  <a:pt x="29964" y="1613"/>
                  <a:pt x="29951" y="1614"/>
                  <a:pt x="29938" y="1614"/>
                </a:cubicBezTo>
                <a:lnTo>
                  <a:pt x="198" y="1614"/>
                </a:lnTo>
                <a:cubicBezTo>
                  <a:pt x="185" y="1614"/>
                  <a:pt x="172" y="1613"/>
                  <a:pt x="160" y="1611"/>
                </a:cubicBezTo>
                <a:cubicBezTo>
                  <a:pt x="147" y="1608"/>
                  <a:pt x="134" y="1604"/>
                  <a:pt x="122" y="1599"/>
                </a:cubicBezTo>
                <a:cubicBezTo>
                  <a:pt x="110" y="1594"/>
                  <a:pt x="99" y="1588"/>
                  <a:pt x="88" y="1581"/>
                </a:cubicBezTo>
                <a:cubicBezTo>
                  <a:pt x="77" y="1574"/>
                  <a:pt x="67" y="1566"/>
                  <a:pt x="58" y="1556"/>
                </a:cubicBezTo>
                <a:cubicBezTo>
                  <a:pt x="49" y="1547"/>
                  <a:pt x="40" y="1537"/>
                  <a:pt x="33" y="1526"/>
                </a:cubicBezTo>
                <a:cubicBezTo>
                  <a:pt x="26" y="1515"/>
                  <a:pt x="20" y="1504"/>
                  <a:pt x="15" y="1492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2"/>
                  <a:pt x="0" y="1429"/>
                  <a:pt x="0" y="141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Forma libre 636"/>
          <p:cNvSpPr/>
          <p:nvPr/>
        </p:nvSpPr>
        <p:spPr>
          <a:xfrm>
            <a:off x="666720" y="448596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Forma libre 637"/>
          <p:cNvSpPr/>
          <p:nvPr/>
        </p:nvSpPr>
        <p:spPr>
          <a:xfrm>
            <a:off x="666720" y="448596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CuadroTexto 638"/>
          <p:cNvSpPr txBox="1"/>
          <p:nvPr/>
        </p:nvSpPr>
        <p:spPr>
          <a:xfrm>
            <a:off x="666720" y="1815840"/>
            <a:ext cx="54903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Faltantes: en salud, la ausencia informa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Forma libre 639"/>
          <p:cNvSpPr/>
          <p:nvPr/>
        </p:nvSpPr>
        <p:spPr>
          <a:xfrm>
            <a:off x="914040" y="33429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Forma libre 640"/>
          <p:cNvSpPr/>
          <p:nvPr/>
        </p:nvSpPr>
        <p:spPr>
          <a:xfrm>
            <a:off x="1123920" y="3247920"/>
            <a:ext cx="466920" cy="267120"/>
          </a:xfrm>
          <a:custGeom>
            <a:avLst/>
            <a:gdLst/>
            <a:ahLst/>
            <a:cxnLst/>
            <a:rect l="0" t="0" r="r" b="b"/>
            <a:pathLst>
              <a:path w="129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1191" y="0"/>
                </a:lnTo>
                <a:cubicBezTo>
                  <a:pt x="1205" y="0"/>
                  <a:pt x="1219" y="2"/>
                  <a:pt x="1232" y="8"/>
                </a:cubicBezTo>
                <a:cubicBezTo>
                  <a:pt x="1245" y="13"/>
                  <a:pt x="1256" y="21"/>
                  <a:pt x="1266" y="31"/>
                </a:cubicBezTo>
                <a:cubicBezTo>
                  <a:pt x="1276" y="41"/>
                  <a:pt x="1284" y="52"/>
                  <a:pt x="1289" y="65"/>
                </a:cubicBezTo>
                <a:cubicBezTo>
                  <a:pt x="1294" y="78"/>
                  <a:pt x="1297" y="92"/>
                  <a:pt x="1297" y="106"/>
                </a:cubicBezTo>
                <a:lnTo>
                  <a:pt x="1297" y="636"/>
                </a:lnTo>
                <a:cubicBezTo>
                  <a:pt x="1297" y="650"/>
                  <a:pt x="1294" y="663"/>
                  <a:pt x="1289" y="676"/>
                </a:cubicBezTo>
                <a:cubicBezTo>
                  <a:pt x="1284" y="689"/>
                  <a:pt x="1276" y="701"/>
                  <a:pt x="1266" y="711"/>
                </a:cubicBezTo>
                <a:cubicBezTo>
                  <a:pt x="1256" y="721"/>
                  <a:pt x="1245" y="728"/>
                  <a:pt x="1232" y="734"/>
                </a:cubicBezTo>
                <a:cubicBezTo>
                  <a:pt x="1219" y="739"/>
                  <a:pt x="1205" y="742"/>
                  <a:pt x="1191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CuadroTexto 641"/>
          <p:cNvSpPr txBox="1"/>
          <p:nvPr/>
        </p:nvSpPr>
        <p:spPr>
          <a:xfrm>
            <a:off x="866880" y="2632320"/>
            <a:ext cx="7861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df.isna().mean().sort_values(ascending=</a:t>
            </a:r>
            <a:r>
              <a:rPr lang="es-ES" sz="143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False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  </a:t>
            </a:r>
            <a:r>
              <a:rPr lang="es-ES" sz="143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% faltante por columna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CuadroTexto 642"/>
          <p:cNvSpPr txBox="1"/>
          <p:nvPr/>
        </p:nvSpPr>
        <p:spPr>
          <a:xfrm>
            <a:off x="1181160" y="3267720"/>
            <a:ext cx="353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NaN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Forma libre 643"/>
          <p:cNvSpPr/>
          <p:nvPr/>
        </p:nvSpPr>
        <p:spPr>
          <a:xfrm>
            <a:off x="2371680" y="324792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1509" y="0"/>
                </a:lnTo>
                <a:cubicBezTo>
                  <a:pt x="1523" y="0"/>
                  <a:pt x="1536" y="2"/>
                  <a:pt x="1549" y="8"/>
                </a:cubicBezTo>
                <a:cubicBezTo>
                  <a:pt x="1562" y="13"/>
                  <a:pt x="1574" y="21"/>
                  <a:pt x="1584" y="31"/>
                </a:cubicBezTo>
                <a:cubicBezTo>
                  <a:pt x="1594" y="41"/>
                  <a:pt x="1601" y="52"/>
                  <a:pt x="1607" y="65"/>
                </a:cubicBezTo>
                <a:cubicBezTo>
                  <a:pt x="1612" y="78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2" y="663"/>
                  <a:pt x="1607" y="676"/>
                </a:cubicBezTo>
                <a:cubicBezTo>
                  <a:pt x="1601" y="689"/>
                  <a:pt x="1594" y="701"/>
                  <a:pt x="1584" y="711"/>
                </a:cubicBezTo>
                <a:cubicBezTo>
                  <a:pt x="1574" y="721"/>
                  <a:pt x="1562" y="728"/>
                  <a:pt x="1549" y="734"/>
                </a:cubicBezTo>
                <a:cubicBezTo>
                  <a:pt x="1536" y="739"/>
                  <a:pt x="1523" y="742"/>
                  <a:pt x="1509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CuadroTexto 644"/>
          <p:cNvSpPr txBox="1"/>
          <p:nvPr/>
        </p:nvSpPr>
        <p:spPr>
          <a:xfrm>
            <a:off x="1589400" y="3230280"/>
            <a:ext cx="780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(ﬂoat) ·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CuadroTexto 645"/>
          <p:cNvSpPr txBox="1"/>
          <p:nvPr/>
        </p:nvSpPr>
        <p:spPr>
          <a:xfrm>
            <a:off x="2426040" y="326772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None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Forma libre 646"/>
          <p:cNvSpPr/>
          <p:nvPr/>
        </p:nvSpPr>
        <p:spPr>
          <a:xfrm>
            <a:off x="3924000" y="3247920"/>
            <a:ext cx="695880" cy="267120"/>
          </a:xfrm>
          <a:custGeom>
            <a:avLst/>
            <a:gdLst/>
            <a:ahLst/>
            <a:cxnLst/>
            <a:rect l="0" t="0" r="r" b="b"/>
            <a:pathLst>
              <a:path w="193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827" y="0"/>
                </a:lnTo>
                <a:cubicBezTo>
                  <a:pt x="1841" y="0"/>
                  <a:pt x="1854" y="2"/>
                  <a:pt x="1867" y="8"/>
                </a:cubicBezTo>
                <a:cubicBezTo>
                  <a:pt x="1880" y="13"/>
                  <a:pt x="1892" y="21"/>
                  <a:pt x="1902" y="31"/>
                </a:cubicBezTo>
                <a:cubicBezTo>
                  <a:pt x="1912" y="41"/>
                  <a:pt x="1919" y="52"/>
                  <a:pt x="1925" y="65"/>
                </a:cubicBezTo>
                <a:cubicBezTo>
                  <a:pt x="1930" y="78"/>
                  <a:pt x="1933" y="92"/>
                  <a:pt x="1933" y="106"/>
                </a:cubicBezTo>
                <a:lnTo>
                  <a:pt x="1933" y="636"/>
                </a:lnTo>
                <a:cubicBezTo>
                  <a:pt x="1933" y="650"/>
                  <a:pt x="1930" y="663"/>
                  <a:pt x="1925" y="676"/>
                </a:cubicBezTo>
                <a:cubicBezTo>
                  <a:pt x="1919" y="689"/>
                  <a:pt x="1912" y="701"/>
                  <a:pt x="1902" y="711"/>
                </a:cubicBezTo>
                <a:cubicBezTo>
                  <a:pt x="1892" y="721"/>
                  <a:pt x="1880" y="728"/>
                  <a:pt x="1867" y="734"/>
                </a:cubicBezTo>
                <a:cubicBezTo>
                  <a:pt x="1854" y="739"/>
                  <a:pt x="1841" y="742"/>
                  <a:pt x="1827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CuadroTexto 647"/>
          <p:cNvSpPr txBox="1"/>
          <p:nvPr/>
        </p:nvSpPr>
        <p:spPr>
          <a:xfrm>
            <a:off x="2951280" y="3230280"/>
            <a:ext cx="970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(object) ·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CuadroTexto 648"/>
          <p:cNvSpPr txBox="1"/>
          <p:nvPr/>
        </p:nvSpPr>
        <p:spPr>
          <a:xfrm>
            <a:off x="3978360" y="326772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pd.NA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Forma libre 649"/>
          <p:cNvSpPr/>
          <p:nvPr/>
        </p:nvSpPr>
        <p:spPr>
          <a:xfrm>
            <a:off x="914040" y="37432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CuadroTexto 650"/>
          <p:cNvSpPr txBox="1"/>
          <p:nvPr/>
        </p:nvSpPr>
        <p:spPr>
          <a:xfrm>
            <a:off x="4620600" y="3230280"/>
            <a:ext cx="3553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(nullable) — no son intercambiables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Forma libre 651"/>
          <p:cNvSpPr/>
          <p:nvPr/>
        </p:nvSpPr>
        <p:spPr>
          <a:xfrm>
            <a:off x="914040" y="41432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0"/>
                  <a:pt x="161" y="198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4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CuadroTexto 652"/>
          <p:cNvSpPr txBox="1"/>
          <p:nvPr/>
        </p:nvSpPr>
        <p:spPr>
          <a:xfrm>
            <a:off x="1123920" y="3630600"/>
            <a:ext cx="6127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Que no se haya pedido una prueba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dice algo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del juicio clínico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Forma libre 653"/>
          <p:cNvSpPr/>
          <p:nvPr/>
        </p:nvSpPr>
        <p:spPr>
          <a:xfrm>
            <a:off x="4686120" y="4047840"/>
            <a:ext cx="2105280" cy="267120"/>
          </a:xfrm>
          <a:custGeom>
            <a:avLst/>
            <a:gdLst/>
            <a:ahLst/>
            <a:cxnLst/>
            <a:rect l="0" t="0" r="r" b="b"/>
            <a:pathLst>
              <a:path w="5848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742" y="0"/>
                </a:lnTo>
                <a:cubicBezTo>
                  <a:pt x="5756" y="0"/>
                  <a:pt x="5770" y="3"/>
                  <a:pt x="5783" y="8"/>
                </a:cubicBezTo>
                <a:cubicBezTo>
                  <a:pt x="5796" y="14"/>
                  <a:pt x="5807" y="21"/>
                  <a:pt x="5817" y="31"/>
                </a:cubicBezTo>
                <a:cubicBezTo>
                  <a:pt x="5827" y="41"/>
                  <a:pt x="5835" y="53"/>
                  <a:pt x="5840" y="66"/>
                </a:cubicBezTo>
                <a:cubicBezTo>
                  <a:pt x="5846" y="79"/>
                  <a:pt x="5848" y="92"/>
                  <a:pt x="5848" y="106"/>
                </a:cubicBezTo>
                <a:lnTo>
                  <a:pt x="5848" y="636"/>
                </a:lnTo>
                <a:cubicBezTo>
                  <a:pt x="5848" y="650"/>
                  <a:pt x="5846" y="664"/>
                  <a:pt x="5840" y="677"/>
                </a:cubicBezTo>
                <a:cubicBezTo>
                  <a:pt x="5835" y="690"/>
                  <a:pt x="5827" y="701"/>
                  <a:pt x="5817" y="711"/>
                </a:cubicBezTo>
                <a:cubicBezTo>
                  <a:pt x="5807" y="721"/>
                  <a:pt x="5796" y="729"/>
                  <a:pt x="5783" y="734"/>
                </a:cubicBezTo>
                <a:cubicBezTo>
                  <a:pt x="5770" y="739"/>
                  <a:pt x="5756" y="742"/>
                  <a:pt x="5742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CuadroTexto 654"/>
          <p:cNvSpPr txBox="1"/>
          <p:nvPr/>
        </p:nvSpPr>
        <p:spPr>
          <a:xfrm>
            <a:off x="1123920" y="4030560"/>
            <a:ext cx="3818994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Antes de imputar: crear un indicador 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CuadroTexto 655"/>
          <p:cNvSpPr txBox="1"/>
          <p:nvPr/>
        </p:nvSpPr>
        <p:spPr>
          <a:xfrm>
            <a:off x="4924242" y="4067640"/>
            <a:ext cx="1997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variable_faltante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CuadroTexto 656"/>
          <p:cNvSpPr txBox="1"/>
          <p:nvPr/>
        </p:nvSpPr>
        <p:spPr>
          <a:xfrm>
            <a:off x="905040" y="4640040"/>
            <a:ext cx="5670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Imputar sin pensar convierte un dato informativo en ruido.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CuadroTexto 65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CuadroTexto 65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CuadroTexto 65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Forma libre 66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Forma libre 66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Forma libre 6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CuadroTexto 663"/>
          <p:cNvSpPr txBox="1"/>
          <p:nvPr/>
        </p:nvSpPr>
        <p:spPr>
          <a:xfrm>
            <a:off x="2391120" y="3063960"/>
            <a:ext cx="75700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Cuando pandas ya no alcanza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CuadroTexto 66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CuadroTexto 66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CuadroTexto 66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Forma libre 66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Forma libre 66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Forma libre 66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Forma libre 670"/>
          <p:cNvSpPr/>
          <p:nvPr/>
        </p:nvSpPr>
        <p:spPr>
          <a:xfrm>
            <a:off x="676080" y="2390760"/>
            <a:ext cx="1219680" cy="409680"/>
          </a:xfrm>
          <a:custGeom>
            <a:avLst/>
            <a:gdLst/>
            <a:ahLst/>
            <a:cxnLst/>
            <a:rect l="0" t="0" r="r" b="b"/>
            <a:pathLst>
              <a:path w="3388" h="1138">
                <a:moveTo>
                  <a:pt x="0" y="0"/>
                </a:moveTo>
                <a:lnTo>
                  <a:pt x="3388" y="0"/>
                </a:lnTo>
                <a:lnTo>
                  <a:pt x="338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Forma libre 671"/>
          <p:cNvSpPr/>
          <p:nvPr/>
        </p:nvSpPr>
        <p:spPr>
          <a:xfrm>
            <a:off x="1895400" y="2390760"/>
            <a:ext cx="1800360" cy="409680"/>
          </a:xfrm>
          <a:custGeom>
            <a:avLst/>
            <a:gdLst/>
            <a:ahLst/>
            <a:cxnLst/>
            <a:rect l="0" t="0" r="r" b="b"/>
            <a:pathLst>
              <a:path w="5001" h="1138">
                <a:moveTo>
                  <a:pt x="0" y="0"/>
                </a:moveTo>
                <a:lnTo>
                  <a:pt x="5001" y="0"/>
                </a:lnTo>
                <a:lnTo>
                  <a:pt x="5001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Forma libre 672"/>
          <p:cNvSpPr/>
          <p:nvPr/>
        </p:nvSpPr>
        <p:spPr>
          <a:xfrm>
            <a:off x="3695400" y="2390760"/>
            <a:ext cx="4153320" cy="409680"/>
          </a:xfrm>
          <a:custGeom>
            <a:avLst/>
            <a:gdLst/>
            <a:ahLst/>
            <a:cxnLst/>
            <a:rect l="0" t="0" r="r" b="b"/>
            <a:pathLst>
              <a:path w="11537" h="1138">
                <a:moveTo>
                  <a:pt x="0" y="0"/>
                </a:moveTo>
                <a:lnTo>
                  <a:pt x="11537" y="0"/>
                </a:lnTo>
                <a:lnTo>
                  <a:pt x="1153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Forma libre 673"/>
          <p:cNvSpPr/>
          <p:nvPr/>
        </p:nvSpPr>
        <p:spPr>
          <a:xfrm>
            <a:off x="676080" y="2390760"/>
            <a:ext cx="1219680" cy="409680"/>
          </a:xfrm>
          <a:custGeom>
            <a:avLst/>
            <a:gdLst/>
            <a:ahLst/>
            <a:cxnLst/>
            <a:rect l="0" t="0" r="r" b="b"/>
            <a:pathLst>
              <a:path w="3388" h="1138">
                <a:moveTo>
                  <a:pt x="0" y="0"/>
                </a:moveTo>
                <a:lnTo>
                  <a:pt x="3388" y="0"/>
                </a:lnTo>
                <a:lnTo>
                  <a:pt x="338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Forma libre 674"/>
          <p:cNvSpPr/>
          <p:nvPr/>
        </p:nvSpPr>
        <p:spPr>
          <a:xfrm>
            <a:off x="1895400" y="2390760"/>
            <a:ext cx="1800360" cy="409680"/>
          </a:xfrm>
          <a:custGeom>
            <a:avLst/>
            <a:gdLst/>
            <a:ahLst/>
            <a:cxnLst/>
            <a:rect l="0" t="0" r="r" b="b"/>
            <a:pathLst>
              <a:path w="5001" h="1138">
                <a:moveTo>
                  <a:pt x="0" y="0"/>
                </a:moveTo>
                <a:lnTo>
                  <a:pt x="5001" y="0"/>
                </a:lnTo>
                <a:lnTo>
                  <a:pt x="5001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Forma libre 675"/>
          <p:cNvSpPr/>
          <p:nvPr/>
        </p:nvSpPr>
        <p:spPr>
          <a:xfrm>
            <a:off x="3695400" y="2390760"/>
            <a:ext cx="4153320" cy="409680"/>
          </a:xfrm>
          <a:custGeom>
            <a:avLst/>
            <a:gdLst/>
            <a:ahLst/>
            <a:cxnLst/>
            <a:rect l="0" t="0" r="r" b="b"/>
            <a:pathLst>
              <a:path w="11537" h="1138">
                <a:moveTo>
                  <a:pt x="0" y="0"/>
                </a:moveTo>
                <a:lnTo>
                  <a:pt x="11537" y="0"/>
                </a:lnTo>
                <a:lnTo>
                  <a:pt x="1153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Forma libre 676"/>
          <p:cNvSpPr/>
          <p:nvPr/>
        </p:nvSpPr>
        <p:spPr>
          <a:xfrm>
            <a:off x="676080" y="2800080"/>
            <a:ext cx="1219680" cy="419400"/>
          </a:xfrm>
          <a:custGeom>
            <a:avLst/>
            <a:gdLst/>
            <a:ahLst/>
            <a:cxnLst/>
            <a:rect l="0" t="0" r="r" b="b"/>
            <a:pathLst>
              <a:path w="3388" h="1165">
                <a:moveTo>
                  <a:pt x="0" y="0"/>
                </a:moveTo>
                <a:lnTo>
                  <a:pt x="3388" y="0"/>
                </a:lnTo>
                <a:lnTo>
                  <a:pt x="338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Forma libre 677"/>
          <p:cNvSpPr/>
          <p:nvPr/>
        </p:nvSpPr>
        <p:spPr>
          <a:xfrm>
            <a:off x="1895400" y="2800080"/>
            <a:ext cx="1800360" cy="419400"/>
          </a:xfrm>
          <a:custGeom>
            <a:avLst/>
            <a:gdLst/>
            <a:ahLst/>
            <a:cxnLst/>
            <a:rect l="0" t="0" r="r" b="b"/>
            <a:pathLst>
              <a:path w="5001" h="1165">
                <a:moveTo>
                  <a:pt x="0" y="0"/>
                </a:moveTo>
                <a:lnTo>
                  <a:pt x="5001" y="0"/>
                </a:lnTo>
                <a:lnTo>
                  <a:pt x="500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Forma libre 678"/>
          <p:cNvSpPr/>
          <p:nvPr/>
        </p:nvSpPr>
        <p:spPr>
          <a:xfrm>
            <a:off x="3695400" y="2800080"/>
            <a:ext cx="4153320" cy="419400"/>
          </a:xfrm>
          <a:custGeom>
            <a:avLst/>
            <a:gdLst/>
            <a:ahLst/>
            <a:cxnLst/>
            <a:rect l="0" t="0" r="r" b="b"/>
            <a:pathLst>
              <a:path w="11537" h="1165">
                <a:moveTo>
                  <a:pt x="0" y="0"/>
                </a:moveTo>
                <a:lnTo>
                  <a:pt x="11537" y="0"/>
                </a:lnTo>
                <a:lnTo>
                  <a:pt x="1153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Forma libre 679"/>
          <p:cNvSpPr/>
          <p:nvPr/>
        </p:nvSpPr>
        <p:spPr>
          <a:xfrm>
            <a:off x="676080" y="3219120"/>
            <a:ext cx="1219680" cy="419760"/>
          </a:xfrm>
          <a:custGeom>
            <a:avLst/>
            <a:gdLst/>
            <a:ahLst/>
            <a:cxnLst/>
            <a:rect l="0" t="0" r="r" b="b"/>
            <a:pathLst>
              <a:path w="3388" h="1166">
                <a:moveTo>
                  <a:pt x="0" y="0"/>
                </a:moveTo>
                <a:lnTo>
                  <a:pt x="3388" y="0"/>
                </a:lnTo>
                <a:lnTo>
                  <a:pt x="338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Forma libre 680"/>
          <p:cNvSpPr/>
          <p:nvPr/>
        </p:nvSpPr>
        <p:spPr>
          <a:xfrm>
            <a:off x="1895400" y="3219120"/>
            <a:ext cx="1800360" cy="419760"/>
          </a:xfrm>
          <a:custGeom>
            <a:avLst/>
            <a:gdLst/>
            <a:ahLst/>
            <a:cxnLst/>
            <a:rect l="0" t="0" r="r" b="b"/>
            <a:pathLst>
              <a:path w="5001" h="1166">
                <a:moveTo>
                  <a:pt x="0" y="0"/>
                </a:moveTo>
                <a:lnTo>
                  <a:pt x="5001" y="0"/>
                </a:lnTo>
                <a:lnTo>
                  <a:pt x="5001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Forma libre 681"/>
          <p:cNvSpPr/>
          <p:nvPr/>
        </p:nvSpPr>
        <p:spPr>
          <a:xfrm>
            <a:off x="3695400" y="3219120"/>
            <a:ext cx="4153320" cy="419760"/>
          </a:xfrm>
          <a:custGeom>
            <a:avLst/>
            <a:gdLst/>
            <a:ahLst/>
            <a:cxnLst/>
            <a:rect l="0" t="0" r="r" b="b"/>
            <a:pathLst>
              <a:path w="11537" h="1166">
                <a:moveTo>
                  <a:pt x="0" y="0"/>
                </a:moveTo>
                <a:lnTo>
                  <a:pt x="11537" y="0"/>
                </a:lnTo>
                <a:lnTo>
                  <a:pt x="1153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Forma libre 682"/>
          <p:cNvSpPr/>
          <p:nvPr/>
        </p:nvSpPr>
        <p:spPr>
          <a:xfrm>
            <a:off x="676080" y="3638520"/>
            <a:ext cx="1219680" cy="419400"/>
          </a:xfrm>
          <a:custGeom>
            <a:avLst/>
            <a:gdLst/>
            <a:ahLst/>
            <a:cxnLst/>
            <a:rect l="0" t="0" r="r" b="b"/>
            <a:pathLst>
              <a:path w="3388" h="1165">
                <a:moveTo>
                  <a:pt x="0" y="0"/>
                </a:moveTo>
                <a:lnTo>
                  <a:pt x="3388" y="0"/>
                </a:lnTo>
                <a:lnTo>
                  <a:pt x="338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Forma libre 683"/>
          <p:cNvSpPr/>
          <p:nvPr/>
        </p:nvSpPr>
        <p:spPr>
          <a:xfrm>
            <a:off x="1895400" y="3638520"/>
            <a:ext cx="1800360" cy="419400"/>
          </a:xfrm>
          <a:custGeom>
            <a:avLst/>
            <a:gdLst/>
            <a:ahLst/>
            <a:cxnLst/>
            <a:rect l="0" t="0" r="r" b="b"/>
            <a:pathLst>
              <a:path w="5001" h="1165">
                <a:moveTo>
                  <a:pt x="0" y="0"/>
                </a:moveTo>
                <a:lnTo>
                  <a:pt x="5001" y="0"/>
                </a:lnTo>
                <a:lnTo>
                  <a:pt x="500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Forma libre 684"/>
          <p:cNvSpPr/>
          <p:nvPr/>
        </p:nvSpPr>
        <p:spPr>
          <a:xfrm>
            <a:off x="3695400" y="3638520"/>
            <a:ext cx="4153320" cy="419400"/>
          </a:xfrm>
          <a:custGeom>
            <a:avLst/>
            <a:gdLst/>
            <a:ahLst/>
            <a:cxnLst/>
            <a:rect l="0" t="0" r="r" b="b"/>
            <a:pathLst>
              <a:path w="11537" h="1165">
                <a:moveTo>
                  <a:pt x="0" y="0"/>
                </a:moveTo>
                <a:lnTo>
                  <a:pt x="11537" y="0"/>
                </a:lnTo>
                <a:lnTo>
                  <a:pt x="1153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Forma libre 685"/>
          <p:cNvSpPr/>
          <p:nvPr/>
        </p:nvSpPr>
        <p:spPr>
          <a:xfrm>
            <a:off x="66672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Forma libre 686"/>
          <p:cNvSpPr/>
          <p:nvPr/>
        </p:nvSpPr>
        <p:spPr>
          <a:xfrm>
            <a:off x="666720" y="2381040"/>
            <a:ext cx="1238400" cy="10080"/>
          </a:xfrm>
          <a:custGeom>
            <a:avLst/>
            <a:gdLst/>
            <a:ahLst/>
            <a:cxnLst/>
            <a:rect l="0" t="0" r="r" b="b"/>
            <a:pathLst>
              <a:path w="3440" h="28">
                <a:moveTo>
                  <a:pt x="0" y="0"/>
                </a:moveTo>
                <a:lnTo>
                  <a:pt x="3440" y="0"/>
                </a:lnTo>
                <a:lnTo>
                  <a:pt x="34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Forma libre 687"/>
          <p:cNvSpPr/>
          <p:nvPr/>
        </p:nvSpPr>
        <p:spPr>
          <a:xfrm>
            <a:off x="189540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Forma libre 688"/>
          <p:cNvSpPr/>
          <p:nvPr/>
        </p:nvSpPr>
        <p:spPr>
          <a:xfrm>
            <a:off x="1904760" y="2381040"/>
            <a:ext cx="1791000" cy="10080"/>
          </a:xfrm>
          <a:custGeom>
            <a:avLst/>
            <a:gdLst/>
            <a:ahLst/>
            <a:cxnLst/>
            <a:rect l="0" t="0" r="r" b="b"/>
            <a:pathLst>
              <a:path w="4975" h="28">
                <a:moveTo>
                  <a:pt x="0" y="0"/>
                </a:moveTo>
                <a:lnTo>
                  <a:pt x="4975" y="0"/>
                </a:lnTo>
                <a:lnTo>
                  <a:pt x="49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Forma libre 689"/>
          <p:cNvSpPr/>
          <p:nvPr/>
        </p:nvSpPr>
        <p:spPr>
          <a:xfrm>
            <a:off x="368604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Forma libre 690"/>
          <p:cNvSpPr/>
          <p:nvPr/>
        </p:nvSpPr>
        <p:spPr>
          <a:xfrm>
            <a:off x="3695400" y="2381040"/>
            <a:ext cx="4153320" cy="10080"/>
          </a:xfrm>
          <a:custGeom>
            <a:avLst/>
            <a:gdLst/>
            <a:ahLst/>
            <a:cxnLst/>
            <a:rect l="0" t="0" r="r" b="b"/>
            <a:pathLst>
              <a:path w="11537" h="28">
                <a:moveTo>
                  <a:pt x="0" y="0"/>
                </a:moveTo>
                <a:lnTo>
                  <a:pt x="11537" y="0"/>
                </a:lnTo>
                <a:lnTo>
                  <a:pt x="115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Forma libre 691"/>
          <p:cNvSpPr/>
          <p:nvPr/>
        </p:nvSpPr>
        <p:spPr>
          <a:xfrm>
            <a:off x="783900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Forma libre 692"/>
          <p:cNvSpPr/>
          <p:nvPr/>
        </p:nvSpPr>
        <p:spPr>
          <a:xfrm>
            <a:off x="666720" y="2790720"/>
            <a:ext cx="1238400" cy="9720"/>
          </a:xfrm>
          <a:custGeom>
            <a:avLst/>
            <a:gdLst/>
            <a:ahLst/>
            <a:cxnLst/>
            <a:rect l="0" t="0" r="r" b="b"/>
            <a:pathLst>
              <a:path w="3440" h="27">
                <a:moveTo>
                  <a:pt x="0" y="0"/>
                </a:moveTo>
                <a:lnTo>
                  <a:pt x="3440" y="0"/>
                </a:lnTo>
                <a:lnTo>
                  <a:pt x="34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Forma libre 693"/>
          <p:cNvSpPr/>
          <p:nvPr/>
        </p:nvSpPr>
        <p:spPr>
          <a:xfrm>
            <a:off x="1904760" y="2790720"/>
            <a:ext cx="1791000" cy="9720"/>
          </a:xfrm>
          <a:custGeom>
            <a:avLst/>
            <a:gdLst/>
            <a:ahLst/>
            <a:cxn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Forma libre 694"/>
          <p:cNvSpPr/>
          <p:nvPr/>
        </p:nvSpPr>
        <p:spPr>
          <a:xfrm>
            <a:off x="3695400" y="2790720"/>
            <a:ext cx="4153320" cy="9720"/>
          </a:xfrm>
          <a:custGeom>
            <a:avLst/>
            <a:gdLst/>
            <a:ahLst/>
            <a:cxnLst/>
            <a:rect l="0" t="0" r="r" b="b"/>
            <a:pathLst>
              <a:path w="11537" h="27">
                <a:moveTo>
                  <a:pt x="0" y="0"/>
                </a:moveTo>
                <a:lnTo>
                  <a:pt x="11537" y="0"/>
                </a:lnTo>
                <a:lnTo>
                  <a:pt x="115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Forma libre 695"/>
          <p:cNvSpPr/>
          <p:nvPr/>
        </p:nvSpPr>
        <p:spPr>
          <a:xfrm>
            <a:off x="66672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Forma libre 696"/>
          <p:cNvSpPr/>
          <p:nvPr/>
        </p:nvSpPr>
        <p:spPr>
          <a:xfrm>
            <a:off x="189540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Forma libre 697"/>
          <p:cNvSpPr/>
          <p:nvPr/>
        </p:nvSpPr>
        <p:spPr>
          <a:xfrm>
            <a:off x="368604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Forma libre 698"/>
          <p:cNvSpPr/>
          <p:nvPr/>
        </p:nvSpPr>
        <p:spPr>
          <a:xfrm>
            <a:off x="783900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Forma libre 699"/>
          <p:cNvSpPr/>
          <p:nvPr/>
        </p:nvSpPr>
        <p:spPr>
          <a:xfrm>
            <a:off x="666720" y="3219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Forma libre 700"/>
          <p:cNvSpPr/>
          <p:nvPr/>
        </p:nvSpPr>
        <p:spPr>
          <a:xfrm>
            <a:off x="666720" y="3209760"/>
            <a:ext cx="1238400" cy="9720"/>
          </a:xfrm>
          <a:custGeom>
            <a:avLst/>
            <a:gdLst/>
            <a:ahLst/>
            <a:cxnLst/>
            <a:rect l="0" t="0" r="r" b="b"/>
            <a:pathLst>
              <a:path w="3440" h="27">
                <a:moveTo>
                  <a:pt x="0" y="0"/>
                </a:moveTo>
                <a:lnTo>
                  <a:pt x="3440" y="0"/>
                </a:lnTo>
                <a:lnTo>
                  <a:pt x="34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Forma libre 701"/>
          <p:cNvSpPr/>
          <p:nvPr/>
        </p:nvSpPr>
        <p:spPr>
          <a:xfrm>
            <a:off x="1895400" y="3219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Forma libre 702"/>
          <p:cNvSpPr/>
          <p:nvPr/>
        </p:nvSpPr>
        <p:spPr>
          <a:xfrm>
            <a:off x="1904760" y="3209760"/>
            <a:ext cx="1791000" cy="9720"/>
          </a:xfrm>
          <a:custGeom>
            <a:avLst/>
            <a:gdLst/>
            <a:ahLst/>
            <a:cxn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Forma libre 703"/>
          <p:cNvSpPr/>
          <p:nvPr/>
        </p:nvSpPr>
        <p:spPr>
          <a:xfrm>
            <a:off x="3686040" y="3219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Forma libre 704"/>
          <p:cNvSpPr/>
          <p:nvPr/>
        </p:nvSpPr>
        <p:spPr>
          <a:xfrm>
            <a:off x="3695400" y="3209760"/>
            <a:ext cx="4153320" cy="9720"/>
          </a:xfrm>
          <a:custGeom>
            <a:avLst/>
            <a:gdLst/>
            <a:ahLst/>
            <a:cxnLst/>
            <a:rect l="0" t="0" r="r" b="b"/>
            <a:pathLst>
              <a:path w="11537" h="27">
                <a:moveTo>
                  <a:pt x="0" y="0"/>
                </a:moveTo>
                <a:lnTo>
                  <a:pt x="11537" y="0"/>
                </a:lnTo>
                <a:lnTo>
                  <a:pt x="115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Forma libre 705"/>
          <p:cNvSpPr/>
          <p:nvPr/>
        </p:nvSpPr>
        <p:spPr>
          <a:xfrm>
            <a:off x="7839000" y="3219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Forma libre 706"/>
          <p:cNvSpPr/>
          <p:nvPr/>
        </p:nvSpPr>
        <p:spPr>
          <a:xfrm>
            <a:off x="666720" y="3638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Forma libre 707"/>
          <p:cNvSpPr/>
          <p:nvPr/>
        </p:nvSpPr>
        <p:spPr>
          <a:xfrm>
            <a:off x="666720" y="3628800"/>
            <a:ext cx="1238400" cy="10080"/>
          </a:xfrm>
          <a:custGeom>
            <a:avLst/>
            <a:gdLst/>
            <a:ahLst/>
            <a:cxnLst/>
            <a:rect l="0" t="0" r="r" b="b"/>
            <a:pathLst>
              <a:path w="3440" h="28">
                <a:moveTo>
                  <a:pt x="0" y="0"/>
                </a:moveTo>
                <a:lnTo>
                  <a:pt x="3440" y="0"/>
                </a:lnTo>
                <a:lnTo>
                  <a:pt x="34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Forma libre 708"/>
          <p:cNvSpPr/>
          <p:nvPr/>
        </p:nvSpPr>
        <p:spPr>
          <a:xfrm>
            <a:off x="1895400" y="3638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Forma libre 709"/>
          <p:cNvSpPr/>
          <p:nvPr/>
        </p:nvSpPr>
        <p:spPr>
          <a:xfrm>
            <a:off x="1904760" y="3628800"/>
            <a:ext cx="1791000" cy="10080"/>
          </a:xfrm>
          <a:custGeom>
            <a:avLst/>
            <a:gdLst/>
            <a:ahLst/>
            <a:cxnLst/>
            <a:rect l="0" t="0" r="r" b="b"/>
            <a:pathLst>
              <a:path w="4975" h="28">
                <a:moveTo>
                  <a:pt x="0" y="0"/>
                </a:moveTo>
                <a:lnTo>
                  <a:pt x="4975" y="0"/>
                </a:lnTo>
                <a:lnTo>
                  <a:pt x="49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Forma libre 710"/>
          <p:cNvSpPr/>
          <p:nvPr/>
        </p:nvSpPr>
        <p:spPr>
          <a:xfrm>
            <a:off x="3686040" y="3638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Forma libre 711"/>
          <p:cNvSpPr/>
          <p:nvPr/>
        </p:nvSpPr>
        <p:spPr>
          <a:xfrm>
            <a:off x="3695400" y="3628800"/>
            <a:ext cx="4153320" cy="10080"/>
          </a:xfrm>
          <a:custGeom>
            <a:avLst/>
            <a:gdLst/>
            <a:ahLst/>
            <a:cxnLst/>
            <a:rect l="0" t="0" r="r" b="b"/>
            <a:pathLst>
              <a:path w="11537" h="28">
                <a:moveTo>
                  <a:pt x="0" y="0"/>
                </a:moveTo>
                <a:lnTo>
                  <a:pt x="11537" y="0"/>
                </a:lnTo>
                <a:lnTo>
                  <a:pt x="115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Forma libre 712"/>
          <p:cNvSpPr/>
          <p:nvPr/>
        </p:nvSpPr>
        <p:spPr>
          <a:xfrm>
            <a:off x="7839000" y="3638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Forma libre 713"/>
          <p:cNvSpPr/>
          <p:nvPr/>
        </p:nvSpPr>
        <p:spPr>
          <a:xfrm>
            <a:off x="666720" y="4047840"/>
            <a:ext cx="1238400" cy="10440"/>
          </a:xfrm>
          <a:custGeom>
            <a:avLst/>
            <a:gdLst/>
            <a:ahLst/>
            <a:cxnLst/>
            <a:rect l="0" t="0" r="r" b="b"/>
            <a:pathLst>
              <a:path w="3440" h="29">
                <a:moveTo>
                  <a:pt x="0" y="0"/>
                </a:moveTo>
                <a:lnTo>
                  <a:pt x="3440" y="0"/>
                </a:lnTo>
                <a:lnTo>
                  <a:pt x="344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Forma libre 714"/>
          <p:cNvSpPr/>
          <p:nvPr/>
        </p:nvSpPr>
        <p:spPr>
          <a:xfrm>
            <a:off x="1904760" y="4047840"/>
            <a:ext cx="1791000" cy="10440"/>
          </a:xfrm>
          <a:custGeom>
            <a:avLst/>
            <a:gdLst/>
            <a:ahLst/>
            <a:cxnLst/>
            <a:rect l="0" t="0" r="r" b="b"/>
            <a:pathLst>
              <a:path w="4975" h="29">
                <a:moveTo>
                  <a:pt x="0" y="0"/>
                </a:moveTo>
                <a:lnTo>
                  <a:pt x="4975" y="0"/>
                </a:lnTo>
                <a:lnTo>
                  <a:pt x="4975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Forma libre 715"/>
          <p:cNvSpPr/>
          <p:nvPr/>
        </p:nvSpPr>
        <p:spPr>
          <a:xfrm>
            <a:off x="3695400" y="4047840"/>
            <a:ext cx="4153320" cy="10440"/>
          </a:xfrm>
          <a:custGeom>
            <a:avLst/>
            <a:gdLst/>
            <a:ahLst/>
            <a:cxnLst/>
            <a:rect l="0" t="0" r="r" b="b"/>
            <a:pathLst>
              <a:path w="11537" h="29">
                <a:moveTo>
                  <a:pt x="0" y="0"/>
                </a:moveTo>
                <a:lnTo>
                  <a:pt x="11537" y="0"/>
                </a:lnTo>
                <a:lnTo>
                  <a:pt x="11537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Forma libre 716"/>
          <p:cNvSpPr/>
          <p:nvPr/>
        </p:nvSpPr>
        <p:spPr>
          <a:xfrm>
            <a:off x="666720" y="420984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Forma libre 717"/>
          <p:cNvSpPr/>
          <p:nvPr/>
        </p:nvSpPr>
        <p:spPr>
          <a:xfrm>
            <a:off x="666720" y="420984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CuadroTexto 718"/>
          <p:cNvSpPr txBox="1"/>
          <p:nvPr/>
        </p:nvSpPr>
        <p:spPr>
          <a:xfrm>
            <a:off x="666720" y="1749240"/>
            <a:ext cx="30200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escalera, en orden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CuadroTexto 719"/>
          <p:cNvSpPr txBox="1"/>
          <p:nvPr/>
        </p:nvSpPr>
        <p:spPr>
          <a:xfrm>
            <a:off x="892080" y="2485800"/>
            <a:ext cx="794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Volumen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CuadroTexto 720"/>
          <p:cNvSpPr txBox="1"/>
          <p:nvPr/>
        </p:nvSpPr>
        <p:spPr>
          <a:xfrm>
            <a:off x="2229480" y="2485800"/>
            <a:ext cx="1129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Herramienta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CuadroTexto 721"/>
          <p:cNvSpPr txBox="1"/>
          <p:nvPr/>
        </p:nvSpPr>
        <p:spPr>
          <a:xfrm>
            <a:off x="5413320" y="2485800"/>
            <a:ext cx="709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Por qué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CuadroTexto 722"/>
          <p:cNvSpPr txBox="1"/>
          <p:nvPr/>
        </p:nvSpPr>
        <p:spPr>
          <a:xfrm>
            <a:off x="799920" y="2895120"/>
            <a:ext cx="595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&lt; 1 GB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CuadroTexto 723"/>
          <p:cNvSpPr txBox="1"/>
          <p:nvPr/>
        </p:nvSpPr>
        <p:spPr>
          <a:xfrm>
            <a:off x="2024640" y="2895120"/>
            <a:ext cx="667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pandas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CuadroTexto 724"/>
          <p:cNvSpPr txBox="1"/>
          <p:nvPr/>
        </p:nvSpPr>
        <p:spPr>
          <a:xfrm>
            <a:off x="3820320" y="2895120"/>
            <a:ext cx="2855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Ecosistema, familiaridad, suﬁciente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CuadroTexto 725"/>
          <p:cNvSpPr txBox="1"/>
          <p:nvPr/>
        </p:nvSpPr>
        <p:spPr>
          <a:xfrm>
            <a:off x="799920" y="3314160"/>
            <a:ext cx="734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1–50 GB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CuadroTexto 726"/>
          <p:cNvSpPr txBox="1"/>
          <p:nvPr/>
        </p:nvSpPr>
        <p:spPr>
          <a:xfrm>
            <a:off x="2024640" y="3314160"/>
            <a:ext cx="1539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Polars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o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DuckDB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CuadroTexto 727"/>
          <p:cNvSpPr txBox="1"/>
          <p:nvPr/>
        </p:nvSpPr>
        <p:spPr>
          <a:xfrm>
            <a:off x="3820320" y="3314160"/>
            <a:ext cx="3896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solo equipo, multinúcleo, evaluación diferida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CuadroTexto 728"/>
          <p:cNvSpPr txBox="1"/>
          <p:nvPr/>
        </p:nvSpPr>
        <p:spPr>
          <a:xfrm>
            <a:off x="799920" y="3733560"/>
            <a:ext cx="968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50 GB – TB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CuadroTexto 729"/>
          <p:cNvSpPr txBox="1"/>
          <p:nvPr/>
        </p:nvSpPr>
        <p:spPr>
          <a:xfrm>
            <a:off x="2024640" y="3733560"/>
            <a:ext cx="1370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Spark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(PySpark)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CuadroTexto 730"/>
          <p:cNvSpPr txBox="1"/>
          <p:nvPr/>
        </p:nvSpPr>
        <p:spPr>
          <a:xfrm>
            <a:off x="3820320" y="3733560"/>
            <a:ext cx="3568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Ya no cabe en un equipo: hay que distribuir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CuadroTexto 731"/>
          <p:cNvSpPr txBox="1"/>
          <p:nvPr/>
        </p:nvSpPr>
        <p:spPr>
          <a:xfrm>
            <a:off x="905040" y="4363920"/>
            <a:ext cx="9914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Sube un escalón sólo cuando el actual te falle de verdad. Cada escalón cuesta complejidad, dinero y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CuadroTexto 732"/>
          <p:cNvSpPr txBox="1"/>
          <p:nvPr/>
        </p:nvSpPr>
        <p:spPr>
          <a:xfrm>
            <a:off x="905040" y="4706640"/>
            <a:ext cx="2240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tiempo de aprendizaje.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CuadroTexto 73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CuadroTexto 73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CuadroTexto 73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Forma libre 73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Forma libre 73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Forma libre 73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Forma libre 739"/>
          <p:cNvSpPr/>
          <p:nvPr/>
        </p:nvSpPr>
        <p:spPr>
          <a:xfrm>
            <a:off x="671400" y="405288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1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1"/>
                </a:lnTo>
                <a:cubicBezTo>
                  <a:pt x="30137" y="2884"/>
                  <a:pt x="30136" y="2897"/>
                  <a:pt x="30133" y="2910"/>
                </a:cubicBezTo>
                <a:cubicBezTo>
                  <a:pt x="30130" y="2923"/>
                  <a:pt x="30127" y="2935"/>
                  <a:pt x="30122" y="2947"/>
                </a:cubicBezTo>
                <a:cubicBezTo>
                  <a:pt x="30117" y="2959"/>
                  <a:pt x="30111" y="2971"/>
                  <a:pt x="30103" y="2981"/>
                </a:cubicBezTo>
                <a:cubicBezTo>
                  <a:pt x="30096" y="2992"/>
                  <a:pt x="30088" y="3002"/>
                  <a:pt x="30079" y="3012"/>
                </a:cubicBezTo>
                <a:cubicBezTo>
                  <a:pt x="30070" y="3021"/>
                  <a:pt x="30059" y="3029"/>
                  <a:pt x="30049" y="3036"/>
                </a:cubicBezTo>
                <a:cubicBezTo>
                  <a:pt x="30038" y="3043"/>
                  <a:pt x="30026" y="3050"/>
                  <a:pt x="30014" y="3055"/>
                </a:cubicBezTo>
                <a:cubicBezTo>
                  <a:pt x="30002" y="3060"/>
                  <a:pt x="29990" y="3063"/>
                  <a:pt x="29977" y="3066"/>
                </a:cubicBezTo>
                <a:cubicBezTo>
                  <a:pt x="29964" y="3068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8"/>
                  <a:pt x="160" y="3066"/>
                </a:cubicBezTo>
                <a:cubicBezTo>
                  <a:pt x="147" y="3063"/>
                  <a:pt x="134" y="3060"/>
                  <a:pt x="122" y="3055"/>
                </a:cubicBezTo>
                <a:cubicBezTo>
                  <a:pt x="110" y="3050"/>
                  <a:pt x="99" y="3043"/>
                  <a:pt x="88" y="3036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2"/>
                  <a:pt x="40" y="2992"/>
                  <a:pt x="33" y="2981"/>
                </a:cubicBezTo>
                <a:cubicBezTo>
                  <a:pt x="26" y="2971"/>
                  <a:pt x="20" y="2959"/>
                  <a:pt x="15" y="2947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7"/>
                  <a:pt x="0" y="2884"/>
                  <a:pt x="0" y="2871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Forma libre 740"/>
          <p:cNvSpPr/>
          <p:nvPr/>
        </p:nvSpPr>
        <p:spPr>
          <a:xfrm>
            <a:off x="671400" y="405288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1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1"/>
                </a:lnTo>
                <a:cubicBezTo>
                  <a:pt x="30137" y="2884"/>
                  <a:pt x="30136" y="2897"/>
                  <a:pt x="30133" y="2910"/>
                </a:cubicBezTo>
                <a:cubicBezTo>
                  <a:pt x="30130" y="2923"/>
                  <a:pt x="30127" y="2935"/>
                  <a:pt x="30122" y="2947"/>
                </a:cubicBezTo>
                <a:cubicBezTo>
                  <a:pt x="30117" y="2959"/>
                  <a:pt x="30111" y="2971"/>
                  <a:pt x="30103" y="2981"/>
                </a:cubicBezTo>
                <a:cubicBezTo>
                  <a:pt x="30096" y="2992"/>
                  <a:pt x="30088" y="3002"/>
                  <a:pt x="30079" y="3012"/>
                </a:cubicBezTo>
                <a:cubicBezTo>
                  <a:pt x="30070" y="3021"/>
                  <a:pt x="30059" y="3029"/>
                  <a:pt x="30049" y="3036"/>
                </a:cubicBezTo>
                <a:cubicBezTo>
                  <a:pt x="30038" y="3043"/>
                  <a:pt x="30026" y="3050"/>
                  <a:pt x="30014" y="3055"/>
                </a:cubicBezTo>
                <a:cubicBezTo>
                  <a:pt x="30002" y="3060"/>
                  <a:pt x="29990" y="3063"/>
                  <a:pt x="29977" y="3066"/>
                </a:cubicBezTo>
                <a:cubicBezTo>
                  <a:pt x="29964" y="3068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8"/>
                  <a:pt x="160" y="3066"/>
                </a:cubicBezTo>
                <a:cubicBezTo>
                  <a:pt x="147" y="3063"/>
                  <a:pt x="134" y="3060"/>
                  <a:pt x="122" y="3055"/>
                </a:cubicBezTo>
                <a:cubicBezTo>
                  <a:pt x="110" y="3050"/>
                  <a:pt x="99" y="3043"/>
                  <a:pt x="88" y="3036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2"/>
                  <a:pt x="40" y="2992"/>
                  <a:pt x="33" y="2981"/>
                </a:cubicBezTo>
                <a:cubicBezTo>
                  <a:pt x="26" y="2971"/>
                  <a:pt x="20" y="2959"/>
                  <a:pt x="15" y="2947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7"/>
                  <a:pt x="0" y="2884"/>
                  <a:pt x="0" y="287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Forma libre 741"/>
          <p:cNvSpPr/>
          <p:nvPr/>
        </p:nvSpPr>
        <p:spPr>
          <a:xfrm>
            <a:off x="914040" y="25048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CuadroTexto 742"/>
          <p:cNvSpPr txBox="1"/>
          <p:nvPr/>
        </p:nvSpPr>
        <p:spPr>
          <a:xfrm>
            <a:off x="666720" y="1711080"/>
            <a:ext cx="4606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Qué es Spark, en una diapositiva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Forma libre 743"/>
          <p:cNvSpPr/>
          <p:nvPr/>
        </p:nvSpPr>
        <p:spPr>
          <a:xfrm>
            <a:off x="914040" y="29048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CuadroTexto 744"/>
          <p:cNvSpPr txBox="1"/>
          <p:nvPr/>
        </p:nvSpPr>
        <p:spPr>
          <a:xfrm>
            <a:off x="1123920" y="2392200"/>
            <a:ext cx="7566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Distribuido: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los datos se parten y viven en la memoria de muchas máquinas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Forma libre 745"/>
          <p:cNvSpPr/>
          <p:nvPr/>
        </p:nvSpPr>
        <p:spPr>
          <a:xfrm>
            <a:off x="914040" y="33051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3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3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CuadroTexto 746"/>
          <p:cNvSpPr txBox="1"/>
          <p:nvPr/>
        </p:nvSpPr>
        <p:spPr>
          <a:xfrm>
            <a:off x="1123920" y="2792160"/>
            <a:ext cx="6105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Diferido (</a:t>
            </a:r>
            <a:r>
              <a:rPr lang="es-ES" sz="1800" b="1" i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lazy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):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no ejecuta nada hasta que pides un resultado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Forma libre 747"/>
          <p:cNvSpPr/>
          <p:nvPr/>
        </p:nvSpPr>
        <p:spPr>
          <a:xfrm>
            <a:off x="914040" y="37051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CuadroTexto 748"/>
          <p:cNvSpPr txBox="1"/>
          <p:nvPr/>
        </p:nvSpPr>
        <p:spPr>
          <a:xfrm>
            <a:off x="1123920" y="3192480"/>
            <a:ext cx="5983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Optimizado: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Catalyst reordena tu consulta antes de correrla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CuadroTexto 749"/>
          <p:cNvSpPr txBox="1"/>
          <p:nvPr/>
        </p:nvSpPr>
        <p:spPr>
          <a:xfrm>
            <a:off x="1123920" y="3592440"/>
            <a:ext cx="5932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Tolerante a fallos: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 un nodo muere, recalcula su partición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CuadroTexto 750"/>
          <p:cNvSpPr txBox="1"/>
          <p:nvPr/>
        </p:nvSpPr>
        <p:spPr>
          <a:xfrm>
            <a:off x="866880" y="4232520"/>
            <a:ext cx="1529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driver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CuadroTexto 751"/>
          <p:cNvSpPr txBox="1"/>
          <p:nvPr/>
        </p:nvSpPr>
        <p:spPr>
          <a:xfrm>
            <a:off x="866880" y="4499280"/>
            <a:ext cx="1747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/   |   \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CuadroTexto 752"/>
          <p:cNvSpPr txBox="1"/>
          <p:nvPr/>
        </p:nvSpPr>
        <p:spPr>
          <a:xfrm>
            <a:off x="866880" y="4756320"/>
            <a:ext cx="7643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executor executor executor      ← cada uno con su porción de los datos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CuadroTexto 75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CuadroTexto 75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CuadroTexto 75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Forma libre 75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Forma libre 7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Forma libre 75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Forma libre 759"/>
          <p:cNvSpPr/>
          <p:nvPr/>
        </p:nvSpPr>
        <p:spPr>
          <a:xfrm>
            <a:off x="671400" y="1861920"/>
            <a:ext cx="10849320" cy="2943720"/>
          </a:xfrm>
          <a:custGeom>
            <a:avLst/>
            <a:gdLst/>
            <a:ahLst/>
            <a:cxnLst/>
            <a:rect l="0" t="0" r="r" b="b"/>
            <a:pathLst>
              <a:path w="30137" h="8177">
                <a:moveTo>
                  <a:pt x="0" y="797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7978"/>
                </a:lnTo>
                <a:cubicBezTo>
                  <a:pt x="30137" y="7991"/>
                  <a:pt x="30136" y="8004"/>
                  <a:pt x="30133" y="8017"/>
                </a:cubicBezTo>
                <a:cubicBezTo>
                  <a:pt x="30130" y="8030"/>
                  <a:pt x="30127" y="8042"/>
                  <a:pt x="30122" y="8054"/>
                </a:cubicBezTo>
                <a:cubicBezTo>
                  <a:pt x="30117" y="8066"/>
                  <a:pt x="30111" y="8078"/>
                  <a:pt x="30103" y="8089"/>
                </a:cubicBezTo>
                <a:cubicBezTo>
                  <a:pt x="30096" y="8099"/>
                  <a:pt x="30088" y="8109"/>
                  <a:pt x="30079" y="8119"/>
                </a:cubicBezTo>
                <a:cubicBezTo>
                  <a:pt x="30070" y="8128"/>
                  <a:pt x="30059" y="8136"/>
                  <a:pt x="30049" y="8143"/>
                </a:cubicBezTo>
                <a:cubicBezTo>
                  <a:pt x="30038" y="8151"/>
                  <a:pt x="30026" y="8157"/>
                  <a:pt x="30014" y="8162"/>
                </a:cubicBezTo>
                <a:cubicBezTo>
                  <a:pt x="30002" y="8167"/>
                  <a:pt x="29990" y="8170"/>
                  <a:pt x="29977" y="8173"/>
                </a:cubicBezTo>
                <a:cubicBezTo>
                  <a:pt x="29964" y="8175"/>
                  <a:pt x="29951" y="8177"/>
                  <a:pt x="29938" y="8177"/>
                </a:cubicBezTo>
                <a:lnTo>
                  <a:pt x="198" y="8177"/>
                </a:lnTo>
                <a:cubicBezTo>
                  <a:pt x="185" y="8177"/>
                  <a:pt x="172" y="8175"/>
                  <a:pt x="160" y="8173"/>
                </a:cubicBezTo>
                <a:cubicBezTo>
                  <a:pt x="147" y="8170"/>
                  <a:pt x="134" y="8167"/>
                  <a:pt x="122" y="8162"/>
                </a:cubicBezTo>
                <a:cubicBezTo>
                  <a:pt x="110" y="8157"/>
                  <a:pt x="99" y="8151"/>
                  <a:pt x="88" y="8143"/>
                </a:cubicBezTo>
                <a:cubicBezTo>
                  <a:pt x="77" y="8136"/>
                  <a:pt x="67" y="8128"/>
                  <a:pt x="58" y="8119"/>
                </a:cubicBezTo>
                <a:cubicBezTo>
                  <a:pt x="49" y="8109"/>
                  <a:pt x="40" y="8099"/>
                  <a:pt x="33" y="8089"/>
                </a:cubicBezTo>
                <a:cubicBezTo>
                  <a:pt x="26" y="8078"/>
                  <a:pt x="20" y="8066"/>
                  <a:pt x="15" y="8054"/>
                </a:cubicBezTo>
                <a:cubicBezTo>
                  <a:pt x="10" y="8042"/>
                  <a:pt x="6" y="8030"/>
                  <a:pt x="4" y="8017"/>
                </a:cubicBezTo>
                <a:cubicBezTo>
                  <a:pt x="1" y="8004"/>
                  <a:pt x="0" y="7991"/>
                  <a:pt x="0" y="797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Forma libre 760"/>
          <p:cNvSpPr/>
          <p:nvPr/>
        </p:nvSpPr>
        <p:spPr>
          <a:xfrm>
            <a:off x="671400" y="1861920"/>
            <a:ext cx="10849320" cy="2943720"/>
          </a:xfrm>
          <a:custGeom>
            <a:avLst/>
            <a:gdLst/>
            <a:ahLst/>
            <a:cxnLst/>
            <a:rect l="0" t="0" r="r" b="b"/>
            <a:pathLst>
              <a:path w="30137" h="8177">
                <a:moveTo>
                  <a:pt x="0" y="797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7978"/>
                </a:lnTo>
                <a:cubicBezTo>
                  <a:pt x="30137" y="7991"/>
                  <a:pt x="30136" y="8004"/>
                  <a:pt x="30133" y="8017"/>
                </a:cubicBezTo>
                <a:cubicBezTo>
                  <a:pt x="30130" y="8030"/>
                  <a:pt x="30127" y="8042"/>
                  <a:pt x="30122" y="8054"/>
                </a:cubicBezTo>
                <a:cubicBezTo>
                  <a:pt x="30117" y="8066"/>
                  <a:pt x="30111" y="8078"/>
                  <a:pt x="30103" y="8089"/>
                </a:cubicBezTo>
                <a:cubicBezTo>
                  <a:pt x="30096" y="8099"/>
                  <a:pt x="30088" y="8109"/>
                  <a:pt x="30079" y="8119"/>
                </a:cubicBezTo>
                <a:cubicBezTo>
                  <a:pt x="30070" y="8128"/>
                  <a:pt x="30059" y="8136"/>
                  <a:pt x="30049" y="8143"/>
                </a:cubicBezTo>
                <a:cubicBezTo>
                  <a:pt x="30038" y="8151"/>
                  <a:pt x="30026" y="8157"/>
                  <a:pt x="30014" y="8162"/>
                </a:cubicBezTo>
                <a:cubicBezTo>
                  <a:pt x="30002" y="8167"/>
                  <a:pt x="29990" y="8170"/>
                  <a:pt x="29977" y="8173"/>
                </a:cubicBezTo>
                <a:cubicBezTo>
                  <a:pt x="29964" y="8175"/>
                  <a:pt x="29951" y="8177"/>
                  <a:pt x="29938" y="8177"/>
                </a:cubicBezTo>
                <a:lnTo>
                  <a:pt x="198" y="8177"/>
                </a:lnTo>
                <a:cubicBezTo>
                  <a:pt x="185" y="8177"/>
                  <a:pt x="172" y="8175"/>
                  <a:pt x="160" y="8173"/>
                </a:cubicBezTo>
                <a:cubicBezTo>
                  <a:pt x="147" y="8170"/>
                  <a:pt x="134" y="8167"/>
                  <a:pt x="122" y="8162"/>
                </a:cubicBezTo>
                <a:cubicBezTo>
                  <a:pt x="110" y="8157"/>
                  <a:pt x="99" y="8151"/>
                  <a:pt x="88" y="8143"/>
                </a:cubicBezTo>
                <a:cubicBezTo>
                  <a:pt x="77" y="8136"/>
                  <a:pt x="67" y="8128"/>
                  <a:pt x="58" y="8119"/>
                </a:cubicBezTo>
                <a:cubicBezTo>
                  <a:pt x="49" y="8109"/>
                  <a:pt x="40" y="8099"/>
                  <a:pt x="33" y="8089"/>
                </a:cubicBezTo>
                <a:cubicBezTo>
                  <a:pt x="26" y="8078"/>
                  <a:pt x="20" y="8066"/>
                  <a:pt x="15" y="8054"/>
                </a:cubicBezTo>
                <a:cubicBezTo>
                  <a:pt x="10" y="8042"/>
                  <a:pt x="6" y="8030"/>
                  <a:pt x="4" y="8017"/>
                </a:cubicBezTo>
                <a:cubicBezTo>
                  <a:pt x="1" y="8004"/>
                  <a:pt x="0" y="7991"/>
                  <a:pt x="0" y="79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CuadroTexto 761"/>
          <p:cNvSpPr txBox="1"/>
          <p:nvPr/>
        </p:nvSpPr>
        <p:spPr>
          <a:xfrm>
            <a:off x="666720" y="1225080"/>
            <a:ext cx="49276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PySpark: Python fuera, JVM dentro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CuadroTexto 762"/>
          <p:cNvSpPr txBox="1"/>
          <p:nvPr/>
        </p:nvSpPr>
        <p:spPr>
          <a:xfrm>
            <a:off x="866880" y="2041920"/>
            <a:ext cx="5678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pyspark.sql </a:t>
            </a:r>
            <a:r>
              <a:rPr lang="es-ES" sz="143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import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SparkSession, functions </a:t>
            </a:r>
            <a:r>
              <a:rPr lang="es-ES" sz="143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F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CuadroTexto 763"/>
          <p:cNvSpPr txBox="1"/>
          <p:nvPr/>
        </p:nvSpPr>
        <p:spPr>
          <a:xfrm>
            <a:off x="866880" y="2565720"/>
            <a:ext cx="6661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spark = SparkSession.builder.appName(</a:t>
            </a:r>
            <a:r>
              <a:rPr lang="es-ES" sz="143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"cohorte"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).getOrCreate()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CuadroTexto 764"/>
          <p:cNvSpPr txBox="1"/>
          <p:nvPr/>
        </p:nvSpPr>
        <p:spPr>
          <a:xfrm>
            <a:off x="866880" y="2832480"/>
            <a:ext cx="5023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labs = spark.read.parquet(</a:t>
            </a:r>
            <a:r>
              <a:rPr lang="es-ES" sz="143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"s3://bucket/labs/"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CuadroTexto 765"/>
          <p:cNvSpPr txBox="1"/>
          <p:nvPr/>
        </p:nvSpPr>
        <p:spPr>
          <a:xfrm>
            <a:off x="866880" y="3356280"/>
            <a:ext cx="546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(labs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CuadroTexto 766"/>
          <p:cNvSpPr txBox="1"/>
          <p:nvPr/>
        </p:nvSpPr>
        <p:spPr>
          <a:xfrm>
            <a:off x="866880" y="3613320"/>
            <a:ext cx="3931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.</a:t>
            </a:r>
            <a:r>
              <a:rPr lang="es-ES" sz="1430" b="0" u="none" strike="noStrik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filter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(F.col(</a:t>
            </a:r>
            <a:r>
              <a:rPr lang="es-ES" sz="143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"loinc"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== </a:t>
            </a:r>
            <a:r>
              <a:rPr lang="es-ES" sz="143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"4548-4"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CuadroTexto 767"/>
          <p:cNvSpPr txBox="1"/>
          <p:nvPr/>
        </p:nvSpPr>
        <p:spPr>
          <a:xfrm>
            <a:off x="866880" y="3880080"/>
            <a:ext cx="2402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.groupBy(</a:t>
            </a:r>
            <a:r>
              <a:rPr lang="es-ES" sz="143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"person_id"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CuadroTexto 768"/>
          <p:cNvSpPr txBox="1"/>
          <p:nvPr/>
        </p:nvSpPr>
        <p:spPr>
          <a:xfrm>
            <a:off x="866880" y="4137480"/>
            <a:ext cx="4695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.agg(F.mean(</a:t>
            </a:r>
            <a:r>
              <a:rPr lang="es-ES" sz="143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"valor"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).alias(</a:t>
            </a:r>
            <a:r>
              <a:rPr lang="es-ES" sz="143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"hba1c_media"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CuadroTexto 769"/>
          <p:cNvSpPr txBox="1"/>
          <p:nvPr/>
        </p:nvSpPr>
        <p:spPr>
          <a:xfrm>
            <a:off x="866880" y="4403880"/>
            <a:ext cx="4259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.write.parquet(</a:t>
            </a:r>
            <a:r>
              <a:rPr lang="es-ES" sz="143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"s3://bucket/salida/"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CuadroTexto 770"/>
          <p:cNvSpPr txBox="1"/>
          <p:nvPr/>
        </p:nvSpPr>
        <p:spPr>
          <a:xfrm>
            <a:off x="666720" y="5002200"/>
            <a:ext cx="10717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Tu código es Python, pero los datos nunca entran a Python.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Por eso no pagas los 28 bytes por entero: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CuadroTexto 771"/>
          <p:cNvSpPr txBox="1"/>
          <p:nvPr/>
        </p:nvSpPr>
        <p:spPr>
          <a:xfrm>
            <a:off x="666720" y="5344920"/>
            <a:ext cx="3762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viven en la JVM, en formato columnar.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CuadroTexto 77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CuadroTexto 77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CuadroTexto 77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Forma libre 77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Forma libre 77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Forma libre 77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Forma libre 778"/>
          <p:cNvSpPr/>
          <p:nvPr/>
        </p:nvSpPr>
        <p:spPr>
          <a:xfrm>
            <a:off x="671400" y="2157120"/>
            <a:ext cx="10849320" cy="1896120"/>
          </a:xfrm>
          <a:custGeom>
            <a:avLst/>
            <a:gdLst/>
            <a:ahLst/>
            <a:cxnLst/>
            <a:rect l="0" t="0" r="r" b="b"/>
            <a:pathLst>
              <a:path w="30137" h="5267">
                <a:moveTo>
                  <a:pt x="0" y="506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5068"/>
                </a:lnTo>
                <a:cubicBezTo>
                  <a:pt x="30137" y="5081"/>
                  <a:pt x="30136" y="5094"/>
                  <a:pt x="30133" y="5107"/>
                </a:cubicBezTo>
                <a:cubicBezTo>
                  <a:pt x="30130" y="5120"/>
                  <a:pt x="30127" y="5132"/>
                  <a:pt x="30122" y="5144"/>
                </a:cubicBezTo>
                <a:cubicBezTo>
                  <a:pt x="30117" y="5156"/>
                  <a:pt x="30111" y="5167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8"/>
                  <a:pt x="30059" y="5226"/>
                  <a:pt x="30049" y="5233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60"/>
                  <a:pt x="29977" y="5263"/>
                </a:cubicBezTo>
                <a:cubicBezTo>
                  <a:pt x="29964" y="5265"/>
                  <a:pt x="29951" y="5267"/>
                  <a:pt x="29938" y="5267"/>
                </a:cubicBezTo>
                <a:lnTo>
                  <a:pt x="198" y="5267"/>
                </a:lnTo>
                <a:cubicBezTo>
                  <a:pt x="185" y="5267"/>
                  <a:pt x="172" y="5265"/>
                  <a:pt x="160" y="5263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6"/>
                  <a:pt x="99" y="5240"/>
                  <a:pt x="88" y="5233"/>
                </a:cubicBezTo>
                <a:cubicBezTo>
                  <a:pt x="77" y="5226"/>
                  <a:pt x="67" y="5218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7"/>
                  <a:pt x="20" y="5156"/>
                  <a:pt x="15" y="5144"/>
                </a:cubicBezTo>
                <a:cubicBezTo>
                  <a:pt x="10" y="5132"/>
                  <a:pt x="6" y="5120"/>
                  <a:pt x="4" y="5107"/>
                </a:cubicBezTo>
                <a:cubicBezTo>
                  <a:pt x="1" y="5094"/>
                  <a:pt x="0" y="5081"/>
                  <a:pt x="0" y="506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Forma libre 779"/>
          <p:cNvSpPr/>
          <p:nvPr/>
        </p:nvSpPr>
        <p:spPr>
          <a:xfrm>
            <a:off x="671400" y="2157120"/>
            <a:ext cx="10849320" cy="1896120"/>
          </a:xfrm>
          <a:custGeom>
            <a:avLst/>
            <a:gdLst/>
            <a:ahLst/>
            <a:cxnLst/>
            <a:rect l="0" t="0" r="r" b="b"/>
            <a:pathLst>
              <a:path w="30137" h="5267">
                <a:moveTo>
                  <a:pt x="0" y="506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5068"/>
                </a:lnTo>
                <a:cubicBezTo>
                  <a:pt x="30137" y="5081"/>
                  <a:pt x="30136" y="5094"/>
                  <a:pt x="30133" y="5107"/>
                </a:cubicBezTo>
                <a:cubicBezTo>
                  <a:pt x="30130" y="5120"/>
                  <a:pt x="30127" y="5132"/>
                  <a:pt x="30122" y="5144"/>
                </a:cubicBezTo>
                <a:cubicBezTo>
                  <a:pt x="30117" y="5156"/>
                  <a:pt x="30111" y="5167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8"/>
                  <a:pt x="30059" y="5226"/>
                  <a:pt x="30049" y="5233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60"/>
                  <a:pt x="29977" y="5263"/>
                </a:cubicBezTo>
                <a:cubicBezTo>
                  <a:pt x="29964" y="5265"/>
                  <a:pt x="29951" y="5267"/>
                  <a:pt x="29938" y="5267"/>
                </a:cubicBezTo>
                <a:lnTo>
                  <a:pt x="198" y="5267"/>
                </a:lnTo>
                <a:cubicBezTo>
                  <a:pt x="185" y="5267"/>
                  <a:pt x="172" y="5265"/>
                  <a:pt x="160" y="5263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6"/>
                  <a:pt x="99" y="5240"/>
                  <a:pt x="88" y="5233"/>
                </a:cubicBezTo>
                <a:cubicBezTo>
                  <a:pt x="77" y="5226"/>
                  <a:pt x="67" y="5218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7"/>
                  <a:pt x="20" y="5156"/>
                  <a:pt x="15" y="5144"/>
                </a:cubicBezTo>
                <a:cubicBezTo>
                  <a:pt x="10" y="5132"/>
                  <a:pt x="6" y="5120"/>
                  <a:pt x="4" y="5107"/>
                </a:cubicBezTo>
                <a:cubicBezTo>
                  <a:pt x="1" y="5094"/>
                  <a:pt x="0" y="5081"/>
                  <a:pt x="0" y="506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CuadroTexto 780"/>
          <p:cNvSpPr txBox="1"/>
          <p:nvPr/>
        </p:nvSpPr>
        <p:spPr>
          <a:xfrm>
            <a:off x="666720" y="1520640"/>
            <a:ext cx="43714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trampa: las UDFs de Python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CuadroTexto 781"/>
          <p:cNvSpPr txBox="1"/>
          <p:nvPr/>
        </p:nvSpPr>
        <p:spPr>
          <a:xfrm>
            <a:off x="866880" y="2337120"/>
            <a:ext cx="6005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LENTO: cada fila cruza la frontera JVM → Python → JVM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CuadroTexto 782"/>
          <p:cNvSpPr txBox="1"/>
          <p:nvPr/>
        </p:nvSpPr>
        <p:spPr>
          <a:xfrm>
            <a:off x="866880" y="2603880"/>
            <a:ext cx="1769715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@</a:t>
            </a:r>
            <a:r>
              <a:rPr lang="es-ES" sz="1430" b="0" u="none" strike="noStrike" dirty="0" err="1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F.udf</a:t>
            </a:r>
            <a:r>
              <a:rPr lang="es-ES" sz="1430" b="0" u="none" strike="noStrike" dirty="0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"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double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"</a:t>
            </a:r>
            <a:r>
              <a:rPr lang="es-ES" sz="1430" b="0" u="none" strike="noStrike" dirty="0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CuadroTexto 783"/>
          <p:cNvSpPr txBox="1"/>
          <p:nvPr/>
        </p:nvSpPr>
        <p:spPr>
          <a:xfrm>
            <a:off x="866880" y="2860920"/>
            <a:ext cx="3603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def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6639BA"/>
                </a:solidFill>
                <a:effectLst/>
                <a:uFillTx/>
                <a:latin typeface="Menlo"/>
                <a:ea typeface="Menlo"/>
              </a:rPr>
              <a:t>convertir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(v): </a:t>
            </a:r>
            <a:r>
              <a:rPr lang="es-ES" sz="143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return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v * </a:t>
            </a:r>
            <a:r>
              <a:rPr lang="es-ES" sz="143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18.0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CuadroTexto 784"/>
          <p:cNvSpPr txBox="1"/>
          <p:nvPr/>
        </p:nvSpPr>
        <p:spPr>
          <a:xfrm>
            <a:off x="866880" y="3384720"/>
            <a:ext cx="2730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RÁPIDO: nativo de Spark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Forma libre 785"/>
          <p:cNvSpPr/>
          <p:nvPr/>
        </p:nvSpPr>
        <p:spPr>
          <a:xfrm>
            <a:off x="914040" y="43621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CuadroTexto 786"/>
          <p:cNvSpPr txBox="1"/>
          <p:nvPr/>
        </p:nvSpPr>
        <p:spPr>
          <a:xfrm>
            <a:off x="866880" y="3651480"/>
            <a:ext cx="5198539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labs.withColumn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"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mg_dl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"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F.col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"valor"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* </a:t>
            </a:r>
            <a:r>
              <a:rPr lang="es-ES" sz="1430" b="0" u="none" strike="noStrike" dirty="0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18.0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Forma libre 787"/>
          <p:cNvSpPr/>
          <p:nvPr/>
        </p:nvSpPr>
        <p:spPr>
          <a:xfrm>
            <a:off x="914040" y="476244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CuadroTexto 788"/>
          <p:cNvSpPr txBox="1"/>
          <p:nvPr/>
        </p:nvSpPr>
        <p:spPr>
          <a:xfrm>
            <a:off x="1123920" y="4249440"/>
            <a:ext cx="7520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UDF de Python obliga a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serializar cada </a:t>
            </a:r>
            <a:r>
              <a:rPr lang="es-ES" sz="1800" b="1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ﬁla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entre la JVM y el intérprete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Forma libre 789"/>
          <p:cNvSpPr/>
          <p:nvPr/>
        </p:nvSpPr>
        <p:spPr>
          <a:xfrm>
            <a:off x="914040" y="51624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CuadroTexto 790"/>
          <p:cNvSpPr txBox="1"/>
          <p:nvPr/>
        </p:nvSpPr>
        <p:spPr>
          <a:xfrm>
            <a:off x="1123920" y="4649760"/>
            <a:ext cx="7530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 no hay más remedio, usa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pandas UDFs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(vectorizadas, vía Apache Arrow)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Forma libre 791"/>
          <p:cNvSpPr/>
          <p:nvPr/>
        </p:nvSpPr>
        <p:spPr>
          <a:xfrm>
            <a:off x="4838400" y="5067000"/>
            <a:ext cx="2572200" cy="267120"/>
          </a:xfrm>
          <a:custGeom>
            <a:avLst/>
            <a:gdLst/>
            <a:ahLst/>
            <a:cxnLst/>
            <a:rect l="0" t="0" r="r" b="b"/>
            <a:pathLst>
              <a:path w="714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7039" y="0"/>
                </a:lnTo>
                <a:cubicBezTo>
                  <a:pt x="7053" y="0"/>
                  <a:pt x="7067" y="3"/>
                  <a:pt x="7080" y="8"/>
                </a:cubicBezTo>
                <a:cubicBezTo>
                  <a:pt x="7093" y="14"/>
                  <a:pt x="7104" y="21"/>
                  <a:pt x="7114" y="31"/>
                </a:cubicBezTo>
                <a:cubicBezTo>
                  <a:pt x="7124" y="41"/>
                  <a:pt x="7132" y="53"/>
                  <a:pt x="7137" y="66"/>
                </a:cubicBezTo>
                <a:cubicBezTo>
                  <a:pt x="7142" y="79"/>
                  <a:pt x="7145" y="92"/>
                  <a:pt x="7145" y="106"/>
                </a:cubicBezTo>
                <a:lnTo>
                  <a:pt x="7145" y="636"/>
                </a:lnTo>
                <a:cubicBezTo>
                  <a:pt x="7145" y="650"/>
                  <a:pt x="7142" y="664"/>
                  <a:pt x="7137" y="677"/>
                </a:cubicBezTo>
                <a:cubicBezTo>
                  <a:pt x="7132" y="690"/>
                  <a:pt x="7124" y="701"/>
                  <a:pt x="7114" y="711"/>
                </a:cubicBezTo>
                <a:cubicBezTo>
                  <a:pt x="7104" y="721"/>
                  <a:pt x="7093" y="729"/>
                  <a:pt x="7080" y="734"/>
                </a:cubicBezTo>
                <a:cubicBezTo>
                  <a:pt x="7067" y="739"/>
                  <a:pt x="7053" y="742"/>
                  <a:pt x="7039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CuadroTexto 792"/>
          <p:cNvSpPr txBox="1"/>
          <p:nvPr/>
        </p:nvSpPr>
        <p:spPr>
          <a:xfrm>
            <a:off x="1123920" y="5049720"/>
            <a:ext cx="3714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Regla: agota las funciones nativas de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CuadroTexto 793"/>
          <p:cNvSpPr txBox="1"/>
          <p:nvPr/>
        </p:nvSpPr>
        <p:spPr>
          <a:xfrm>
            <a:off x="5041502" y="5070960"/>
            <a:ext cx="2467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pyspark.sql.functions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CuadroTexto 794"/>
          <p:cNvSpPr txBox="1"/>
          <p:nvPr/>
        </p:nvSpPr>
        <p:spPr>
          <a:xfrm>
            <a:off x="7623404" y="5064120"/>
            <a:ext cx="2613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antes de escribir una UDF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CuadroTexto 79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CuadroTexto 79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CuadroTexto 79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Forma libre 7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Forma libre 7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Forma libre 8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Forma libre 801"/>
          <p:cNvSpPr/>
          <p:nvPr/>
        </p:nvSpPr>
        <p:spPr>
          <a:xfrm>
            <a:off x="690480" y="4066920"/>
            <a:ext cx="10834920" cy="1067400"/>
          </a:xfrm>
          <a:custGeom>
            <a:avLst/>
            <a:gdLst/>
            <a:ahLst/>
            <a:cxnLst/>
            <a:rect l="0" t="0" r="r" b="b"/>
            <a:pathLst>
              <a:path w="30097" h="2965">
                <a:moveTo>
                  <a:pt x="0" y="2965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7"/>
                </a:cubicBezTo>
                <a:cubicBezTo>
                  <a:pt x="30035" y="33"/>
                  <a:pt x="30043" y="39"/>
                  <a:pt x="30051" y="47"/>
                </a:cubicBezTo>
                <a:cubicBezTo>
                  <a:pt x="30058" y="54"/>
                  <a:pt x="30065" y="62"/>
                  <a:pt x="30070" y="71"/>
                </a:cubicBezTo>
                <a:cubicBezTo>
                  <a:pt x="30076" y="79"/>
                  <a:pt x="30081" y="89"/>
                  <a:pt x="30085" y="98"/>
                </a:cubicBezTo>
                <a:cubicBezTo>
                  <a:pt x="30089" y="108"/>
                  <a:pt x="30092" y="118"/>
                  <a:pt x="30094" y="128"/>
                </a:cubicBezTo>
                <a:cubicBezTo>
                  <a:pt x="30096" y="138"/>
                  <a:pt x="30097" y="149"/>
                  <a:pt x="30097" y="159"/>
                </a:cubicBezTo>
                <a:lnTo>
                  <a:pt x="30097" y="2806"/>
                </a:lnTo>
                <a:cubicBezTo>
                  <a:pt x="30097" y="2816"/>
                  <a:pt x="30096" y="2827"/>
                  <a:pt x="30094" y="2837"/>
                </a:cubicBezTo>
                <a:cubicBezTo>
                  <a:pt x="30092" y="2847"/>
                  <a:pt x="30089" y="2857"/>
                  <a:pt x="30085" y="2867"/>
                </a:cubicBezTo>
                <a:cubicBezTo>
                  <a:pt x="30081" y="2876"/>
                  <a:pt x="30076" y="2885"/>
                  <a:pt x="30070" y="2894"/>
                </a:cubicBezTo>
                <a:cubicBezTo>
                  <a:pt x="30065" y="2903"/>
                  <a:pt x="30058" y="2911"/>
                  <a:pt x="30051" y="2918"/>
                </a:cubicBezTo>
                <a:cubicBezTo>
                  <a:pt x="30043" y="2925"/>
                  <a:pt x="30035" y="2932"/>
                  <a:pt x="30027" y="2938"/>
                </a:cubicBezTo>
                <a:cubicBezTo>
                  <a:pt x="30018" y="2944"/>
                  <a:pt x="30009" y="2948"/>
                  <a:pt x="29999" y="2952"/>
                </a:cubicBezTo>
                <a:cubicBezTo>
                  <a:pt x="29989" y="2956"/>
                  <a:pt x="29980" y="2959"/>
                  <a:pt x="29969" y="2961"/>
                </a:cubicBezTo>
                <a:cubicBezTo>
                  <a:pt x="29959" y="2964"/>
                  <a:pt x="29949" y="2965"/>
                  <a:pt x="29938" y="2965"/>
                </a:cubicBezTo>
                <a:lnTo>
                  <a:pt x="0" y="2965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Forma libre 802"/>
          <p:cNvSpPr/>
          <p:nvPr/>
        </p:nvSpPr>
        <p:spPr>
          <a:xfrm>
            <a:off x="666720" y="4066920"/>
            <a:ext cx="47880" cy="1067400"/>
          </a:xfrm>
          <a:custGeom>
            <a:avLst/>
            <a:gdLst/>
            <a:ahLst/>
            <a:cxnLst/>
            <a:rect l="0" t="0" r="r" b="b"/>
            <a:pathLst>
              <a:path w="133" h="2965">
                <a:moveTo>
                  <a:pt x="0" y="0"/>
                </a:moveTo>
                <a:lnTo>
                  <a:pt x="133" y="0"/>
                </a:lnTo>
                <a:lnTo>
                  <a:pt x="133" y="2965"/>
                </a:lnTo>
                <a:lnTo>
                  <a:pt x="0" y="2965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Forma libre 803"/>
          <p:cNvSpPr/>
          <p:nvPr/>
        </p:nvSpPr>
        <p:spPr>
          <a:xfrm>
            <a:off x="914040" y="25239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CuadroTexto 804"/>
          <p:cNvSpPr txBox="1"/>
          <p:nvPr/>
        </p:nvSpPr>
        <p:spPr>
          <a:xfrm>
            <a:off x="666720" y="1739520"/>
            <a:ext cx="32781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Cuándo NO usar Spark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Forma libre 805"/>
          <p:cNvSpPr/>
          <p:nvPr/>
        </p:nvSpPr>
        <p:spPr>
          <a:xfrm>
            <a:off x="914040" y="29239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4"/>
                  <a:pt x="92" y="0"/>
                  <a:pt x="107" y="0"/>
                </a:cubicBezTo>
                <a:cubicBezTo>
                  <a:pt x="121" y="0"/>
                  <a:pt x="135" y="4"/>
                  <a:pt x="148" y="9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CuadroTexto 806"/>
          <p:cNvSpPr txBox="1"/>
          <p:nvPr/>
        </p:nvSpPr>
        <p:spPr>
          <a:xfrm>
            <a:off x="1123920" y="2411280"/>
            <a:ext cx="6923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Datos pequeños: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arrancar un clúster tarda más que el análisis entero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Forma libre 807"/>
          <p:cNvSpPr/>
          <p:nvPr/>
        </p:nvSpPr>
        <p:spPr>
          <a:xfrm>
            <a:off x="914040" y="33238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CuadroTexto 808"/>
          <p:cNvSpPr txBox="1"/>
          <p:nvPr/>
        </p:nvSpPr>
        <p:spPr>
          <a:xfrm>
            <a:off x="1123920" y="2811240"/>
            <a:ext cx="6461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Trabajo interactivo y exploratorio: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el ciclo de iteración es lento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Forma libre 809"/>
          <p:cNvSpPr/>
          <p:nvPr/>
        </p:nvSpPr>
        <p:spPr>
          <a:xfrm>
            <a:off x="914040" y="37242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CuadroTexto 810"/>
          <p:cNvSpPr txBox="1"/>
          <p:nvPr/>
        </p:nvSpPr>
        <p:spPr>
          <a:xfrm>
            <a:off x="1123920" y="3211200"/>
            <a:ext cx="5394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solo analista: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el costo de operación no se justiﬁca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CuadroTexto 811"/>
          <p:cNvSpPr txBox="1"/>
          <p:nvPr/>
        </p:nvSpPr>
        <p:spPr>
          <a:xfrm>
            <a:off x="1123920" y="3611520"/>
            <a:ext cx="6765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Depuración: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los errores distribuidos son mucho más difíciles de leer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CuadroTexto 812"/>
          <p:cNvSpPr txBox="1"/>
          <p:nvPr/>
        </p:nvSpPr>
        <p:spPr>
          <a:xfrm>
            <a:off x="885960" y="4221000"/>
            <a:ext cx="10054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 la industria farmacéutica sí se justiﬁca: bases como IQVIA u Optum tienen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cientos de millones 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CuadroTexto 813"/>
          <p:cNvSpPr txBox="1"/>
          <p:nvPr/>
        </p:nvSpPr>
        <p:spPr>
          <a:xfrm>
            <a:off x="885960" y="4564080"/>
            <a:ext cx="8130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pacientes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Ahí Spark —normalmente vía Databricks— es la herramienta estándar.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CuadroTexto 81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CuadroTexto 81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CuadroTexto 81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Forma libre 8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Forma libre 81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Forma libre 81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CuadroTexto 820"/>
          <p:cNvSpPr txBox="1"/>
          <p:nvPr/>
        </p:nvSpPr>
        <p:spPr>
          <a:xfrm>
            <a:off x="1987920" y="3063960"/>
            <a:ext cx="84092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7. Escribir pandas que se puede leer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CuadroTexto 82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CuadroTexto 82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CuadroTexto 82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Forma libre 82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Forma libre 82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Forma libre 8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Forma libre 827"/>
          <p:cNvSpPr/>
          <p:nvPr/>
        </p:nvSpPr>
        <p:spPr>
          <a:xfrm>
            <a:off x="671400" y="2166840"/>
            <a:ext cx="10849320" cy="2676960"/>
          </a:xfrm>
          <a:custGeom>
            <a:avLst/>
            <a:gdLst/>
            <a:ahLst/>
            <a:cxnLst/>
            <a:rect l="0" t="0" r="r" b="b"/>
            <a:pathLst>
              <a:path w="30137" h="7436">
                <a:moveTo>
                  <a:pt x="0" y="723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7237"/>
                </a:lnTo>
                <a:cubicBezTo>
                  <a:pt x="30137" y="7250"/>
                  <a:pt x="30136" y="7263"/>
                  <a:pt x="30133" y="7276"/>
                </a:cubicBezTo>
                <a:cubicBezTo>
                  <a:pt x="30130" y="7289"/>
                  <a:pt x="30127" y="7301"/>
                  <a:pt x="30122" y="7313"/>
                </a:cubicBezTo>
                <a:cubicBezTo>
                  <a:pt x="30117" y="7325"/>
                  <a:pt x="30111" y="7337"/>
                  <a:pt x="30103" y="7347"/>
                </a:cubicBezTo>
                <a:cubicBezTo>
                  <a:pt x="30096" y="7358"/>
                  <a:pt x="30088" y="7368"/>
                  <a:pt x="30079" y="7377"/>
                </a:cubicBezTo>
                <a:cubicBezTo>
                  <a:pt x="30070" y="7387"/>
                  <a:pt x="30059" y="7395"/>
                  <a:pt x="30049" y="7402"/>
                </a:cubicBezTo>
                <a:cubicBezTo>
                  <a:pt x="30038" y="7409"/>
                  <a:pt x="30026" y="7415"/>
                  <a:pt x="30014" y="7420"/>
                </a:cubicBezTo>
                <a:cubicBezTo>
                  <a:pt x="30002" y="7425"/>
                  <a:pt x="29990" y="7429"/>
                  <a:pt x="29977" y="7432"/>
                </a:cubicBezTo>
                <a:cubicBezTo>
                  <a:pt x="29964" y="7434"/>
                  <a:pt x="29951" y="7436"/>
                  <a:pt x="29938" y="7436"/>
                </a:cubicBezTo>
                <a:lnTo>
                  <a:pt x="198" y="7436"/>
                </a:lnTo>
                <a:cubicBezTo>
                  <a:pt x="185" y="7436"/>
                  <a:pt x="172" y="7434"/>
                  <a:pt x="160" y="7432"/>
                </a:cubicBezTo>
                <a:cubicBezTo>
                  <a:pt x="147" y="7429"/>
                  <a:pt x="134" y="7425"/>
                  <a:pt x="122" y="7420"/>
                </a:cubicBezTo>
                <a:cubicBezTo>
                  <a:pt x="110" y="7415"/>
                  <a:pt x="99" y="7409"/>
                  <a:pt x="88" y="7402"/>
                </a:cubicBezTo>
                <a:cubicBezTo>
                  <a:pt x="77" y="7395"/>
                  <a:pt x="67" y="7387"/>
                  <a:pt x="58" y="7377"/>
                </a:cubicBezTo>
                <a:cubicBezTo>
                  <a:pt x="49" y="7368"/>
                  <a:pt x="40" y="7358"/>
                  <a:pt x="33" y="7347"/>
                </a:cubicBezTo>
                <a:cubicBezTo>
                  <a:pt x="26" y="7337"/>
                  <a:pt x="20" y="7325"/>
                  <a:pt x="15" y="7313"/>
                </a:cubicBezTo>
                <a:cubicBezTo>
                  <a:pt x="10" y="7301"/>
                  <a:pt x="6" y="7289"/>
                  <a:pt x="4" y="7276"/>
                </a:cubicBezTo>
                <a:cubicBezTo>
                  <a:pt x="1" y="7263"/>
                  <a:pt x="0" y="7250"/>
                  <a:pt x="0" y="723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Forma libre 828"/>
          <p:cNvSpPr/>
          <p:nvPr/>
        </p:nvSpPr>
        <p:spPr>
          <a:xfrm>
            <a:off x="671400" y="2166840"/>
            <a:ext cx="10849320" cy="2676960"/>
          </a:xfrm>
          <a:custGeom>
            <a:avLst/>
            <a:gdLst/>
            <a:ahLst/>
            <a:cxnLst/>
            <a:rect l="0" t="0" r="r" b="b"/>
            <a:pathLst>
              <a:path w="30137" h="7436">
                <a:moveTo>
                  <a:pt x="0" y="723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7237"/>
                </a:lnTo>
                <a:cubicBezTo>
                  <a:pt x="30137" y="7250"/>
                  <a:pt x="30136" y="7263"/>
                  <a:pt x="30133" y="7276"/>
                </a:cubicBezTo>
                <a:cubicBezTo>
                  <a:pt x="30130" y="7289"/>
                  <a:pt x="30127" y="7301"/>
                  <a:pt x="30122" y="7313"/>
                </a:cubicBezTo>
                <a:cubicBezTo>
                  <a:pt x="30117" y="7325"/>
                  <a:pt x="30111" y="7337"/>
                  <a:pt x="30103" y="7347"/>
                </a:cubicBezTo>
                <a:cubicBezTo>
                  <a:pt x="30096" y="7358"/>
                  <a:pt x="30088" y="7368"/>
                  <a:pt x="30079" y="7377"/>
                </a:cubicBezTo>
                <a:cubicBezTo>
                  <a:pt x="30070" y="7387"/>
                  <a:pt x="30059" y="7395"/>
                  <a:pt x="30049" y="7402"/>
                </a:cubicBezTo>
                <a:cubicBezTo>
                  <a:pt x="30038" y="7409"/>
                  <a:pt x="30026" y="7415"/>
                  <a:pt x="30014" y="7420"/>
                </a:cubicBezTo>
                <a:cubicBezTo>
                  <a:pt x="30002" y="7425"/>
                  <a:pt x="29990" y="7429"/>
                  <a:pt x="29977" y="7432"/>
                </a:cubicBezTo>
                <a:cubicBezTo>
                  <a:pt x="29964" y="7434"/>
                  <a:pt x="29951" y="7436"/>
                  <a:pt x="29938" y="7436"/>
                </a:cubicBezTo>
                <a:lnTo>
                  <a:pt x="198" y="7436"/>
                </a:lnTo>
                <a:cubicBezTo>
                  <a:pt x="185" y="7436"/>
                  <a:pt x="172" y="7434"/>
                  <a:pt x="160" y="7432"/>
                </a:cubicBezTo>
                <a:cubicBezTo>
                  <a:pt x="147" y="7429"/>
                  <a:pt x="134" y="7425"/>
                  <a:pt x="122" y="7420"/>
                </a:cubicBezTo>
                <a:cubicBezTo>
                  <a:pt x="110" y="7415"/>
                  <a:pt x="99" y="7409"/>
                  <a:pt x="88" y="7402"/>
                </a:cubicBezTo>
                <a:cubicBezTo>
                  <a:pt x="77" y="7395"/>
                  <a:pt x="67" y="7387"/>
                  <a:pt x="58" y="7377"/>
                </a:cubicBezTo>
                <a:cubicBezTo>
                  <a:pt x="49" y="7368"/>
                  <a:pt x="40" y="7358"/>
                  <a:pt x="33" y="7347"/>
                </a:cubicBezTo>
                <a:cubicBezTo>
                  <a:pt x="26" y="7337"/>
                  <a:pt x="20" y="7325"/>
                  <a:pt x="15" y="7313"/>
                </a:cubicBezTo>
                <a:cubicBezTo>
                  <a:pt x="10" y="7301"/>
                  <a:pt x="6" y="7289"/>
                  <a:pt x="4" y="7276"/>
                </a:cubicBezTo>
                <a:cubicBezTo>
                  <a:pt x="1" y="7263"/>
                  <a:pt x="0" y="7250"/>
                  <a:pt x="0" y="723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CuadroTexto 829"/>
          <p:cNvSpPr txBox="1"/>
          <p:nvPr/>
        </p:nvSpPr>
        <p:spPr>
          <a:xfrm>
            <a:off x="666720" y="1530000"/>
            <a:ext cx="43128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Encadenar en vez de reasignar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CuadroTexto 830"/>
          <p:cNvSpPr txBox="1"/>
          <p:nvPr/>
        </p:nvSpPr>
        <p:spPr>
          <a:xfrm>
            <a:off x="866880" y="2346480"/>
            <a:ext cx="1420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resultado = 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CuadroTexto 831"/>
          <p:cNvSpPr txBox="1"/>
          <p:nvPr/>
        </p:nvSpPr>
        <p:spPr>
          <a:xfrm>
            <a:off x="866880" y="2613240"/>
            <a:ext cx="655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df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CuadroTexto 832"/>
          <p:cNvSpPr txBox="1"/>
          <p:nvPr/>
        </p:nvSpPr>
        <p:spPr>
          <a:xfrm>
            <a:off x="866880" y="2870640"/>
            <a:ext cx="3760645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.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query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edad.between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(18, 90)'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CuadroTexto 833"/>
          <p:cNvSpPr txBox="1"/>
          <p:nvPr/>
        </p:nvSpPr>
        <p:spPr>
          <a:xfrm>
            <a:off x="866880" y="3137400"/>
            <a:ext cx="6304611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.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assign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(hba1c=</a:t>
            </a:r>
            <a:r>
              <a:rPr lang="es-ES" sz="1430" b="0" u="none" strike="noStrike" dirty="0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lambda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d: d[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'valor'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].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astype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'float32'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CuadroTexto 834"/>
          <p:cNvSpPr txBox="1"/>
          <p:nvPr/>
        </p:nvSpPr>
        <p:spPr>
          <a:xfrm>
            <a:off x="866880" y="3394440"/>
            <a:ext cx="8074326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.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merge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(pacientes,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on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person_id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how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left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validate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many_to_one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CuadroTexto 835"/>
          <p:cNvSpPr txBox="1"/>
          <p:nvPr/>
        </p:nvSpPr>
        <p:spPr>
          <a:xfrm>
            <a:off x="866880" y="3661200"/>
            <a:ext cx="3650038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.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groupby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dx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observed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True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CuadroTexto 836"/>
          <p:cNvSpPr txBox="1"/>
          <p:nvPr/>
        </p:nvSpPr>
        <p:spPr>
          <a:xfrm>
            <a:off x="866880" y="3918240"/>
            <a:ext cx="7410683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.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agg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(n=(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person_id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nunique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), hba1c_media=(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'hba1c'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'mean'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CuadroTexto 837"/>
          <p:cNvSpPr txBox="1"/>
          <p:nvPr/>
        </p:nvSpPr>
        <p:spPr>
          <a:xfrm>
            <a:off x="866880" y="4185000"/>
            <a:ext cx="4203074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.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sort_values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Menlo"/>
                <a:ea typeface="Menlo"/>
              </a:rPr>
              <a:t>'n'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ascending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 dirty="0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False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CuadroTexto 838"/>
          <p:cNvSpPr txBox="1"/>
          <p:nvPr/>
        </p:nvSpPr>
        <p:spPr>
          <a:xfrm>
            <a:off x="866880" y="4442040"/>
            <a:ext cx="180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Forma libre 839"/>
          <p:cNvSpPr/>
          <p:nvPr/>
        </p:nvSpPr>
        <p:spPr>
          <a:xfrm>
            <a:off x="2190600" y="5057640"/>
            <a:ext cx="1286280" cy="267120"/>
          </a:xfrm>
          <a:custGeom>
            <a:avLst/>
            <a:gdLst/>
            <a:ahLst/>
            <a:cxnLst/>
            <a:rect l="0" t="0" r="r" b="b"/>
            <a:pathLst>
              <a:path w="357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4" y="3"/>
                  <a:pt x="3507" y="8"/>
                </a:cubicBezTo>
                <a:cubicBezTo>
                  <a:pt x="3520" y="13"/>
                  <a:pt x="3532" y="21"/>
                  <a:pt x="3542" y="31"/>
                </a:cubicBezTo>
                <a:cubicBezTo>
                  <a:pt x="3552" y="41"/>
                  <a:pt x="3559" y="52"/>
                  <a:pt x="3565" y="65"/>
                </a:cubicBezTo>
                <a:cubicBezTo>
                  <a:pt x="3570" y="78"/>
                  <a:pt x="3573" y="92"/>
                  <a:pt x="3573" y="106"/>
                </a:cubicBezTo>
                <a:lnTo>
                  <a:pt x="3573" y="636"/>
                </a:lnTo>
                <a:cubicBezTo>
                  <a:pt x="3573" y="650"/>
                  <a:pt x="3570" y="663"/>
                  <a:pt x="3565" y="676"/>
                </a:cubicBezTo>
                <a:cubicBezTo>
                  <a:pt x="3559" y="689"/>
                  <a:pt x="3552" y="701"/>
                  <a:pt x="3542" y="711"/>
                </a:cubicBezTo>
                <a:cubicBezTo>
                  <a:pt x="3532" y="721"/>
                  <a:pt x="3520" y="728"/>
                  <a:pt x="3507" y="734"/>
                </a:cubicBezTo>
                <a:cubicBezTo>
                  <a:pt x="3494" y="739"/>
                  <a:pt x="3481" y="742"/>
                  <a:pt x="3467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CuadroTexto 840"/>
          <p:cNvSpPr txBox="1"/>
          <p:nvPr/>
        </p:nvSpPr>
        <p:spPr>
          <a:xfrm>
            <a:off x="666720" y="5040000"/>
            <a:ext cx="1528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Antipatrones: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CuadroTexto 841"/>
          <p:cNvSpPr txBox="1"/>
          <p:nvPr/>
        </p:nvSpPr>
        <p:spPr>
          <a:xfrm>
            <a:off x="2248200" y="507744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iterrows()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Forma libre 842"/>
          <p:cNvSpPr/>
          <p:nvPr/>
        </p:nvSpPr>
        <p:spPr>
          <a:xfrm>
            <a:off x="3666960" y="5057640"/>
            <a:ext cx="1514880" cy="267120"/>
          </a:xfrm>
          <a:custGeom>
            <a:avLst/>
            <a:gdLst/>
            <a:ahLst/>
            <a:cxnLst/>
            <a:rect l="0" t="0" r="r" b="b"/>
            <a:pathLst>
              <a:path w="4208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102" y="0"/>
                </a:lnTo>
                <a:cubicBezTo>
                  <a:pt x="4116" y="0"/>
                  <a:pt x="4130" y="3"/>
                  <a:pt x="4142" y="8"/>
                </a:cubicBezTo>
                <a:cubicBezTo>
                  <a:pt x="4155" y="13"/>
                  <a:pt x="4167" y="21"/>
                  <a:pt x="4177" y="31"/>
                </a:cubicBezTo>
                <a:cubicBezTo>
                  <a:pt x="4187" y="41"/>
                  <a:pt x="4194" y="52"/>
                  <a:pt x="4200" y="65"/>
                </a:cubicBezTo>
                <a:cubicBezTo>
                  <a:pt x="4205" y="78"/>
                  <a:pt x="4208" y="92"/>
                  <a:pt x="4208" y="106"/>
                </a:cubicBezTo>
                <a:lnTo>
                  <a:pt x="4208" y="636"/>
                </a:lnTo>
                <a:cubicBezTo>
                  <a:pt x="4208" y="650"/>
                  <a:pt x="4205" y="663"/>
                  <a:pt x="4200" y="676"/>
                </a:cubicBezTo>
                <a:cubicBezTo>
                  <a:pt x="4194" y="689"/>
                  <a:pt x="4187" y="701"/>
                  <a:pt x="4177" y="711"/>
                </a:cubicBezTo>
                <a:cubicBezTo>
                  <a:pt x="4167" y="721"/>
                  <a:pt x="4155" y="728"/>
                  <a:pt x="4142" y="734"/>
                </a:cubicBezTo>
                <a:cubicBezTo>
                  <a:pt x="4130" y="739"/>
                  <a:pt x="4116" y="742"/>
                  <a:pt x="4102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CuadroTexto 843"/>
          <p:cNvSpPr txBox="1"/>
          <p:nvPr/>
        </p:nvSpPr>
        <p:spPr>
          <a:xfrm>
            <a:off x="3475440" y="504000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·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CuadroTexto 844"/>
          <p:cNvSpPr txBox="1"/>
          <p:nvPr/>
        </p:nvSpPr>
        <p:spPr>
          <a:xfrm>
            <a:off x="3723120" y="5077440"/>
            <a:ext cx="14101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inplace=True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Forma libre 845"/>
          <p:cNvSpPr/>
          <p:nvPr/>
        </p:nvSpPr>
        <p:spPr>
          <a:xfrm>
            <a:off x="5371920" y="5057640"/>
            <a:ext cx="2105280" cy="267120"/>
          </a:xfrm>
          <a:custGeom>
            <a:avLst/>
            <a:gdLst/>
            <a:ahLst/>
            <a:cxnLst/>
            <a:rect l="0" t="0" r="r" b="b"/>
            <a:pathLst>
              <a:path w="5848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742" y="0"/>
                </a:lnTo>
                <a:cubicBezTo>
                  <a:pt x="5756" y="0"/>
                  <a:pt x="5770" y="3"/>
                  <a:pt x="5783" y="8"/>
                </a:cubicBezTo>
                <a:cubicBezTo>
                  <a:pt x="5796" y="13"/>
                  <a:pt x="5807" y="21"/>
                  <a:pt x="5817" y="31"/>
                </a:cubicBezTo>
                <a:cubicBezTo>
                  <a:pt x="5827" y="41"/>
                  <a:pt x="5835" y="52"/>
                  <a:pt x="5840" y="65"/>
                </a:cubicBezTo>
                <a:cubicBezTo>
                  <a:pt x="5846" y="78"/>
                  <a:pt x="5848" y="92"/>
                  <a:pt x="5848" y="106"/>
                </a:cubicBezTo>
                <a:lnTo>
                  <a:pt x="5848" y="636"/>
                </a:lnTo>
                <a:cubicBezTo>
                  <a:pt x="5848" y="650"/>
                  <a:pt x="5846" y="663"/>
                  <a:pt x="5840" y="676"/>
                </a:cubicBezTo>
                <a:cubicBezTo>
                  <a:pt x="5835" y="689"/>
                  <a:pt x="5827" y="701"/>
                  <a:pt x="5817" y="711"/>
                </a:cubicBezTo>
                <a:cubicBezTo>
                  <a:pt x="5807" y="721"/>
                  <a:pt x="5796" y="728"/>
                  <a:pt x="5783" y="734"/>
                </a:cubicBezTo>
                <a:cubicBezTo>
                  <a:pt x="5770" y="739"/>
                  <a:pt x="5756" y="742"/>
                  <a:pt x="5742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CuadroTexto 846"/>
          <p:cNvSpPr txBox="1"/>
          <p:nvPr/>
        </p:nvSpPr>
        <p:spPr>
          <a:xfrm>
            <a:off x="5184360" y="504000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·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CuadroTexto 847"/>
          <p:cNvSpPr txBox="1"/>
          <p:nvPr/>
        </p:nvSpPr>
        <p:spPr>
          <a:xfrm>
            <a:off x="5432400" y="5077440"/>
            <a:ext cx="1997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df[cond][col] = x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Forma libre 848"/>
          <p:cNvSpPr/>
          <p:nvPr/>
        </p:nvSpPr>
        <p:spPr>
          <a:xfrm>
            <a:off x="7667280" y="5057640"/>
            <a:ext cx="467280" cy="267120"/>
          </a:xfrm>
          <a:custGeom>
            <a:avLst/>
            <a:gdLst/>
            <a:ahLst/>
            <a:cxnLst/>
            <a:rect l="0" t="0" r="r" b="b"/>
            <a:pathLst>
              <a:path w="1298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lnTo>
                  <a:pt x="1192" y="0"/>
                </a:lnTo>
                <a:cubicBezTo>
                  <a:pt x="1206" y="0"/>
                  <a:pt x="1220" y="3"/>
                  <a:pt x="1233" y="8"/>
                </a:cubicBezTo>
                <a:cubicBezTo>
                  <a:pt x="1246" y="13"/>
                  <a:pt x="1257" y="21"/>
                  <a:pt x="1267" y="31"/>
                </a:cubicBezTo>
                <a:cubicBezTo>
                  <a:pt x="1277" y="41"/>
                  <a:pt x="1284" y="52"/>
                  <a:pt x="1290" y="65"/>
                </a:cubicBezTo>
                <a:cubicBezTo>
                  <a:pt x="1295" y="78"/>
                  <a:pt x="1298" y="92"/>
                  <a:pt x="1298" y="106"/>
                </a:cubicBezTo>
                <a:lnTo>
                  <a:pt x="1298" y="636"/>
                </a:lnTo>
                <a:cubicBezTo>
                  <a:pt x="1298" y="650"/>
                  <a:pt x="1295" y="663"/>
                  <a:pt x="1290" y="676"/>
                </a:cubicBezTo>
                <a:cubicBezTo>
                  <a:pt x="1284" y="689"/>
                  <a:pt x="1277" y="701"/>
                  <a:pt x="1267" y="711"/>
                </a:cubicBezTo>
                <a:cubicBezTo>
                  <a:pt x="1257" y="721"/>
                  <a:pt x="1246" y="728"/>
                  <a:pt x="1233" y="734"/>
                </a:cubicBezTo>
                <a:cubicBezTo>
                  <a:pt x="1220" y="739"/>
                  <a:pt x="1206" y="742"/>
                  <a:pt x="1192" y="742"/>
                </a:cubicBezTo>
                <a:lnTo>
                  <a:pt x="107" y="742"/>
                </a:lnTo>
                <a:cubicBezTo>
                  <a:pt x="93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2" y="701"/>
                  <a:pt x="14" y="689"/>
                  <a:pt x="9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CuadroTexto 849"/>
          <p:cNvSpPr txBox="1"/>
          <p:nvPr/>
        </p:nvSpPr>
        <p:spPr>
          <a:xfrm>
            <a:off x="7478280" y="504000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·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CuadroTexto 850"/>
          <p:cNvSpPr txBox="1"/>
          <p:nvPr/>
        </p:nvSpPr>
        <p:spPr>
          <a:xfrm>
            <a:off x="7725960" y="5077440"/>
            <a:ext cx="353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df2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Forma libre 851"/>
          <p:cNvSpPr/>
          <p:nvPr/>
        </p:nvSpPr>
        <p:spPr>
          <a:xfrm>
            <a:off x="8258040" y="5057640"/>
            <a:ext cx="466920" cy="267120"/>
          </a:xfrm>
          <a:custGeom>
            <a:avLst/>
            <a:gdLst/>
            <a:ahLst/>
            <a:cxnLst/>
            <a:rect l="0" t="0" r="r" b="b"/>
            <a:pathLst>
              <a:path w="129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91" y="0"/>
                </a:lnTo>
                <a:cubicBezTo>
                  <a:pt x="1206" y="0"/>
                  <a:pt x="1219" y="3"/>
                  <a:pt x="1232" y="8"/>
                </a:cubicBezTo>
                <a:cubicBezTo>
                  <a:pt x="1245" y="13"/>
                  <a:pt x="1256" y="21"/>
                  <a:pt x="1266" y="31"/>
                </a:cubicBezTo>
                <a:cubicBezTo>
                  <a:pt x="1276" y="41"/>
                  <a:pt x="1284" y="52"/>
                  <a:pt x="1289" y="65"/>
                </a:cubicBezTo>
                <a:cubicBezTo>
                  <a:pt x="1295" y="78"/>
                  <a:pt x="1297" y="92"/>
                  <a:pt x="1297" y="106"/>
                </a:cubicBezTo>
                <a:lnTo>
                  <a:pt x="1297" y="636"/>
                </a:lnTo>
                <a:cubicBezTo>
                  <a:pt x="1297" y="650"/>
                  <a:pt x="1295" y="663"/>
                  <a:pt x="1289" y="676"/>
                </a:cubicBezTo>
                <a:cubicBezTo>
                  <a:pt x="1284" y="689"/>
                  <a:pt x="1276" y="701"/>
                  <a:pt x="1266" y="711"/>
                </a:cubicBezTo>
                <a:cubicBezTo>
                  <a:pt x="1256" y="721"/>
                  <a:pt x="1245" y="728"/>
                  <a:pt x="1232" y="734"/>
                </a:cubicBezTo>
                <a:cubicBezTo>
                  <a:pt x="1219" y="739"/>
                  <a:pt x="1206" y="742"/>
                  <a:pt x="1191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CuadroTexto 852"/>
          <p:cNvSpPr txBox="1"/>
          <p:nvPr/>
        </p:nvSpPr>
        <p:spPr>
          <a:xfrm>
            <a:off x="8134200" y="504000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CuadroTexto 853"/>
          <p:cNvSpPr txBox="1"/>
          <p:nvPr/>
        </p:nvSpPr>
        <p:spPr>
          <a:xfrm>
            <a:off x="8318880" y="5077440"/>
            <a:ext cx="353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df3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Forma libre 854"/>
          <p:cNvSpPr/>
          <p:nvPr/>
        </p:nvSpPr>
        <p:spPr>
          <a:xfrm>
            <a:off x="8858160" y="5057640"/>
            <a:ext cx="457560" cy="267120"/>
          </a:xfrm>
          <a:custGeom>
            <a:avLst/>
            <a:gdLst/>
            <a:ahLst/>
            <a:cxnLst/>
            <a:rect l="0" t="0" r="r" b="b"/>
            <a:pathLst>
              <a:path w="127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65" y="0"/>
                </a:lnTo>
                <a:cubicBezTo>
                  <a:pt x="1179" y="0"/>
                  <a:pt x="1192" y="3"/>
                  <a:pt x="1205" y="8"/>
                </a:cubicBezTo>
                <a:cubicBezTo>
                  <a:pt x="1218" y="13"/>
                  <a:pt x="1230" y="21"/>
                  <a:pt x="1240" y="31"/>
                </a:cubicBezTo>
                <a:cubicBezTo>
                  <a:pt x="1250" y="41"/>
                  <a:pt x="1257" y="52"/>
                  <a:pt x="1263" y="65"/>
                </a:cubicBezTo>
                <a:cubicBezTo>
                  <a:pt x="1268" y="78"/>
                  <a:pt x="1271" y="92"/>
                  <a:pt x="1271" y="106"/>
                </a:cubicBezTo>
                <a:lnTo>
                  <a:pt x="1271" y="636"/>
                </a:lnTo>
                <a:cubicBezTo>
                  <a:pt x="1271" y="650"/>
                  <a:pt x="1268" y="663"/>
                  <a:pt x="1263" y="676"/>
                </a:cubicBezTo>
                <a:cubicBezTo>
                  <a:pt x="1257" y="689"/>
                  <a:pt x="1250" y="701"/>
                  <a:pt x="1240" y="711"/>
                </a:cubicBezTo>
                <a:cubicBezTo>
                  <a:pt x="1230" y="721"/>
                  <a:pt x="1218" y="728"/>
                  <a:pt x="1205" y="734"/>
                </a:cubicBezTo>
                <a:cubicBezTo>
                  <a:pt x="1192" y="739"/>
                  <a:pt x="1179" y="742"/>
                  <a:pt x="1165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CuadroTexto 855"/>
          <p:cNvSpPr txBox="1"/>
          <p:nvPr/>
        </p:nvSpPr>
        <p:spPr>
          <a:xfrm>
            <a:off x="8727120" y="504000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CuadroTexto 856"/>
          <p:cNvSpPr txBox="1"/>
          <p:nvPr/>
        </p:nvSpPr>
        <p:spPr>
          <a:xfrm>
            <a:off x="8911440" y="5077440"/>
            <a:ext cx="353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df4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CuadroTexto 85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CuadroTexto 85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CuadroTexto 85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Forma libre 86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Forma libre 86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Forma libre 8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CuadroTexto 863"/>
          <p:cNvSpPr txBox="1"/>
          <p:nvPr/>
        </p:nvSpPr>
        <p:spPr>
          <a:xfrm>
            <a:off x="666720" y="186336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CuadroTexto 864"/>
          <p:cNvSpPr txBox="1"/>
          <p:nvPr/>
        </p:nvSpPr>
        <p:spPr>
          <a:xfrm>
            <a:off x="869760" y="2535120"/>
            <a:ext cx="10611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Python cambia memoria por comodidad.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28 bytes por entero, ~50 por cadena. Elegir bien los dtypes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CuadroTexto 865"/>
          <p:cNvSpPr txBox="1"/>
          <p:nvPr/>
        </p:nvSpPr>
        <p:spPr>
          <a:xfrm>
            <a:off x="1123920" y="2877840"/>
            <a:ext cx="4197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reduce el consumo un orden de magnitud.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CuadroTexto 866"/>
          <p:cNvSpPr txBox="1"/>
          <p:nvPr/>
        </p:nvSpPr>
        <p:spPr>
          <a:xfrm>
            <a:off x="869760" y="3373200"/>
            <a:ext cx="9858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pandas necesita 5–10× el tamaño del dato en RAM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usa un solo núcleo. Es una herramienta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CuadroTexto 867"/>
          <p:cNvSpPr txBox="1"/>
          <p:nvPr/>
        </p:nvSpPr>
        <p:spPr>
          <a:xfrm>
            <a:off x="1123920" y="3716280"/>
            <a:ext cx="3099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excelente dentro de sus límites.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CuadroTexto 868"/>
          <p:cNvSpPr txBox="1"/>
          <p:nvPr/>
        </p:nvSpPr>
        <p:spPr>
          <a:xfrm>
            <a:off x="869760" y="4211640"/>
            <a:ext cx="10374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Spark existe porque hay datos que no caben en una máquina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no porque sea moderno. Sube 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CuadroTexto 869"/>
          <p:cNvSpPr txBox="1"/>
          <p:nvPr/>
        </p:nvSpPr>
        <p:spPr>
          <a:xfrm>
            <a:off x="1123920" y="4554360"/>
            <a:ext cx="3926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escalón cuando el actual falle, no antes.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CuadroTexto 87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CuadroTexto 87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CuadroTexto 87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Forma libre 87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Forma libre 87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Forma libre 87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CuadroTexto 876"/>
          <p:cNvSpPr txBox="1"/>
          <p:nvPr/>
        </p:nvSpPr>
        <p:spPr>
          <a:xfrm>
            <a:off x="666720" y="200628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CuadroTexto 877"/>
          <p:cNvSpPr txBox="1"/>
          <p:nvPr/>
        </p:nvSpPr>
        <p:spPr>
          <a:xfrm>
            <a:off x="666720" y="2717280"/>
            <a:ext cx="73281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Análisis de un dataset de pacientes, con presupuesto de memoria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CuadroTexto 878"/>
          <p:cNvSpPr txBox="1"/>
          <p:nvPr/>
        </p:nvSpPr>
        <p:spPr>
          <a:xfrm>
            <a:off x="666720" y="3230280"/>
            <a:ext cx="10838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Reducir el consumo de un DataFrame ≥70%, procesar por lotes un archivo que no quepa, y resolver el mismo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CuadroTexto 879"/>
          <p:cNvSpPr txBox="1"/>
          <p:nvPr/>
        </p:nvSpPr>
        <p:spPr>
          <a:xfrm>
            <a:off x="666720" y="3573360"/>
            <a:ext cx="3718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pipeline en pandas, Polars y PySpark.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Forma libre 880"/>
          <p:cNvSpPr/>
          <p:nvPr/>
        </p:nvSpPr>
        <p:spPr>
          <a:xfrm>
            <a:off x="666720" y="4581360"/>
            <a:ext cx="5258160" cy="267120"/>
          </a:xfrm>
          <a:custGeom>
            <a:avLst/>
            <a:gdLst/>
            <a:ahLst/>
            <a:cxnLst/>
            <a:rect l="0" t="0" r="r" b="b"/>
            <a:pathLst>
              <a:path w="1460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4500" y="0"/>
                </a:lnTo>
                <a:cubicBezTo>
                  <a:pt x="14514" y="0"/>
                  <a:pt x="14527" y="3"/>
                  <a:pt x="14540" y="8"/>
                </a:cubicBezTo>
                <a:cubicBezTo>
                  <a:pt x="14553" y="13"/>
                  <a:pt x="14565" y="21"/>
                  <a:pt x="14575" y="31"/>
                </a:cubicBezTo>
                <a:cubicBezTo>
                  <a:pt x="14585" y="41"/>
                  <a:pt x="14592" y="52"/>
                  <a:pt x="14598" y="65"/>
                </a:cubicBezTo>
                <a:cubicBezTo>
                  <a:pt x="14603" y="78"/>
                  <a:pt x="14606" y="92"/>
                  <a:pt x="14606" y="106"/>
                </a:cubicBezTo>
                <a:lnTo>
                  <a:pt x="14606" y="636"/>
                </a:lnTo>
                <a:cubicBezTo>
                  <a:pt x="14606" y="650"/>
                  <a:pt x="14603" y="663"/>
                  <a:pt x="14598" y="676"/>
                </a:cubicBezTo>
                <a:cubicBezTo>
                  <a:pt x="14592" y="689"/>
                  <a:pt x="14585" y="701"/>
                  <a:pt x="14575" y="711"/>
                </a:cubicBezTo>
                <a:cubicBezTo>
                  <a:pt x="14565" y="721"/>
                  <a:pt x="14553" y="728"/>
                  <a:pt x="14540" y="734"/>
                </a:cubicBezTo>
                <a:cubicBezTo>
                  <a:pt x="14527" y="739"/>
                  <a:pt x="14514" y="742"/>
                  <a:pt x="14500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CuadroTexto 881"/>
          <p:cNvSpPr txBox="1"/>
          <p:nvPr/>
        </p:nvSpPr>
        <p:spPr>
          <a:xfrm>
            <a:off x="666720" y="4068720"/>
            <a:ext cx="7810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notebook con narrativa + tabla comparativa de memoria y tiempo.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CuadroTexto 882"/>
          <p:cNvSpPr txBox="1"/>
          <p:nvPr/>
        </p:nvSpPr>
        <p:spPr>
          <a:xfrm>
            <a:off x="723960" y="4601160"/>
            <a:ext cx="5168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labs</a:t>
            </a:r>
            <a:r>
              <a:rPr lang="es-ES" sz="153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/s02-python-estructuras-pandas/</a:t>
            </a:r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README.md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CuadroTexto 88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CuadroTexto 88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CuadroTexto 88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Forma libre 88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Forma libre 88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Forma libre 88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CuadroTexto 889"/>
          <p:cNvSpPr txBox="1"/>
          <p:nvPr/>
        </p:nvSpPr>
        <p:spPr>
          <a:xfrm>
            <a:off x="4672800" y="248292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CuadroTexto 89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02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CuadroTexto 89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CuadroTexto 89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3877</TotalTime>
  <Words>2998</Words>
  <Application>Microsoft Macintosh PowerPoint</Application>
  <PresentationFormat>Panorámica</PresentationFormat>
  <Paragraphs>448</Paragraphs>
  <Slides>35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2" baseType="lpstr">
      <vt:lpstr>Arial</vt:lpstr>
      <vt:lpstr>HelveticaNeue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8</cp:revision>
  <dcterms:modified xsi:type="dcterms:W3CDTF">2026-08-16T18:50:02Z</dcterms:modified>
  <dc:language>es-ES</dc:language>
</cp:coreProperties>
</file>