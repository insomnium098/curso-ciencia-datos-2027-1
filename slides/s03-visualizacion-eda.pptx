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3" r:id="rId9"/>
    <p:sldId id="263" r:id="rId10"/>
    <p:sldId id="264" r:id="rId11"/>
    <p:sldId id="292" r:id="rId12"/>
    <p:sldId id="265" r:id="rId13"/>
    <p:sldId id="267" r:id="rId14"/>
    <p:sldId id="294" r:id="rId15"/>
    <p:sldId id="269" r:id="rId16"/>
    <p:sldId id="295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96" r:id="rId25"/>
    <p:sldId id="278" r:id="rId26"/>
    <p:sldId id="279" r:id="rId27"/>
    <p:sldId id="282" r:id="rId28"/>
    <p:sldId id="283" r:id="rId29"/>
    <p:sldId id="284" r:id="rId30"/>
    <p:sldId id="288" r:id="rId31"/>
    <p:sldId id="289" r:id="rId32"/>
    <p:sldId id="290" r:id="rId33"/>
    <p:sldId id="291" r:id="rId34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6"/>
    <p:restoredTop sz="94701"/>
  </p:normalViewPr>
  <p:slideViewPr>
    <p:cSldViewPr snapToGrid="0">
      <p:cViewPr>
        <p:scale>
          <a:sx n="132" d="100"/>
          <a:sy n="132" d="100"/>
        </p:scale>
        <p:origin x="2808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03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8580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Python para Biomedicina: Visualización y Análisis Exploratorio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647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 — Fundamentos de Python para datos biomédicos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7287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Ejecutar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EDA sistemático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sobre un dataset clínico que no conoces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7153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Elegir el tipo de gráﬁca correcto según el tipo de variable y la pregunta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7726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Construir ﬁguras con matplotlib y seaborn que sean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legibles y publicables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6043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Detectar problemas de calidad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sólo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ven graﬁcando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280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Qué es realmente un EDA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2524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Anatomía de matplotlib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340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seaborn para datos estadísticos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058920"/>
            <a:ext cx="2614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Elegir la gráﬁca correcta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458880"/>
            <a:ext cx="3578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Gráﬁcas propias de datos clínicos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859200"/>
            <a:ext cx="3532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Errores comunes de visualización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259160"/>
            <a:ext cx="3633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Interactividad y EDA automatizado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4659120"/>
            <a:ext cx="4040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De la ﬁgura exploratoria a la publicable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905040" y="5268600"/>
            <a:ext cx="5695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EDA completo sobre tu cohorte de Synthea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Forma libre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904480" y="3063960"/>
            <a:ext cx="65322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Qué es realmente un EDA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666720" y="1491840"/>
            <a:ext cx="4264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es «hacer gráficas bonitas»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A5FEAFD-EA2E-B13E-0FE2-5C9FE0E18213}"/>
              </a:ext>
            </a:extLst>
          </p:cNvPr>
          <p:cNvGrpSpPr/>
          <p:nvPr/>
        </p:nvGrpSpPr>
        <p:grpSpPr>
          <a:xfrm>
            <a:off x="666660" y="2249864"/>
            <a:ext cx="10858680" cy="3218040"/>
            <a:chOff x="666720" y="2163600"/>
            <a:chExt cx="10858680" cy="3218040"/>
          </a:xfrm>
        </p:grpSpPr>
        <p:sp>
          <p:nvSpPr>
            <p:cNvPr id="56" name="Forma libre 55"/>
            <p:cNvSpPr/>
            <p:nvPr/>
          </p:nvSpPr>
          <p:spPr>
            <a:xfrm>
              <a:off x="666720" y="4809960"/>
              <a:ext cx="10858680" cy="571680"/>
            </a:xfrm>
            <a:custGeom>
              <a:avLst/>
              <a:gdLst/>
              <a:ahLst/>
              <a:cxnLst/>
              <a:rect l="0" t="0" r="r" b="b"/>
              <a:pathLst>
                <a:path w="30163" h="1588">
                  <a:moveTo>
                    <a:pt x="0" y="0"/>
                  </a:moveTo>
                  <a:lnTo>
                    <a:pt x="30163" y="0"/>
                  </a:lnTo>
                  <a:lnTo>
                    <a:pt x="30163" y="1588"/>
                  </a:lnTo>
                  <a:lnTo>
                    <a:pt x="0" y="1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6F8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Forma libre 56"/>
            <p:cNvSpPr/>
            <p:nvPr/>
          </p:nvSpPr>
          <p:spPr>
            <a:xfrm>
              <a:off x="666720" y="4809960"/>
              <a:ext cx="47880" cy="571680"/>
            </a:xfrm>
            <a:custGeom>
              <a:avLst/>
              <a:gdLst/>
              <a:ahLst/>
              <a:cxnLst/>
              <a:rect l="0" t="0" r="r" b="b"/>
              <a:pathLst>
                <a:path w="133" h="1588">
                  <a:moveTo>
                    <a:pt x="0" y="0"/>
                  </a:moveTo>
                  <a:lnTo>
                    <a:pt x="133" y="0"/>
                  </a:lnTo>
                  <a:lnTo>
                    <a:pt x="133" y="1588"/>
                  </a:lnTo>
                  <a:lnTo>
                    <a:pt x="0" y="1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822B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CuadroTexto 58"/>
            <p:cNvSpPr txBox="1"/>
            <p:nvPr/>
          </p:nvSpPr>
          <p:spPr>
            <a:xfrm>
              <a:off x="666720" y="2163600"/>
              <a:ext cx="5004720" cy="2732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Es </a:t>
              </a:r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interrogar al </a:t>
              </a:r>
              <a:r>
                <a:rPr lang="es-ES" sz="1800" b="1" u="none" strike="noStrike" dirty="0" err="1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dataset</a:t>
              </a:r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 antes de </a:t>
              </a:r>
              <a:r>
                <a:rPr lang="es-ES" sz="1800" b="1" u="none" strike="noStrike" dirty="0" err="1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conﬁar</a:t>
              </a:r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 en él</a:t>
              </a:r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.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Forma libre 59"/>
            <p:cNvSpPr/>
            <p:nvPr/>
          </p:nvSpPr>
          <p:spPr>
            <a:xfrm>
              <a:off x="914040" y="3267000"/>
              <a:ext cx="76680" cy="76320"/>
            </a:xfrm>
            <a:custGeom>
              <a:avLst/>
              <a:gdLst/>
              <a:ahLst/>
              <a:cxnLst/>
              <a:rect l="0" t="0" r="r" b="b"/>
              <a:pathLst>
                <a:path w="213" h="212">
                  <a:moveTo>
                    <a:pt x="213" y="107"/>
                  </a:moveTo>
                  <a:cubicBezTo>
                    <a:pt x="213" y="121"/>
                    <a:pt x="210" y="134"/>
                    <a:pt x="205" y="147"/>
                  </a:cubicBezTo>
                  <a:cubicBezTo>
                    <a:pt x="200" y="160"/>
                    <a:pt x="192" y="171"/>
                    <a:pt x="182" y="181"/>
                  </a:cubicBezTo>
                  <a:cubicBezTo>
                    <a:pt x="172" y="191"/>
                    <a:pt x="161" y="199"/>
                    <a:pt x="148" y="204"/>
                  </a:cubicBezTo>
                  <a:cubicBezTo>
                    <a:pt x="135" y="210"/>
                    <a:pt x="121" y="212"/>
                    <a:pt x="107" y="212"/>
                  </a:cubicBezTo>
                  <a:cubicBezTo>
                    <a:pt x="92" y="212"/>
                    <a:pt x="79" y="210"/>
                    <a:pt x="66" y="204"/>
                  </a:cubicBezTo>
                  <a:cubicBezTo>
                    <a:pt x="53" y="199"/>
                    <a:pt x="41" y="191"/>
                    <a:pt x="31" y="181"/>
                  </a:cubicBezTo>
                  <a:cubicBezTo>
                    <a:pt x="22" y="171"/>
                    <a:pt x="14" y="160"/>
                    <a:pt x="9" y="147"/>
                  </a:cubicBezTo>
                  <a:cubicBezTo>
                    <a:pt x="3" y="134"/>
                    <a:pt x="0" y="121"/>
                    <a:pt x="0" y="107"/>
                  </a:cubicBezTo>
                  <a:cubicBezTo>
                    <a:pt x="0" y="92"/>
                    <a:pt x="3" y="78"/>
                    <a:pt x="9" y="65"/>
                  </a:cubicBezTo>
                  <a:cubicBezTo>
                    <a:pt x="14" y="52"/>
                    <a:pt x="22" y="41"/>
                    <a:pt x="31" y="31"/>
                  </a:cubicBezTo>
                  <a:cubicBezTo>
                    <a:pt x="41" y="21"/>
                    <a:pt x="53" y="13"/>
                    <a:pt x="66" y="8"/>
                  </a:cubicBezTo>
                  <a:cubicBezTo>
                    <a:pt x="79" y="2"/>
                    <a:pt x="92" y="0"/>
                    <a:pt x="107" y="0"/>
                  </a:cubicBezTo>
                  <a:cubicBezTo>
                    <a:pt x="121" y="0"/>
                    <a:pt x="135" y="2"/>
                    <a:pt x="148" y="8"/>
                  </a:cubicBezTo>
                  <a:cubicBezTo>
                    <a:pt x="161" y="13"/>
                    <a:pt x="172" y="21"/>
                    <a:pt x="182" y="31"/>
                  </a:cubicBezTo>
                  <a:cubicBezTo>
                    <a:pt x="192" y="41"/>
                    <a:pt x="200" y="52"/>
                    <a:pt x="205" y="65"/>
                  </a:cubicBezTo>
                  <a:cubicBezTo>
                    <a:pt x="210" y="78"/>
                    <a:pt x="213" y="92"/>
                    <a:pt x="213" y="107"/>
                  </a:cubicBezTo>
                  <a:close/>
                </a:path>
              </a:pathLst>
            </a:custGeom>
            <a:solidFill>
              <a:srgbClr val="4A4A4A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CuadroTexto 60"/>
            <p:cNvSpPr txBox="1"/>
            <p:nvPr/>
          </p:nvSpPr>
          <p:spPr>
            <a:xfrm>
              <a:off x="666720" y="2658960"/>
              <a:ext cx="7994176" cy="276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En la sesión 2 se midió cuánto pesa el dato. Con el EDA se averigua si sirve.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Forma libre 61"/>
            <p:cNvSpPr/>
            <p:nvPr/>
          </p:nvSpPr>
          <p:spPr>
            <a:xfrm>
              <a:off x="914040" y="3666960"/>
              <a:ext cx="76680" cy="76680"/>
            </a:xfrm>
            <a:custGeom>
              <a:avLst/>
              <a:gdLst/>
              <a:ahLst/>
              <a:cxnLst/>
              <a:rect l="0" t="0" r="r" b="b"/>
              <a:pathLst>
                <a:path w="213" h="213">
                  <a:moveTo>
                    <a:pt x="213" y="107"/>
                  </a:moveTo>
                  <a:cubicBezTo>
                    <a:pt x="213" y="121"/>
                    <a:pt x="210" y="134"/>
                    <a:pt x="205" y="147"/>
                  </a:cubicBezTo>
                  <a:cubicBezTo>
                    <a:pt x="200" y="160"/>
                    <a:pt x="192" y="172"/>
                    <a:pt x="182" y="182"/>
                  </a:cubicBezTo>
                  <a:cubicBezTo>
                    <a:pt x="172" y="192"/>
                    <a:pt x="161" y="199"/>
                    <a:pt x="148" y="205"/>
                  </a:cubicBezTo>
                  <a:cubicBezTo>
                    <a:pt x="135" y="210"/>
                    <a:pt x="121" y="213"/>
                    <a:pt x="107" y="213"/>
                  </a:cubicBezTo>
                  <a:cubicBezTo>
                    <a:pt x="92" y="213"/>
                    <a:pt x="79" y="210"/>
                    <a:pt x="66" y="205"/>
                  </a:cubicBezTo>
                  <a:cubicBezTo>
                    <a:pt x="53" y="199"/>
                    <a:pt x="41" y="192"/>
                    <a:pt x="31" y="182"/>
                  </a:cubicBezTo>
                  <a:cubicBezTo>
                    <a:pt x="22" y="172"/>
                    <a:pt x="14" y="160"/>
                    <a:pt x="9" y="147"/>
                  </a:cubicBezTo>
                  <a:cubicBezTo>
                    <a:pt x="3" y="134"/>
                    <a:pt x="0" y="121"/>
                    <a:pt x="0" y="107"/>
                  </a:cubicBezTo>
                  <a:cubicBezTo>
                    <a:pt x="0" y="93"/>
                    <a:pt x="3" y="79"/>
                    <a:pt x="9" y="66"/>
                  </a:cubicBezTo>
                  <a:cubicBezTo>
                    <a:pt x="14" y="53"/>
                    <a:pt x="22" y="41"/>
                    <a:pt x="31" y="31"/>
                  </a:cubicBezTo>
                  <a:cubicBezTo>
                    <a:pt x="41" y="21"/>
                    <a:pt x="53" y="13"/>
                    <a:pt x="66" y="8"/>
                  </a:cubicBezTo>
                  <a:cubicBezTo>
                    <a:pt x="79" y="3"/>
                    <a:pt x="92" y="0"/>
                    <a:pt x="107" y="0"/>
                  </a:cubicBezTo>
                  <a:cubicBezTo>
                    <a:pt x="121" y="0"/>
                    <a:pt x="135" y="3"/>
                    <a:pt x="148" y="8"/>
                  </a:cubicBezTo>
                  <a:cubicBezTo>
                    <a:pt x="161" y="13"/>
                    <a:pt x="172" y="21"/>
                    <a:pt x="182" y="31"/>
                  </a:cubicBezTo>
                  <a:cubicBezTo>
                    <a:pt x="192" y="41"/>
                    <a:pt x="200" y="53"/>
                    <a:pt x="205" y="66"/>
                  </a:cubicBezTo>
                  <a:cubicBezTo>
                    <a:pt x="210" y="79"/>
                    <a:pt x="213" y="93"/>
                    <a:pt x="213" y="107"/>
                  </a:cubicBezTo>
                  <a:close/>
                </a:path>
              </a:pathLst>
            </a:custGeom>
            <a:solidFill>
              <a:srgbClr val="4A4A4A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CuadroTexto 62"/>
            <p:cNvSpPr txBox="1"/>
            <p:nvPr/>
          </p:nvSpPr>
          <p:spPr>
            <a:xfrm>
              <a:off x="1123920" y="3154320"/>
              <a:ext cx="3278520" cy="270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¿Qué hay aquí que no esperaba?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Forma libre 63"/>
            <p:cNvSpPr/>
            <p:nvPr/>
          </p:nvSpPr>
          <p:spPr>
            <a:xfrm>
              <a:off x="914040" y="4066920"/>
              <a:ext cx="76680" cy="76680"/>
            </a:xfrm>
            <a:custGeom>
              <a:avLst/>
              <a:gdLst/>
              <a:ahLst/>
              <a:cxnLst/>
              <a:rect l="0" t="0" r="r" b="b"/>
              <a:pathLst>
                <a:path w="213" h="213">
                  <a:moveTo>
                    <a:pt x="213" y="106"/>
                  </a:moveTo>
                  <a:cubicBezTo>
                    <a:pt x="213" y="120"/>
                    <a:pt x="210" y="134"/>
                    <a:pt x="205" y="147"/>
                  </a:cubicBezTo>
                  <a:cubicBezTo>
                    <a:pt x="200" y="160"/>
                    <a:pt x="192" y="171"/>
                    <a:pt x="182" y="181"/>
                  </a:cubicBezTo>
                  <a:cubicBezTo>
                    <a:pt x="172" y="191"/>
                    <a:pt x="161" y="198"/>
                    <a:pt x="148" y="205"/>
                  </a:cubicBezTo>
                  <a:cubicBezTo>
                    <a:pt x="135" y="210"/>
                    <a:pt x="121" y="213"/>
                    <a:pt x="107" y="213"/>
                  </a:cubicBezTo>
                  <a:cubicBezTo>
                    <a:pt x="92" y="213"/>
                    <a:pt x="79" y="210"/>
                    <a:pt x="66" y="205"/>
                  </a:cubicBezTo>
                  <a:cubicBezTo>
                    <a:pt x="53" y="198"/>
                    <a:pt x="41" y="191"/>
                    <a:pt x="31" y="181"/>
                  </a:cubicBezTo>
                  <a:cubicBezTo>
                    <a:pt x="22" y="171"/>
                    <a:pt x="14" y="160"/>
                    <a:pt x="9" y="147"/>
                  </a:cubicBezTo>
                  <a:cubicBezTo>
                    <a:pt x="3" y="134"/>
                    <a:pt x="0" y="120"/>
                    <a:pt x="0" y="106"/>
                  </a:cubicBezTo>
                  <a:cubicBezTo>
                    <a:pt x="0" y="92"/>
                    <a:pt x="3" y="79"/>
                    <a:pt x="9" y="66"/>
                  </a:cubicBezTo>
                  <a:cubicBezTo>
                    <a:pt x="14" y="53"/>
                    <a:pt x="22" y="41"/>
                    <a:pt x="31" y="31"/>
                  </a:cubicBezTo>
                  <a:cubicBezTo>
                    <a:pt x="41" y="21"/>
                    <a:pt x="53" y="14"/>
                    <a:pt x="66" y="8"/>
                  </a:cubicBezTo>
                  <a:cubicBezTo>
                    <a:pt x="79" y="3"/>
                    <a:pt x="92" y="0"/>
                    <a:pt x="107" y="0"/>
                  </a:cubicBezTo>
                  <a:cubicBezTo>
                    <a:pt x="121" y="0"/>
                    <a:pt x="135" y="3"/>
                    <a:pt x="148" y="8"/>
                  </a:cubicBezTo>
                  <a:cubicBezTo>
                    <a:pt x="161" y="14"/>
                    <a:pt x="172" y="21"/>
                    <a:pt x="182" y="31"/>
                  </a:cubicBezTo>
                  <a:cubicBezTo>
                    <a:pt x="192" y="41"/>
                    <a:pt x="200" y="53"/>
                    <a:pt x="205" y="66"/>
                  </a:cubicBezTo>
                  <a:cubicBezTo>
                    <a:pt x="210" y="79"/>
                    <a:pt x="213" y="92"/>
                    <a:pt x="213" y="106"/>
                  </a:cubicBezTo>
                  <a:close/>
                </a:path>
              </a:pathLst>
            </a:custGeom>
            <a:solidFill>
              <a:srgbClr val="4A4A4A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" name="CuadroTexto 64"/>
            <p:cNvSpPr txBox="1"/>
            <p:nvPr/>
          </p:nvSpPr>
          <p:spPr>
            <a:xfrm>
              <a:off x="1123920" y="3554280"/>
              <a:ext cx="3786480" cy="270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¿Qué falta, y ese faltante tiene patrón?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Forma libre 65"/>
            <p:cNvSpPr/>
            <p:nvPr/>
          </p:nvSpPr>
          <p:spPr>
            <a:xfrm>
              <a:off x="914040" y="4466880"/>
              <a:ext cx="76680" cy="76680"/>
            </a:xfrm>
            <a:custGeom>
              <a:avLst/>
              <a:gdLst/>
              <a:ahLst/>
              <a:cxnLst/>
              <a:rect l="0" t="0" r="r" b="b"/>
              <a:pathLst>
                <a:path w="213" h="213">
                  <a:moveTo>
                    <a:pt x="213" y="106"/>
                  </a:moveTo>
                  <a:cubicBezTo>
                    <a:pt x="213" y="120"/>
                    <a:pt x="210" y="134"/>
                    <a:pt x="205" y="148"/>
                  </a:cubicBezTo>
                  <a:cubicBezTo>
                    <a:pt x="200" y="161"/>
                    <a:pt x="192" y="172"/>
                    <a:pt x="182" y="182"/>
                  </a:cubicBezTo>
                  <a:cubicBezTo>
                    <a:pt x="172" y="192"/>
                    <a:pt x="161" y="200"/>
                    <a:pt x="148" y="205"/>
                  </a:cubicBezTo>
                  <a:cubicBezTo>
                    <a:pt x="135" y="210"/>
                    <a:pt x="121" y="213"/>
                    <a:pt x="107" y="213"/>
                  </a:cubicBezTo>
                  <a:cubicBezTo>
                    <a:pt x="92" y="213"/>
                    <a:pt x="79" y="210"/>
                    <a:pt x="66" y="205"/>
                  </a:cubicBezTo>
                  <a:cubicBezTo>
                    <a:pt x="53" y="200"/>
                    <a:pt x="41" y="192"/>
                    <a:pt x="31" y="182"/>
                  </a:cubicBezTo>
                  <a:cubicBezTo>
                    <a:pt x="22" y="172"/>
                    <a:pt x="14" y="161"/>
                    <a:pt x="9" y="148"/>
                  </a:cubicBezTo>
                  <a:cubicBezTo>
                    <a:pt x="3" y="134"/>
                    <a:pt x="0" y="120"/>
                    <a:pt x="0" y="106"/>
                  </a:cubicBezTo>
                  <a:cubicBezTo>
                    <a:pt x="0" y="92"/>
                    <a:pt x="3" y="79"/>
                    <a:pt x="9" y="66"/>
                  </a:cubicBezTo>
                  <a:cubicBezTo>
                    <a:pt x="14" y="53"/>
                    <a:pt x="22" y="41"/>
                    <a:pt x="31" y="31"/>
                  </a:cubicBezTo>
                  <a:cubicBezTo>
                    <a:pt x="41" y="22"/>
                    <a:pt x="53" y="14"/>
                    <a:pt x="66" y="9"/>
                  </a:cubicBezTo>
                  <a:cubicBezTo>
                    <a:pt x="79" y="3"/>
                    <a:pt x="92" y="0"/>
                    <a:pt x="107" y="0"/>
                  </a:cubicBezTo>
                  <a:cubicBezTo>
                    <a:pt x="121" y="0"/>
                    <a:pt x="135" y="3"/>
                    <a:pt x="148" y="9"/>
                  </a:cubicBezTo>
                  <a:cubicBezTo>
                    <a:pt x="161" y="14"/>
                    <a:pt x="172" y="22"/>
                    <a:pt x="182" y="31"/>
                  </a:cubicBezTo>
                  <a:cubicBezTo>
                    <a:pt x="192" y="41"/>
                    <a:pt x="200" y="53"/>
                    <a:pt x="205" y="66"/>
                  </a:cubicBezTo>
                  <a:cubicBezTo>
                    <a:pt x="210" y="79"/>
                    <a:pt x="213" y="92"/>
                    <a:pt x="213" y="106"/>
                  </a:cubicBezTo>
                  <a:close/>
                </a:path>
              </a:pathLst>
            </a:custGeom>
            <a:solidFill>
              <a:srgbClr val="4A4A4A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CuadroTexto 66"/>
            <p:cNvSpPr txBox="1"/>
            <p:nvPr/>
          </p:nvSpPr>
          <p:spPr>
            <a:xfrm>
              <a:off x="1123920" y="3954240"/>
              <a:ext cx="4887360" cy="270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¿Hay algo imposible? ¿Algo demasiado perfecto?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" name="CuadroTexto 67"/>
            <p:cNvSpPr txBox="1"/>
            <p:nvPr/>
          </p:nvSpPr>
          <p:spPr>
            <a:xfrm>
              <a:off x="1123920" y="4354200"/>
              <a:ext cx="5459040" cy="270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¿Qué relaciones existen antes de que yo modele nada?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CuadroTexto 68"/>
            <p:cNvSpPr txBox="1"/>
            <p:nvPr/>
          </p:nvSpPr>
          <p:spPr>
            <a:xfrm>
              <a:off x="905040" y="4964040"/>
              <a:ext cx="8494954" cy="276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59636E"/>
                  </a:solidFill>
                  <a:effectLst/>
                  <a:uFillTx/>
                  <a:latin typeface="HelveticaNeue"/>
                  <a:ea typeface="HelveticaNeue"/>
                </a:rPr>
                <a:t>Si un EDA no cambió ninguna de tus suposiciones, probablemente no fue un EDA.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0" name="CuadroTexto 6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orma libre 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666720" y="890100"/>
            <a:ext cx="3542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cuarteto de </a:t>
            </a:r>
            <a:r>
              <a:rPr lang="es-ES" sz="2550" b="0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Anscombe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CuadroTexto 78"/>
          <p:cNvSpPr txBox="1"/>
          <p:nvPr/>
        </p:nvSpPr>
        <p:spPr>
          <a:xfrm>
            <a:off x="674654" y="1539423"/>
            <a:ext cx="8207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Cuatro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datasets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Idéntica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media, varianza, correlación (0.816) y recta de regresión.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CuadroTexto 83"/>
          <p:cNvSpPr txBox="1"/>
          <p:nvPr/>
        </p:nvSpPr>
        <p:spPr>
          <a:xfrm>
            <a:off x="4418280" y="30376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00" b="0" u="none" strike="noStrike">
                <a:solidFill>
                  <a:srgbClr val="4A4A4A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s-E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628336" y="4438863"/>
            <a:ext cx="10202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sin embargo: uno es lineal, otro curvo, otro tiene un atípico que domina la recta, y en el cuarto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x es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628336" y="4740853"/>
            <a:ext cx="3147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constante salvo en un punto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A085BC1-22BA-A650-9657-F40B5EA01481}"/>
              </a:ext>
            </a:extLst>
          </p:cNvPr>
          <p:cNvGrpSpPr/>
          <p:nvPr/>
        </p:nvGrpSpPr>
        <p:grpSpPr>
          <a:xfrm>
            <a:off x="580456" y="5143320"/>
            <a:ext cx="10858680" cy="1067040"/>
            <a:chOff x="666720" y="4143240"/>
            <a:chExt cx="10858680" cy="1067040"/>
          </a:xfrm>
        </p:grpSpPr>
        <p:sp>
          <p:nvSpPr>
            <p:cNvPr id="76" name="Forma libre 75"/>
            <p:cNvSpPr/>
            <p:nvPr/>
          </p:nvSpPr>
          <p:spPr>
            <a:xfrm>
              <a:off x="690480" y="4143240"/>
              <a:ext cx="10834920" cy="1067040"/>
            </a:xfrm>
            <a:custGeom>
              <a:avLst/>
              <a:gdLst/>
              <a:ahLst/>
              <a:cxnLst/>
              <a:rect l="0" t="0" r="r" b="b"/>
              <a:pathLst>
                <a:path w="30097" h="2964">
                  <a:moveTo>
                    <a:pt x="0" y="2964"/>
                  </a:moveTo>
                  <a:lnTo>
                    <a:pt x="0" y="0"/>
                  </a:lnTo>
                  <a:lnTo>
                    <a:pt x="29938" y="0"/>
                  </a:lnTo>
                  <a:cubicBezTo>
                    <a:pt x="29949" y="0"/>
                    <a:pt x="29959" y="1"/>
                    <a:pt x="29969" y="3"/>
                  </a:cubicBezTo>
                  <a:cubicBezTo>
                    <a:pt x="29980" y="5"/>
                    <a:pt x="29989" y="8"/>
                    <a:pt x="29999" y="12"/>
                  </a:cubicBezTo>
                  <a:cubicBezTo>
                    <a:pt x="30009" y="16"/>
                    <a:pt x="30018" y="21"/>
                    <a:pt x="30027" y="27"/>
                  </a:cubicBezTo>
                  <a:cubicBezTo>
                    <a:pt x="30035" y="32"/>
                    <a:pt x="30043" y="39"/>
                    <a:pt x="30051" y="46"/>
                  </a:cubicBezTo>
                  <a:cubicBezTo>
                    <a:pt x="30058" y="54"/>
                    <a:pt x="30065" y="62"/>
                    <a:pt x="30070" y="70"/>
                  </a:cubicBezTo>
                  <a:cubicBezTo>
                    <a:pt x="30076" y="79"/>
                    <a:pt x="30081" y="88"/>
                    <a:pt x="30085" y="98"/>
                  </a:cubicBezTo>
                  <a:cubicBezTo>
                    <a:pt x="30089" y="108"/>
                    <a:pt x="30092" y="117"/>
                    <a:pt x="30094" y="128"/>
                  </a:cubicBezTo>
                  <a:cubicBezTo>
                    <a:pt x="30096" y="138"/>
                    <a:pt x="30097" y="148"/>
                    <a:pt x="30097" y="159"/>
                  </a:cubicBezTo>
                  <a:lnTo>
                    <a:pt x="30097" y="2805"/>
                  </a:lnTo>
                  <a:cubicBezTo>
                    <a:pt x="30097" y="2816"/>
                    <a:pt x="30096" y="2826"/>
                    <a:pt x="30094" y="2836"/>
                  </a:cubicBezTo>
                  <a:cubicBezTo>
                    <a:pt x="30092" y="2847"/>
                    <a:pt x="30089" y="2857"/>
                    <a:pt x="30085" y="2866"/>
                  </a:cubicBezTo>
                  <a:cubicBezTo>
                    <a:pt x="30081" y="2876"/>
                    <a:pt x="30076" y="2885"/>
                    <a:pt x="30070" y="2894"/>
                  </a:cubicBezTo>
                  <a:cubicBezTo>
                    <a:pt x="30065" y="2902"/>
                    <a:pt x="30058" y="2910"/>
                    <a:pt x="30051" y="2918"/>
                  </a:cubicBezTo>
                  <a:cubicBezTo>
                    <a:pt x="30043" y="2925"/>
                    <a:pt x="30035" y="2932"/>
                    <a:pt x="30027" y="2937"/>
                  </a:cubicBezTo>
                  <a:cubicBezTo>
                    <a:pt x="30018" y="2943"/>
                    <a:pt x="30009" y="2948"/>
                    <a:pt x="29999" y="2952"/>
                  </a:cubicBezTo>
                  <a:cubicBezTo>
                    <a:pt x="29989" y="2956"/>
                    <a:pt x="29980" y="2959"/>
                    <a:pt x="29969" y="2961"/>
                  </a:cubicBezTo>
                  <a:cubicBezTo>
                    <a:pt x="29959" y="2963"/>
                    <a:pt x="29949" y="2964"/>
                    <a:pt x="29938" y="2964"/>
                  </a:cubicBezTo>
                  <a:lnTo>
                    <a:pt x="0" y="2964"/>
                  </a:lnTo>
                  <a:close/>
                </a:path>
              </a:pathLst>
            </a:custGeom>
            <a:solidFill>
              <a:srgbClr val="FFF6E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" name="Forma libre 76"/>
            <p:cNvSpPr/>
            <p:nvPr/>
          </p:nvSpPr>
          <p:spPr>
            <a:xfrm>
              <a:off x="666720" y="4143240"/>
              <a:ext cx="47880" cy="1067040"/>
            </a:xfrm>
            <a:custGeom>
              <a:avLst/>
              <a:gdLst/>
              <a:ahLst/>
              <a:cxnLst/>
              <a:rect l="0" t="0" r="r" b="b"/>
              <a:pathLst>
                <a:path w="133" h="2964">
                  <a:moveTo>
                    <a:pt x="0" y="0"/>
                  </a:moveTo>
                  <a:lnTo>
                    <a:pt x="133" y="0"/>
                  </a:lnTo>
                  <a:lnTo>
                    <a:pt x="133" y="2964"/>
                  </a:lnTo>
                  <a:lnTo>
                    <a:pt x="0" y="2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822B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s-E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" name="CuadroTexto 95"/>
            <p:cNvSpPr txBox="1"/>
            <p:nvPr/>
          </p:nvSpPr>
          <p:spPr>
            <a:xfrm>
              <a:off x="885960" y="4507580"/>
              <a:ext cx="9162765" cy="276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Muestra la importancia de visualizar los datos en lugar de solo confiar en los </a:t>
              </a:r>
              <a:r>
                <a:rPr lang="es-ES" sz="1800" b="0" u="none" strike="noStrike" dirty="0" err="1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estadisticos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8" name="CuadroTexto 9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42F7FC-427D-622D-5B46-9C7446470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2" y="2184929"/>
            <a:ext cx="3246361" cy="20383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15A196F-9300-91FA-5E4B-1C71026A1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707" y="2124914"/>
            <a:ext cx="3165534" cy="20961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81B24ED-5BB6-062A-D466-1066213EF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77" y="2297706"/>
            <a:ext cx="3012690" cy="207654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50D9D4A-AE48-08C6-5D52-606EBE75E7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091"/>
          <a:stretch/>
        </p:blipFill>
        <p:spPr>
          <a:xfrm>
            <a:off x="9322390" y="2255508"/>
            <a:ext cx="2762338" cy="20765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rma libre 1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676080" y="2114280"/>
            <a:ext cx="362160" cy="410040"/>
          </a:xfrm>
          <a:custGeom>
            <a:avLst/>
            <a:gdLst/>
            <a:ahLst/>
            <a:cxnLst/>
            <a:rect l="0" t="0" r="r" b="b"/>
            <a:pathLst>
              <a:path w="1006" h="1139">
                <a:moveTo>
                  <a:pt x="0" y="0"/>
                </a:moveTo>
                <a:lnTo>
                  <a:pt x="1006" y="0"/>
                </a:lnTo>
                <a:lnTo>
                  <a:pt x="10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1037880" y="2114280"/>
            <a:ext cx="3182040" cy="410040"/>
          </a:xfrm>
          <a:custGeom>
            <a:avLst/>
            <a:gdLst/>
            <a:ahLst/>
            <a:cxnLst/>
            <a:rect l="0" t="0" r="r" b="b"/>
            <a:pathLst>
              <a:path w="8839" h="1139">
                <a:moveTo>
                  <a:pt x="0" y="0"/>
                </a:moveTo>
                <a:lnTo>
                  <a:pt x="8839" y="0"/>
                </a:lnTo>
                <a:lnTo>
                  <a:pt x="883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4219560" y="2114280"/>
            <a:ext cx="2590920" cy="410040"/>
          </a:xfrm>
          <a:custGeom>
            <a:avLst/>
            <a:gdLst/>
            <a:ahLst/>
            <a:cxnLst/>
            <a:rect l="0" t="0" r="r" b="b"/>
            <a:pathLst>
              <a:path w="7197" h="1139">
                <a:moveTo>
                  <a:pt x="0" y="0"/>
                </a:moveTo>
                <a:lnTo>
                  <a:pt x="7197" y="0"/>
                </a:lnTo>
                <a:lnTo>
                  <a:pt x="719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676080" y="2114280"/>
            <a:ext cx="362160" cy="410040"/>
          </a:xfrm>
          <a:custGeom>
            <a:avLst/>
            <a:gdLst/>
            <a:ahLst/>
            <a:cxnLst/>
            <a:rect l="0" t="0" r="r" b="b"/>
            <a:pathLst>
              <a:path w="1006" h="1139">
                <a:moveTo>
                  <a:pt x="0" y="0"/>
                </a:moveTo>
                <a:lnTo>
                  <a:pt x="1006" y="0"/>
                </a:lnTo>
                <a:lnTo>
                  <a:pt x="10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1037880" y="2114280"/>
            <a:ext cx="3182040" cy="410040"/>
          </a:xfrm>
          <a:custGeom>
            <a:avLst/>
            <a:gdLst/>
            <a:ahLst/>
            <a:cxnLst/>
            <a:rect l="0" t="0" r="r" b="b"/>
            <a:pathLst>
              <a:path w="8839" h="1139">
                <a:moveTo>
                  <a:pt x="0" y="0"/>
                </a:moveTo>
                <a:lnTo>
                  <a:pt x="8839" y="0"/>
                </a:lnTo>
                <a:lnTo>
                  <a:pt x="883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4219560" y="2114280"/>
            <a:ext cx="2590920" cy="410040"/>
          </a:xfrm>
          <a:custGeom>
            <a:avLst/>
            <a:gdLst/>
            <a:ahLst/>
            <a:cxnLst/>
            <a:rect l="0" t="0" r="r" b="b"/>
            <a:pathLst>
              <a:path w="7197" h="1139">
                <a:moveTo>
                  <a:pt x="0" y="0"/>
                </a:moveTo>
                <a:lnTo>
                  <a:pt x="7197" y="0"/>
                </a:lnTo>
                <a:lnTo>
                  <a:pt x="719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676080" y="2523960"/>
            <a:ext cx="362160" cy="410040"/>
          </a:xfrm>
          <a:custGeom>
            <a:avLst/>
            <a:gdLst/>
            <a:ahLst/>
            <a:cxnLst/>
            <a:rect l="0" t="0" r="r" b="b"/>
            <a:pathLst>
              <a:path w="1006" h="1139">
                <a:moveTo>
                  <a:pt x="0" y="0"/>
                </a:moveTo>
                <a:lnTo>
                  <a:pt x="1006" y="0"/>
                </a:lnTo>
                <a:lnTo>
                  <a:pt x="10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1037880" y="2523960"/>
            <a:ext cx="3182040" cy="410040"/>
          </a:xfrm>
          <a:custGeom>
            <a:avLst/>
            <a:gdLst/>
            <a:ahLst/>
            <a:cxnLst/>
            <a:rect l="0" t="0" r="r" b="b"/>
            <a:pathLst>
              <a:path w="8839" h="1139">
                <a:moveTo>
                  <a:pt x="0" y="0"/>
                </a:moveTo>
                <a:lnTo>
                  <a:pt x="8839" y="0"/>
                </a:lnTo>
                <a:lnTo>
                  <a:pt x="883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4219560" y="2523960"/>
            <a:ext cx="2590920" cy="410040"/>
          </a:xfrm>
          <a:custGeom>
            <a:avLst/>
            <a:gdLst/>
            <a:ahLst/>
            <a:cxnLst/>
            <a:rect l="0" t="0" r="r" b="b"/>
            <a:pathLst>
              <a:path w="7197" h="1139">
                <a:moveTo>
                  <a:pt x="0" y="0"/>
                </a:moveTo>
                <a:lnTo>
                  <a:pt x="7197" y="0"/>
                </a:lnTo>
                <a:lnTo>
                  <a:pt x="719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676080" y="2933640"/>
            <a:ext cx="362160" cy="409680"/>
          </a:xfrm>
          <a:custGeom>
            <a:avLst/>
            <a:gdLst/>
            <a:ahLst/>
            <a:cxnLst/>
            <a:rect l="0" t="0" r="r" b="b"/>
            <a:pathLst>
              <a:path w="1006" h="1138">
                <a:moveTo>
                  <a:pt x="0" y="0"/>
                </a:moveTo>
                <a:lnTo>
                  <a:pt x="1006" y="0"/>
                </a:lnTo>
                <a:lnTo>
                  <a:pt x="100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1037880" y="2933640"/>
            <a:ext cx="3182040" cy="409680"/>
          </a:xfrm>
          <a:custGeom>
            <a:avLst/>
            <a:gdLst/>
            <a:ahLst/>
            <a:cxnLst/>
            <a:rect l="0" t="0" r="r" b="b"/>
            <a:pathLst>
              <a:path w="8839" h="1138">
                <a:moveTo>
                  <a:pt x="0" y="0"/>
                </a:moveTo>
                <a:lnTo>
                  <a:pt x="8839" y="0"/>
                </a:lnTo>
                <a:lnTo>
                  <a:pt x="883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4219560" y="2933640"/>
            <a:ext cx="2590920" cy="409680"/>
          </a:xfrm>
          <a:custGeom>
            <a:avLst/>
            <a:gdLst/>
            <a:ahLst/>
            <a:cxnLst/>
            <a:rect l="0" t="0" r="r" b="b"/>
            <a:pathLst>
              <a:path w="7197" h="1138">
                <a:moveTo>
                  <a:pt x="0" y="0"/>
                </a:moveTo>
                <a:lnTo>
                  <a:pt x="7197" y="0"/>
                </a:lnTo>
                <a:lnTo>
                  <a:pt x="719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676080" y="3342960"/>
            <a:ext cx="362160" cy="410040"/>
          </a:xfrm>
          <a:custGeom>
            <a:avLst/>
            <a:gdLst/>
            <a:ahLst/>
            <a:cxnLst/>
            <a:rect l="0" t="0" r="r" b="b"/>
            <a:pathLst>
              <a:path w="1006" h="1139">
                <a:moveTo>
                  <a:pt x="0" y="0"/>
                </a:moveTo>
                <a:lnTo>
                  <a:pt x="1006" y="0"/>
                </a:lnTo>
                <a:lnTo>
                  <a:pt x="10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1037880" y="3342960"/>
            <a:ext cx="3182040" cy="410040"/>
          </a:xfrm>
          <a:custGeom>
            <a:avLst/>
            <a:gdLst/>
            <a:ahLst/>
            <a:cxnLst/>
            <a:rect l="0" t="0" r="r" b="b"/>
            <a:pathLst>
              <a:path w="8839" h="1139">
                <a:moveTo>
                  <a:pt x="0" y="0"/>
                </a:moveTo>
                <a:lnTo>
                  <a:pt x="8839" y="0"/>
                </a:lnTo>
                <a:lnTo>
                  <a:pt x="883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4219560" y="3342960"/>
            <a:ext cx="2590920" cy="410040"/>
          </a:xfrm>
          <a:custGeom>
            <a:avLst/>
            <a:gdLst/>
            <a:ahLst/>
            <a:cxnLst/>
            <a:rect l="0" t="0" r="r" b="b"/>
            <a:pathLst>
              <a:path w="7197" h="1139">
                <a:moveTo>
                  <a:pt x="0" y="0"/>
                </a:moveTo>
                <a:lnTo>
                  <a:pt x="7197" y="0"/>
                </a:lnTo>
                <a:lnTo>
                  <a:pt x="719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676080" y="3752640"/>
            <a:ext cx="362160" cy="410040"/>
          </a:xfrm>
          <a:custGeom>
            <a:avLst/>
            <a:gdLst/>
            <a:ahLst/>
            <a:cxnLst/>
            <a:rect l="0" t="0" r="r" b="b"/>
            <a:pathLst>
              <a:path w="1006" h="1139">
                <a:moveTo>
                  <a:pt x="0" y="0"/>
                </a:moveTo>
                <a:lnTo>
                  <a:pt x="1006" y="0"/>
                </a:lnTo>
                <a:lnTo>
                  <a:pt x="10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1037880" y="3752640"/>
            <a:ext cx="3182040" cy="410040"/>
          </a:xfrm>
          <a:custGeom>
            <a:avLst/>
            <a:gdLst/>
            <a:ahLst/>
            <a:cxnLst/>
            <a:rect l="0" t="0" r="r" b="b"/>
            <a:pathLst>
              <a:path w="8839" h="1139">
                <a:moveTo>
                  <a:pt x="0" y="0"/>
                </a:moveTo>
                <a:lnTo>
                  <a:pt x="8839" y="0"/>
                </a:lnTo>
                <a:lnTo>
                  <a:pt x="883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4219560" y="3752640"/>
            <a:ext cx="2590920" cy="410040"/>
          </a:xfrm>
          <a:custGeom>
            <a:avLst/>
            <a:gdLst/>
            <a:ahLst/>
            <a:cxnLst/>
            <a:rect l="0" t="0" r="r" b="b"/>
            <a:pathLst>
              <a:path w="7197" h="1139">
                <a:moveTo>
                  <a:pt x="0" y="0"/>
                </a:moveTo>
                <a:lnTo>
                  <a:pt x="7197" y="0"/>
                </a:lnTo>
                <a:lnTo>
                  <a:pt x="719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676080" y="4162320"/>
            <a:ext cx="362160" cy="409680"/>
          </a:xfrm>
          <a:custGeom>
            <a:avLst/>
            <a:gdLst/>
            <a:ahLst/>
            <a:cxnLst/>
            <a:rect l="0" t="0" r="r" b="b"/>
            <a:pathLst>
              <a:path w="1006" h="1138">
                <a:moveTo>
                  <a:pt x="0" y="0"/>
                </a:moveTo>
                <a:lnTo>
                  <a:pt x="1006" y="0"/>
                </a:lnTo>
                <a:lnTo>
                  <a:pt x="100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1037880" y="4162320"/>
            <a:ext cx="3182040" cy="409680"/>
          </a:xfrm>
          <a:custGeom>
            <a:avLst/>
            <a:gdLst/>
            <a:ahLst/>
            <a:cxnLst/>
            <a:rect l="0" t="0" r="r" b="b"/>
            <a:pathLst>
              <a:path w="8839" h="1138">
                <a:moveTo>
                  <a:pt x="0" y="0"/>
                </a:moveTo>
                <a:lnTo>
                  <a:pt x="8839" y="0"/>
                </a:lnTo>
                <a:lnTo>
                  <a:pt x="883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4219560" y="4162320"/>
            <a:ext cx="2590920" cy="409680"/>
          </a:xfrm>
          <a:custGeom>
            <a:avLst/>
            <a:gdLst/>
            <a:ahLst/>
            <a:cxnLst/>
            <a:rect l="0" t="0" r="r" b="b"/>
            <a:pathLst>
              <a:path w="7197" h="1138">
                <a:moveTo>
                  <a:pt x="0" y="0"/>
                </a:moveTo>
                <a:lnTo>
                  <a:pt x="7197" y="0"/>
                </a:lnTo>
                <a:lnTo>
                  <a:pt x="719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676080" y="4571640"/>
            <a:ext cx="362160" cy="410040"/>
          </a:xfrm>
          <a:custGeom>
            <a:avLst/>
            <a:gdLst/>
            <a:ahLst/>
            <a:cxnLst/>
            <a:rect l="0" t="0" r="r" b="b"/>
            <a:pathLst>
              <a:path w="1006" h="1139">
                <a:moveTo>
                  <a:pt x="0" y="0"/>
                </a:moveTo>
                <a:lnTo>
                  <a:pt x="1006" y="0"/>
                </a:lnTo>
                <a:lnTo>
                  <a:pt x="10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1037880" y="4571640"/>
            <a:ext cx="3182040" cy="410040"/>
          </a:xfrm>
          <a:custGeom>
            <a:avLst/>
            <a:gdLst/>
            <a:ahLst/>
            <a:cxnLst/>
            <a:rect l="0" t="0" r="r" b="b"/>
            <a:pathLst>
              <a:path w="8839" h="1139">
                <a:moveTo>
                  <a:pt x="0" y="0"/>
                </a:moveTo>
                <a:lnTo>
                  <a:pt x="8839" y="0"/>
                </a:lnTo>
                <a:lnTo>
                  <a:pt x="883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4219560" y="4571640"/>
            <a:ext cx="2590920" cy="410040"/>
          </a:xfrm>
          <a:custGeom>
            <a:avLst/>
            <a:gdLst/>
            <a:ahLst/>
            <a:cxnLst/>
            <a:rect l="0" t="0" r="r" b="b"/>
            <a:pathLst>
              <a:path w="7197" h="1139">
                <a:moveTo>
                  <a:pt x="0" y="0"/>
                </a:moveTo>
                <a:lnTo>
                  <a:pt x="7197" y="0"/>
                </a:lnTo>
                <a:lnTo>
                  <a:pt x="719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676080" y="4981320"/>
            <a:ext cx="362160" cy="410040"/>
          </a:xfrm>
          <a:custGeom>
            <a:avLst/>
            <a:gdLst/>
            <a:ahLst/>
            <a:cxnLst/>
            <a:rect l="0" t="0" r="r" b="b"/>
            <a:pathLst>
              <a:path w="1006" h="1139">
                <a:moveTo>
                  <a:pt x="0" y="0"/>
                </a:moveTo>
                <a:lnTo>
                  <a:pt x="1006" y="0"/>
                </a:lnTo>
                <a:lnTo>
                  <a:pt x="10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orma libre 128"/>
          <p:cNvSpPr/>
          <p:nvPr/>
        </p:nvSpPr>
        <p:spPr>
          <a:xfrm>
            <a:off x="1037880" y="4981320"/>
            <a:ext cx="3182040" cy="410040"/>
          </a:xfrm>
          <a:custGeom>
            <a:avLst/>
            <a:gdLst/>
            <a:ahLst/>
            <a:cxnLst/>
            <a:rect l="0" t="0" r="r" b="b"/>
            <a:pathLst>
              <a:path w="8839" h="1139">
                <a:moveTo>
                  <a:pt x="0" y="0"/>
                </a:moveTo>
                <a:lnTo>
                  <a:pt x="8839" y="0"/>
                </a:lnTo>
                <a:lnTo>
                  <a:pt x="883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4219560" y="4981320"/>
            <a:ext cx="2590920" cy="410040"/>
          </a:xfrm>
          <a:custGeom>
            <a:avLst/>
            <a:gdLst/>
            <a:ahLst/>
            <a:cxnLst/>
            <a:rect l="0" t="0" r="r" b="b"/>
            <a:pathLst>
              <a:path w="7197" h="1139">
                <a:moveTo>
                  <a:pt x="0" y="0"/>
                </a:moveTo>
                <a:lnTo>
                  <a:pt x="7197" y="0"/>
                </a:lnTo>
                <a:lnTo>
                  <a:pt x="719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666720" y="2114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666720" y="2114280"/>
            <a:ext cx="371520" cy="10080"/>
          </a:xfrm>
          <a:custGeom>
            <a:avLst/>
            <a:gdLst/>
            <a:ahLst/>
            <a:cxnLst/>
            <a:rect l="0" t="0" r="r" b="b"/>
            <a:pathLst>
              <a:path w="1032" h="28">
                <a:moveTo>
                  <a:pt x="0" y="0"/>
                </a:moveTo>
                <a:lnTo>
                  <a:pt x="1032" y="0"/>
                </a:lnTo>
                <a:lnTo>
                  <a:pt x="10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1028520" y="2114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1037880" y="2114280"/>
            <a:ext cx="3191400" cy="10080"/>
          </a:xfrm>
          <a:custGeom>
            <a:avLst/>
            <a:gdLst/>
            <a:ahLst/>
            <a:cxn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4219560" y="2114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4228920" y="2114280"/>
            <a:ext cx="2581560" cy="10080"/>
          </a:xfrm>
          <a:custGeom>
            <a:avLst/>
            <a:gdLst/>
            <a:ahLst/>
            <a:cxn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6800760" y="2114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666720" y="2523960"/>
            <a:ext cx="371520" cy="9720"/>
          </a:xfrm>
          <a:custGeom>
            <a:avLst/>
            <a:gdLst/>
            <a:ahLst/>
            <a:cxnLst/>
            <a:rect l="0" t="0" r="r" b="b"/>
            <a:pathLst>
              <a:path w="1032" h="27">
                <a:moveTo>
                  <a:pt x="0" y="0"/>
                </a:moveTo>
                <a:lnTo>
                  <a:pt x="1032" y="0"/>
                </a:lnTo>
                <a:lnTo>
                  <a:pt x="10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a libre 138"/>
          <p:cNvSpPr/>
          <p:nvPr/>
        </p:nvSpPr>
        <p:spPr>
          <a:xfrm>
            <a:off x="1037880" y="2523960"/>
            <a:ext cx="3191400" cy="9720"/>
          </a:xfrm>
          <a:custGeom>
            <a:avLst/>
            <a:gdLst/>
            <a:ahLst/>
            <a:cxn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4228920" y="2523960"/>
            <a:ext cx="2581560" cy="9720"/>
          </a:xfrm>
          <a:custGeom>
            <a:avLst/>
            <a:gdLst/>
            <a:ahLst/>
            <a:cxnLst/>
            <a:rect l="0" t="0" r="r" b="b"/>
            <a:pathLst>
              <a:path w="7171" h="27">
                <a:moveTo>
                  <a:pt x="0" y="0"/>
                </a:moveTo>
                <a:lnTo>
                  <a:pt x="7171" y="0"/>
                </a:lnTo>
                <a:lnTo>
                  <a:pt x="7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666720" y="2533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1028520" y="2533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4219560" y="2533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orma libre 143"/>
          <p:cNvSpPr/>
          <p:nvPr/>
        </p:nvSpPr>
        <p:spPr>
          <a:xfrm>
            <a:off x="6800760" y="2533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Forma libre 144"/>
          <p:cNvSpPr/>
          <p:nvPr/>
        </p:nvSpPr>
        <p:spPr>
          <a:xfrm>
            <a:off x="666720" y="2943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orma libre 145"/>
          <p:cNvSpPr/>
          <p:nvPr/>
        </p:nvSpPr>
        <p:spPr>
          <a:xfrm>
            <a:off x="666720" y="2933640"/>
            <a:ext cx="371520" cy="9720"/>
          </a:xfrm>
          <a:custGeom>
            <a:avLst/>
            <a:gdLst/>
            <a:ahLst/>
            <a:cxnLst/>
            <a:rect l="0" t="0" r="r" b="b"/>
            <a:pathLst>
              <a:path w="1032" h="27">
                <a:moveTo>
                  <a:pt x="0" y="0"/>
                </a:moveTo>
                <a:lnTo>
                  <a:pt x="1032" y="0"/>
                </a:lnTo>
                <a:lnTo>
                  <a:pt x="10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1028520" y="2943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1037880" y="2933640"/>
            <a:ext cx="3191400" cy="9720"/>
          </a:xfrm>
          <a:custGeom>
            <a:avLst/>
            <a:gdLst/>
            <a:ahLst/>
            <a:cxn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Forma libre 148"/>
          <p:cNvSpPr/>
          <p:nvPr/>
        </p:nvSpPr>
        <p:spPr>
          <a:xfrm>
            <a:off x="4219560" y="2943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4228920" y="2933640"/>
            <a:ext cx="2581560" cy="9720"/>
          </a:xfrm>
          <a:custGeom>
            <a:avLst/>
            <a:gdLst/>
            <a:ahLst/>
            <a:cxnLst/>
            <a:rect l="0" t="0" r="r" b="b"/>
            <a:pathLst>
              <a:path w="7171" h="27">
                <a:moveTo>
                  <a:pt x="0" y="0"/>
                </a:moveTo>
                <a:lnTo>
                  <a:pt x="7171" y="0"/>
                </a:lnTo>
                <a:lnTo>
                  <a:pt x="7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6800760" y="2943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orma libre 151"/>
          <p:cNvSpPr/>
          <p:nvPr/>
        </p:nvSpPr>
        <p:spPr>
          <a:xfrm>
            <a:off x="66672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a libre 152"/>
          <p:cNvSpPr/>
          <p:nvPr/>
        </p:nvSpPr>
        <p:spPr>
          <a:xfrm>
            <a:off x="666720" y="3342960"/>
            <a:ext cx="371520" cy="10080"/>
          </a:xfrm>
          <a:custGeom>
            <a:avLst/>
            <a:gdLst/>
            <a:ahLst/>
            <a:cxnLst/>
            <a:rect l="0" t="0" r="r" b="b"/>
            <a:pathLst>
              <a:path w="1032" h="28">
                <a:moveTo>
                  <a:pt x="0" y="0"/>
                </a:moveTo>
                <a:lnTo>
                  <a:pt x="1032" y="0"/>
                </a:lnTo>
                <a:lnTo>
                  <a:pt x="10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102852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1037880" y="3342960"/>
            <a:ext cx="3191400" cy="10080"/>
          </a:xfrm>
          <a:custGeom>
            <a:avLst/>
            <a:gdLst/>
            <a:ahLst/>
            <a:cxn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421956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4228920" y="3342960"/>
            <a:ext cx="2581560" cy="10080"/>
          </a:xfrm>
          <a:custGeom>
            <a:avLst/>
            <a:gdLst/>
            <a:ahLst/>
            <a:cxn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680076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66672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666720" y="3752640"/>
            <a:ext cx="371520" cy="10080"/>
          </a:xfrm>
          <a:custGeom>
            <a:avLst/>
            <a:gdLst/>
            <a:ahLst/>
            <a:cxnLst/>
            <a:rect l="0" t="0" r="r" b="b"/>
            <a:pathLst>
              <a:path w="1032" h="28">
                <a:moveTo>
                  <a:pt x="0" y="0"/>
                </a:moveTo>
                <a:lnTo>
                  <a:pt x="1032" y="0"/>
                </a:lnTo>
                <a:lnTo>
                  <a:pt x="10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102852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1037880" y="3752640"/>
            <a:ext cx="3191400" cy="10080"/>
          </a:xfrm>
          <a:custGeom>
            <a:avLst/>
            <a:gdLst/>
            <a:ahLst/>
            <a:cxn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421956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4228920" y="3752640"/>
            <a:ext cx="2581560" cy="10080"/>
          </a:xfrm>
          <a:custGeom>
            <a:avLst/>
            <a:gdLst/>
            <a:ahLst/>
            <a:cxn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680076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666720" y="4171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666720" y="4162320"/>
            <a:ext cx="371520" cy="9720"/>
          </a:xfrm>
          <a:custGeom>
            <a:avLst/>
            <a:gdLst/>
            <a:ahLst/>
            <a:cxnLst/>
            <a:rect l="0" t="0" r="r" b="b"/>
            <a:pathLst>
              <a:path w="1032" h="27">
                <a:moveTo>
                  <a:pt x="0" y="0"/>
                </a:moveTo>
                <a:lnTo>
                  <a:pt x="1032" y="0"/>
                </a:lnTo>
                <a:lnTo>
                  <a:pt x="10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1028520" y="4171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1037880" y="4162320"/>
            <a:ext cx="3191400" cy="9720"/>
          </a:xfrm>
          <a:custGeom>
            <a:avLst/>
            <a:gdLst/>
            <a:ahLst/>
            <a:cxn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a libre 169"/>
          <p:cNvSpPr/>
          <p:nvPr/>
        </p:nvSpPr>
        <p:spPr>
          <a:xfrm>
            <a:off x="4219560" y="4171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4228920" y="4162320"/>
            <a:ext cx="2581560" cy="9720"/>
          </a:xfrm>
          <a:custGeom>
            <a:avLst/>
            <a:gdLst/>
            <a:ahLst/>
            <a:cxnLst/>
            <a:rect l="0" t="0" r="r" b="b"/>
            <a:pathLst>
              <a:path w="7171" h="27">
                <a:moveTo>
                  <a:pt x="0" y="0"/>
                </a:moveTo>
                <a:lnTo>
                  <a:pt x="7171" y="0"/>
                </a:lnTo>
                <a:lnTo>
                  <a:pt x="7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6800760" y="4171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666720" y="4581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orma libre 173"/>
          <p:cNvSpPr/>
          <p:nvPr/>
        </p:nvSpPr>
        <p:spPr>
          <a:xfrm>
            <a:off x="666720" y="4571640"/>
            <a:ext cx="371520" cy="10080"/>
          </a:xfrm>
          <a:custGeom>
            <a:avLst/>
            <a:gdLst/>
            <a:ahLst/>
            <a:cxnLst/>
            <a:rect l="0" t="0" r="r" b="b"/>
            <a:pathLst>
              <a:path w="1032" h="28">
                <a:moveTo>
                  <a:pt x="0" y="0"/>
                </a:moveTo>
                <a:lnTo>
                  <a:pt x="1032" y="0"/>
                </a:lnTo>
                <a:lnTo>
                  <a:pt x="10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1028520" y="4581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1037880" y="4571640"/>
            <a:ext cx="3191400" cy="10080"/>
          </a:xfrm>
          <a:custGeom>
            <a:avLst/>
            <a:gdLst/>
            <a:ahLst/>
            <a:cxn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4219560" y="4581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4228920" y="4571640"/>
            <a:ext cx="2581560" cy="10080"/>
          </a:xfrm>
          <a:custGeom>
            <a:avLst/>
            <a:gdLst/>
            <a:ahLst/>
            <a:cxn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orma libre 178"/>
          <p:cNvSpPr/>
          <p:nvPr/>
        </p:nvSpPr>
        <p:spPr>
          <a:xfrm>
            <a:off x="6800760" y="4581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666720" y="499104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666720" y="4981320"/>
            <a:ext cx="371520" cy="10080"/>
          </a:xfrm>
          <a:custGeom>
            <a:avLst/>
            <a:gdLst/>
            <a:ahLst/>
            <a:cxnLst/>
            <a:rect l="0" t="0" r="r" b="b"/>
            <a:pathLst>
              <a:path w="1032" h="28">
                <a:moveTo>
                  <a:pt x="0" y="0"/>
                </a:moveTo>
                <a:lnTo>
                  <a:pt x="1032" y="0"/>
                </a:lnTo>
                <a:lnTo>
                  <a:pt x="10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1028520" y="499104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orma libre 182"/>
          <p:cNvSpPr/>
          <p:nvPr/>
        </p:nvSpPr>
        <p:spPr>
          <a:xfrm>
            <a:off x="1037880" y="4981320"/>
            <a:ext cx="3191400" cy="10080"/>
          </a:xfrm>
          <a:custGeom>
            <a:avLst/>
            <a:gdLst/>
            <a:ahLst/>
            <a:cxn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orma libre 183"/>
          <p:cNvSpPr/>
          <p:nvPr/>
        </p:nvSpPr>
        <p:spPr>
          <a:xfrm>
            <a:off x="4219560" y="499104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4228920" y="4981320"/>
            <a:ext cx="2581560" cy="10080"/>
          </a:xfrm>
          <a:custGeom>
            <a:avLst/>
            <a:gdLst/>
            <a:ahLst/>
            <a:cxn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6800760" y="499104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666720" y="5391000"/>
            <a:ext cx="371520" cy="9720"/>
          </a:xfrm>
          <a:custGeom>
            <a:avLst/>
            <a:gdLst/>
            <a:ahLst/>
            <a:cxnLst/>
            <a:rect l="0" t="0" r="r" b="b"/>
            <a:pathLst>
              <a:path w="1032" h="27">
                <a:moveTo>
                  <a:pt x="0" y="0"/>
                </a:moveTo>
                <a:lnTo>
                  <a:pt x="1032" y="0"/>
                </a:lnTo>
                <a:lnTo>
                  <a:pt x="10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orma libre 187"/>
          <p:cNvSpPr/>
          <p:nvPr/>
        </p:nvSpPr>
        <p:spPr>
          <a:xfrm>
            <a:off x="1037880" y="5391000"/>
            <a:ext cx="3191400" cy="9720"/>
          </a:xfrm>
          <a:custGeom>
            <a:avLst/>
            <a:gdLst/>
            <a:ahLst/>
            <a:cxn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orma libre 188"/>
          <p:cNvSpPr/>
          <p:nvPr/>
        </p:nvSpPr>
        <p:spPr>
          <a:xfrm>
            <a:off x="4228920" y="5391000"/>
            <a:ext cx="2581560" cy="9720"/>
          </a:xfrm>
          <a:custGeom>
            <a:avLst/>
            <a:gdLst/>
            <a:ahLst/>
            <a:cxnLst/>
            <a:rect l="0" t="0" r="r" b="b"/>
            <a:pathLst>
              <a:path w="7171" h="27">
                <a:moveTo>
                  <a:pt x="0" y="0"/>
                </a:moveTo>
                <a:lnTo>
                  <a:pt x="7171" y="0"/>
                </a:lnTo>
                <a:lnTo>
                  <a:pt x="7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666720" y="1472760"/>
            <a:ext cx="2429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Checklist de EDA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799920" y="2219040"/>
            <a:ext cx="190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#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CuadroTexto 191"/>
          <p:cNvSpPr txBox="1"/>
          <p:nvPr/>
        </p:nvSpPr>
        <p:spPr>
          <a:xfrm>
            <a:off x="2214720" y="2219040"/>
            <a:ext cx="829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Pregunta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5132160" y="2219040"/>
            <a:ext cx="762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CuadroTexto 193"/>
          <p:cNvSpPr txBox="1"/>
          <p:nvPr/>
        </p:nvSpPr>
        <p:spPr>
          <a:xfrm>
            <a:off x="799920" y="26190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4352760" y="262872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3"/>
                  <a:pt x="1602" y="8"/>
                </a:cubicBezTo>
                <a:cubicBezTo>
                  <a:pt x="1615" y="13"/>
                  <a:pt x="1627" y="21"/>
                  <a:pt x="1637" y="31"/>
                </a:cubicBezTo>
                <a:cubicBezTo>
                  <a:pt x="1647" y="41"/>
                  <a:pt x="1654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29"/>
                </a:lnTo>
                <a:cubicBezTo>
                  <a:pt x="1668" y="543"/>
                  <a:pt x="1665" y="557"/>
                  <a:pt x="1660" y="570"/>
                </a:cubicBezTo>
                <a:cubicBezTo>
                  <a:pt x="1654" y="583"/>
                  <a:pt x="1647" y="594"/>
                  <a:pt x="1637" y="604"/>
                </a:cubicBezTo>
                <a:cubicBezTo>
                  <a:pt x="1627" y="614"/>
                  <a:pt x="1615" y="622"/>
                  <a:pt x="1602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4"/>
                  <a:pt x="31" y="604"/>
                </a:cubicBezTo>
                <a:cubicBezTo>
                  <a:pt x="21" y="594"/>
                  <a:pt x="13" y="583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CuadroTexto 195"/>
          <p:cNvSpPr txBox="1"/>
          <p:nvPr/>
        </p:nvSpPr>
        <p:spPr>
          <a:xfrm>
            <a:off x="1163160" y="2619000"/>
            <a:ext cx="2474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forma y qué tipos tiene?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CuadroTexto 196"/>
          <p:cNvSpPr txBox="1"/>
          <p:nvPr/>
        </p:nvSpPr>
        <p:spPr>
          <a:xfrm>
            <a:off x="4406400" y="264996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shape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5057640" y="262872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26" y="0"/>
                </a:lnTo>
                <a:cubicBezTo>
                  <a:pt x="1841" y="0"/>
                  <a:pt x="1854" y="3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2"/>
                  <a:pt x="1932" y="106"/>
                </a:cubicBezTo>
                <a:lnTo>
                  <a:pt x="1932" y="529"/>
                </a:lnTo>
                <a:cubicBezTo>
                  <a:pt x="1932" y="543"/>
                  <a:pt x="1930" y="557"/>
                  <a:pt x="1924" y="570"/>
                </a:cubicBezTo>
                <a:cubicBezTo>
                  <a:pt x="1919" y="583"/>
                  <a:pt x="1911" y="594"/>
                  <a:pt x="1901" y="604"/>
                </a:cubicBezTo>
                <a:cubicBezTo>
                  <a:pt x="1891" y="614"/>
                  <a:pt x="1880" y="622"/>
                  <a:pt x="1867" y="628"/>
                </a:cubicBezTo>
                <a:cubicBezTo>
                  <a:pt x="1854" y="633"/>
                  <a:pt x="1841" y="636"/>
                  <a:pt x="182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4"/>
                  <a:pt x="31" y="604"/>
                </a:cubicBezTo>
                <a:cubicBezTo>
                  <a:pt x="21" y="594"/>
                  <a:pt x="13" y="583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4951080" y="26190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CuadroTexto 199"/>
          <p:cNvSpPr txBox="1"/>
          <p:nvPr/>
        </p:nvSpPr>
        <p:spPr>
          <a:xfrm>
            <a:off x="5114160" y="264996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dtypes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5857560" y="2628720"/>
            <a:ext cx="505440" cy="228960"/>
          </a:xfrm>
          <a:custGeom>
            <a:avLst/>
            <a:gdLst/>
            <a:ahLst/>
            <a:cxnLst/>
            <a:rect l="0" t="0" r="r" b="b"/>
            <a:pathLst>
              <a:path w="1404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298" y="0"/>
                </a:lnTo>
                <a:cubicBezTo>
                  <a:pt x="1312" y="0"/>
                  <a:pt x="1325" y="3"/>
                  <a:pt x="1338" y="8"/>
                </a:cubicBezTo>
                <a:cubicBezTo>
                  <a:pt x="1351" y="13"/>
                  <a:pt x="1363" y="21"/>
                  <a:pt x="1373" y="31"/>
                </a:cubicBezTo>
                <a:cubicBezTo>
                  <a:pt x="1383" y="41"/>
                  <a:pt x="1390" y="52"/>
                  <a:pt x="1396" y="65"/>
                </a:cubicBezTo>
                <a:cubicBezTo>
                  <a:pt x="1401" y="78"/>
                  <a:pt x="1404" y="92"/>
                  <a:pt x="1404" y="106"/>
                </a:cubicBezTo>
                <a:lnTo>
                  <a:pt x="1404" y="529"/>
                </a:lnTo>
                <a:cubicBezTo>
                  <a:pt x="1404" y="543"/>
                  <a:pt x="1401" y="557"/>
                  <a:pt x="1396" y="570"/>
                </a:cubicBezTo>
                <a:cubicBezTo>
                  <a:pt x="1390" y="583"/>
                  <a:pt x="1383" y="594"/>
                  <a:pt x="1373" y="604"/>
                </a:cubicBezTo>
                <a:cubicBezTo>
                  <a:pt x="1363" y="614"/>
                  <a:pt x="1351" y="622"/>
                  <a:pt x="1338" y="628"/>
                </a:cubicBezTo>
                <a:cubicBezTo>
                  <a:pt x="1325" y="633"/>
                  <a:pt x="1312" y="636"/>
                  <a:pt x="1298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4"/>
                  <a:pt x="31" y="604"/>
                </a:cubicBezTo>
                <a:cubicBezTo>
                  <a:pt x="21" y="594"/>
                  <a:pt x="14" y="583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CuadroTexto 201"/>
          <p:cNvSpPr txBox="1"/>
          <p:nvPr/>
        </p:nvSpPr>
        <p:spPr>
          <a:xfrm>
            <a:off x="5756400" y="26190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CuadroTexto 202"/>
          <p:cNvSpPr txBox="1"/>
          <p:nvPr/>
        </p:nvSpPr>
        <p:spPr>
          <a:xfrm>
            <a:off x="5919480" y="264996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info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203"/>
          <p:cNvSpPr txBox="1"/>
          <p:nvPr/>
        </p:nvSpPr>
        <p:spPr>
          <a:xfrm>
            <a:off x="799920" y="30286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CuadroTexto 204"/>
          <p:cNvSpPr txBox="1"/>
          <p:nvPr/>
        </p:nvSpPr>
        <p:spPr>
          <a:xfrm>
            <a:off x="1163160" y="3028680"/>
            <a:ext cx="2389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falta y con qué patrón?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4349160" y="3028680"/>
            <a:ext cx="78547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Heatmap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CuadroTexto 206"/>
          <p:cNvSpPr txBox="1"/>
          <p:nvPr/>
        </p:nvSpPr>
        <p:spPr>
          <a:xfrm>
            <a:off x="799920" y="34380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CuadroTexto 207"/>
          <p:cNvSpPr txBox="1"/>
          <p:nvPr/>
        </p:nvSpPr>
        <p:spPr>
          <a:xfrm>
            <a:off x="1163160" y="3438000"/>
            <a:ext cx="2929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¿Cómo se distribuye cada variable?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CuadroTexto 208"/>
          <p:cNvSpPr txBox="1"/>
          <p:nvPr/>
        </p:nvSpPr>
        <p:spPr>
          <a:xfrm>
            <a:off x="4349160" y="3438000"/>
            <a:ext cx="2144818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histograma, </a:t>
            </a:r>
            <a:r>
              <a:rPr lang="es-ES" sz="15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boxplot</a:t>
            </a:r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etc.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CuadroTexto 209"/>
          <p:cNvSpPr txBox="1"/>
          <p:nvPr/>
        </p:nvSpPr>
        <p:spPr>
          <a:xfrm>
            <a:off x="799920" y="38476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CuadroTexto 210"/>
          <p:cNvSpPr txBox="1"/>
          <p:nvPr/>
        </p:nvSpPr>
        <p:spPr>
          <a:xfrm>
            <a:off x="1163160" y="3847680"/>
            <a:ext cx="2082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¿Hay valores imposibles?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CuadroTexto 211"/>
          <p:cNvSpPr txBox="1"/>
          <p:nvPr/>
        </p:nvSpPr>
        <p:spPr>
          <a:xfrm>
            <a:off x="4349160" y="3847680"/>
            <a:ext cx="2329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rangos ﬁsiológicos, mín/máx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CuadroTexto 212"/>
          <p:cNvSpPr txBox="1"/>
          <p:nvPr/>
        </p:nvSpPr>
        <p:spPr>
          <a:xfrm>
            <a:off x="799920" y="425736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1163160" y="4257360"/>
            <a:ext cx="2491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¿Cómo se relacionan entre sí?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4349160" y="4257360"/>
            <a:ext cx="1846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dispersión, correlación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CuadroTexto 215"/>
          <p:cNvSpPr txBox="1"/>
          <p:nvPr/>
        </p:nvSpPr>
        <p:spPr>
          <a:xfrm>
            <a:off x="799920" y="46670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CuadroTexto 216"/>
          <p:cNvSpPr txBox="1"/>
          <p:nvPr/>
        </p:nvSpPr>
        <p:spPr>
          <a:xfrm>
            <a:off x="1163160" y="4667040"/>
            <a:ext cx="2728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¿Cambia con el tiempo o el sitio?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CuadroTexto 217"/>
          <p:cNvSpPr txBox="1"/>
          <p:nvPr/>
        </p:nvSpPr>
        <p:spPr>
          <a:xfrm>
            <a:off x="4349160" y="4667040"/>
            <a:ext cx="1299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series, facetado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CuadroTexto 218"/>
          <p:cNvSpPr txBox="1"/>
          <p:nvPr/>
        </p:nvSpPr>
        <p:spPr>
          <a:xfrm>
            <a:off x="799920" y="507636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CuadroTexto 219"/>
          <p:cNvSpPr txBox="1"/>
          <p:nvPr/>
        </p:nvSpPr>
        <p:spPr>
          <a:xfrm>
            <a:off x="1037880" y="5069268"/>
            <a:ext cx="3223639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dirty="0">
                <a:solidFill>
                  <a:srgbClr val="4A4A4A"/>
                </a:solidFill>
                <a:latin typeface="HelveticaNeue"/>
                <a:ea typeface="HelveticaNeue"/>
              </a:rPr>
              <a:t>¿Hay datos suficientes para explicar?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4349160" y="5076360"/>
            <a:ext cx="1976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fechas relativas al índice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CuadroTexto 2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C8E24E9-E691-8378-417D-B547FD317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383"/>
            <a:ext cx="2837526" cy="22808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EDF87E0-B676-64D6-36A2-672CD12B8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644" y="192399"/>
            <a:ext cx="2769643" cy="2312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58C2F7B-4BE0-799F-ECCF-9710DE776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287" y="166027"/>
            <a:ext cx="2920517" cy="261778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EBD563A-0945-8E77-8C7A-7241E9718B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536" y="91383"/>
            <a:ext cx="3152961" cy="27084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050163C-4863-AB32-E851-4ECFCB2BCF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7" y="2998549"/>
            <a:ext cx="3028597" cy="270843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4D2ABFA-2E24-058E-9AE9-2F54ED4365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222" y="3089200"/>
            <a:ext cx="3138688" cy="261778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33F5E56-CB9B-CD70-3435-973CFF752F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612" y="2998549"/>
            <a:ext cx="3377847" cy="281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4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orma libre 2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3218400" y="3063960"/>
            <a:ext cx="58888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Anatomía de matplotlib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CuadroTexto 2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Forma libre 2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671400" y="21859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671400" y="21859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71400" y="345276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1"/>
                </a:lnTo>
                <a:cubicBezTo>
                  <a:pt x="30137" y="3624"/>
                  <a:pt x="30136" y="3637"/>
                  <a:pt x="30133" y="3650"/>
                </a:cubicBezTo>
                <a:cubicBezTo>
                  <a:pt x="30130" y="3663"/>
                  <a:pt x="30127" y="3675"/>
                  <a:pt x="30122" y="3687"/>
                </a:cubicBezTo>
                <a:cubicBezTo>
                  <a:pt x="30117" y="3699"/>
                  <a:pt x="30111" y="3711"/>
                  <a:pt x="30103" y="3721"/>
                </a:cubicBezTo>
                <a:cubicBezTo>
                  <a:pt x="30096" y="3732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4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4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2"/>
                  <a:pt x="33" y="3721"/>
                </a:cubicBezTo>
                <a:cubicBezTo>
                  <a:pt x="26" y="3711"/>
                  <a:pt x="20" y="3699"/>
                  <a:pt x="15" y="3687"/>
                </a:cubicBezTo>
                <a:cubicBezTo>
                  <a:pt x="10" y="3675"/>
                  <a:pt x="6" y="3663"/>
                  <a:pt x="4" y="3650"/>
                </a:cubicBezTo>
                <a:cubicBezTo>
                  <a:pt x="1" y="3637"/>
                  <a:pt x="0" y="3624"/>
                  <a:pt x="0" y="361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71400" y="345276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1"/>
                </a:lnTo>
                <a:cubicBezTo>
                  <a:pt x="30137" y="3624"/>
                  <a:pt x="30136" y="3637"/>
                  <a:pt x="30133" y="3650"/>
                </a:cubicBezTo>
                <a:cubicBezTo>
                  <a:pt x="30130" y="3663"/>
                  <a:pt x="30127" y="3675"/>
                  <a:pt x="30122" y="3687"/>
                </a:cubicBezTo>
                <a:cubicBezTo>
                  <a:pt x="30117" y="3699"/>
                  <a:pt x="30111" y="3711"/>
                  <a:pt x="30103" y="3721"/>
                </a:cubicBezTo>
                <a:cubicBezTo>
                  <a:pt x="30096" y="3732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4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4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2"/>
                  <a:pt x="33" y="3721"/>
                </a:cubicBezTo>
                <a:cubicBezTo>
                  <a:pt x="26" y="3711"/>
                  <a:pt x="20" y="3699"/>
                  <a:pt x="15" y="3687"/>
                </a:cubicBezTo>
                <a:cubicBezTo>
                  <a:pt x="10" y="3675"/>
                  <a:pt x="6" y="3663"/>
                  <a:pt x="4" y="3650"/>
                </a:cubicBezTo>
                <a:cubicBezTo>
                  <a:pt x="1" y="3637"/>
                  <a:pt x="0" y="3624"/>
                  <a:pt x="0" y="361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CuadroTexto 238"/>
          <p:cNvSpPr txBox="1"/>
          <p:nvPr/>
        </p:nvSpPr>
        <p:spPr>
          <a:xfrm>
            <a:off x="666720" y="1549080"/>
            <a:ext cx="5105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objetos y se acabó la confusión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CuadroTexto 239"/>
          <p:cNvSpPr txBox="1"/>
          <p:nvPr/>
        </p:nvSpPr>
        <p:spPr>
          <a:xfrm>
            <a:off x="866880" y="2365560"/>
            <a:ext cx="5640968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Figure  ─── el lienzo completo (lo que se exporta)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866880" y="2632320"/>
            <a:ext cx="7752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└──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Axes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─── un panel con sus ejes (lo que la gente llama "gráfica")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CuadroTexto 241"/>
          <p:cNvSpPr txBox="1"/>
          <p:nvPr/>
        </p:nvSpPr>
        <p:spPr>
          <a:xfrm>
            <a:off x="866880" y="288972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└── Artist  ─── todo lo dibujable: líneas, textos, parches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866880" y="363240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fig, ax = plt.subplots(figsize=(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866880" y="389916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ax.scatter(edad, hba1c)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CuadroTexto 244"/>
          <p:cNvSpPr txBox="1"/>
          <p:nvPr/>
        </p:nvSpPr>
        <p:spPr>
          <a:xfrm>
            <a:off x="866880" y="415656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ax.set_xlabel(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"Edad (años)"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CuadroTexto 245"/>
          <p:cNvSpPr txBox="1"/>
          <p:nvPr/>
        </p:nvSpPr>
        <p:spPr>
          <a:xfrm>
            <a:off x="866880" y="4422960"/>
            <a:ext cx="2839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ax.set_ylabel(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"HbA1c (%)"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CuadroTexto 246"/>
          <p:cNvSpPr txBox="1"/>
          <p:nvPr/>
        </p:nvSpPr>
        <p:spPr>
          <a:xfrm>
            <a:off x="666720" y="5021280"/>
            <a:ext cx="7630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Figure puede tener muchos Axes.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 Axes no es un eje: es un panel.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CuadroTexto 2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CuadroTexto 2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CuadroTexto 24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F64C806-840B-3326-DF71-6918C8FD2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249" y="450850"/>
            <a:ext cx="9868739" cy="638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38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Forma libre 2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671400" y="21286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4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4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671400" y="21286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4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4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4715923" y="1513080"/>
            <a:ext cx="1276560" cy="381240"/>
          </a:xfrm>
          <a:custGeom>
            <a:avLst/>
            <a:gdLst/>
            <a:ahLst/>
            <a:cxnLst/>
            <a:rect l="0" t="0" r="r" b="b"/>
            <a:pathLst>
              <a:path w="3546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40" y="0"/>
                </a:lnTo>
                <a:cubicBezTo>
                  <a:pt x="3454" y="0"/>
                  <a:pt x="3468" y="3"/>
                  <a:pt x="3481" y="8"/>
                </a:cubicBezTo>
                <a:cubicBezTo>
                  <a:pt x="3494" y="13"/>
                  <a:pt x="3505" y="21"/>
                  <a:pt x="3515" y="31"/>
                </a:cubicBezTo>
                <a:cubicBezTo>
                  <a:pt x="3525" y="41"/>
                  <a:pt x="3533" y="52"/>
                  <a:pt x="3538" y="65"/>
                </a:cubicBezTo>
                <a:cubicBezTo>
                  <a:pt x="3543" y="78"/>
                  <a:pt x="3546" y="92"/>
                  <a:pt x="3546" y="106"/>
                </a:cubicBezTo>
                <a:lnTo>
                  <a:pt x="3546" y="953"/>
                </a:lnTo>
                <a:cubicBezTo>
                  <a:pt x="3546" y="968"/>
                  <a:pt x="3543" y="981"/>
                  <a:pt x="3538" y="994"/>
                </a:cubicBezTo>
                <a:cubicBezTo>
                  <a:pt x="3533" y="1007"/>
                  <a:pt x="3525" y="1018"/>
                  <a:pt x="3515" y="1028"/>
                </a:cubicBezTo>
                <a:cubicBezTo>
                  <a:pt x="3505" y="1038"/>
                  <a:pt x="3494" y="1046"/>
                  <a:pt x="3481" y="1051"/>
                </a:cubicBezTo>
                <a:cubicBezTo>
                  <a:pt x="3468" y="1057"/>
                  <a:pt x="3454" y="1059"/>
                  <a:pt x="3440" y="1059"/>
                </a:cubicBezTo>
                <a:lnTo>
                  <a:pt x="106" y="1059"/>
                </a:lnTo>
                <a:cubicBezTo>
                  <a:pt x="92" y="1059"/>
                  <a:pt x="79" y="1057"/>
                  <a:pt x="66" y="1051"/>
                </a:cubicBezTo>
                <a:cubicBezTo>
                  <a:pt x="53" y="1046"/>
                  <a:pt x="40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8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666720" y="1482480"/>
            <a:ext cx="3879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API orientada a objetos, no 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257"/>
          <p:cNvSpPr txBox="1"/>
          <p:nvPr/>
        </p:nvSpPr>
        <p:spPr>
          <a:xfrm>
            <a:off x="4761729" y="1477509"/>
            <a:ext cx="11732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45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pyplot</a:t>
            </a:r>
            <a:endParaRPr lang="es-ES" sz="24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CuadroTexto 258"/>
          <p:cNvSpPr txBox="1"/>
          <p:nvPr/>
        </p:nvSpPr>
        <p:spPr>
          <a:xfrm>
            <a:off x="866880" y="2308680"/>
            <a:ext cx="796371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 dirty="0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Mala práctica: estado global, no sabes sobre qué figura estás actuando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CuadroTexto 259"/>
          <p:cNvSpPr txBox="1"/>
          <p:nvPr/>
        </p:nvSpPr>
        <p:spPr>
          <a:xfrm>
            <a:off x="866880" y="2575080"/>
            <a:ext cx="1529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plt.plot(x, y)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CuadroTexto 260"/>
          <p:cNvSpPr txBox="1"/>
          <p:nvPr/>
        </p:nvSpPr>
        <p:spPr>
          <a:xfrm>
            <a:off x="866880" y="2832480"/>
            <a:ext cx="1856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plt.xlabel(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"..."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CuadroTexto 261"/>
          <p:cNvSpPr txBox="1"/>
          <p:nvPr/>
        </p:nvSpPr>
        <p:spPr>
          <a:xfrm>
            <a:off x="866880" y="335628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Así SÍ: explícito, componible, funciona dentro de funciones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CuadroTexto 262"/>
          <p:cNvSpPr txBox="1"/>
          <p:nvPr/>
        </p:nvSpPr>
        <p:spPr>
          <a:xfrm>
            <a:off x="866880" y="362304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fig, ax = plt.subplots()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CuadroTexto 263"/>
          <p:cNvSpPr txBox="1"/>
          <p:nvPr/>
        </p:nvSpPr>
        <p:spPr>
          <a:xfrm>
            <a:off x="866880" y="388008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ax.plot(x, y)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CuadroTexto 264"/>
          <p:cNvSpPr txBox="1"/>
          <p:nvPr/>
        </p:nvSpPr>
        <p:spPr>
          <a:xfrm>
            <a:off x="866880" y="4146840"/>
            <a:ext cx="2184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ax.set_xlabel(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"..."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2038320" y="4762440"/>
            <a:ext cx="581400" cy="266760"/>
          </a:xfrm>
          <a:custGeom>
            <a:avLst/>
            <a:gdLst/>
            <a:ahLst/>
            <a:cxnLst/>
            <a:rect l="0" t="0" r="r" b="b"/>
            <a:pathLst>
              <a:path w="161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508" y="0"/>
                </a:lnTo>
                <a:cubicBezTo>
                  <a:pt x="1522" y="0"/>
                  <a:pt x="1535" y="2"/>
                  <a:pt x="1548" y="8"/>
                </a:cubicBezTo>
                <a:cubicBezTo>
                  <a:pt x="1561" y="13"/>
                  <a:pt x="1573" y="21"/>
                  <a:pt x="1583" y="31"/>
                </a:cubicBezTo>
                <a:cubicBezTo>
                  <a:pt x="1592" y="41"/>
                  <a:pt x="1601" y="52"/>
                  <a:pt x="1606" y="65"/>
                </a:cubicBezTo>
                <a:cubicBezTo>
                  <a:pt x="1612" y="78"/>
                  <a:pt x="1615" y="91"/>
                  <a:pt x="1615" y="105"/>
                </a:cubicBezTo>
                <a:lnTo>
                  <a:pt x="1615" y="636"/>
                </a:lnTo>
                <a:cubicBezTo>
                  <a:pt x="1615" y="650"/>
                  <a:pt x="1612" y="663"/>
                  <a:pt x="1606" y="676"/>
                </a:cubicBezTo>
                <a:cubicBezTo>
                  <a:pt x="1601" y="689"/>
                  <a:pt x="1592" y="701"/>
                  <a:pt x="1583" y="711"/>
                </a:cubicBezTo>
                <a:cubicBezTo>
                  <a:pt x="1573" y="720"/>
                  <a:pt x="1561" y="728"/>
                  <a:pt x="1548" y="733"/>
                </a:cubicBezTo>
                <a:cubicBezTo>
                  <a:pt x="1535" y="739"/>
                  <a:pt x="1522" y="741"/>
                  <a:pt x="1508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666720" y="4744800"/>
            <a:ext cx="1368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forma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2091960" y="478224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plt.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2617200" y="4744800"/>
            <a:ext cx="8622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funciona en un notebook lineal y se rompe en cuanto quieres una función que devuelva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666720" y="5087880"/>
            <a:ext cx="3015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ﬁgura, o un panel múltiple.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Forma libre 2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2210040" y="3063960"/>
            <a:ext cx="7944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seaborn para datos estadísticos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Forma libre 2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676080" y="1971360"/>
            <a:ext cx="1324440" cy="410040"/>
          </a:xfrm>
          <a:custGeom>
            <a:avLst/>
            <a:gdLst/>
            <a:ahLst/>
            <a:cxnLst/>
            <a:rect l="0" t="0" r="r" b="b"/>
            <a:pathLst>
              <a:path w="3679" h="1139">
                <a:moveTo>
                  <a:pt x="0" y="0"/>
                </a:moveTo>
                <a:lnTo>
                  <a:pt x="3679" y="0"/>
                </a:lnTo>
                <a:lnTo>
                  <a:pt x="367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2000160" y="1971360"/>
            <a:ext cx="2257560" cy="410040"/>
          </a:xfrm>
          <a:custGeom>
            <a:avLst/>
            <a:gdLst/>
            <a:ahLst/>
            <a:cxnLst/>
            <a:rect l="0" t="0" r="r" b="b"/>
            <a:pathLst>
              <a:path w="6271" h="1139">
                <a:moveTo>
                  <a:pt x="0" y="0"/>
                </a:moveTo>
                <a:lnTo>
                  <a:pt x="6271" y="0"/>
                </a:lnTo>
                <a:lnTo>
                  <a:pt x="627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4257360" y="1971360"/>
            <a:ext cx="3124800" cy="410040"/>
          </a:xfrm>
          <a:custGeom>
            <a:avLst/>
            <a:gdLst/>
            <a:ahLst/>
            <a:cxnLst/>
            <a:rect l="0" t="0" r="r" b="b"/>
            <a:pathLst>
              <a:path w="8680" h="1139">
                <a:moveTo>
                  <a:pt x="0" y="0"/>
                </a:moveTo>
                <a:lnTo>
                  <a:pt x="8680" y="0"/>
                </a:lnTo>
                <a:lnTo>
                  <a:pt x="868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676080" y="1971360"/>
            <a:ext cx="1324440" cy="410040"/>
          </a:xfrm>
          <a:custGeom>
            <a:avLst/>
            <a:gdLst/>
            <a:ahLst/>
            <a:cxnLst/>
            <a:rect l="0" t="0" r="r" b="b"/>
            <a:pathLst>
              <a:path w="3679" h="1139">
                <a:moveTo>
                  <a:pt x="0" y="0"/>
                </a:moveTo>
                <a:lnTo>
                  <a:pt x="3679" y="0"/>
                </a:lnTo>
                <a:lnTo>
                  <a:pt x="367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2000160" y="1971360"/>
            <a:ext cx="2257560" cy="410040"/>
          </a:xfrm>
          <a:custGeom>
            <a:avLst/>
            <a:gdLst/>
            <a:ahLst/>
            <a:cxnLst/>
            <a:rect l="0" t="0" r="r" b="b"/>
            <a:pathLst>
              <a:path w="6271" h="1139">
                <a:moveTo>
                  <a:pt x="0" y="0"/>
                </a:moveTo>
                <a:lnTo>
                  <a:pt x="6271" y="0"/>
                </a:lnTo>
                <a:lnTo>
                  <a:pt x="627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4257360" y="1971360"/>
            <a:ext cx="3124800" cy="410040"/>
          </a:xfrm>
          <a:custGeom>
            <a:avLst/>
            <a:gdLst/>
            <a:ahLst/>
            <a:cxnLst/>
            <a:rect l="0" t="0" r="r" b="b"/>
            <a:pathLst>
              <a:path w="8680" h="1139">
                <a:moveTo>
                  <a:pt x="0" y="0"/>
                </a:moveTo>
                <a:lnTo>
                  <a:pt x="8680" y="0"/>
                </a:lnTo>
                <a:lnTo>
                  <a:pt x="868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676080" y="2381040"/>
            <a:ext cx="1324440" cy="419400"/>
          </a:xfrm>
          <a:custGeom>
            <a:avLst/>
            <a:gdLst/>
            <a:ahLst/>
            <a:cxnLst/>
            <a:rect l="0" t="0" r="r" b="b"/>
            <a:pathLst>
              <a:path w="3679" h="1165">
                <a:moveTo>
                  <a:pt x="0" y="0"/>
                </a:moveTo>
                <a:lnTo>
                  <a:pt x="3679" y="0"/>
                </a:lnTo>
                <a:lnTo>
                  <a:pt x="36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2000160" y="2381040"/>
            <a:ext cx="2257560" cy="419400"/>
          </a:xfrm>
          <a:custGeom>
            <a:avLst/>
            <a:gdLst/>
            <a:ahLst/>
            <a:cxnLst/>
            <a:rect l="0" t="0" r="r" b="b"/>
            <a:pathLst>
              <a:path w="6271" h="1165">
                <a:moveTo>
                  <a:pt x="0" y="0"/>
                </a:moveTo>
                <a:lnTo>
                  <a:pt x="6271" y="0"/>
                </a:lnTo>
                <a:lnTo>
                  <a:pt x="62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4257360" y="2381040"/>
            <a:ext cx="3124800" cy="419400"/>
          </a:xfrm>
          <a:custGeom>
            <a:avLst/>
            <a:gdLst/>
            <a:ahLst/>
            <a:cxnLst/>
            <a:rect l="0" t="0" r="r" b="b"/>
            <a:pathLst>
              <a:path w="8680" h="1165">
                <a:moveTo>
                  <a:pt x="0" y="0"/>
                </a:moveTo>
                <a:lnTo>
                  <a:pt x="8680" y="0"/>
                </a:lnTo>
                <a:lnTo>
                  <a:pt x="86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rma libre 311"/>
          <p:cNvSpPr/>
          <p:nvPr/>
        </p:nvSpPr>
        <p:spPr>
          <a:xfrm>
            <a:off x="676080" y="2800080"/>
            <a:ext cx="1324440" cy="419400"/>
          </a:xfrm>
          <a:custGeom>
            <a:avLst/>
            <a:gdLst/>
            <a:ahLst/>
            <a:cxnLst/>
            <a:rect l="0" t="0" r="r" b="b"/>
            <a:pathLst>
              <a:path w="3679" h="1165">
                <a:moveTo>
                  <a:pt x="0" y="0"/>
                </a:moveTo>
                <a:lnTo>
                  <a:pt x="3679" y="0"/>
                </a:lnTo>
                <a:lnTo>
                  <a:pt x="36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2000160" y="2800080"/>
            <a:ext cx="2257560" cy="419400"/>
          </a:xfrm>
          <a:custGeom>
            <a:avLst/>
            <a:gdLst/>
            <a:ahLst/>
            <a:cxnLst/>
            <a:rect l="0" t="0" r="r" b="b"/>
            <a:pathLst>
              <a:path w="6271" h="1165">
                <a:moveTo>
                  <a:pt x="0" y="0"/>
                </a:moveTo>
                <a:lnTo>
                  <a:pt x="6271" y="0"/>
                </a:lnTo>
                <a:lnTo>
                  <a:pt x="62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4257360" y="2800080"/>
            <a:ext cx="3124800" cy="419400"/>
          </a:xfrm>
          <a:custGeom>
            <a:avLst/>
            <a:gdLst/>
            <a:ahLst/>
            <a:cxnLst/>
            <a:rect l="0" t="0" r="r" b="b"/>
            <a:pathLst>
              <a:path w="8680" h="1165">
                <a:moveTo>
                  <a:pt x="0" y="0"/>
                </a:moveTo>
                <a:lnTo>
                  <a:pt x="8680" y="0"/>
                </a:lnTo>
                <a:lnTo>
                  <a:pt x="86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676080" y="3219120"/>
            <a:ext cx="1324440" cy="419760"/>
          </a:xfrm>
          <a:custGeom>
            <a:avLst/>
            <a:gdLst/>
            <a:ahLst/>
            <a:cxnLst/>
            <a:rect l="0" t="0" r="r" b="b"/>
            <a:pathLst>
              <a:path w="3679" h="1166">
                <a:moveTo>
                  <a:pt x="0" y="0"/>
                </a:moveTo>
                <a:lnTo>
                  <a:pt x="3679" y="0"/>
                </a:lnTo>
                <a:lnTo>
                  <a:pt x="3679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2000160" y="3219120"/>
            <a:ext cx="2257560" cy="419760"/>
          </a:xfrm>
          <a:custGeom>
            <a:avLst/>
            <a:gdLst/>
            <a:ahLst/>
            <a:cxnLst/>
            <a:rect l="0" t="0" r="r" b="b"/>
            <a:pathLst>
              <a:path w="6271" h="1166">
                <a:moveTo>
                  <a:pt x="0" y="0"/>
                </a:moveTo>
                <a:lnTo>
                  <a:pt x="6271" y="0"/>
                </a:lnTo>
                <a:lnTo>
                  <a:pt x="6271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4257360" y="3219120"/>
            <a:ext cx="3124800" cy="419760"/>
          </a:xfrm>
          <a:custGeom>
            <a:avLst/>
            <a:gdLst/>
            <a:ahLst/>
            <a:cxnLst/>
            <a:rect l="0" t="0" r="r" b="b"/>
            <a:pathLst>
              <a:path w="8680" h="1166">
                <a:moveTo>
                  <a:pt x="0" y="0"/>
                </a:moveTo>
                <a:lnTo>
                  <a:pt x="8680" y="0"/>
                </a:lnTo>
                <a:lnTo>
                  <a:pt x="868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676080" y="3638520"/>
            <a:ext cx="1324440" cy="419400"/>
          </a:xfrm>
          <a:custGeom>
            <a:avLst/>
            <a:gdLst/>
            <a:ahLst/>
            <a:cxnLst/>
            <a:rect l="0" t="0" r="r" b="b"/>
            <a:pathLst>
              <a:path w="3679" h="1165">
                <a:moveTo>
                  <a:pt x="0" y="0"/>
                </a:moveTo>
                <a:lnTo>
                  <a:pt x="3679" y="0"/>
                </a:lnTo>
                <a:lnTo>
                  <a:pt x="36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2000160" y="3638520"/>
            <a:ext cx="2257560" cy="419400"/>
          </a:xfrm>
          <a:custGeom>
            <a:avLst/>
            <a:gdLst/>
            <a:ahLst/>
            <a:cxnLst/>
            <a:rect l="0" t="0" r="r" b="b"/>
            <a:pathLst>
              <a:path w="6271" h="1165">
                <a:moveTo>
                  <a:pt x="0" y="0"/>
                </a:moveTo>
                <a:lnTo>
                  <a:pt x="6271" y="0"/>
                </a:lnTo>
                <a:lnTo>
                  <a:pt x="62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4257360" y="3638520"/>
            <a:ext cx="3124800" cy="419400"/>
          </a:xfrm>
          <a:custGeom>
            <a:avLst/>
            <a:gdLst/>
            <a:ahLst/>
            <a:cxnLst/>
            <a:rect l="0" t="0" r="r" b="b"/>
            <a:pathLst>
              <a:path w="8680" h="1165">
                <a:moveTo>
                  <a:pt x="0" y="0"/>
                </a:moveTo>
                <a:lnTo>
                  <a:pt x="8680" y="0"/>
                </a:lnTo>
                <a:lnTo>
                  <a:pt x="86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676080" y="4057560"/>
            <a:ext cx="1324440" cy="419400"/>
          </a:xfrm>
          <a:custGeom>
            <a:avLst/>
            <a:gdLst/>
            <a:ahLst/>
            <a:cxnLst/>
            <a:rect l="0" t="0" r="r" b="b"/>
            <a:pathLst>
              <a:path w="3679" h="1165">
                <a:moveTo>
                  <a:pt x="0" y="0"/>
                </a:moveTo>
                <a:lnTo>
                  <a:pt x="3679" y="0"/>
                </a:lnTo>
                <a:lnTo>
                  <a:pt x="36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2000160" y="4057560"/>
            <a:ext cx="2257560" cy="419400"/>
          </a:xfrm>
          <a:custGeom>
            <a:avLst/>
            <a:gdLst/>
            <a:ahLst/>
            <a:cxnLst/>
            <a:rect l="0" t="0" r="r" b="b"/>
            <a:pathLst>
              <a:path w="6271" h="1165">
                <a:moveTo>
                  <a:pt x="0" y="0"/>
                </a:moveTo>
                <a:lnTo>
                  <a:pt x="6271" y="0"/>
                </a:lnTo>
                <a:lnTo>
                  <a:pt x="62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4257360" y="4057560"/>
            <a:ext cx="3124800" cy="419400"/>
          </a:xfrm>
          <a:custGeom>
            <a:avLst/>
            <a:gdLst/>
            <a:ahLst/>
            <a:cxnLst/>
            <a:rect l="0" t="0" r="r" b="b"/>
            <a:pathLst>
              <a:path w="8680" h="1165">
                <a:moveTo>
                  <a:pt x="0" y="0"/>
                </a:moveTo>
                <a:lnTo>
                  <a:pt x="8680" y="0"/>
                </a:lnTo>
                <a:lnTo>
                  <a:pt x="86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66672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666720" y="1962000"/>
            <a:ext cx="1343160" cy="9720"/>
          </a:xfrm>
          <a:custGeom>
            <a:avLst/>
            <a:gdLst/>
            <a:ahLst/>
            <a:cxn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200016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2009520" y="1962000"/>
            <a:ext cx="2248200" cy="9720"/>
          </a:xfrm>
          <a:custGeom>
            <a:avLst/>
            <a:gdLst/>
            <a:ahLst/>
            <a:cxn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424800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4257360" y="196200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7372080" y="1962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666720" y="2371680"/>
            <a:ext cx="1343160" cy="9720"/>
          </a:xfrm>
          <a:custGeom>
            <a:avLst/>
            <a:gdLst/>
            <a:ahLst/>
            <a:cxn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2009520" y="2371680"/>
            <a:ext cx="2248200" cy="9720"/>
          </a:xfrm>
          <a:custGeom>
            <a:avLst/>
            <a:gdLst/>
            <a:ahLst/>
            <a:cxn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4257360" y="237168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200016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424800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737208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666720" y="2790720"/>
            <a:ext cx="1343160" cy="9720"/>
          </a:xfrm>
          <a:custGeom>
            <a:avLst/>
            <a:gdLst/>
            <a:ahLst/>
            <a:cxn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200016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2009520" y="2790720"/>
            <a:ext cx="2248200" cy="9720"/>
          </a:xfrm>
          <a:custGeom>
            <a:avLst/>
            <a:gdLst/>
            <a:ahLst/>
            <a:cxn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424800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4257360" y="279072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7372080" y="2800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666720" y="3209760"/>
            <a:ext cx="1343160" cy="9720"/>
          </a:xfrm>
          <a:custGeom>
            <a:avLst/>
            <a:gdLst/>
            <a:ahLst/>
            <a:cxn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200016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2009520" y="3209760"/>
            <a:ext cx="2248200" cy="9720"/>
          </a:xfrm>
          <a:custGeom>
            <a:avLst/>
            <a:gdLst/>
            <a:ahLst/>
            <a:cxn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424800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4257360" y="320976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7372080" y="3219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6667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666720" y="3628800"/>
            <a:ext cx="1343160" cy="10080"/>
          </a:xfrm>
          <a:custGeom>
            <a:avLst/>
            <a:gdLst/>
            <a:ahLst/>
            <a:cxn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200016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2009520" y="3628800"/>
            <a:ext cx="2248200" cy="10080"/>
          </a:xfrm>
          <a:custGeom>
            <a:avLst/>
            <a:gdLst/>
            <a:ahLst/>
            <a:cxn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424800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4257360" y="3628800"/>
            <a:ext cx="3124800" cy="10080"/>
          </a:xfrm>
          <a:custGeom>
            <a:avLst/>
            <a:gdLst/>
            <a:ahLst/>
            <a:cxn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7372080" y="3638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66672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666720" y="4047840"/>
            <a:ext cx="1343160" cy="10440"/>
          </a:xfrm>
          <a:custGeom>
            <a:avLst/>
            <a:gdLst/>
            <a:ahLst/>
            <a:cxnLst/>
            <a:rect l="0" t="0" r="r" b="b"/>
            <a:pathLst>
              <a:path w="3731" h="29">
                <a:moveTo>
                  <a:pt x="0" y="0"/>
                </a:moveTo>
                <a:lnTo>
                  <a:pt x="3731" y="0"/>
                </a:lnTo>
                <a:lnTo>
                  <a:pt x="373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200016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2009520" y="4047840"/>
            <a:ext cx="2248200" cy="10440"/>
          </a:xfrm>
          <a:custGeom>
            <a:avLst/>
            <a:gdLst/>
            <a:ahLst/>
            <a:cxnLst/>
            <a:rect l="0" t="0" r="r" b="b"/>
            <a:pathLst>
              <a:path w="6245" h="29">
                <a:moveTo>
                  <a:pt x="0" y="0"/>
                </a:moveTo>
                <a:lnTo>
                  <a:pt x="6245" y="0"/>
                </a:lnTo>
                <a:lnTo>
                  <a:pt x="624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424800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4257360" y="4047840"/>
            <a:ext cx="3124800" cy="10440"/>
          </a:xfrm>
          <a:custGeom>
            <a:avLst/>
            <a:gdLst/>
            <a:ahLst/>
            <a:cxnLst/>
            <a:rect l="0" t="0" r="r" b="b"/>
            <a:pathLst>
              <a:path w="8680" h="29">
                <a:moveTo>
                  <a:pt x="0" y="0"/>
                </a:moveTo>
                <a:lnTo>
                  <a:pt x="8680" y="0"/>
                </a:lnTo>
                <a:lnTo>
                  <a:pt x="868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7372080" y="4057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666720" y="4466880"/>
            <a:ext cx="1343160" cy="10080"/>
          </a:xfrm>
          <a:custGeom>
            <a:avLst/>
            <a:gdLst/>
            <a:ahLst/>
            <a:cxn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2009520" y="4466880"/>
            <a:ext cx="2248200" cy="10080"/>
          </a:xfrm>
          <a:custGeom>
            <a:avLst/>
            <a:gdLst/>
            <a:ahLst/>
            <a:cxn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4257360" y="4466880"/>
            <a:ext cx="3124800" cy="10080"/>
          </a:xfrm>
          <a:custGeom>
            <a:avLst/>
            <a:gdLst/>
            <a:ahLst/>
            <a:cxn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666720" y="46288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666720" y="46288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666720" y="1329840"/>
            <a:ext cx="720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seaborn no sustituye a matplotlib: se monta encima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2673000" y="2066400"/>
            <a:ext cx="913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matplotlib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5445720" y="2066400"/>
            <a:ext cx="741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seaborn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799920" y="2476080"/>
            <a:ext cx="44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Nivel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2129760" y="2476080"/>
            <a:ext cx="1870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Dibujas cada elemento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4386240" y="2476080"/>
            <a:ext cx="2128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Describes qué quieres ver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799920" y="2895120"/>
            <a:ext cx="713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CuadroTexto 377"/>
          <p:cNvSpPr txBox="1"/>
          <p:nvPr/>
        </p:nvSpPr>
        <p:spPr>
          <a:xfrm>
            <a:off x="2129760" y="2895120"/>
            <a:ext cx="1595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Arreglos de NumPy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4386240" y="2895120"/>
            <a:ext cx="2867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DataFrame + nombres de columna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uadroTexto 379"/>
          <p:cNvSpPr txBox="1"/>
          <p:nvPr/>
        </p:nvSpPr>
        <p:spPr>
          <a:xfrm>
            <a:off x="799920" y="3314160"/>
            <a:ext cx="1005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Estadística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2129760" y="3314160"/>
            <a:ext cx="1126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calculas tú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4386240" y="3314160"/>
            <a:ext cx="2647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Agrega, estima IC, ajusta curvas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799920" y="3733560"/>
            <a:ext cx="1076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Control ﬁno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CuadroTexto 383"/>
          <p:cNvSpPr txBox="1"/>
          <p:nvPr/>
        </p:nvSpPr>
        <p:spPr>
          <a:xfrm>
            <a:off x="2129760" y="3733560"/>
            <a:ext cx="403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Total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4386240" y="3733560"/>
            <a:ext cx="2248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que hereda de matplotlib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799920" y="4152600"/>
            <a:ext cx="851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Facetado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3238200" y="4162320"/>
            <a:ext cx="886320" cy="228960"/>
          </a:xfrm>
          <a:custGeom>
            <a:avLst/>
            <a:gdLst/>
            <a:ahLst/>
            <a:cxnLst/>
            <a:rect l="0" t="0" r="r" b="b"/>
            <a:pathLst>
              <a:path w="246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356" y="0"/>
                </a:lnTo>
                <a:cubicBezTo>
                  <a:pt x="2370" y="0"/>
                  <a:pt x="2384" y="2"/>
                  <a:pt x="2397" y="8"/>
                </a:cubicBezTo>
                <a:cubicBezTo>
                  <a:pt x="2410" y="13"/>
                  <a:pt x="2421" y="21"/>
                  <a:pt x="2431" y="31"/>
                </a:cubicBezTo>
                <a:cubicBezTo>
                  <a:pt x="2441" y="41"/>
                  <a:pt x="2449" y="52"/>
                  <a:pt x="2454" y="65"/>
                </a:cubicBezTo>
                <a:cubicBezTo>
                  <a:pt x="2459" y="78"/>
                  <a:pt x="2462" y="92"/>
                  <a:pt x="2462" y="106"/>
                </a:cubicBezTo>
                <a:lnTo>
                  <a:pt x="2462" y="530"/>
                </a:lnTo>
                <a:cubicBezTo>
                  <a:pt x="2462" y="544"/>
                  <a:pt x="2459" y="557"/>
                  <a:pt x="2454" y="570"/>
                </a:cubicBezTo>
                <a:cubicBezTo>
                  <a:pt x="2449" y="583"/>
                  <a:pt x="2441" y="595"/>
                  <a:pt x="2431" y="605"/>
                </a:cubicBezTo>
                <a:cubicBezTo>
                  <a:pt x="2421" y="615"/>
                  <a:pt x="2410" y="622"/>
                  <a:pt x="2397" y="628"/>
                </a:cubicBezTo>
                <a:cubicBezTo>
                  <a:pt x="2384" y="633"/>
                  <a:pt x="2370" y="636"/>
                  <a:pt x="2356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2129760" y="4152600"/>
            <a:ext cx="1105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 mano, con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orma libre 388"/>
          <p:cNvSpPr/>
          <p:nvPr/>
        </p:nvSpPr>
        <p:spPr>
          <a:xfrm>
            <a:off x="4381200" y="4162320"/>
            <a:ext cx="505440" cy="228960"/>
          </a:xfrm>
          <a:custGeom>
            <a:avLst/>
            <a:gdLst/>
            <a:ahLst/>
            <a:cxnLst/>
            <a:rect l="0" t="0" r="r" b="b"/>
            <a:pathLst>
              <a:path w="1404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298" y="0"/>
                </a:lnTo>
                <a:cubicBezTo>
                  <a:pt x="1312" y="0"/>
                  <a:pt x="1325" y="2"/>
                  <a:pt x="1338" y="8"/>
                </a:cubicBezTo>
                <a:cubicBezTo>
                  <a:pt x="1351" y="13"/>
                  <a:pt x="1363" y="21"/>
                  <a:pt x="1373" y="31"/>
                </a:cubicBezTo>
                <a:cubicBezTo>
                  <a:pt x="1383" y="41"/>
                  <a:pt x="1390" y="52"/>
                  <a:pt x="1396" y="65"/>
                </a:cubicBezTo>
                <a:cubicBezTo>
                  <a:pt x="1401" y="78"/>
                  <a:pt x="1404" y="92"/>
                  <a:pt x="1404" y="106"/>
                </a:cubicBezTo>
                <a:lnTo>
                  <a:pt x="1404" y="530"/>
                </a:lnTo>
                <a:cubicBezTo>
                  <a:pt x="1404" y="544"/>
                  <a:pt x="1401" y="557"/>
                  <a:pt x="1396" y="570"/>
                </a:cubicBezTo>
                <a:cubicBezTo>
                  <a:pt x="1390" y="583"/>
                  <a:pt x="1383" y="595"/>
                  <a:pt x="1373" y="605"/>
                </a:cubicBezTo>
                <a:cubicBezTo>
                  <a:pt x="1363" y="615"/>
                  <a:pt x="1351" y="622"/>
                  <a:pt x="1338" y="628"/>
                </a:cubicBezTo>
                <a:cubicBezTo>
                  <a:pt x="1325" y="633"/>
                  <a:pt x="1312" y="636"/>
                  <a:pt x="1298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3291840" y="418356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subplots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4443120" y="418356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col=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5000400" y="416232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298" y="0"/>
                </a:lnTo>
                <a:cubicBezTo>
                  <a:pt x="1312" y="0"/>
                  <a:pt x="1325" y="2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7"/>
                  <a:pt x="1395" y="570"/>
                </a:cubicBezTo>
                <a:cubicBezTo>
                  <a:pt x="1390" y="583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2" y="636"/>
                  <a:pt x="1298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CuadroTexto 392"/>
          <p:cNvSpPr txBox="1"/>
          <p:nvPr/>
        </p:nvSpPr>
        <p:spPr>
          <a:xfrm>
            <a:off x="4890600" y="41526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CuadroTexto 393"/>
          <p:cNvSpPr txBox="1"/>
          <p:nvPr/>
        </p:nvSpPr>
        <p:spPr>
          <a:xfrm>
            <a:off x="5053680" y="418356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row=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905040" y="4782960"/>
            <a:ext cx="10099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Todo lo que devuelve seaborn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un objeto de matplotlib. Empiezas arriba y bajas a ajustar. No es una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905040" y="5126040"/>
            <a:ext cx="1986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decisión excluyente.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CuadroTexto 39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Forma libre 3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Forma libre 402"/>
          <p:cNvSpPr/>
          <p:nvPr/>
        </p:nvSpPr>
        <p:spPr>
          <a:xfrm>
            <a:off x="671400" y="186192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5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5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671400" y="186192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5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5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666720" y="1225080"/>
            <a:ext cx="4191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misma figura, dos caminos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866880" y="204192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matplotlib: agrupar, promediar, calcular el intervalo y dibujar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866880" y="2308680"/>
            <a:ext cx="3495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for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g, 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df.groupby(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"grupo"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866880" y="256572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m = d.groupby(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"mes"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"hba1c"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].agg([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"mean"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"sem"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866880" y="2832480"/>
            <a:ext cx="4368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ax.plot(m.index, m[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"mean"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 label=g)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866880" y="308952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ax.fill_between(m.index,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866880" y="3356280"/>
            <a:ext cx="5241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m[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"mean"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-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1.96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* m[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"sem"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866880" y="3613320"/>
            <a:ext cx="6333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m[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"mean"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+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1.96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* m[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"sem"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 alpha=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.2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866880" y="4137480"/>
            <a:ext cx="207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seaborn: lo mismo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CuadroTexto 413"/>
          <p:cNvSpPr txBox="1"/>
          <p:nvPr/>
        </p:nvSpPr>
        <p:spPr>
          <a:xfrm>
            <a:off x="866880" y="4403880"/>
            <a:ext cx="8190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sns.lineplot(data=df, x=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"mes"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y=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"hba1c"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hue=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"grupo"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errorbar=(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"ci"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95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CuadroTexto 414"/>
          <p:cNvSpPr txBox="1"/>
          <p:nvPr/>
        </p:nvSpPr>
        <p:spPr>
          <a:xfrm>
            <a:off x="666720" y="5002200"/>
            <a:ext cx="992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Mismo resultado.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 diferencia no es estética: es cuántas decisiones tienes que tomar tú y cuántas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666720" y="5344920"/>
            <a:ext cx="365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oportunidades tienes de equivocarte.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CuadroTexto 41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Forma libre 4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690480" y="2923920"/>
            <a:ext cx="10834920" cy="1067400"/>
          </a:xfrm>
          <a:custGeom>
            <a:avLst/>
            <a:gdLst/>
            <a:ahLst/>
            <a:cxnLst/>
            <a:rect l="0" t="0" r="r" b="b"/>
            <a:pathLst>
              <a:path w="30097" h="2965">
                <a:moveTo>
                  <a:pt x="0" y="2965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39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79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9"/>
                  <a:pt x="30097" y="159"/>
                </a:cubicBezTo>
                <a:lnTo>
                  <a:pt x="30097" y="2806"/>
                </a:lnTo>
                <a:cubicBezTo>
                  <a:pt x="30097" y="2816"/>
                  <a:pt x="30096" y="2827"/>
                  <a:pt x="30094" y="2837"/>
                </a:cubicBezTo>
                <a:cubicBezTo>
                  <a:pt x="30092" y="2847"/>
                  <a:pt x="30089" y="2857"/>
                  <a:pt x="30085" y="2867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3"/>
                  <a:pt x="30058" y="2911"/>
                  <a:pt x="30051" y="2918"/>
                </a:cubicBezTo>
                <a:cubicBezTo>
                  <a:pt x="30043" y="2925"/>
                  <a:pt x="30035" y="2932"/>
                  <a:pt x="30027" y="2938"/>
                </a:cubicBezTo>
                <a:cubicBezTo>
                  <a:pt x="30018" y="2944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4"/>
                  <a:pt x="29949" y="2965"/>
                  <a:pt x="29938" y="2965"/>
                </a:cubicBezTo>
                <a:lnTo>
                  <a:pt x="0" y="2965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Forma libre 423"/>
          <p:cNvSpPr/>
          <p:nvPr/>
        </p:nvSpPr>
        <p:spPr>
          <a:xfrm>
            <a:off x="666720" y="2923920"/>
            <a:ext cx="47880" cy="1067400"/>
          </a:xfrm>
          <a:custGeom>
            <a:avLst/>
            <a:gdLst/>
            <a:ahLst/>
            <a:cxnLst/>
            <a:rect l="0" t="0" r="r" b="b"/>
            <a:pathLst>
              <a:path w="133" h="2965">
                <a:moveTo>
                  <a:pt x="0" y="0"/>
                </a:moveTo>
                <a:lnTo>
                  <a:pt x="133" y="0"/>
                </a:lnTo>
                <a:lnTo>
                  <a:pt x="133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orma libre 424"/>
          <p:cNvSpPr/>
          <p:nvPr/>
        </p:nvSpPr>
        <p:spPr>
          <a:xfrm>
            <a:off x="671400" y="487188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orma libre 425"/>
          <p:cNvSpPr/>
          <p:nvPr/>
        </p:nvSpPr>
        <p:spPr>
          <a:xfrm>
            <a:off x="671400" y="487188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914040" y="1380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666720" y="587160"/>
            <a:ext cx="4516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seaborn te da sin pedirlo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Forma libre 428"/>
          <p:cNvSpPr/>
          <p:nvPr/>
        </p:nvSpPr>
        <p:spPr>
          <a:xfrm>
            <a:off x="3495600" y="1285560"/>
            <a:ext cx="2343240" cy="267120"/>
          </a:xfrm>
          <a:custGeom>
            <a:avLst/>
            <a:gdLst/>
            <a:ahLst/>
            <a:cxnLst/>
            <a:rect l="0" t="0" r="r" b="b"/>
            <a:pathLst>
              <a:path w="650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lnTo>
                  <a:pt x="6404" y="0"/>
                </a:lnTo>
                <a:cubicBezTo>
                  <a:pt x="6418" y="0"/>
                  <a:pt x="6431" y="3"/>
                  <a:pt x="6444" y="8"/>
                </a:cubicBezTo>
                <a:cubicBezTo>
                  <a:pt x="6457" y="14"/>
                  <a:pt x="6469" y="21"/>
                  <a:pt x="6478" y="31"/>
                </a:cubicBezTo>
                <a:cubicBezTo>
                  <a:pt x="6488" y="41"/>
                  <a:pt x="6496" y="53"/>
                  <a:pt x="6501" y="66"/>
                </a:cubicBezTo>
                <a:cubicBezTo>
                  <a:pt x="6507" y="79"/>
                  <a:pt x="6509" y="92"/>
                  <a:pt x="6509" y="106"/>
                </a:cubicBezTo>
                <a:lnTo>
                  <a:pt x="6509" y="636"/>
                </a:lnTo>
                <a:cubicBezTo>
                  <a:pt x="6509" y="650"/>
                  <a:pt x="6507" y="664"/>
                  <a:pt x="6501" y="677"/>
                </a:cubicBezTo>
                <a:cubicBezTo>
                  <a:pt x="6496" y="690"/>
                  <a:pt x="6488" y="701"/>
                  <a:pt x="6478" y="711"/>
                </a:cubicBezTo>
                <a:cubicBezTo>
                  <a:pt x="6469" y="721"/>
                  <a:pt x="6457" y="729"/>
                  <a:pt x="6444" y="734"/>
                </a:cubicBezTo>
                <a:cubicBezTo>
                  <a:pt x="6431" y="740"/>
                  <a:pt x="6418" y="742"/>
                  <a:pt x="6404" y="742"/>
                </a:cubicBezTo>
                <a:lnTo>
                  <a:pt x="107" y="742"/>
                </a:lnTo>
                <a:cubicBezTo>
                  <a:pt x="93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1123920" y="1268280"/>
            <a:ext cx="2379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Agregación con IC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3556080" y="1305720"/>
            <a:ext cx="2232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errorbar=("ci", 95)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Forma libre 431"/>
          <p:cNvSpPr/>
          <p:nvPr/>
        </p:nvSpPr>
        <p:spPr>
          <a:xfrm>
            <a:off x="914040" y="1780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5835960" y="1268280"/>
            <a:ext cx="1474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por bootstrap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Forma libre 433"/>
          <p:cNvSpPr/>
          <p:nvPr/>
        </p:nvSpPr>
        <p:spPr>
          <a:xfrm>
            <a:off x="3800160" y="1685880"/>
            <a:ext cx="933840" cy="266760"/>
          </a:xfrm>
          <a:custGeom>
            <a:avLst/>
            <a:gdLst/>
            <a:ahLst/>
            <a:cxnLst/>
            <a:rect l="0" t="0" r="r" b="b"/>
            <a:pathLst>
              <a:path w="2594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2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2" y="78"/>
                  <a:pt x="2594" y="91"/>
                  <a:pt x="2594" y="105"/>
                </a:cubicBezTo>
                <a:lnTo>
                  <a:pt x="2594" y="636"/>
                </a:lnTo>
                <a:cubicBezTo>
                  <a:pt x="2594" y="650"/>
                  <a:pt x="2592" y="663"/>
                  <a:pt x="2586" y="676"/>
                </a:cubicBezTo>
                <a:cubicBezTo>
                  <a:pt x="2581" y="689"/>
                  <a:pt x="2573" y="701"/>
                  <a:pt x="2563" y="710"/>
                </a:cubicBezTo>
                <a:cubicBezTo>
                  <a:pt x="2553" y="720"/>
                  <a:pt x="2542" y="728"/>
                  <a:pt x="2529" y="733"/>
                </a:cubicBezTo>
                <a:cubicBezTo>
                  <a:pt x="2516" y="739"/>
                  <a:pt x="2502" y="741"/>
                  <a:pt x="2488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1123920" y="1668240"/>
            <a:ext cx="2680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Regresión con banda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914040" y="2180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CuadroTexto 436"/>
          <p:cNvSpPr txBox="1"/>
          <p:nvPr/>
        </p:nvSpPr>
        <p:spPr>
          <a:xfrm>
            <a:off x="3857040" y="170568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regplot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2504880" y="208584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3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1" y="663"/>
                  <a:pt x="2586" y="676"/>
                </a:cubicBezTo>
                <a:cubicBezTo>
                  <a:pt x="2581" y="689"/>
                  <a:pt x="2573" y="701"/>
                  <a:pt x="2563" y="711"/>
                </a:cubicBezTo>
                <a:cubicBezTo>
                  <a:pt x="2553" y="721"/>
                  <a:pt x="2542" y="728"/>
                  <a:pt x="2529" y="734"/>
                </a:cubicBezTo>
                <a:cubicBezTo>
                  <a:pt x="2516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1123920" y="2068200"/>
            <a:ext cx="1384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Densidad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2565360" y="210564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kdeplot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orma libre 440"/>
          <p:cNvSpPr/>
          <p:nvPr/>
        </p:nvSpPr>
        <p:spPr>
          <a:xfrm>
            <a:off x="914040" y="2581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3441600" y="2068200"/>
            <a:ext cx="2697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en una y dos dimensiones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2495520" y="2485800"/>
            <a:ext cx="590760" cy="267120"/>
          </a:xfrm>
          <a:custGeom>
            <a:avLst/>
            <a:gdLst/>
            <a:ahLst/>
            <a:cxnLst/>
            <a:rect l="0" t="0" r="r" b="b"/>
            <a:pathLst>
              <a:path w="164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35" y="0"/>
                </a:lnTo>
                <a:cubicBezTo>
                  <a:pt x="1549" y="0"/>
                  <a:pt x="1563" y="3"/>
                  <a:pt x="1576" y="8"/>
                </a:cubicBezTo>
                <a:cubicBezTo>
                  <a:pt x="1589" y="14"/>
                  <a:pt x="1600" y="21"/>
                  <a:pt x="1610" y="31"/>
                </a:cubicBezTo>
                <a:cubicBezTo>
                  <a:pt x="1620" y="41"/>
                  <a:pt x="1628" y="52"/>
                  <a:pt x="1633" y="65"/>
                </a:cubicBezTo>
                <a:cubicBezTo>
                  <a:pt x="1638" y="78"/>
                  <a:pt x="1641" y="92"/>
                  <a:pt x="1641" y="106"/>
                </a:cubicBezTo>
                <a:lnTo>
                  <a:pt x="1641" y="636"/>
                </a:lnTo>
                <a:cubicBezTo>
                  <a:pt x="1641" y="650"/>
                  <a:pt x="1638" y="664"/>
                  <a:pt x="1633" y="677"/>
                </a:cubicBezTo>
                <a:cubicBezTo>
                  <a:pt x="1628" y="690"/>
                  <a:pt x="1620" y="701"/>
                  <a:pt x="1610" y="711"/>
                </a:cubicBezTo>
                <a:cubicBezTo>
                  <a:pt x="1600" y="721"/>
                  <a:pt x="1589" y="729"/>
                  <a:pt x="1576" y="734"/>
                </a:cubicBezTo>
                <a:cubicBezTo>
                  <a:pt x="1563" y="739"/>
                  <a:pt x="1549" y="742"/>
                  <a:pt x="153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CuadroTexto 443"/>
          <p:cNvSpPr txBox="1"/>
          <p:nvPr/>
        </p:nvSpPr>
        <p:spPr>
          <a:xfrm>
            <a:off x="1123920" y="2468520"/>
            <a:ext cx="1376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Facetado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2557440" y="25056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col=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3209760" y="24858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8" y="0"/>
                </a:lnTo>
                <a:cubicBezTo>
                  <a:pt x="1522" y="0"/>
                  <a:pt x="1536" y="3"/>
                  <a:pt x="1549" y="8"/>
                </a:cubicBezTo>
                <a:cubicBezTo>
                  <a:pt x="1562" y="14"/>
                  <a:pt x="1574" y="21"/>
                  <a:pt x="1584" y="31"/>
                </a:cubicBezTo>
                <a:cubicBezTo>
                  <a:pt x="1594" y="41"/>
                  <a:pt x="1601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1" y="690"/>
                  <a:pt x="1594" y="701"/>
                  <a:pt x="1584" y="711"/>
                </a:cubicBezTo>
                <a:cubicBezTo>
                  <a:pt x="1574" y="721"/>
                  <a:pt x="1562" y="729"/>
                  <a:pt x="1549" y="734"/>
                </a:cubicBezTo>
                <a:cubicBezTo>
                  <a:pt x="1536" y="739"/>
                  <a:pt x="1522" y="742"/>
                  <a:pt x="150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3082680" y="24685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885600" y="3095280"/>
            <a:ext cx="1048320" cy="267120"/>
          </a:xfrm>
          <a:custGeom>
            <a:avLst/>
            <a:gdLst/>
            <a:ahLst/>
            <a:cxnLst/>
            <a:rect l="0" t="0" r="r" b="b"/>
            <a:pathLst>
              <a:path w="2912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3"/>
                  <a:pt x="2846" y="9"/>
                </a:cubicBezTo>
                <a:cubicBezTo>
                  <a:pt x="2859" y="14"/>
                  <a:pt x="2871" y="22"/>
                  <a:pt x="2881" y="31"/>
                </a:cubicBezTo>
                <a:cubicBezTo>
                  <a:pt x="2890" y="41"/>
                  <a:pt x="2898" y="53"/>
                  <a:pt x="2903" y="66"/>
                </a:cubicBezTo>
                <a:cubicBezTo>
                  <a:pt x="2909" y="79"/>
                  <a:pt x="2912" y="92"/>
                  <a:pt x="2912" y="106"/>
                </a:cubicBezTo>
                <a:lnTo>
                  <a:pt x="2912" y="635"/>
                </a:lnTo>
                <a:cubicBezTo>
                  <a:pt x="2912" y="649"/>
                  <a:pt x="2909" y="664"/>
                  <a:pt x="2903" y="677"/>
                </a:cubicBezTo>
                <a:cubicBezTo>
                  <a:pt x="2898" y="690"/>
                  <a:pt x="2890" y="701"/>
                  <a:pt x="2881" y="711"/>
                </a:cubicBezTo>
                <a:cubicBezTo>
                  <a:pt x="2871" y="721"/>
                  <a:pt x="2859" y="729"/>
                  <a:pt x="2846" y="734"/>
                </a:cubicBezTo>
                <a:cubicBezTo>
                  <a:pt x="2833" y="740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3267000" y="25056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row=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942840" y="311544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errorbar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5743440" y="3095280"/>
            <a:ext cx="590760" cy="267120"/>
          </a:xfrm>
          <a:custGeom>
            <a:avLst/>
            <a:gdLst/>
            <a:ahLst/>
            <a:cxnLst/>
            <a:rect l="0" t="0" r="r" b="b"/>
            <a:pathLst>
              <a:path w="1641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1535" y="0"/>
                </a:lnTo>
                <a:cubicBezTo>
                  <a:pt x="1549" y="0"/>
                  <a:pt x="1563" y="3"/>
                  <a:pt x="1576" y="9"/>
                </a:cubicBezTo>
                <a:cubicBezTo>
                  <a:pt x="1589" y="14"/>
                  <a:pt x="1600" y="22"/>
                  <a:pt x="1610" y="31"/>
                </a:cubicBezTo>
                <a:cubicBezTo>
                  <a:pt x="1620" y="41"/>
                  <a:pt x="1628" y="53"/>
                  <a:pt x="1633" y="66"/>
                </a:cubicBezTo>
                <a:cubicBezTo>
                  <a:pt x="1639" y="79"/>
                  <a:pt x="1641" y="92"/>
                  <a:pt x="1641" y="106"/>
                </a:cubicBezTo>
                <a:lnTo>
                  <a:pt x="1641" y="635"/>
                </a:lnTo>
                <a:cubicBezTo>
                  <a:pt x="1641" y="649"/>
                  <a:pt x="1639" y="664"/>
                  <a:pt x="1633" y="677"/>
                </a:cubicBezTo>
                <a:cubicBezTo>
                  <a:pt x="1628" y="690"/>
                  <a:pt x="1620" y="701"/>
                  <a:pt x="1610" y="711"/>
                </a:cubicBezTo>
                <a:cubicBezTo>
                  <a:pt x="1600" y="721"/>
                  <a:pt x="1589" y="729"/>
                  <a:pt x="1576" y="734"/>
                </a:cubicBezTo>
                <a:cubicBezTo>
                  <a:pt x="1563" y="740"/>
                  <a:pt x="1549" y="742"/>
                  <a:pt x="1535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1936080" y="3078000"/>
            <a:ext cx="3816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vale IC 95% por defecto, pero admite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5805000" y="311544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"sd"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6562440" y="30952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9"/>
                </a:cubicBezTo>
                <a:cubicBezTo>
                  <a:pt x="1563" y="14"/>
                  <a:pt x="1574" y="22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3" y="79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49"/>
                  <a:pt x="1613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40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6330240" y="307800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6620400" y="311544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"se"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7145640" y="3078000"/>
            <a:ext cx="3498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Son cosas distintas y se ven igual: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885960" y="3421080"/>
            <a:ext cx="196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declara cuál usaste.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666720" y="4235040"/>
            <a:ext cx="4132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seaborn espera formato largo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866880" y="505188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Largo (tidy): una observación por renglón  ← lo que seaborn quiere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866880" y="5318280"/>
            <a:ext cx="4756110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 dirty="0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  </a:t>
            </a:r>
            <a:r>
              <a:rPr lang="es-ES" sz="1430" b="0" i="1" u="none" strike="noStrike" dirty="0" err="1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i="1" u="none" strike="noStrike" dirty="0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 | fecha | laboratorio | valor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866880" y="557568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  P001      | 2024  | hba1c   | 7.2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866880" y="6099480"/>
            <a:ext cx="718946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sns.lineplot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(data=largo, x=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"fecha"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y=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"valor"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hue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”laboratorio"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279233" y="6586254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 dirty="0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CuadroTexto 47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Forma libre 4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orma libre 4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3129120" y="3063960"/>
            <a:ext cx="6099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Elegir la gráfica correcta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Forma libre 4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Forma libre 4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Forma libre 4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rma libre 434"/>
          <p:cNvSpPr/>
          <p:nvPr/>
        </p:nvSpPr>
        <p:spPr>
          <a:xfrm>
            <a:off x="676080" y="1971360"/>
            <a:ext cx="1314720" cy="410040"/>
          </a:xfrm>
          <a:custGeom>
            <a:avLst/>
            <a:gdLst/>
            <a:ahLst/>
            <a:cxnLst/>
            <a:rect l="0" t="0" r="r" b="b"/>
            <a:pathLst>
              <a:path w="3652" h="1139">
                <a:moveTo>
                  <a:pt x="0" y="0"/>
                </a:moveTo>
                <a:lnTo>
                  <a:pt x="3652" y="0"/>
                </a:lnTo>
                <a:lnTo>
                  <a:pt x="365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1990440" y="1971360"/>
            <a:ext cx="2877120" cy="410040"/>
          </a:xfrm>
          <a:custGeom>
            <a:avLst/>
            <a:gdLst/>
            <a:ahLst/>
            <a:cxnLst/>
            <a:rect l="0" t="0" r="r" b="b"/>
            <a:pathLst>
              <a:path w="7992" h="1139">
                <a:moveTo>
                  <a:pt x="0" y="0"/>
                </a:moveTo>
                <a:lnTo>
                  <a:pt x="7992" y="0"/>
                </a:lnTo>
                <a:lnTo>
                  <a:pt x="79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4867200" y="1971360"/>
            <a:ext cx="3353040" cy="410040"/>
          </a:xfrm>
          <a:custGeom>
            <a:avLst/>
            <a:gdLst/>
            <a:ahLst/>
            <a:cxnLst/>
            <a:rect l="0" t="0" r="r" b="b"/>
            <a:pathLst>
              <a:path w="9314" h="1139">
                <a:moveTo>
                  <a:pt x="0" y="0"/>
                </a:moveTo>
                <a:lnTo>
                  <a:pt x="9314" y="0"/>
                </a:lnTo>
                <a:lnTo>
                  <a:pt x="931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676080" y="1971360"/>
            <a:ext cx="1314720" cy="410040"/>
          </a:xfrm>
          <a:custGeom>
            <a:avLst/>
            <a:gdLst/>
            <a:ahLst/>
            <a:cxnLst/>
            <a:rect l="0" t="0" r="r" b="b"/>
            <a:pathLst>
              <a:path w="3652" h="1139">
                <a:moveTo>
                  <a:pt x="0" y="0"/>
                </a:moveTo>
                <a:lnTo>
                  <a:pt x="3652" y="0"/>
                </a:lnTo>
                <a:lnTo>
                  <a:pt x="365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orma libre 438"/>
          <p:cNvSpPr/>
          <p:nvPr/>
        </p:nvSpPr>
        <p:spPr>
          <a:xfrm>
            <a:off x="1990440" y="1971360"/>
            <a:ext cx="2877120" cy="410040"/>
          </a:xfrm>
          <a:custGeom>
            <a:avLst/>
            <a:gdLst/>
            <a:ahLst/>
            <a:cxnLst/>
            <a:rect l="0" t="0" r="r" b="b"/>
            <a:pathLst>
              <a:path w="7992" h="1139">
                <a:moveTo>
                  <a:pt x="0" y="0"/>
                </a:moveTo>
                <a:lnTo>
                  <a:pt x="7992" y="0"/>
                </a:lnTo>
                <a:lnTo>
                  <a:pt x="79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orma libre 439"/>
          <p:cNvSpPr/>
          <p:nvPr/>
        </p:nvSpPr>
        <p:spPr>
          <a:xfrm>
            <a:off x="4867200" y="1971360"/>
            <a:ext cx="3353040" cy="410040"/>
          </a:xfrm>
          <a:custGeom>
            <a:avLst/>
            <a:gdLst/>
            <a:ahLst/>
            <a:cxnLst/>
            <a:rect l="0" t="0" r="r" b="b"/>
            <a:pathLst>
              <a:path w="9314" h="1139">
                <a:moveTo>
                  <a:pt x="0" y="0"/>
                </a:moveTo>
                <a:lnTo>
                  <a:pt x="9314" y="0"/>
                </a:lnTo>
                <a:lnTo>
                  <a:pt x="931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orma libre 440"/>
          <p:cNvSpPr/>
          <p:nvPr/>
        </p:nvSpPr>
        <p:spPr>
          <a:xfrm>
            <a:off x="676080" y="2381040"/>
            <a:ext cx="1314720" cy="419400"/>
          </a:xfrm>
          <a:custGeom>
            <a:avLst/>
            <a:gdLst/>
            <a:ahLst/>
            <a:cxnLst/>
            <a:rect l="0" t="0" r="r" b="b"/>
            <a:pathLst>
              <a:path w="3652" h="1165">
                <a:moveTo>
                  <a:pt x="0" y="0"/>
                </a:moveTo>
                <a:lnTo>
                  <a:pt x="3652" y="0"/>
                </a:lnTo>
                <a:lnTo>
                  <a:pt x="365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1990440" y="2381040"/>
            <a:ext cx="2877120" cy="419400"/>
          </a:xfrm>
          <a:custGeom>
            <a:avLst/>
            <a:gdLst/>
            <a:ahLst/>
            <a:cxnLst/>
            <a:rect l="0" t="0" r="r" b="b"/>
            <a:pathLst>
              <a:path w="7992" h="1165">
                <a:moveTo>
                  <a:pt x="0" y="0"/>
                </a:moveTo>
                <a:lnTo>
                  <a:pt x="7992" y="0"/>
                </a:lnTo>
                <a:lnTo>
                  <a:pt x="79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4867200" y="2381040"/>
            <a:ext cx="3353040" cy="419400"/>
          </a:xfrm>
          <a:custGeom>
            <a:avLst/>
            <a:gdLst/>
            <a:ahLst/>
            <a:cxnLst/>
            <a:rect l="0" t="0" r="r" b="b"/>
            <a:pathLst>
              <a:path w="9314" h="1165">
                <a:moveTo>
                  <a:pt x="0" y="0"/>
                </a:moveTo>
                <a:lnTo>
                  <a:pt x="9314" y="0"/>
                </a:lnTo>
                <a:lnTo>
                  <a:pt x="931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676080" y="2800080"/>
            <a:ext cx="1314720" cy="419400"/>
          </a:xfrm>
          <a:custGeom>
            <a:avLst/>
            <a:gdLst/>
            <a:ahLst/>
            <a:cxnLst/>
            <a:rect l="0" t="0" r="r" b="b"/>
            <a:pathLst>
              <a:path w="3652" h="1165">
                <a:moveTo>
                  <a:pt x="0" y="0"/>
                </a:moveTo>
                <a:lnTo>
                  <a:pt x="3652" y="0"/>
                </a:lnTo>
                <a:lnTo>
                  <a:pt x="365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1990440" y="2800080"/>
            <a:ext cx="2877120" cy="419400"/>
          </a:xfrm>
          <a:custGeom>
            <a:avLst/>
            <a:gdLst/>
            <a:ahLst/>
            <a:cxnLst/>
            <a:rect l="0" t="0" r="r" b="b"/>
            <a:pathLst>
              <a:path w="7992" h="1165">
                <a:moveTo>
                  <a:pt x="0" y="0"/>
                </a:moveTo>
                <a:lnTo>
                  <a:pt x="7992" y="0"/>
                </a:lnTo>
                <a:lnTo>
                  <a:pt x="79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4867200" y="2800080"/>
            <a:ext cx="3353040" cy="419400"/>
          </a:xfrm>
          <a:custGeom>
            <a:avLst/>
            <a:gdLst/>
            <a:ahLst/>
            <a:cxnLst/>
            <a:rect l="0" t="0" r="r" b="b"/>
            <a:pathLst>
              <a:path w="9314" h="1165">
                <a:moveTo>
                  <a:pt x="0" y="0"/>
                </a:moveTo>
                <a:lnTo>
                  <a:pt x="9314" y="0"/>
                </a:lnTo>
                <a:lnTo>
                  <a:pt x="931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676080" y="3219120"/>
            <a:ext cx="1314720" cy="419760"/>
          </a:xfrm>
          <a:custGeom>
            <a:avLst/>
            <a:gdLst/>
            <a:ahLst/>
            <a:cxnLst/>
            <a:rect l="0" t="0" r="r" b="b"/>
            <a:pathLst>
              <a:path w="3652" h="1166">
                <a:moveTo>
                  <a:pt x="0" y="0"/>
                </a:moveTo>
                <a:lnTo>
                  <a:pt x="3652" y="0"/>
                </a:lnTo>
                <a:lnTo>
                  <a:pt x="365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1990440" y="3219120"/>
            <a:ext cx="2877120" cy="419760"/>
          </a:xfrm>
          <a:custGeom>
            <a:avLst/>
            <a:gdLst/>
            <a:ahLst/>
            <a:cxnLst/>
            <a:rect l="0" t="0" r="r" b="b"/>
            <a:pathLst>
              <a:path w="7992" h="1166">
                <a:moveTo>
                  <a:pt x="0" y="0"/>
                </a:moveTo>
                <a:lnTo>
                  <a:pt x="7992" y="0"/>
                </a:lnTo>
                <a:lnTo>
                  <a:pt x="799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4867200" y="3219120"/>
            <a:ext cx="3353040" cy="419760"/>
          </a:xfrm>
          <a:custGeom>
            <a:avLst/>
            <a:gdLst/>
            <a:ahLst/>
            <a:cxnLst/>
            <a:rect l="0" t="0" r="r" b="b"/>
            <a:pathLst>
              <a:path w="9314" h="1166">
                <a:moveTo>
                  <a:pt x="0" y="0"/>
                </a:moveTo>
                <a:lnTo>
                  <a:pt x="9314" y="0"/>
                </a:lnTo>
                <a:lnTo>
                  <a:pt x="931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orma libre 449"/>
          <p:cNvSpPr/>
          <p:nvPr/>
        </p:nvSpPr>
        <p:spPr>
          <a:xfrm>
            <a:off x="676080" y="3638520"/>
            <a:ext cx="1314720" cy="419400"/>
          </a:xfrm>
          <a:custGeom>
            <a:avLst/>
            <a:gdLst/>
            <a:ahLst/>
            <a:cxnLst/>
            <a:rect l="0" t="0" r="r" b="b"/>
            <a:pathLst>
              <a:path w="3652" h="1165">
                <a:moveTo>
                  <a:pt x="0" y="0"/>
                </a:moveTo>
                <a:lnTo>
                  <a:pt x="3652" y="0"/>
                </a:lnTo>
                <a:lnTo>
                  <a:pt x="365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1990440" y="3638520"/>
            <a:ext cx="2877120" cy="419400"/>
          </a:xfrm>
          <a:custGeom>
            <a:avLst/>
            <a:gdLst/>
            <a:ahLst/>
            <a:cxnLst/>
            <a:rect l="0" t="0" r="r" b="b"/>
            <a:pathLst>
              <a:path w="7992" h="1165">
                <a:moveTo>
                  <a:pt x="0" y="0"/>
                </a:moveTo>
                <a:lnTo>
                  <a:pt x="7992" y="0"/>
                </a:lnTo>
                <a:lnTo>
                  <a:pt x="79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orma libre 451"/>
          <p:cNvSpPr/>
          <p:nvPr/>
        </p:nvSpPr>
        <p:spPr>
          <a:xfrm>
            <a:off x="4867200" y="3638520"/>
            <a:ext cx="3353040" cy="419400"/>
          </a:xfrm>
          <a:custGeom>
            <a:avLst/>
            <a:gdLst/>
            <a:ahLst/>
            <a:cxnLst/>
            <a:rect l="0" t="0" r="r" b="b"/>
            <a:pathLst>
              <a:path w="9314" h="1165">
                <a:moveTo>
                  <a:pt x="0" y="0"/>
                </a:moveTo>
                <a:lnTo>
                  <a:pt x="9314" y="0"/>
                </a:lnTo>
                <a:lnTo>
                  <a:pt x="931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676080" y="4057560"/>
            <a:ext cx="1314720" cy="419400"/>
          </a:xfrm>
          <a:custGeom>
            <a:avLst/>
            <a:gdLst/>
            <a:ahLst/>
            <a:cxnLst/>
            <a:rect l="0" t="0" r="r" b="b"/>
            <a:pathLst>
              <a:path w="3652" h="1165">
                <a:moveTo>
                  <a:pt x="0" y="0"/>
                </a:moveTo>
                <a:lnTo>
                  <a:pt x="3652" y="0"/>
                </a:lnTo>
                <a:lnTo>
                  <a:pt x="365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1990440" y="4057560"/>
            <a:ext cx="2877120" cy="419400"/>
          </a:xfrm>
          <a:custGeom>
            <a:avLst/>
            <a:gdLst/>
            <a:ahLst/>
            <a:cxnLst/>
            <a:rect l="0" t="0" r="r" b="b"/>
            <a:pathLst>
              <a:path w="7992" h="1165">
                <a:moveTo>
                  <a:pt x="0" y="0"/>
                </a:moveTo>
                <a:lnTo>
                  <a:pt x="7992" y="0"/>
                </a:lnTo>
                <a:lnTo>
                  <a:pt x="79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4867200" y="4057560"/>
            <a:ext cx="3353040" cy="419400"/>
          </a:xfrm>
          <a:custGeom>
            <a:avLst/>
            <a:gdLst/>
            <a:ahLst/>
            <a:cxnLst/>
            <a:rect l="0" t="0" r="r" b="b"/>
            <a:pathLst>
              <a:path w="9314" h="1165">
                <a:moveTo>
                  <a:pt x="0" y="0"/>
                </a:moveTo>
                <a:lnTo>
                  <a:pt x="9314" y="0"/>
                </a:lnTo>
                <a:lnTo>
                  <a:pt x="931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66672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666720" y="1962000"/>
            <a:ext cx="1324080" cy="9720"/>
          </a:xfrm>
          <a:custGeom>
            <a:avLst/>
            <a:gdLst/>
            <a:ahLst/>
            <a:cxn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orma libre 457"/>
          <p:cNvSpPr/>
          <p:nvPr/>
        </p:nvSpPr>
        <p:spPr>
          <a:xfrm>
            <a:off x="198108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1990440" y="1962000"/>
            <a:ext cx="2877120" cy="9720"/>
          </a:xfrm>
          <a:custGeom>
            <a:avLst/>
            <a:gdLst/>
            <a:ahLst/>
            <a:cxnLst/>
            <a:rect l="0" t="0" r="r" b="b"/>
            <a:pathLst>
              <a:path w="7992" h="27">
                <a:moveTo>
                  <a:pt x="0" y="0"/>
                </a:moveTo>
                <a:lnTo>
                  <a:pt x="7992" y="0"/>
                </a:lnTo>
                <a:lnTo>
                  <a:pt x="7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orma libre 459"/>
          <p:cNvSpPr/>
          <p:nvPr/>
        </p:nvSpPr>
        <p:spPr>
          <a:xfrm>
            <a:off x="4857480" y="1962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orma libre 460"/>
          <p:cNvSpPr/>
          <p:nvPr/>
        </p:nvSpPr>
        <p:spPr>
          <a:xfrm>
            <a:off x="4867200" y="1962000"/>
            <a:ext cx="3353040" cy="9720"/>
          </a:xfrm>
          <a:custGeom>
            <a:avLst/>
            <a:gdLst/>
            <a:ahLst/>
            <a:cxnLst/>
            <a:rect l="0" t="0" r="r" b="b"/>
            <a:pathLst>
              <a:path w="9314" h="27">
                <a:moveTo>
                  <a:pt x="0" y="0"/>
                </a:moveTo>
                <a:lnTo>
                  <a:pt x="9314" y="0"/>
                </a:lnTo>
                <a:lnTo>
                  <a:pt x="9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821052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666720" y="2371680"/>
            <a:ext cx="1324080" cy="9720"/>
          </a:xfrm>
          <a:custGeom>
            <a:avLst/>
            <a:gdLst/>
            <a:ahLst/>
            <a:cxn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orma libre 463"/>
          <p:cNvSpPr/>
          <p:nvPr/>
        </p:nvSpPr>
        <p:spPr>
          <a:xfrm>
            <a:off x="1990440" y="2371680"/>
            <a:ext cx="2877120" cy="9720"/>
          </a:xfrm>
          <a:custGeom>
            <a:avLst/>
            <a:gdLst/>
            <a:ahLst/>
            <a:cxnLst/>
            <a:rect l="0" t="0" r="r" b="b"/>
            <a:pathLst>
              <a:path w="7992" h="27">
                <a:moveTo>
                  <a:pt x="0" y="0"/>
                </a:moveTo>
                <a:lnTo>
                  <a:pt x="7992" y="0"/>
                </a:lnTo>
                <a:lnTo>
                  <a:pt x="7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4867200" y="2371680"/>
            <a:ext cx="3353040" cy="9720"/>
          </a:xfrm>
          <a:custGeom>
            <a:avLst/>
            <a:gdLst/>
            <a:ahLst/>
            <a:cxnLst/>
            <a:rect l="0" t="0" r="r" b="b"/>
            <a:pathLst>
              <a:path w="9314" h="27">
                <a:moveTo>
                  <a:pt x="0" y="0"/>
                </a:moveTo>
                <a:lnTo>
                  <a:pt x="9314" y="0"/>
                </a:lnTo>
                <a:lnTo>
                  <a:pt x="9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198108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485748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82105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666720" y="2790720"/>
            <a:ext cx="1324080" cy="9720"/>
          </a:xfrm>
          <a:custGeom>
            <a:avLst/>
            <a:gdLst/>
            <a:ahLst/>
            <a:cxn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198108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orma libre 472"/>
          <p:cNvSpPr/>
          <p:nvPr/>
        </p:nvSpPr>
        <p:spPr>
          <a:xfrm>
            <a:off x="1990440" y="2790720"/>
            <a:ext cx="2877120" cy="9720"/>
          </a:xfrm>
          <a:custGeom>
            <a:avLst/>
            <a:gdLst/>
            <a:ahLst/>
            <a:cxnLst/>
            <a:rect l="0" t="0" r="r" b="b"/>
            <a:pathLst>
              <a:path w="7992" h="27">
                <a:moveTo>
                  <a:pt x="0" y="0"/>
                </a:moveTo>
                <a:lnTo>
                  <a:pt x="7992" y="0"/>
                </a:lnTo>
                <a:lnTo>
                  <a:pt x="7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4857480" y="2800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4867200" y="2790720"/>
            <a:ext cx="3353040" cy="9720"/>
          </a:xfrm>
          <a:custGeom>
            <a:avLst/>
            <a:gdLst/>
            <a:ahLst/>
            <a:cxnLst/>
            <a:rect l="0" t="0" r="r" b="b"/>
            <a:pathLst>
              <a:path w="9314" h="27">
                <a:moveTo>
                  <a:pt x="0" y="0"/>
                </a:moveTo>
                <a:lnTo>
                  <a:pt x="9314" y="0"/>
                </a:lnTo>
                <a:lnTo>
                  <a:pt x="9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82105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666720" y="3209760"/>
            <a:ext cx="1324080" cy="9720"/>
          </a:xfrm>
          <a:custGeom>
            <a:avLst/>
            <a:gdLst/>
            <a:ahLst/>
            <a:cxn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orma libre 478"/>
          <p:cNvSpPr/>
          <p:nvPr/>
        </p:nvSpPr>
        <p:spPr>
          <a:xfrm>
            <a:off x="198108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1990440" y="3209760"/>
            <a:ext cx="2877120" cy="9720"/>
          </a:xfrm>
          <a:custGeom>
            <a:avLst/>
            <a:gdLst/>
            <a:ahLst/>
            <a:cxnLst/>
            <a:rect l="0" t="0" r="r" b="b"/>
            <a:pathLst>
              <a:path w="7992" h="27">
                <a:moveTo>
                  <a:pt x="0" y="0"/>
                </a:moveTo>
                <a:lnTo>
                  <a:pt x="7992" y="0"/>
                </a:lnTo>
                <a:lnTo>
                  <a:pt x="7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orma libre 480"/>
          <p:cNvSpPr/>
          <p:nvPr/>
        </p:nvSpPr>
        <p:spPr>
          <a:xfrm>
            <a:off x="4857480" y="3219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Forma libre 481"/>
          <p:cNvSpPr/>
          <p:nvPr/>
        </p:nvSpPr>
        <p:spPr>
          <a:xfrm>
            <a:off x="4867200" y="3209760"/>
            <a:ext cx="3353040" cy="9720"/>
          </a:xfrm>
          <a:custGeom>
            <a:avLst/>
            <a:gdLst/>
            <a:ahLst/>
            <a:cxnLst/>
            <a:rect l="0" t="0" r="r" b="b"/>
            <a:pathLst>
              <a:path w="9314" h="27">
                <a:moveTo>
                  <a:pt x="0" y="0"/>
                </a:moveTo>
                <a:lnTo>
                  <a:pt x="9314" y="0"/>
                </a:lnTo>
                <a:lnTo>
                  <a:pt x="9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82105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orma libre 483"/>
          <p:cNvSpPr/>
          <p:nvPr/>
        </p:nvSpPr>
        <p:spPr>
          <a:xfrm>
            <a:off x="6667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666720" y="3628800"/>
            <a:ext cx="1324080" cy="10080"/>
          </a:xfrm>
          <a:custGeom>
            <a:avLst/>
            <a:gdLst/>
            <a:ahLst/>
            <a:cxnLst/>
            <a:rect l="0" t="0" r="r" b="b"/>
            <a:pathLst>
              <a:path w="3678" h="28">
                <a:moveTo>
                  <a:pt x="0" y="0"/>
                </a:moveTo>
                <a:lnTo>
                  <a:pt x="3678" y="0"/>
                </a:lnTo>
                <a:lnTo>
                  <a:pt x="36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Forma libre 485"/>
          <p:cNvSpPr/>
          <p:nvPr/>
        </p:nvSpPr>
        <p:spPr>
          <a:xfrm>
            <a:off x="198108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Forma libre 486"/>
          <p:cNvSpPr/>
          <p:nvPr/>
        </p:nvSpPr>
        <p:spPr>
          <a:xfrm>
            <a:off x="1990440" y="3628800"/>
            <a:ext cx="2877120" cy="10080"/>
          </a:xfrm>
          <a:custGeom>
            <a:avLst/>
            <a:gdLst/>
            <a:ahLst/>
            <a:cxnLst/>
            <a:rect l="0" t="0" r="r" b="b"/>
            <a:pathLst>
              <a:path w="7992" h="28">
                <a:moveTo>
                  <a:pt x="0" y="0"/>
                </a:moveTo>
                <a:lnTo>
                  <a:pt x="7992" y="0"/>
                </a:lnTo>
                <a:lnTo>
                  <a:pt x="7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4857480" y="3638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Forma libre 488"/>
          <p:cNvSpPr/>
          <p:nvPr/>
        </p:nvSpPr>
        <p:spPr>
          <a:xfrm>
            <a:off x="4867200" y="3628800"/>
            <a:ext cx="3353040" cy="10080"/>
          </a:xfrm>
          <a:custGeom>
            <a:avLst/>
            <a:gdLst/>
            <a:ahLst/>
            <a:cxnLst/>
            <a:rect l="0" t="0" r="r" b="b"/>
            <a:pathLst>
              <a:path w="9314" h="28">
                <a:moveTo>
                  <a:pt x="0" y="0"/>
                </a:moveTo>
                <a:lnTo>
                  <a:pt x="9314" y="0"/>
                </a:lnTo>
                <a:lnTo>
                  <a:pt x="9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Forma libre 489"/>
          <p:cNvSpPr/>
          <p:nvPr/>
        </p:nvSpPr>
        <p:spPr>
          <a:xfrm>
            <a:off x="82105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66672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orma libre 491"/>
          <p:cNvSpPr/>
          <p:nvPr/>
        </p:nvSpPr>
        <p:spPr>
          <a:xfrm>
            <a:off x="666720" y="4047840"/>
            <a:ext cx="1324080" cy="10440"/>
          </a:xfrm>
          <a:custGeom>
            <a:avLst/>
            <a:gdLst/>
            <a:ahLst/>
            <a:cxnLst/>
            <a:rect l="0" t="0" r="r" b="b"/>
            <a:pathLst>
              <a:path w="3678" h="29">
                <a:moveTo>
                  <a:pt x="0" y="0"/>
                </a:moveTo>
                <a:lnTo>
                  <a:pt x="3678" y="0"/>
                </a:lnTo>
                <a:lnTo>
                  <a:pt x="367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Forma libre 492"/>
          <p:cNvSpPr/>
          <p:nvPr/>
        </p:nvSpPr>
        <p:spPr>
          <a:xfrm>
            <a:off x="198108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1990440" y="4047840"/>
            <a:ext cx="2877120" cy="10440"/>
          </a:xfrm>
          <a:custGeom>
            <a:avLst/>
            <a:gdLst/>
            <a:ahLst/>
            <a:cxnLst/>
            <a:rect l="0" t="0" r="r" b="b"/>
            <a:pathLst>
              <a:path w="7992" h="29">
                <a:moveTo>
                  <a:pt x="0" y="0"/>
                </a:moveTo>
                <a:lnTo>
                  <a:pt x="7992" y="0"/>
                </a:lnTo>
                <a:lnTo>
                  <a:pt x="799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4857480" y="4057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4867200" y="4047840"/>
            <a:ext cx="3353040" cy="10440"/>
          </a:xfrm>
          <a:custGeom>
            <a:avLst/>
            <a:gdLst/>
            <a:ahLst/>
            <a:cxnLst/>
            <a:rect l="0" t="0" r="r" b="b"/>
            <a:pathLst>
              <a:path w="9314" h="29">
                <a:moveTo>
                  <a:pt x="0" y="0"/>
                </a:moveTo>
                <a:lnTo>
                  <a:pt x="9314" y="0"/>
                </a:lnTo>
                <a:lnTo>
                  <a:pt x="931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821052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orma libre 497"/>
          <p:cNvSpPr/>
          <p:nvPr/>
        </p:nvSpPr>
        <p:spPr>
          <a:xfrm>
            <a:off x="666720" y="4466880"/>
            <a:ext cx="1324080" cy="10080"/>
          </a:xfrm>
          <a:custGeom>
            <a:avLst/>
            <a:gdLst/>
            <a:ahLst/>
            <a:cxnLst/>
            <a:rect l="0" t="0" r="r" b="b"/>
            <a:pathLst>
              <a:path w="3678" h="28">
                <a:moveTo>
                  <a:pt x="0" y="0"/>
                </a:moveTo>
                <a:lnTo>
                  <a:pt x="3678" y="0"/>
                </a:lnTo>
                <a:lnTo>
                  <a:pt x="36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1990440" y="4466880"/>
            <a:ext cx="2877120" cy="10080"/>
          </a:xfrm>
          <a:custGeom>
            <a:avLst/>
            <a:gdLst/>
            <a:ahLst/>
            <a:cxnLst/>
            <a:rect l="0" t="0" r="r" b="b"/>
            <a:pathLst>
              <a:path w="7992" h="28">
                <a:moveTo>
                  <a:pt x="0" y="0"/>
                </a:moveTo>
                <a:lnTo>
                  <a:pt x="7992" y="0"/>
                </a:lnTo>
                <a:lnTo>
                  <a:pt x="7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4867200" y="4466880"/>
            <a:ext cx="3353040" cy="10080"/>
          </a:xfrm>
          <a:custGeom>
            <a:avLst/>
            <a:gdLst/>
            <a:ahLst/>
            <a:cxnLst/>
            <a:rect l="0" t="0" r="r" b="b"/>
            <a:pathLst>
              <a:path w="9314" h="28">
                <a:moveTo>
                  <a:pt x="0" y="0"/>
                </a:moveTo>
                <a:lnTo>
                  <a:pt x="9314" y="0"/>
                </a:lnTo>
                <a:lnTo>
                  <a:pt x="9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CuadroTexto 502"/>
          <p:cNvSpPr txBox="1"/>
          <p:nvPr/>
        </p:nvSpPr>
        <p:spPr>
          <a:xfrm>
            <a:off x="666720" y="1329840"/>
            <a:ext cx="3007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variable continua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CuadroTexto 503"/>
          <p:cNvSpPr txBox="1"/>
          <p:nvPr/>
        </p:nvSpPr>
        <p:spPr>
          <a:xfrm>
            <a:off x="997560" y="2066400"/>
            <a:ext cx="663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Gráﬁca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3052080" y="2066400"/>
            <a:ext cx="748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Muestra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6243120" y="2066400"/>
            <a:ext cx="596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Oculta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799920" y="2476080"/>
            <a:ext cx="1058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Histograma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2115000" y="2476080"/>
            <a:ext cx="1969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Forma de la distribución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4993920" y="2476080"/>
            <a:ext cx="2167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Depende del ancho de bin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799920" y="2895120"/>
            <a:ext cx="402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KDE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2115000" y="2895120"/>
            <a:ext cx="1391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Forma suavizada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4993920" y="2895120"/>
            <a:ext cx="3095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Inventa densidad donde no hay datos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799920" y="3314160"/>
            <a:ext cx="519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ECDF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2115000" y="3314160"/>
            <a:ext cx="2647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Todos los datos, sin parámetros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4993920" y="3314160"/>
            <a:ext cx="2390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Menos intuitiva para el clínico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799920" y="3733560"/>
            <a:ext cx="702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Boxplot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2115000" y="3733560"/>
            <a:ext cx="2221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Mediana, cuartiles, atípicos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4993920" y="3733560"/>
            <a:ext cx="2523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forma: bimodalidad invisible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799920" y="4152600"/>
            <a:ext cx="497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Violín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2115000" y="4152600"/>
            <a:ext cx="1459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Forma + resumen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4993920" y="4152600"/>
            <a:ext cx="2622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Sugiere datos donde hay pocos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41D65C-FE9A-DA69-4321-314538223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20" y="4497507"/>
            <a:ext cx="7772400" cy="19354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C08976B-F808-A6F6-5A29-EAD43E508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749" y="2194658"/>
            <a:ext cx="3842341" cy="223746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25BB3CC-6F91-BF92-3B75-B7FF1C1DBDFA}"/>
              </a:ext>
            </a:extLst>
          </p:cNvPr>
          <p:cNvSpPr txBox="1"/>
          <p:nvPr/>
        </p:nvSpPr>
        <p:spPr>
          <a:xfrm>
            <a:off x="8302561" y="6528960"/>
            <a:ext cx="2614755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KDE: </a:t>
            </a:r>
            <a:r>
              <a:rPr lang="es-ES" sz="15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Kernel</a:t>
            </a:r>
            <a:r>
              <a:rPr lang="es-ES" sz="15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5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Density</a:t>
            </a:r>
            <a:r>
              <a:rPr lang="es-ES" sz="15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5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estimate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Forma libre 5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671400" y="32144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671400" y="32144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690480" y="421956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3"/>
                  <a:pt x="30065" y="61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7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7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666720" y="421956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CuadroTexto 533"/>
          <p:cNvSpPr txBox="1"/>
          <p:nvPr/>
        </p:nvSpPr>
        <p:spPr>
          <a:xfrm>
            <a:off x="666720" y="1587240"/>
            <a:ext cx="5653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variables, y categórica con continua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5657760" y="2276280"/>
            <a:ext cx="705240" cy="267120"/>
          </a:xfrm>
          <a:custGeom>
            <a:avLst/>
            <a:gdLst/>
            <a:ahLst/>
            <a:cxnLst/>
            <a:rect l="0" t="0" r="r" b="b"/>
            <a:pathLst>
              <a:path w="1959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0" y="3"/>
                  <a:pt x="1893" y="8"/>
                </a:cubicBezTo>
                <a:cubicBezTo>
                  <a:pt x="1906" y="13"/>
                  <a:pt x="1918" y="21"/>
                  <a:pt x="1928" y="31"/>
                </a:cubicBezTo>
                <a:cubicBezTo>
                  <a:pt x="1938" y="41"/>
                  <a:pt x="1945" y="52"/>
                  <a:pt x="1951" y="65"/>
                </a:cubicBezTo>
                <a:cubicBezTo>
                  <a:pt x="1956" y="78"/>
                  <a:pt x="1959" y="92"/>
                  <a:pt x="1959" y="106"/>
                </a:cubicBezTo>
                <a:lnTo>
                  <a:pt x="1959" y="635"/>
                </a:lnTo>
                <a:cubicBezTo>
                  <a:pt x="1959" y="649"/>
                  <a:pt x="1956" y="663"/>
                  <a:pt x="1951" y="676"/>
                </a:cubicBezTo>
                <a:cubicBezTo>
                  <a:pt x="1945" y="689"/>
                  <a:pt x="1938" y="700"/>
                  <a:pt x="1928" y="711"/>
                </a:cubicBezTo>
                <a:cubicBezTo>
                  <a:pt x="1918" y="721"/>
                  <a:pt x="1906" y="728"/>
                  <a:pt x="1893" y="734"/>
                </a:cubicBezTo>
                <a:cubicBezTo>
                  <a:pt x="1880" y="739"/>
                  <a:pt x="1867" y="742"/>
                  <a:pt x="185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CuadroTexto 535"/>
          <p:cNvSpPr txBox="1"/>
          <p:nvPr/>
        </p:nvSpPr>
        <p:spPr>
          <a:xfrm>
            <a:off x="666720" y="2259000"/>
            <a:ext cx="4996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continuas: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dispersión. Si hay sobreposición: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5715720" y="229608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alpha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CuadroTexto 537"/>
          <p:cNvSpPr txBox="1"/>
          <p:nvPr/>
        </p:nvSpPr>
        <p:spPr>
          <a:xfrm>
            <a:off x="6357960" y="2259000"/>
            <a:ext cx="2346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hexbin o densidad 2D.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CuadroTexto 538"/>
          <p:cNvSpPr txBox="1"/>
          <p:nvPr/>
        </p:nvSpPr>
        <p:spPr>
          <a:xfrm>
            <a:off x="666720" y="2754000"/>
            <a:ext cx="8706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Categórica + continua: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strip o swarm si hay pocos puntos; box o violín si hay muchos.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866880" y="3394440"/>
            <a:ext cx="5896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sns.stripplot(data=df, x=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"grupo"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y=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"hba1c"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alpha=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.5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866880" y="3661200"/>
            <a:ext cx="742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sns.boxplot(data=df, x=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"grupo"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y=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"hba1c"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whis=(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95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 fill=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False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885960" y="4373280"/>
            <a:ext cx="9716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 tienes menos de ~30 puntos, muéstralos todos.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 boxplot de n=6 esconde más de lo 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CuadroTexto 542"/>
          <p:cNvSpPr txBox="1"/>
          <p:nvPr/>
        </p:nvSpPr>
        <p:spPr>
          <a:xfrm>
            <a:off x="885960" y="4716360"/>
            <a:ext cx="3452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resume, y el revisor va a preguntar.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CuadroTexto 54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CuadroTexto 54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Forma libre 5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CuadroTexto 549"/>
          <p:cNvSpPr txBox="1"/>
          <p:nvPr/>
        </p:nvSpPr>
        <p:spPr>
          <a:xfrm>
            <a:off x="2025000" y="3063960"/>
            <a:ext cx="83494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Gráficas propias de datos clínicos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CuadroTexto 55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CuadroTexto 55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CuadroTexto 55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Forma libre 5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CuadroTexto 558"/>
          <p:cNvSpPr txBox="1"/>
          <p:nvPr/>
        </p:nvSpPr>
        <p:spPr>
          <a:xfrm>
            <a:off x="666720" y="1749240"/>
            <a:ext cx="1854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Kaplan-Meier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E23BBBE-04BF-7B07-B357-C5BFCB28ABAF}"/>
              </a:ext>
            </a:extLst>
          </p:cNvPr>
          <p:cNvGrpSpPr/>
          <p:nvPr/>
        </p:nvGrpSpPr>
        <p:grpSpPr>
          <a:xfrm>
            <a:off x="553365" y="5694721"/>
            <a:ext cx="10587240" cy="613080"/>
            <a:chOff x="666720" y="4478040"/>
            <a:chExt cx="10587240" cy="613080"/>
          </a:xfrm>
        </p:grpSpPr>
        <p:sp>
          <p:nvSpPr>
            <p:cNvPr id="565" name="CuadroTexto 564"/>
            <p:cNvSpPr txBox="1"/>
            <p:nvPr/>
          </p:nvSpPr>
          <p:spPr>
            <a:xfrm>
              <a:off x="666720" y="4478040"/>
              <a:ext cx="10587240" cy="2732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Obligatorio:</a:t>
              </a:r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 la tabla de pacientes en riesgo debajo del eje. Sin ella, la cola derecha de la curva puede estar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6" name="CuadroTexto 565"/>
            <p:cNvSpPr txBox="1"/>
            <p:nvPr/>
          </p:nvSpPr>
          <p:spPr>
            <a:xfrm>
              <a:off x="666720" y="4821120"/>
              <a:ext cx="2850120" cy="270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sostenida por tres pacientes.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67" name="CuadroTexto 56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CuadroTexto 56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2F9812-943A-C8F1-D17E-7C4E8AF18C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2"/>
          <a:stretch/>
        </p:blipFill>
        <p:spPr>
          <a:xfrm>
            <a:off x="3674160" y="888958"/>
            <a:ext cx="7772400" cy="47761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Forma libre 5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uadroTexto 574"/>
          <p:cNvSpPr txBox="1"/>
          <p:nvPr/>
        </p:nvSpPr>
        <p:spPr>
          <a:xfrm>
            <a:off x="613439" y="712262"/>
            <a:ext cx="2733121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Diagramas de flujo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8A90110-2E3D-BE8C-77CD-FC17D7876A72}"/>
              </a:ext>
            </a:extLst>
          </p:cNvPr>
          <p:cNvGrpSpPr/>
          <p:nvPr/>
        </p:nvGrpSpPr>
        <p:grpSpPr>
          <a:xfrm>
            <a:off x="613439" y="1414748"/>
            <a:ext cx="9437022" cy="616320"/>
            <a:chOff x="666720" y="3335040"/>
            <a:chExt cx="7566815" cy="616320"/>
          </a:xfrm>
        </p:grpSpPr>
        <p:sp>
          <p:nvSpPr>
            <p:cNvPr id="578" name="CuadroTexto 577"/>
            <p:cNvSpPr txBox="1"/>
            <p:nvPr/>
          </p:nvSpPr>
          <p:spPr>
            <a:xfrm>
              <a:off x="666720" y="3335040"/>
              <a:ext cx="7566815" cy="276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dirty="0">
                  <a:solidFill>
                    <a:srgbClr val="4A4A4A"/>
                  </a:solidFill>
                  <a:latin typeface="HelveticaNeue"/>
                  <a:ea typeface="HelveticaNeue"/>
                </a:rPr>
                <a:t>Muestra </a:t>
              </a:r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la población elegible a la cohorte </a:t>
              </a:r>
              <a:r>
                <a:rPr lang="es-ES" sz="1800" b="0" u="none" strike="noStrike" dirty="0" err="1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ﬁnal</a:t>
              </a:r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, con el número excluido en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9" name="CuadroTexto 578"/>
            <p:cNvSpPr txBox="1"/>
            <p:nvPr/>
          </p:nvSpPr>
          <p:spPr>
            <a:xfrm>
              <a:off x="666720" y="3678120"/>
              <a:ext cx="2173320" cy="2732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cada paso y </a:t>
              </a:r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por qué</a:t>
              </a:r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.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82" name="CuadroTexto 58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CuadroTexto 58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7E8FA3-7924-C955-52AC-CB949AC0B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740" y="1828800"/>
            <a:ext cx="6908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Forma libre 6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666720" y="1491840"/>
            <a:ext cx="1468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Tabla 1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DBFC993-79F5-A693-B13A-7815429C3740}"/>
              </a:ext>
            </a:extLst>
          </p:cNvPr>
          <p:cNvGrpSpPr/>
          <p:nvPr/>
        </p:nvGrpSpPr>
        <p:grpSpPr>
          <a:xfrm>
            <a:off x="666720" y="2092680"/>
            <a:ext cx="10591200" cy="612720"/>
            <a:chOff x="666720" y="2658960"/>
            <a:chExt cx="10591200" cy="612720"/>
          </a:xfrm>
        </p:grpSpPr>
        <p:sp>
          <p:nvSpPr>
            <p:cNvPr id="613" name="CuadroTexto 612"/>
            <p:cNvSpPr txBox="1"/>
            <p:nvPr/>
          </p:nvSpPr>
          <p:spPr>
            <a:xfrm>
              <a:off x="666720" y="2658960"/>
              <a:ext cx="10591200" cy="270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Características basales por grupo: n, edad, sexo, comorbilidades, laboratorios, con la medida de dispersión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4" name="CuadroTexto 613"/>
            <p:cNvSpPr txBox="1"/>
            <p:nvPr/>
          </p:nvSpPr>
          <p:spPr>
            <a:xfrm>
              <a:off x="666720" y="3001680"/>
              <a:ext cx="2601360" cy="270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apropiada a cada variable.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19" name="CuadroTexto 6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8" name="Picture 4" descr="Chapter 5 Descriptive Statistics and Data Visualization | R you Ready for R?">
            <a:extLst>
              <a:ext uri="{FF2B5EF4-FFF2-40B4-BE49-F238E27FC236}">
                <a16:creationId xmlns:a16="http://schemas.microsoft.com/office/drawing/2014/main" id="{4F880472-EB3B-FAA3-CEC6-9CFA0E739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056" y="2814657"/>
            <a:ext cx="5930585" cy="290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Forma libre 6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628219" y="684504"/>
            <a:ext cx="5320367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Gráficas para visualizar tratamientos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226122-2274-DF98-7AEF-FD96EE76D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62" y="1332663"/>
            <a:ext cx="5965070" cy="35262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5A6E1FE-141A-7898-F5E9-B90F699B4A88}"/>
              </a:ext>
            </a:extLst>
          </p:cNvPr>
          <p:cNvSpPr txBox="1"/>
          <p:nvPr/>
        </p:nvSpPr>
        <p:spPr>
          <a:xfrm>
            <a:off x="1896995" y="5114660"/>
            <a:ext cx="139140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Sunburst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plot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C53F882-4E9E-EEB9-F050-65D21C594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280" y="930242"/>
            <a:ext cx="4717927" cy="467306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03D15C2-F329-08AB-1BA3-C19BC78F62CA}"/>
              </a:ext>
            </a:extLst>
          </p:cNvPr>
          <p:cNvSpPr txBox="1"/>
          <p:nvPr/>
        </p:nvSpPr>
        <p:spPr>
          <a:xfrm>
            <a:off x="8382818" y="5789258"/>
            <a:ext cx="133209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Sankey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plots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9582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Forma libre 6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Forma libre 6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Forma libre 6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2078640" y="3063960"/>
            <a:ext cx="8241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Errores comunes de visualización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Forma libre 6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Forma libre 6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Forma libre 6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Forma libre 631"/>
          <p:cNvSpPr/>
          <p:nvPr/>
        </p:nvSpPr>
        <p:spPr>
          <a:xfrm>
            <a:off x="666720" y="431460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666720" y="431460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666720" y="1987200"/>
            <a:ext cx="4257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cuatro que más se repiten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869760" y="2658960"/>
            <a:ext cx="6912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Eje truncado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exagera diferencias. Si truncas, decláralo en el pie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869760" y="3058920"/>
            <a:ext cx="6386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Doble eje y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permite fabricar cualquier correlación aparente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869760" y="3458880"/>
            <a:ext cx="706026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Pastel con +12 rebanadas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el ojo humano compara mal ángulos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CuadroTexto 637"/>
          <p:cNvSpPr txBox="1"/>
          <p:nvPr/>
        </p:nvSpPr>
        <p:spPr>
          <a:xfrm>
            <a:off x="869760" y="3859200"/>
            <a:ext cx="7269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Barras apiladas al 100% sin 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proporciones sobre bases distintas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905040" y="4468680"/>
            <a:ext cx="6805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Ninguno de los cuatro es mentira técnicamente. Los cuatro engañan.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Forma libre 6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Forma libre 6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Forma libre 6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CuadroTexto 690"/>
          <p:cNvSpPr txBox="1"/>
          <p:nvPr/>
        </p:nvSpPr>
        <p:spPr>
          <a:xfrm>
            <a:off x="1953360" y="3063960"/>
            <a:ext cx="8478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Interactividad y EDA automatizado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CuadroTexto 69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CuadroTexto 69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CuadroTexto 69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Forma libre 6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Forma libre 6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Forma libre 6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CuadroTexto 699"/>
          <p:cNvSpPr txBox="1"/>
          <p:nvPr/>
        </p:nvSpPr>
        <p:spPr>
          <a:xfrm>
            <a:off x="599344" y="923477"/>
            <a:ext cx="2682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Plotly</a:t>
            </a:r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para explorar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Forma libre 702"/>
          <p:cNvSpPr/>
          <p:nvPr/>
        </p:nvSpPr>
        <p:spPr>
          <a:xfrm>
            <a:off x="775402" y="1777294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Forma libre 704"/>
          <p:cNvSpPr/>
          <p:nvPr/>
        </p:nvSpPr>
        <p:spPr>
          <a:xfrm>
            <a:off x="775402" y="2177614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CuadroTexto 705"/>
          <p:cNvSpPr txBox="1"/>
          <p:nvPr/>
        </p:nvSpPr>
        <p:spPr>
          <a:xfrm>
            <a:off x="985282" y="1664614"/>
            <a:ext cx="6365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 favor: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zoom,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hover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el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identiﬁcador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útil para cazar atípicos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CuadroTexto 706"/>
          <p:cNvSpPr txBox="1"/>
          <p:nvPr/>
        </p:nvSpPr>
        <p:spPr>
          <a:xfrm>
            <a:off x="985282" y="2064934"/>
            <a:ext cx="6221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contra: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archivos pesados, no sirve para una revista en PDF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CuadroTexto 70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CuadroTexto 70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CuadroTexto 71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Forma libre 1">
            <a:extLst>
              <a:ext uri="{FF2B5EF4-FFF2-40B4-BE49-F238E27FC236}">
                <a16:creationId xmlns:a16="http://schemas.microsoft.com/office/drawing/2014/main" id="{A69EA37C-C40E-8CA0-5E86-4651D9DF8627}"/>
              </a:ext>
            </a:extLst>
          </p:cNvPr>
          <p:cNvSpPr/>
          <p:nvPr/>
        </p:nvSpPr>
        <p:spPr>
          <a:xfrm>
            <a:off x="775402" y="2518431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4F66C1-5C90-27A6-0465-AD35CAD33790}"/>
              </a:ext>
            </a:extLst>
          </p:cNvPr>
          <p:cNvSpPr txBox="1"/>
          <p:nvPr/>
        </p:nvSpPr>
        <p:spPr>
          <a:xfrm>
            <a:off x="985282" y="2405751"/>
            <a:ext cx="4606069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Usado comúnmente para hacer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dashboards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74" name="Picture 2" descr="Introducción a Dash, diseño de una aplicacion Dash y principales  componentes | AI Planet (formerly DPhi)">
            <a:extLst>
              <a:ext uri="{FF2B5EF4-FFF2-40B4-BE49-F238E27FC236}">
                <a16:creationId xmlns:a16="http://schemas.microsoft.com/office/drawing/2014/main" id="{4A37EC8D-3F89-141B-0846-B0786DCA1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171" y="2882166"/>
            <a:ext cx="6833937" cy="354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Forma libre 7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Forma libre 7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Forma libre 7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Forma libre 714"/>
          <p:cNvSpPr/>
          <p:nvPr/>
        </p:nvSpPr>
        <p:spPr>
          <a:xfrm>
            <a:off x="671400" y="23000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Forma libre 715"/>
          <p:cNvSpPr/>
          <p:nvPr/>
        </p:nvSpPr>
        <p:spPr>
          <a:xfrm>
            <a:off x="671400" y="23000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Forma libre 716"/>
          <p:cNvSpPr/>
          <p:nvPr/>
        </p:nvSpPr>
        <p:spPr>
          <a:xfrm>
            <a:off x="690480" y="3800160"/>
            <a:ext cx="10834920" cy="1410120"/>
          </a:xfrm>
          <a:custGeom>
            <a:avLst/>
            <a:gdLst/>
            <a:ahLst/>
            <a:cxnLst/>
            <a:rect l="0" t="0" r="r" b="b"/>
            <a:pathLst>
              <a:path w="30097" h="3917">
                <a:moveTo>
                  <a:pt x="0" y="3917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40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80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9"/>
                  <a:pt x="30097" y="159"/>
                </a:cubicBezTo>
                <a:lnTo>
                  <a:pt x="30097" y="3758"/>
                </a:lnTo>
                <a:cubicBezTo>
                  <a:pt x="30097" y="3769"/>
                  <a:pt x="30096" y="3779"/>
                  <a:pt x="30094" y="3789"/>
                </a:cubicBezTo>
                <a:cubicBezTo>
                  <a:pt x="30092" y="3800"/>
                  <a:pt x="30089" y="3810"/>
                  <a:pt x="30085" y="3819"/>
                </a:cubicBezTo>
                <a:cubicBezTo>
                  <a:pt x="30081" y="3829"/>
                  <a:pt x="30076" y="3838"/>
                  <a:pt x="30070" y="3847"/>
                </a:cubicBezTo>
                <a:cubicBezTo>
                  <a:pt x="30065" y="3855"/>
                  <a:pt x="30058" y="3863"/>
                  <a:pt x="30051" y="3871"/>
                </a:cubicBezTo>
                <a:cubicBezTo>
                  <a:pt x="30043" y="3878"/>
                  <a:pt x="30035" y="3885"/>
                  <a:pt x="30027" y="3890"/>
                </a:cubicBezTo>
                <a:cubicBezTo>
                  <a:pt x="30018" y="3896"/>
                  <a:pt x="30009" y="3901"/>
                  <a:pt x="29999" y="3905"/>
                </a:cubicBezTo>
                <a:cubicBezTo>
                  <a:pt x="29989" y="3909"/>
                  <a:pt x="29980" y="3912"/>
                  <a:pt x="29969" y="3914"/>
                </a:cubicBezTo>
                <a:cubicBezTo>
                  <a:pt x="29959" y="3916"/>
                  <a:pt x="29949" y="3917"/>
                  <a:pt x="29938" y="3917"/>
                </a:cubicBezTo>
                <a:lnTo>
                  <a:pt x="0" y="3917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Forma libre 717"/>
          <p:cNvSpPr/>
          <p:nvPr/>
        </p:nvSpPr>
        <p:spPr>
          <a:xfrm>
            <a:off x="666720" y="3800160"/>
            <a:ext cx="47880" cy="1410120"/>
          </a:xfrm>
          <a:custGeom>
            <a:avLst/>
            <a:gdLst/>
            <a:ahLst/>
            <a:cxnLst/>
            <a:rect l="0" t="0" r="r" b="b"/>
            <a:pathLst>
              <a:path w="133" h="3917">
                <a:moveTo>
                  <a:pt x="0" y="0"/>
                </a:moveTo>
                <a:lnTo>
                  <a:pt x="133" y="0"/>
                </a:lnTo>
                <a:lnTo>
                  <a:pt x="133" y="3917"/>
                </a:lnTo>
                <a:lnTo>
                  <a:pt x="0" y="391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CuadroTexto 718"/>
          <p:cNvSpPr txBox="1"/>
          <p:nvPr/>
        </p:nvSpPr>
        <p:spPr>
          <a:xfrm>
            <a:off x="666720" y="1663200"/>
            <a:ext cx="7204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EDA automatizado: punto de partida, no entregable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CuadroTexto 719"/>
          <p:cNvSpPr txBox="1"/>
          <p:nvPr/>
        </p:nvSpPr>
        <p:spPr>
          <a:xfrm>
            <a:off x="866880" y="248004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ydata_profiling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ProfileReport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CuadroTexto 720"/>
          <p:cNvSpPr txBox="1"/>
          <p:nvPr/>
        </p:nvSpPr>
        <p:spPr>
          <a:xfrm>
            <a:off x="866880" y="274680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ProfileReport(df, minimal=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).to_file(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"perfil.html"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CuadroTexto 721"/>
          <p:cNvSpPr txBox="1"/>
          <p:nvPr/>
        </p:nvSpPr>
        <p:spPr>
          <a:xfrm>
            <a:off x="666720" y="3344760"/>
            <a:ext cx="6446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 ahorra media hora de trabajo mecánico y te da una foto inicial.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CuadroTexto 722"/>
          <p:cNvSpPr txBox="1"/>
          <p:nvPr/>
        </p:nvSpPr>
        <p:spPr>
          <a:xfrm>
            <a:off x="885960" y="3954240"/>
            <a:ext cx="10171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lo entregues como tu EDA.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Genera cientos de gráﬁcas sin saber cuáles importan, y no conoce tu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CuadroTexto 723"/>
          <p:cNvSpPr txBox="1"/>
          <p:nvPr/>
        </p:nvSpPr>
        <p:spPr>
          <a:xfrm>
            <a:off x="885960" y="4297320"/>
            <a:ext cx="10218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contexto clínico. La pregunta «¿hay fechas de visita anteriores al nacimiento?» no se le ocurre a ninguna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CuadroTexto 724"/>
          <p:cNvSpPr txBox="1"/>
          <p:nvPr/>
        </p:nvSpPr>
        <p:spPr>
          <a:xfrm>
            <a:off x="885960" y="4640040"/>
            <a:ext cx="238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herramienta automática.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CuadroTexto 72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CuadroTexto 72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CuadroTexto 72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Forma libre 8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Forma libre 8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Forma libre 8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CuadroTexto 839"/>
          <p:cNvSpPr txBox="1"/>
          <p:nvPr/>
        </p:nvSpPr>
        <p:spPr>
          <a:xfrm>
            <a:off x="666720" y="2253960"/>
            <a:ext cx="3211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figura, un mensaje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Forma libre 840"/>
          <p:cNvSpPr/>
          <p:nvPr/>
        </p:nvSpPr>
        <p:spPr>
          <a:xfrm>
            <a:off x="914040" y="3533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CuadroTexto 841"/>
          <p:cNvSpPr txBox="1"/>
          <p:nvPr/>
        </p:nvSpPr>
        <p:spPr>
          <a:xfrm>
            <a:off x="666720" y="2925720"/>
            <a:ext cx="5226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título dice la conclusión, no describe los ejes.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Forma libre 842"/>
          <p:cNvSpPr/>
          <p:nvPr/>
        </p:nvSpPr>
        <p:spPr>
          <a:xfrm>
            <a:off x="914040" y="3933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CuadroTexto 843"/>
          <p:cNvSpPr txBox="1"/>
          <p:nvPr/>
        </p:nvSpPr>
        <p:spPr>
          <a:xfrm>
            <a:off x="1123920" y="3421080"/>
            <a:ext cx="3881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Mal: «HbA1c por grupo de tratamiento»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CuadroTexto 844"/>
          <p:cNvSpPr txBox="1"/>
          <p:nvPr/>
        </p:nvSpPr>
        <p:spPr>
          <a:xfrm>
            <a:off x="1123920" y="3821040"/>
            <a:ext cx="6204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Bien: «El grupo A alcanzó la meta de HbA1c seis meses antes»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CuadroTexto 845"/>
          <p:cNvSpPr txBox="1"/>
          <p:nvPr/>
        </p:nvSpPr>
        <p:spPr>
          <a:xfrm>
            <a:off x="666720" y="4316400"/>
            <a:ext cx="9443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no puedes escribir esa frase, la ﬁgura todavía no está lista — o no tenías un mensaje que dar.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CuadroTexto 84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CuadroTexto 84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CuadroTexto 84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Forma libre 8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Forma libre 8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Forma libre 8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CuadroTexto 852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Forma libre 853"/>
          <p:cNvSpPr/>
          <p:nvPr/>
        </p:nvSpPr>
        <p:spPr>
          <a:xfrm>
            <a:off x="1123920" y="2895480"/>
            <a:ext cx="1285920" cy="267120"/>
          </a:xfrm>
          <a:custGeom>
            <a:avLst/>
            <a:gdLst/>
            <a:ahLst/>
            <a:cxnLst/>
            <a:rect l="0" t="0" r="r" b="b"/>
            <a:pathLst>
              <a:path w="357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467" y="0"/>
                </a:lnTo>
                <a:cubicBezTo>
                  <a:pt x="3481" y="0"/>
                  <a:pt x="3494" y="3"/>
                  <a:pt x="3507" y="8"/>
                </a:cubicBezTo>
                <a:cubicBezTo>
                  <a:pt x="3520" y="13"/>
                  <a:pt x="3532" y="21"/>
                  <a:pt x="3541" y="31"/>
                </a:cubicBezTo>
                <a:cubicBezTo>
                  <a:pt x="3551" y="41"/>
                  <a:pt x="3559" y="52"/>
                  <a:pt x="3564" y="65"/>
                </a:cubicBezTo>
                <a:cubicBezTo>
                  <a:pt x="3570" y="78"/>
                  <a:pt x="3572" y="92"/>
                  <a:pt x="3572" y="106"/>
                </a:cubicBezTo>
                <a:lnTo>
                  <a:pt x="3572" y="636"/>
                </a:lnTo>
                <a:cubicBezTo>
                  <a:pt x="3572" y="650"/>
                  <a:pt x="3570" y="663"/>
                  <a:pt x="3564" y="676"/>
                </a:cubicBezTo>
                <a:cubicBezTo>
                  <a:pt x="3559" y="689"/>
                  <a:pt x="3551" y="701"/>
                  <a:pt x="3541" y="711"/>
                </a:cubicBezTo>
                <a:cubicBezTo>
                  <a:pt x="3532" y="721"/>
                  <a:pt x="3520" y="728"/>
                  <a:pt x="3507" y="734"/>
                </a:cubicBezTo>
                <a:cubicBezTo>
                  <a:pt x="3494" y="739"/>
                  <a:pt x="3481" y="742"/>
                  <a:pt x="346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CuadroTexto 854"/>
          <p:cNvSpPr txBox="1"/>
          <p:nvPr/>
        </p:nvSpPr>
        <p:spPr>
          <a:xfrm>
            <a:off x="869760" y="2535120"/>
            <a:ext cx="9570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resúmenes numéricos comprimen, y comprimir es perder.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Anscombe lo demuestra: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CuadroTexto 855"/>
          <p:cNvSpPr txBox="1"/>
          <p:nvPr/>
        </p:nvSpPr>
        <p:spPr>
          <a:xfrm>
            <a:off x="1181160" y="291528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describe()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CuadroTexto 856"/>
          <p:cNvSpPr txBox="1"/>
          <p:nvPr/>
        </p:nvSpPr>
        <p:spPr>
          <a:xfrm>
            <a:off x="2408040" y="2877840"/>
            <a:ext cx="2049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sustituye a mirar.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CuadroTexto 857"/>
          <p:cNvSpPr txBox="1"/>
          <p:nvPr/>
        </p:nvSpPr>
        <p:spPr>
          <a:xfrm>
            <a:off x="869760" y="3373200"/>
            <a:ext cx="9513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gráﬁca correcta depende del tipo de variable y de la pregunta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de cuál se ve más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CuadroTexto 858"/>
          <p:cNvSpPr txBox="1"/>
          <p:nvPr/>
        </p:nvSpPr>
        <p:spPr>
          <a:xfrm>
            <a:off x="1123920" y="3716280"/>
            <a:ext cx="1448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impresionante.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CuadroTexto 859"/>
          <p:cNvSpPr txBox="1"/>
          <p:nvPr/>
        </p:nvSpPr>
        <p:spPr>
          <a:xfrm>
            <a:off x="869760" y="4211640"/>
            <a:ext cx="10025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Exploratoria y explicativa son dos ﬁguras distintas.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Confundirlas produce ﬁguras feas para ti 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CuadroTexto 860"/>
          <p:cNvSpPr txBox="1"/>
          <p:nvPr/>
        </p:nvSpPr>
        <p:spPr>
          <a:xfrm>
            <a:off x="1123920" y="4554360"/>
            <a:ext cx="2418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ilegibles para los demás.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CuadroTexto 86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CuadroTexto 86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CuadroTexto 86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Forma libre 8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Forma libre 8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Forma libre 8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CuadroTexto 867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CuadroTexto 868"/>
          <p:cNvSpPr txBox="1"/>
          <p:nvPr/>
        </p:nvSpPr>
        <p:spPr>
          <a:xfrm>
            <a:off x="666720" y="2717280"/>
            <a:ext cx="4838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EDA completo sobre tu cohorte de Synthea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CuadroTexto 869"/>
          <p:cNvSpPr txBox="1"/>
          <p:nvPr/>
        </p:nvSpPr>
        <p:spPr>
          <a:xfrm>
            <a:off x="666720" y="3230280"/>
            <a:ext cx="10527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Deﬁnir una cohorte sobre los datos de la sesión 2, ejecutar el checklist completo, y encontrar al menos 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CuadroTexto 870"/>
          <p:cNvSpPr txBox="1"/>
          <p:nvPr/>
        </p:nvSpPr>
        <p:spPr>
          <a:xfrm>
            <a:off x="666720" y="3573360"/>
            <a:ext cx="3989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problemas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sólo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vean graﬁcando.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Forma libre 871"/>
          <p:cNvSpPr/>
          <p:nvPr/>
        </p:nvSpPr>
        <p:spPr>
          <a:xfrm>
            <a:off x="666720" y="4581360"/>
            <a:ext cx="4324680" cy="267120"/>
          </a:xfrm>
          <a:custGeom>
            <a:avLst/>
            <a:gdLst/>
            <a:ahLst/>
            <a:cxnLst/>
            <a:rect l="0" t="0" r="r" b="b"/>
            <a:pathLst>
              <a:path w="1201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907" y="0"/>
                </a:lnTo>
                <a:cubicBezTo>
                  <a:pt x="11921" y="0"/>
                  <a:pt x="11934" y="3"/>
                  <a:pt x="11947" y="8"/>
                </a:cubicBezTo>
                <a:cubicBezTo>
                  <a:pt x="11960" y="13"/>
                  <a:pt x="11972" y="21"/>
                  <a:pt x="11982" y="31"/>
                </a:cubicBezTo>
                <a:cubicBezTo>
                  <a:pt x="11992" y="41"/>
                  <a:pt x="11999" y="52"/>
                  <a:pt x="12005" y="65"/>
                </a:cubicBezTo>
                <a:cubicBezTo>
                  <a:pt x="12010" y="78"/>
                  <a:pt x="12013" y="92"/>
                  <a:pt x="12013" y="106"/>
                </a:cubicBezTo>
                <a:lnTo>
                  <a:pt x="12013" y="636"/>
                </a:lnTo>
                <a:cubicBezTo>
                  <a:pt x="12013" y="650"/>
                  <a:pt x="12010" y="663"/>
                  <a:pt x="12005" y="676"/>
                </a:cubicBezTo>
                <a:cubicBezTo>
                  <a:pt x="11999" y="689"/>
                  <a:pt x="11992" y="701"/>
                  <a:pt x="11982" y="711"/>
                </a:cubicBezTo>
                <a:cubicBezTo>
                  <a:pt x="11972" y="721"/>
                  <a:pt x="11960" y="728"/>
                  <a:pt x="11947" y="734"/>
                </a:cubicBezTo>
                <a:cubicBezTo>
                  <a:pt x="11934" y="739"/>
                  <a:pt x="11921" y="742"/>
                  <a:pt x="1190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CuadroTexto 872"/>
          <p:cNvSpPr txBox="1"/>
          <p:nvPr/>
        </p:nvSpPr>
        <p:spPr>
          <a:xfrm>
            <a:off x="666720" y="4068720"/>
            <a:ext cx="5389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notebook + ﬁguras exportadas + Tabla 1.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CuadroTexto 873"/>
          <p:cNvSpPr txBox="1"/>
          <p:nvPr/>
        </p:nvSpPr>
        <p:spPr>
          <a:xfrm>
            <a:off x="723960" y="4601160"/>
            <a:ext cx="422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labs/s03-visualizacion-eda/README.md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CuadroTexto 87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CuadroTexto 87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CuadroTexto 87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Forma libre 8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Forma libre 8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Forma libre 8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CuadroTexto 880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CuadroTexto 88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CuadroTexto 88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CuadroTexto 88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2235</Words>
  <Application>Microsoft Macintosh PowerPoint</Application>
  <PresentationFormat>Panorámica</PresentationFormat>
  <Paragraphs>322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Arial</vt:lpstr>
      <vt:lpstr>HelveticaNeue</vt:lpstr>
      <vt:lpstr>KaTeX_Main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1</cp:revision>
  <dcterms:modified xsi:type="dcterms:W3CDTF">2026-08-18T14:31:11Z</dcterms:modified>
  <dc:language>es-ES</dc:language>
</cp:coreProperties>
</file>