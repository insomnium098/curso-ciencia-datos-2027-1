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0" r:id="rId22"/>
    <p:sldId id="276" r:id="rId23"/>
    <p:sldId id="277" r:id="rId24"/>
    <p:sldId id="278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7772400" cy="10058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3"/>
    <p:restoredTop sz="94727"/>
  </p:normalViewPr>
  <p:slideViewPr>
    <p:cSldViewPr snapToGrid="0">
      <p:cViewPr varScale="1">
        <p:scale>
          <a:sx n="172" d="100"/>
          <a:sy n="172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E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E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Forma libre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orma libre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Forma libre 8"/>
          <p:cNvSpPr/>
          <p:nvPr/>
        </p:nvSpPr>
        <p:spPr>
          <a:xfrm>
            <a:off x="666720" y="2904840"/>
            <a:ext cx="10858680" cy="38520"/>
          </a:xfrm>
          <a:custGeom>
            <a:avLst/>
            <a:gdLst/>
            <a:ahLst/>
            <a:cxnLst/>
            <a:rect l="0" t="0" r="r" b="b"/>
            <a:pathLst>
              <a:path w="30163" h="107">
                <a:moveTo>
                  <a:pt x="0" y="0"/>
                </a:moveTo>
                <a:lnTo>
                  <a:pt x="30163" y="0"/>
                </a:lnTo>
                <a:lnTo>
                  <a:pt x="301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66720" y="2203920"/>
            <a:ext cx="2050920" cy="56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37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Sesión 04</a:t>
            </a:r>
            <a:endParaRPr lang="es-ES" sz="3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666720" y="3187440"/>
            <a:ext cx="53341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Control de Versiones con Git y GitHub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66720" y="3868560"/>
            <a:ext cx="5501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Bloque II — Ingeniería de software para cientíﬁcos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666720" y="4363920"/>
            <a:ext cx="6235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Dr. Antonio Daniel Martínez Gutiérrez Semestre 2027-1 · 1:30 h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rma libre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Forma libre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Forma libre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666720" y="2101680"/>
            <a:ext cx="3048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Objetivos de la sesión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666720" y="2773080"/>
            <a:ext cx="3854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 esta sesión serás capaz de: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69760" y="3268440"/>
            <a:ext cx="852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Explicar el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modelo de datos de Git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con eso, todo lo demás deja de ser magia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CuadroTexto 21"/>
          <p:cNvSpPr txBox="1"/>
          <p:nvPr/>
        </p:nvSpPr>
        <p:spPr>
          <a:xfrm>
            <a:off x="869760" y="3668400"/>
            <a:ext cx="575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Usar ramas, merge y resolución de conﬂictos sin pánico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CuadroTexto 22"/>
          <p:cNvSpPr txBox="1"/>
          <p:nvPr/>
        </p:nvSpPr>
        <p:spPr>
          <a:xfrm>
            <a:off x="869760" y="4068720"/>
            <a:ext cx="5958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Colaborar mediante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pull requests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con revisión de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869760" y="4468680"/>
            <a:ext cx="7034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Conﬁgurar un repositorio de investigación reproducible con CI básica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rma libre 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Forma libre 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Forma libre 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orma libre 30"/>
          <p:cNvSpPr/>
          <p:nvPr/>
        </p:nvSpPr>
        <p:spPr>
          <a:xfrm>
            <a:off x="666720" y="5114880"/>
            <a:ext cx="10858680" cy="571680"/>
          </a:xfrm>
          <a:custGeom>
            <a:avLst/>
            <a:gdLst/>
            <a:ahLst/>
            <a:cxnLst/>
            <a:rect l="0" t="0" r="r" b="b"/>
            <a:pathLst>
              <a:path w="30163" h="1588">
                <a:moveTo>
                  <a:pt x="0" y="0"/>
                </a:moveTo>
                <a:lnTo>
                  <a:pt x="30163" y="0"/>
                </a:lnTo>
                <a:lnTo>
                  <a:pt x="3016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orma libre 31"/>
          <p:cNvSpPr/>
          <p:nvPr/>
        </p:nvSpPr>
        <p:spPr>
          <a:xfrm>
            <a:off x="666720" y="5114880"/>
            <a:ext cx="47880" cy="571680"/>
          </a:xfrm>
          <a:custGeom>
            <a:avLst/>
            <a:gdLst/>
            <a:ahLst/>
            <a:cxnLst/>
            <a:rect l="0" t="0" r="r" b="b"/>
            <a:pathLst>
              <a:path w="133" h="1588">
                <a:moveTo>
                  <a:pt x="0" y="0"/>
                </a:moveTo>
                <a:lnTo>
                  <a:pt x="133" y="0"/>
                </a:lnTo>
                <a:lnTo>
                  <a:pt x="133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CuadroTexto 32"/>
          <p:cNvSpPr txBox="1"/>
          <p:nvPr/>
        </p:nvSpPr>
        <p:spPr>
          <a:xfrm>
            <a:off x="666720" y="1187280"/>
            <a:ext cx="1083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Agenda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CuadroTexto 33"/>
          <p:cNvSpPr txBox="1"/>
          <p:nvPr/>
        </p:nvSpPr>
        <p:spPr>
          <a:xfrm>
            <a:off x="869760" y="1858680"/>
            <a:ext cx="3079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El problema que Git resuelve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869760" y="2259000"/>
            <a:ext cx="45993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El modelo de datos: commits, ramas, HEAD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869760" y="2658960"/>
            <a:ext cx="1487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El ﬂujo diario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869760" y="3058920"/>
            <a:ext cx="2113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4. Ramas y conﬂictos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869760" y="3458880"/>
            <a:ext cx="1838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5. Deshacer cosas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CuadroTexto 38"/>
          <p:cNvSpPr txBox="1"/>
          <p:nvPr/>
        </p:nvSpPr>
        <p:spPr>
          <a:xfrm>
            <a:off x="869760" y="3859200"/>
            <a:ext cx="4043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6. GitHub: issues, pull requests y revisión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orma libre 39"/>
          <p:cNvSpPr/>
          <p:nvPr/>
        </p:nvSpPr>
        <p:spPr>
          <a:xfrm>
            <a:off x="2028600" y="427644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5" y="53"/>
                  <a:pt x="22" y="41"/>
                  <a:pt x="32" y="31"/>
                </a:cubicBezTo>
                <a:cubicBezTo>
                  <a:pt x="42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2" y="79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2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7" y="742"/>
                </a:lnTo>
                <a:cubicBezTo>
                  <a:pt x="93" y="742"/>
                  <a:pt x="79" y="739"/>
                  <a:pt x="66" y="734"/>
                </a:cubicBezTo>
                <a:cubicBezTo>
                  <a:pt x="53" y="729"/>
                  <a:pt x="42" y="721"/>
                  <a:pt x="32" y="711"/>
                </a:cubicBezTo>
                <a:cubicBezTo>
                  <a:pt x="22" y="701"/>
                  <a:pt x="15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869760" y="4259160"/>
            <a:ext cx="11656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7. Proteger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2087640" y="42966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main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Forma libre 42"/>
          <p:cNvSpPr/>
          <p:nvPr/>
        </p:nvSpPr>
        <p:spPr>
          <a:xfrm>
            <a:off x="2847960" y="4276440"/>
            <a:ext cx="1285920" cy="267120"/>
          </a:xfrm>
          <a:custGeom>
            <a:avLst/>
            <a:gdLst/>
            <a:ahLst/>
            <a:cxnLst/>
            <a:rect l="0" t="0" r="r" b="b"/>
            <a:pathLst>
              <a:path w="357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4"/>
                  <a:pt x="3531" y="21"/>
                  <a:pt x="3541" y="31"/>
                </a:cubicBezTo>
                <a:cubicBezTo>
                  <a:pt x="3551" y="41"/>
                  <a:pt x="3559" y="53"/>
                  <a:pt x="3564" y="66"/>
                </a:cubicBezTo>
                <a:cubicBezTo>
                  <a:pt x="3570" y="79"/>
                  <a:pt x="3572" y="92"/>
                  <a:pt x="3572" y="106"/>
                </a:cubicBezTo>
                <a:lnTo>
                  <a:pt x="3572" y="636"/>
                </a:lnTo>
                <a:cubicBezTo>
                  <a:pt x="3572" y="650"/>
                  <a:pt x="3570" y="664"/>
                  <a:pt x="3564" y="677"/>
                </a:cubicBezTo>
                <a:cubicBezTo>
                  <a:pt x="3559" y="690"/>
                  <a:pt x="3551" y="701"/>
                  <a:pt x="3541" y="711"/>
                </a:cubicBezTo>
                <a:cubicBezTo>
                  <a:pt x="3531" y="721"/>
                  <a:pt x="3520" y="729"/>
                  <a:pt x="3507" y="734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0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2612880" y="425916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2903040" y="42966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.gitignore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869760" y="4659120"/>
            <a:ext cx="4582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8. Un repositorio de investigación decente y CI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905040" y="5268600"/>
            <a:ext cx="6174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Laboratorio: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ﬂujo completo de colaboración con pull requests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orma libre 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Forma libre 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Forma libre 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CuadroTexto 53"/>
          <p:cNvSpPr txBox="1"/>
          <p:nvPr/>
        </p:nvSpPr>
        <p:spPr>
          <a:xfrm>
            <a:off x="2596680" y="3063960"/>
            <a:ext cx="71841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1. El problema que Git resuelve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CuadroTexto 5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rma libre 5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Forma libre 5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Forma libre 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orma libre 60"/>
          <p:cNvSpPr/>
          <p:nvPr/>
        </p:nvSpPr>
        <p:spPr>
          <a:xfrm>
            <a:off x="671400" y="21571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Forma libre 61"/>
          <p:cNvSpPr/>
          <p:nvPr/>
        </p:nvSpPr>
        <p:spPr>
          <a:xfrm>
            <a:off x="671400" y="21571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666720" y="1520640"/>
            <a:ext cx="2032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Esto les suena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CuadroTexto 63"/>
          <p:cNvSpPr txBox="1"/>
          <p:nvPr/>
        </p:nvSpPr>
        <p:spPr>
          <a:xfrm>
            <a:off x="866880" y="2337120"/>
            <a:ext cx="1856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analisis_final.py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866880" y="2603880"/>
            <a:ext cx="2184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analisis_final_v2.py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866880" y="286092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analisis_final_v2_CORREGIDO.py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866880" y="3127680"/>
            <a:ext cx="27302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analisis_final_v3_REAL.py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CuadroTexto 67"/>
          <p:cNvSpPr txBox="1"/>
          <p:nvPr/>
        </p:nvSpPr>
        <p:spPr>
          <a:xfrm>
            <a:off x="866880" y="3384720"/>
            <a:ext cx="3822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analisis_final_v3_REAL_usar_este.py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Forma libre 68"/>
          <p:cNvSpPr/>
          <p:nvPr/>
        </p:nvSpPr>
        <p:spPr>
          <a:xfrm>
            <a:off x="914040" y="4362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66880" y="3651480"/>
            <a:ext cx="48049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analisis_final_v3_REAL_usar_este_ahora_si.py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Forma libre 70"/>
          <p:cNvSpPr/>
          <p:nvPr/>
        </p:nvSpPr>
        <p:spPr>
          <a:xfrm>
            <a:off x="914040" y="476244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59"/>
                  <a:pt x="9" y="146"/>
                </a:cubicBezTo>
                <a:cubicBezTo>
                  <a:pt x="3" y="133"/>
                  <a:pt x="0" y="120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1123920" y="4249440"/>
            <a:ext cx="4485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¿Cuál generó la Figura 2 del artículo enviado?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Forma libre 72"/>
          <p:cNvSpPr/>
          <p:nvPr/>
        </p:nvSpPr>
        <p:spPr>
          <a:xfrm>
            <a:off x="914040" y="5162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CuadroTexto 73"/>
          <p:cNvSpPr txBox="1"/>
          <p:nvPr/>
        </p:nvSpPr>
        <p:spPr>
          <a:xfrm>
            <a:off x="1123920" y="4649760"/>
            <a:ext cx="5772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¿Qué cambió entre v2 y v3? ¿Quién lo cambió? ¿Por qué?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1123920" y="5049720"/>
            <a:ext cx="515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¿Cuál le mandaste a tu asesora hace tres semanas?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rma libre 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orma libre 7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Forma libre 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Forma libre 81"/>
          <p:cNvSpPr/>
          <p:nvPr/>
        </p:nvSpPr>
        <p:spPr>
          <a:xfrm>
            <a:off x="666720" y="443844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Forma libre 82"/>
          <p:cNvSpPr/>
          <p:nvPr/>
        </p:nvSpPr>
        <p:spPr>
          <a:xfrm>
            <a:off x="666720" y="443844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CuadroTexto 83"/>
          <p:cNvSpPr txBox="1"/>
          <p:nvPr/>
        </p:nvSpPr>
        <p:spPr>
          <a:xfrm>
            <a:off x="666720" y="1520640"/>
            <a:ext cx="4395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 responde las tres preguntas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CuadroTexto 84"/>
          <p:cNvSpPr txBox="1"/>
          <p:nvPr/>
        </p:nvSpPr>
        <p:spPr>
          <a:xfrm>
            <a:off x="666720" y="2192040"/>
            <a:ext cx="685027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 es una base de datos de instantáneas (historial) de tu proyecto.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Forma libre 85"/>
          <p:cNvSpPr/>
          <p:nvPr/>
        </p:nvSpPr>
        <p:spPr>
          <a:xfrm>
            <a:off x="914040" y="32954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CuadroTexto 86"/>
          <p:cNvSpPr txBox="1"/>
          <p:nvPr/>
        </p:nvSpPr>
        <p:spPr>
          <a:xfrm>
            <a:off x="666720" y="2687400"/>
            <a:ext cx="3489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instantánea (commit) registra: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orma libre 87"/>
          <p:cNvSpPr/>
          <p:nvPr/>
        </p:nvSpPr>
        <p:spPr>
          <a:xfrm>
            <a:off x="914040" y="36954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CuadroTexto 88"/>
          <p:cNvSpPr txBox="1"/>
          <p:nvPr/>
        </p:nvSpPr>
        <p:spPr>
          <a:xfrm>
            <a:off x="1123920" y="3182760"/>
            <a:ext cx="5018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estado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completo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del proyecto en ese momento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Forma libre 89"/>
          <p:cNvSpPr/>
          <p:nvPr/>
        </p:nvSpPr>
        <p:spPr>
          <a:xfrm>
            <a:off x="914040" y="4095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CuadroTexto 90"/>
          <p:cNvSpPr txBox="1"/>
          <p:nvPr/>
        </p:nvSpPr>
        <p:spPr>
          <a:xfrm>
            <a:off x="1123920" y="3582720"/>
            <a:ext cx="3735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Quién, cuándo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(el mensaje)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CuadroTexto 91"/>
          <p:cNvSpPr txBox="1"/>
          <p:nvPr/>
        </p:nvSpPr>
        <p:spPr>
          <a:xfrm>
            <a:off x="1123920" y="3983040"/>
            <a:ext cx="3282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 qué instantánea anterior viene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Forma libre 92"/>
          <p:cNvSpPr/>
          <p:nvPr/>
        </p:nvSpPr>
        <p:spPr>
          <a:xfrm>
            <a:off x="3609720" y="4609800"/>
            <a:ext cx="2095920" cy="267120"/>
          </a:xfrm>
          <a:custGeom>
            <a:avLst/>
            <a:gdLst/>
            <a:ahLst/>
            <a:cxnLst/>
            <a:rect l="0" t="0" r="r" b="b"/>
            <a:pathLst>
              <a:path w="582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716" y="0"/>
                </a:lnTo>
                <a:cubicBezTo>
                  <a:pt x="5730" y="0"/>
                  <a:pt x="5744" y="3"/>
                  <a:pt x="5757" y="8"/>
                </a:cubicBezTo>
                <a:cubicBezTo>
                  <a:pt x="5770" y="14"/>
                  <a:pt x="5781" y="21"/>
                  <a:pt x="5791" y="31"/>
                </a:cubicBezTo>
                <a:cubicBezTo>
                  <a:pt x="5801" y="41"/>
                  <a:pt x="5809" y="53"/>
                  <a:pt x="5814" y="66"/>
                </a:cubicBezTo>
                <a:cubicBezTo>
                  <a:pt x="5819" y="79"/>
                  <a:pt x="5822" y="92"/>
                  <a:pt x="5822" y="106"/>
                </a:cubicBezTo>
                <a:lnTo>
                  <a:pt x="5822" y="636"/>
                </a:lnTo>
                <a:cubicBezTo>
                  <a:pt x="5822" y="650"/>
                  <a:pt x="5819" y="664"/>
                  <a:pt x="5814" y="677"/>
                </a:cubicBezTo>
                <a:cubicBezTo>
                  <a:pt x="5809" y="690"/>
                  <a:pt x="5801" y="701"/>
                  <a:pt x="5791" y="711"/>
                </a:cubicBezTo>
                <a:cubicBezTo>
                  <a:pt x="5781" y="721"/>
                  <a:pt x="5770" y="729"/>
                  <a:pt x="5757" y="734"/>
                </a:cubicBezTo>
                <a:cubicBezTo>
                  <a:pt x="5744" y="739"/>
                  <a:pt x="5730" y="742"/>
                  <a:pt x="5716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CuadroTexto 93"/>
          <p:cNvSpPr txBox="1"/>
          <p:nvPr/>
        </p:nvSpPr>
        <p:spPr>
          <a:xfrm>
            <a:off x="905040" y="4592520"/>
            <a:ext cx="2711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Reproducibilidad concreta: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CuadroTexto 94"/>
          <p:cNvSpPr txBox="1"/>
          <p:nvPr/>
        </p:nvSpPr>
        <p:spPr>
          <a:xfrm>
            <a:off x="3664080" y="462996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checkout</a:t>
            </a:r>
            <a:r>
              <a:rPr lang="es-ES" sz="1530" b="0" u="none" strike="noStrike" dirty="0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 v1.2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CuadroTexto 95"/>
          <p:cNvSpPr txBox="1"/>
          <p:nvPr/>
        </p:nvSpPr>
        <p:spPr>
          <a:xfrm>
            <a:off x="5709960" y="4592520"/>
            <a:ext cx="5518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y estás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exactamente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en el código que generó la ﬁgura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CuadroTexto 96"/>
          <p:cNvSpPr txBox="1"/>
          <p:nvPr/>
        </p:nvSpPr>
        <p:spPr>
          <a:xfrm>
            <a:off x="905040" y="4935240"/>
            <a:ext cx="4535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del artículo. No "más o menos". Exactamente.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CuadroTexto 9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rma libre 1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Forma libre 1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Forma libre 1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CuadroTexto 103"/>
          <p:cNvSpPr txBox="1"/>
          <p:nvPr/>
        </p:nvSpPr>
        <p:spPr>
          <a:xfrm>
            <a:off x="3627360" y="3063960"/>
            <a:ext cx="50497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2. El modelo de datos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CuadroTexto 10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CuadroTexto 10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CuadroTexto 106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orma libre 1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orma libre 1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orma libre 109"/>
          <p:cNvSpPr/>
          <p:nvPr/>
        </p:nvSpPr>
        <p:spPr>
          <a:xfrm>
            <a:off x="-7434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Forma libre 110"/>
          <p:cNvSpPr/>
          <p:nvPr/>
        </p:nvSpPr>
        <p:spPr>
          <a:xfrm>
            <a:off x="671400" y="177624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Forma libre 111"/>
          <p:cNvSpPr/>
          <p:nvPr/>
        </p:nvSpPr>
        <p:spPr>
          <a:xfrm>
            <a:off x="671400" y="177624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5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2"/>
                </a:lnTo>
                <a:cubicBezTo>
                  <a:pt x="30137" y="2885"/>
                  <a:pt x="30136" y="2898"/>
                  <a:pt x="30133" y="2910"/>
                </a:cubicBezTo>
                <a:cubicBezTo>
                  <a:pt x="30130" y="2923"/>
                  <a:pt x="30127" y="2936"/>
                  <a:pt x="30122" y="2948"/>
                </a:cubicBezTo>
                <a:cubicBezTo>
                  <a:pt x="30117" y="2960"/>
                  <a:pt x="30111" y="2971"/>
                  <a:pt x="30103" y="2982"/>
                </a:cubicBezTo>
                <a:cubicBezTo>
                  <a:pt x="30096" y="2993"/>
                  <a:pt x="30088" y="3003"/>
                  <a:pt x="30079" y="3012"/>
                </a:cubicBezTo>
                <a:cubicBezTo>
                  <a:pt x="30070" y="3021"/>
                  <a:pt x="30059" y="3029"/>
                  <a:pt x="30049" y="3037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4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4"/>
                  <a:pt x="134" y="3060"/>
                  <a:pt x="122" y="3055"/>
                </a:cubicBezTo>
                <a:cubicBezTo>
                  <a:pt x="110" y="3050"/>
                  <a:pt x="99" y="3044"/>
                  <a:pt x="88" y="3037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3"/>
                  <a:pt x="40" y="2993"/>
                  <a:pt x="33" y="2982"/>
                </a:cubicBezTo>
                <a:cubicBezTo>
                  <a:pt x="26" y="2971"/>
                  <a:pt x="20" y="2960"/>
                  <a:pt x="15" y="2948"/>
                </a:cubicBezTo>
                <a:cubicBezTo>
                  <a:pt x="10" y="2936"/>
                  <a:pt x="6" y="2923"/>
                  <a:pt x="4" y="2910"/>
                </a:cubicBezTo>
                <a:cubicBezTo>
                  <a:pt x="1" y="2898"/>
                  <a:pt x="0" y="2885"/>
                  <a:pt x="0" y="287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orma libre 112"/>
          <p:cNvSpPr/>
          <p:nvPr/>
        </p:nvSpPr>
        <p:spPr>
          <a:xfrm>
            <a:off x="666720" y="43336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Forma libre 113"/>
          <p:cNvSpPr/>
          <p:nvPr/>
        </p:nvSpPr>
        <p:spPr>
          <a:xfrm>
            <a:off x="666720" y="43336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CuadroTexto 114"/>
          <p:cNvSpPr txBox="1"/>
          <p:nvPr/>
        </p:nvSpPr>
        <p:spPr>
          <a:xfrm>
            <a:off x="666720" y="1130040"/>
            <a:ext cx="4876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commit es un nodo en un grafo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CuadroTexto 115"/>
          <p:cNvSpPr txBox="1"/>
          <p:nvPr/>
        </p:nvSpPr>
        <p:spPr>
          <a:xfrm>
            <a:off x="866880" y="1956240"/>
            <a:ext cx="2948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A ← B ← C ← D        ← main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CuadroTexto 116"/>
          <p:cNvSpPr txBox="1"/>
          <p:nvPr/>
        </p:nvSpPr>
        <p:spPr>
          <a:xfrm>
            <a:off x="866880" y="2223000"/>
            <a:ext cx="109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\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orma libre 117"/>
          <p:cNvSpPr/>
          <p:nvPr/>
        </p:nvSpPr>
        <p:spPr>
          <a:xfrm>
            <a:off x="914040" y="3190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CuadroTexto 118"/>
          <p:cNvSpPr txBox="1"/>
          <p:nvPr/>
        </p:nvSpPr>
        <p:spPr>
          <a:xfrm>
            <a:off x="866880" y="248004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E ← F      ← experimento-nuevo-filtro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orma libre 119"/>
          <p:cNvSpPr/>
          <p:nvPr/>
        </p:nvSpPr>
        <p:spPr>
          <a:xfrm>
            <a:off x="914040" y="3590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CuadroTexto 120"/>
          <p:cNvSpPr txBox="1"/>
          <p:nvPr/>
        </p:nvSpPr>
        <p:spPr>
          <a:xfrm>
            <a:off x="1123920" y="3078000"/>
            <a:ext cx="6330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commit apunta a su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padre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La historia es un grafo dirigido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Forma libre 121"/>
          <p:cNvSpPr/>
          <p:nvPr/>
        </p:nvSpPr>
        <p:spPr>
          <a:xfrm>
            <a:off x="914040" y="39909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CuadroTexto 122"/>
          <p:cNvSpPr txBox="1"/>
          <p:nvPr/>
        </p:nvSpPr>
        <p:spPr>
          <a:xfrm>
            <a:off x="1123920" y="3477960"/>
            <a:ext cx="733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rama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sólo un puntero móvil a un commit — crear una cuesta nada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CuadroTexto 123"/>
          <p:cNvSpPr txBox="1"/>
          <p:nvPr/>
        </p:nvSpPr>
        <p:spPr>
          <a:xfrm>
            <a:off x="1123920" y="3878280"/>
            <a:ext cx="4836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HEAD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el puntero a donde estás parado ahora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Forma libre 124"/>
          <p:cNvSpPr/>
          <p:nvPr/>
        </p:nvSpPr>
        <p:spPr>
          <a:xfrm>
            <a:off x="3885840" y="4505040"/>
            <a:ext cx="695880" cy="267120"/>
          </a:xfrm>
          <a:custGeom>
            <a:avLst/>
            <a:gdLst/>
            <a:ahLst/>
            <a:cxnLst/>
            <a:rect l="0" t="0" r="r" b="b"/>
            <a:pathLst>
              <a:path w="193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5" y="3"/>
                  <a:pt x="1868" y="8"/>
                </a:cubicBezTo>
                <a:cubicBezTo>
                  <a:pt x="1881" y="14"/>
                  <a:pt x="1892" y="21"/>
                  <a:pt x="1902" y="31"/>
                </a:cubicBezTo>
                <a:cubicBezTo>
                  <a:pt x="1912" y="41"/>
                  <a:pt x="1920" y="53"/>
                  <a:pt x="1925" y="66"/>
                </a:cubicBezTo>
                <a:cubicBezTo>
                  <a:pt x="1930" y="79"/>
                  <a:pt x="1933" y="92"/>
                  <a:pt x="1933" y="106"/>
                </a:cubicBezTo>
                <a:lnTo>
                  <a:pt x="1933" y="636"/>
                </a:lnTo>
                <a:cubicBezTo>
                  <a:pt x="1933" y="650"/>
                  <a:pt x="1930" y="664"/>
                  <a:pt x="1925" y="677"/>
                </a:cubicBezTo>
                <a:cubicBezTo>
                  <a:pt x="1920" y="690"/>
                  <a:pt x="1912" y="701"/>
                  <a:pt x="1902" y="711"/>
                </a:cubicBezTo>
                <a:cubicBezTo>
                  <a:pt x="1892" y="721"/>
                  <a:pt x="1881" y="729"/>
                  <a:pt x="1868" y="734"/>
                </a:cubicBezTo>
                <a:cubicBezTo>
                  <a:pt x="1855" y="739"/>
                  <a:pt x="1841" y="742"/>
                  <a:pt x="182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2" y="701"/>
                  <a:pt x="14" y="690"/>
                  <a:pt x="9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CuadroTexto 125"/>
          <p:cNvSpPr txBox="1"/>
          <p:nvPr/>
        </p:nvSpPr>
        <p:spPr>
          <a:xfrm>
            <a:off x="905040" y="4487760"/>
            <a:ext cx="2982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Con este dibujo en la cabeza,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CuadroTexto 126"/>
          <p:cNvSpPr txBox="1"/>
          <p:nvPr/>
        </p:nvSpPr>
        <p:spPr>
          <a:xfrm>
            <a:off x="3943440" y="45252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merge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Forma libre 127"/>
          <p:cNvSpPr/>
          <p:nvPr/>
        </p:nvSpPr>
        <p:spPr>
          <a:xfrm>
            <a:off x="4714560" y="4505040"/>
            <a:ext cx="819720" cy="267120"/>
          </a:xfrm>
          <a:custGeom>
            <a:avLst/>
            <a:gdLst/>
            <a:ahLst/>
            <a:cxnLst/>
            <a:rect l="0" t="0" r="r" b="b"/>
            <a:pathLst>
              <a:path w="227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171" y="0"/>
                </a:lnTo>
                <a:cubicBezTo>
                  <a:pt x="2185" y="0"/>
                  <a:pt x="2198" y="3"/>
                  <a:pt x="2211" y="8"/>
                </a:cubicBezTo>
                <a:cubicBezTo>
                  <a:pt x="2224" y="14"/>
                  <a:pt x="2236" y="21"/>
                  <a:pt x="2246" y="31"/>
                </a:cubicBezTo>
                <a:cubicBezTo>
                  <a:pt x="2256" y="41"/>
                  <a:pt x="2263" y="53"/>
                  <a:pt x="2269" y="66"/>
                </a:cubicBezTo>
                <a:cubicBezTo>
                  <a:pt x="2274" y="79"/>
                  <a:pt x="2277" y="92"/>
                  <a:pt x="2277" y="106"/>
                </a:cubicBezTo>
                <a:lnTo>
                  <a:pt x="2277" y="636"/>
                </a:lnTo>
                <a:cubicBezTo>
                  <a:pt x="2277" y="650"/>
                  <a:pt x="2274" y="664"/>
                  <a:pt x="2269" y="677"/>
                </a:cubicBezTo>
                <a:cubicBezTo>
                  <a:pt x="2263" y="690"/>
                  <a:pt x="2256" y="701"/>
                  <a:pt x="2246" y="711"/>
                </a:cubicBezTo>
                <a:cubicBezTo>
                  <a:pt x="2236" y="721"/>
                  <a:pt x="2224" y="729"/>
                  <a:pt x="2211" y="734"/>
                </a:cubicBezTo>
                <a:cubicBezTo>
                  <a:pt x="2198" y="739"/>
                  <a:pt x="2185" y="742"/>
                  <a:pt x="217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CuadroTexto 128"/>
          <p:cNvSpPr txBox="1"/>
          <p:nvPr/>
        </p:nvSpPr>
        <p:spPr>
          <a:xfrm>
            <a:off x="4585680" y="44877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CuadroTexto 129"/>
          <p:cNvSpPr txBox="1"/>
          <p:nvPr/>
        </p:nvSpPr>
        <p:spPr>
          <a:xfrm>
            <a:off x="4770000" y="4525200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rebase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orma libre 130"/>
          <p:cNvSpPr/>
          <p:nvPr/>
        </p:nvSpPr>
        <p:spPr>
          <a:xfrm>
            <a:off x="5762520" y="450504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4"/>
                  <a:pt x="1891" y="21"/>
                  <a:pt x="1901" y="31"/>
                </a:cubicBezTo>
                <a:cubicBezTo>
                  <a:pt x="1911" y="41"/>
                  <a:pt x="1919" y="53"/>
                  <a:pt x="1924" y="66"/>
                </a:cubicBezTo>
                <a:cubicBezTo>
                  <a:pt x="1930" y="79"/>
                  <a:pt x="1932" y="92"/>
                  <a:pt x="1932" y="106"/>
                </a:cubicBezTo>
                <a:lnTo>
                  <a:pt x="1932" y="636"/>
                </a:lnTo>
                <a:cubicBezTo>
                  <a:pt x="1932" y="650"/>
                  <a:pt x="1930" y="664"/>
                  <a:pt x="1924" y="677"/>
                </a:cubicBezTo>
                <a:cubicBezTo>
                  <a:pt x="1919" y="690"/>
                  <a:pt x="1911" y="701"/>
                  <a:pt x="1901" y="711"/>
                </a:cubicBezTo>
                <a:cubicBezTo>
                  <a:pt x="1891" y="721"/>
                  <a:pt x="1880" y="729"/>
                  <a:pt x="1867" y="734"/>
                </a:cubicBezTo>
                <a:cubicBezTo>
                  <a:pt x="1854" y="739"/>
                  <a:pt x="1840" y="742"/>
                  <a:pt x="1826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CuadroTexto 131"/>
          <p:cNvSpPr txBox="1"/>
          <p:nvPr/>
        </p:nvSpPr>
        <p:spPr>
          <a:xfrm>
            <a:off x="5529240" y="4487760"/>
            <a:ext cx="2336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y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CuadroTexto 132"/>
          <p:cNvSpPr txBox="1"/>
          <p:nvPr/>
        </p:nvSpPr>
        <p:spPr>
          <a:xfrm>
            <a:off x="5819400" y="452520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reset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CuadroTexto 133"/>
          <p:cNvSpPr txBox="1"/>
          <p:nvPr/>
        </p:nvSpPr>
        <p:spPr>
          <a:xfrm>
            <a:off x="6461640" y="4487760"/>
            <a:ext cx="4298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se vuelven operaciones sobre punteros, 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CuadroTexto 134"/>
          <p:cNvSpPr txBox="1"/>
          <p:nvPr/>
        </p:nvSpPr>
        <p:spPr>
          <a:xfrm>
            <a:off x="905040" y="4830480"/>
            <a:ext cx="1630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encantamientos.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CuadroTexto 13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CuadroTexto 13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CuadroTexto 140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179E6B-56B1-5692-0AD8-ACC3A0836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987" y="1083734"/>
            <a:ext cx="8614026" cy="43672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orma libre 1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Forma libre 1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orma libre 1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Forma libre 144"/>
          <p:cNvSpPr/>
          <p:nvPr/>
        </p:nvSpPr>
        <p:spPr>
          <a:xfrm>
            <a:off x="671400" y="20142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Forma libre 145"/>
          <p:cNvSpPr/>
          <p:nvPr/>
        </p:nvSpPr>
        <p:spPr>
          <a:xfrm>
            <a:off x="671400" y="201420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1"/>
                  <a:pt x="30014" y="16"/>
                </a:cubicBezTo>
                <a:cubicBezTo>
                  <a:pt x="30026" y="21"/>
                  <a:pt x="30038" y="27"/>
                  <a:pt x="30049" y="34"/>
                </a:cubicBezTo>
                <a:cubicBezTo>
                  <a:pt x="30059" y="41"/>
                  <a:pt x="30070" y="49"/>
                  <a:pt x="30079" y="59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7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6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6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7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CuadroTexto 146"/>
          <p:cNvSpPr txBox="1"/>
          <p:nvPr/>
        </p:nvSpPr>
        <p:spPr>
          <a:xfrm>
            <a:off x="666720" y="1377720"/>
            <a:ext cx="20329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tres zonas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CuadroTexto 147"/>
          <p:cNvSpPr txBox="1"/>
          <p:nvPr/>
        </p:nvSpPr>
        <p:spPr>
          <a:xfrm>
            <a:off x="866880" y="2194200"/>
            <a:ext cx="58968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directorio de trabajo  →  staging area  →  repositorio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Forma libre 148"/>
          <p:cNvSpPr/>
          <p:nvPr/>
        </p:nvSpPr>
        <p:spPr>
          <a:xfrm>
            <a:off x="914040" y="3171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6880" y="246096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(editas)             (git add)        (git commit)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Forma libre 150"/>
          <p:cNvSpPr/>
          <p:nvPr/>
        </p:nvSpPr>
        <p:spPr>
          <a:xfrm>
            <a:off x="914040" y="35715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CuadroTexto 151"/>
          <p:cNvSpPr txBox="1"/>
          <p:nvPr/>
        </p:nvSpPr>
        <p:spPr>
          <a:xfrm>
            <a:off x="1123920" y="3058920"/>
            <a:ext cx="5000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Directorio de trabajo: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tus archivos, como los ves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Forma libre 152"/>
          <p:cNvSpPr/>
          <p:nvPr/>
        </p:nvSpPr>
        <p:spPr>
          <a:xfrm>
            <a:off x="914040" y="39718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CuadroTexto 153"/>
          <p:cNvSpPr txBox="1"/>
          <p:nvPr/>
        </p:nvSpPr>
        <p:spPr>
          <a:xfrm>
            <a:off x="1123920" y="3458880"/>
            <a:ext cx="5204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Staging area: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lo que va a entrar al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próximo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commit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Forma libre 154"/>
          <p:cNvSpPr/>
          <p:nvPr/>
        </p:nvSpPr>
        <p:spPr>
          <a:xfrm>
            <a:off x="4809960" y="387648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4" y="3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30" y="78"/>
                  <a:pt x="1932" y="92"/>
                  <a:pt x="1932" y="106"/>
                </a:cubicBezTo>
                <a:lnTo>
                  <a:pt x="1932" y="635"/>
                </a:lnTo>
                <a:cubicBezTo>
                  <a:pt x="1932" y="649"/>
                  <a:pt x="1930" y="663"/>
                  <a:pt x="1924" y="676"/>
                </a:cubicBezTo>
                <a:cubicBezTo>
                  <a:pt x="1919" y="689"/>
                  <a:pt x="1911" y="700"/>
                  <a:pt x="1901" y="711"/>
                </a:cubicBezTo>
                <a:cubicBezTo>
                  <a:pt x="1891" y="721"/>
                  <a:pt x="1880" y="728"/>
                  <a:pt x="1867" y="734"/>
                </a:cubicBezTo>
                <a:cubicBezTo>
                  <a:pt x="1854" y="739"/>
                  <a:pt x="1841" y="742"/>
                  <a:pt x="1827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0"/>
                  <a:pt x="13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CuadroTexto 155"/>
          <p:cNvSpPr txBox="1"/>
          <p:nvPr/>
        </p:nvSpPr>
        <p:spPr>
          <a:xfrm>
            <a:off x="1123920" y="3859200"/>
            <a:ext cx="3683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Repositorio: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historia permanente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CuadroTexto 156"/>
          <p:cNvSpPr txBox="1"/>
          <p:nvPr/>
        </p:nvSpPr>
        <p:spPr>
          <a:xfrm>
            <a:off x="4864320" y="389628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.git/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CuadroTexto 157"/>
          <p:cNvSpPr txBox="1"/>
          <p:nvPr/>
        </p:nvSpPr>
        <p:spPr>
          <a:xfrm>
            <a:off x="5506560" y="385920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CuadroTexto 158"/>
          <p:cNvSpPr txBox="1"/>
          <p:nvPr/>
        </p:nvSpPr>
        <p:spPr>
          <a:xfrm>
            <a:off x="666720" y="4354200"/>
            <a:ext cx="10411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staging permite armar commits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temáticos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cambiaste tres cosas, pero haces tres commits separados,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CuadroTexto 159"/>
          <p:cNvSpPr txBox="1"/>
          <p:nvPr/>
        </p:nvSpPr>
        <p:spPr>
          <a:xfrm>
            <a:off x="666720" y="4697280"/>
            <a:ext cx="2482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uno con su porqué.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CuadroTexto 16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CuadroTexto 16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CuadroTexto 165"/>
          <p:cNvSpPr txBox="1"/>
          <p:nvPr/>
        </p:nvSpPr>
        <p:spPr>
          <a:xfrm>
            <a:off x="11826720" y="6474240"/>
            <a:ext cx="1425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Forma libre 1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orma libre 1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Forma libre 1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CuadroTexto 169"/>
          <p:cNvSpPr txBox="1"/>
          <p:nvPr/>
        </p:nvSpPr>
        <p:spPr>
          <a:xfrm>
            <a:off x="4409640" y="3063960"/>
            <a:ext cx="346896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3. El flujo diario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CuadroTexto 17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CuadroTexto 17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CuadroTexto 17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Forma libre 17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Forma libre 1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Forma libre 1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Forma libre 176"/>
          <p:cNvSpPr/>
          <p:nvPr/>
        </p:nvSpPr>
        <p:spPr>
          <a:xfrm>
            <a:off x="671400" y="23857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Forma libre 177"/>
          <p:cNvSpPr/>
          <p:nvPr/>
        </p:nvSpPr>
        <p:spPr>
          <a:xfrm>
            <a:off x="671400" y="2385720"/>
            <a:ext cx="10849320" cy="1896120"/>
          </a:xfrm>
          <a:custGeom>
            <a:avLst/>
            <a:gdLst/>
            <a:ahLst/>
            <a:cxnLst/>
            <a:rect l="0" t="0" r="r" b="b"/>
            <a:pathLst>
              <a:path w="30137" h="5267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20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7"/>
                  <a:pt x="29938" y="5267"/>
                </a:cubicBezTo>
                <a:lnTo>
                  <a:pt x="198" y="5267"/>
                </a:lnTo>
                <a:cubicBezTo>
                  <a:pt x="185" y="5267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20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CuadroTexto 178"/>
          <p:cNvSpPr txBox="1"/>
          <p:nvPr/>
        </p:nvSpPr>
        <p:spPr>
          <a:xfrm>
            <a:off x="666720" y="1749240"/>
            <a:ext cx="55562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seis comandos del 90% de los días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CuadroTexto 179"/>
          <p:cNvSpPr txBox="1"/>
          <p:nvPr/>
        </p:nvSpPr>
        <p:spPr>
          <a:xfrm>
            <a:off x="866880" y="256572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status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¿dónde estoy, qué cambió?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CuadroTexto 180"/>
          <p:cNvSpPr txBox="1"/>
          <p:nvPr/>
        </p:nvSpPr>
        <p:spPr>
          <a:xfrm>
            <a:off x="866880" y="283248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add analisis.py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preparo esto para el commit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CuadroTexto 181"/>
          <p:cNvSpPr txBox="1"/>
          <p:nvPr/>
        </p:nvSpPr>
        <p:spPr>
          <a:xfrm>
            <a:off x="866880" y="308952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commit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-m 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fix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: excluir visitas previas al nacimiento"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CuadroTexto 182"/>
          <p:cNvSpPr txBox="1"/>
          <p:nvPr/>
        </p:nvSpPr>
        <p:spPr>
          <a:xfrm>
            <a:off x="866880" y="3356280"/>
            <a:ext cx="6115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log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--oneline --graph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la historia, dibujada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866880" y="3613320"/>
            <a:ext cx="6770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diff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qué cambié y aún no preparé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CuadroTexto 184"/>
          <p:cNvSpPr txBox="1"/>
          <p:nvPr/>
        </p:nvSpPr>
        <p:spPr>
          <a:xfrm>
            <a:off x="866880" y="388008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restore analisis.py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descartar cambios locales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Forma libre 185"/>
          <p:cNvSpPr/>
          <p:nvPr/>
        </p:nvSpPr>
        <p:spPr>
          <a:xfrm>
            <a:off x="2428560" y="4495680"/>
            <a:ext cx="1276920" cy="267120"/>
          </a:xfrm>
          <a:custGeom>
            <a:avLst/>
            <a:gdLst/>
            <a:ahLst/>
            <a:cxnLst/>
            <a:rect l="0" t="0" r="r" b="b"/>
            <a:pathLst>
              <a:path w="354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41" y="0"/>
                </a:lnTo>
                <a:cubicBezTo>
                  <a:pt x="3455" y="0"/>
                  <a:pt x="3468" y="3"/>
                  <a:pt x="3481" y="8"/>
                </a:cubicBezTo>
                <a:cubicBezTo>
                  <a:pt x="3494" y="13"/>
                  <a:pt x="3506" y="21"/>
                  <a:pt x="3516" y="31"/>
                </a:cubicBezTo>
                <a:cubicBezTo>
                  <a:pt x="3526" y="41"/>
                  <a:pt x="3533" y="52"/>
                  <a:pt x="3539" y="65"/>
                </a:cubicBezTo>
                <a:cubicBezTo>
                  <a:pt x="3544" y="78"/>
                  <a:pt x="3547" y="92"/>
                  <a:pt x="3547" y="106"/>
                </a:cubicBezTo>
                <a:lnTo>
                  <a:pt x="3547" y="636"/>
                </a:lnTo>
                <a:cubicBezTo>
                  <a:pt x="3547" y="650"/>
                  <a:pt x="3544" y="663"/>
                  <a:pt x="3539" y="676"/>
                </a:cubicBezTo>
                <a:cubicBezTo>
                  <a:pt x="3533" y="689"/>
                  <a:pt x="3526" y="701"/>
                  <a:pt x="3516" y="711"/>
                </a:cubicBezTo>
                <a:cubicBezTo>
                  <a:pt x="3506" y="721"/>
                  <a:pt x="3494" y="728"/>
                  <a:pt x="3481" y="734"/>
                </a:cubicBezTo>
                <a:cubicBezTo>
                  <a:pt x="3468" y="739"/>
                  <a:pt x="3455" y="742"/>
                  <a:pt x="3441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CuadroTexto 186"/>
          <p:cNvSpPr txBox="1"/>
          <p:nvPr/>
        </p:nvSpPr>
        <p:spPr>
          <a:xfrm>
            <a:off x="666720" y="4478040"/>
            <a:ext cx="17586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Regla de higiene: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CuadroTexto 187"/>
          <p:cNvSpPr txBox="1"/>
          <p:nvPr/>
        </p:nvSpPr>
        <p:spPr>
          <a:xfrm>
            <a:off x="2481840" y="45154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status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CuadroTexto 188"/>
          <p:cNvSpPr txBox="1"/>
          <p:nvPr/>
        </p:nvSpPr>
        <p:spPr>
          <a:xfrm>
            <a:off x="3708720" y="4478040"/>
            <a:ext cx="6978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antes y después de cada operación.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Es gratis y evita el 80% de las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CuadroTexto 189"/>
          <p:cNvSpPr txBox="1"/>
          <p:nvPr/>
        </p:nvSpPr>
        <p:spPr>
          <a:xfrm>
            <a:off x="666720" y="4821120"/>
            <a:ext cx="1033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sorpresas.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CuadroTexto 19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CuadroTexto 19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CuadroTexto 19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Forma libre 1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Forma libre 1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Forma libre 1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Forma libre 196"/>
          <p:cNvSpPr/>
          <p:nvPr/>
        </p:nvSpPr>
        <p:spPr>
          <a:xfrm>
            <a:off x="671400" y="203328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782"/>
                </a:lnTo>
                <a:cubicBezTo>
                  <a:pt x="30137" y="5796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3"/>
                </a:cubicBezTo>
                <a:cubicBezTo>
                  <a:pt x="30096" y="5904"/>
                  <a:pt x="30088" y="5914"/>
                  <a:pt x="30079" y="5923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5"/>
                  <a:pt x="30026" y="5961"/>
                  <a:pt x="30014" y="5966"/>
                </a:cubicBezTo>
                <a:cubicBezTo>
                  <a:pt x="30002" y="5971"/>
                  <a:pt x="29990" y="5975"/>
                  <a:pt x="29977" y="5977"/>
                </a:cubicBezTo>
                <a:cubicBezTo>
                  <a:pt x="29964" y="5980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80"/>
                  <a:pt x="160" y="5977"/>
                </a:cubicBezTo>
                <a:cubicBezTo>
                  <a:pt x="147" y="5975"/>
                  <a:pt x="134" y="5971"/>
                  <a:pt x="122" y="5966"/>
                </a:cubicBezTo>
                <a:cubicBezTo>
                  <a:pt x="110" y="5961"/>
                  <a:pt x="99" y="5955"/>
                  <a:pt x="88" y="5947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4"/>
                  <a:pt x="40" y="5904"/>
                  <a:pt x="33" y="5893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6"/>
                  <a:pt x="0" y="578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Forma libre 197"/>
          <p:cNvSpPr/>
          <p:nvPr/>
        </p:nvSpPr>
        <p:spPr>
          <a:xfrm>
            <a:off x="671400" y="2033280"/>
            <a:ext cx="10849320" cy="2153160"/>
          </a:xfrm>
          <a:custGeom>
            <a:avLst/>
            <a:gdLst/>
            <a:ahLst/>
            <a:cxnLst/>
            <a:rect l="0" t="0" r="r" b="b"/>
            <a:pathLst>
              <a:path w="30137" h="5981">
                <a:moveTo>
                  <a:pt x="0" y="5782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782"/>
                </a:lnTo>
                <a:cubicBezTo>
                  <a:pt x="30137" y="5796"/>
                  <a:pt x="30136" y="5808"/>
                  <a:pt x="30133" y="5821"/>
                </a:cubicBezTo>
                <a:cubicBezTo>
                  <a:pt x="30130" y="5834"/>
                  <a:pt x="30127" y="5846"/>
                  <a:pt x="30122" y="5858"/>
                </a:cubicBezTo>
                <a:cubicBezTo>
                  <a:pt x="30117" y="5870"/>
                  <a:pt x="30111" y="5882"/>
                  <a:pt x="30103" y="5893"/>
                </a:cubicBezTo>
                <a:cubicBezTo>
                  <a:pt x="30096" y="5904"/>
                  <a:pt x="30088" y="5914"/>
                  <a:pt x="30079" y="5923"/>
                </a:cubicBezTo>
                <a:cubicBezTo>
                  <a:pt x="30070" y="5932"/>
                  <a:pt x="30059" y="5940"/>
                  <a:pt x="30049" y="5947"/>
                </a:cubicBezTo>
                <a:cubicBezTo>
                  <a:pt x="30038" y="5955"/>
                  <a:pt x="30026" y="5961"/>
                  <a:pt x="30014" y="5966"/>
                </a:cubicBezTo>
                <a:cubicBezTo>
                  <a:pt x="30002" y="5971"/>
                  <a:pt x="29990" y="5975"/>
                  <a:pt x="29977" y="5977"/>
                </a:cubicBezTo>
                <a:cubicBezTo>
                  <a:pt x="29964" y="5980"/>
                  <a:pt x="29951" y="5981"/>
                  <a:pt x="29938" y="5981"/>
                </a:cubicBezTo>
                <a:lnTo>
                  <a:pt x="198" y="5981"/>
                </a:lnTo>
                <a:cubicBezTo>
                  <a:pt x="185" y="5981"/>
                  <a:pt x="172" y="5980"/>
                  <a:pt x="160" y="5977"/>
                </a:cubicBezTo>
                <a:cubicBezTo>
                  <a:pt x="147" y="5975"/>
                  <a:pt x="134" y="5971"/>
                  <a:pt x="122" y="5966"/>
                </a:cubicBezTo>
                <a:cubicBezTo>
                  <a:pt x="110" y="5961"/>
                  <a:pt x="99" y="5955"/>
                  <a:pt x="88" y="5947"/>
                </a:cubicBezTo>
                <a:cubicBezTo>
                  <a:pt x="77" y="5940"/>
                  <a:pt x="67" y="5932"/>
                  <a:pt x="58" y="5923"/>
                </a:cubicBezTo>
                <a:cubicBezTo>
                  <a:pt x="49" y="5914"/>
                  <a:pt x="40" y="5904"/>
                  <a:pt x="33" y="5893"/>
                </a:cubicBezTo>
                <a:cubicBezTo>
                  <a:pt x="26" y="5882"/>
                  <a:pt x="20" y="5870"/>
                  <a:pt x="15" y="5858"/>
                </a:cubicBezTo>
                <a:cubicBezTo>
                  <a:pt x="10" y="5846"/>
                  <a:pt x="6" y="5834"/>
                  <a:pt x="4" y="5821"/>
                </a:cubicBezTo>
                <a:cubicBezTo>
                  <a:pt x="1" y="5808"/>
                  <a:pt x="0" y="5796"/>
                  <a:pt x="0" y="57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CuadroTexto 198"/>
          <p:cNvSpPr txBox="1"/>
          <p:nvPr/>
        </p:nvSpPr>
        <p:spPr>
          <a:xfrm>
            <a:off x="666720" y="1387080"/>
            <a:ext cx="5766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mensaje de commit es documentación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CuadroTexto 199"/>
          <p:cNvSpPr txBox="1"/>
          <p:nvPr/>
        </p:nvSpPr>
        <p:spPr>
          <a:xfrm>
            <a:off x="866880" y="221328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mal:     "cambios"  ·  "update"  ·  "asdfgh"  ·  "ahora sí"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CuadroTexto 200"/>
          <p:cNvSpPr txBox="1"/>
          <p:nvPr/>
        </p:nvSpPr>
        <p:spPr>
          <a:xfrm>
            <a:off x="866880" y="273708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bien:    fix: excluir mediciones anteriores a la fecha de nacimiento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CuadroTexto 201"/>
          <p:cNvSpPr txBox="1"/>
          <p:nvPr/>
        </p:nvSpPr>
        <p:spPr>
          <a:xfrm>
            <a:off x="866880" y="3260880"/>
            <a:ext cx="7097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Synthea genera algunas observaciones con fecha previa al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CuadroTexto 202"/>
          <p:cNvSpPr txBox="1"/>
          <p:nvPr/>
        </p:nvSpPr>
        <p:spPr>
          <a:xfrm>
            <a:off x="866880" y="3527640"/>
            <a:ext cx="7206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nacimiento del paciente. Afectaba el conteo de la cohorte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Forma libre 203"/>
          <p:cNvSpPr/>
          <p:nvPr/>
        </p:nvSpPr>
        <p:spPr>
          <a:xfrm>
            <a:off x="914040" y="449568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CuadroTexto 204"/>
          <p:cNvSpPr txBox="1"/>
          <p:nvPr/>
        </p:nvSpPr>
        <p:spPr>
          <a:xfrm>
            <a:off x="866880" y="3785040"/>
            <a:ext cx="3385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en ~2%. Ver issue #12.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Forma libre 205"/>
          <p:cNvSpPr/>
          <p:nvPr/>
        </p:nvSpPr>
        <p:spPr>
          <a:xfrm>
            <a:off x="914040" y="4895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3"/>
                  <a:pt x="22" y="42"/>
                  <a:pt x="31" y="32"/>
                </a:cubicBezTo>
                <a:cubicBezTo>
                  <a:pt x="41" y="22"/>
                  <a:pt x="53" y="15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CuadroTexto 206"/>
          <p:cNvSpPr txBox="1"/>
          <p:nvPr/>
        </p:nvSpPr>
        <p:spPr>
          <a:xfrm>
            <a:off x="1123920" y="4383000"/>
            <a:ext cx="5764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Primera línea: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imperativo, ≤50 caracteres, qué y dónde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Forma libre 207"/>
          <p:cNvSpPr/>
          <p:nvPr/>
        </p:nvSpPr>
        <p:spPr>
          <a:xfrm>
            <a:off x="914040" y="52956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CuadroTexto 208"/>
          <p:cNvSpPr txBox="1"/>
          <p:nvPr/>
        </p:nvSpPr>
        <p:spPr>
          <a:xfrm>
            <a:off x="1123920" y="4782960"/>
            <a:ext cx="5345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Cuerpo (opcional):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por qué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el código ya dice cómo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Forma libre 209"/>
          <p:cNvSpPr/>
          <p:nvPr/>
        </p:nvSpPr>
        <p:spPr>
          <a:xfrm>
            <a:off x="3390840" y="5200560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2"/>
                  <a:pt x="1867" y="8"/>
                </a:cubicBezTo>
                <a:cubicBezTo>
                  <a:pt x="1880" y="13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29" y="78"/>
                  <a:pt x="1932" y="92"/>
                  <a:pt x="1932" y="106"/>
                </a:cubicBezTo>
                <a:lnTo>
                  <a:pt x="1932" y="635"/>
                </a:lnTo>
                <a:cubicBezTo>
                  <a:pt x="1932" y="649"/>
                  <a:pt x="1929" y="662"/>
                  <a:pt x="1924" y="675"/>
                </a:cubicBezTo>
                <a:cubicBezTo>
                  <a:pt x="1919" y="688"/>
                  <a:pt x="1911" y="700"/>
                  <a:pt x="1901" y="710"/>
                </a:cubicBezTo>
                <a:cubicBezTo>
                  <a:pt x="1891" y="720"/>
                  <a:pt x="1880" y="728"/>
                  <a:pt x="1867" y="734"/>
                </a:cubicBezTo>
                <a:cubicBezTo>
                  <a:pt x="1854" y="739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CuadroTexto 210"/>
          <p:cNvSpPr txBox="1"/>
          <p:nvPr/>
        </p:nvSpPr>
        <p:spPr>
          <a:xfrm>
            <a:off x="1123920" y="5182920"/>
            <a:ext cx="2266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Convención del curso: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CuadroTexto 211"/>
          <p:cNvSpPr txBox="1"/>
          <p:nvPr/>
        </p:nvSpPr>
        <p:spPr>
          <a:xfrm>
            <a:off x="3447000" y="52203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feat: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Forma libre 212"/>
          <p:cNvSpPr/>
          <p:nvPr/>
        </p:nvSpPr>
        <p:spPr>
          <a:xfrm>
            <a:off x="4152600" y="520056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2"/>
                  <a:pt x="1550" y="8"/>
                </a:cubicBezTo>
                <a:cubicBezTo>
                  <a:pt x="1563" y="13"/>
                  <a:pt x="1574" y="21"/>
                  <a:pt x="1584" y="31"/>
                </a:cubicBezTo>
                <a:cubicBezTo>
                  <a:pt x="1594" y="41"/>
                  <a:pt x="1602" y="52"/>
                  <a:pt x="1607" y="65"/>
                </a:cubicBezTo>
                <a:cubicBezTo>
                  <a:pt x="1613" y="78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49"/>
                  <a:pt x="1613" y="662"/>
                  <a:pt x="1607" y="675"/>
                </a:cubicBezTo>
                <a:cubicBezTo>
                  <a:pt x="1602" y="688"/>
                  <a:pt x="1594" y="700"/>
                  <a:pt x="1584" y="710"/>
                </a:cubicBezTo>
                <a:cubicBezTo>
                  <a:pt x="1574" y="720"/>
                  <a:pt x="1563" y="728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CuadroTexto 213"/>
          <p:cNvSpPr txBox="1"/>
          <p:nvPr/>
        </p:nvSpPr>
        <p:spPr>
          <a:xfrm>
            <a:off x="4088880" y="51829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CuadroTexto 214"/>
          <p:cNvSpPr txBox="1"/>
          <p:nvPr/>
        </p:nvSpPr>
        <p:spPr>
          <a:xfrm>
            <a:off x="4209840" y="522036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fix: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Forma libre 215"/>
          <p:cNvSpPr/>
          <p:nvPr/>
        </p:nvSpPr>
        <p:spPr>
          <a:xfrm>
            <a:off x="4800240" y="5200560"/>
            <a:ext cx="695880" cy="267120"/>
          </a:xfrm>
          <a:custGeom>
            <a:avLst/>
            <a:gdLst/>
            <a:ahLst/>
            <a:cxnLst/>
            <a:rect l="0" t="0" r="r" b="b"/>
            <a:pathLst>
              <a:path w="1933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27" y="0"/>
                </a:lnTo>
                <a:cubicBezTo>
                  <a:pt x="1841" y="0"/>
                  <a:pt x="1855" y="2"/>
                  <a:pt x="1868" y="8"/>
                </a:cubicBezTo>
                <a:cubicBezTo>
                  <a:pt x="1881" y="13"/>
                  <a:pt x="1892" y="21"/>
                  <a:pt x="1902" y="31"/>
                </a:cubicBezTo>
                <a:cubicBezTo>
                  <a:pt x="1912" y="41"/>
                  <a:pt x="1920" y="52"/>
                  <a:pt x="1925" y="65"/>
                </a:cubicBezTo>
                <a:cubicBezTo>
                  <a:pt x="1930" y="78"/>
                  <a:pt x="1933" y="92"/>
                  <a:pt x="1933" y="106"/>
                </a:cubicBezTo>
                <a:lnTo>
                  <a:pt x="1933" y="635"/>
                </a:lnTo>
                <a:cubicBezTo>
                  <a:pt x="1933" y="649"/>
                  <a:pt x="1930" y="662"/>
                  <a:pt x="1925" y="675"/>
                </a:cubicBezTo>
                <a:cubicBezTo>
                  <a:pt x="1920" y="688"/>
                  <a:pt x="1912" y="700"/>
                  <a:pt x="1902" y="710"/>
                </a:cubicBezTo>
                <a:cubicBezTo>
                  <a:pt x="1892" y="720"/>
                  <a:pt x="1881" y="728"/>
                  <a:pt x="1868" y="734"/>
                </a:cubicBezTo>
                <a:cubicBezTo>
                  <a:pt x="1855" y="739"/>
                  <a:pt x="1841" y="742"/>
                  <a:pt x="182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2" y="700"/>
                  <a:pt x="14" y="688"/>
                  <a:pt x="9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CuadroTexto 216"/>
          <p:cNvSpPr txBox="1"/>
          <p:nvPr/>
        </p:nvSpPr>
        <p:spPr>
          <a:xfrm>
            <a:off x="4735080" y="51829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CuadroTexto 217"/>
          <p:cNvSpPr txBox="1"/>
          <p:nvPr/>
        </p:nvSpPr>
        <p:spPr>
          <a:xfrm>
            <a:off x="4856040" y="52203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docs: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Forma libre 218"/>
          <p:cNvSpPr/>
          <p:nvPr/>
        </p:nvSpPr>
        <p:spPr>
          <a:xfrm>
            <a:off x="5562360" y="5200560"/>
            <a:ext cx="1162440" cy="267120"/>
          </a:xfrm>
          <a:custGeom>
            <a:avLst/>
            <a:gdLst/>
            <a:ahLst/>
            <a:cxnLst/>
            <a:rect l="0" t="0" r="r" b="b"/>
            <a:pathLst>
              <a:path w="3229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1" y="2"/>
                  <a:pt x="3164" y="8"/>
                </a:cubicBezTo>
                <a:cubicBezTo>
                  <a:pt x="3177" y="13"/>
                  <a:pt x="3188" y="21"/>
                  <a:pt x="3198" y="31"/>
                </a:cubicBezTo>
                <a:cubicBezTo>
                  <a:pt x="3208" y="41"/>
                  <a:pt x="3216" y="52"/>
                  <a:pt x="3221" y="65"/>
                </a:cubicBezTo>
                <a:cubicBezTo>
                  <a:pt x="3226" y="78"/>
                  <a:pt x="3229" y="92"/>
                  <a:pt x="3229" y="106"/>
                </a:cubicBezTo>
                <a:lnTo>
                  <a:pt x="3229" y="635"/>
                </a:lnTo>
                <a:cubicBezTo>
                  <a:pt x="3229" y="649"/>
                  <a:pt x="3226" y="662"/>
                  <a:pt x="3221" y="675"/>
                </a:cubicBezTo>
                <a:cubicBezTo>
                  <a:pt x="3216" y="688"/>
                  <a:pt x="3208" y="700"/>
                  <a:pt x="3198" y="710"/>
                </a:cubicBezTo>
                <a:cubicBezTo>
                  <a:pt x="3188" y="720"/>
                  <a:pt x="3177" y="728"/>
                  <a:pt x="3164" y="734"/>
                </a:cubicBezTo>
                <a:cubicBezTo>
                  <a:pt x="3151" y="739"/>
                  <a:pt x="3137" y="742"/>
                  <a:pt x="3123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CuadroTexto 219"/>
          <p:cNvSpPr txBox="1"/>
          <p:nvPr/>
        </p:nvSpPr>
        <p:spPr>
          <a:xfrm>
            <a:off x="5498280" y="51829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5618880" y="52203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refactor: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Forma libre 221"/>
          <p:cNvSpPr/>
          <p:nvPr/>
        </p:nvSpPr>
        <p:spPr>
          <a:xfrm>
            <a:off x="6791040" y="5200560"/>
            <a:ext cx="705240" cy="267120"/>
          </a:xfrm>
          <a:custGeom>
            <a:avLst/>
            <a:gdLst/>
            <a:ahLst/>
            <a:cxnLst/>
            <a:rect l="0" t="0" r="r" b="b"/>
            <a:pathLst>
              <a:path w="1959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853" y="0"/>
                </a:lnTo>
                <a:cubicBezTo>
                  <a:pt x="1867" y="0"/>
                  <a:pt x="1881" y="2"/>
                  <a:pt x="1894" y="8"/>
                </a:cubicBezTo>
                <a:cubicBezTo>
                  <a:pt x="1907" y="13"/>
                  <a:pt x="1918" y="21"/>
                  <a:pt x="1928" y="31"/>
                </a:cubicBezTo>
                <a:cubicBezTo>
                  <a:pt x="1938" y="41"/>
                  <a:pt x="1946" y="52"/>
                  <a:pt x="1951" y="65"/>
                </a:cubicBezTo>
                <a:cubicBezTo>
                  <a:pt x="1957" y="78"/>
                  <a:pt x="1959" y="92"/>
                  <a:pt x="1959" y="106"/>
                </a:cubicBezTo>
                <a:lnTo>
                  <a:pt x="1959" y="635"/>
                </a:lnTo>
                <a:cubicBezTo>
                  <a:pt x="1959" y="649"/>
                  <a:pt x="1957" y="662"/>
                  <a:pt x="1951" y="675"/>
                </a:cubicBezTo>
                <a:cubicBezTo>
                  <a:pt x="1946" y="688"/>
                  <a:pt x="1938" y="700"/>
                  <a:pt x="1928" y="710"/>
                </a:cubicBezTo>
                <a:cubicBezTo>
                  <a:pt x="1918" y="720"/>
                  <a:pt x="1907" y="728"/>
                  <a:pt x="1894" y="734"/>
                </a:cubicBezTo>
                <a:cubicBezTo>
                  <a:pt x="1881" y="739"/>
                  <a:pt x="1867" y="742"/>
                  <a:pt x="1853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0"/>
                  <a:pt x="14" y="688"/>
                  <a:pt x="8" y="675"/>
                </a:cubicBezTo>
                <a:cubicBezTo>
                  <a:pt x="3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6729120" y="518292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6850080" y="522036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test: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CuadroTexto 225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Forma libre 22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Forma libre 22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Forma libre 22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CuadroTexto 230"/>
          <p:cNvSpPr txBox="1"/>
          <p:nvPr/>
        </p:nvSpPr>
        <p:spPr>
          <a:xfrm>
            <a:off x="3686760" y="3063960"/>
            <a:ext cx="49309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4. Ramas y conflictos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CuadroTexto 23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CuadroTexto 23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CuadroTexto 23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Forma libre 2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Forma libre 2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Forma libre 2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Forma libre 237"/>
          <p:cNvSpPr/>
          <p:nvPr/>
        </p:nvSpPr>
        <p:spPr>
          <a:xfrm>
            <a:off x="640620" y="19285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Forma libre 238"/>
          <p:cNvSpPr/>
          <p:nvPr/>
        </p:nvSpPr>
        <p:spPr>
          <a:xfrm>
            <a:off x="671400" y="192852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3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3613"/>
                </a:lnTo>
                <a:cubicBezTo>
                  <a:pt x="30137" y="3626"/>
                  <a:pt x="30136" y="3639"/>
                  <a:pt x="30133" y="3652"/>
                </a:cubicBezTo>
                <a:cubicBezTo>
                  <a:pt x="30130" y="3664"/>
                  <a:pt x="30127" y="3677"/>
                  <a:pt x="30122" y="3689"/>
                </a:cubicBezTo>
                <a:cubicBezTo>
                  <a:pt x="30117" y="3701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1"/>
                  <a:pt x="30049" y="3778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8"/>
                </a:cubicBezTo>
                <a:cubicBezTo>
                  <a:pt x="77" y="3771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1"/>
                  <a:pt x="15" y="3689"/>
                </a:cubicBezTo>
                <a:cubicBezTo>
                  <a:pt x="10" y="3677"/>
                  <a:pt x="6" y="3664"/>
                  <a:pt x="4" y="3652"/>
                </a:cubicBezTo>
                <a:cubicBezTo>
                  <a:pt x="1" y="3639"/>
                  <a:pt x="0" y="3626"/>
                  <a:pt x="0" y="361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CuadroTexto 239"/>
          <p:cNvSpPr txBox="1"/>
          <p:nvPr/>
        </p:nvSpPr>
        <p:spPr>
          <a:xfrm>
            <a:off x="666720" y="1282320"/>
            <a:ext cx="34880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Ramificar es gratis; úsalo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CuadroTexto 240"/>
          <p:cNvSpPr txBox="1"/>
          <p:nvPr/>
        </p:nvSpPr>
        <p:spPr>
          <a:xfrm>
            <a:off x="866880" y="2108520"/>
            <a:ext cx="75344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switch -c experimento-imputacion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crear rama y pararse en ella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CuadroTexto 241"/>
          <p:cNvSpPr txBox="1"/>
          <p:nvPr/>
        </p:nvSpPr>
        <p:spPr>
          <a:xfrm>
            <a:off x="866880" y="2375280"/>
            <a:ext cx="3603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... trabajas, haces commits ...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CuadroTexto 242"/>
          <p:cNvSpPr txBox="1"/>
          <p:nvPr/>
        </p:nvSpPr>
        <p:spPr>
          <a:xfrm>
            <a:off x="866880" y="2632320"/>
            <a:ext cx="6551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switch </a:t>
            </a:r>
            <a:r>
              <a:rPr lang="es-ES" sz="1430" b="0" u="none" strike="noStrike" dirty="0" err="1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main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volver a lo estable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CuadroTexto 243"/>
          <p:cNvSpPr txBox="1"/>
          <p:nvPr/>
        </p:nvSpPr>
        <p:spPr>
          <a:xfrm>
            <a:off x="866880" y="289908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merge experimento-imputacion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traer los cambios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Forma libre 244"/>
          <p:cNvSpPr/>
          <p:nvPr/>
        </p:nvSpPr>
        <p:spPr>
          <a:xfrm>
            <a:off x="914040" y="41050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CuadroTexto 245"/>
          <p:cNvSpPr txBox="1"/>
          <p:nvPr/>
        </p:nvSpPr>
        <p:spPr>
          <a:xfrm>
            <a:off x="666720" y="3497040"/>
            <a:ext cx="3380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Cuándo ramiﬁcar en investigación: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Forma libre 246"/>
          <p:cNvSpPr/>
          <p:nvPr/>
        </p:nvSpPr>
        <p:spPr>
          <a:xfrm>
            <a:off x="914040" y="45050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CuadroTexto 247"/>
          <p:cNvSpPr txBox="1"/>
          <p:nvPr/>
        </p:nvSpPr>
        <p:spPr>
          <a:xfrm>
            <a:off x="1123920" y="3992400"/>
            <a:ext cx="8853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experimento que puede fallar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si no funciona, borras la rama y main queda limpio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Forma libre 248"/>
          <p:cNvSpPr/>
          <p:nvPr/>
        </p:nvSpPr>
        <p:spPr>
          <a:xfrm>
            <a:off x="4676760" y="4410000"/>
            <a:ext cx="1285920" cy="267120"/>
          </a:xfrm>
          <a:custGeom>
            <a:avLst/>
            <a:gdLst/>
            <a:ahLst/>
            <a:cxnLst/>
            <a:rect l="0" t="0" r="r" b="b"/>
            <a:pathLst>
              <a:path w="3572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3467" y="0"/>
                </a:lnTo>
                <a:cubicBezTo>
                  <a:pt x="3481" y="0"/>
                  <a:pt x="3494" y="2"/>
                  <a:pt x="3507" y="8"/>
                </a:cubicBezTo>
                <a:cubicBezTo>
                  <a:pt x="3520" y="13"/>
                  <a:pt x="3531" y="21"/>
                  <a:pt x="3541" y="31"/>
                </a:cubicBezTo>
                <a:cubicBezTo>
                  <a:pt x="3551" y="41"/>
                  <a:pt x="3559" y="52"/>
                  <a:pt x="3564" y="65"/>
                </a:cubicBezTo>
                <a:cubicBezTo>
                  <a:pt x="3570" y="78"/>
                  <a:pt x="3572" y="92"/>
                  <a:pt x="3572" y="106"/>
                </a:cubicBezTo>
                <a:lnTo>
                  <a:pt x="3572" y="635"/>
                </a:lnTo>
                <a:cubicBezTo>
                  <a:pt x="3572" y="649"/>
                  <a:pt x="3570" y="662"/>
                  <a:pt x="3564" y="675"/>
                </a:cubicBezTo>
                <a:cubicBezTo>
                  <a:pt x="3559" y="688"/>
                  <a:pt x="3551" y="701"/>
                  <a:pt x="3541" y="711"/>
                </a:cubicBezTo>
                <a:cubicBezTo>
                  <a:pt x="3531" y="720"/>
                  <a:pt x="3520" y="728"/>
                  <a:pt x="3507" y="733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0" y="720"/>
                  <a:pt x="31" y="711"/>
                </a:cubicBezTo>
                <a:cubicBezTo>
                  <a:pt x="21" y="701"/>
                  <a:pt x="13" y="688"/>
                  <a:pt x="8" y="675"/>
                </a:cubicBezTo>
                <a:cubicBezTo>
                  <a:pt x="2" y="662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CuadroTexto 249"/>
          <p:cNvSpPr txBox="1"/>
          <p:nvPr/>
        </p:nvSpPr>
        <p:spPr>
          <a:xfrm>
            <a:off x="1123920" y="4392360"/>
            <a:ext cx="3556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Una revisión del artículo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rama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CuadroTexto 250"/>
          <p:cNvSpPr txBox="1"/>
          <p:nvPr/>
        </p:nvSpPr>
        <p:spPr>
          <a:xfrm>
            <a:off x="4732560" y="44298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revision-2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Forma libre 251"/>
          <p:cNvSpPr/>
          <p:nvPr/>
        </p:nvSpPr>
        <p:spPr>
          <a:xfrm>
            <a:off x="914040" y="49053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CuadroTexto 252"/>
          <p:cNvSpPr txBox="1"/>
          <p:nvPr/>
        </p:nvSpPr>
        <p:spPr>
          <a:xfrm>
            <a:off x="5959800" y="4392360"/>
            <a:ext cx="34394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 el estado enviado queda intacto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CuadroTexto 253"/>
          <p:cNvSpPr txBox="1"/>
          <p:nvPr/>
        </p:nvSpPr>
        <p:spPr>
          <a:xfrm>
            <a:off x="1123920" y="4792680"/>
            <a:ext cx="4941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Probar una idea del asesor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sin deshacer la tuya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CuadroTexto 25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CuadroTexto 25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CuadroTexto 25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631637-A854-4F27-1F69-827AD15E7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47" y="1037860"/>
            <a:ext cx="10637065" cy="51883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Forma libre 2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Forma libre 2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Forma libre 2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Forma libre 263"/>
          <p:cNvSpPr/>
          <p:nvPr/>
        </p:nvSpPr>
        <p:spPr>
          <a:xfrm>
            <a:off x="671400" y="217620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6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6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Forma libre 264"/>
          <p:cNvSpPr/>
          <p:nvPr/>
        </p:nvSpPr>
        <p:spPr>
          <a:xfrm>
            <a:off x="671400" y="2176200"/>
            <a:ext cx="10849320" cy="1629360"/>
          </a:xfrm>
          <a:custGeom>
            <a:avLst/>
            <a:gdLst/>
            <a:ahLst/>
            <a:cxnLst/>
            <a:rect l="0" t="0" r="r" b="b"/>
            <a:pathLst>
              <a:path w="30137" h="4526">
                <a:moveTo>
                  <a:pt x="0" y="4327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4327"/>
                </a:lnTo>
                <a:cubicBezTo>
                  <a:pt x="30137" y="4340"/>
                  <a:pt x="30136" y="4353"/>
                  <a:pt x="30133" y="4366"/>
                </a:cubicBezTo>
                <a:cubicBezTo>
                  <a:pt x="30130" y="4379"/>
                  <a:pt x="30127" y="4391"/>
                  <a:pt x="30122" y="4403"/>
                </a:cubicBezTo>
                <a:cubicBezTo>
                  <a:pt x="30117" y="4415"/>
                  <a:pt x="30111" y="4427"/>
                  <a:pt x="30103" y="4437"/>
                </a:cubicBezTo>
                <a:cubicBezTo>
                  <a:pt x="30096" y="4448"/>
                  <a:pt x="30088" y="4458"/>
                  <a:pt x="30079" y="4467"/>
                </a:cubicBezTo>
                <a:cubicBezTo>
                  <a:pt x="30070" y="4477"/>
                  <a:pt x="30059" y="4485"/>
                  <a:pt x="30049" y="4492"/>
                </a:cubicBezTo>
                <a:cubicBezTo>
                  <a:pt x="30038" y="4499"/>
                  <a:pt x="30026" y="4506"/>
                  <a:pt x="30014" y="4510"/>
                </a:cubicBezTo>
                <a:cubicBezTo>
                  <a:pt x="30002" y="4515"/>
                  <a:pt x="29990" y="4519"/>
                  <a:pt x="29977" y="4522"/>
                </a:cubicBezTo>
                <a:cubicBezTo>
                  <a:pt x="29964" y="4524"/>
                  <a:pt x="29951" y="4526"/>
                  <a:pt x="29938" y="4526"/>
                </a:cubicBezTo>
                <a:lnTo>
                  <a:pt x="198" y="4526"/>
                </a:lnTo>
                <a:cubicBezTo>
                  <a:pt x="185" y="4526"/>
                  <a:pt x="172" y="4524"/>
                  <a:pt x="160" y="4522"/>
                </a:cubicBezTo>
                <a:cubicBezTo>
                  <a:pt x="147" y="4519"/>
                  <a:pt x="134" y="4515"/>
                  <a:pt x="122" y="4510"/>
                </a:cubicBezTo>
                <a:cubicBezTo>
                  <a:pt x="110" y="4506"/>
                  <a:pt x="99" y="4499"/>
                  <a:pt x="88" y="4492"/>
                </a:cubicBezTo>
                <a:cubicBezTo>
                  <a:pt x="77" y="4485"/>
                  <a:pt x="67" y="4477"/>
                  <a:pt x="58" y="4467"/>
                </a:cubicBezTo>
                <a:cubicBezTo>
                  <a:pt x="49" y="4458"/>
                  <a:pt x="40" y="4448"/>
                  <a:pt x="33" y="4437"/>
                </a:cubicBezTo>
                <a:cubicBezTo>
                  <a:pt x="26" y="4427"/>
                  <a:pt x="20" y="4415"/>
                  <a:pt x="15" y="4403"/>
                </a:cubicBezTo>
                <a:cubicBezTo>
                  <a:pt x="10" y="4391"/>
                  <a:pt x="6" y="4379"/>
                  <a:pt x="4" y="4366"/>
                </a:cubicBezTo>
                <a:cubicBezTo>
                  <a:pt x="1" y="4353"/>
                  <a:pt x="0" y="4340"/>
                  <a:pt x="0" y="432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Forma libre 265"/>
          <p:cNvSpPr/>
          <p:nvPr/>
        </p:nvSpPr>
        <p:spPr>
          <a:xfrm>
            <a:off x="666720" y="5257440"/>
            <a:ext cx="10858680" cy="572040"/>
          </a:xfrm>
          <a:custGeom>
            <a:avLst/>
            <a:gdLst/>
            <a:ahLst/>
            <a:cxnLst/>
            <a:rect l="0" t="0" r="r" b="b"/>
            <a:pathLst>
              <a:path w="30163" h="1589">
                <a:moveTo>
                  <a:pt x="0" y="0"/>
                </a:moveTo>
                <a:lnTo>
                  <a:pt x="30163" y="0"/>
                </a:lnTo>
                <a:lnTo>
                  <a:pt x="3016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orma libre 266"/>
          <p:cNvSpPr/>
          <p:nvPr/>
        </p:nvSpPr>
        <p:spPr>
          <a:xfrm>
            <a:off x="666720" y="5257440"/>
            <a:ext cx="47880" cy="572040"/>
          </a:xfrm>
          <a:custGeom>
            <a:avLst/>
            <a:gdLst/>
            <a:ahLst/>
            <a:cxnLst/>
            <a:rect l="0" t="0" r="r" b="b"/>
            <a:pathLst>
              <a:path w="133" h="1589">
                <a:moveTo>
                  <a:pt x="0" y="0"/>
                </a:moveTo>
                <a:lnTo>
                  <a:pt x="133" y="0"/>
                </a:lnTo>
                <a:lnTo>
                  <a:pt x="133" y="1589"/>
                </a:lnTo>
                <a:lnTo>
                  <a:pt x="0" y="1589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CuadroTexto 267"/>
          <p:cNvSpPr txBox="1"/>
          <p:nvPr/>
        </p:nvSpPr>
        <p:spPr>
          <a:xfrm>
            <a:off x="666720" y="1044360"/>
            <a:ext cx="3560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conflicto no es un error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CuadroTexto 268"/>
          <p:cNvSpPr txBox="1"/>
          <p:nvPr/>
        </p:nvSpPr>
        <p:spPr>
          <a:xfrm>
            <a:off x="666720" y="1716120"/>
            <a:ext cx="9684061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Dos ramas (diferentes a </a:t>
            </a:r>
            <a:r>
              <a:rPr lang="es-ES" sz="180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main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 tocaron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las mismas líneas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Git no adivina cuál va: te lo pregunta.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CuadroTexto 269"/>
          <p:cNvSpPr txBox="1"/>
          <p:nvPr/>
        </p:nvSpPr>
        <p:spPr>
          <a:xfrm>
            <a:off x="866880" y="2356200"/>
            <a:ext cx="131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&lt;&lt;&lt;&lt;&lt;&lt;&lt; HEAD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866880" y="2622960"/>
            <a:ext cx="4756110" cy="2200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umbral_hba1c = 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6.5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 dirty="0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criterio del tutor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CuadroTexto 271"/>
          <p:cNvSpPr txBox="1"/>
          <p:nvPr/>
        </p:nvSpPr>
        <p:spPr>
          <a:xfrm>
            <a:off x="866880" y="288000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=======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CuadroTexto 272"/>
          <p:cNvSpPr txBox="1"/>
          <p:nvPr/>
        </p:nvSpPr>
        <p:spPr>
          <a:xfrm>
            <a:off x="866880" y="3146760"/>
            <a:ext cx="54597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umbral_hba1c =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7.0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criterio del protocolo v2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CuadroTexto 273"/>
          <p:cNvSpPr txBox="1"/>
          <p:nvPr/>
        </p:nvSpPr>
        <p:spPr>
          <a:xfrm>
            <a:off x="866880" y="340380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&gt;&gt;&gt;&gt;&gt;&gt;&gt; experimento-umbral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CuadroTexto 274"/>
          <p:cNvSpPr txBox="1"/>
          <p:nvPr/>
        </p:nvSpPr>
        <p:spPr>
          <a:xfrm>
            <a:off x="869760" y="4002120"/>
            <a:ext cx="5722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Abres el archivo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eliges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(una, otra, o una tercera cosa)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Forma libre 275"/>
          <p:cNvSpPr/>
          <p:nvPr/>
        </p:nvSpPr>
        <p:spPr>
          <a:xfrm>
            <a:off x="3419280" y="441936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6" y="3"/>
                  <a:pt x="2529" y="8"/>
                </a:cubicBezTo>
                <a:cubicBezTo>
                  <a:pt x="2542" y="14"/>
                  <a:pt x="2553" y="21"/>
                  <a:pt x="2563" y="31"/>
                </a:cubicBezTo>
                <a:cubicBezTo>
                  <a:pt x="2573" y="41"/>
                  <a:pt x="2581" y="53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5"/>
                </a:lnTo>
                <a:cubicBezTo>
                  <a:pt x="2594" y="649"/>
                  <a:pt x="2591" y="663"/>
                  <a:pt x="2586" y="677"/>
                </a:cubicBezTo>
                <a:cubicBezTo>
                  <a:pt x="2581" y="690"/>
                  <a:pt x="2573" y="701"/>
                  <a:pt x="2563" y="711"/>
                </a:cubicBezTo>
                <a:cubicBezTo>
                  <a:pt x="2553" y="721"/>
                  <a:pt x="2542" y="729"/>
                  <a:pt x="2529" y="734"/>
                </a:cubicBezTo>
                <a:cubicBezTo>
                  <a:pt x="2516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CuadroTexto 276"/>
          <p:cNvSpPr txBox="1"/>
          <p:nvPr/>
        </p:nvSpPr>
        <p:spPr>
          <a:xfrm>
            <a:off x="869760" y="4402080"/>
            <a:ext cx="255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Borras los marcadores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CuadroTexto 277"/>
          <p:cNvSpPr txBox="1"/>
          <p:nvPr/>
        </p:nvSpPr>
        <p:spPr>
          <a:xfrm>
            <a:off x="3472560" y="44391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&lt;&lt;&lt;&lt;&lt;&lt;&lt;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Forma libre 278"/>
          <p:cNvSpPr/>
          <p:nvPr/>
        </p:nvSpPr>
        <p:spPr>
          <a:xfrm>
            <a:off x="4410000" y="441936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1"/>
                  <a:pt x="2580" y="53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5"/>
                </a:lnTo>
                <a:cubicBezTo>
                  <a:pt x="2594" y="649"/>
                  <a:pt x="2591" y="663"/>
                  <a:pt x="2586" y="677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CuadroTexto 279"/>
          <p:cNvSpPr txBox="1"/>
          <p:nvPr/>
        </p:nvSpPr>
        <p:spPr>
          <a:xfrm>
            <a:off x="4348440" y="44020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CuadroTexto 280"/>
          <p:cNvSpPr txBox="1"/>
          <p:nvPr/>
        </p:nvSpPr>
        <p:spPr>
          <a:xfrm>
            <a:off x="4469400" y="44391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=======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Forma libre 281"/>
          <p:cNvSpPr/>
          <p:nvPr/>
        </p:nvSpPr>
        <p:spPr>
          <a:xfrm>
            <a:off x="5410080" y="4419360"/>
            <a:ext cx="933840" cy="267120"/>
          </a:xfrm>
          <a:custGeom>
            <a:avLst/>
            <a:gdLst/>
            <a:ahLst/>
            <a:cxnLst/>
            <a:rect l="0" t="0" r="r" b="b"/>
            <a:pathLst>
              <a:path w="2594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3" y="41"/>
                  <a:pt x="2580" y="53"/>
                  <a:pt x="2586" y="65"/>
                </a:cubicBezTo>
                <a:cubicBezTo>
                  <a:pt x="2591" y="78"/>
                  <a:pt x="2594" y="92"/>
                  <a:pt x="2594" y="106"/>
                </a:cubicBezTo>
                <a:lnTo>
                  <a:pt x="2594" y="635"/>
                </a:lnTo>
                <a:cubicBezTo>
                  <a:pt x="2594" y="649"/>
                  <a:pt x="2591" y="663"/>
                  <a:pt x="2586" y="677"/>
                </a:cubicBezTo>
                <a:cubicBezTo>
                  <a:pt x="2580" y="690"/>
                  <a:pt x="2573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39"/>
                  <a:pt x="2502" y="742"/>
                  <a:pt x="2488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CuadroTexto 282"/>
          <p:cNvSpPr txBox="1"/>
          <p:nvPr/>
        </p:nvSpPr>
        <p:spPr>
          <a:xfrm>
            <a:off x="5345640" y="44020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CuadroTexto 283"/>
          <p:cNvSpPr txBox="1"/>
          <p:nvPr/>
        </p:nvSpPr>
        <p:spPr>
          <a:xfrm>
            <a:off x="5466600" y="443916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&gt;&gt;&gt;&gt;&gt;&gt;&gt;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Forma libre 284"/>
          <p:cNvSpPr/>
          <p:nvPr/>
        </p:nvSpPr>
        <p:spPr>
          <a:xfrm>
            <a:off x="1123920" y="4819320"/>
            <a:ext cx="933480" cy="267120"/>
          </a:xfrm>
          <a:custGeom>
            <a:avLst/>
            <a:gdLst/>
            <a:ahLst/>
            <a:cxnLst/>
            <a:rect l="0" t="0" r="r" b="b"/>
            <a:pathLst>
              <a:path w="259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488" y="0"/>
                </a:lnTo>
                <a:cubicBezTo>
                  <a:pt x="2502" y="0"/>
                  <a:pt x="2515" y="3"/>
                  <a:pt x="2528" y="8"/>
                </a:cubicBezTo>
                <a:cubicBezTo>
                  <a:pt x="2541" y="14"/>
                  <a:pt x="2553" y="21"/>
                  <a:pt x="2563" y="31"/>
                </a:cubicBezTo>
                <a:cubicBezTo>
                  <a:pt x="2572" y="41"/>
                  <a:pt x="2580" y="53"/>
                  <a:pt x="2585" y="66"/>
                </a:cubicBezTo>
                <a:cubicBezTo>
                  <a:pt x="2591" y="79"/>
                  <a:pt x="2593" y="92"/>
                  <a:pt x="2593" y="106"/>
                </a:cubicBezTo>
                <a:lnTo>
                  <a:pt x="2593" y="636"/>
                </a:lnTo>
                <a:cubicBezTo>
                  <a:pt x="2593" y="650"/>
                  <a:pt x="2591" y="664"/>
                  <a:pt x="2585" y="677"/>
                </a:cubicBezTo>
                <a:cubicBezTo>
                  <a:pt x="2580" y="690"/>
                  <a:pt x="2572" y="701"/>
                  <a:pt x="2563" y="711"/>
                </a:cubicBezTo>
                <a:cubicBezTo>
                  <a:pt x="2553" y="721"/>
                  <a:pt x="2541" y="729"/>
                  <a:pt x="2528" y="734"/>
                </a:cubicBezTo>
                <a:cubicBezTo>
                  <a:pt x="2515" y="740"/>
                  <a:pt x="2502" y="742"/>
                  <a:pt x="2488" y="742"/>
                </a:cubicBezTo>
                <a:lnTo>
                  <a:pt x="105" y="742"/>
                </a:lnTo>
                <a:cubicBezTo>
                  <a:pt x="91" y="742"/>
                  <a:pt x="78" y="740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CuadroTexto 285"/>
          <p:cNvSpPr txBox="1"/>
          <p:nvPr/>
        </p:nvSpPr>
        <p:spPr>
          <a:xfrm>
            <a:off x="869760" y="480204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CuadroTexto 286"/>
          <p:cNvSpPr txBox="1"/>
          <p:nvPr/>
        </p:nvSpPr>
        <p:spPr>
          <a:xfrm>
            <a:off x="1181160" y="4839480"/>
            <a:ext cx="822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add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Forma libre 287"/>
          <p:cNvSpPr/>
          <p:nvPr/>
        </p:nvSpPr>
        <p:spPr>
          <a:xfrm>
            <a:off x="2323800" y="481932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3"/>
                  <a:pt x="3565" y="66"/>
                </a:cubicBezTo>
                <a:cubicBezTo>
                  <a:pt x="3571" y="79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1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9"/>
                  <a:pt x="3508" y="734"/>
                </a:cubicBezTo>
                <a:cubicBezTo>
                  <a:pt x="3495" y="740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CuadroTexto 288"/>
          <p:cNvSpPr txBox="1"/>
          <p:nvPr/>
        </p:nvSpPr>
        <p:spPr>
          <a:xfrm>
            <a:off x="2057400" y="4802040"/>
            <a:ext cx="2649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+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CuadroTexto 289"/>
          <p:cNvSpPr txBox="1"/>
          <p:nvPr/>
        </p:nvSpPr>
        <p:spPr>
          <a:xfrm>
            <a:off x="2378880" y="48394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commit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CuadroTexto 290"/>
          <p:cNvSpPr txBox="1"/>
          <p:nvPr/>
        </p:nvSpPr>
        <p:spPr>
          <a:xfrm>
            <a:off x="905040" y="5411520"/>
            <a:ext cx="5488682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</a:t>
            </a:r>
            <a:r>
              <a:rPr lang="es-ES" sz="1800" b="0" u="none" strike="noStrike" dirty="0" err="1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conﬂicto</a:t>
            </a:r>
            <a:r>
              <a:rPr lang="es-ES" sz="1800" b="0" u="none" strike="noStrike" dirty="0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 Git </a:t>
            </a:r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negándose a decidir ciencia por ti.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CuadroTexto 29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CuadroTexto 29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CuadroTexto 29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Forma libre 2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Forma libre 2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Forma libre 2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CuadroTexto 297"/>
          <p:cNvSpPr txBox="1"/>
          <p:nvPr/>
        </p:nvSpPr>
        <p:spPr>
          <a:xfrm>
            <a:off x="3997080" y="3063960"/>
            <a:ext cx="42894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5. Deshacer cosas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CuadroTexto 29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CuadroTexto 29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CuadroTexto 30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Forma libre 3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Forma libre 3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Forma libre 303"/>
          <p:cNvSpPr/>
          <p:nvPr/>
        </p:nvSpPr>
        <p:spPr>
          <a:xfrm>
            <a:off x="0" y="20016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Forma libre 304"/>
          <p:cNvSpPr/>
          <p:nvPr/>
        </p:nvSpPr>
        <p:spPr>
          <a:xfrm>
            <a:off x="676080" y="2104920"/>
            <a:ext cx="3229200" cy="409680"/>
          </a:xfrm>
          <a:custGeom>
            <a:avLst/>
            <a:gdLst/>
            <a:ahLst/>
            <a:cxnLst/>
            <a:rect l="0" t="0" r="r" b="b"/>
            <a:pathLst>
              <a:path w="8970" h="1138">
                <a:moveTo>
                  <a:pt x="0" y="0"/>
                </a:moveTo>
                <a:lnTo>
                  <a:pt x="8970" y="0"/>
                </a:lnTo>
                <a:lnTo>
                  <a:pt x="897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Forma libre 305"/>
          <p:cNvSpPr/>
          <p:nvPr/>
        </p:nvSpPr>
        <p:spPr>
          <a:xfrm>
            <a:off x="3904920" y="2104920"/>
            <a:ext cx="3096000" cy="409680"/>
          </a:xfrm>
          <a:custGeom>
            <a:avLst/>
            <a:gdLst/>
            <a:ahLst/>
            <a:cxnLst/>
            <a:rect l="0" t="0" r="r" b="b"/>
            <a:pathLst>
              <a:path w="8600" h="1138">
                <a:moveTo>
                  <a:pt x="0" y="0"/>
                </a:moveTo>
                <a:lnTo>
                  <a:pt x="8600" y="0"/>
                </a:lnTo>
                <a:lnTo>
                  <a:pt x="860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Forma libre 306"/>
          <p:cNvSpPr/>
          <p:nvPr/>
        </p:nvSpPr>
        <p:spPr>
          <a:xfrm>
            <a:off x="7000560" y="2104920"/>
            <a:ext cx="2448360" cy="409680"/>
          </a:xfrm>
          <a:custGeom>
            <a:avLst/>
            <a:gdLst/>
            <a:ahLst/>
            <a:cxnLst/>
            <a:rect l="0" t="0" r="r" b="b"/>
            <a:pathLst>
              <a:path w="6801" h="1138">
                <a:moveTo>
                  <a:pt x="0" y="0"/>
                </a:moveTo>
                <a:lnTo>
                  <a:pt x="6801" y="0"/>
                </a:lnTo>
                <a:lnTo>
                  <a:pt x="680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Forma libre 307"/>
          <p:cNvSpPr/>
          <p:nvPr/>
        </p:nvSpPr>
        <p:spPr>
          <a:xfrm>
            <a:off x="676080" y="2104920"/>
            <a:ext cx="3229200" cy="409680"/>
          </a:xfrm>
          <a:custGeom>
            <a:avLst/>
            <a:gdLst/>
            <a:ahLst/>
            <a:cxnLst/>
            <a:rect l="0" t="0" r="r" b="b"/>
            <a:pathLst>
              <a:path w="8970" h="1138">
                <a:moveTo>
                  <a:pt x="0" y="0"/>
                </a:moveTo>
                <a:lnTo>
                  <a:pt x="8970" y="0"/>
                </a:lnTo>
                <a:lnTo>
                  <a:pt x="897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Forma libre 308"/>
          <p:cNvSpPr/>
          <p:nvPr/>
        </p:nvSpPr>
        <p:spPr>
          <a:xfrm>
            <a:off x="3904920" y="2104920"/>
            <a:ext cx="3096000" cy="409680"/>
          </a:xfrm>
          <a:custGeom>
            <a:avLst/>
            <a:gdLst/>
            <a:ahLst/>
            <a:cxnLst/>
            <a:rect l="0" t="0" r="r" b="b"/>
            <a:pathLst>
              <a:path w="8600" h="1138">
                <a:moveTo>
                  <a:pt x="0" y="0"/>
                </a:moveTo>
                <a:lnTo>
                  <a:pt x="8600" y="0"/>
                </a:lnTo>
                <a:lnTo>
                  <a:pt x="860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Forma libre 309"/>
          <p:cNvSpPr/>
          <p:nvPr/>
        </p:nvSpPr>
        <p:spPr>
          <a:xfrm>
            <a:off x="7000560" y="2104920"/>
            <a:ext cx="2448360" cy="409680"/>
          </a:xfrm>
          <a:custGeom>
            <a:avLst/>
            <a:gdLst/>
            <a:ahLst/>
            <a:cxnLst/>
            <a:rect l="0" t="0" r="r" b="b"/>
            <a:pathLst>
              <a:path w="6801" h="1138">
                <a:moveTo>
                  <a:pt x="0" y="0"/>
                </a:moveTo>
                <a:lnTo>
                  <a:pt x="6801" y="0"/>
                </a:lnTo>
                <a:lnTo>
                  <a:pt x="680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Forma libre 310"/>
          <p:cNvSpPr/>
          <p:nvPr/>
        </p:nvSpPr>
        <p:spPr>
          <a:xfrm>
            <a:off x="676080" y="2514240"/>
            <a:ext cx="3229200" cy="410040"/>
          </a:xfrm>
          <a:custGeom>
            <a:avLst/>
            <a:gdLst/>
            <a:ahLst/>
            <a:cxnLst/>
            <a:rect l="0" t="0" r="r" b="b"/>
            <a:pathLst>
              <a:path w="8970" h="1139">
                <a:moveTo>
                  <a:pt x="0" y="0"/>
                </a:moveTo>
                <a:lnTo>
                  <a:pt x="8970" y="0"/>
                </a:lnTo>
                <a:lnTo>
                  <a:pt x="8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Forma libre 311"/>
          <p:cNvSpPr/>
          <p:nvPr/>
        </p:nvSpPr>
        <p:spPr>
          <a:xfrm>
            <a:off x="3904920" y="2514240"/>
            <a:ext cx="3096000" cy="410040"/>
          </a:xfrm>
          <a:custGeom>
            <a:avLst/>
            <a:gdLst/>
            <a:ahLst/>
            <a:cxnLst/>
            <a:rect l="0" t="0" r="r" b="b"/>
            <a:pathLst>
              <a:path w="8600" h="1139">
                <a:moveTo>
                  <a:pt x="0" y="0"/>
                </a:moveTo>
                <a:lnTo>
                  <a:pt x="8600" y="0"/>
                </a:lnTo>
                <a:lnTo>
                  <a:pt x="86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Forma libre 312"/>
          <p:cNvSpPr/>
          <p:nvPr/>
        </p:nvSpPr>
        <p:spPr>
          <a:xfrm>
            <a:off x="7000560" y="2514240"/>
            <a:ext cx="2448360" cy="410040"/>
          </a:xfrm>
          <a:custGeom>
            <a:avLst/>
            <a:gdLst/>
            <a:ahLst/>
            <a:cxnLst/>
            <a:rect l="0" t="0" r="r" b="b"/>
            <a:pathLst>
              <a:path w="6801" h="1139">
                <a:moveTo>
                  <a:pt x="0" y="0"/>
                </a:moveTo>
                <a:lnTo>
                  <a:pt x="6801" y="0"/>
                </a:lnTo>
                <a:lnTo>
                  <a:pt x="68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Forma libre 313"/>
          <p:cNvSpPr/>
          <p:nvPr/>
        </p:nvSpPr>
        <p:spPr>
          <a:xfrm>
            <a:off x="676080" y="2923920"/>
            <a:ext cx="3229200" cy="410040"/>
          </a:xfrm>
          <a:custGeom>
            <a:avLst/>
            <a:gdLst/>
            <a:ahLst/>
            <a:cxnLst/>
            <a:rect l="0" t="0" r="r" b="b"/>
            <a:pathLst>
              <a:path w="8970" h="1139">
                <a:moveTo>
                  <a:pt x="0" y="0"/>
                </a:moveTo>
                <a:lnTo>
                  <a:pt x="8970" y="0"/>
                </a:lnTo>
                <a:lnTo>
                  <a:pt x="8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Forma libre 314"/>
          <p:cNvSpPr/>
          <p:nvPr/>
        </p:nvSpPr>
        <p:spPr>
          <a:xfrm>
            <a:off x="3904920" y="2923920"/>
            <a:ext cx="3096000" cy="410040"/>
          </a:xfrm>
          <a:custGeom>
            <a:avLst/>
            <a:gdLst/>
            <a:ahLst/>
            <a:cxnLst/>
            <a:rect l="0" t="0" r="r" b="b"/>
            <a:pathLst>
              <a:path w="8600" h="1139">
                <a:moveTo>
                  <a:pt x="0" y="0"/>
                </a:moveTo>
                <a:lnTo>
                  <a:pt x="8600" y="0"/>
                </a:lnTo>
                <a:lnTo>
                  <a:pt x="86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Forma libre 315"/>
          <p:cNvSpPr/>
          <p:nvPr/>
        </p:nvSpPr>
        <p:spPr>
          <a:xfrm>
            <a:off x="7000560" y="2923920"/>
            <a:ext cx="2448360" cy="410040"/>
          </a:xfrm>
          <a:custGeom>
            <a:avLst/>
            <a:gdLst/>
            <a:ahLst/>
            <a:cxnLst/>
            <a:rect l="0" t="0" r="r" b="b"/>
            <a:pathLst>
              <a:path w="6801" h="1139">
                <a:moveTo>
                  <a:pt x="0" y="0"/>
                </a:moveTo>
                <a:lnTo>
                  <a:pt x="6801" y="0"/>
                </a:lnTo>
                <a:lnTo>
                  <a:pt x="68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Forma libre 316"/>
          <p:cNvSpPr/>
          <p:nvPr/>
        </p:nvSpPr>
        <p:spPr>
          <a:xfrm>
            <a:off x="676080" y="3333600"/>
            <a:ext cx="3229200" cy="419400"/>
          </a:xfrm>
          <a:custGeom>
            <a:avLst/>
            <a:gdLst/>
            <a:ahLst/>
            <a:cxnLst/>
            <a:rect l="0" t="0" r="r" b="b"/>
            <a:pathLst>
              <a:path w="8970" h="1165">
                <a:moveTo>
                  <a:pt x="0" y="0"/>
                </a:moveTo>
                <a:lnTo>
                  <a:pt x="8970" y="0"/>
                </a:lnTo>
                <a:lnTo>
                  <a:pt x="897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Forma libre 317"/>
          <p:cNvSpPr/>
          <p:nvPr/>
        </p:nvSpPr>
        <p:spPr>
          <a:xfrm>
            <a:off x="3904920" y="3333600"/>
            <a:ext cx="3096000" cy="419400"/>
          </a:xfrm>
          <a:custGeom>
            <a:avLst/>
            <a:gdLst/>
            <a:ahLst/>
            <a:cxnLst/>
            <a:rect l="0" t="0" r="r" b="b"/>
            <a:pathLst>
              <a:path w="8600" h="1165">
                <a:moveTo>
                  <a:pt x="0" y="0"/>
                </a:moveTo>
                <a:lnTo>
                  <a:pt x="8600" y="0"/>
                </a:lnTo>
                <a:lnTo>
                  <a:pt x="8600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Forma libre 318"/>
          <p:cNvSpPr/>
          <p:nvPr/>
        </p:nvSpPr>
        <p:spPr>
          <a:xfrm>
            <a:off x="7000560" y="3333600"/>
            <a:ext cx="2448360" cy="419400"/>
          </a:xfrm>
          <a:custGeom>
            <a:avLst/>
            <a:gdLst/>
            <a:ahLst/>
            <a:cxnLst/>
            <a:rect l="0" t="0" r="r" b="b"/>
            <a:pathLst>
              <a:path w="6801" h="1165">
                <a:moveTo>
                  <a:pt x="0" y="0"/>
                </a:moveTo>
                <a:lnTo>
                  <a:pt x="6801" y="0"/>
                </a:lnTo>
                <a:lnTo>
                  <a:pt x="6801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Forma libre 319"/>
          <p:cNvSpPr/>
          <p:nvPr/>
        </p:nvSpPr>
        <p:spPr>
          <a:xfrm>
            <a:off x="676080" y="3752640"/>
            <a:ext cx="3229200" cy="410040"/>
          </a:xfrm>
          <a:custGeom>
            <a:avLst/>
            <a:gdLst/>
            <a:ahLst/>
            <a:cxnLst/>
            <a:rect l="0" t="0" r="r" b="b"/>
            <a:pathLst>
              <a:path w="8970" h="1139">
                <a:moveTo>
                  <a:pt x="0" y="0"/>
                </a:moveTo>
                <a:lnTo>
                  <a:pt x="8970" y="0"/>
                </a:lnTo>
                <a:lnTo>
                  <a:pt x="897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Forma libre 320"/>
          <p:cNvSpPr/>
          <p:nvPr/>
        </p:nvSpPr>
        <p:spPr>
          <a:xfrm>
            <a:off x="3904920" y="3752640"/>
            <a:ext cx="3096000" cy="410040"/>
          </a:xfrm>
          <a:custGeom>
            <a:avLst/>
            <a:gdLst/>
            <a:ahLst/>
            <a:cxnLst/>
            <a:rect l="0" t="0" r="r" b="b"/>
            <a:pathLst>
              <a:path w="8600" h="1139">
                <a:moveTo>
                  <a:pt x="0" y="0"/>
                </a:moveTo>
                <a:lnTo>
                  <a:pt x="8600" y="0"/>
                </a:lnTo>
                <a:lnTo>
                  <a:pt x="8600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Forma libre 321"/>
          <p:cNvSpPr/>
          <p:nvPr/>
        </p:nvSpPr>
        <p:spPr>
          <a:xfrm>
            <a:off x="7000560" y="3752640"/>
            <a:ext cx="2448360" cy="410040"/>
          </a:xfrm>
          <a:custGeom>
            <a:avLst/>
            <a:gdLst/>
            <a:ahLst/>
            <a:cxnLst/>
            <a:rect l="0" t="0" r="r" b="b"/>
            <a:pathLst>
              <a:path w="6801" h="1139">
                <a:moveTo>
                  <a:pt x="0" y="0"/>
                </a:moveTo>
                <a:lnTo>
                  <a:pt x="6801" y="0"/>
                </a:lnTo>
                <a:lnTo>
                  <a:pt x="6801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Forma libre 322"/>
          <p:cNvSpPr/>
          <p:nvPr/>
        </p:nvSpPr>
        <p:spPr>
          <a:xfrm>
            <a:off x="676080" y="4162320"/>
            <a:ext cx="3229200" cy="409680"/>
          </a:xfrm>
          <a:custGeom>
            <a:avLst/>
            <a:gdLst/>
            <a:ahLst/>
            <a:cxnLst/>
            <a:rect l="0" t="0" r="r" b="b"/>
            <a:pathLst>
              <a:path w="8970" h="1138">
                <a:moveTo>
                  <a:pt x="0" y="0"/>
                </a:moveTo>
                <a:lnTo>
                  <a:pt x="8970" y="0"/>
                </a:lnTo>
                <a:lnTo>
                  <a:pt x="897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Forma libre 323"/>
          <p:cNvSpPr/>
          <p:nvPr/>
        </p:nvSpPr>
        <p:spPr>
          <a:xfrm>
            <a:off x="3904920" y="4162320"/>
            <a:ext cx="3096000" cy="409680"/>
          </a:xfrm>
          <a:custGeom>
            <a:avLst/>
            <a:gdLst/>
            <a:ahLst/>
            <a:cxnLst/>
            <a:rect l="0" t="0" r="r" b="b"/>
            <a:pathLst>
              <a:path w="8600" h="1138">
                <a:moveTo>
                  <a:pt x="0" y="0"/>
                </a:moveTo>
                <a:lnTo>
                  <a:pt x="8600" y="0"/>
                </a:lnTo>
                <a:lnTo>
                  <a:pt x="8600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Forma libre 324"/>
          <p:cNvSpPr/>
          <p:nvPr/>
        </p:nvSpPr>
        <p:spPr>
          <a:xfrm>
            <a:off x="7000560" y="4162320"/>
            <a:ext cx="2448360" cy="409680"/>
          </a:xfrm>
          <a:custGeom>
            <a:avLst/>
            <a:gdLst/>
            <a:ahLst/>
            <a:cxnLst/>
            <a:rect l="0" t="0" r="r" b="b"/>
            <a:pathLst>
              <a:path w="6801" h="1138">
                <a:moveTo>
                  <a:pt x="0" y="0"/>
                </a:moveTo>
                <a:lnTo>
                  <a:pt x="6801" y="0"/>
                </a:lnTo>
                <a:lnTo>
                  <a:pt x="6801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Forma libre 325"/>
          <p:cNvSpPr/>
          <p:nvPr/>
        </p:nvSpPr>
        <p:spPr>
          <a:xfrm>
            <a:off x="66672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Forma libre 326"/>
          <p:cNvSpPr/>
          <p:nvPr/>
        </p:nvSpPr>
        <p:spPr>
          <a:xfrm>
            <a:off x="666720" y="2095200"/>
            <a:ext cx="3238560" cy="10080"/>
          </a:xfrm>
          <a:custGeom>
            <a:avLst/>
            <a:gdLst/>
            <a:ahLst/>
            <a:cxn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Forma libre 327"/>
          <p:cNvSpPr/>
          <p:nvPr/>
        </p:nvSpPr>
        <p:spPr>
          <a:xfrm>
            <a:off x="389556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Forma libre 328"/>
          <p:cNvSpPr/>
          <p:nvPr/>
        </p:nvSpPr>
        <p:spPr>
          <a:xfrm>
            <a:off x="3904920" y="2095200"/>
            <a:ext cx="3105720" cy="10080"/>
          </a:xfrm>
          <a:custGeom>
            <a:avLst/>
            <a:gdLst/>
            <a:ahLst/>
            <a:cxnLst/>
            <a:rect l="0" t="0" r="r" b="b"/>
            <a:pathLst>
              <a:path w="8627" h="28">
                <a:moveTo>
                  <a:pt x="0" y="0"/>
                </a:moveTo>
                <a:lnTo>
                  <a:pt x="8627" y="0"/>
                </a:lnTo>
                <a:lnTo>
                  <a:pt x="86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Forma libre 329"/>
          <p:cNvSpPr/>
          <p:nvPr/>
        </p:nvSpPr>
        <p:spPr>
          <a:xfrm>
            <a:off x="7000560" y="20952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Forma libre 330"/>
          <p:cNvSpPr/>
          <p:nvPr/>
        </p:nvSpPr>
        <p:spPr>
          <a:xfrm>
            <a:off x="7010280" y="2095200"/>
            <a:ext cx="2438640" cy="10080"/>
          </a:xfrm>
          <a:custGeom>
            <a:avLst/>
            <a:gdLst/>
            <a:ahLst/>
            <a:cxn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Forma libre 331"/>
          <p:cNvSpPr/>
          <p:nvPr/>
        </p:nvSpPr>
        <p:spPr>
          <a:xfrm>
            <a:off x="9439200" y="20952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orma libre 332"/>
          <p:cNvSpPr/>
          <p:nvPr/>
        </p:nvSpPr>
        <p:spPr>
          <a:xfrm>
            <a:off x="666720" y="2504880"/>
            <a:ext cx="3238560" cy="9720"/>
          </a:xfrm>
          <a:custGeom>
            <a:avLst/>
            <a:gdLst/>
            <a:ahLst/>
            <a:cxnLst/>
            <a:rect l="0" t="0" r="r" b="b"/>
            <a:pathLst>
              <a:path w="8996" h="27">
                <a:moveTo>
                  <a:pt x="0" y="0"/>
                </a:moveTo>
                <a:lnTo>
                  <a:pt x="8996" y="0"/>
                </a:lnTo>
                <a:lnTo>
                  <a:pt x="8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Forma libre 333"/>
          <p:cNvSpPr/>
          <p:nvPr/>
        </p:nvSpPr>
        <p:spPr>
          <a:xfrm>
            <a:off x="3904920" y="2504880"/>
            <a:ext cx="3105720" cy="9720"/>
          </a:xfrm>
          <a:custGeom>
            <a:avLst/>
            <a:gdLst/>
            <a:ahLst/>
            <a:cxnLst/>
            <a:rect l="0" t="0" r="r" b="b"/>
            <a:pathLst>
              <a:path w="8627" h="27">
                <a:moveTo>
                  <a:pt x="0" y="0"/>
                </a:moveTo>
                <a:lnTo>
                  <a:pt x="8627" y="0"/>
                </a:lnTo>
                <a:lnTo>
                  <a:pt x="8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Forma libre 334"/>
          <p:cNvSpPr/>
          <p:nvPr/>
        </p:nvSpPr>
        <p:spPr>
          <a:xfrm>
            <a:off x="7010280" y="2504880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Forma libre 335"/>
          <p:cNvSpPr/>
          <p:nvPr/>
        </p:nvSpPr>
        <p:spPr>
          <a:xfrm>
            <a:off x="666720" y="25142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Forma libre 336"/>
          <p:cNvSpPr/>
          <p:nvPr/>
        </p:nvSpPr>
        <p:spPr>
          <a:xfrm>
            <a:off x="3895560" y="25142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Forma libre 337"/>
          <p:cNvSpPr/>
          <p:nvPr/>
        </p:nvSpPr>
        <p:spPr>
          <a:xfrm>
            <a:off x="7000560" y="25142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Forma libre 338"/>
          <p:cNvSpPr/>
          <p:nvPr/>
        </p:nvSpPr>
        <p:spPr>
          <a:xfrm>
            <a:off x="9439200" y="25142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Forma libre 339"/>
          <p:cNvSpPr/>
          <p:nvPr/>
        </p:nvSpPr>
        <p:spPr>
          <a:xfrm>
            <a:off x="666720" y="2923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Forma libre 340"/>
          <p:cNvSpPr/>
          <p:nvPr/>
        </p:nvSpPr>
        <p:spPr>
          <a:xfrm>
            <a:off x="666720" y="2914560"/>
            <a:ext cx="3238560" cy="9720"/>
          </a:xfrm>
          <a:custGeom>
            <a:avLst/>
            <a:gdLst/>
            <a:ahLst/>
            <a:cxnLst/>
            <a:rect l="0" t="0" r="r" b="b"/>
            <a:pathLst>
              <a:path w="8996" h="27">
                <a:moveTo>
                  <a:pt x="0" y="0"/>
                </a:moveTo>
                <a:lnTo>
                  <a:pt x="8996" y="0"/>
                </a:lnTo>
                <a:lnTo>
                  <a:pt x="8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Forma libre 341"/>
          <p:cNvSpPr/>
          <p:nvPr/>
        </p:nvSpPr>
        <p:spPr>
          <a:xfrm>
            <a:off x="3895560" y="2923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Forma libre 342"/>
          <p:cNvSpPr/>
          <p:nvPr/>
        </p:nvSpPr>
        <p:spPr>
          <a:xfrm>
            <a:off x="3904920" y="2914560"/>
            <a:ext cx="3105720" cy="9720"/>
          </a:xfrm>
          <a:custGeom>
            <a:avLst/>
            <a:gdLst/>
            <a:ahLst/>
            <a:cxnLst/>
            <a:rect l="0" t="0" r="r" b="b"/>
            <a:pathLst>
              <a:path w="8627" h="27">
                <a:moveTo>
                  <a:pt x="0" y="0"/>
                </a:moveTo>
                <a:lnTo>
                  <a:pt x="8627" y="0"/>
                </a:lnTo>
                <a:lnTo>
                  <a:pt x="8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Forma libre 343"/>
          <p:cNvSpPr/>
          <p:nvPr/>
        </p:nvSpPr>
        <p:spPr>
          <a:xfrm>
            <a:off x="7000560" y="292392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Forma libre 344"/>
          <p:cNvSpPr/>
          <p:nvPr/>
        </p:nvSpPr>
        <p:spPr>
          <a:xfrm>
            <a:off x="7010280" y="2914560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Forma libre 345"/>
          <p:cNvSpPr/>
          <p:nvPr/>
        </p:nvSpPr>
        <p:spPr>
          <a:xfrm>
            <a:off x="9439200" y="292392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Forma libre 346"/>
          <p:cNvSpPr/>
          <p:nvPr/>
        </p:nvSpPr>
        <p:spPr>
          <a:xfrm>
            <a:off x="66672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Forma libre 347"/>
          <p:cNvSpPr/>
          <p:nvPr/>
        </p:nvSpPr>
        <p:spPr>
          <a:xfrm>
            <a:off x="666720" y="3323880"/>
            <a:ext cx="3238560" cy="10080"/>
          </a:xfrm>
          <a:custGeom>
            <a:avLst/>
            <a:gdLst/>
            <a:ahLst/>
            <a:cxn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Forma libre 348"/>
          <p:cNvSpPr/>
          <p:nvPr/>
        </p:nvSpPr>
        <p:spPr>
          <a:xfrm>
            <a:off x="389556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Forma libre 349"/>
          <p:cNvSpPr/>
          <p:nvPr/>
        </p:nvSpPr>
        <p:spPr>
          <a:xfrm>
            <a:off x="3904920" y="3323880"/>
            <a:ext cx="3105720" cy="10080"/>
          </a:xfrm>
          <a:custGeom>
            <a:avLst/>
            <a:gdLst/>
            <a:ahLst/>
            <a:cxnLst/>
            <a:rect l="0" t="0" r="r" b="b"/>
            <a:pathLst>
              <a:path w="8627" h="28">
                <a:moveTo>
                  <a:pt x="0" y="0"/>
                </a:moveTo>
                <a:lnTo>
                  <a:pt x="8627" y="0"/>
                </a:lnTo>
                <a:lnTo>
                  <a:pt x="86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Forma libre 350"/>
          <p:cNvSpPr/>
          <p:nvPr/>
        </p:nvSpPr>
        <p:spPr>
          <a:xfrm>
            <a:off x="7000560" y="33336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Forma libre 351"/>
          <p:cNvSpPr/>
          <p:nvPr/>
        </p:nvSpPr>
        <p:spPr>
          <a:xfrm>
            <a:off x="7010280" y="3323880"/>
            <a:ext cx="2438640" cy="10080"/>
          </a:xfrm>
          <a:custGeom>
            <a:avLst/>
            <a:gdLst/>
            <a:ahLst/>
            <a:cxn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Forma libre 352"/>
          <p:cNvSpPr/>
          <p:nvPr/>
        </p:nvSpPr>
        <p:spPr>
          <a:xfrm>
            <a:off x="9439200" y="33336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Forma libre 353"/>
          <p:cNvSpPr/>
          <p:nvPr/>
        </p:nvSpPr>
        <p:spPr>
          <a:xfrm>
            <a:off x="666720" y="3752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Forma libre 354"/>
          <p:cNvSpPr/>
          <p:nvPr/>
        </p:nvSpPr>
        <p:spPr>
          <a:xfrm>
            <a:off x="666720" y="3743280"/>
            <a:ext cx="3238560" cy="9720"/>
          </a:xfrm>
          <a:custGeom>
            <a:avLst/>
            <a:gdLst/>
            <a:ahLst/>
            <a:cxnLst/>
            <a:rect l="0" t="0" r="r" b="b"/>
            <a:pathLst>
              <a:path w="8996" h="27">
                <a:moveTo>
                  <a:pt x="0" y="0"/>
                </a:moveTo>
                <a:lnTo>
                  <a:pt x="8996" y="0"/>
                </a:lnTo>
                <a:lnTo>
                  <a:pt x="8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Forma libre 355"/>
          <p:cNvSpPr/>
          <p:nvPr/>
        </p:nvSpPr>
        <p:spPr>
          <a:xfrm>
            <a:off x="3895560" y="3752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Forma libre 356"/>
          <p:cNvSpPr/>
          <p:nvPr/>
        </p:nvSpPr>
        <p:spPr>
          <a:xfrm>
            <a:off x="3904920" y="3743280"/>
            <a:ext cx="3105720" cy="9720"/>
          </a:xfrm>
          <a:custGeom>
            <a:avLst/>
            <a:gdLst/>
            <a:ahLst/>
            <a:cxnLst/>
            <a:rect l="0" t="0" r="r" b="b"/>
            <a:pathLst>
              <a:path w="8627" h="27">
                <a:moveTo>
                  <a:pt x="0" y="0"/>
                </a:moveTo>
                <a:lnTo>
                  <a:pt x="8627" y="0"/>
                </a:lnTo>
                <a:lnTo>
                  <a:pt x="8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Forma libre 357"/>
          <p:cNvSpPr/>
          <p:nvPr/>
        </p:nvSpPr>
        <p:spPr>
          <a:xfrm>
            <a:off x="7000560" y="37526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Forma libre 358"/>
          <p:cNvSpPr/>
          <p:nvPr/>
        </p:nvSpPr>
        <p:spPr>
          <a:xfrm>
            <a:off x="7010280" y="3743280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orma libre 359"/>
          <p:cNvSpPr/>
          <p:nvPr/>
        </p:nvSpPr>
        <p:spPr>
          <a:xfrm>
            <a:off x="9439200" y="37526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Forma libre 360"/>
          <p:cNvSpPr/>
          <p:nvPr/>
        </p:nvSpPr>
        <p:spPr>
          <a:xfrm>
            <a:off x="666720" y="4162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orma libre 361"/>
          <p:cNvSpPr/>
          <p:nvPr/>
        </p:nvSpPr>
        <p:spPr>
          <a:xfrm>
            <a:off x="666720" y="4152600"/>
            <a:ext cx="3238560" cy="10080"/>
          </a:xfrm>
          <a:custGeom>
            <a:avLst/>
            <a:gdLst/>
            <a:ahLst/>
            <a:cxnLst/>
            <a:rect l="0" t="0" r="r" b="b"/>
            <a:pathLst>
              <a:path w="8996" h="28">
                <a:moveTo>
                  <a:pt x="0" y="0"/>
                </a:moveTo>
                <a:lnTo>
                  <a:pt x="8996" y="0"/>
                </a:lnTo>
                <a:lnTo>
                  <a:pt x="899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Forma libre 362"/>
          <p:cNvSpPr/>
          <p:nvPr/>
        </p:nvSpPr>
        <p:spPr>
          <a:xfrm>
            <a:off x="3895560" y="4162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Forma libre 363"/>
          <p:cNvSpPr/>
          <p:nvPr/>
        </p:nvSpPr>
        <p:spPr>
          <a:xfrm>
            <a:off x="3904920" y="4152600"/>
            <a:ext cx="3105720" cy="10080"/>
          </a:xfrm>
          <a:custGeom>
            <a:avLst/>
            <a:gdLst/>
            <a:ahLst/>
            <a:cxnLst/>
            <a:rect l="0" t="0" r="r" b="b"/>
            <a:pathLst>
              <a:path w="8627" h="28">
                <a:moveTo>
                  <a:pt x="0" y="0"/>
                </a:moveTo>
                <a:lnTo>
                  <a:pt x="8627" y="0"/>
                </a:lnTo>
                <a:lnTo>
                  <a:pt x="86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Forma libre 364"/>
          <p:cNvSpPr/>
          <p:nvPr/>
        </p:nvSpPr>
        <p:spPr>
          <a:xfrm>
            <a:off x="7000560" y="41623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Forma libre 365"/>
          <p:cNvSpPr/>
          <p:nvPr/>
        </p:nvSpPr>
        <p:spPr>
          <a:xfrm>
            <a:off x="7010280" y="4152600"/>
            <a:ext cx="2438640" cy="10080"/>
          </a:xfrm>
          <a:custGeom>
            <a:avLst/>
            <a:gdLst/>
            <a:ahLst/>
            <a:cxnLst/>
            <a:rect l="0" t="0" r="r" b="b"/>
            <a:pathLst>
              <a:path w="6774" h="28">
                <a:moveTo>
                  <a:pt x="0" y="0"/>
                </a:moveTo>
                <a:lnTo>
                  <a:pt x="6774" y="0"/>
                </a:lnTo>
                <a:lnTo>
                  <a:pt x="67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orma libre 366"/>
          <p:cNvSpPr/>
          <p:nvPr/>
        </p:nvSpPr>
        <p:spPr>
          <a:xfrm>
            <a:off x="9439200" y="41623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Forma libre 367"/>
          <p:cNvSpPr/>
          <p:nvPr/>
        </p:nvSpPr>
        <p:spPr>
          <a:xfrm>
            <a:off x="666720" y="4562280"/>
            <a:ext cx="3238560" cy="9720"/>
          </a:xfrm>
          <a:custGeom>
            <a:avLst/>
            <a:gdLst/>
            <a:ahLst/>
            <a:cxnLst/>
            <a:rect l="0" t="0" r="r" b="b"/>
            <a:pathLst>
              <a:path w="8996" h="27">
                <a:moveTo>
                  <a:pt x="0" y="0"/>
                </a:moveTo>
                <a:lnTo>
                  <a:pt x="8996" y="0"/>
                </a:lnTo>
                <a:lnTo>
                  <a:pt x="89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Forma libre 368"/>
          <p:cNvSpPr/>
          <p:nvPr/>
        </p:nvSpPr>
        <p:spPr>
          <a:xfrm>
            <a:off x="3904920" y="4562280"/>
            <a:ext cx="3105720" cy="9720"/>
          </a:xfrm>
          <a:custGeom>
            <a:avLst/>
            <a:gdLst/>
            <a:ahLst/>
            <a:cxnLst/>
            <a:rect l="0" t="0" r="r" b="b"/>
            <a:pathLst>
              <a:path w="8627" h="27">
                <a:moveTo>
                  <a:pt x="0" y="0"/>
                </a:moveTo>
                <a:lnTo>
                  <a:pt x="8627" y="0"/>
                </a:lnTo>
                <a:lnTo>
                  <a:pt x="86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Forma libre 369"/>
          <p:cNvSpPr/>
          <p:nvPr/>
        </p:nvSpPr>
        <p:spPr>
          <a:xfrm>
            <a:off x="7010280" y="4562280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CuadroTexto 370"/>
          <p:cNvSpPr txBox="1"/>
          <p:nvPr/>
        </p:nvSpPr>
        <p:spPr>
          <a:xfrm>
            <a:off x="666720" y="1463400"/>
            <a:ext cx="26769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tabla de rescate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CuadroTexto 371"/>
          <p:cNvSpPr txBox="1"/>
          <p:nvPr/>
        </p:nvSpPr>
        <p:spPr>
          <a:xfrm>
            <a:off x="1887480" y="2199960"/>
            <a:ext cx="801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Quiero…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CuadroTexto 372"/>
          <p:cNvSpPr txBox="1"/>
          <p:nvPr/>
        </p:nvSpPr>
        <p:spPr>
          <a:xfrm>
            <a:off x="5009040" y="2199960"/>
            <a:ext cx="885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Comando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CuadroTexto 373"/>
          <p:cNvSpPr txBox="1"/>
          <p:nvPr/>
        </p:nvSpPr>
        <p:spPr>
          <a:xfrm>
            <a:off x="7792560" y="2199960"/>
            <a:ext cx="865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¿Seguro?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Forma libre 374"/>
          <p:cNvSpPr/>
          <p:nvPr/>
        </p:nvSpPr>
        <p:spPr>
          <a:xfrm>
            <a:off x="4028760" y="2609640"/>
            <a:ext cx="1972080" cy="228960"/>
          </a:xfrm>
          <a:custGeom>
            <a:avLst/>
            <a:gdLst/>
            <a:ahLst/>
            <a:cxnLst/>
            <a:rect l="0" t="0" r="r" b="b"/>
            <a:pathLst>
              <a:path w="5478" h="636">
                <a:moveTo>
                  <a:pt x="0" y="530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5372" y="0"/>
                </a:lnTo>
                <a:cubicBezTo>
                  <a:pt x="5386" y="0"/>
                  <a:pt x="5400" y="3"/>
                  <a:pt x="5413" y="8"/>
                </a:cubicBezTo>
                <a:cubicBezTo>
                  <a:pt x="5426" y="14"/>
                  <a:pt x="5437" y="21"/>
                  <a:pt x="5447" y="31"/>
                </a:cubicBezTo>
                <a:cubicBezTo>
                  <a:pt x="5457" y="41"/>
                  <a:pt x="5465" y="53"/>
                  <a:pt x="5470" y="66"/>
                </a:cubicBezTo>
                <a:cubicBezTo>
                  <a:pt x="5476" y="79"/>
                  <a:pt x="5478" y="93"/>
                  <a:pt x="5478" y="107"/>
                </a:cubicBezTo>
                <a:lnTo>
                  <a:pt x="5478" y="530"/>
                </a:lnTo>
                <a:cubicBezTo>
                  <a:pt x="5478" y="544"/>
                  <a:pt x="5476" y="558"/>
                  <a:pt x="5470" y="571"/>
                </a:cubicBezTo>
                <a:cubicBezTo>
                  <a:pt x="5465" y="584"/>
                  <a:pt x="5457" y="595"/>
                  <a:pt x="5447" y="605"/>
                </a:cubicBezTo>
                <a:cubicBezTo>
                  <a:pt x="5437" y="615"/>
                  <a:pt x="5426" y="623"/>
                  <a:pt x="5413" y="628"/>
                </a:cubicBezTo>
                <a:cubicBezTo>
                  <a:pt x="5400" y="633"/>
                  <a:pt x="5386" y="636"/>
                  <a:pt x="5372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CuadroTexto 375"/>
          <p:cNvSpPr txBox="1"/>
          <p:nvPr/>
        </p:nvSpPr>
        <p:spPr>
          <a:xfrm>
            <a:off x="799920" y="2599920"/>
            <a:ext cx="2495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Descartar cambios sin commit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Forma libre 376"/>
          <p:cNvSpPr/>
          <p:nvPr/>
        </p:nvSpPr>
        <p:spPr>
          <a:xfrm>
            <a:off x="7155720" y="2613600"/>
            <a:ext cx="185400" cy="181800"/>
          </a:xfrm>
          <a:custGeom>
            <a:avLst/>
            <a:gdLst/>
            <a:ahLst/>
            <a:cxnLst/>
            <a:rect l="0" t="0" r="r" b="b"/>
            <a:pathLst>
              <a:path w="515" h="505">
                <a:moveTo>
                  <a:pt x="32" y="505"/>
                </a:moveTo>
                <a:cubicBezTo>
                  <a:pt x="5" y="505"/>
                  <a:pt x="-7" y="485"/>
                  <a:pt x="5" y="461"/>
                </a:cubicBezTo>
                <a:lnTo>
                  <a:pt x="235" y="18"/>
                </a:lnTo>
                <a:cubicBezTo>
                  <a:pt x="247" y="-6"/>
                  <a:pt x="267" y="-6"/>
                  <a:pt x="280" y="18"/>
                </a:cubicBezTo>
                <a:lnTo>
                  <a:pt x="510" y="461"/>
                </a:lnTo>
                <a:cubicBezTo>
                  <a:pt x="523" y="485"/>
                  <a:pt x="511" y="505"/>
                  <a:pt x="484" y="505"/>
                </a:cubicBezTo>
                <a:lnTo>
                  <a:pt x="32" y="505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Forma libre 377"/>
          <p:cNvSpPr/>
          <p:nvPr/>
        </p:nvSpPr>
        <p:spPr>
          <a:xfrm>
            <a:off x="7235640" y="2655000"/>
            <a:ext cx="25920" cy="120960"/>
          </a:xfrm>
          <a:custGeom>
            <a:avLst/>
            <a:gdLst/>
            <a:ahLst/>
            <a:cxnLst/>
            <a:rect l="0" t="0" r="r" b="b"/>
            <a:pathLst>
              <a:path w="72" h="336">
                <a:moveTo>
                  <a:pt x="0" y="301"/>
                </a:moveTo>
                <a:cubicBezTo>
                  <a:pt x="0" y="281"/>
                  <a:pt x="16" y="265"/>
                  <a:pt x="36" y="265"/>
                </a:cubicBezTo>
                <a:cubicBezTo>
                  <a:pt x="56" y="265"/>
                  <a:pt x="72" y="281"/>
                  <a:pt x="72" y="301"/>
                </a:cubicBezTo>
                <a:cubicBezTo>
                  <a:pt x="72" y="320"/>
                  <a:pt x="56" y="336"/>
                  <a:pt x="36" y="336"/>
                </a:cubicBezTo>
                <a:cubicBezTo>
                  <a:pt x="16" y="336"/>
                  <a:pt x="0" y="320"/>
                  <a:pt x="0" y="301"/>
                </a:cubicBezTo>
                <a:moveTo>
                  <a:pt x="2" y="31"/>
                </a:moveTo>
                <a:cubicBezTo>
                  <a:pt x="2" y="12"/>
                  <a:pt x="17" y="0"/>
                  <a:pt x="36" y="0"/>
                </a:cubicBezTo>
                <a:cubicBezTo>
                  <a:pt x="55" y="0"/>
                  <a:pt x="69" y="12"/>
                  <a:pt x="69" y="31"/>
                </a:cubicBezTo>
                <a:lnTo>
                  <a:pt x="69" y="207"/>
                </a:lnTo>
                <a:cubicBezTo>
                  <a:pt x="69" y="226"/>
                  <a:pt x="55" y="238"/>
                  <a:pt x="36" y="238"/>
                </a:cubicBezTo>
                <a:cubicBezTo>
                  <a:pt x="17" y="238"/>
                  <a:pt x="2" y="226"/>
                  <a:pt x="2" y="207"/>
                </a:cubicBezTo>
                <a:lnTo>
                  <a:pt x="2" y="31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CuadroTexto 378"/>
          <p:cNvSpPr txBox="1"/>
          <p:nvPr/>
        </p:nvSpPr>
        <p:spPr>
          <a:xfrm>
            <a:off x="4086720" y="2630880"/>
            <a:ext cx="18486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restore archivo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CuadroTexto 379"/>
          <p:cNvSpPr txBox="1"/>
          <p:nvPr/>
        </p:nvSpPr>
        <p:spPr>
          <a:xfrm>
            <a:off x="7349760" y="2599920"/>
            <a:ext cx="911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se pierden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Forma libre 380"/>
          <p:cNvSpPr/>
          <p:nvPr/>
        </p:nvSpPr>
        <p:spPr>
          <a:xfrm>
            <a:off x="4028760" y="3019320"/>
            <a:ext cx="2848320" cy="228960"/>
          </a:xfrm>
          <a:custGeom>
            <a:avLst/>
            <a:gdLst/>
            <a:ahLst/>
            <a:cxnLst/>
            <a:rect l="0" t="0" r="r" b="b"/>
            <a:pathLst>
              <a:path w="7912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7807" y="0"/>
                </a:lnTo>
                <a:cubicBezTo>
                  <a:pt x="7821" y="0"/>
                  <a:pt x="7834" y="2"/>
                  <a:pt x="7847" y="8"/>
                </a:cubicBezTo>
                <a:cubicBezTo>
                  <a:pt x="7860" y="13"/>
                  <a:pt x="7871" y="21"/>
                  <a:pt x="7881" y="31"/>
                </a:cubicBezTo>
                <a:cubicBezTo>
                  <a:pt x="7891" y="41"/>
                  <a:pt x="7899" y="52"/>
                  <a:pt x="7904" y="65"/>
                </a:cubicBezTo>
                <a:cubicBezTo>
                  <a:pt x="7910" y="78"/>
                  <a:pt x="7912" y="92"/>
                  <a:pt x="7912" y="106"/>
                </a:cubicBezTo>
                <a:lnTo>
                  <a:pt x="7912" y="530"/>
                </a:lnTo>
                <a:cubicBezTo>
                  <a:pt x="7912" y="544"/>
                  <a:pt x="7910" y="557"/>
                  <a:pt x="7904" y="570"/>
                </a:cubicBezTo>
                <a:cubicBezTo>
                  <a:pt x="7899" y="583"/>
                  <a:pt x="7891" y="595"/>
                  <a:pt x="7881" y="605"/>
                </a:cubicBezTo>
                <a:cubicBezTo>
                  <a:pt x="7871" y="615"/>
                  <a:pt x="7860" y="622"/>
                  <a:pt x="7847" y="628"/>
                </a:cubicBezTo>
                <a:cubicBezTo>
                  <a:pt x="7834" y="633"/>
                  <a:pt x="7821" y="636"/>
                  <a:pt x="7807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CuadroTexto 381"/>
          <p:cNvSpPr txBox="1"/>
          <p:nvPr/>
        </p:nvSpPr>
        <p:spPr>
          <a:xfrm>
            <a:off x="799920" y="3009600"/>
            <a:ext cx="18219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Sacar algo del staging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Forma libre 382"/>
          <p:cNvSpPr/>
          <p:nvPr/>
        </p:nvSpPr>
        <p:spPr>
          <a:xfrm>
            <a:off x="7153200" y="301932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530" y="471"/>
                </a:moveTo>
                <a:cubicBezTo>
                  <a:pt x="530" y="504"/>
                  <a:pt x="504" y="530"/>
                  <a:pt x="470" y="530"/>
                </a:cubicBezTo>
                <a:lnTo>
                  <a:pt x="59" y="530"/>
                </a:lnTo>
                <a:cubicBezTo>
                  <a:pt x="26" y="530"/>
                  <a:pt x="0" y="504"/>
                  <a:pt x="0" y="471"/>
                </a:cubicBezTo>
                <a:lnTo>
                  <a:pt x="0" y="59"/>
                </a:lnTo>
                <a:cubicBezTo>
                  <a:pt x="0" y="26"/>
                  <a:pt x="26" y="0"/>
                  <a:pt x="59" y="0"/>
                </a:cubicBezTo>
                <a:lnTo>
                  <a:pt x="470" y="0"/>
                </a:lnTo>
                <a:cubicBezTo>
                  <a:pt x="504" y="0"/>
                  <a:pt x="530" y="26"/>
                  <a:pt x="530" y="59"/>
                </a:cubicBezTo>
                <a:lnTo>
                  <a:pt x="530" y="47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Forma libre 383"/>
          <p:cNvSpPr/>
          <p:nvPr/>
        </p:nvSpPr>
        <p:spPr>
          <a:xfrm>
            <a:off x="7183440" y="3050640"/>
            <a:ext cx="131040" cy="128880"/>
          </a:xfrm>
          <a:custGeom>
            <a:avLst/>
            <a:gdLst/>
            <a:ahLst/>
            <a:cxnLst/>
            <a:rect l="0" t="0" r="r" b="b"/>
            <a:pathLst>
              <a:path w="364" h="358">
                <a:moveTo>
                  <a:pt x="347" y="6"/>
                </a:moveTo>
                <a:cubicBezTo>
                  <a:pt x="330" y="-5"/>
                  <a:pt x="307" y="0"/>
                  <a:pt x="296" y="17"/>
                </a:cubicBezTo>
                <a:lnTo>
                  <a:pt x="135" y="265"/>
                </a:lnTo>
                <a:lnTo>
                  <a:pt x="61" y="195"/>
                </a:lnTo>
                <a:cubicBezTo>
                  <a:pt x="46" y="182"/>
                  <a:pt x="23" y="183"/>
                  <a:pt x="9" y="197"/>
                </a:cubicBezTo>
                <a:cubicBezTo>
                  <a:pt x="-4" y="212"/>
                  <a:pt x="-3" y="236"/>
                  <a:pt x="11" y="250"/>
                </a:cubicBezTo>
                <a:lnTo>
                  <a:pt x="117" y="348"/>
                </a:lnTo>
                <a:cubicBezTo>
                  <a:pt x="124" y="355"/>
                  <a:pt x="133" y="358"/>
                  <a:pt x="142" y="358"/>
                </a:cubicBezTo>
                <a:cubicBezTo>
                  <a:pt x="152" y="358"/>
                  <a:pt x="165" y="354"/>
                  <a:pt x="173" y="341"/>
                </a:cubicBezTo>
                <a:cubicBezTo>
                  <a:pt x="178" y="334"/>
                  <a:pt x="358" y="57"/>
                  <a:pt x="358" y="57"/>
                </a:cubicBezTo>
                <a:cubicBezTo>
                  <a:pt x="369" y="40"/>
                  <a:pt x="364" y="17"/>
                  <a:pt x="347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CuadroTexto 384"/>
          <p:cNvSpPr txBox="1"/>
          <p:nvPr/>
        </p:nvSpPr>
        <p:spPr>
          <a:xfrm>
            <a:off x="4086720" y="3040560"/>
            <a:ext cx="2723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restore --staged archivo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Forma libre 385"/>
          <p:cNvSpPr/>
          <p:nvPr/>
        </p:nvSpPr>
        <p:spPr>
          <a:xfrm>
            <a:off x="4028760" y="3438360"/>
            <a:ext cx="1772280" cy="228960"/>
          </a:xfrm>
          <a:custGeom>
            <a:avLst/>
            <a:gdLst/>
            <a:ahLst/>
            <a:cxnLst/>
            <a:rect l="0" t="0" r="r" b="b"/>
            <a:pathLst>
              <a:path w="4923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4817" y="0"/>
                </a:lnTo>
                <a:cubicBezTo>
                  <a:pt x="4831" y="0"/>
                  <a:pt x="4844" y="3"/>
                  <a:pt x="4857" y="8"/>
                </a:cubicBezTo>
                <a:cubicBezTo>
                  <a:pt x="4870" y="13"/>
                  <a:pt x="4882" y="21"/>
                  <a:pt x="4892" y="31"/>
                </a:cubicBezTo>
                <a:cubicBezTo>
                  <a:pt x="4902" y="41"/>
                  <a:pt x="4909" y="52"/>
                  <a:pt x="4915" y="65"/>
                </a:cubicBezTo>
                <a:cubicBezTo>
                  <a:pt x="4920" y="78"/>
                  <a:pt x="4923" y="92"/>
                  <a:pt x="4923" y="106"/>
                </a:cubicBezTo>
                <a:lnTo>
                  <a:pt x="4923" y="530"/>
                </a:lnTo>
                <a:cubicBezTo>
                  <a:pt x="4923" y="544"/>
                  <a:pt x="4920" y="558"/>
                  <a:pt x="4915" y="571"/>
                </a:cubicBezTo>
                <a:cubicBezTo>
                  <a:pt x="4909" y="584"/>
                  <a:pt x="4902" y="595"/>
                  <a:pt x="4892" y="605"/>
                </a:cubicBezTo>
                <a:cubicBezTo>
                  <a:pt x="4882" y="615"/>
                  <a:pt x="4870" y="623"/>
                  <a:pt x="4857" y="628"/>
                </a:cubicBezTo>
                <a:cubicBezTo>
                  <a:pt x="4844" y="633"/>
                  <a:pt x="4831" y="636"/>
                  <a:pt x="4817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CuadroTexto 386"/>
          <p:cNvSpPr txBox="1"/>
          <p:nvPr/>
        </p:nvSpPr>
        <p:spPr>
          <a:xfrm>
            <a:off x="799920" y="3428640"/>
            <a:ext cx="2805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Deshacer un commit </a:t>
            </a:r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compartido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Forma libre 387"/>
          <p:cNvSpPr/>
          <p:nvPr/>
        </p:nvSpPr>
        <p:spPr>
          <a:xfrm>
            <a:off x="7153200" y="343836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530" y="471"/>
                </a:moveTo>
                <a:cubicBezTo>
                  <a:pt x="530" y="504"/>
                  <a:pt x="504" y="530"/>
                  <a:pt x="470" y="530"/>
                </a:cubicBezTo>
                <a:lnTo>
                  <a:pt x="59" y="530"/>
                </a:lnTo>
                <a:cubicBezTo>
                  <a:pt x="26" y="530"/>
                  <a:pt x="0" y="504"/>
                  <a:pt x="0" y="471"/>
                </a:cubicBezTo>
                <a:lnTo>
                  <a:pt x="0" y="59"/>
                </a:lnTo>
                <a:cubicBezTo>
                  <a:pt x="0" y="26"/>
                  <a:pt x="26" y="0"/>
                  <a:pt x="59" y="0"/>
                </a:cubicBezTo>
                <a:lnTo>
                  <a:pt x="470" y="0"/>
                </a:lnTo>
                <a:cubicBezTo>
                  <a:pt x="504" y="0"/>
                  <a:pt x="530" y="26"/>
                  <a:pt x="530" y="59"/>
                </a:cubicBezTo>
                <a:lnTo>
                  <a:pt x="530" y="471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Forma libre 388"/>
          <p:cNvSpPr/>
          <p:nvPr/>
        </p:nvSpPr>
        <p:spPr>
          <a:xfrm>
            <a:off x="7183440" y="3470040"/>
            <a:ext cx="131040" cy="128880"/>
          </a:xfrm>
          <a:custGeom>
            <a:avLst/>
            <a:gdLst/>
            <a:ahLst/>
            <a:cxnLst/>
            <a:rect l="0" t="0" r="r" b="b"/>
            <a:pathLst>
              <a:path w="364" h="358">
                <a:moveTo>
                  <a:pt x="347" y="6"/>
                </a:moveTo>
                <a:cubicBezTo>
                  <a:pt x="330" y="-5"/>
                  <a:pt x="307" y="0"/>
                  <a:pt x="296" y="17"/>
                </a:cubicBezTo>
                <a:lnTo>
                  <a:pt x="135" y="265"/>
                </a:lnTo>
                <a:lnTo>
                  <a:pt x="61" y="197"/>
                </a:lnTo>
                <a:cubicBezTo>
                  <a:pt x="46" y="183"/>
                  <a:pt x="23" y="184"/>
                  <a:pt x="9" y="199"/>
                </a:cubicBezTo>
                <a:cubicBezTo>
                  <a:pt x="-4" y="214"/>
                  <a:pt x="-3" y="237"/>
                  <a:pt x="11" y="251"/>
                </a:cubicBezTo>
                <a:lnTo>
                  <a:pt x="117" y="349"/>
                </a:lnTo>
                <a:cubicBezTo>
                  <a:pt x="124" y="355"/>
                  <a:pt x="133" y="358"/>
                  <a:pt x="142" y="358"/>
                </a:cubicBezTo>
                <a:cubicBezTo>
                  <a:pt x="152" y="358"/>
                  <a:pt x="165" y="354"/>
                  <a:pt x="173" y="342"/>
                </a:cubicBezTo>
                <a:cubicBezTo>
                  <a:pt x="178" y="334"/>
                  <a:pt x="358" y="57"/>
                  <a:pt x="358" y="57"/>
                </a:cubicBezTo>
                <a:cubicBezTo>
                  <a:pt x="369" y="40"/>
                  <a:pt x="364" y="18"/>
                  <a:pt x="347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CuadroTexto 389"/>
          <p:cNvSpPr txBox="1"/>
          <p:nvPr/>
        </p:nvSpPr>
        <p:spPr>
          <a:xfrm>
            <a:off x="4086720" y="3459600"/>
            <a:ext cx="16542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revert &lt;hash&gt;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CuadroTexto 390"/>
          <p:cNvSpPr txBox="1"/>
          <p:nvPr/>
        </p:nvSpPr>
        <p:spPr>
          <a:xfrm>
            <a:off x="7349760" y="3428640"/>
            <a:ext cx="1969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crea un commit inverso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Forma libre 391"/>
          <p:cNvSpPr/>
          <p:nvPr/>
        </p:nvSpPr>
        <p:spPr>
          <a:xfrm>
            <a:off x="4028760" y="3848040"/>
            <a:ext cx="2353320" cy="228960"/>
          </a:xfrm>
          <a:custGeom>
            <a:avLst/>
            <a:gdLst/>
            <a:ahLst/>
            <a:cxnLst/>
            <a:rect l="0" t="0" r="r" b="b"/>
            <a:pathLst>
              <a:path w="6537" h="636">
                <a:moveTo>
                  <a:pt x="0" y="53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6431" y="0"/>
                </a:lnTo>
                <a:cubicBezTo>
                  <a:pt x="6445" y="0"/>
                  <a:pt x="6458" y="2"/>
                  <a:pt x="6471" y="8"/>
                </a:cubicBezTo>
                <a:cubicBezTo>
                  <a:pt x="6484" y="13"/>
                  <a:pt x="6496" y="21"/>
                  <a:pt x="6506" y="31"/>
                </a:cubicBezTo>
                <a:cubicBezTo>
                  <a:pt x="6516" y="41"/>
                  <a:pt x="6523" y="52"/>
                  <a:pt x="6529" y="65"/>
                </a:cubicBezTo>
                <a:cubicBezTo>
                  <a:pt x="6534" y="78"/>
                  <a:pt x="6537" y="91"/>
                  <a:pt x="6537" y="105"/>
                </a:cubicBezTo>
                <a:lnTo>
                  <a:pt x="6537" y="530"/>
                </a:lnTo>
                <a:cubicBezTo>
                  <a:pt x="6537" y="544"/>
                  <a:pt x="6534" y="557"/>
                  <a:pt x="6529" y="570"/>
                </a:cubicBezTo>
                <a:cubicBezTo>
                  <a:pt x="6523" y="583"/>
                  <a:pt x="6516" y="595"/>
                  <a:pt x="6506" y="605"/>
                </a:cubicBezTo>
                <a:cubicBezTo>
                  <a:pt x="6496" y="615"/>
                  <a:pt x="6484" y="622"/>
                  <a:pt x="6471" y="628"/>
                </a:cubicBezTo>
                <a:cubicBezTo>
                  <a:pt x="6458" y="633"/>
                  <a:pt x="6445" y="636"/>
                  <a:pt x="6431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2"/>
                  <a:pt x="41" y="615"/>
                  <a:pt x="31" y="605"/>
                </a:cubicBezTo>
                <a:cubicBezTo>
                  <a:pt x="21" y="595"/>
                  <a:pt x="14" y="583"/>
                  <a:pt x="8" y="570"/>
                </a:cubicBezTo>
                <a:cubicBezTo>
                  <a:pt x="3" y="557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CuadroTexto 392"/>
          <p:cNvSpPr txBox="1"/>
          <p:nvPr/>
        </p:nvSpPr>
        <p:spPr>
          <a:xfrm>
            <a:off x="799920" y="3838320"/>
            <a:ext cx="2973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Mover mi rama a un commit anterior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Forma libre 393"/>
          <p:cNvSpPr/>
          <p:nvPr/>
        </p:nvSpPr>
        <p:spPr>
          <a:xfrm>
            <a:off x="7155720" y="3852000"/>
            <a:ext cx="185400" cy="181440"/>
          </a:xfrm>
          <a:custGeom>
            <a:avLst/>
            <a:gdLst/>
            <a:ahLst/>
            <a:cxnLst/>
            <a:rect l="0" t="0" r="r" b="b"/>
            <a:pathLst>
              <a:path w="515" h="504">
                <a:moveTo>
                  <a:pt x="32" y="504"/>
                </a:moveTo>
                <a:cubicBezTo>
                  <a:pt x="5" y="504"/>
                  <a:pt x="-7" y="484"/>
                  <a:pt x="5" y="460"/>
                </a:cubicBezTo>
                <a:lnTo>
                  <a:pt x="235" y="18"/>
                </a:lnTo>
                <a:cubicBezTo>
                  <a:pt x="247" y="-6"/>
                  <a:pt x="267" y="-6"/>
                  <a:pt x="280" y="18"/>
                </a:cubicBezTo>
                <a:lnTo>
                  <a:pt x="510" y="460"/>
                </a:lnTo>
                <a:cubicBezTo>
                  <a:pt x="523" y="484"/>
                  <a:pt x="511" y="504"/>
                  <a:pt x="484" y="504"/>
                </a:cubicBezTo>
                <a:lnTo>
                  <a:pt x="32" y="504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Forma libre 394"/>
          <p:cNvSpPr/>
          <p:nvPr/>
        </p:nvSpPr>
        <p:spPr>
          <a:xfrm>
            <a:off x="7235640" y="3893040"/>
            <a:ext cx="25920" cy="121320"/>
          </a:xfrm>
          <a:custGeom>
            <a:avLst/>
            <a:gdLst/>
            <a:ahLst/>
            <a:cxnLst/>
            <a:rect l="0" t="0" r="r" b="b"/>
            <a:pathLst>
              <a:path w="72" h="337">
                <a:moveTo>
                  <a:pt x="0" y="301"/>
                </a:moveTo>
                <a:cubicBezTo>
                  <a:pt x="0" y="282"/>
                  <a:pt x="16" y="266"/>
                  <a:pt x="36" y="266"/>
                </a:cubicBezTo>
                <a:cubicBezTo>
                  <a:pt x="56" y="266"/>
                  <a:pt x="72" y="282"/>
                  <a:pt x="72" y="301"/>
                </a:cubicBezTo>
                <a:cubicBezTo>
                  <a:pt x="72" y="321"/>
                  <a:pt x="56" y="337"/>
                  <a:pt x="36" y="337"/>
                </a:cubicBezTo>
                <a:cubicBezTo>
                  <a:pt x="16" y="337"/>
                  <a:pt x="0" y="321"/>
                  <a:pt x="0" y="301"/>
                </a:cubicBezTo>
                <a:moveTo>
                  <a:pt x="2" y="31"/>
                </a:moveTo>
                <a:cubicBezTo>
                  <a:pt x="2" y="12"/>
                  <a:pt x="17" y="0"/>
                  <a:pt x="36" y="0"/>
                </a:cubicBezTo>
                <a:cubicBezTo>
                  <a:pt x="55" y="0"/>
                  <a:pt x="69" y="13"/>
                  <a:pt x="69" y="31"/>
                </a:cubicBezTo>
                <a:lnTo>
                  <a:pt x="69" y="208"/>
                </a:lnTo>
                <a:cubicBezTo>
                  <a:pt x="69" y="227"/>
                  <a:pt x="55" y="239"/>
                  <a:pt x="36" y="239"/>
                </a:cubicBezTo>
                <a:cubicBezTo>
                  <a:pt x="17" y="239"/>
                  <a:pt x="2" y="227"/>
                  <a:pt x="2" y="208"/>
                </a:cubicBezTo>
                <a:lnTo>
                  <a:pt x="2" y="31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CuadroTexto 395"/>
          <p:cNvSpPr txBox="1"/>
          <p:nvPr/>
        </p:nvSpPr>
        <p:spPr>
          <a:xfrm>
            <a:off x="4086720" y="3869280"/>
            <a:ext cx="22377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reset --hard &lt;hash&gt;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CuadroTexto 396"/>
          <p:cNvSpPr txBox="1"/>
          <p:nvPr/>
        </p:nvSpPr>
        <p:spPr>
          <a:xfrm>
            <a:off x="7349760" y="3838320"/>
            <a:ext cx="19234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sólo si NO compartiste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Forma libre 397"/>
          <p:cNvSpPr/>
          <p:nvPr/>
        </p:nvSpPr>
        <p:spPr>
          <a:xfrm>
            <a:off x="4028760" y="4257360"/>
            <a:ext cx="1086480" cy="228960"/>
          </a:xfrm>
          <a:custGeom>
            <a:avLst/>
            <a:gdLst/>
            <a:ahLst/>
            <a:cxnLst/>
            <a:rect l="0" t="0" r="r" b="b"/>
            <a:pathLst>
              <a:path w="3018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912" y="0"/>
                </a:lnTo>
                <a:cubicBezTo>
                  <a:pt x="2926" y="0"/>
                  <a:pt x="2939" y="3"/>
                  <a:pt x="2952" y="8"/>
                </a:cubicBezTo>
                <a:cubicBezTo>
                  <a:pt x="2965" y="14"/>
                  <a:pt x="2977" y="21"/>
                  <a:pt x="2987" y="31"/>
                </a:cubicBezTo>
                <a:cubicBezTo>
                  <a:pt x="2997" y="41"/>
                  <a:pt x="3004" y="53"/>
                  <a:pt x="3010" y="66"/>
                </a:cubicBezTo>
                <a:cubicBezTo>
                  <a:pt x="3015" y="79"/>
                  <a:pt x="3018" y="92"/>
                  <a:pt x="3018" y="106"/>
                </a:cubicBezTo>
                <a:lnTo>
                  <a:pt x="3018" y="530"/>
                </a:lnTo>
                <a:cubicBezTo>
                  <a:pt x="3018" y="545"/>
                  <a:pt x="3015" y="558"/>
                  <a:pt x="3010" y="571"/>
                </a:cubicBezTo>
                <a:cubicBezTo>
                  <a:pt x="3004" y="584"/>
                  <a:pt x="2997" y="595"/>
                  <a:pt x="2987" y="605"/>
                </a:cubicBezTo>
                <a:cubicBezTo>
                  <a:pt x="2977" y="615"/>
                  <a:pt x="2965" y="623"/>
                  <a:pt x="2952" y="628"/>
                </a:cubicBezTo>
                <a:cubicBezTo>
                  <a:pt x="2939" y="634"/>
                  <a:pt x="2926" y="636"/>
                  <a:pt x="2912" y="636"/>
                </a:cubicBezTo>
                <a:lnTo>
                  <a:pt x="106" y="636"/>
                </a:lnTo>
                <a:cubicBezTo>
                  <a:pt x="92" y="636"/>
                  <a:pt x="79" y="634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5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CuadroTexto 398"/>
          <p:cNvSpPr txBox="1"/>
          <p:nvPr/>
        </p:nvSpPr>
        <p:spPr>
          <a:xfrm>
            <a:off x="799920" y="4247640"/>
            <a:ext cx="1627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"Borré todo, ayuda"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Forma libre 399"/>
          <p:cNvSpPr/>
          <p:nvPr/>
        </p:nvSpPr>
        <p:spPr>
          <a:xfrm>
            <a:off x="7153200" y="4257360"/>
            <a:ext cx="190800" cy="191160"/>
          </a:xfrm>
          <a:custGeom>
            <a:avLst/>
            <a:gdLst/>
            <a:ahLst/>
            <a:cxnLst/>
            <a:rect l="0" t="0" r="r" b="b"/>
            <a:pathLst>
              <a:path w="530" h="531">
                <a:moveTo>
                  <a:pt x="530" y="472"/>
                </a:moveTo>
                <a:cubicBezTo>
                  <a:pt x="530" y="504"/>
                  <a:pt x="504" y="531"/>
                  <a:pt x="470" y="531"/>
                </a:cubicBezTo>
                <a:lnTo>
                  <a:pt x="59" y="531"/>
                </a:lnTo>
                <a:cubicBezTo>
                  <a:pt x="26" y="531"/>
                  <a:pt x="0" y="504"/>
                  <a:pt x="0" y="472"/>
                </a:cubicBezTo>
                <a:lnTo>
                  <a:pt x="0" y="59"/>
                </a:lnTo>
                <a:cubicBezTo>
                  <a:pt x="0" y="27"/>
                  <a:pt x="26" y="0"/>
                  <a:pt x="59" y="0"/>
                </a:cubicBezTo>
                <a:lnTo>
                  <a:pt x="470" y="0"/>
                </a:lnTo>
                <a:cubicBezTo>
                  <a:pt x="504" y="0"/>
                  <a:pt x="530" y="27"/>
                  <a:pt x="530" y="59"/>
                </a:cubicBezTo>
                <a:lnTo>
                  <a:pt x="530" y="472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Forma libre 400"/>
          <p:cNvSpPr/>
          <p:nvPr/>
        </p:nvSpPr>
        <p:spPr>
          <a:xfrm>
            <a:off x="7183440" y="4289040"/>
            <a:ext cx="131040" cy="128880"/>
          </a:xfrm>
          <a:custGeom>
            <a:avLst/>
            <a:gdLst/>
            <a:ahLst/>
            <a:cxnLst/>
            <a:rect l="0" t="0" r="r" b="b"/>
            <a:pathLst>
              <a:path w="364" h="358">
                <a:moveTo>
                  <a:pt x="347" y="6"/>
                </a:moveTo>
                <a:cubicBezTo>
                  <a:pt x="330" y="-5"/>
                  <a:pt x="307" y="0"/>
                  <a:pt x="296" y="18"/>
                </a:cubicBezTo>
                <a:lnTo>
                  <a:pt x="135" y="264"/>
                </a:lnTo>
                <a:lnTo>
                  <a:pt x="61" y="196"/>
                </a:lnTo>
                <a:cubicBezTo>
                  <a:pt x="46" y="182"/>
                  <a:pt x="23" y="183"/>
                  <a:pt x="9" y="198"/>
                </a:cubicBezTo>
                <a:cubicBezTo>
                  <a:pt x="-4" y="213"/>
                  <a:pt x="-3" y="236"/>
                  <a:pt x="11" y="250"/>
                </a:cubicBezTo>
                <a:lnTo>
                  <a:pt x="117" y="348"/>
                </a:lnTo>
                <a:cubicBezTo>
                  <a:pt x="124" y="354"/>
                  <a:pt x="133" y="358"/>
                  <a:pt x="142" y="358"/>
                </a:cubicBezTo>
                <a:cubicBezTo>
                  <a:pt x="152" y="358"/>
                  <a:pt x="165" y="354"/>
                  <a:pt x="173" y="341"/>
                </a:cubicBezTo>
                <a:cubicBezTo>
                  <a:pt x="178" y="334"/>
                  <a:pt x="358" y="58"/>
                  <a:pt x="358" y="58"/>
                </a:cubicBezTo>
                <a:cubicBezTo>
                  <a:pt x="369" y="41"/>
                  <a:pt x="364" y="18"/>
                  <a:pt x="347" y="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CuadroTexto 401"/>
          <p:cNvSpPr txBox="1"/>
          <p:nvPr/>
        </p:nvSpPr>
        <p:spPr>
          <a:xfrm>
            <a:off x="4086720" y="4278960"/>
            <a:ext cx="973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reflog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CuadroTexto 402"/>
          <p:cNvSpPr txBox="1"/>
          <p:nvPr/>
        </p:nvSpPr>
        <p:spPr>
          <a:xfrm>
            <a:off x="7349760" y="4247640"/>
            <a:ext cx="1757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casi siempre te salva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Forma libre 403"/>
          <p:cNvSpPr/>
          <p:nvPr/>
        </p:nvSpPr>
        <p:spPr>
          <a:xfrm>
            <a:off x="4956660" y="4774120"/>
            <a:ext cx="810000" cy="266760"/>
          </a:xfrm>
          <a:custGeom>
            <a:avLst/>
            <a:gdLst/>
            <a:ahLst/>
            <a:cxnLst/>
            <a:rect l="0" t="0" r="r" b="b"/>
            <a:pathLst>
              <a:path w="2250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144" y="0"/>
                </a:lnTo>
                <a:cubicBezTo>
                  <a:pt x="2158" y="0"/>
                  <a:pt x="2171" y="2"/>
                  <a:pt x="2184" y="8"/>
                </a:cubicBezTo>
                <a:cubicBezTo>
                  <a:pt x="2197" y="13"/>
                  <a:pt x="2209" y="21"/>
                  <a:pt x="2219" y="31"/>
                </a:cubicBezTo>
                <a:cubicBezTo>
                  <a:pt x="2229" y="41"/>
                  <a:pt x="2236" y="52"/>
                  <a:pt x="2242" y="65"/>
                </a:cubicBezTo>
                <a:cubicBezTo>
                  <a:pt x="2247" y="78"/>
                  <a:pt x="2250" y="91"/>
                  <a:pt x="2250" y="105"/>
                </a:cubicBezTo>
                <a:lnTo>
                  <a:pt x="2250" y="636"/>
                </a:lnTo>
                <a:cubicBezTo>
                  <a:pt x="2250" y="650"/>
                  <a:pt x="2247" y="663"/>
                  <a:pt x="2242" y="676"/>
                </a:cubicBezTo>
                <a:cubicBezTo>
                  <a:pt x="2236" y="689"/>
                  <a:pt x="2229" y="700"/>
                  <a:pt x="2219" y="710"/>
                </a:cubicBezTo>
                <a:cubicBezTo>
                  <a:pt x="2209" y="720"/>
                  <a:pt x="2197" y="728"/>
                  <a:pt x="2184" y="733"/>
                </a:cubicBezTo>
                <a:cubicBezTo>
                  <a:pt x="2171" y="739"/>
                  <a:pt x="2158" y="741"/>
                  <a:pt x="2144" y="741"/>
                </a:cubicBezTo>
                <a:lnTo>
                  <a:pt x="105" y="741"/>
                </a:lnTo>
                <a:cubicBezTo>
                  <a:pt x="91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CuadroTexto 404"/>
          <p:cNvSpPr txBox="1"/>
          <p:nvPr/>
        </p:nvSpPr>
        <p:spPr>
          <a:xfrm>
            <a:off x="666720" y="4763881"/>
            <a:ext cx="6143760" cy="27699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Regla de oro: 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revertir lo compartido: 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CuadroTexto 405"/>
          <p:cNvSpPr txBox="1"/>
          <p:nvPr/>
        </p:nvSpPr>
        <p:spPr>
          <a:xfrm>
            <a:off x="5009040" y="4792421"/>
            <a:ext cx="7052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revert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Forma libre 406"/>
          <p:cNvSpPr/>
          <p:nvPr/>
        </p:nvSpPr>
        <p:spPr>
          <a:xfrm>
            <a:off x="7183440" y="4788587"/>
            <a:ext cx="695520" cy="267120"/>
          </a:xfrm>
          <a:custGeom>
            <a:avLst/>
            <a:gdLst/>
            <a:ahLst/>
            <a:cxnLst/>
            <a:rect l="0" t="0" r="r" b="b"/>
            <a:pathLst>
              <a:path w="193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1826" y="0"/>
                </a:lnTo>
                <a:cubicBezTo>
                  <a:pt x="1840" y="0"/>
                  <a:pt x="1854" y="3"/>
                  <a:pt x="1867" y="8"/>
                </a:cubicBezTo>
                <a:cubicBezTo>
                  <a:pt x="1880" y="14"/>
                  <a:pt x="1891" y="21"/>
                  <a:pt x="1901" y="31"/>
                </a:cubicBezTo>
                <a:cubicBezTo>
                  <a:pt x="1911" y="41"/>
                  <a:pt x="1919" y="52"/>
                  <a:pt x="1924" y="65"/>
                </a:cubicBezTo>
                <a:cubicBezTo>
                  <a:pt x="1929" y="78"/>
                  <a:pt x="1932" y="92"/>
                  <a:pt x="1932" y="106"/>
                </a:cubicBezTo>
                <a:lnTo>
                  <a:pt x="1932" y="636"/>
                </a:lnTo>
                <a:cubicBezTo>
                  <a:pt x="1932" y="650"/>
                  <a:pt x="1929" y="664"/>
                  <a:pt x="1924" y="677"/>
                </a:cubicBezTo>
                <a:cubicBezTo>
                  <a:pt x="1919" y="690"/>
                  <a:pt x="1911" y="701"/>
                  <a:pt x="1901" y="711"/>
                </a:cubicBezTo>
                <a:cubicBezTo>
                  <a:pt x="1891" y="721"/>
                  <a:pt x="1880" y="728"/>
                  <a:pt x="1867" y="734"/>
                </a:cubicBezTo>
                <a:cubicBezTo>
                  <a:pt x="1854" y="739"/>
                  <a:pt x="1840" y="742"/>
                  <a:pt x="1826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CuadroTexto 407"/>
          <p:cNvSpPr txBox="1"/>
          <p:nvPr/>
        </p:nvSpPr>
        <p:spPr>
          <a:xfrm>
            <a:off x="5740920" y="4770880"/>
            <a:ext cx="1390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Para lo local: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CuadroTexto 408"/>
          <p:cNvSpPr txBox="1"/>
          <p:nvPr/>
        </p:nvSpPr>
        <p:spPr>
          <a:xfrm>
            <a:off x="7217460" y="4788620"/>
            <a:ext cx="5878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 dirty="0" err="1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reset</a:t>
            </a:r>
            <a:endParaRPr lang="es-ES" sz="15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CuadroTexto 409"/>
          <p:cNvSpPr txBox="1"/>
          <p:nvPr/>
        </p:nvSpPr>
        <p:spPr>
          <a:xfrm>
            <a:off x="7817040" y="4764012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CuadroTexto 410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CuadroTexto 411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CuadroTexto 412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Forma libre 4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Forma libre 4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Forma libre 4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CuadroTexto 416"/>
          <p:cNvSpPr txBox="1"/>
          <p:nvPr/>
        </p:nvSpPr>
        <p:spPr>
          <a:xfrm>
            <a:off x="2459520" y="3063960"/>
            <a:ext cx="745920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6. GitHub: issues, PRs y revisión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CuadroTexto 41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CuadroTexto 41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CuadroTexto 41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Forma libre 4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Forma libre 4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Forma libre 422"/>
          <p:cNvSpPr/>
          <p:nvPr/>
        </p:nvSpPr>
        <p:spPr>
          <a:xfrm>
            <a:off x="0" y="21420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Forma libre 423"/>
          <p:cNvSpPr/>
          <p:nvPr/>
        </p:nvSpPr>
        <p:spPr>
          <a:xfrm>
            <a:off x="671400" y="327168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6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6"/>
                  <a:pt x="0" y="3612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Forma libre 424"/>
          <p:cNvSpPr/>
          <p:nvPr/>
        </p:nvSpPr>
        <p:spPr>
          <a:xfrm>
            <a:off x="671400" y="3271680"/>
            <a:ext cx="10849320" cy="1371960"/>
          </a:xfrm>
          <a:custGeom>
            <a:avLst/>
            <a:gdLst/>
            <a:ahLst/>
            <a:cxnLst/>
            <a:rect l="0" t="0" r="r" b="b"/>
            <a:pathLst>
              <a:path w="30137" h="3811">
                <a:moveTo>
                  <a:pt x="0" y="3612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3612"/>
                </a:lnTo>
                <a:cubicBezTo>
                  <a:pt x="30137" y="3626"/>
                  <a:pt x="30136" y="3638"/>
                  <a:pt x="30133" y="3651"/>
                </a:cubicBezTo>
                <a:cubicBezTo>
                  <a:pt x="30130" y="3664"/>
                  <a:pt x="30127" y="3676"/>
                  <a:pt x="30122" y="3688"/>
                </a:cubicBezTo>
                <a:cubicBezTo>
                  <a:pt x="30117" y="3700"/>
                  <a:pt x="30111" y="3712"/>
                  <a:pt x="30103" y="3723"/>
                </a:cubicBezTo>
                <a:cubicBezTo>
                  <a:pt x="30096" y="3734"/>
                  <a:pt x="30088" y="3744"/>
                  <a:pt x="30079" y="3753"/>
                </a:cubicBezTo>
                <a:cubicBezTo>
                  <a:pt x="30070" y="3762"/>
                  <a:pt x="30059" y="3770"/>
                  <a:pt x="30049" y="3777"/>
                </a:cubicBezTo>
                <a:cubicBezTo>
                  <a:pt x="30038" y="3785"/>
                  <a:pt x="30026" y="3791"/>
                  <a:pt x="30014" y="3796"/>
                </a:cubicBezTo>
                <a:cubicBezTo>
                  <a:pt x="30002" y="3801"/>
                  <a:pt x="29990" y="3805"/>
                  <a:pt x="29977" y="3807"/>
                </a:cubicBezTo>
                <a:cubicBezTo>
                  <a:pt x="29964" y="3810"/>
                  <a:pt x="29951" y="3811"/>
                  <a:pt x="29938" y="3811"/>
                </a:cubicBezTo>
                <a:lnTo>
                  <a:pt x="198" y="3811"/>
                </a:lnTo>
                <a:cubicBezTo>
                  <a:pt x="185" y="3811"/>
                  <a:pt x="172" y="3810"/>
                  <a:pt x="160" y="3807"/>
                </a:cubicBezTo>
                <a:cubicBezTo>
                  <a:pt x="147" y="3805"/>
                  <a:pt x="134" y="3801"/>
                  <a:pt x="122" y="3796"/>
                </a:cubicBezTo>
                <a:cubicBezTo>
                  <a:pt x="110" y="3791"/>
                  <a:pt x="99" y="3785"/>
                  <a:pt x="88" y="3777"/>
                </a:cubicBezTo>
                <a:cubicBezTo>
                  <a:pt x="77" y="3770"/>
                  <a:pt x="67" y="3762"/>
                  <a:pt x="58" y="3753"/>
                </a:cubicBezTo>
                <a:cubicBezTo>
                  <a:pt x="49" y="3744"/>
                  <a:pt x="40" y="3734"/>
                  <a:pt x="33" y="3723"/>
                </a:cubicBezTo>
                <a:cubicBezTo>
                  <a:pt x="26" y="3712"/>
                  <a:pt x="20" y="3700"/>
                  <a:pt x="15" y="3688"/>
                </a:cubicBezTo>
                <a:cubicBezTo>
                  <a:pt x="10" y="3676"/>
                  <a:pt x="6" y="3664"/>
                  <a:pt x="4" y="3651"/>
                </a:cubicBezTo>
                <a:cubicBezTo>
                  <a:pt x="1" y="3638"/>
                  <a:pt x="0" y="3626"/>
                  <a:pt x="0" y="361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Forma libre 425"/>
          <p:cNvSpPr/>
          <p:nvPr/>
        </p:nvSpPr>
        <p:spPr>
          <a:xfrm>
            <a:off x="914040" y="2523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CuadroTexto 426"/>
          <p:cNvSpPr txBox="1"/>
          <p:nvPr/>
        </p:nvSpPr>
        <p:spPr>
          <a:xfrm>
            <a:off x="666720" y="1730160"/>
            <a:ext cx="1758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 ≠ GitHub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Forma libre 427"/>
          <p:cNvSpPr/>
          <p:nvPr/>
        </p:nvSpPr>
        <p:spPr>
          <a:xfrm>
            <a:off x="914040" y="29239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2"/>
                  <a:pt x="31" y="32"/>
                </a:cubicBezTo>
                <a:cubicBezTo>
                  <a:pt x="41" y="22"/>
                  <a:pt x="53" y="15"/>
                  <a:pt x="66" y="9"/>
                </a:cubicBezTo>
                <a:cubicBezTo>
                  <a:pt x="79" y="4"/>
                  <a:pt x="92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5"/>
                  <a:pt x="172" y="22"/>
                  <a:pt x="182" y="32"/>
                </a:cubicBezTo>
                <a:cubicBezTo>
                  <a:pt x="192" y="42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CuadroTexto 428"/>
          <p:cNvSpPr txBox="1"/>
          <p:nvPr/>
        </p:nvSpPr>
        <p:spPr>
          <a:xfrm>
            <a:off x="1123920" y="2411280"/>
            <a:ext cx="7939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el sistema de control de versiones. Vive en tu máquina. Funciona sin internet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CuadroTexto 429"/>
          <p:cNvSpPr txBox="1"/>
          <p:nvPr/>
        </p:nvSpPr>
        <p:spPr>
          <a:xfrm>
            <a:off x="1123920" y="2811240"/>
            <a:ext cx="10391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GitHub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un servicio que hospeda repositorios Git y añade colaboración (pull requests, issues, CI, revisión)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CuadroTexto 430"/>
          <p:cNvSpPr txBox="1"/>
          <p:nvPr/>
        </p:nvSpPr>
        <p:spPr>
          <a:xfrm>
            <a:off x="866880" y="3451680"/>
            <a:ext cx="6878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</a:t>
            </a:r>
            <a:r>
              <a:rPr lang="es-ES" sz="1430" b="0" u="none" strike="noStrike">
                <a:solidFill>
                  <a:srgbClr val="FF8B82"/>
                </a:solidFill>
                <a:effectLst/>
                <a:uFillTx/>
                <a:latin typeface="Menlo"/>
                <a:ea typeface="Menlo"/>
              </a:rPr>
              <a:t>clone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git@github.com:usuario/proyecto.git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traer un repo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CuadroTexto 431"/>
          <p:cNvSpPr txBox="1"/>
          <p:nvPr/>
        </p:nvSpPr>
        <p:spPr>
          <a:xfrm>
            <a:off x="866880" y="3718080"/>
            <a:ext cx="7316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push       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subir mis commits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CuadroTexto 432"/>
          <p:cNvSpPr txBox="1"/>
          <p:nvPr/>
        </p:nvSpPr>
        <p:spPr>
          <a:xfrm>
            <a:off x="866880" y="397548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pull       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traer los de otros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CuadroTexto 433"/>
          <p:cNvSpPr txBox="1"/>
          <p:nvPr/>
        </p:nvSpPr>
        <p:spPr>
          <a:xfrm>
            <a:off x="866880" y="4242240"/>
            <a:ext cx="9063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fetch                                       </a:t>
            </a:r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traer SIN mezclar (mirar primero)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CuadroTexto 435"/>
          <p:cNvSpPr txBox="1"/>
          <p:nvPr/>
        </p:nvSpPr>
        <p:spPr>
          <a:xfrm>
            <a:off x="666720" y="4861800"/>
            <a:ext cx="6780189" cy="2492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Alternativas: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GitLab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Bitbucket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r>
              <a:rPr lang="es-ES" sz="1620" b="0" u="none" strike="noStrike" dirty="0" err="1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Codeberg</a:t>
            </a:r>
            <a:r>
              <a:rPr lang="es-ES" sz="162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. Los conceptos son idénticos.</a:t>
            </a:r>
            <a:endParaRPr lang="es-ES" sz="16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CuadroTexto 4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CuadroTexto 4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CuadroTexto 43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Forma libre 4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Forma libre 4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Forma libre 4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Forma libre 443"/>
          <p:cNvSpPr/>
          <p:nvPr/>
        </p:nvSpPr>
        <p:spPr>
          <a:xfrm>
            <a:off x="671400" y="393840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30"/>
                  <a:pt x="0" y="141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Forma libre 444"/>
          <p:cNvSpPr/>
          <p:nvPr/>
        </p:nvSpPr>
        <p:spPr>
          <a:xfrm>
            <a:off x="671400" y="393840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7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1417"/>
                </a:lnTo>
                <a:cubicBezTo>
                  <a:pt x="30137" y="1430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5"/>
                  <a:pt x="30111" y="1516"/>
                  <a:pt x="30103" y="1527"/>
                </a:cubicBezTo>
                <a:cubicBezTo>
                  <a:pt x="30096" y="1538"/>
                  <a:pt x="30088" y="1548"/>
                  <a:pt x="30079" y="1557"/>
                </a:cubicBezTo>
                <a:cubicBezTo>
                  <a:pt x="30070" y="1566"/>
                  <a:pt x="30059" y="1574"/>
                  <a:pt x="30049" y="1582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9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9"/>
                  <a:pt x="134" y="1605"/>
                  <a:pt x="122" y="1600"/>
                </a:cubicBezTo>
                <a:cubicBezTo>
                  <a:pt x="110" y="1595"/>
                  <a:pt x="99" y="1589"/>
                  <a:pt x="88" y="1582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8"/>
                  <a:pt x="40" y="1538"/>
                  <a:pt x="33" y="1527"/>
                </a:cubicBezTo>
                <a:cubicBezTo>
                  <a:pt x="26" y="1516"/>
                  <a:pt x="20" y="1505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30"/>
                  <a:pt x="0" y="141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CuadroTexto 445"/>
          <p:cNvSpPr txBox="1"/>
          <p:nvPr/>
        </p:nvSpPr>
        <p:spPr>
          <a:xfrm>
            <a:off x="666720" y="1510920"/>
            <a:ext cx="65786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Issues: el trabajo pendiente vive junto al código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Forma libre 446"/>
          <p:cNvSpPr/>
          <p:nvPr/>
        </p:nvSpPr>
        <p:spPr>
          <a:xfrm>
            <a:off x="914040" y="27907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6"/>
                </a:cubicBezTo>
                <a:cubicBezTo>
                  <a:pt x="200" y="159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59"/>
                  <a:pt x="9" y="146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CuadroTexto 447"/>
          <p:cNvSpPr txBox="1"/>
          <p:nvPr/>
        </p:nvSpPr>
        <p:spPr>
          <a:xfrm>
            <a:off x="666720" y="2182680"/>
            <a:ext cx="643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issue es la unidad de trabajo: un bug, una idea, una pregunta.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Forma libre 448"/>
          <p:cNvSpPr/>
          <p:nvPr/>
        </p:nvSpPr>
        <p:spPr>
          <a:xfrm>
            <a:off x="914040" y="3190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CuadroTexto 449"/>
          <p:cNvSpPr txBox="1"/>
          <p:nvPr/>
        </p:nvSpPr>
        <p:spPr>
          <a:xfrm>
            <a:off x="1123920" y="2678040"/>
            <a:ext cx="9519273" cy="27699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 dirty="0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Título concreto</a:t>
            </a:r>
            <a:r>
              <a:rPr lang="es-ES" sz="1800" b="0" u="none" strike="noStrike" dirty="0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«el conteo de la cohorte incluye pacientes sin diabetes» — no «no funciona»</a:t>
            </a:r>
            <a:endParaRPr lang="es-ES" sz="1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Forma libre 450"/>
          <p:cNvSpPr/>
          <p:nvPr/>
        </p:nvSpPr>
        <p:spPr>
          <a:xfrm>
            <a:off x="914040" y="3590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9" y="67"/>
                </a:cubicBezTo>
                <a:cubicBezTo>
                  <a:pt x="14" y="54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CuadroTexto 451"/>
          <p:cNvSpPr txBox="1"/>
          <p:nvPr/>
        </p:nvSpPr>
        <p:spPr>
          <a:xfrm>
            <a:off x="1123920" y="3078000"/>
            <a:ext cx="7376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Cuerpo reproducible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qué esperabas, qué pasó, con qué datos y versión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Forma libre 452"/>
          <p:cNvSpPr/>
          <p:nvPr/>
        </p:nvSpPr>
        <p:spPr>
          <a:xfrm>
            <a:off x="2266920" y="3495600"/>
            <a:ext cx="466920" cy="267120"/>
          </a:xfrm>
          <a:custGeom>
            <a:avLst/>
            <a:gdLst/>
            <a:ahLst/>
            <a:cxnLst/>
            <a:rect l="0" t="0" r="r" b="b"/>
            <a:pathLst>
              <a:path w="129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1191" y="0"/>
                </a:lnTo>
                <a:cubicBezTo>
                  <a:pt x="1205" y="0"/>
                  <a:pt x="1219" y="2"/>
                  <a:pt x="1232" y="8"/>
                </a:cubicBezTo>
                <a:cubicBezTo>
                  <a:pt x="1245" y="13"/>
                  <a:pt x="1256" y="21"/>
                  <a:pt x="1266" y="31"/>
                </a:cubicBezTo>
                <a:cubicBezTo>
                  <a:pt x="1276" y="41"/>
                  <a:pt x="1284" y="52"/>
                  <a:pt x="1289" y="65"/>
                </a:cubicBezTo>
                <a:cubicBezTo>
                  <a:pt x="1294" y="78"/>
                  <a:pt x="1297" y="92"/>
                  <a:pt x="1297" y="106"/>
                </a:cubicBezTo>
                <a:lnTo>
                  <a:pt x="1297" y="636"/>
                </a:lnTo>
                <a:cubicBezTo>
                  <a:pt x="1297" y="650"/>
                  <a:pt x="1294" y="663"/>
                  <a:pt x="1289" y="676"/>
                </a:cubicBezTo>
                <a:cubicBezTo>
                  <a:pt x="1284" y="689"/>
                  <a:pt x="1276" y="701"/>
                  <a:pt x="1266" y="711"/>
                </a:cubicBezTo>
                <a:cubicBezTo>
                  <a:pt x="1256" y="720"/>
                  <a:pt x="1245" y="728"/>
                  <a:pt x="1232" y="733"/>
                </a:cubicBezTo>
                <a:cubicBezTo>
                  <a:pt x="1219" y="739"/>
                  <a:pt x="1205" y="742"/>
                  <a:pt x="119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CuadroTexto 453"/>
          <p:cNvSpPr txBox="1"/>
          <p:nvPr/>
        </p:nvSpPr>
        <p:spPr>
          <a:xfrm>
            <a:off x="1123920" y="3477960"/>
            <a:ext cx="1148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Etiquetas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CuadroTexto 454"/>
          <p:cNvSpPr txBox="1"/>
          <p:nvPr/>
        </p:nvSpPr>
        <p:spPr>
          <a:xfrm>
            <a:off x="2328480" y="3515400"/>
            <a:ext cx="353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bug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Forma libre 455"/>
          <p:cNvSpPr/>
          <p:nvPr/>
        </p:nvSpPr>
        <p:spPr>
          <a:xfrm>
            <a:off x="2866680" y="3495600"/>
            <a:ext cx="1400760" cy="267120"/>
          </a:xfrm>
          <a:custGeom>
            <a:avLst/>
            <a:gdLst/>
            <a:ahLst/>
            <a:cxnLst/>
            <a:rect l="0" t="0" r="r" b="b"/>
            <a:pathLst>
              <a:path w="389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785" y="0"/>
                </a:lnTo>
                <a:cubicBezTo>
                  <a:pt x="3799" y="0"/>
                  <a:pt x="3813" y="2"/>
                  <a:pt x="3825" y="8"/>
                </a:cubicBezTo>
                <a:cubicBezTo>
                  <a:pt x="3838" y="13"/>
                  <a:pt x="3850" y="21"/>
                  <a:pt x="3860" y="31"/>
                </a:cubicBezTo>
                <a:cubicBezTo>
                  <a:pt x="3870" y="41"/>
                  <a:pt x="3877" y="52"/>
                  <a:pt x="3883" y="65"/>
                </a:cubicBezTo>
                <a:cubicBezTo>
                  <a:pt x="3888" y="78"/>
                  <a:pt x="3891" y="92"/>
                  <a:pt x="3891" y="106"/>
                </a:cubicBezTo>
                <a:lnTo>
                  <a:pt x="3891" y="636"/>
                </a:lnTo>
                <a:cubicBezTo>
                  <a:pt x="3891" y="650"/>
                  <a:pt x="3888" y="663"/>
                  <a:pt x="3883" y="676"/>
                </a:cubicBezTo>
                <a:cubicBezTo>
                  <a:pt x="3877" y="689"/>
                  <a:pt x="3870" y="701"/>
                  <a:pt x="3860" y="711"/>
                </a:cubicBezTo>
                <a:cubicBezTo>
                  <a:pt x="3850" y="720"/>
                  <a:pt x="3838" y="728"/>
                  <a:pt x="3825" y="733"/>
                </a:cubicBezTo>
                <a:cubicBezTo>
                  <a:pt x="3813" y="739"/>
                  <a:pt x="3799" y="742"/>
                  <a:pt x="3785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3"/>
                </a:cubicBezTo>
                <a:cubicBezTo>
                  <a:pt x="53" y="728"/>
                  <a:pt x="41" y="720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CuadroTexto 456"/>
          <p:cNvSpPr txBox="1"/>
          <p:nvPr/>
        </p:nvSpPr>
        <p:spPr>
          <a:xfrm>
            <a:off x="2736720" y="34779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CuadroTexto 457"/>
          <p:cNvSpPr txBox="1"/>
          <p:nvPr/>
        </p:nvSpPr>
        <p:spPr>
          <a:xfrm>
            <a:off x="2921040" y="3515400"/>
            <a:ext cx="12927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enhancement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Forma libre 458"/>
          <p:cNvSpPr/>
          <p:nvPr/>
        </p:nvSpPr>
        <p:spPr>
          <a:xfrm>
            <a:off x="4390920" y="349560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805" y="0"/>
                </a:lnTo>
                <a:cubicBezTo>
                  <a:pt x="2819" y="0"/>
                  <a:pt x="2833" y="2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9" y="78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9" y="663"/>
                  <a:pt x="2903" y="676"/>
                </a:cubicBezTo>
                <a:cubicBezTo>
                  <a:pt x="2898" y="689"/>
                  <a:pt x="2890" y="701"/>
                  <a:pt x="2880" y="711"/>
                </a:cubicBezTo>
                <a:cubicBezTo>
                  <a:pt x="2870" y="720"/>
                  <a:pt x="2859" y="728"/>
                  <a:pt x="2846" y="733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3"/>
                </a:cubicBezTo>
                <a:cubicBezTo>
                  <a:pt x="52" y="728"/>
                  <a:pt x="41" y="720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CuadroTexto 459"/>
          <p:cNvSpPr txBox="1"/>
          <p:nvPr/>
        </p:nvSpPr>
        <p:spPr>
          <a:xfrm>
            <a:off x="4265280" y="347796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CuadroTexto 460"/>
          <p:cNvSpPr txBox="1"/>
          <p:nvPr/>
        </p:nvSpPr>
        <p:spPr>
          <a:xfrm>
            <a:off x="4449600" y="351540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question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CuadroTexto 461"/>
          <p:cNvSpPr txBox="1"/>
          <p:nvPr/>
        </p:nvSpPr>
        <p:spPr>
          <a:xfrm>
            <a:off x="5442480" y="3477960"/>
            <a:ext cx="2904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asignado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quién lo lleva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Forma libre 462"/>
          <p:cNvSpPr/>
          <p:nvPr/>
        </p:nvSpPr>
        <p:spPr>
          <a:xfrm>
            <a:off x="666720" y="4733640"/>
            <a:ext cx="1171800" cy="267120"/>
          </a:xfrm>
          <a:custGeom>
            <a:avLst/>
            <a:gdLst/>
            <a:ahLst/>
            <a:cxnLst/>
            <a:rect l="0" t="0" r="r" b="b"/>
            <a:pathLst>
              <a:path w="325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149" y="0"/>
                </a:lnTo>
                <a:cubicBezTo>
                  <a:pt x="3163" y="0"/>
                  <a:pt x="3177" y="3"/>
                  <a:pt x="3190" y="8"/>
                </a:cubicBezTo>
                <a:cubicBezTo>
                  <a:pt x="3203" y="14"/>
                  <a:pt x="3214" y="21"/>
                  <a:pt x="3224" y="31"/>
                </a:cubicBezTo>
                <a:cubicBezTo>
                  <a:pt x="3234" y="41"/>
                  <a:pt x="3242" y="53"/>
                  <a:pt x="3247" y="66"/>
                </a:cubicBezTo>
                <a:cubicBezTo>
                  <a:pt x="3252" y="79"/>
                  <a:pt x="3255" y="92"/>
                  <a:pt x="3255" y="106"/>
                </a:cubicBezTo>
                <a:lnTo>
                  <a:pt x="3255" y="636"/>
                </a:lnTo>
                <a:cubicBezTo>
                  <a:pt x="3255" y="650"/>
                  <a:pt x="3252" y="664"/>
                  <a:pt x="3247" y="677"/>
                </a:cubicBezTo>
                <a:cubicBezTo>
                  <a:pt x="3242" y="690"/>
                  <a:pt x="3234" y="701"/>
                  <a:pt x="3224" y="711"/>
                </a:cubicBezTo>
                <a:cubicBezTo>
                  <a:pt x="3214" y="721"/>
                  <a:pt x="3203" y="729"/>
                  <a:pt x="3190" y="734"/>
                </a:cubicBezTo>
                <a:cubicBezTo>
                  <a:pt x="3177" y="739"/>
                  <a:pt x="3163" y="742"/>
                  <a:pt x="3149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CuadroTexto 463"/>
          <p:cNvSpPr txBox="1"/>
          <p:nvPr/>
        </p:nvSpPr>
        <p:spPr>
          <a:xfrm>
            <a:off x="866880" y="4118400"/>
            <a:ext cx="64425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git commit -m "fix: excluir menores del conteo (fixes #12)"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CuadroTexto 464"/>
          <p:cNvSpPr txBox="1"/>
          <p:nvPr/>
        </p:nvSpPr>
        <p:spPr>
          <a:xfrm>
            <a:off x="723960" y="475380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fixes #12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CuadroTexto 465"/>
          <p:cNvSpPr txBox="1"/>
          <p:nvPr/>
        </p:nvSpPr>
        <p:spPr>
          <a:xfrm>
            <a:off x="1833840" y="4716360"/>
            <a:ext cx="9057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en el commit o en el PR cierra el issue automáticamente al hacer merge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deja el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CuadroTexto 466"/>
          <p:cNvSpPr txBox="1"/>
          <p:nvPr/>
        </p:nvSpPr>
        <p:spPr>
          <a:xfrm>
            <a:off x="666720" y="5059080"/>
            <a:ext cx="11484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enlace bug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CuadroTexto 467"/>
          <p:cNvSpPr txBox="1"/>
          <p:nvPr/>
        </p:nvSpPr>
        <p:spPr>
          <a:xfrm>
            <a:off x="1814400" y="50698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CuadroTexto 468"/>
          <p:cNvSpPr txBox="1"/>
          <p:nvPr/>
        </p:nvSpPr>
        <p:spPr>
          <a:xfrm>
            <a:off x="2043000" y="5059080"/>
            <a:ext cx="105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discusión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CuadroTexto 469"/>
          <p:cNvSpPr txBox="1"/>
          <p:nvPr/>
        </p:nvSpPr>
        <p:spPr>
          <a:xfrm>
            <a:off x="3097080" y="506988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CuadroTexto 470"/>
          <p:cNvSpPr txBox="1"/>
          <p:nvPr/>
        </p:nvSpPr>
        <p:spPr>
          <a:xfrm>
            <a:off x="3325680" y="5059080"/>
            <a:ext cx="2211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código que lo arregló.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CuadroTexto 47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CuadroTexto 47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CuadroTexto 47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Forma libre 64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Forma libre 6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Forma libre 6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Forma libre 643"/>
          <p:cNvSpPr/>
          <p:nvPr/>
        </p:nvSpPr>
        <p:spPr>
          <a:xfrm>
            <a:off x="671400" y="194760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19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19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Forma libre 644"/>
          <p:cNvSpPr/>
          <p:nvPr/>
        </p:nvSpPr>
        <p:spPr>
          <a:xfrm>
            <a:off x="671400" y="1947600"/>
            <a:ext cx="10849320" cy="1895760"/>
          </a:xfrm>
          <a:custGeom>
            <a:avLst/>
            <a:gdLst/>
            <a:ahLst/>
            <a:cxnLst/>
            <a:rect l="0" t="0" r="r" b="b"/>
            <a:pathLst>
              <a:path w="30137" h="5266">
                <a:moveTo>
                  <a:pt x="0" y="506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5068"/>
                </a:lnTo>
                <a:cubicBezTo>
                  <a:pt x="30137" y="5081"/>
                  <a:pt x="30136" y="5094"/>
                  <a:pt x="30133" y="5107"/>
                </a:cubicBezTo>
                <a:cubicBezTo>
                  <a:pt x="30130" y="5119"/>
                  <a:pt x="30127" y="5132"/>
                  <a:pt x="30122" y="5144"/>
                </a:cubicBezTo>
                <a:cubicBezTo>
                  <a:pt x="30117" y="5156"/>
                  <a:pt x="30111" y="5167"/>
                  <a:pt x="30103" y="5178"/>
                </a:cubicBezTo>
                <a:cubicBezTo>
                  <a:pt x="30096" y="5189"/>
                  <a:pt x="30088" y="5199"/>
                  <a:pt x="30079" y="5208"/>
                </a:cubicBezTo>
                <a:cubicBezTo>
                  <a:pt x="30070" y="5218"/>
                  <a:pt x="30059" y="5226"/>
                  <a:pt x="30049" y="5233"/>
                </a:cubicBezTo>
                <a:cubicBezTo>
                  <a:pt x="30038" y="5240"/>
                  <a:pt x="30026" y="5246"/>
                  <a:pt x="30014" y="5251"/>
                </a:cubicBezTo>
                <a:cubicBezTo>
                  <a:pt x="30002" y="5256"/>
                  <a:pt x="29990" y="5260"/>
                  <a:pt x="29977" y="5263"/>
                </a:cubicBezTo>
                <a:cubicBezTo>
                  <a:pt x="29964" y="5265"/>
                  <a:pt x="29951" y="5266"/>
                  <a:pt x="29938" y="5266"/>
                </a:cubicBezTo>
                <a:lnTo>
                  <a:pt x="198" y="5266"/>
                </a:lnTo>
                <a:cubicBezTo>
                  <a:pt x="185" y="5266"/>
                  <a:pt x="172" y="5265"/>
                  <a:pt x="160" y="5263"/>
                </a:cubicBezTo>
                <a:cubicBezTo>
                  <a:pt x="147" y="5260"/>
                  <a:pt x="134" y="5256"/>
                  <a:pt x="122" y="5251"/>
                </a:cubicBezTo>
                <a:cubicBezTo>
                  <a:pt x="110" y="5246"/>
                  <a:pt x="99" y="5240"/>
                  <a:pt x="88" y="5233"/>
                </a:cubicBezTo>
                <a:cubicBezTo>
                  <a:pt x="77" y="5226"/>
                  <a:pt x="67" y="5218"/>
                  <a:pt x="58" y="5208"/>
                </a:cubicBezTo>
                <a:cubicBezTo>
                  <a:pt x="49" y="5199"/>
                  <a:pt x="40" y="5189"/>
                  <a:pt x="33" y="5178"/>
                </a:cubicBezTo>
                <a:cubicBezTo>
                  <a:pt x="26" y="5167"/>
                  <a:pt x="20" y="5156"/>
                  <a:pt x="15" y="5144"/>
                </a:cubicBezTo>
                <a:cubicBezTo>
                  <a:pt x="10" y="5132"/>
                  <a:pt x="6" y="5119"/>
                  <a:pt x="4" y="5107"/>
                </a:cubicBezTo>
                <a:cubicBezTo>
                  <a:pt x="1" y="5094"/>
                  <a:pt x="0" y="5081"/>
                  <a:pt x="0" y="506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Forma libre 645"/>
          <p:cNvSpPr/>
          <p:nvPr/>
        </p:nvSpPr>
        <p:spPr>
          <a:xfrm>
            <a:off x="690480" y="4495680"/>
            <a:ext cx="10834920" cy="1067040"/>
          </a:xfrm>
          <a:custGeom>
            <a:avLst/>
            <a:gdLst/>
            <a:ahLst/>
            <a:cxnLst/>
            <a:rect l="0" t="0" r="r" b="b"/>
            <a:pathLst>
              <a:path w="30097" h="2964">
                <a:moveTo>
                  <a:pt x="0" y="2964"/>
                </a:moveTo>
                <a:lnTo>
                  <a:pt x="0" y="0"/>
                </a:lnTo>
                <a:lnTo>
                  <a:pt x="29938" y="0"/>
                </a:lnTo>
                <a:cubicBezTo>
                  <a:pt x="29949" y="0"/>
                  <a:pt x="29959" y="1"/>
                  <a:pt x="29969" y="3"/>
                </a:cubicBezTo>
                <a:cubicBezTo>
                  <a:pt x="29980" y="5"/>
                  <a:pt x="29989" y="8"/>
                  <a:pt x="29999" y="12"/>
                </a:cubicBezTo>
                <a:cubicBezTo>
                  <a:pt x="30009" y="16"/>
                  <a:pt x="30018" y="21"/>
                  <a:pt x="30027" y="27"/>
                </a:cubicBezTo>
                <a:cubicBezTo>
                  <a:pt x="30035" y="32"/>
                  <a:pt x="30043" y="39"/>
                  <a:pt x="30051" y="46"/>
                </a:cubicBezTo>
                <a:cubicBezTo>
                  <a:pt x="30058" y="54"/>
                  <a:pt x="30065" y="62"/>
                  <a:pt x="30070" y="70"/>
                </a:cubicBezTo>
                <a:cubicBezTo>
                  <a:pt x="30076" y="79"/>
                  <a:pt x="30081" y="88"/>
                  <a:pt x="30085" y="98"/>
                </a:cubicBezTo>
                <a:cubicBezTo>
                  <a:pt x="30089" y="107"/>
                  <a:pt x="30092" y="117"/>
                  <a:pt x="30094" y="128"/>
                </a:cubicBezTo>
                <a:cubicBezTo>
                  <a:pt x="30096" y="138"/>
                  <a:pt x="30097" y="148"/>
                  <a:pt x="30097" y="159"/>
                </a:cubicBezTo>
                <a:lnTo>
                  <a:pt x="30097" y="2805"/>
                </a:lnTo>
                <a:cubicBezTo>
                  <a:pt x="30097" y="2816"/>
                  <a:pt x="30096" y="2826"/>
                  <a:pt x="30094" y="2836"/>
                </a:cubicBezTo>
                <a:cubicBezTo>
                  <a:pt x="30092" y="2847"/>
                  <a:pt x="30089" y="2857"/>
                  <a:pt x="30085" y="2866"/>
                </a:cubicBezTo>
                <a:cubicBezTo>
                  <a:pt x="30081" y="2876"/>
                  <a:pt x="30076" y="2885"/>
                  <a:pt x="30070" y="2894"/>
                </a:cubicBezTo>
                <a:cubicBezTo>
                  <a:pt x="30065" y="2902"/>
                  <a:pt x="30058" y="2910"/>
                  <a:pt x="30051" y="2918"/>
                </a:cubicBezTo>
                <a:cubicBezTo>
                  <a:pt x="30043" y="2925"/>
                  <a:pt x="30035" y="2932"/>
                  <a:pt x="30027" y="2937"/>
                </a:cubicBezTo>
                <a:cubicBezTo>
                  <a:pt x="30018" y="2943"/>
                  <a:pt x="30009" y="2948"/>
                  <a:pt x="29999" y="2952"/>
                </a:cubicBezTo>
                <a:cubicBezTo>
                  <a:pt x="29989" y="2956"/>
                  <a:pt x="29980" y="2959"/>
                  <a:pt x="29969" y="2961"/>
                </a:cubicBezTo>
                <a:cubicBezTo>
                  <a:pt x="29959" y="2963"/>
                  <a:pt x="29949" y="2964"/>
                  <a:pt x="29938" y="2964"/>
                </a:cubicBezTo>
                <a:lnTo>
                  <a:pt x="0" y="2964"/>
                </a:lnTo>
                <a:close/>
              </a:path>
            </a:pathLst>
          </a:custGeom>
          <a:solidFill>
            <a:srgbClr val="FFF6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Forma libre 646"/>
          <p:cNvSpPr/>
          <p:nvPr/>
        </p:nvSpPr>
        <p:spPr>
          <a:xfrm>
            <a:off x="666720" y="4495680"/>
            <a:ext cx="47880" cy="1067040"/>
          </a:xfrm>
          <a:custGeom>
            <a:avLst/>
            <a:gdLst/>
            <a:ahLst/>
            <a:cxnLst/>
            <a:rect l="0" t="0" r="r" b="b"/>
            <a:pathLst>
              <a:path w="133" h="2964">
                <a:moveTo>
                  <a:pt x="0" y="0"/>
                </a:moveTo>
                <a:lnTo>
                  <a:pt x="133" y="0"/>
                </a:lnTo>
                <a:lnTo>
                  <a:pt x="133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CuadroTexto 647"/>
          <p:cNvSpPr txBox="1"/>
          <p:nvPr/>
        </p:nvSpPr>
        <p:spPr>
          <a:xfrm>
            <a:off x="666720" y="1311120"/>
            <a:ext cx="5701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pull request: colaboración con revisión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CuadroTexto 648"/>
          <p:cNvSpPr txBox="1"/>
          <p:nvPr/>
        </p:nvSpPr>
        <p:spPr>
          <a:xfrm>
            <a:off x="866880" y="2127600"/>
            <a:ext cx="5787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1. rama nueva        git switch -c fix-conteo-cohorte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CuadroTexto 649"/>
          <p:cNvSpPr txBox="1"/>
          <p:nvPr/>
        </p:nvSpPr>
        <p:spPr>
          <a:xfrm>
            <a:off x="866880" y="2394360"/>
            <a:ext cx="40406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2. commits           (trabajo normal)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CuadroTexto 650"/>
          <p:cNvSpPr txBox="1"/>
          <p:nvPr/>
        </p:nvSpPr>
        <p:spPr>
          <a:xfrm>
            <a:off x="866880" y="265140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3. subir la rama     git push -u origin fix-conteo-cohorte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CuadroTexto 651"/>
          <p:cNvSpPr txBox="1"/>
          <p:nvPr/>
        </p:nvSpPr>
        <p:spPr>
          <a:xfrm>
            <a:off x="866880" y="291816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4. abrir PR          en GitHub: "quiero fusionar esto a main"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CuadroTexto 652"/>
          <p:cNvSpPr txBox="1"/>
          <p:nvPr/>
        </p:nvSpPr>
        <p:spPr>
          <a:xfrm>
            <a:off x="866880" y="317520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5. revisión          un colega comenta, pides cambios, iteras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CuadroTexto 653"/>
          <p:cNvSpPr txBox="1"/>
          <p:nvPr/>
        </p:nvSpPr>
        <p:spPr>
          <a:xfrm>
            <a:off x="866880" y="3441960"/>
            <a:ext cx="60058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6. merge             el código entra a main YA REVISADO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CuadroTexto 657"/>
          <p:cNvSpPr txBox="1"/>
          <p:nvPr/>
        </p:nvSpPr>
        <p:spPr>
          <a:xfrm>
            <a:off x="885960" y="4649760"/>
            <a:ext cx="10248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la industria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nada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entra a main sin pasar por un PR con revisión. En el laboratorio del PR es donde de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CuadroTexto 658"/>
          <p:cNvSpPr txBox="1"/>
          <p:nvPr/>
        </p:nvSpPr>
        <p:spPr>
          <a:xfrm>
            <a:off x="885960" y="4992480"/>
            <a:ext cx="9943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verdad se aprende: la primera revisión de código que recibas te va a enseñar más que tres tutoriales.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CuadroTexto 65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CuadroTexto 66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Forma libre 47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Forma libre 4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Forma libre 4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Forma libre 477"/>
          <p:cNvSpPr/>
          <p:nvPr/>
        </p:nvSpPr>
        <p:spPr>
          <a:xfrm>
            <a:off x="671400" y="169056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Forma libre 478"/>
          <p:cNvSpPr/>
          <p:nvPr/>
        </p:nvSpPr>
        <p:spPr>
          <a:xfrm>
            <a:off x="671400" y="1690560"/>
            <a:ext cx="10849320" cy="581400"/>
          </a:xfrm>
          <a:custGeom>
            <a:avLst/>
            <a:gdLst/>
            <a:ahLst/>
            <a:cxnLst/>
            <a:rect l="0" t="0" r="r" b="b"/>
            <a:pathLst>
              <a:path w="30137" h="1615">
                <a:moveTo>
                  <a:pt x="0" y="1416"/>
                </a:moveTo>
                <a:lnTo>
                  <a:pt x="0" y="198"/>
                </a:lnTo>
                <a:cubicBezTo>
                  <a:pt x="0" y="185"/>
                  <a:pt x="1" y="172"/>
                  <a:pt x="4" y="160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60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1416"/>
                </a:lnTo>
                <a:cubicBezTo>
                  <a:pt x="30137" y="1429"/>
                  <a:pt x="30136" y="1442"/>
                  <a:pt x="30133" y="1455"/>
                </a:cubicBezTo>
                <a:cubicBezTo>
                  <a:pt x="30130" y="1468"/>
                  <a:pt x="30127" y="1480"/>
                  <a:pt x="30122" y="1492"/>
                </a:cubicBezTo>
                <a:cubicBezTo>
                  <a:pt x="30117" y="1504"/>
                  <a:pt x="30111" y="1516"/>
                  <a:pt x="30103" y="1527"/>
                </a:cubicBezTo>
                <a:cubicBezTo>
                  <a:pt x="30096" y="1537"/>
                  <a:pt x="30088" y="1547"/>
                  <a:pt x="30079" y="1557"/>
                </a:cubicBezTo>
                <a:cubicBezTo>
                  <a:pt x="30070" y="1566"/>
                  <a:pt x="30059" y="1574"/>
                  <a:pt x="30049" y="1581"/>
                </a:cubicBezTo>
                <a:cubicBezTo>
                  <a:pt x="30038" y="1589"/>
                  <a:pt x="30026" y="1595"/>
                  <a:pt x="30014" y="1600"/>
                </a:cubicBezTo>
                <a:cubicBezTo>
                  <a:pt x="30002" y="1605"/>
                  <a:pt x="29990" y="1608"/>
                  <a:pt x="29977" y="1611"/>
                </a:cubicBezTo>
                <a:cubicBezTo>
                  <a:pt x="29964" y="1614"/>
                  <a:pt x="29951" y="1615"/>
                  <a:pt x="29938" y="1615"/>
                </a:cubicBezTo>
                <a:lnTo>
                  <a:pt x="198" y="1615"/>
                </a:lnTo>
                <a:cubicBezTo>
                  <a:pt x="185" y="1615"/>
                  <a:pt x="172" y="1614"/>
                  <a:pt x="160" y="1611"/>
                </a:cubicBezTo>
                <a:cubicBezTo>
                  <a:pt x="147" y="1608"/>
                  <a:pt x="134" y="1605"/>
                  <a:pt x="122" y="1600"/>
                </a:cubicBezTo>
                <a:cubicBezTo>
                  <a:pt x="110" y="1595"/>
                  <a:pt x="99" y="1589"/>
                  <a:pt x="88" y="1581"/>
                </a:cubicBezTo>
                <a:cubicBezTo>
                  <a:pt x="77" y="1574"/>
                  <a:pt x="67" y="1566"/>
                  <a:pt x="58" y="1557"/>
                </a:cubicBezTo>
                <a:cubicBezTo>
                  <a:pt x="49" y="1547"/>
                  <a:pt x="40" y="1537"/>
                  <a:pt x="33" y="1527"/>
                </a:cubicBezTo>
                <a:cubicBezTo>
                  <a:pt x="26" y="1516"/>
                  <a:pt x="20" y="1504"/>
                  <a:pt x="15" y="1492"/>
                </a:cubicBezTo>
                <a:cubicBezTo>
                  <a:pt x="10" y="1480"/>
                  <a:pt x="6" y="1468"/>
                  <a:pt x="4" y="1455"/>
                </a:cubicBezTo>
                <a:cubicBezTo>
                  <a:pt x="1" y="1442"/>
                  <a:pt x="0" y="1429"/>
                  <a:pt x="0" y="141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Forma libre 479"/>
          <p:cNvSpPr/>
          <p:nvPr/>
        </p:nvSpPr>
        <p:spPr>
          <a:xfrm>
            <a:off x="666720" y="44100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Forma libre 480"/>
          <p:cNvSpPr/>
          <p:nvPr/>
        </p:nvSpPr>
        <p:spPr>
          <a:xfrm>
            <a:off x="666720" y="44100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CuadroTexto 481"/>
          <p:cNvSpPr txBox="1"/>
          <p:nvPr/>
        </p:nvSpPr>
        <p:spPr>
          <a:xfrm>
            <a:off x="666720" y="1053720"/>
            <a:ext cx="3651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PR nace borrador: draft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Forma libre 482"/>
          <p:cNvSpPr/>
          <p:nvPr/>
        </p:nvSpPr>
        <p:spPr>
          <a:xfrm>
            <a:off x="914040" y="2581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CuadroTexto 483"/>
          <p:cNvSpPr txBox="1"/>
          <p:nvPr/>
        </p:nvSpPr>
        <p:spPr>
          <a:xfrm>
            <a:off x="866880" y="1870560"/>
            <a:ext cx="5678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Draft PR  →  Ready for review  →  revisión  →  merge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CuadroTexto 484"/>
          <p:cNvSpPr txBox="1"/>
          <p:nvPr/>
        </p:nvSpPr>
        <p:spPr>
          <a:xfrm>
            <a:off x="1123920" y="2468520"/>
            <a:ext cx="10173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Draft = "esto no está listo, pero quiero que se vea venir"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Corre el CI, se puede comentar, pero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Forma libre 485"/>
          <p:cNvSpPr/>
          <p:nvPr/>
        </p:nvSpPr>
        <p:spPr>
          <a:xfrm>
            <a:off x="914040" y="3323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CuadroTexto 486"/>
          <p:cNvSpPr txBox="1"/>
          <p:nvPr/>
        </p:nvSpPr>
        <p:spPr>
          <a:xfrm>
            <a:off x="1123920" y="2811240"/>
            <a:ext cx="1977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puede mergear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Forma libre 487"/>
          <p:cNvSpPr/>
          <p:nvPr/>
        </p:nvSpPr>
        <p:spPr>
          <a:xfrm>
            <a:off x="914040" y="3724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CuadroTexto 488"/>
          <p:cNvSpPr txBox="1"/>
          <p:nvPr/>
        </p:nvSpPr>
        <p:spPr>
          <a:xfrm>
            <a:off x="1123920" y="3211200"/>
            <a:ext cx="5496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Al terminar: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"Ready for review"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y ahí sí pides revisores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CuadroTexto 489"/>
          <p:cNvSpPr txBox="1"/>
          <p:nvPr/>
        </p:nvSpPr>
        <p:spPr>
          <a:xfrm>
            <a:off x="1123920" y="3611520"/>
            <a:ext cx="9879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Abrir el draft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temprano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(con el primer commit) hace visible el trabajo y evita el PR sorpresa de 2 000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CuadroTexto 490"/>
          <p:cNvSpPr txBox="1"/>
          <p:nvPr/>
        </p:nvSpPr>
        <p:spPr>
          <a:xfrm>
            <a:off x="1123920" y="3954240"/>
            <a:ext cx="55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líneas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CuadroTexto 491"/>
          <p:cNvSpPr txBox="1"/>
          <p:nvPr/>
        </p:nvSpPr>
        <p:spPr>
          <a:xfrm>
            <a:off x="905040" y="4564080"/>
            <a:ext cx="10432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El PR gigante no se puede revisar bien. Regla práctica: si pasa de ~400 líneas cambiadas, probablemente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CuadroTexto 492"/>
          <p:cNvSpPr txBox="1"/>
          <p:nvPr/>
        </p:nvSpPr>
        <p:spPr>
          <a:xfrm>
            <a:off x="905040" y="4906800"/>
            <a:ext cx="1325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son dos PRs.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CuadroTexto 49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CuadroTexto 49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CuadroTexto 49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Forma libre 4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Forma libre 5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Forma libre 5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Forma libre 502"/>
          <p:cNvSpPr/>
          <p:nvPr/>
        </p:nvSpPr>
        <p:spPr>
          <a:xfrm>
            <a:off x="671400" y="23097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Forma libre 503"/>
          <p:cNvSpPr/>
          <p:nvPr/>
        </p:nvSpPr>
        <p:spPr>
          <a:xfrm>
            <a:off x="671400" y="2309760"/>
            <a:ext cx="10849320" cy="1105200"/>
          </a:xfrm>
          <a:custGeom>
            <a:avLst/>
            <a:gdLst/>
            <a:ahLst/>
            <a:cxnLst/>
            <a:rect l="0" t="0" r="r" b="b"/>
            <a:pathLst>
              <a:path w="30137" h="3070">
                <a:moveTo>
                  <a:pt x="0" y="2871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7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2871"/>
                </a:lnTo>
                <a:cubicBezTo>
                  <a:pt x="30137" y="2884"/>
                  <a:pt x="30136" y="2897"/>
                  <a:pt x="30133" y="2910"/>
                </a:cubicBezTo>
                <a:cubicBezTo>
                  <a:pt x="30130" y="2923"/>
                  <a:pt x="30127" y="2935"/>
                  <a:pt x="30122" y="2947"/>
                </a:cubicBezTo>
                <a:cubicBezTo>
                  <a:pt x="30117" y="2959"/>
                  <a:pt x="30111" y="2971"/>
                  <a:pt x="30103" y="2982"/>
                </a:cubicBezTo>
                <a:cubicBezTo>
                  <a:pt x="30096" y="2992"/>
                  <a:pt x="30088" y="3002"/>
                  <a:pt x="30079" y="3012"/>
                </a:cubicBezTo>
                <a:cubicBezTo>
                  <a:pt x="30070" y="3021"/>
                  <a:pt x="30059" y="3029"/>
                  <a:pt x="30049" y="3036"/>
                </a:cubicBezTo>
                <a:cubicBezTo>
                  <a:pt x="30038" y="3044"/>
                  <a:pt x="30026" y="3050"/>
                  <a:pt x="30014" y="3055"/>
                </a:cubicBezTo>
                <a:cubicBezTo>
                  <a:pt x="30002" y="3060"/>
                  <a:pt x="29990" y="3063"/>
                  <a:pt x="29977" y="3066"/>
                </a:cubicBezTo>
                <a:cubicBezTo>
                  <a:pt x="29964" y="3069"/>
                  <a:pt x="29951" y="3070"/>
                  <a:pt x="29938" y="3070"/>
                </a:cubicBezTo>
                <a:lnTo>
                  <a:pt x="198" y="3070"/>
                </a:lnTo>
                <a:cubicBezTo>
                  <a:pt x="185" y="3070"/>
                  <a:pt x="172" y="3069"/>
                  <a:pt x="160" y="3066"/>
                </a:cubicBezTo>
                <a:cubicBezTo>
                  <a:pt x="147" y="3063"/>
                  <a:pt x="134" y="3060"/>
                  <a:pt x="122" y="3055"/>
                </a:cubicBezTo>
                <a:cubicBezTo>
                  <a:pt x="110" y="3050"/>
                  <a:pt x="99" y="3044"/>
                  <a:pt x="88" y="3036"/>
                </a:cubicBezTo>
                <a:cubicBezTo>
                  <a:pt x="77" y="3029"/>
                  <a:pt x="67" y="3021"/>
                  <a:pt x="58" y="3012"/>
                </a:cubicBezTo>
                <a:cubicBezTo>
                  <a:pt x="49" y="3002"/>
                  <a:pt x="40" y="2992"/>
                  <a:pt x="33" y="2982"/>
                </a:cubicBezTo>
                <a:cubicBezTo>
                  <a:pt x="26" y="2971"/>
                  <a:pt x="20" y="2959"/>
                  <a:pt x="15" y="2947"/>
                </a:cubicBezTo>
                <a:cubicBezTo>
                  <a:pt x="10" y="2935"/>
                  <a:pt x="6" y="2923"/>
                  <a:pt x="4" y="2910"/>
                </a:cubicBezTo>
                <a:cubicBezTo>
                  <a:pt x="1" y="2897"/>
                  <a:pt x="0" y="2884"/>
                  <a:pt x="0" y="287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CuadroTexto 504"/>
          <p:cNvSpPr txBox="1"/>
          <p:nvPr/>
        </p:nvSpPr>
        <p:spPr>
          <a:xfrm>
            <a:off x="666720" y="825120"/>
            <a:ext cx="3638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Solicitar y dar una revisión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666720" y="1506240"/>
            <a:ext cx="3108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Pedirla: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en el PR, «Reviewers»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CuadroTexto 506"/>
          <p:cNvSpPr txBox="1"/>
          <p:nvPr/>
        </p:nvSpPr>
        <p:spPr>
          <a:xfrm>
            <a:off x="3774600" y="1517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Forma libre 507"/>
          <p:cNvSpPr/>
          <p:nvPr/>
        </p:nvSpPr>
        <p:spPr>
          <a:xfrm>
            <a:off x="7086240" y="152388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3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1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1" y="663"/>
                  <a:pt x="3565" y="676"/>
                </a:cubicBezTo>
                <a:cubicBezTo>
                  <a:pt x="3560" y="689"/>
                  <a:pt x="3552" y="701"/>
                  <a:pt x="3542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CuadroTexto 508"/>
          <p:cNvSpPr txBox="1"/>
          <p:nvPr/>
        </p:nvSpPr>
        <p:spPr>
          <a:xfrm>
            <a:off x="4003200" y="1506240"/>
            <a:ext cx="308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eliges a quién. Con un archivo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CuadroTexto 509"/>
          <p:cNvSpPr txBox="1"/>
          <p:nvPr/>
        </p:nvSpPr>
        <p:spPr>
          <a:xfrm>
            <a:off x="7143480" y="154368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CODEOWNERS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CuadroTexto 510"/>
          <p:cNvSpPr txBox="1"/>
          <p:nvPr/>
        </p:nvSpPr>
        <p:spPr>
          <a:xfrm>
            <a:off x="8370720" y="1506240"/>
            <a:ext cx="2787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asignación es automática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CuadroTexto 511"/>
          <p:cNvSpPr txBox="1"/>
          <p:nvPr/>
        </p:nvSpPr>
        <p:spPr>
          <a:xfrm>
            <a:off x="666720" y="1849320"/>
            <a:ext cx="839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por ruta: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CuadroTexto 512"/>
          <p:cNvSpPr txBox="1"/>
          <p:nvPr/>
        </p:nvSpPr>
        <p:spPr>
          <a:xfrm>
            <a:off x="866880" y="2489400"/>
            <a:ext cx="2184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# .github/CODEOWNERS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CuadroTexto 513"/>
          <p:cNvSpPr txBox="1"/>
          <p:nvPr/>
        </p:nvSpPr>
        <p:spPr>
          <a:xfrm>
            <a:off x="866880" y="2756160"/>
            <a:ext cx="3494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/sql/        @quien-sabe-de-omop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CuadroTexto 514"/>
          <p:cNvSpPr txBox="1"/>
          <p:nvPr/>
        </p:nvSpPr>
        <p:spPr>
          <a:xfrm>
            <a:off x="866880" y="3013560"/>
            <a:ext cx="3822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/src/ml/     @quien-sabe-de-modelos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Forma libre 515"/>
          <p:cNvSpPr/>
          <p:nvPr/>
        </p:nvSpPr>
        <p:spPr>
          <a:xfrm>
            <a:off x="914040" y="421956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6"/>
                </a:cubicBezTo>
                <a:cubicBezTo>
                  <a:pt x="200" y="159"/>
                  <a:pt x="192" y="170"/>
                  <a:pt x="182" y="180"/>
                </a:cubicBezTo>
                <a:cubicBezTo>
                  <a:pt x="172" y="190"/>
                  <a:pt x="161" y="198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8"/>
                  <a:pt x="41" y="190"/>
                  <a:pt x="31" y="180"/>
                </a:cubicBezTo>
                <a:cubicBezTo>
                  <a:pt x="22" y="170"/>
                  <a:pt x="14" y="159"/>
                  <a:pt x="9" y="146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0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CuadroTexto 516"/>
          <p:cNvSpPr txBox="1"/>
          <p:nvPr/>
        </p:nvSpPr>
        <p:spPr>
          <a:xfrm>
            <a:off x="666720" y="3611520"/>
            <a:ext cx="6056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Darla: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comentas líneas concretas, y cierras con un veredicto: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Forma libre 517"/>
          <p:cNvSpPr/>
          <p:nvPr/>
        </p:nvSpPr>
        <p:spPr>
          <a:xfrm>
            <a:off x="914040" y="461952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CuadroTexto 518"/>
          <p:cNvSpPr txBox="1"/>
          <p:nvPr/>
        </p:nvSpPr>
        <p:spPr>
          <a:xfrm>
            <a:off x="1123920" y="4106880"/>
            <a:ext cx="4115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Comment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observaciones sin bloquear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Forma libre 519"/>
          <p:cNvSpPr/>
          <p:nvPr/>
        </p:nvSpPr>
        <p:spPr>
          <a:xfrm>
            <a:off x="914040" y="50194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CuadroTexto 520"/>
          <p:cNvSpPr txBox="1"/>
          <p:nvPr/>
        </p:nvSpPr>
        <p:spPr>
          <a:xfrm>
            <a:off x="1123920" y="4506840"/>
            <a:ext cx="3015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Approve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esto puede entrar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CuadroTexto 521"/>
          <p:cNvSpPr txBox="1"/>
          <p:nvPr/>
        </p:nvSpPr>
        <p:spPr>
          <a:xfrm>
            <a:off x="1123920" y="4906800"/>
            <a:ext cx="6157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Request changes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esto no entra hasta resolver lo marcado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Forma libre 522"/>
          <p:cNvSpPr/>
          <p:nvPr/>
        </p:nvSpPr>
        <p:spPr>
          <a:xfrm>
            <a:off x="2800080" y="541944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8"/>
                </a:cubicBezTo>
                <a:cubicBezTo>
                  <a:pt x="3521" y="14"/>
                  <a:pt x="3532" y="21"/>
                  <a:pt x="3542" y="31"/>
                </a:cubicBezTo>
                <a:cubicBezTo>
                  <a:pt x="3552" y="41"/>
                  <a:pt x="3560" y="53"/>
                  <a:pt x="3565" y="66"/>
                </a:cubicBezTo>
                <a:cubicBezTo>
                  <a:pt x="3570" y="79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9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CuadroTexto 523"/>
          <p:cNvSpPr txBox="1"/>
          <p:nvPr/>
        </p:nvSpPr>
        <p:spPr>
          <a:xfrm>
            <a:off x="666720" y="5402160"/>
            <a:ext cx="2134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comentarios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CuadroTexto 524"/>
          <p:cNvSpPr txBox="1"/>
          <p:nvPr/>
        </p:nvSpPr>
        <p:spPr>
          <a:xfrm>
            <a:off x="2858400" y="543960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suggestion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CuadroTexto 525"/>
          <p:cNvSpPr txBox="1"/>
          <p:nvPr/>
        </p:nvSpPr>
        <p:spPr>
          <a:xfrm>
            <a:off x="4085280" y="5402160"/>
            <a:ext cx="7196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proponen el cambio exacto: el autor lo acepta con un clic y queda como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CuadroTexto 526"/>
          <p:cNvSpPr txBox="1"/>
          <p:nvPr/>
        </p:nvSpPr>
        <p:spPr>
          <a:xfrm>
            <a:off x="666720" y="5744880"/>
            <a:ext cx="8010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commit.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CuadroTexto 52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CuadroTexto 52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CuadroTexto 52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Forma libre 53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Forma libre 5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Forma libre 5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Forma libre 533"/>
          <p:cNvSpPr/>
          <p:nvPr/>
        </p:nvSpPr>
        <p:spPr>
          <a:xfrm>
            <a:off x="676080" y="2447640"/>
            <a:ext cx="2095920" cy="410040"/>
          </a:xfrm>
          <a:custGeom>
            <a:avLst/>
            <a:gdLst/>
            <a:ahLst/>
            <a:cxnLst/>
            <a:rect l="0" t="0" r="r" b="b"/>
            <a:pathLst>
              <a:path w="5822" h="1139">
                <a:moveTo>
                  <a:pt x="0" y="0"/>
                </a:moveTo>
                <a:lnTo>
                  <a:pt x="5822" y="0"/>
                </a:lnTo>
                <a:lnTo>
                  <a:pt x="582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Forma libre 534"/>
          <p:cNvSpPr/>
          <p:nvPr/>
        </p:nvSpPr>
        <p:spPr>
          <a:xfrm>
            <a:off x="2771640" y="2447640"/>
            <a:ext cx="4229280" cy="410040"/>
          </a:xfrm>
          <a:custGeom>
            <a:avLst/>
            <a:gdLst/>
            <a:ahLst/>
            <a:cxnLst/>
            <a:rect l="0" t="0" r="r" b="b"/>
            <a:pathLst>
              <a:path w="11748" h="1139">
                <a:moveTo>
                  <a:pt x="0" y="0"/>
                </a:moveTo>
                <a:lnTo>
                  <a:pt x="11748" y="0"/>
                </a:lnTo>
                <a:lnTo>
                  <a:pt x="1174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Forma libre 535"/>
          <p:cNvSpPr/>
          <p:nvPr/>
        </p:nvSpPr>
        <p:spPr>
          <a:xfrm>
            <a:off x="676080" y="2447640"/>
            <a:ext cx="2095920" cy="410040"/>
          </a:xfrm>
          <a:custGeom>
            <a:avLst/>
            <a:gdLst/>
            <a:ahLst/>
            <a:cxnLst/>
            <a:rect l="0" t="0" r="r" b="b"/>
            <a:pathLst>
              <a:path w="5822" h="1139">
                <a:moveTo>
                  <a:pt x="0" y="0"/>
                </a:moveTo>
                <a:lnTo>
                  <a:pt x="5822" y="0"/>
                </a:lnTo>
                <a:lnTo>
                  <a:pt x="582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Forma libre 536"/>
          <p:cNvSpPr/>
          <p:nvPr/>
        </p:nvSpPr>
        <p:spPr>
          <a:xfrm>
            <a:off x="2771640" y="2447640"/>
            <a:ext cx="4229280" cy="410040"/>
          </a:xfrm>
          <a:custGeom>
            <a:avLst/>
            <a:gdLst/>
            <a:ahLst/>
            <a:cxnLst/>
            <a:rect l="0" t="0" r="r" b="b"/>
            <a:pathLst>
              <a:path w="11748" h="1139">
                <a:moveTo>
                  <a:pt x="0" y="0"/>
                </a:moveTo>
                <a:lnTo>
                  <a:pt x="11748" y="0"/>
                </a:lnTo>
                <a:lnTo>
                  <a:pt x="1174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orma libre 537"/>
          <p:cNvSpPr/>
          <p:nvPr/>
        </p:nvSpPr>
        <p:spPr>
          <a:xfrm>
            <a:off x="676080" y="2857320"/>
            <a:ext cx="2095920" cy="410040"/>
          </a:xfrm>
          <a:custGeom>
            <a:avLst/>
            <a:gdLst/>
            <a:ahLst/>
            <a:cxnLst/>
            <a:rect l="0" t="0" r="r" b="b"/>
            <a:pathLst>
              <a:path w="5822" h="1139">
                <a:moveTo>
                  <a:pt x="0" y="0"/>
                </a:moveTo>
                <a:lnTo>
                  <a:pt x="5822" y="0"/>
                </a:lnTo>
                <a:lnTo>
                  <a:pt x="582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Forma libre 538"/>
          <p:cNvSpPr/>
          <p:nvPr/>
        </p:nvSpPr>
        <p:spPr>
          <a:xfrm>
            <a:off x="2771640" y="2857320"/>
            <a:ext cx="4229280" cy="410040"/>
          </a:xfrm>
          <a:custGeom>
            <a:avLst/>
            <a:gdLst/>
            <a:ahLst/>
            <a:cxnLst/>
            <a:rect l="0" t="0" r="r" b="b"/>
            <a:pathLst>
              <a:path w="11748" h="1139">
                <a:moveTo>
                  <a:pt x="0" y="0"/>
                </a:moveTo>
                <a:lnTo>
                  <a:pt x="11748" y="0"/>
                </a:lnTo>
                <a:lnTo>
                  <a:pt x="1174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Forma libre 539"/>
          <p:cNvSpPr/>
          <p:nvPr/>
        </p:nvSpPr>
        <p:spPr>
          <a:xfrm>
            <a:off x="676080" y="3267000"/>
            <a:ext cx="2095920" cy="409680"/>
          </a:xfrm>
          <a:custGeom>
            <a:avLst/>
            <a:gdLst/>
            <a:ahLst/>
            <a:cxnLst/>
            <a:rect l="0" t="0" r="r" b="b"/>
            <a:pathLst>
              <a:path w="5822" h="1138">
                <a:moveTo>
                  <a:pt x="0" y="0"/>
                </a:moveTo>
                <a:lnTo>
                  <a:pt x="5822" y="0"/>
                </a:lnTo>
                <a:lnTo>
                  <a:pt x="5822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Forma libre 540"/>
          <p:cNvSpPr/>
          <p:nvPr/>
        </p:nvSpPr>
        <p:spPr>
          <a:xfrm>
            <a:off x="2771640" y="3267000"/>
            <a:ext cx="4229280" cy="409680"/>
          </a:xfrm>
          <a:custGeom>
            <a:avLst/>
            <a:gdLst/>
            <a:ahLst/>
            <a:cxnLst/>
            <a:rect l="0" t="0" r="r" b="b"/>
            <a:pathLst>
              <a:path w="11748" h="1138">
                <a:moveTo>
                  <a:pt x="0" y="0"/>
                </a:moveTo>
                <a:lnTo>
                  <a:pt x="11748" y="0"/>
                </a:lnTo>
                <a:lnTo>
                  <a:pt x="1174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Forma libre 541"/>
          <p:cNvSpPr/>
          <p:nvPr/>
        </p:nvSpPr>
        <p:spPr>
          <a:xfrm>
            <a:off x="676080" y="3676320"/>
            <a:ext cx="2095920" cy="410040"/>
          </a:xfrm>
          <a:custGeom>
            <a:avLst/>
            <a:gdLst/>
            <a:ahLst/>
            <a:cxnLst/>
            <a:rect l="0" t="0" r="r" b="b"/>
            <a:pathLst>
              <a:path w="5822" h="1139">
                <a:moveTo>
                  <a:pt x="0" y="0"/>
                </a:moveTo>
                <a:lnTo>
                  <a:pt x="5822" y="0"/>
                </a:lnTo>
                <a:lnTo>
                  <a:pt x="582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Forma libre 542"/>
          <p:cNvSpPr/>
          <p:nvPr/>
        </p:nvSpPr>
        <p:spPr>
          <a:xfrm>
            <a:off x="2771640" y="3676320"/>
            <a:ext cx="4229280" cy="410040"/>
          </a:xfrm>
          <a:custGeom>
            <a:avLst/>
            <a:gdLst/>
            <a:ahLst/>
            <a:cxnLst/>
            <a:rect l="0" t="0" r="r" b="b"/>
            <a:pathLst>
              <a:path w="11748" h="1139">
                <a:moveTo>
                  <a:pt x="0" y="0"/>
                </a:moveTo>
                <a:lnTo>
                  <a:pt x="11748" y="0"/>
                </a:lnTo>
                <a:lnTo>
                  <a:pt x="1174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Forma libre 543"/>
          <p:cNvSpPr/>
          <p:nvPr/>
        </p:nvSpPr>
        <p:spPr>
          <a:xfrm>
            <a:off x="676080" y="4086000"/>
            <a:ext cx="2095920" cy="410040"/>
          </a:xfrm>
          <a:custGeom>
            <a:avLst/>
            <a:gdLst/>
            <a:ahLst/>
            <a:cxnLst/>
            <a:rect l="0" t="0" r="r" b="b"/>
            <a:pathLst>
              <a:path w="5822" h="1139">
                <a:moveTo>
                  <a:pt x="0" y="0"/>
                </a:moveTo>
                <a:lnTo>
                  <a:pt x="5822" y="0"/>
                </a:lnTo>
                <a:lnTo>
                  <a:pt x="582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Forma libre 544"/>
          <p:cNvSpPr/>
          <p:nvPr/>
        </p:nvSpPr>
        <p:spPr>
          <a:xfrm>
            <a:off x="2771640" y="4086000"/>
            <a:ext cx="4229280" cy="410040"/>
          </a:xfrm>
          <a:custGeom>
            <a:avLst/>
            <a:gdLst/>
            <a:ahLst/>
            <a:cxnLst/>
            <a:rect l="0" t="0" r="r" b="b"/>
            <a:pathLst>
              <a:path w="11748" h="1139">
                <a:moveTo>
                  <a:pt x="0" y="0"/>
                </a:moveTo>
                <a:lnTo>
                  <a:pt x="11748" y="0"/>
                </a:lnTo>
                <a:lnTo>
                  <a:pt x="1174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Forma libre 545"/>
          <p:cNvSpPr/>
          <p:nvPr/>
        </p:nvSpPr>
        <p:spPr>
          <a:xfrm>
            <a:off x="666720" y="2447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Forma libre 546"/>
          <p:cNvSpPr/>
          <p:nvPr/>
        </p:nvSpPr>
        <p:spPr>
          <a:xfrm>
            <a:off x="666720" y="2447640"/>
            <a:ext cx="2105280" cy="10080"/>
          </a:xfrm>
          <a:custGeom>
            <a:avLst/>
            <a:gdLst/>
            <a:ahLst/>
            <a:cxnLst/>
            <a:rect l="0" t="0" r="r" b="b"/>
            <a:pathLst>
              <a:path w="5848" h="28">
                <a:moveTo>
                  <a:pt x="0" y="0"/>
                </a:moveTo>
                <a:lnTo>
                  <a:pt x="5848" y="0"/>
                </a:lnTo>
                <a:lnTo>
                  <a:pt x="58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Forma libre 547"/>
          <p:cNvSpPr/>
          <p:nvPr/>
        </p:nvSpPr>
        <p:spPr>
          <a:xfrm>
            <a:off x="2761920" y="24476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Forma libre 548"/>
          <p:cNvSpPr/>
          <p:nvPr/>
        </p:nvSpPr>
        <p:spPr>
          <a:xfrm>
            <a:off x="2771640" y="2447640"/>
            <a:ext cx="4229280" cy="10080"/>
          </a:xfrm>
          <a:custGeom>
            <a:avLst/>
            <a:gdLst/>
            <a:ahLst/>
            <a:cxnLst/>
            <a:rect l="0" t="0" r="r" b="b"/>
            <a:pathLst>
              <a:path w="11748" h="28">
                <a:moveTo>
                  <a:pt x="0" y="0"/>
                </a:moveTo>
                <a:lnTo>
                  <a:pt x="11748" y="0"/>
                </a:lnTo>
                <a:lnTo>
                  <a:pt x="11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Forma libre 549"/>
          <p:cNvSpPr/>
          <p:nvPr/>
        </p:nvSpPr>
        <p:spPr>
          <a:xfrm>
            <a:off x="6991200" y="24476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Forma libre 550"/>
          <p:cNvSpPr/>
          <p:nvPr/>
        </p:nvSpPr>
        <p:spPr>
          <a:xfrm>
            <a:off x="666720" y="2857320"/>
            <a:ext cx="2105280" cy="9720"/>
          </a:xfrm>
          <a:custGeom>
            <a:avLst/>
            <a:gdLst/>
            <a:ahLst/>
            <a:cxnLst/>
            <a:rect l="0" t="0" r="r" b="b"/>
            <a:pathLst>
              <a:path w="5848" h="27">
                <a:moveTo>
                  <a:pt x="0" y="0"/>
                </a:moveTo>
                <a:lnTo>
                  <a:pt x="5848" y="0"/>
                </a:lnTo>
                <a:lnTo>
                  <a:pt x="5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Forma libre 551"/>
          <p:cNvSpPr/>
          <p:nvPr/>
        </p:nvSpPr>
        <p:spPr>
          <a:xfrm>
            <a:off x="2771640" y="2857320"/>
            <a:ext cx="4229280" cy="9720"/>
          </a:xfrm>
          <a:custGeom>
            <a:avLst/>
            <a:gdLst/>
            <a:ahLst/>
            <a:cxnLst/>
            <a:rect l="0" t="0" r="r" b="b"/>
            <a:pathLst>
              <a:path w="11748" h="27">
                <a:moveTo>
                  <a:pt x="0" y="0"/>
                </a:moveTo>
                <a:lnTo>
                  <a:pt x="11748" y="0"/>
                </a:lnTo>
                <a:lnTo>
                  <a:pt x="1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Forma libre 552"/>
          <p:cNvSpPr/>
          <p:nvPr/>
        </p:nvSpPr>
        <p:spPr>
          <a:xfrm>
            <a:off x="666720" y="2866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Forma libre 553"/>
          <p:cNvSpPr/>
          <p:nvPr/>
        </p:nvSpPr>
        <p:spPr>
          <a:xfrm>
            <a:off x="2761920" y="286668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Forma libre 554"/>
          <p:cNvSpPr/>
          <p:nvPr/>
        </p:nvSpPr>
        <p:spPr>
          <a:xfrm>
            <a:off x="6991200" y="286668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Forma libre 555"/>
          <p:cNvSpPr/>
          <p:nvPr/>
        </p:nvSpPr>
        <p:spPr>
          <a:xfrm>
            <a:off x="66672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Forma libre 556"/>
          <p:cNvSpPr/>
          <p:nvPr/>
        </p:nvSpPr>
        <p:spPr>
          <a:xfrm>
            <a:off x="666720" y="3267000"/>
            <a:ext cx="2105280" cy="9720"/>
          </a:xfrm>
          <a:custGeom>
            <a:avLst/>
            <a:gdLst/>
            <a:ahLst/>
            <a:cxnLst/>
            <a:rect l="0" t="0" r="r" b="b"/>
            <a:pathLst>
              <a:path w="5848" h="27">
                <a:moveTo>
                  <a:pt x="0" y="0"/>
                </a:moveTo>
                <a:lnTo>
                  <a:pt x="5848" y="0"/>
                </a:lnTo>
                <a:lnTo>
                  <a:pt x="5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Forma libre 557"/>
          <p:cNvSpPr/>
          <p:nvPr/>
        </p:nvSpPr>
        <p:spPr>
          <a:xfrm>
            <a:off x="2761920" y="327636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Forma libre 558"/>
          <p:cNvSpPr/>
          <p:nvPr/>
        </p:nvSpPr>
        <p:spPr>
          <a:xfrm>
            <a:off x="2771640" y="3267000"/>
            <a:ext cx="4229280" cy="9720"/>
          </a:xfrm>
          <a:custGeom>
            <a:avLst/>
            <a:gdLst/>
            <a:ahLst/>
            <a:cxnLst/>
            <a:rect l="0" t="0" r="r" b="b"/>
            <a:pathLst>
              <a:path w="11748" h="27">
                <a:moveTo>
                  <a:pt x="0" y="0"/>
                </a:moveTo>
                <a:lnTo>
                  <a:pt x="11748" y="0"/>
                </a:lnTo>
                <a:lnTo>
                  <a:pt x="1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Forma libre 559"/>
          <p:cNvSpPr/>
          <p:nvPr/>
        </p:nvSpPr>
        <p:spPr>
          <a:xfrm>
            <a:off x="6991200" y="327636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Forma libre 560"/>
          <p:cNvSpPr/>
          <p:nvPr/>
        </p:nvSpPr>
        <p:spPr>
          <a:xfrm>
            <a:off x="666720" y="36860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Forma libre 561"/>
          <p:cNvSpPr/>
          <p:nvPr/>
        </p:nvSpPr>
        <p:spPr>
          <a:xfrm>
            <a:off x="666720" y="3676320"/>
            <a:ext cx="2105280" cy="10080"/>
          </a:xfrm>
          <a:custGeom>
            <a:avLst/>
            <a:gdLst/>
            <a:ahLst/>
            <a:cxnLst/>
            <a:rect l="0" t="0" r="r" b="b"/>
            <a:pathLst>
              <a:path w="5848" h="28">
                <a:moveTo>
                  <a:pt x="0" y="0"/>
                </a:moveTo>
                <a:lnTo>
                  <a:pt x="5848" y="0"/>
                </a:lnTo>
                <a:lnTo>
                  <a:pt x="58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Forma libre 562"/>
          <p:cNvSpPr/>
          <p:nvPr/>
        </p:nvSpPr>
        <p:spPr>
          <a:xfrm>
            <a:off x="2761920" y="3686040"/>
            <a:ext cx="10080" cy="410040"/>
          </a:xfrm>
          <a:custGeom>
            <a:avLst/>
            <a:gdLst/>
            <a:ahLst/>
            <a:cxnLst/>
            <a:rect l="0" t="0" r="r" b="b"/>
            <a:pathLst>
              <a:path w="28" h="1139">
                <a:moveTo>
                  <a:pt x="0" y="0"/>
                </a:moveTo>
                <a:lnTo>
                  <a:pt x="28" y="0"/>
                </a:lnTo>
                <a:lnTo>
                  <a:pt x="28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Forma libre 563"/>
          <p:cNvSpPr/>
          <p:nvPr/>
        </p:nvSpPr>
        <p:spPr>
          <a:xfrm>
            <a:off x="2771640" y="3676320"/>
            <a:ext cx="4229280" cy="10080"/>
          </a:xfrm>
          <a:custGeom>
            <a:avLst/>
            <a:gdLst/>
            <a:ahLst/>
            <a:cxnLst/>
            <a:rect l="0" t="0" r="r" b="b"/>
            <a:pathLst>
              <a:path w="11748" h="28">
                <a:moveTo>
                  <a:pt x="0" y="0"/>
                </a:moveTo>
                <a:lnTo>
                  <a:pt x="11748" y="0"/>
                </a:lnTo>
                <a:lnTo>
                  <a:pt x="11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Forma libre 564"/>
          <p:cNvSpPr/>
          <p:nvPr/>
        </p:nvSpPr>
        <p:spPr>
          <a:xfrm>
            <a:off x="6991200" y="3686040"/>
            <a:ext cx="9720" cy="410040"/>
          </a:xfrm>
          <a:custGeom>
            <a:avLst/>
            <a:gdLst/>
            <a:ahLst/>
            <a:cxnLst/>
            <a:rect l="0" t="0" r="r" b="b"/>
            <a:pathLst>
              <a:path w="27" h="1139">
                <a:moveTo>
                  <a:pt x="0" y="0"/>
                </a:moveTo>
                <a:lnTo>
                  <a:pt x="27" y="0"/>
                </a:lnTo>
                <a:lnTo>
                  <a:pt x="27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Forma libre 565"/>
          <p:cNvSpPr/>
          <p:nvPr/>
        </p:nvSpPr>
        <p:spPr>
          <a:xfrm>
            <a:off x="666720" y="40957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Forma libre 566"/>
          <p:cNvSpPr/>
          <p:nvPr/>
        </p:nvSpPr>
        <p:spPr>
          <a:xfrm>
            <a:off x="666720" y="4086000"/>
            <a:ext cx="2105280" cy="10080"/>
          </a:xfrm>
          <a:custGeom>
            <a:avLst/>
            <a:gdLst/>
            <a:ahLst/>
            <a:cxnLst/>
            <a:rect l="0" t="0" r="r" b="b"/>
            <a:pathLst>
              <a:path w="5848" h="28">
                <a:moveTo>
                  <a:pt x="0" y="0"/>
                </a:moveTo>
                <a:lnTo>
                  <a:pt x="5848" y="0"/>
                </a:lnTo>
                <a:lnTo>
                  <a:pt x="58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Forma libre 567"/>
          <p:cNvSpPr/>
          <p:nvPr/>
        </p:nvSpPr>
        <p:spPr>
          <a:xfrm>
            <a:off x="2761920" y="4095720"/>
            <a:ext cx="10080" cy="409680"/>
          </a:xfrm>
          <a:custGeom>
            <a:avLst/>
            <a:gdLst/>
            <a:ahLst/>
            <a:cxnLst/>
            <a:rect l="0" t="0" r="r" b="b"/>
            <a:pathLst>
              <a:path w="28" h="1138">
                <a:moveTo>
                  <a:pt x="0" y="0"/>
                </a:moveTo>
                <a:lnTo>
                  <a:pt x="28" y="0"/>
                </a:lnTo>
                <a:lnTo>
                  <a:pt x="28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Forma libre 568"/>
          <p:cNvSpPr/>
          <p:nvPr/>
        </p:nvSpPr>
        <p:spPr>
          <a:xfrm>
            <a:off x="2771640" y="4086000"/>
            <a:ext cx="4229280" cy="10080"/>
          </a:xfrm>
          <a:custGeom>
            <a:avLst/>
            <a:gdLst/>
            <a:ahLst/>
            <a:cxnLst/>
            <a:rect l="0" t="0" r="r" b="b"/>
            <a:pathLst>
              <a:path w="11748" h="28">
                <a:moveTo>
                  <a:pt x="0" y="0"/>
                </a:moveTo>
                <a:lnTo>
                  <a:pt x="11748" y="0"/>
                </a:lnTo>
                <a:lnTo>
                  <a:pt x="11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Forma libre 569"/>
          <p:cNvSpPr/>
          <p:nvPr/>
        </p:nvSpPr>
        <p:spPr>
          <a:xfrm>
            <a:off x="6991200" y="4095720"/>
            <a:ext cx="9720" cy="409680"/>
          </a:xfrm>
          <a:custGeom>
            <a:avLst/>
            <a:gdLst/>
            <a:ahLst/>
            <a:cxnLst/>
            <a:rect l="0" t="0" r="r" b="b"/>
            <a:pathLst>
              <a:path w="27" h="1138">
                <a:moveTo>
                  <a:pt x="0" y="0"/>
                </a:moveTo>
                <a:lnTo>
                  <a:pt x="27" y="0"/>
                </a:lnTo>
                <a:lnTo>
                  <a:pt x="27" y="1138"/>
                </a:lnTo>
                <a:lnTo>
                  <a:pt x="0" y="113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Forma libre 570"/>
          <p:cNvSpPr/>
          <p:nvPr/>
        </p:nvSpPr>
        <p:spPr>
          <a:xfrm>
            <a:off x="666720" y="4495680"/>
            <a:ext cx="2105280" cy="9720"/>
          </a:xfrm>
          <a:custGeom>
            <a:avLst/>
            <a:gdLst/>
            <a:ahLst/>
            <a:cxnLst/>
            <a:rect l="0" t="0" r="r" b="b"/>
            <a:pathLst>
              <a:path w="5848" h="27">
                <a:moveTo>
                  <a:pt x="0" y="0"/>
                </a:moveTo>
                <a:lnTo>
                  <a:pt x="5848" y="0"/>
                </a:lnTo>
                <a:lnTo>
                  <a:pt x="58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Forma libre 571"/>
          <p:cNvSpPr/>
          <p:nvPr/>
        </p:nvSpPr>
        <p:spPr>
          <a:xfrm>
            <a:off x="2771640" y="4495680"/>
            <a:ext cx="4229280" cy="9720"/>
          </a:xfrm>
          <a:custGeom>
            <a:avLst/>
            <a:gdLst/>
            <a:ahLst/>
            <a:cxnLst/>
            <a:rect l="0" t="0" r="r" b="b"/>
            <a:pathLst>
              <a:path w="11748" h="27">
                <a:moveTo>
                  <a:pt x="0" y="0"/>
                </a:moveTo>
                <a:lnTo>
                  <a:pt x="11748" y="0"/>
                </a:lnTo>
                <a:lnTo>
                  <a:pt x="11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Forma libre 572"/>
          <p:cNvSpPr/>
          <p:nvPr/>
        </p:nvSpPr>
        <p:spPr>
          <a:xfrm>
            <a:off x="666720" y="465768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Forma libre 573"/>
          <p:cNvSpPr/>
          <p:nvPr/>
        </p:nvSpPr>
        <p:spPr>
          <a:xfrm>
            <a:off x="666720" y="465768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Forma libre 574"/>
          <p:cNvSpPr/>
          <p:nvPr/>
        </p:nvSpPr>
        <p:spPr>
          <a:xfrm>
            <a:off x="1923840" y="1304640"/>
            <a:ext cx="895680" cy="381600"/>
          </a:xfrm>
          <a:custGeom>
            <a:avLst/>
            <a:gdLst/>
            <a:ahLst/>
            <a:cxnLst/>
            <a:rect l="0" t="0" r="r" b="b"/>
            <a:pathLst>
              <a:path w="2488" h="1060">
                <a:moveTo>
                  <a:pt x="0" y="954"/>
                </a:moveTo>
                <a:lnTo>
                  <a:pt x="0" y="107"/>
                </a:ln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2382" y="0"/>
                </a:lnTo>
                <a:cubicBezTo>
                  <a:pt x="2396" y="0"/>
                  <a:pt x="2410" y="3"/>
                  <a:pt x="2423" y="8"/>
                </a:cubicBezTo>
                <a:cubicBezTo>
                  <a:pt x="2436" y="14"/>
                  <a:pt x="2447" y="21"/>
                  <a:pt x="2457" y="31"/>
                </a:cubicBezTo>
                <a:cubicBezTo>
                  <a:pt x="2467" y="41"/>
                  <a:pt x="2475" y="53"/>
                  <a:pt x="2480" y="66"/>
                </a:cubicBezTo>
                <a:cubicBezTo>
                  <a:pt x="2485" y="79"/>
                  <a:pt x="2488" y="93"/>
                  <a:pt x="2488" y="107"/>
                </a:cubicBezTo>
                <a:lnTo>
                  <a:pt x="2488" y="954"/>
                </a:lnTo>
                <a:cubicBezTo>
                  <a:pt x="2488" y="968"/>
                  <a:pt x="2485" y="981"/>
                  <a:pt x="2480" y="994"/>
                </a:cubicBezTo>
                <a:cubicBezTo>
                  <a:pt x="2475" y="1007"/>
                  <a:pt x="2467" y="1019"/>
                  <a:pt x="2457" y="1029"/>
                </a:cubicBezTo>
                <a:cubicBezTo>
                  <a:pt x="2447" y="1039"/>
                  <a:pt x="2436" y="1046"/>
                  <a:pt x="2423" y="1052"/>
                </a:cubicBezTo>
                <a:cubicBezTo>
                  <a:pt x="2410" y="1057"/>
                  <a:pt x="2396" y="1060"/>
                  <a:pt x="2382" y="1060"/>
                </a:cubicBezTo>
                <a:lnTo>
                  <a:pt x="106" y="1060"/>
                </a:lnTo>
                <a:cubicBezTo>
                  <a:pt x="92" y="1060"/>
                  <a:pt x="78" y="1057"/>
                  <a:pt x="65" y="1052"/>
                </a:cubicBezTo>
                <a:cubicBezTo>
                  <a:pt x="52" y="1046"/>
                  <a:pt x="41" y="1039"/>
                  <a:pt x="31" y="1029"/>
                </a:cubicBezTo>
                <a:cubicBezTo>
                  <a:pt x="21" y="1019"/>
                  <a:pt x="14" y="1007"/>
                  <a:pt x="8" y="994"/>
                </a:cubicBezTo>
                <a:cubicBezTo>
                  <a:pt x="3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666720" y="1301400"/>
            <a:ext cx="129384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Proteger 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CuadroTexto 576"/>
          <p:cNvSpPr txBox="1"/>
          <p:nvPr/>
        </p:nvSpPr>
        <p:spPr>
          <a:xfrm>
            <a:off x="1986840" y="1309320"/>
            <a:ext cx="78228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main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CuadroTexto 577"/>
          <p:cNvSpPr txBox="1"/>
          <p:nvPr/>
        </p:nvSpPr>
        <p:spPr>
          <a:xfrm>
            <a:off x="2818800" y="1301400"/>
            <a:ext cx="5448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: que las reglas las ponga el repositorio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CuadroTexto 578"/>
          <p:cNvSpPr txBox="1"/>
          <p:nvPr/>
        </p:nvSpPr>
        <p:spPr>
          <a:xfrm>
            <a:off x="666720" y="1992240"/>
            <a:ext cx="1283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Settings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CuadroTexto 579"/>
          <p:cNvSpPr txBox="1"/>
          <p:nvPr/>
        </p:nvSpPr>
        <p:spPr>
          <a:xfrm>
            <a:off x="1949760" y="2003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CuadroTexto 580"/>
          <p:cNvSpPr txBox="1"/>
          <p:nvPr/>
        </p:nvSpPr>
        <p:spPr>
          <a:xfrm>
            <a:off x="2178360" y="1992240"/>
            <a:ext cx="1165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Branches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CuadroTexto 581"/>
          <p:cNvSpPr txBox="1"/>
          <p:nvPr/>
        </p:nvSpPr>
        <p:spPr>
          <a:xfrm>
            <a:off x="3342960" y="2003040"/>
            <a:ext cx="229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Arial"/>
                <a:ea typeface="Arial"/>
              </a:rPr>
              <a:t>→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Forma libre 582"/>
          <p:cNvSpPr/>
          <p:nvPr/>
        </p:nvSpPr>
        <p:spPr>
          <a:xfrm>
            <a:off x="6771960" y="200952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509" y="0"/>
                </a:lnTo>
                <a:cubicBezTo>
                  <a:pt x="1524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2" y="53"/>
                  <a:pt x="1607" y="66"/>
                </a:cubicBezTo>
                <a:cubicBezTo>
                  <a:pt x="1613" y="79"/>
                  <a:pt x="1615" y="92"/>
                  <a:pt x="1615" y="106"/>
                </a:cubicBezTo>
                <a:lnTo>
                  <a:pt x="1615" y="635"/>
                </a:lnTo>
                <a:cubicBezTo>
                  <a:pt x="1615" y="649"/>
                  <a:pt x="1613" y="663"/>
                  <a:pt x="1607" y="676"/>
                </a:cubicBezTo>
                <a:cubicBezTo>
                  <a:pt x="1602" y="689"/>
                  <a:pt x="1594" y="700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39"/>
                  <a:pt x="1524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49"/>
                  <a:pt x="0" y="635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CuadroTexto 583"/>
          <p:cNvSpPr txBox="1"/>
          <p:nvPr/>
        </p:nvSpPr>
        <p:spPr>
          <a:xfrm>
            <a:off x="3571560" y="1992240"/>
            <a:ext cx="32058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Branch protection rules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CuadroTexto 584"/>
          <p:cNvSpPr txBox="1"/>
          <p:nvPr/>
        </p:nvSpPr>
        <p:spPr>
          <a:xfrm>
            <a:off x="6829560" y="202932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main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CuadroTexto 585"/>
          <p:cNvSpPr txBox="1"/>
          <p:nvPr/>
        </p:nvSpPr>
        <p:spPr>
          <a:xfrm>
            <a:off x="7354800" y="19922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CuadroTexto 586"/>
          <p:cNvSpPr txBox="1"/>
          <p:nvPr/>
        </p:nvSpPr>
        <p:spPr>
          <a:xfrm>
            <a:off x="1459080" y="2552400"/>
            <a:ext cx="5223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Regla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4588200" y="2552400"/>
            <a:ext cx="589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Efecto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CuadroTexto 588"/>
          <p:cNvSpPr txBox="1"/>
          <p:nvPr/>
        </p:nvSpPr>
        <p:spPr>
          <a:xfrm>
            <a:off x="799920" y="2952360"/>
            <a:ext cx="17895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Require a pull request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Forma libre 589"/>
          <p:cNvSpPr/>
          <p:nvPr/>
        </p:nvSpPr>
        <p:spPr>
          <a:xfrm>
            <a:off x="5067000" y="2962080"/>
            <a:ext cx="505440" cy="228960"/>
          </a:xfrm>
          <a:custGeom>
            <a:avLst/>
            <a:gdLst/>
            <a:ahLst/>
            <a:cxnLst/>
            <a:rect l="0" t="0" r="r" b="b"/>
            <a:pathLst>
              <a:path w="1404" h="636">
                <a:moveTo>
                  <a:pt x="0" y="530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1298" y="0"/>
                </a:lnTo>
                <a:cubicBezTo>
                  <a:pt x="1312" y="0"/>
                  <a:pt x="1325" y="3"/>
                  <a:pt x="1338" y="8"/>
                </a:cubicBezTo>
                <a:cubicBezTo>
                  <a:pt x="1351" y="13"/>
                  <a:pt x="1363" y="21"/>
                  <a:pt x="1373" y="31"/>
                </a:cubicBezTo>
                <a:cubicBezTo>
                  <a:pt x="1383" y="41"/>
                  <a:pt x="1390" y="52"/>
                  <a:pt x="1396" y="65"/>
                </a:cubicBezTo>
                <a:cubicBezTo>
                  <a:pt x="1401" y="78"/>
                  <a:pt x="1404" y="92"/>
                  <a:pt x="1404" y="106"/>
                </a:cubicBezTo>
                <a:lnTo>
                  <a:pt x="1404" y="530"/>
                </a:lnTo>
                <a:cubicBezTo>
                  <a:pt x="1404" y="544"/>
                  <a:pt x="1401" y="558"/>
                  <a:pt x="1396" y="571"/>
                </a:cubicBezTo>
                <a:cubicBezTo>
                  <a:pt x="1390" y="584"/>
                  <a:pt x="1383" y="595"/>
                  <a:pt x="1373" y="605"/>
                </a:cubicBezTo>
                <a:cubicBezTo>
                  <a:pt x="1363" y="615"/>
                  <a:pt x="1351" y="623"/>
                  <a:pt x="1338" y="628"/>
                </a:cubicBezTo>
                <a:cubicBezTo>
                  <a:pt x="1325" y="633"/>
                  <a:pt x="1312" y="636"/>
                  <a:pt x="1298" y="636"/>
                </a:cubicBezTo>
                <a:lnTo>
                  <a:pt x="106" y="636"/>
                </a:lnTo>
                <a:cubicBezTo>
                  <a:pt x="92" y="636"/>
                  <a:pt x="79" y="633"/>
                  <a:pt x="66" y="628"/>
                </a:cubicBezTo>
                <a:cubicBezTo>
                  <a:pt x="53" y="623"/>
                  <a:pt x="41" y="615"/>
                  <a:pt x="31" y="605"/>
                </a:cubicBezTo>
                <a:cubicBezTo>
                  <a:pt x="21" y="595"/>
                  <a:pt x="14" y="584"/>
                  <a:pt x="8" y="571"/>
                </a:cubicBezTo>
                <a:cubicBezTo>
                  <a:pt x="3" y="558"/>
                  <a:pt x="0" y="544"/>
                  <a:pt x="0" y="530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CuadroTexto 590"/>
          <p:cNvSpPr txBox="1"/>
          <p:nvPr/>
        </p:nvSpPr>
        <p:spPr>
          <a:xfrm>
            <a:off x="2897640" y="2952360"/>
            <a:ext cx="2178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nadie hace push directo a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CuadroTexto 591"/>
          <p:cNvSpPr txBox="1"/>
          <p:nvPr/>
        </p:nvSpPr>
        <p:spPr>
          <a:xfrm>
            <a:off x="5128920" y="2983320"/>
            <a:ext cx="389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28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main</a:t>
            </a:r>
            <a:endParaRPr lang="es-E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CuadroTexto 592"/>
          <p:cNvSpPr txBox="1"/>
          <p:nvPr/>
        </p:nvSpPr>
        <p:spPr>
          <a:xfrm>
            <a:off x="5576040" y="2952360"/>
            <a:ext cx="455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ni tú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CuadroTexto 593"/>
          <p:cNvSpPr txBox="1"/>
          <p:nvPr/>
        </p:nvSpPr>
        <p:spPr>
          <a:xfrm>
            <a:off x="799920" y="3362040"/>
            <a:ext cx="1847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Require approvals (≥1)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CuadroTexto 594"/>
          <p:cNvSpPr txBox="1"/>
          <p:nvPr/>
        </p:nvSpPr>
        <p:spPr>
          <a:xfrm>
            <a:off x="2897640" y="3362040"/>
            <a:ext cx="251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nada entra sin otro par de ojos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CuadroTexto 595"/>
          <p:cNvSpPr txBox="1"/>
          <p:nvPr/>
        </p:nvSpPr>
        <p:spPr>
          <a:xfrm>
            <a:off x="799920" y="3771360"/>
            <a:ext cx="1821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Require status checks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CuadroTexto 596"/>
          <p:cNvSpPr txBox="1"/>
          <p:nvPr/>
        </p:nvSpPr>
        <p:spPr>
          <a:xfrm>
            <a:off x="2897640" y="3771360"/>
            <a:ext cx="39744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si el CI está en rojo, el botón de merge se apaga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CuadroTexto 597"/>
          <p:cNvSpPr txBox="1"/>
          <p:nvPr/>
        </p:nvSpPr>
        <p:spPr>
          <a:xfrm>
            <a:off x="799920" y="4181040"/>
            <a:ext cx="1578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Block force pushes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CuadroTexto 598"/>
          <p:cNvSpPr txBox="1"/>
          <p:nvPr/>
        </p:nvSpPr>
        <p:spPr>
          <a:xfrm>
            <a:off x="2897640" y="4181040"/>
            <a:ext cx="293292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historia publicada no se reescribe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CuadroTexto 599"/>
          <p:cNvSpPr txBox="1"/>
          <p:nvPr/>
        </p:nvSpPr>
        <p:spPr>
          <a:xfrm>
            <a:off x="905040" y="4811400"/>
            <a:ext cx="10216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Las reglas valen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también para el dueño del repositorio.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Ese es el punto: la calidad deja de depender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CuadroTexto 600"/>
          <p:cNvSpPr txBox="1"/>
          <p:nvPr/>
        </p:nvSpPr>
        <p:spPr>
          <a:xfrm>
            <a:off x="905040" y="5154480"/>
            <a:ext cx="82317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de la disciplina individual — la misma idea que pre-commit, ahora a nivel de equipo.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CuadroTexto 601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CuadroTexto 602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CuadroTexto 603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Forma libre 6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Forma libre 60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Forma libre 60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Forma libre 607"/>
          <p:cNvSpPr/>
          <p:nvPr/>
        </p:nvSpPr>
        <p:spPr>
          <a:xfrm>
            <a:off x="671400" y="175716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5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3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3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5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Forma libre 608"/>
          <p:cNvSpPr/>
          <p:nvPr/>
        </p:nvSpPr>
        <p:spPr>
          <a:xfrm>
            <a:off x="671400" y="1757160"/>
            <a:ext cx="10849320" cy="2419560"/>
          </a:xfrm>
          <a:custGeom>
            <a:avLst/>
            <a:gdLst/>
            <a:ahLst/>
            <a:cxnLst/>
            <a:rect l="0" t="0" r="r" b="b"/>
            <a:pathLst>
              <a:path w="30137" h="6721">
                <a:moveTo>
                  <a:pt x="0" y="6523"/>
                </a:moveTo>
                <a:lnTo>
                  <a:pt x="0" y="198"/>
                </a:lnTo>
                <a:cubicBezTo>
                  <a:pt x="0" y="185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4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5"/>
                  <a:pt x="30137" y="198"/>
                </a:cubicBezTo>
                <a:lnTo>
                  <a:pt x="30137" y="6523"/>
                </a:lnTo>
                <a:cubicBezTo>
                  <a:pt x="30137" y="6536"/>
                  <a:pt x="30136" y="6549"/>
                  <a:pt x="30133" y="6562"/>
                </a:cubicBezTo>
                <a:cubicBezTo>
                  <a:pt x="30130" y="6575"/>
                  <a:pt x="30127" y="6587"/>
                  <a:pt x="30122" y="6599"/>
                </a:cubicBezTo>
                <a:cubicBezTo>
                  <a:pt x="30117" y="6611"/>
                  <a:pt x="30111" y="6622"/>
                  <a:pt x="30103" y="6633"/>
                </a:cubicBezTo>
                <a:cubicBezTo>
                  <a:pt x="30096" y="6644"/>
                  <a:pt x="30088" y="6654"/>
                  <a:pt x="30079" y="6663"/>
                </a:cubicBezTo>
                <a:cubicBezTo>
                  <a:pt x="30070" y="6673"/>
                  <a:pt x="30059" y="6681"/>
                  <a:pt x="30049" y="6688"/>
                </a:cubicBezTo>
                <a:cubicBezTo>
                  <a:pt x="30038" y="6695"/>
                  <a:pt x="30026" y="6701"/>
                  <a:pt x="30014" y="6706"/>
                </a:cubicBezTo>
                <a:cubicBezTo>
                  <a:pt x="30002" y="6711"/>
                  <a:pt x="29990" y="6715"/>
                  <a:pt x="29977" y="6718"/>
                </a:cubicBezTo>
                <a:cubicBezTo>
                  <a:pt x="29964" y="6720"/>
                  <a:pt x="29951" y="6721"/>
                  <a:pt x="29938" y="6721"/>
                </a:cubicBezTo>
                <a:lnTo>
                  <a:pt x="198" y="6721"/>
                </a:lnTo>
                <a:cubicBezTo>
                  <a:pt x="185" y="6721"/>
                  <a:pt x="172" y="6720"/>
                  <a:pt x="160" y="6718"/>
                </a:cubicBezTo>
                <a:cubicBezTo>
                  <a:pt x="147" y="6715"/>
                  <a:pt x="134" y="6711"/>
                  <a:pt x="122" y="6706"/>
                </a:cubicBezTo>
                <a:cubicBezTo>
                  <a:pt x="110" y="6701"/>
                  <a:pt x="99" y="6695"/>
                  <a:pt x="88" y="6688"/>
                </a:cubicBezTo>
                <a:cubicBezTo>
                  <a:pt x="77" y="6681"/>
                  <a:pt x="67" y="6673"/>
                  <a:pt x="58" y="6663"/>
                </a:cubicBezTo>
                <a:cubicBezTo>
                  <a:pt x="49" y="6654"/>
                  <a:pt x="40" y="6644"/>
                  <a:pt x="33" y="6633"/>
                </a:cubicBezTo>
                <a:cubicBezTo>
                  <a:pt x="26" y="6622"/>
                  <a:pt x="20" y="6611"/>
                  <a:pt x="15" y="6599"/>
                </a:cubicBezTo>
                <a:cubicBezTo>
                  <a:pt x="10" y="6587"/>
                  <a:pt x="6" y="6575"/>
                  <a:pt x="4" y="6562"/>
                </a:cubicBezTo>
                <a:cubicBezTo>
                  <a:pt x="1" y="6549"/>
                  <a:pt x="0" y="6536"/>
                  <a:pt x="0" y="652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Forma libre 609"/>
          <p:cNvSpPr/>
          <p:nvPr/>
        </p:nvSpPr>
        <p:spPr>
          <a:xfrm>
            <a:off x="666720" y="1114200"/>
            <a:ext cx="2048040" cy="381240"/>
          </a:xfrm>
          <a:custGeom>
            <a:avLst/>
            <a:gdLst/>
            <a:ahLst/>
            <a:cxnLst/>
            <a:rect l="0" t="0" r="r" b="b"/>
            <a:pathLst>
              <a:path w="5689" h="1059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5583" y="0"/>
                </a:lnTo>
                <a:cubicBezTo>
                  <a:pt x="5597" y="0"/>
                  <a:pt x="5611" y="3"/>
                  <a:pt x="5624" y="8"/>
                </a:cubicBezTo>
                <a:cubicBezTo>
                  <a:pt x="5637" y="14"/>
                  <a:pt x="5648" y="21"/>
                  <a:pt x="5658" y="31"/>
                </a:cubicBezTo>
                <a:cubicBezTo>
                  <a:pt x="5668" y="41"/>
                  <a:pt x="5676" y="52"/>
                  <a:pt x="5681" y="65"/>
                </a:cubicBezTo>
                <a:cubicBezTo>
                  <a:pt x="5686" y="78"/>
                  <a:pt x="5689" y="92"/>
                  <a:pt x="5689" y="106"/>
                </a:cubicBezTo>
                <a:lnTo>
                  <a:pt x="5689" y="954"/>
                </a:lnTo>
                <a:cubicBezTo>
                  <a:pt x="5689" y="968"/>
                  <a:pt x="5686" y="981"/>
                  <a:pt x="5681" y="994"/>
                </a:cubicBezTo>
                <a:cubicBezTo>
                  <a:pt x="5676" y="1007"/>
                  <a:pt x="5668" y="1019"/>
                  <a:pt x="5658" y="1028"/>
                </a:cubicBezTo>
                <a:cubicBezTo>
                  <a:pt x="5648" y="1038"/>
                  <a:pt x="5637" y="1046"/>
                  <a:pt x="5624" y="1051"/>
                </a:cubicBezTo>
                <a:cubicBezTo>
                  <a:pt x="5611" y="1057"/>
                  <a:pt x="5597" y="1059"/>
                  <a:pt x="5583" y="1059"/>
                </a:cubicBezTo>
                <a:lnTo>
                  <a:pt x="105" y="1059"/>
                </a:lnTo>
                <a:cubicBezTo>
                  <a:pt x="91" y="1059"/>
                  <a:pt x="78" y="1057"/>
                  <a:pt x="65" y="1051"/>
                </a:cubicBezTo>
                <a:cubicBezTo>
                  <a:pt x="52" y="1046"/>
                  <a:pt x="41" y="1038"/>
                  <a:pt x="31" y="1028"/>
                </a:cubicBezTo>
                <a:cubicBezTo>
                  <a:pt x="21" y="1019"/>
                  <a:pt x="13" y="1007"/>
                  <a:pt x="8" y="994"/>
                </a:cubicBezTo>
                <a:cubicBezTo>
                  <a:pt x="2" y="981"/>
                  <a:pt x="0" y="968"/>
                  <a:pt x="0" y="954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CuadroTexto 610"/>
          <p:cNvSpPr txBox="1"/>
          <p:nvPr/>
        </p:nvSpPr>
        <p:spPr>
          <a:xfrm>
            <a:off x="731520" y="1118520"/>
            <a:ext cx="1955160" cy="37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.gitignore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CuadroTexto 611"/>
          <p:cNvSpPr txBox="1"/>
          <p:nvPr/>
        </p:nvSpPr>
        <p:spPr>
          <a:xfrm>
            <a:off x="2713680" y="1110960"/>
            <a:ext cx="33865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: lo que Git debe ignorar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CuadroTexto 612"/>
          <p:cNvSpPr txBox="1"/>
          <p:nvPr/>
        </p:nvSpPr>
        <p:spPr>
          <a:xfrm>
            <a:off x="866880" y="1937160"/>
            <a:ext cx="6333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# datos: NUNCA se versionan          # entornos y secretos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CuadroTexto 613"/>
          <p:cNvSpPr txBox="1"/>
          <p:nvPr/>
        </p:nvSpPr>
        <p:spPr>
          <a:xfrm>
            <a:off x="866880" y="2203920"/>
            <a:ext cx="4477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*.csv                                .env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CuadroTexto 614"/>
          <p:cNvSpPr txBox="1"/>
          <p:nvPr/>
        </p:nvSpPr>
        <p:spPr>
          <a:xfrm>
            <a:off x="866880" y="2460960"/>
            <a:ext cx="46958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*.parquet                            .venv/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866880" y="2727720"/>
            <a:ext cx="546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data/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CuadroTexto 616"/>
          <p:cNvSpPr txBox="1"/>
          <p:nvPr/>
        </p:nvSpPr>
        <p:spPr>
          <a:xfrm>
            <a:off x="866880" y="298476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                             # basura de herramientas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CuadroTexto 617"/>
          <p:cNvSpPr txBox="1"/>
          <p:nvPr/>
        </p:nvSpPr>
        <p:spPr>
          <a:xfrm>
            <a:off x="866880" y="3251520"/>
            <a:ext cx="5350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# resultados regenerables            __pycache__/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CuadroTexto 618"/>
          <p:cNvSpPr txBox="1"/>
          <p:nvPr/>
        </p:nvSpPr>
        <p:spPr>
          <a:xfrm>
            <a:off x="866880" y="3508560"/>
            <a:ext cx="6114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figuras/*.png                        .ipynb_checkpoints/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Forma libre 619"/>
          <p:cNvSpPr/>
          <p:nvPr/>
        </p:nvSpPr>
        <p:spPr>
          <a:xfrm>
            <a:off x="914040" y="44859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CuadroTexto 620"/>
          <p:cNvSpPr txBox="1"/>
          <p:nvPr/>
        </p:nvSpPr>
        <p:spPr>
          <a:xfrm>
            <a:off x="866880" y="3775320"/>
            <a:ext cx="5023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slides/build/                        .DS_Store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CuadroTexto 621"/>
          <p:cNvSpPr txBox="1"/>
          <p:nvPr/>
        </p:nvSpPr>
        <p:spPr>
          <a:xfrm>
            <a:off x="1123920" y="4373280"/>
            <a:ext cx="10264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patrones aplican a lo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aún no rastreado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si ya hiciste commit de un archivo, ignorarlo después no lo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Forma libre 622"/>
          <p:cNvSpPr/>
          <p:nvPr/>
        </p:nvSpPr>
        <p:spPr>
          <a:xfrm>
            <a:off x="2361960" y="4733640"/>
            <a:ext cx="2800800" cy="267120"/>
          </a:xfrm>
          <a:custGeom>
            <a:avLst/>
            <a:gdLst/>
            <a:ahLst/>
            <a:cxnLst/>
            <a:rect l="0" t="0" r="r" b="b"/>
            <a:pathLst>
              <a:path w="7780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7674" y="0"/>
                </a:lnTo>
                <a:cubicBezTo>
                  <a:pt x="7688" y="0"/>
                  <a:pt x="7702" y="3"/>
                  <a:pt x="7715" y="8"/>
                </a:cubicBezTo>
                <a:cubicBezTo>
                  <a:pt x="7728" y="14"/>
                  <a:pt x="7739" y="21"/>
                  <a:pt x="7749" y="31"/>
                </a:cubicBezTo>
                <a:cubicBezTo>
                  <a:pt x="7759" y="41"/>
                  <a:pt x="7766" y="53"/>
                  <a:pt x="7772" y="66"/>
                </a:cubicBezTo>
                <a:cubicBezTo>
                  <a:pt x="7777" y="79"/>
                  <a:pt x="7780" y="92"/>
                  <a:pt x="7780" y="106"/>
                </a:cubicBezTo>
                <a:lnTo>
                  <a:pt x="7780" y="636"/>
                </a:lnTo>
                <a:cubicBezTo>
                  <a:pt x="7780" y="650"/>
                  <a:pt x="7777" y="664"/>
                  <a:pt x="7772" y="677"/>
                </a:cubicBezTo>
                <a:cubicBezTo>
                  <a:pt x="7766" y="690"/>
                  <a:pt x="7759" y="701"/>
                  <a:pt x="7749" y="711"/>
                </a:cubicBezTo>
                <a:cubicBezTo>
                  <a:pt x="7739" y="721"/>
                  <a:pt x="7728" y="729"/>
                  <a:pt x="7715" y="734"/>
                </a:cubicBezTo>
                <a:cubicBezTo>
                  <a:pt x="7702" y="739"/>
                  <a:pt x="7688" y="742"/>
                  <a:pt x="7674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CuadroTexto 623"/>
          <p:cNvSpPr txBox="1"/>
          <p:nvPr/>
        </p:nvSpPr>
        <p:spPr>
          <a:xfrm>
            <a:off x="1123920" y="4716360"/>
            <a:ext cx="12373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saca — usa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Forma libre 624"/>
          <p:cNvSpPr/>
          <p:nvPr/>
        </p:nvSpPr>
        <p:spPr>
          <a:xfrm>
            <a:off x="914040" y="522900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CuadroTexto 625"/>
          <p:cNvSpPr txBox="1"/>
          <p:nvPr/>
        </p:nvSpPr>
        <p:spPr>
          <a:xfrm>
            <a:off x="2417760" y="4753800"/>
            <a:ext cx="2701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rm --cached archivo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Forma libre 626"/>
          <p:cNvSpPr/>
          <p:nvPr/>
        </p:nvSpPr>
        <p:spPr>
          <a:xfrm>
            <a:off x="1466640" y="5133960"/>
            <a:ext cx="1286280" cy="266760"/>
          </a:xfrm>
          <a:custGeom>
            <a:avLst/>
            <a:gdLst/>
            <a:ahLst/>
            <a:cxnLst/>
            <a:rect l="0" t="0" r="r" b="b"/>
            <a:pathLst>
              <a:path w="3573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2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0"/>
                  <a:pt x="3560" y="52"/>
                  <a:pt x="3565" y="65"/>
                </a:cubicBezTo>
                <a:cubicBezTo>
                  <a:pt x="3570" y="78"/>
                  <a:pt x="3573" y="91"/>
                  <a:pt x="3573" y="105"/>
                </a:cubicBezTo>
                <a:lnTo>
                  <a:pt x="3573" y="636"/>
                </a:lnTo>
                <a:cubicBezTo>
                  <a:pt x="3573" y="650"/>
                  <a:pt x="3570" y="663"/>
                  <a:pt x="3565" y="676"/>
                </a:cubicBezTo>
                <a:cubicBezTo>
                  <a:pt x="3560" y="689"/>
                  <a:pt x="3552" y="700"/>
                  <a:pt x="3542" y="710"/>
                </a:cubicBezTo>
                <a:cubicBezTo>
                  <a:pt x="3532" y="720"/>
                  <a:pt x="3521" y="728"/>
                  <a:pt x="3508" y="733"/>
                </a:cubicBezTo>
                <a:cubicBezTo>
                  <a:pt x="3495" y="739"/>
                  <a:pt x="3481" y="741"/>
                  <a:pt x="3467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CuadroTexto 627"/>
          <p:cNvSpPr txBox="1"/>
          <p:nvPr/>
        </p:nvSpPr>
        <p:spPr>
          <a:xfrm>
            <a:off x="1123920" y="5116320"/>
            <a:ext cx="3438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CuadroTexto 628"/>
          <p:cNvSpPr txBox="1"/>
          <p:nvPr/>
        </p:nvSpPr>
        <p:spPr>
          <a:xfrm>
            <a:off x="1523880" y="515376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.gitignore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Forma libre 629"/>
          <p:cNvSpPr/>
          <p:nvPr/>
        </p:nvSpPr>
        <p:spPr>
          <a:xfrm>
            <a:off x="3600360" y="5133960"/>
            <a:ext cx="2105280" cy="266760"/>
          </a:xfrm>
          <a:custGeom>
            <a:avLst/>
            <a:gdLst/>
            <a:ahLst/>
            <a:cxnLst/>
            <a:rect l="0" t="0" r="r" b="b"/>
            <a:pathLst>
              <a:path w="5848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5742" y="0"/>
                </a:lnTo>
                <a:cubicBezTo>
                  <a:pt x="5756" y="0"/>
                  <a:pt x="5770" y="2"/>
                  <a:pt x="5783" y="8"/>
                </a:cubicBezTo>
                <a:cubicBezTo>
                  <a:pt x="5796" y="13"/>
                  <a:pt x="5807" y="21"/>
                  <a:pt x="5817" y="31"/>
                </a:cubicBezTo>
                <a:cubicBezTo>
                  <a:pt x="5827" y="40"/>
                  <a:pt x="5835" y="52"/>
                  <a:pt x="5840" y="65"/>
                </a:cubicBezTo>
                <a:cubicBezTo>
                  <a:pt x="5845" y="78"/>
                  <a:pt x="5848" y="91"/>
                  <a:pt x="5848" y="105"/>
                </a:cubicBezTo>
                <a:lnTo>
                  <a:pt x="5848" y="636"/>
                </a:lnTo>
                <a:cubicBezTo>
                  <a:pt x="5848" y="650"/>
                  <a:pt x="5845" y="663"/>
                  <a:pt x="5840" y="676"/>
                </a:cubicBezTo>
                <a:cubicBezTo>
                  <a:pt x="5835" y="689"/>
                  <a:pt x="5827" y="700"/>
                  <a:pt x="5817" y="710"/>
                </a:cubicBezTo>
                <a:cubicBezTo>
                  <a:pt x="5807" y="720"/>
                  <a:pt x="5796" y="728"/>
                  <a:pt x="5783" y="733"/>
                </a:cubicBezTo>
                <a:cubicBezTo>
                  <a:pt x="5770" y="739"/>
                  <a:pt x="5756" y="741"/>
                  <a:pt x="5742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0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CuadroTexto 630"/>
          <p:cNvSpPr txBox="1"/>
          <p:nvPr/>
        </p:nvSpPr>
        <p:spPr>
          <a:xfrm>
            <a:off x="2751120" y="5116320"/>
            <a:ext cx="8514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global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CuadroTexto 631"/>
          <p:cNvSpPr txBox="1"/>
          <p:nvPr/>
        </p:nvSpPr>
        <p:spPr>
          <a:xfrm>
            <a:off x="3659040" y="5153760"/>
            <a:ext cx="1997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core.excludesFile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Forma libre 632"/>
          <p:cNvSpPr/>
          <p:nvPr/>
        </p:nvSpPr>
        <p:spPr>
          <a:xfrm>
            <a:off x="8915040" y="5133960"/>
            <a:ext cx="1172160" cy="266760"/>
          </a:xfrm>
          <a:custGeom>
            <a:avLst/>
            <a:gdLst/>
            <a:ahLst/>
            <a:cxnLst/>
            <a:rect l="0" t="0" r="r" b="b"/>
            <a:pathLst>
              <a:path w="3256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9" y="65"/>
                </a:cubicBezTo>
                <a:cubicBezTo>
                  <a:pt x="14" y="52"/>
                  <a:pt x="22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150" y="0"/>
                </a:lnTo>
                <a:cubicBezTo>
                  <a:pt x="3164" y="0"/>
                  <a:pt x="3178" y="2"/>
                  <a:pt x="3191" y="8"/>
                </a:cubicBezTo>
                <a:cubicBezTo>
                  <a:pt x="3204" y="13"/>
                  <a:pt x="3215" y="21"/>
                  <a:pt x="3225" y="31"/>
                </a:cubicBezTo>
                <a:cubicBezTo>
                  <a:pt x="3235" y="40"/>
                  <a:pt x="3242" y="52"/>
                  <a:pt x="3248" y="65"/>
                </a:cubicBezTo>
                <a:cubicBezTo>
                  <a:pt x="3253" y="78"/>
                  <a:pt x="3256" y="91"/>
                  <a:pt x="3256" y="105"/>
                </a:cubicBezTo>
                <a:lnTo>
                  <a:pt x="3256" y="636"/>
                </a:lnTo>
                <a:cubicBezTo>
                  <a:pt x="3256" y="650"/>
                  <a:pt x="3253" y="663"/>
                  <a:pt x="3248" y="676"/>
                </a:cubicBezTo>
                <a:cubicBezTo>
                  <a:pt x="3242" y="689"/>
                  <a:pt x="3235" y="700"/>
                  <a:pt x="3225" y="710"/>
                </a:cubicBezTo>
                <a:cubicBezTo>
                  <a:pt x="3215" y="720"/>
                  <a:pt x="3204" y="728"/>
                  <a:pt x="3191" y="733"/>
                </a:cubicBezTo>
                <a:cubicBezTo>
                  <a:pt x="3178" y="739"/>
                  <a:pt x="3164" y="741"/>
                  <a:pt x="3150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2" y="700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CuadroTexto 633"/>
          <p:cNvSpPr txBox="1"/>
          <p:nvPr/>
        </p:nvSpPr>
        <p:spPr>
          <a:xfrm>
            <a:off x="5704920" y="5116320"/>
            <a:ext cx="3210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 para la basura de TU máquina (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CuadroTexto 634"/>
          <p:cNvSpPr txBox="1"/>
          <p:nvPr/>
        </p:nvSpPr>
        <p:spPr>
          <a:xfrm>
            <a:off x="8972280" y="515376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.DS_Store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CuadroTexto 635"/>
          <p:cNvSpPr txBox="1"/>
          <p:nvPr/>
        </p:nvSpPr>
        <p:spPr>
          <a:xfrm>
            <a:off x="10082160" y="5116320"/>
            <a:ext cx="127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); el del repo,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CuadroTexto 636"/>
          <p:cNvSpPr txBox="1"/>
          <p:nvPr/>
        </p:nvSpPr>
        <p:spPr>
          <a:xfrm>
            <a:off x="1123920" y="5459400"/>
            <a:ext cx="2554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para lo que aplica a todos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CuadroTexto 637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CuadroTexto 638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CuadroTexto 639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Forma libre 6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Forma libre 6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Forma libre 66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Forma libre 665"/>
          <p:cNvSpPr/>
          <p:nvPr/>
        </p:nvSpPr>
        <p:spPr>
          <a:xfrm>
            <a:off x="666720" y="37242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Forma libre 666"/>
          <p:cNvSpPr/>
          <p:nvPr/>
        </p:nvSpPr>
        <p:spPr>
          <a:xfrm>
            <a:off x="666720" y="37242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Forma libre 667"/>
          <p:cNvSpPr/>
          <p:nvPr/>
        </p:nvSpPr>
        <p:spPr>
          <a:xfrm>
            <a:off x="914040" y="2180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CuadroTexto 668"/>
          <p:cNvSpPr txBox="1"/>
          <p:nvPr/>
        </p:nvSpPr>
        <p:spPr>
          <a:xfrm>
            <a:off x="666720" y="1396800"/>
            <a:ext cx="48474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NUNCA entra a un repositorio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Forma libre 669"/>
          <p:cNvSpPr/>
          <p:nvPr/>
        </p:nvSpPr>
        <p:spPr>
          <a:xfrm>
            <a:off x="914040" y="25812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6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6"/>
                </a:cubicBez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CuadroTexto 670"/>
          <p:cNvSpPr txBox="1"/>
          <p:nvPr/>
        </p:nvSpPr>
        <p:spPr>
          <a:xfrm>
            <a:off x="1123920" y="2068200"/>
            <a:ext cx="7020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Datos de pacientes.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Ni "sólo para probar", ni de-identiﬁcados a mano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Forma libre 671"/>
          <p:cNvSpPr/>
          <p:nvPr/>
        </p:nvSpPr>
        <p:spPr>
          <a:xfrm>
            <a:off x="6181560" y="2485800"/>
            <a:ext cx="581400" cy="267120"/>
          </a:xfrm>
          <a:custGeom>
            <a:avLst/>
            <a:gdLst/>
            <a:ahLst/>
            <a:cxnLst/>
            <a:rect l="0" t="0" r="r" b="b"/>
            <a:pathLst>
              <a:path w="1615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1509" y="0"/>
                </a:lnTo>
                <a:cubicBezTo>
                  <a:pt x="1523" y="0"/>
                  <a:pt x="1537" y="3"/>
                  <a:pt x="1550" y="8"/>
                </a:cubicBezTo>
                <a:cubicBezTo>
                  <a:pt x="1563" y="14"/>
                  <a:pt x="1574" y="21"/>
                  <a:pt x="1584" y="31"/>
                </a:cubicBezTo>
                <a:cubicBezTo>
                  <a:pt x="1594" y="41"/>
                  <a:pt x="1601" y="52"/>
                  <a:pt x="1607" y="65"/>
                </a:cubicBezTo>
                <a:cubicBezTo>
                  <a:pt x="1612" y="78"/>
                  <a:pt x="1615" y="92"/>
                  <a:pt x="1615" y="106"/>
                </a:cubicBezTo>
                <a:lnTo>
                  <a:pt x="1615" y="636"/>
                </a:lnTo>
                <a:cubicBezTo>
                  <a:pt x="1615" y="650"/>
                  <a:pt x="1612" y="664"/>
                  <a:pt x="1607" y="677"/>
                </a:cubicBezTo>
                <a:cubicBezTo>
                  <a:pt x="1601" y="690"/>
                  <a:pt x="1594" y="701"/>
                  <a:pt x="1584" y="711"/>
                </a:cubicBezTo>
                <a:cubicBezTo>
                  <a:pt x="1574" y="721"/>
                  <a:pt x="1563" y="729"/>
                  <a:pt x="1550" y="734"/>
                </a:cubicBezTo>
                <a:cubicBezTo>
                  <a:pt x="1537" y="739"/>
                  <a:pt x="1523" y="742"/>
                  <a:pt x="1509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9"/>
                  <a:pt x="41" y="721"/>
                  <a:pt x="31" y="711"/>
                </a:cubicBezTo>
                <a:cubicBezTo>
                  <a:pt x="21" y="701"/>
                  <a:pt x="13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CuadroTexto 672"/>
          <p:cNvSpPr txBox="1"/>
          <p:nvPr/>
        </p:nvSpPr>
        <p:spPr>
          <a:xfrm>
            <a:off x="1123920" y="2468520"/>
            <a:ext cx="5060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Credenciales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llaves de API, contraseñas, tokens,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Forma libre 673"/>
          <p:cNvSpPr/>
          <p:nvPr/>
        </p:nvSpPr>
        <p:spPr>
          <a:xfrm>
            <a:off x="914040" y="298116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2" y="172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9" y="66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CuadroTexto 674"/>
          <p:cNvSpPr txBox="1"/>
          <p:nvPr/>
        </p:nvSpPr>
        <p:spPr>
          <a:xfrm>
            <a:off x="6236640" y="2505600"/>
            <a:ext cx="4705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.env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Forma libre 675"/>
          <p:cNvSpPr/>
          <p:nvPr/>
        </p:nvSpPr>
        <p:spPr>
          <a:xfrm>
            <a:off x="914040" y="33811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8"/>
                  <a:pt x="148" y="204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4"/>
                </a:cubicBezTo>
                <a:cubicBezTo>
                  <a:pt x="53" y="198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CuadroTexto 676"/>
          <p:cNvSpPr txBox="1"/>
          <p:nvPr/>
        </p:nvSpPr>
        <p:spPr>
          <a:xfrm>
            <a:off x="1123920" y="2868480"/>
            <a:ext cx="7821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Binarios grandes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modelos, imágenes de resonancia (para eso: Git LFS, DVC)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Forma libre 677"/>
          <p:cNvSpPr/>
          <p:nvPr/>
        </p:nvSpPr>
        <p:spPr>
          <a:xfrm>
            <a:off x="2457360" y="3286080"/>
            <a:ext cx="1514880" cy="266760"/>
          </a:xfrm>
          <a:custGeom>
            <a:avLst/>
            <a:gdLst/>
            <a:ahLst/>
            <a:cxnLst/>
            <a:rect l="0" t="0" r="r" b="b"/>
            <a:pathLst>
              <a:path w="4208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4102" y="0"/>
                </a:lnTo>
                <a:cubicBezTo>
                  <a:pt x="4116" y="0"/>
                  <a:pt x="4129" y="2"/>
                  <a:pt x="4142" y="8"/>
                </a:cubicBezTo>
                <a:cubicBezTo>
                  <a:pt x="4155" y="13"/>
                  <a:pt x="4167" y="21"/>
                  <a:pt x="4177" y="31"/>
                </a:cubicBezTo>
                <a:cubicBezTo>
                  <a:pt x="4187" y="41"/>
                  <a:pt x="4194" y="52"/>
                  <a:pt x="4200" y="65"/>
                </a:cubicBezTo>
                <a:cubicBezTo>
                  <a:pt x="4205" y="78"/>
                  <a:pt x="4208" y="91"/>
                  <a:pt x="4208" y="105"/>
                </a:cubicBezTo>
                <a:lnTo>
                  <a:pt x="4208" y="636"/>
                </a:lnTo>
                <a:cubicBezTo>
                  <a:pt x="4208" y="650"/>
                  <a:pt x="4205" y="663"/>
                  <a:pt x="4200" y="676"/>
                </a:cubicBezTo>
                <a:cubicBezTo>
                  <a:pt x="4194" y="689"/>
                  <a:pt x="4187" y="701"/>
                  <a:pt x="4177" y="710"/>
                </a:cubicBezTo>
                <a:cubicBezTo>
                  <a:pt x="4167" y="720"/>
                  <a:pt x="4155" y="728"/>
                  <a:pt x="4142" y="733"/>
                </a:cubicBezTo>
                <a:cubicBezTo>
                  <a:pt x="4129" y="739"/>
                  <a:pt x="4116" y="741"/>
                  <a:pt x="4102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CuadroTexto 678"/>
          <p:cNvSpPr txBox="1"/>
          <p:nvPr/>
        </p:nvSpPr>
        <p:spPr>
          <a:xfrm>
            <a:off x="1123920" y="3268440"/>
            <a:ext cx="133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Basura local: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CuadroTexto 679"/>
          <p:cNvSpPr txBox="1"/>
          <p:nvPr/>
        </p:nvSpPr>
        <p:spPr>
          <a:xfrm>
            <a:off x="2515320" y="3305880"/>
            <a:ext cx="14101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__pycache__/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Forma libre 680"/>
          <p:cNvSpPr/>
          <p:nvPr/>
        </p:nvSpPr>
        <p:spPr>
          <a:xfrm>
            <a:off x="4105080" y="3286080"/>
            <a:ext cx="1162440" cy="266760"/>
          </a:xfrm>
          <a:custGeom>
            <a:avLst/>
            <a:gdLst/>
            <a:ahLst/>
            <a:cxnLst/>
            <a:rect l="0" t="0" r="r" b="b"/>
            <a:pathLst>
              <a:path w="3229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3123" y="0"/>
                </a:lnTo>
                <a:cubicBezTo>
                  <a:pt x="3137" y="0"/>
                  <a:pt x="3151" y="2"/>
                  <a:pt x="3164" y="8"/>
                </a:cubicBezTo>
                <a:cubicBezTo>
                  <a:pt x="3177" y="13"/>
                  <a:pt x="3188" y="21"/>
                  <a:pt x="3198" y="31"/>
                </a:cubicBezTo>
                <a:cubicBezTo>
                  <a:pt x="3208" y="41"/>
                  <a:pt x="3216" y="52"/>
                  <a:pt x="3221" y="65"/>
                </a:cubicBezTo>
                <a:cubicBezTo>
                  <a:pt x="3226" y="78"/>
                  <a:pt x="3229" y="91"/>
                  <a:pt x="3229" y="105"/>
                </a:cubicBezTo>
                <a:lnTo>
                  <a:pt x="3229" y="636"/>
                </a:lnTo>
                <a:cubicBezTo>
                  <a:pt x="3229" y="650"/>
                  <a:pt x="3226" y="663"/>
                  <a:pt x="3221" y="676"/>
                </a:cubicBezTo>
                <a:cubicBezTo>
                  <a:pt x="3216" y="689"/>
                  <a:pt x="3208" y="701"/>
                  <a:pt x="3198" y="710"/>
                </a:cubicBezTo>
                <a:cubicBezTo>
                  <a:pt x="3188" y="720"/>
                  <a:pt x="3177" y="728"/>
                  <a:pt x="3164" y="733"/>
                </a:cubicBezTo>
                <a:cubicBezTo>
                  <a:pt x="3151" y="739"/>
                  <a:pt x="3137" y="741"/>
                  <a:pt x="3123" y="741"/>
                </a:cubicBezTo>
                <a:lnTo>
                  <a:pt x="106" y="741"/>
                </a:lnTo>
                <a:cubicBezTo>
                  <a:pt x="92" y="741"/>
                  <a:pt x="78" y="739"/>
                  <a:pt x="65" y="733"/>
                </a:cubicBezTo>
                <a:cubicBezTo>
                  <a:pt x="52" y="728"/>
                  <a:pt x="41" y="720"/>
                  <a:pt x="31" y="710"/>
                </a:cubicBezTo>
                <a:cubicBezTo>
                  <a:pt x="21" y="701"/>
                  <a:pt x="13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CuadroTexto 681"/>
          <p:cNvSpPr txBox="1"/>
          <p:nvPr/>
        </p:nvSpPr>
        <p:spPr>
          <a:xfrm>
            <a:off x="3976560" y="32684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CuadroTexto 682"/>
          <p:cNvSpPr txBox="1"/>
          <p:nvPr/>
        </p:nvSpPr>
        <p:spPr>
          <a:xfrm>
            <a:off x="4160880" y="3305880"/>
            <a:ext cx="1057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.DS_Store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Forma libre 683"/>
          <p:cNvSpPr/>
          <p:nvPr/>
        </p:nvSpPr>
        <p:spPr>
          <a:xfrm>
            <a:off x="5400360" y="3286080"/>
            <a:ext cx="2334240" cy="266760"/>
          </a:xfrm>
          <a:custGeom>
            <a:avLst/>
            <a:gdLst/>
            <a:ahLst/>
            <a:cxnLst/>
            <a:rect l="0" t="0" r="r" b="b"/>
            <a:pathLst>
              <a:path w="6484" h="741">
                <a:moveTo>
                  <a:pt x="0" y="636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6378" y="0"/>
                </a:lnTo>
                <a:cubicBezTo>
                  <a:pt x="6392" y="0"/>
                  <a:pt x="6405" y="2"/>
                  <a:pt x="6418" y="8"/>
                </a:cubicBezTo>
                <a:cubicBezTo>
                  <a:pt x="6431" y="13"/>
                  <a:pt x="6443" y="21"/>
                  <a:pt x="6453" y="31"/>
                </a:cubicBezTo>
                <a:cubicBezTo>
                  <a:pt x="6463" y="41"/>
                  <a:pt x="6470" y="52"/>
                  <a:pt x="6476" y="65"/>
                </a:cubicBezTo>
                <a:cubicBezTo>
                  <a:pt x="6481" y="78"/>
                  <a:pt x="6484" y="91"/>
                  <a:pt x="6484" y="105"/>
                </a:cubicBezTo>
                <a:lnTo>
                  <a:pt x="6484" y="636"/>
                </a:lnTo>
                <a:cubicBezTo>
                  <a:pt x="6484" y="650"/>
                  <a:pt x="6481" y="663"/>
                  <a:pt x="6476" y="676"/>
                </a:cubicBezTo>
                <a:cubicBezTo>
                  <a:pt x="6470" y="689"/>
                  <a:pt x="6463" y="701"/>
                  <a:pt x="6453" y="710"/>
                </a:cubicBezTo>
                <a:cubicBezTo>
                  <a:pt x="6443" y="720"/>
                  <a:pt x="6431" y="728"/>
                  <a:pt x="6418" y="733"/>
                </a:cubicBezTo>
                <a:cubicBezTo>
                  <a:pt x="6405" y="739"/>
                  <a:pt x="6392" y="741"/>
                  <a:pt x="6378" y="741"/>
                </a:cubicBezTo>
                <a:lnTo>
                  <a:pt x="106" y="741"/>
                </a:lnTo>
                <a:cubicBezTo>
                  <a:pt x="92" y="741"/>
                  <a:pt x="79" y="739"/>
                  <a:pt x="66" y="733"/>
                </a:cubicBezTo>
                <a:cubicBezTo>
                  <a:pt x="53" y="728"/>
                  <a:pt x="41" y="720"/>
                  <a:pt x="31" y="710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CuadroTexto 684"/>
          <p:cNvSpPr txBox="1"/>
          <p:nvPr/>
        </p:nvSpPr>
        <p:spPr>
          <a:xfrm>
            <a:off x="5270760" y="326844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CuadroTexto 685"/>
          <p:cNvSpPr txBox="1"/>
          <p:nvPr/>
        </p:nvSpPr>
        <p:spPr>
          <a:xfrm>
            <a:off x="5455440" y="3305880"/>
            <a:ext cx="2232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.ipynb_checkpoints/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CuadroTexto 686"/>
          <p:cNvSpPr txBox="1"/>
          <p:nvPr/>
        </p:nvSpPr>
        <p:spPr>
          <a:xfrm>
            <a:off x="905040" y="3878280"/>
            <a:ext cx="103896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Un secreto subido queda en la historia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aunque lo borres en el siguiente commit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: cualquiera que clone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Forma libre 687"/>
          <p:cNvSpPr/>
          <p:nvPr/>
        </p:nvSpPr>
        <p:spPr>
          <a:xfrm>
            <a:off x="2552400" y="423828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6" y="0"/>
                </a:cubicBezTo>
                <a:lnTo>
                  <a:pt x="3467" y="0"/>
                </a:lnTo>
                <a:cubicBezTo>
                  <a:pt x="3481" y="0"/>
                  <a:pt x="3495" y="3"/>
                  <a:pt x="3508" y="9"/>
                </a:cubicBezTo>
                <a:cubicBezTo>
                  <a:pt x="3521" y="14"/>
                  <a:pt x="3532" y="22"/>
                  <a:pt x="3542" y="31"/>
                </a:cubicBezTo>
                <a:cubicBezTo>
                  <a:pt x="3552" y="41"/>
                  <a:pt x="3560" y="53"/>
                  <a:pt x="3565" y="66"/>
                </a:cubicBezTo>
                <a:cubicBezTo>
                  <a:pt x="3571" y="79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1" y="664"/>
                  <a:pt x="3565" y="677"/>
                </a:cubicBezTo>
                <a:cubicBezTo>
                  <a:pt x="3560" y="690"/>
                  <a:pt x="3552" y="701"/>
                  <a:pt x="3542" y="711"/>
                </a:cubicBezTo>
                <a:cubicBezTo>
                  <a:pt x="3532" y="721"/>
                  <a:pt x="3521" y="729"/>
                  <a:pt x="3508" y="734"/>
                </a:cubicBezTo>
                <a:cubicBezTo>
                  <a:pt x="3495" y="740"/>
                  <a:pt x="3481" y="742"/>
                  <a:pt x="3467" y="742"/>
                </a:cubicBezTo>
                <a:lnTo>
                  <a:pt x="106" y="742"/>
                </a:lnTo>
                <a:cubicBezTo>
                  <a:pt x="92" y="742"/>
                  <a:pt x="79" y="740"/>
                  <a:pt x="66" y="734"/>
                </a:cubicBezTo>
                <a:cubicBezTo>
                  <a:pt x="53" y="729"/>
                  <a:pt x="41" y="721"/>
                  <a:pt x="31" y="711"/>
                </a:cubicBezTo>
                <a:cubicBezTo>
                  <a:pt x="21" y="701"/>
                  <a:pt x="14" y="690"/>
                  <a:pt x="8" y="677"/>
                </a:cubicBezTo>
                <a:cubicBezTo>
                  <a:pt x="3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CuadroTexto 688"/>
          <p:cNvSpPr txBox="1"/>
          <p:nvPr/>
        </p:nvSpPr>
        <p:spPr>
          <a:xfrm>
            <a:off x="905040" y="4221000"/>
            <a:ext cx="1648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puede verlo con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CuadroTexto 689"/>
          <p:cNvSpPr txBox="1"/>
          <p:nvPr/>
        </p:nvSpPr>
        <p:spPr>
          <a:xfrm>
            <a:off x="2609640" y="425844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log -p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CuadroTexto 690"/>
          <p:cNvSpPr txBox="1"/>
          <p:nvPr/>
        </p:nvSpPr>
        <p:spPr>
          <a:xfrm>
            <a:off x="3836520" y="4221000"/>
            <a:ext cx="724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rota la credencial, siempre.</a:t>
            </a:r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 Borrarla del último commit no la salva.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Forma libre 691"/>
          <p:cNvSpPr/>
          <p:nvPr/>
        </p:nvSpPr>
        <p:spPr>
          <a:xfrm>
            <a:off x="5886360" y="4848120"/>
            <a:ext cx="1047960" cy="267120"/>
          </a:xfrm>
          <a:custGeom>
            <a:avLst/>
            <a:gdLst/>
            <a:ahLst/>
            <a:cxnLst/>
            <a:rect l="0" t="0" r="r" b="b"/>
            <a:pathLst>
              <a:path w="2911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805" y="0"/>
                </a:lnTo>
                <a:cubicBezTo>
                  <a:pt x="2819" y="0"/>
                  <a:pt x="2833" y="2"/>
                  <a:pt x="2846" y="8"/>
                </a:cubicBezTo>
                <a:cubicBezTo>
                  <a:pt x="2859" y="13"/>
                  <a:pt x="2870" y="21"/>
                  <a:pt x="2880" y="31"/>
                </a:cubicBezTo>
                <a:cubicBezTo>
                  <a:pt x="2890" y="41"/>
                  <a:pt x="2898" y="52"/>
                  <a:pt x="2903" y="65"/>
                </a:cubicBezTo>
                <a:cubicBezTo>
                  <a:pt x="2908" y="78"/>
                  <a:pt x="2911" y="92"/>
                  <a:pt x="2911" y="106"/>
                </a:cubicBezTo>
                <a:lnTo>
                  <a:pt x="2911" y="636"/>
                </a:lnTo>
                <a:cubicBezTo>
                  <a:pt x="2911" y="650"/>
                  <a:pt x="2908" y="663"/>
                  <a:pt x="2903" y="676"/>
                </a:cubicBezTo>
                <a:cubicBezTo>
                  <a:pt x="2898" y="689"/>
                  <a:pt x="2890" y="701"/>
                  <a:pt x="2880" y="711"/>
                </a:cubicBezTo>
                <a:cubicBezTo>
                  <a:pt x="2870" y="721"/>
                  <a:pt x="2859" y="728"/>
                  <a:pt x="2846" y="734"/>
                </a:cubicBezTo>
                <a:cubicBezTo>
                  <a:pt x="2833" y="739"/>
                  <a:pt x="2819" y="742"/>
                  <a:pt x="2805" y="742"/>
                </a:cubicBezTo>
                <a:lnTo>
                  <a:pt x="106" y="742"/>
                </a:lnTo>
                <a:cubicBezTo>
                  <a:pt x="92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CuadroTexto 692"/>
          <p:cNvSpPr txBox="1"/>
          <p:nvPr/>
        </p:nvSpPr>
        <p:spPr>
          <a:xfrm>
            <a:off x="666720" y="4830480"/>
            <a:ext cx="52221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Herramientas que escanean antes de que sea tarde: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CuadroTexto 693"/>
          <p:cNvSpPr txBox="1"/>
          <p:nvPr/>
        </p:nvSpPr>
        <p:spPr>
          <a:xfrm>
            <a:off x="5941440" y="4867920"/>
            <a:ext cx="940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gitleaks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Forma libre 694"/>
          <p:cNvSpPr/>
          <p:nvPr/>
        </p:nvSpPr>
        <p:spPr>
          <a:xfrm>
            <a:off x="7057800" y="4848120"/>
            <a:ext cx="1286280" cy="267120"/>
          </a:xfrm>
          <a:custGeom>
            <a:avLst/>
            <a:gdLst/>
            <a:ahLst/>
            <a:cxnLst/>
            <a:rect l="0" t="0" r="r" b="b"/>
            <a:pathLst>
              <a:path w="3573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2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lnTo>
                  <a:pt x="3467" y="0"/>
                </a:lnTo>
                <a:cubicBezTo>
                  <a:pt x="3481" y="0"/>
                  <a:pt x="3495" y="2"/>
                  <a:pt x="3508" y="8"/>
                </a:cubicBezTo>
                <a:cubicBezTo>
                  <a:pt x="3521" y="13"/>
                  <a:pt x="3532" y="21"/>
                  <a:pt x="3542" y="31"/>
                </a:cubicBezTo>
                <a:cubicBezTo>
                  <a:pt x="3552" y="41"/>
                  <a:pt x="3560" y="52"/>
                  <a:pt x="3565" y="65"/>
                </a:cubicBezTo>
                <a:cubicBezTo>
                  <a:pt x="3570" y="78"/>
                  <a:pt x="3573" y="92"/>
                  <a:pt x="3573" y="106"/>
                </a:cubicBezTo>
                <a:lnTo>
                  <a:pt x="3573" y="636"/>
                </a:lnTo>
                <a:cubicBezTo>
                  <a:pt x="3573" y="650"/>
                  <a:pt x="3570" y="663"/>
                  <a:pt x="3565" y="676"/>
                </a:cubicBezTo>
                <a:cubicBezTo>
                  <a:pt x="3560" y="689"/>
                  <a:pt x="3552" y="701"/>
                  <a:pt x="3542" y="711"/>
                </a:cubicBezTo>
                <a:cubicBezTo>
                  <a:pt x="3532" y="721"/>
                  <a:pt x="3521" y="728"/>
                  <a:pt x="3508" y="734"/>
                </a:cubicBezTo>
                <a:cubicBezTo>
                  <a:pt x="3495" y="739"/>
                  <a:pt x="3481" y="742"/>
                  <a:pt x="3467" y="742"/>
                </a:cubicBezTo>
                <a:lnTo>
                  <a:pt x="107" y="742"/>
                </a:lnTo>
                <a:cubicBezTo>
                  <a:pt x="93" y="742"/>
                  <a:pt x="79" y="739"/>
                  <a:pt x="66" y="734"/>
                </a:cubicBezTo>
                <a:cubicBezTo>
                  <a:pt x="53" y="728"/>
                  <a:pt x="42" y="721"/>
                  <a:pt x="31" y="711"/>
                </a:cubicBezTo>
                <a:cubicBezTo>
                  <a:pt x="21" y="701"/>
                  <a:pt x="14" y="689"/>
                  <a:pt x="8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CuadroTexto 695"/>
          <p:cNvSpPr txBox="1"/>
          <p:nvPr/>
        </p:nvSpPr>
        <p:spPr>
          <a:xfrm>
            <a:off x="6934320" y="4830480"/>
            <a:ext cx="228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CuadroTexto 696"/>
          <p:cNvSpPr txBox="1"/>
          <p:nvPr/>
        </p:nvSpPr>
        <p:spPr>
          <a:xfrm>
            <a:off x="7119000" y="486792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trufflehog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CuadroTexto 697"/>
          <p:cNvSpPr txBox="1"/>
          <p:nvPr/>
        </p:nvSpPr>
        <p:spPr>
          <a:xfrm>
            <a:off x="8345880" y="4830480"/>
            <a:ext cx="2511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 el </a:t>
            </a:r>
            <a:r>
              <a:rPr lang="es-ES" sz="1800" b="0" i="1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secret scanning 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que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CuadroTexto 698"/>
          <p:cNvSpPr txBox="1"/>
          <p:nvPr/>
        </p:nvSpPr>
        <p:spPr>
          <a:xfrm>
            <a:off x="666720" y="5173560"/>
            <a:ext cx="492120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GitHub corre automáticamente en repos públicos.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CuadroTexto 69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CuadroTexto 70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CuadroTexto 70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26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Forma libre 7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Forma libre 7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Forma libre 70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CuadroTexto 705"/>
          <p:cNvSpPr txBox="1"/>
          <p:nvPr/>
        </p:nvSpPr>
        <p:spPr>
          <a:xfrm>
            <a:off x="1386000" y="3063960"/>
            <a:ext cx="965412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7. Un repositorio de investigación decente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CuadroTexto 706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CuadroTexto 707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CuadroTexto 708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27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Forma libre 7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Forma libre 71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Forma libre 71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Forma libre 712"/>
          <p:cNvSpPr/>
          <p:nvPr/>
        </p:nvSpPr>
        <p:spPr>
          <a:xfrm>
            <a:off x="671400" y="1766880"/>
            <a:ext cx="10849320" cy="2676600"/>
          </a:xfrm>
          <a:custGeom>
            <a:avLst/>
            <a:gdLst/>
            <a:ahLst/>
            <a:cxnLst/>
            <a:rect l="0" t="0" r="r" b="b"/>
            <a:pathLst>
              <a:path w="30137" h="7435">
                <a:moveTo>
                  <a:pt x="0" y="723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237"/>
                </a:lnTo>
                <a:cubicBezTo>
                  <a:pt x="30137" y="7250"/>
                  <a:pt x="30136" y="7263"/>
                  <a:pt x="30133" y="7276"/>
                </a:cubicBezTo>
                <a:cubicBezTo>
                  <a:pt x="30130" y="7288"/>
                  <a:pt x="30127" y="7301"/>
                  <a:pt x="30122" y="7313"/>
                </a:cubicBezTo>
                <a:cubicBezTo>
                  <a:pt x="30117" y="7325"/>
                  <a:pt x="30111" y="7336"/>
                  <a:pt x="30103" y="7347"/>
                </a:cubicBezTo>
                <a:cubicBezTo>
                  <a:pt x="30096" y="7358"/>
                  <a:pt x="30088" y="7368"/>
                  <a:pt x="30079" y="7377"/>
                </a:cubicBezTo>
                <a:cubicBezTo>
                  <a:pt x="30070" y="7386"/>
                  <a:pt x="30059" y="7395"/>
                  <a:pt x="30049" y="7402"/>
                </a:cubicBezTo>
                <a:cubicBezTo>
                  <a:pt x="30038" y="7409"/>
                  <a:pt x="30026" y="7415"/>
                  <a:pt x="30014" y="7420"/>
                </a:cubicBezTo>
                <a:cubicBezTo>
                  <a:pt x="30002" y="7425"/>
                  <a:pt x="29990" y="7429"/>
                  <a:pt x="29977" y="7431"/>
                </a:cubicBezTo>
                <a:cubicBezTo>
                  <a:pt x="29964" y="7434"/>
                  <a:pt x="29951" y="7435"/>
                  <a:pt x="29938" y="7435"/>
                </a:cubicBezTo>
                <a:lnTo>
                  <a:pt x="198" y="7435"/>
                </a:lnTo>
                <a:cubicBezTo>
                  <a:pt x="185" y="7435"/>
                  <a:pt x="172" y="7434"/>
                  <a:pt x="160" y="7431"/>
                </a:cubicBezTo>
                <a:cubicBezTo>
                  <a:pt x="147" y="7429"/>
                  <a:pt x="134" y="7425"/>
                  <a:pt x="122" y="7420"/>
                </a:cubicBezTo>
                <a:cubicBezTo>
                  <a:pt x="110" y="7415"/>
                  <a:pt x="99" y="7409"/>
                  <a:pt x="88" y="7402"/>
                </a:cubicBezTo>
                <a:cubicBezTo>
                  <a:pt x="77" y="7395"/>
                  <a:pt x="67" y="7386"/>
                  <a:pt x="58" y="7377"/>
                </a:cubicBezTo>
                <a:cubicBezTo>
                  <a:pt x="49" y="7368"/>
                  <a:pt x="40" y="7358"/>
                  <a:pt x="33" y="7347"/>
                </a:cubicBezTo>
                <a:cubicBezTo>
                  <a:pt x="26" y="7336"/>
                  <a:pt x="20" y="7325"/>
                  <a:pt x="15" y="7313"/>
                </a:cubicBezTo>
                <a:cubicBezTo>
                  <a:pt x="10" y="7301"/>
                  <a:pt x="6" y="7288"/>
                  <a:pt x="4" y="7276"/>
                </a:cubicBezTo>
                <a:cubicBezTo>
                  <a:pt x="1" y="7263"/>
                  <a:pt x="0" y="7250"/>
                  <a:pt x="0" y="7237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Forma libre 713"/>
          <p:cNvSpPr/>
          <p:nvPr/>
        </p:nvSpPr>
        <p:spPr>
          <a:xfrm>
            <a:off x="671400" y="1766880"/>
            <a:ext cx="10849320" cy="2676600"/>
          </a:xfrm>
          <a:custGeom>
            <a:avLst/>
            <a:gdLst/>
            <a:ahLst/>
            <a:cxnLst/>
            <a:rect l="0" t="0" r="r" b="b"/>
            <a:pathLst>
              <a:path w="30137" h="7435">
                <a:moveTo>
                  <a:pt x="0" y="723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6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3"/>
                </a:cubicBezTo>
                <a:cubicBezTo>
                  <a:pt x="172" y="1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1"/>
                  <a:pt x="29977" y="3"/>
                </a:cubicBezTo>
                <a:cubicBezTo>
                  <a:pt x="29990" y="6"/>
                  <a:pt x="30002" y="10"/>
                  <a:pt x="30014" y="15"/>
                </a:cubicBezTo>
                <a:cubicBezTo>
                  <a:pt x="30026" y="20"/>
                  <a:pt x="30038" y="26"/>
                  <a:pt x="30049" y="33"/>
                </a:cubicBezTo>
                <a:cubicBezTo>
                  <a:pt x="30059" y="40"/>
                  <a:pt x="30070" y="48"/>
                  <a:pt x="30079" y="58"/>
                </a:cubicBezTo>
                <a:cubicBezTo>
                  <a:pt x="30088" y="67"/>
                  <a:pt x="30096" y="77"/>
                  <a:pt x="30103" y="88"/>
                </a:cubicBezTo>
                <a:cubicBezTo>
                  <a:pt x="30111" y="99"/>
                  <a:pt x="30117" y="110"/>
                  <a:pt x="30122" y="122"/>
                </a:cubicBezTo>
                <a:cubicBezTo>
                  <a:pt x="30127" y="134"/>
                  <a:pt x="30130" y="146"/>
                  <a:pt x="30133" y="159"/>
                </a:cubicBezTo>
                <a:cubicBezTo>
                  <a:pt x="30136" y="172"/>
                  <a:pt x="30137" y="185"/>
                  <a:pt x="30137" y="198"/>
                </a:cubicBezTo>
                <a:lnTo>
                  <a:pt x="30137" y="7237"/>
                </a:lnTo>
                <a:cubicBezTo>
                  <a:pt x="30137" y="7250"/>
                  <a:pt x="30136" y="7263"/>
                  <a:pt x="30133" y="7276"/>
                </a:cubicBezTo>
                <a:cubicBezTo>
                  <a:pt x="30130" y="7288"/>
                  <a:pt x="30127" y="7301"/>
                  <a:pt x="30122" y="7313"/>
                </a:cubicBezTo>
                <a:cubicBezTo>
                  <a:pt x="30117" y="7325"/>
                  <a:pt x="30111" y="7336"/>
                  <a:pt x="30103" y="7347"/>
                </a:cubicBezTo>
                <a:cubicBezTo>
                  <a:pt x="30096" y="7358"/>
                  <a:pt x="30088" y="7368"/>
                  <a:pt x="30079" y="7377"/>
                </a:cubicBezTo>
                <a:cubicBezTo>
                  <a:pt x="30070" y="7386"/>
                  <a:pt x="30059" y="7395"/>
                  <a:pt x="30049" y="7402"/>
                </a:cubicBezTo>
                <a:cubicBezTo>
                  <a:pt x="30038" y="7409"/>
                  <a:pt x="30026" y="7415"/>
                  <a:pt x="30014" y="7420"/>
                </a:cubicBezTo>
                <a:cubicBezTo>
                  <a:pt x="30002" y="7425"/>
                  <a:pt x="29990" y="7429"/>
                  <a:pt x="29977" y="7431"/>
                </a:cubicBezTo>
                <a:cubicBezTo>
                  <a:pt x="29964" y="7434"/>
                  <a:pt x="29951" y="7435"/>
                  <a:pt x="29938" y="7435"/>
                </a:cubicBezTo>
                <a:lnTo>
                  <a:pt x="198" y="7435"/>
                </a:lnTo>
                <a:cubicBezTo>
                  <a:pt x="185" y="7435"/>
                  <a:pt x="172" y="7434"/>
                  <a:pt x="160" y="7431"/>
                </a:cubicBezTo>
                <a:cubicBezTo>
                  <a:pt x="147" y="7429"/>
                  <a:pt x="134" y="7425"/>
                  <a:pt x="122" y="7420"/>
                </a:cubicBezTo>
                <a:cubicBezTo>
                  <a:pt x="110" y="7415"/>
                  <a:pt x="99" y="7409"/>
                  <a:pt x="88" y="7402"/>
                </a:cubicBezTo>
                <a:cubicBezTo>
                  <a:pt x="77" y="7395"/>
                  <a:pt x="67" y="7386"/>
                  <a:pt x="58" y="7377"/>
                </a:cubicBezTo>
                <a:cubicBezTo>
                  <a:pt x="49" y="7368"/>
                  <a:pt x="40" y="7358"/>
                  <a:pt x="33" y="7347"/>
                </a:cubicBezTo>
                <a:cubicBezTo>
                  <a:pt x="26" y="7336"/>
                  <a:pt x="20" y="7325"/>
                  <a:pt x="15" y="7313"/>
                </a:cubicBezTo>
                <a:cubicBezTo>
                  <a:pt x="10" y="7301"/>
                  <a:pt x="6" y="7288"/>
                  <a:pt x="4" y="7276"/>
                </a:cubicBezTo>
                <a:cubicBezTo>
                  <a:pt x="1" y="7263"/>
                  <a:pt x="0" y="7250"/>
                  <a:pt x="0" y="723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CuadroTexto 714"/>
          <p:cNvSpPr txBox="1"/>
          <p:nvPr/>
        </p:nvSpPr>
        <p:spPr>
          <a:xfrm>
            <a:off x="666720" y="1130040"/>
            <a:ext cx="281448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 anatomía mínima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CuadroTexto 715"/>
          <p:cNvSpPr txBox="1"/>
          <p:nvPr/>
        </p:nvSpPr>
        <p:spPr>
          <a:xfrm>
            <a:off x="866880" y="1946520"/>
            <a:ext cx="1311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mi-proyecto/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CuadroTexto 716"/>
          <p:cNvSpPr txBox="1"/>
          <p:nvPr/>
        </p:nvSpPr>
        <p:spPr>
          <a:xfrm>
            <a:off x="866880" y="2213280"/>
            <a:ext cx="6661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README.md         ← qué es, cómo se corre, en 60 segundos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CuadroTexto 717"/>
          <p:cNvSpPr txBox="1"/>
          <p:nvPr/>
        </p:nvSpPr>
        <p:spPr>
          <a:xfrm>
            <a:off x="866880" y="2470320"/>
            <a:ext cx="7425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LICENSE           ← sin licencia = nadie puede usarlo legalmente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CuadroTexto 718"/>
          <p:cNvSpPr txBox="1"/>
          <p:nvPr/>
        </p:nvSpPr>
        <p:spPr>
          <a:xfrm>
            <a:off x="866880" y="2737080"/>
            <a:ext cx="61149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CITATION.cff      ← cómo citarte; GitHub lo entiende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CuadroTexto 719"/>
          <p:cNvSpPr txBox="1"/>
          <p:nvPr/>
        </p:nvSpPr>
        <p:spPr>
          <a:xfrm>
            <a:off x="866880" y="2994480"/>
            <a:ext cx="1529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.gitignore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CuadroTexto 720"/>
          <p:cNvSpPr txBox="1"/>
          <p:nvPr/>
        </p:nvSpPr>
        <p:spPr>
          <a:xfrm>
            <a:off x="866880" y="3260880"/>
            <a:ext cx="5132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pyproject.toml    ← dependencias (sesión 6)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CuadroTexto 721"/>
          <p:cNvSpPr txBox="1"/>
          <p:nvPr/>
        </p:nvSpPr>
        <p:spPr>
          <a:xfrm>
            <a:off x="866880" y="3518280"/>
            <a:ext cx="3276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src/              ← código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CuadroTexto 722"/>
          <p:cNvSpPr txBox="1"/>
          <p:nvPr/>
        </p:nvSpPr>
        <p:spPr>
          <a:xfrm>
            <a:off x="866880" y="3785040"/>
            <a:ext cx="45864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├── tests/            ← pruebas (sesión 5)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Forma libre 723"/>
          <p:cNvSpPr/>
          <p:nvPr/>
        </p:nvSpPr>
        <p:spPr>
          <a:xfrm>
            <a:off x="914040" y="475272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CuadroTexto 724"/>
          <p:cNvSpPr txBox="1"/>
          <p:nvPr/>
        </p:nvSpPr>
        <p:spPr>
          <a:xfrm>
            <a:off x="866880" y="4042080"/>
            <a:ext cx="6552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└── notebooks/        ← exploración, no lógica de producción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Forma libre 725"/>
          <p:cNvSpPr/>
          <p:nvPr/>
        </p:nvSpPr>
        <p:spPr>
          <a:xfrm>
            <a:off x="914040" y="51526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4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2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2" y="172"/>
                  <a:pt x="14" y="161"/>
                  <a:pt x="9" y="148"/>
                </a:cubicBezTo>
                <a:cubicBezTo>
                  <a:pt x="3" y="134"/>
                  <a:pt x="0" y="120"/>
                  <a:pt x="0" y="106"/>
                </a:cubicBez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CuadroTexto 726"/>
          <p:cNvSpPr txBox="1"/>
          <p:nvPr/>
        </p:nvSpPr>
        <p:spPr>
          <a:xfrm>
            <a:off x="1123920" y="4640040"/>
            <a:ext cx="8196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El README responde: ¿qué es? ¿cómo lo instalo? ¿cómo lo corro? ¿cómo lo cito?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Forma libre 727"/>
          <p:cNvSpPr/>
          <p:nvPr/>
        </p:nvSpPr>
        <p:spPr>
          <a:xfrm>
            <a:off x="3200040" y="5057640"/>
            <a:ext cx="3505680" cy="267120"/>
          </a:xfrm>
          <a:custGeom>
            <a:avLst/>
            <a:gdLst/>
            <a:ahLst/>
            <a:cxnLst/>
            <a:rect l="0" t="0" r="r" b="b"/>
            <a:pathLst>
              <a:path w="9738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9632" y="0"/>
                </a:lnTo>
                <a:cubicBezTo>
                  <a:pt x="9646" y="0"/>
                  <a:pt x="9660" y="3"/>
                  <a:pt x="9673" y="8"/>
                </a:cubicBezTo>
                <a:cubicBezTo>
                  <a:pt x="9686" y="13"/>
                  <a:pt x="9697" y="21"/>
                  <a:pt x="9707" y="31"/>
                </a:cubicBezTo>
                <a:cubicBezTo>
                  <a:pt x="9717" y="41"/>
                  <a:pt x="9725" y="52"/>
                  <a:pt x="9730" y="65"/>
                </a:cubicBezTo>
                <a:cubicBezTo>
                  <a:pt x="9735" y="78"/>
                  <a:pt x="9738" y="92"/>
                  <a:pt x="9738" y="106"/>
                </a:cubicBezTo>
                <a:lnTo>
                  <a:pt x="9738" y="636"/>
                </a:lnTo>
                <a:cubicBezTo>
                  <a:pt x="9738" y="650"/>
                  <a:pt x="9735" y="663"/>
                  <a:pt x="9730" y="676"/>
                </a:cubicBezTo>
                <a:cubicBezTo>
                  <a:pt x="9725" y="689"/>
                  <a:pt x="9717" y="701"/>
                  <a:pt x="9707" y="711"/>
                </a:cubicBezTo>
                <a:cubicBezTo>
                  <a:pt x="9697" y="721"/>
                  <a:pt x="9686" y="728"/>
                  <a:pt x="9673" y="734"/>
                </a:cubicBezTo>
                <a:cubicBezTo>
                  <a:pt x="9660" y="739"/>
                  <a:pt x="9646" y="742"/>
                  <a:pt x="9632" y="742"/>
                </a:cubicBezTo>
                <a:lnTo>
                  <a:pt x="106" y="742"/>
                </a:lnTo>
                <a:cubicBezTo>
                  <a:pt x="92" y="742"/>
                  <a:pt x="79" y="739"/>
                  <a:pt x="66" y="734"/>
                </a:cubicBezTo>
                <a:cubicBezTo>
                  <a:pt x="53" y="728"/>
                  <a:pt x="41" y="721"/>
                  <a:pt x="31" y="711"/>
                </a:cubicBezTo>
                <a:cubicBezTo>
                  <a:pt x="22" y="701"/>
                  <a:pt x="14" y="689"/>
                  <a:pt x="9" y="676"/>
                </a:cubicBezTo>
                <a:cubicBezTo>
                  <a:pt x="3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CuadroTexto 728"/>
          <p:cNvSpPr txBox="1"/>
          <p:nvPr/>
        </p:nvSpPr>
        <p:spPr>
          <a:xfrm>
            <a:off x="1123920" y="5040000"/>
            <a:ext cx="2079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Etiquetas para hitos: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Forma libre 729"/>
          <p:cNvSpPr/>
          <p:nvPr/>
        </p:nvSpPr>
        <p:spPr>
          <a:xfrm>
            <a:off x="914040" y="55530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2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2" y="171"/>
                  <a:pt x="14" y="160"/>
                  <a:pt x="9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3"/>
                  <a:pt x="213" y="107"/>
                </a:cubicBezTo>
                <a:close/>
              </a:path>
            </a:pathLst>
          </a:custGeom>
          <a:solidFill>
            <a:srgbClr val="4A4A4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CuadroTexto 730"/>
          <p:cNvSpPr txBox="1"/>
          <p:nvPr/>
        </p:nvSpPr>
        <p:spPr>
          <a:xfrm>
            <a:off x="3260160" y="5077440"/>
            <a:ext cx="3406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0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tag v1.0-articulo-enviado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CuadroTexto 731"/>
          <p:cNvSpPr txBox="1"/>
          <p:nvPr/>
        </p:nvSpPr>
        <p:spPr>
          <a:xfrm>
            <a:off x="1123920" y="5440320"/>
            <a:ext cx="45334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Zenodo + GitHub te da un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DOI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para el código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CuadroTexto 73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CuadroTexto 73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CuadroTexto 73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28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Forma libre 73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Forma libre 7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Forma libre 7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CuadroTexto 738"/>
          <p:cNvSpPr txBox="1"/>
          <p:nvPr/>
        </p:nvSpPr>
        <p:spPr>
          <a:xfrm>
            <a:off x="3062880" y="3063960"/>
            <a:ext cx="62056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8. Automatización: CI y CD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CuadroTexto 7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CuadroTexto 7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CuadroTexto 7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29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Forma libre 7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Forma libre 7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Forma libre 7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Forma libre 745"/>
          <p:cNvSpPr/>
          <p:nvPr/>
        </p:nvSpPr>
        <p:spPr>
          <a:xfrm>
            <a:off x="671400" y="36334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Forma libre 746"/>
          <p:cNvSpPr/>
          <p:nvPr/>
        </p:nvSpPr>
        <p:spPr>
          <a:xfrm>
            <a:off x="671400" y="3633480"/>
            <a:ext cx="10849320" cy="848160"/>
          </a:xfrm>
          <a:custGeom>
            <a:avLst/>
            <a:gdLst/>
            <a:ahLst/>
            <a:cxnLst/>
            <a:rect l="0" t="0" r="r" b="b"/>
            <a:pathLst>
              <a:path w="30137" h="2356">
                <a:moveTo>
                  <a:pt x="0" y="2158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2158"/>
                </a:lnTo>
                <a:cubicBezTo>
                  <a:pt x="30137" y="2171"/>
                  <a:pt x="30136" y="2184"/>
                  <a:pt x="30133" y="2196"/>
                </a:cubicBezTo>
                <a:cubicBezTo>
                  <a:pt x="30130" y="2209"/>
                  <a:pt x="30127" y="2222"/>
                  <a:pt x="30122" y="2234"/>
                </a:cubicBezTo>
                <a:cubicBezTo>
                  <a:pt x="30117" y="2246"/>
                  <a:pt x="30111" y="2257"/>
                  <a:pt x="30103" y="2268"/>
                </a:cubicBezTo>
                <a:cubicBezTo>
                  <a:pt x="30096" y="2279"/>
                  <a:pt x="30088" y="2289"/>
                  <a:pt x="30079" y="2298"/>
                </a:cubicBezTo>
                <a:cubicBezTo>
                  <a:pt x="30070" y="2307"/>
                  <a:pt x="30059" y="2315"/>
                  <a:pt x="30049" y="2323"/>
                </a:cubicBezTo>
                <a:cubicBezTo>
                  <a:pt x="30038" y="2330"/>
                  <a:pt x="30026" y="2336"/>
                  <a:pt x="30014" y="2341"/>
                </a:cubicBezTo>
                <a:cubicBezTo>
                  <a:pt x="30002" y="2346"/>
                  <a:pt x="29990" y="2350"/>
                  <a:pt x="29977" y="2352"/>
                </a:cubicBezTo>
                <a:cubicBezTo>
                  <a:pt x="29964" y="2355"/>
                  <a:pt x="29951" y="2356"/>
                  <a:pt x="29938" y="2356"/>
                </a:cubicBezTo>
                <a:lnTo>
                  <a:pt x="198" y="2356"/>
                </a:lnTo>
                <a:cubicBezTo>
                  <a:pt x="185" y="2356"/>
                  <a:pt x="172" y="2355"/>
                  <a:pt x="160" y="2352"/>
                </a:cubicBezTo>
                <a:cubicBezTo>
                  <a:pt x="147" y="2350"/>
                  <a:pt x="134" y="2346"/>
                  <a:pt x="122" y="2341"/>
                </a:cubicBezTo>
                <a:cubicBezTo>
                  <a:pt x="110" y="2336"/>
                  <a:pt x="99" y="2330"/>
                  <a:pt x="88" y="2323"/>
                </a:cubicBezTo>
                <a:cubicBezTo>
                  <a:pt x="77" y="2315"/>
                  <a:pt x="67" y="2307"/>
                  <a:pt x="58" y="2298"/>
                </a:cubicBezTo>
                <a:cubicBezTo>
                  <a:pt x="49" y="2289"/>
                  <a:pt x="40" y="2279"/>
                  <a:pt x="33" y="2268"/>
                </a:cubicBezTo>
                <a:cubicBezTo>
                  <a:pt x="26" y="2257"/>
                  <a:pt x="20" y="2246"/>
                  <a:pt x="15" y="2234"/>
                </a:cubicBezTo>
                <a:cubicBezTo>
                  <a:pt x="10" y="2222"/>
                  <a:pt x="6" y="2209"/>
                  <a:pt x="4" y="2196"/>
                </a:cubicBezTo>
                <a:cubicBezTo>
                  <a:pt x="1" y="2184"/>
                  <a:pt x="0" y="2171"/>
                  <a:pt x="0" y="215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Forma libre 747"/>
          <p:cNvSpPr/>
          <p:nvPr/>
        </p:nvSpPr>
        <p:spPr>
          <a:xfrm>
            <a:off x="666720" y="4638600"/>
            <a:ext cx="10858680" cy="914760"/>
          </a:xfrm>
          <a:custGeom>
            <a:avLst/>
            <a:gdLst/>
            <a:ahLst/>
            <a:cxnLst/>
            <a:rect l="0" t="0" r="r" b="b"/>
            <a:pathLst>
              <a:path w="30163" h="2541">
                <a:moveTo>
                  <a:pt x="0" y="0"/>
                </a:moveTo>
                <a:lnTo>
                  <a:pt x="30163" y="0"/>
                </a:lnTo>
                <a:lnTo>
                  <a:pt x="3016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Forma libre 748"/>
          <p:cNvSpPr/>
          <p:nvPr/>
        </p:nvSpPr>
        <p:spPr>
          <a:xfrm>
            <a:off x="666720" y="4638600"/>
            <a:ext cx="47880" cy="914760"/>
          </a:xfrm>
          <a:custGeom>
            <a:avLst/>
            <a:gdLst/>
            <a:ahLst/>
            <a:cxnLst/>
            <a:rect l="0" t="0" r="r" b="b"/>
            <a:pathLst>
              <a:path w="133" h="2541">
                <a:moveTo>
                  <a:pt x="0" y="0"/>
                </a:moveTo>
                <a:lnTo>
                  <a:pt x="133" y="0"/>
                </a:lnTo>
                <a:lnTo>
                  <a:pt x="13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9822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CuadroTexto 749"/>
          <p:cNvSpPr txBox="1"/>
          <p:nvPr/>
        </p:nvSpPr>
        <p:spPr>
          <a:xfrm>
            <a:off x="666720" y="1320480"/>
            <a:ext cx="3776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 y CD, en una diapositiva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CuadroTexto 750"/>
          <p:cNvSpPr txBox="1"/>
          <p:nvPr/>
        </p:nvSpPr>
        <p:spPr>
          <a:xfrm>
            <a:off x="666720" y="1992240"/>
            <a:ext cx="10347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 — Integración Continua: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cada cambio se integra pronto y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veriﬁca automáticamente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pruebas,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CuadroTexto 751"/>
          <p:cNvSpPr txBox="1"/>
          <p:nvPr/>
        </p:nvSpPr>
        <p:spPr>
          <a:xfrm>
            <a:off x="666720" y="2334960"/>
            <a:ext cx="60055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linter, construcción. En cada push, sin que nadie se acuerde.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CuadroTexto 752"/>
          <p:cNvSpPr txBox="1"/>
          <p:nvPr/>
        </p:nvSpPr>
        <p:spPr>
          <a:xfrm>
            <a:off x="666720" y="2830320"/>
            <a:ext cx="10521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CD — Entrega/Despliegue Continuo: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si todo salió verde, el resultado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se publica solo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: un paquete, una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CuadroTexto 753"/>
          <p:cNvSpPr txBox="1"/>
          <p:nvPr/>
        </p:nvSpPr>
        <p:spPr>
          <a:xfrm>
            <a:off x="666720" y="3173400"/>
            <a:ext cx="62647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imagen de Docker, una API actualizada, un reporte regenerado.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CuadroTexto 754"/>
          <p:cNvSpPr txBox="1"/>
          <p:nvPr/>
        </p:nvSpPr>
        <p:spPr>
          <a:xfrm>
            <a:off x="866880" y="3813480"/>
            <a:ext cx="41497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push → CI: ¿pasa todo? → CD: publícalo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CuadroTexto 755"/>
          <p:cNvSpPr txBox="1"/>
          <p:nvPr/>
        </p:nvSpPr>
        <p:spPr>
          <a:xfrm>
            <a:off x="866880" y="4080240"/>
            <a:ext cx="38221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(verificar)      (entregar)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CuadroTexto 756"/>
          <p:cNvSpPr txBox="1"/>
          <p:nvPr/>
        </p:nvSpPr>
        <p:spPr>
          <a:xfrm>
            <a:off x="905040" y="4792680"/>
            <a:ext cx="9458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59636E"/>
                </a:solidFill>
                <a:effectLst/>
                <a:uFillTx/>
                <a:latin typeface="HelveticaNeue"/>
                <a:ea typeface="HelveticaNeue"/>
              </a:rPr>
              <a:t>La idea de fondo es una sola: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los pasos que dependen de que alguien se acuerde, tarde o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CuadroTexto 757"/>
          <p:cNvSpPr txBox="1"/>
          <p:nvPr/>
        </p:nvSpPr>
        <p:spPr>
          <a:xfrm>
            <a:off x="905040" y="5135400"/>
            <a:ext cx="2371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temprano no ocurren.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CuadroTexto 758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CuadroTexto 759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CuadroTexto 760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30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Forma libre 7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Forma libre 7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Forma libre 76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Forma libre 764"/>
          <p:cNvSpPr/>
          <p:nvPr/>
        </p:nvSpPr>
        <p:spPr>
          <a:xfrm>
            <a:off x="676080" y="2047680"/>
            <a:ext cx="1629000" cy="410040"/>
          </a:xfrm>
          <a:custGeom>
            <a:avLst/>
            <a:gdLst/>
            <a:ahLst/>
            <a:cxnLst/>
            <a:rect l="0" t="0" r="r" b="b"/>
            <a:pathLst>
              <a:path w="4525" h="1139">
                <a:moveTo>
                  <a:pt x="0" y="0"/>
                </a:moveTo>
                <a:lnTo>
                  <a:pt x="4525" y="0"/>
                </a:lnTo>
                <a:lnTo>
                  <a:pt x="452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Forma libre 765"/>
          <p:cNvSpPr/>
          <p:nvPr/>
        </p:nvSpPr>
        <p:spPr>
          <a:xfrm>
            <a:off x="2304720" y="2047680"/>
            <a:ext cx="1905480" cy="410040"/>
          </a:xfrm>
          <a:custGeom>
            <a:avLst/>
            <a:gdLst/>
            <a:ahLst/>
            <a:cxnLst/>
            <a:rect l="0" t="0" r="r" b="b"/>
            <a:pathLst>
              <a:path w="5293" h="1139">
                <a:moveTo>
                  <a:pt x="0" y="0"/>
                </a:moveTo>
                <a:lnTo>
                  <a:pt x="5293" y="0"/>
                </a:lnTo>
                <a:lnTo>
                  <a:pt x="529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Forma libre 766"/>
          <p:cNvSpPr/>
          <p:nvPr/>
        </p:nvSpPr>
        <p:spPr>
          <a:xfrm>
            <a:off x="4209840" y="2047680"/>
            <a:ext cx="5001120" cy="410040"/>
          </a:xfrm>
          <a:custGeom>
            <a:avLst/>
            <a:gdLst/>
            <a:ahLst/>
            <a:cxnLst/>
            <a:rect l="0" t="0" r="r" b="b"/>
            <a:pathLst>
              <a:path w="13892" h="1139">
                <a:moveTo>
                  <a:pt x="0" y="0"/>
                </a:moveTo>
                <a:lnTo>
                  <a:pt x="13892" y="0"/>
                </a:lnTo>
                <a:lnTo>
                  <a:pt x="138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Forma libre 767"/>
          <p:cNvSpPr/>
          <p:nvPr/>
        </p:nvSpPr>
        <p:spPr>
          <a:xfrm>
            <a:off x="676080" y="2047680"/>
            <a:ext cx="1629000" cy="410040"/>
          </a:xfrm>
          <a:custGeom>
            <a:avLst/>
            <a:gdLst/>
            <a:ahLst/>
            <a:cxnLst/>
            <a:rect l="0" t="0" r="r" b="b"/>
            <a:pathLst>
              <a:path w="4525" h="1139">
                <a:moveTo>
                  <a:pt x="0" y="0"/>
                </a:moveTo>
                <a:lnTo>
                  <a:pt x="4525" y="0"/>
                </a:lnTo>
                <a:lnTo>
                  <a:pt x="4525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Forma libre 768"/>
          <p:cNvSpPr/>
          <p:nvPr/>
        </p:nvSpPr>
        <p:spPr>
          <a:xfrm>
            <a:off x="2304720" y="2047680"/>
            <a:ext cx="1905480" cy="410040"/>
          </a:xfrm>
          <a:custGeom>
            <a:avLst/>
            <a:gdLst/>
            <a:ahLst/>
            <a:cxnLst/>
            <a:rect l="0" t="0" r="r" b="b"/>
            <a:pathLst>
              <a:path w="5293" h="1139">
                <a:moveTo>
                  <a:pt x="0" y="0"/>
                </a:moveTo>
                <a:lnTo>
                  <a:pt x="5293" y="0"/>
                </a:lnTo>
                <a:lnTo>
                  <a:pt x="5293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Forma libre 769"/>
          <p:cNvSpPr/>
          <p:nvPr/>
        </p:nvSpPr>
        <p:spPr>
          <a:xfrm>
            <a:off x="4209840" y="2047680"/>
            <a:ext cx="5001120" cy="410040"/>
          </a:xfrm>
          <a:custGeom>
            <a:avLst/>
            <a:gdLst/>
            <a:ahLst/>
            <a:cxnLst/>
            <a:rect l="0" t="0" r="r" b="b"/>
            <a:pathLst>
              <a:path w="13892" h="1139">
                <a:moveTo>
                  <a:pt x="0" y="0"/>
                </a:moveTo>
                <a:lnTo>
                  <a:pt x="13892" y="0"/>
                </a:lnTo>
                <a:lnTo>
                  <a:pt x="13892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Forma libre 770"/>
          <p:cNvSpPr/>
          <p:nvPr/>
        </p:nvSpPr>
        <p:spPr>
          <a:xfrm>
            <a:off x="676080" y="2457360"/>
            <a:ext cx="1629000" cy="419400"/>
          </a:xfrm>
          <a:custGeom>
            <a:avLst/>
            <a:gdLst/>
            <a:ahLst/>
            <a:cxnLst/>
            <a:rect l="0" t="0" r="r" b="b"/>
            <a:pathLst>
              <a:path w="4525" h="1165">
                <a:moveTo>
                  <a:pt x="0" y="0"/>
                </a:moveTo>
                <a:lnTo>
                  <a:pt x="4525" y="0"/>
                </a:lnTo>
                <a:lnTo>
                  <a:pt x="45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Forma libre 771"/>
          <p:cNvSpPr/>
          <p:nvPr/>
        </p:nvSpPr>
        <p:spPr>
          <a:xfrm>
            <a:off x="2304720" y="2457360"/>
            <a:ext cx="1905480" cy="419400"/>
          </a:xfrm>
          <a:custGeom>
            <a:avLst/>
            <a:gdLst/>
            <a:ahLst/>
            <a:cxnLst/>
            <a:rect l="0" t="0" r="r" b="b"/>
            <a:pathLst>
              <a:path w="5293" h="1165">
                <a:moveTo>
                  <a:pt x="0" y="0"/>
                </a:moveTo>
                <a:lnTo>
                  <a:pt x="5293" y="0"/>
                </a:lnTo>
                <a:lnTo>
                  <a:pt x="52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Forma libre 772"/>
          <p:cNvSpPr/>
          <p:nvPr/>
        </p:nvSpPr>
        <p:spPr>
          <a:xfrm>
            <a:off x="4209840" y="2457360"/>
            <a:ext cx="5001120" cy="419400"/>
          </a:xfrm>
          <a:custGeom>
            <a:avLst/>
            <a:gdLst/>
            <a:ahLst/>
            <a:cxnLst/>
            <a:rect l="0" t="0" r="r" b="b"/>
            <a:pathLst>
              <a:path w="13892" h="1165">
                <a:moveTo>
                  <a:pt x="0" y="0"/>
                </a:moveTo>
                <a:lnTo>
                  <a:pt x="13892" y="0"/>
                </a:lnTo>
                <a:lnTo>
                  <a:pt x="138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Forma libre 773"/>
          <p:cNvSpPr/>
          <p:nvPr/>
        </p:nvSpPr>
        <p:spPr>
          <a:xfrm>
            <a:off x="676080" y="2876400"/>
            <a:ext cx="1629000" cy="419400"/>
          </a:xfrm>
          <a:custGeom>
            <a:avLst/>
            <a:gdLst/>
            <a:ahLst/>
            <a:cxnLst/>
            <a:rect l="0" t="0" r="r" b="b"/>
            <a:pathLst>
              <a:path w="4525" h="1165">
                <a:moveTo>
                  <a:pt x="0" y="0"/>
                </a:moveTo>
                <a:lnTo>
                  <a:pt x="4525" y="0"/>
                </a:lnTo>
                <a:lnTo>
                  <a:pt x="45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Forma libre 774"/>
          <p:cNvSpPr/>
          <p:nvPr/>
        </p:nvSpPr>
        <p:spPr>
          <a:xfrm>
            <a:off x="2304720" y="2876400"/>
            <a:ext cx="1905480" cy="419400"/>
          </a:xfrm>
          <a:custGeom>
            <a:avLst/>
            <a:gdLst/>
            <a:ahLst/>
            <a:cxnLst/>
            <a:rect l="0" t="0" r="r" b="b"/>
            <a:pathLst>
              <a:path w="5293" h="1165">
                <a:moveTo>
                  <a:pt x="0" y="0"/>
                </a:moveTo>
                <a:lnTo>
                  <a:pt x="5293" y="0"/>
                </a:lnTo>
                <a:lnTo>
                  <a:pt x="52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Forma libre 775"/>
          <p:cNvSpPr/>
          <p:nvPr/>
        </p:nvSpPr>
        <p:spPr>
          <a:xfrm>
            <a:off x="4209840" y="2876400"/>
            <a:ext cx="5001120" cy="419400"/>
          </a:xfrm>
          <a:custGeom>
            <a:avLst/>
            <a:gdLst/>
            <a:ahLst/>
            <a:cxnLst/>
            <a:rect l="0" t="0" r="r" b="b"/>
            <a:pathLst>
              <a:path w="13892" h="1165">
                <a:moveTo>
                  <a:pt x="0" y="0"/>
                </a:moveTo>
                <a:lnTo>
                  <a:pt x="13892" y="0"/>
                </a:lnTo>
                <a:lnTo>
                  <a:pt x="138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Forma libre 776"/>
          <p:cNvSpPr/>
          <p:nvPr/>
        </p:nvSpPr>
        <p:spPr>
          <a:xfrm>
            <a:off x="676080" y="3295440"/>
            <a:ext cx="1629000" cy="419400"/>
          </a:xfrm>
          <a:custGeom>
            <a:avLst/>
            <a:gdLst/>
            <a:ahLst/>
            <a:cxnLst/>
            <a:rect l="0" t="0" r="r" b="b"/>
            <a:pathLst>
              <a:path w="4525" h="1165">
                <a:moveTo>
                  <a:pt x="0" y="0"/>
                </a:moveTo>
                <a:lnTo>
                  <a:pt x="4525" y="0"/>
                </a:lnTo>
                <a:lnTo>
                  <a:pt x="45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Forma libre 777"/>
          <p:cNvSpPr/>
          <p:nvPr/>
        </p:nvSpPr>
        <p:spPr>
          <a:xfrm>
            <a:off x="2304720" y="3295440"/>
            <a:ext cx="1905480" cy="419400"/>
          </a:xfrm>
          <a:custGeom>
            <a:avLst/>
            <a:gdLst/>
            <a:ahLst/>
            <a:cxnLst/>
            <a:rect l="0" t="0" r="r" b="b"/>
            <a:pathLst>
              <a:path w="5293" h="1165">
                <a:moveTo>
                  <a:pt x="0" y="0"/>
                </a:moveTo>
                <a:lnTo>
                  <a:pt x="5293" y="0"/>
                </a:lnTo>
                <a:lnTo>
                  <a:pt x="52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Forma libre 778"/>
          <p:cNvSpPr/>
          <p:nvPr/>
        </p:nvSpPr>
        <p:spPr>
          <a:xfrm>
            <a:off x="4209840" y="3295440"/>
            <a:ext cx="5001120" cy="419400"/>
          </a:xfrm>
          <a:custGeom>
            <a:avLst/>
            <a:gdLst/>
            <a:ahLst/>
            <a:cxnLst/>
            <a:rect l="0" t="0" r="r" b="b"/>
            <a:pathLst>
              <a:path w="13892" h="1165">
                <a:moveTo>
                  <a:pt x="0" y="0"/>
                </a:moveTo>
                <a:lnTo>
                  <a:pt x="13892" y="0"/>
                </a:lnTo>
                <a:lnTo>
                  <a:pt x="138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Forma libre 779"/>
          <p:cNvSpPr/>
          <p:nvPr/>
        </p:nvSpPr>
        <p:spPr>
          <a:xfrm>
            <a:off x="676080" y="3714480"/>
            <a:ext cx="1629000" cy="419400"/>
          </a:xfrm>
          <a:custGeom>
            <a:avLst/>
            <a:gdLst/>
            <a:ahLst/>
            <a:cxnLst/>
            <a:rect l="0" t="0" r="r" b="b"/>
            <a:pathLst>
              <a:path w="4525" h="1165">
                <a:moveTo>
                  <a:pt x="0" y="0"/>
                </a:moveTo>
                <a:lnTo>
                  <a:pt x="4525" y="0"/>
                </a:lnTo>
                <a:lnTo>
                  <a:pt x="4525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Forma libre 780"/>
          <p:cNvSpPr/>
          <p:nvPr/>
        </p:nvSpPr>
        <p:spPr>
          <a:xfrm>
            <a:off x="2304720" y="3714480"/>
            <a:ext cx="1905480" cy="419400"/>
          </a:xfrm>
          <a:custGeom>
            <a:avLst/>
            <a:gdLst/>
            <a:ahLst/>
            <a:cxnLst/>
            <a:rect l="0" t="0" r="r" b="b"/>
            <a:pathLst>
              <a:path w="5293" h="1165">
                <a:moveTo>
                  <a:pt x="0" y="0"/>
                </a:moveTo>
                <a:lnTo>
                  <a:pt x="5293" y="0"/>
                </a:lnTo>
                <a:lnTo>
                  <a:pt x="5293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Forma libre 781"/>
          <p:cNvSpPr/>
          <p:nvPr/>
        </p:nvSpPr>
        <p:spPr>
          <a:xfrm>
            <a:off x="4209840" y="3714480"/>
            <a:ext cx="5001120" cy="419400"/>
          </a:xfrm>
          <a:custGeom>
            <a:avLst/>
            <a:gdLst/>
            <a:ahLst/>
            <a:cxnLst/>
            <a:rect l="0" t="0" r="r" b="b"/>
            <a:pathLst>
              <a:path w="13892" h="1165">
                <a:moveTo>
                  <a:pt x="0" y="0"/>
                </a:moveTo>
                <a:lnTo>
                  <a:pt x="13892" y="0"/>
                </a:lnTo>
                <a:lnTo>
                  <a:pt x="13892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Forma libre 782"/>
          <p:cNvSpPr/>
          <p:nvPr/>
        </p:nvSpPr>
        <p:spPr>
          <a:xfrm>
            <a:off x="66672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Forma libre 783"/>
          <p:cNvSpPr/>
          <p:nvPr/>
        </p:nvSpPr>
        <p:spPr>
          <a:xfrm>
            <a:off x="666720" y="2038320"/>
            <a:ext cx="1638360" cy="9720"/>
          </a:xfrm>
          <a:custGeom>
            <a:avLst/>
            <a:gdLst/>
            <a:ahLst/>
            <a:cxnLst/>
            <a:rect l="0" t="0" r="r" b="b"/>
            <a:pathLst>
              <a:path w="4551" h="27">
                <a:moveTo>
                  <a:pt x="0" y="0"/>
                </a:moveTo>
                <a:lnTo>
                  <a:pt x="4551" y="0"/>
                </a:lnTo>
                <a:lnTo>
                  <a:pt x="45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Forma libre 784"/>
          <p:cNvSpPr/>
          <p:nvPr/>
        </p:nvSpPr>
        <p:spPr>
          <a:xfrm>
            <a:off x="229536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Forma libre 785"/>
          <p:cNvSpPr/>
          <p:nvPr/>
        </p:nvSpPr>
        <p:spPr>
          <a:xfrm>
            <a:off x="2304720" y="2038320"/>
            <a:ext cx="1905480" cy="9720"/>
          </a:xfrm>
          <a:custGeom>
            <a:avLst/>
            <a:gdLst/>
            <a:ahLst/>
            <a:cxn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Forma libre 786"/>
          <p:cNvSpPr/>
          <p:nvPr/>
        </p:nvSpPr>
        <p:spPr>
          <a:xfrm>
            <a:off x="4200480" y="203832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Forma libre 787"/>
          <p:cNvSpPr/>
          <p:nvPr/>
        </p:nvSpPr>
        <p:spPr>
          <a:xfrm>
            <a:off x="4209840" y="2038320"/>
            <a:ext cx="5001120" cy="9720"/>
          </a:xfrm>
          <a:custGeom>
            <a:avLst/>
            <a:gdLst/>
            <a:ahLst/>
            <a:cxnLst/>
            <a:rect l="0" t="0" r="r" b="b"/>
            <a:pathLst>
              <a:path w="13892" h="27">
                <a:moveTo>
                  <a:pt x="0" y="0"/>
                </a:moveTo>
                <a:lnTo>
                  <a:pt x="13892" y="0"/>
                </a:lnTo>
                <a:lnTo>
                  <a:pt x="138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Forma libre 788"/>
          <p:cNvSpPr/>
          <p:nvPr/>
        </p:nvSpPr>
        <p:spPr>
          <a:xfrm>
            <a:off x="9200880" y="203832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Forma libre 789"/>
          <p:cNvSpPr/>
          <p:nvPr/>
        </p:nvSpPr>
        <p:spPr>
          <a:xfrm>
            <a:off x="666720" y="2447640"/>
            <a:ext cx="1638360" cy="10080"/>
          </a:xfrm>
          <a:custGeom>
            <a:avLst/>
            <a:gdLst/>
            <a:ahLst/>
            <a:cxnLst/>
            <a:rect l="0" t="0" r="r" b="b"/>
            <a:pathLst>
              <a:path w="4551" h="28">
                <a:moveTo>
                  <a:pt x="0" y="0"/>
                </a:moveTo>
                <a:lnTo>
                  <a:pt x="4551" y="0"/>
                </a:lnTo>
                <a:lnTo>
                  <a:pt x="45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Forma libre 790"/>
          <p:cNvSpPr/>
          <p:nvPr/>
        </p:nvSpPr>
        <p:spPr>
          <a:xfrm>
            <a:off x="2304720" y="2447640"/>
            <a:ext cx="1905480" cy="10080"/>
          </a:xfrm>
          <a:custGeom>
            <a:avLst/>
            <a:gdLst/>
            <a:ahLst/>
            <a:cxn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Forma libre 791"/>
          <p:cNvSpPr/>
          <p:nvPr/>
        </p:nvSpPr>
        <p:spPr>
          <a:xfrm>
            <a:off x="4209840" y="2447640"/>
            <a:ext cx="5001120" cy="10080"/>
          </a:xfrm>
          <a:custGeom>
            <a:avLst/>
            <a:gdLst/>
            <a:ahLst/>
            <a:cxnLst/>
            <a:rect l="0" t="0" r="r" b="b"/>
            <a:pathLst>
              <a:path w="13892" h="28">
                <a:moveTo>
                  <a:pt x="0" y="0"/>
                </a:moveTo>
                <a:lnTo>
                  <a:pt x="13892" y="0"/>
                </a:lnTo>
                <a:lnTo>
                  <a:pt x="138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Forma libre 792"/>
          <p:cNvSpPr/>
          <p:nvPr/>
        </p:nvSpPr>
        <p:spPr>
          <a:xfrm>
            <a:off x="66672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Forma libre 793"/>
          <p:cNvSpPr/>
          <p:nvPr/>
        </p:nvSpPr>
        <p:spPr>
          <a:xfrm>
            <a:off x="229536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Forma libre 794"/>
          <p:cNvSpPr/>
          <p:nvPr/>
        </p:nvSpPr>
        <p:spPr>
          <a:xfrm>
            <a:off x="4200480" y="245736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Forma libre 795"/>
          <p:cNvSpPr/>
          <p:nvPr/>
        </p:nvSpPr>
        <p:spPr>
          <a:xfrm>
            <a:off x="9200880" y="245736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Forma libre 796"/>
          <p:cNvSpPr/>
          <p:nvPr/>
        </p:nvSpPr>
        <p:spPr>
          <a:xfrm>
            <a:off x="66672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Forma libre 797"/>
          <p:cNvSpPr/>
          <p:nvPr/>
        </p:nvSpPr>
        <p:spPr>
          <a:xfrm>
            <a:off x="666720" y="2866680"/>
            <a:ext cx="1638360" cy="10080"/>
          </a:xfrm>
          <a:custGeom>
            <a:avLst/>
            <a:gdLst/>
            <a:ahLst/>
            <a:cxnLst/>
            <a:rect l="0" t="0" r="r" b="b"/>
            <a:pathLst>
              <a:path w="4551" h="28">
                <a:moveTo>
                  <a:pt x="0" y="0"/>
                </a:moveTo>
                <a:lnTo>
                  <a:pt x="4551" y="0"/>
                </a:lnTo>
                <a:lnTo>
                  <a:pt x="45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Forma libre 798"/>
          <p:cNvSpPr/>
          <p:nvPr/>
        </p:nvSpPr>
        <p:spPr>
          <a:xfrm>
            <a:off x="229536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Forma libre 799"/>
          <p:cNvSpPr/>
          <p:nvPr/>
        </p:nvSpPr>
        <p:spPr>
          <a:xfrm>
            <a:off x="2304720" y="2866680"/>
            <a:ext cx="1905480" cy="10080"/>
          </a:xfrm>
          <a:custGeom>
            <a:avLst/>
            <a:gdLst/>
            <a:ahLst/>
            <a:cxnLst/>
            <a:rect l="0" t="0" r="r" b="b"/>
            <a:pathLst>
              <a:path w="5293" h="28">
                <a:moveTo>
                  <a:pt x="0" y="0"/>
                </a:moveTo>
                <a:lnTo>
                  <a:pt x="5293" y="0"/>
                </a:lnTo>
                <a:lnTo>
                  <a:pt x="529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Forma libre 800"/>
          <p:cNvSpPr/>
          <p:nvPr/>
        </p:nvSpPr>
        <p:spPr>
          <a:xfrm>
            <a:off x="4200480" y="287640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Forma libre 801"/>
          <p:cNvSpPr/>
          <p:nvPr/>
        </p:nvSpPr>
        <p:spPr>
          <a:xfrm>
            <a:off x="4209840" y="2866680"/>
            <a:ext cx="5001120" cy="10080"/>
          </a:xfrm>
          <a:custGeom>
            <a:avLst/>
            <a:gdLst/>
            <a:ahLst/>
            <a:cxnLst/>
            <a:rect l="0" t="0" r="r" b="b"/>
            <a:pathLst>
              <a:path w="13892" h="28">
                <a:moveTo>
                  <a:pt x="0" y="0"/>
                </a:moveTo>
                <a:lnTo>
                  <a:pt x="13892" y="0"/>
                </a:lnTo>
                <a:lnTo>
                  <a:pt x="138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Forma libre 802"/>
          <p:cNvSpPr/>
          <p:nvPr/>
        </p:nvSpPr>
        <p:spPr>
          <a:xfrm>
            <a:off x="9200880" y="287640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Forma libre 803"/>
          <p:cNvSpPr/>
          <p:nvPr/>
        </p:nvSpPr>
        <p:spPr>
          <a:xfrm>
            <a:off x="66672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Forma libre 804"/>
          <p:cNvSpPr/>
          <p:nvPr/>
        </p:nvSpPr>
        <p:spPr>
          <a:xfrm>
            <a:off x="666720" y="3286080"/>
            <a:ext cx="1638360" cy="9720"/>
          </a:xfrm>
          <a:custGeom>
            <a:avLst/>
            <a:gdLst/>
            <a:ahLst/>
            <a:cxnLst/>
            <a:rect l="0" t="0" r="r" b="b"/>
            <a:pathLst>
              <a:path w="4551" h="27">
                <a:moveTo>
                  <a:pt x="0" y="0"/>
                </a:moveTo>
                <a:lnTo>
                  <a:pt x="4551" y="0"/>
                </a:lnTo>
                <a:lnTo>
                  <a:pt x="45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Forma libre 805"/>
          <p:cNvSpPr/>
          <p:nvPr/>
        </p:nvSpPr>
        <p:spPr>
          <a:xfrm>
            <a:off x="229536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Forma libre 806"/>
          <p:cNvSpPr/>
          <p:nvPr/>
        </p:nvSpPr>
        <p:spPr>
          <a:xfrm>
            <a:off x="2304720" y="3286080"/>
            <a:ext cx="1905480" cy="9720"/>
          </a:xfrm>
          <a:custGeom>
            <a:avLst/>
            <a:gdLst/>
            <a:ahLst/>
            <a:cxn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Forma libre 807"/>
          <p:cNvSpPr/>
          <p:nvPr/>
        </p:nvSpPr>
        <p:spPr>
          <a:xfrm>
            <a:off x="4200480" y="329544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Forma libre 808"/>
          <p:cNvSpPr/>
          <p:nvPr/>
        </p:nvSpPr>
        <p:spPr>
          <a:xfrm>
            <a:off x="4209840" y="3286080"/>
            <a:ext cx="5001120" cy="9720"/>
          </a:xfrm>
          <a:custGeom>
            <a:avLst/>
            <a:gdLst/>
            <a:ahLst/>
            <a:cxnLst/>
            <a:rect l="0" t="0" r="r" b="b"/>
            <a:pathLst>
              <a:path w="13892" h="27">
                <a:moveTo>
                  <a:pt x="0" y="0"/>
                </a:moveTo>
                <a:lnTo>
                  <a:pt x="13892" y="0"/>
                </a:lnTo>
                <a:lnTo>
                  <a:pt x="138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Forma libre 809"/>
          <p:cNvSpPr/>
          <p:nvPr/>
        </p:nvSpPr>
        <p:spPr>
          <a:xfrm>
            <a:off x="9200880" y="329544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Forma libre 810"/>
          <p:cNvSpPr/>
          <p:nvPr/>
        </p:nvSpPr>
        <p:spPr>
          <a:xfrm>
            <a:off x="66672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Forma libre 811"/>
          <p:cNvSpPr/>
          <p:nvPr/>
        </p:nvSpPr>
        <p:spPr>
          <a:xfrm>
            <a:off x="666720" y="3705120"/>
            <a:ext cx="1638360" cy="9720"/>
          </a:xfrm>
          <a:custGeom>
            <a:avLst/>
            <a:gdLst/>
            <a:ahLst/>
            <a:cxnLst/>
            <a:rect l="0" t="0" r="r" b="b"/>
            <a:pathLst>
              <a:path w="4551" h="27">
                <a:moveTo>
                  <a:pt x="0" y="0"/>
                </a:moveTo>
                <a:lnTo>
                  <a:pt x="4551" y="0"/>
                </a:lnTo>
                <a:lnTo>
                  <a:pt x="45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Forma libre 812"/>
          <p:cNvSpPr/>
          <p:nvPr/>
        </p:nvSpPr>
        <p:spPr>
          <a:xfrm>
            <a:off x="229536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Forma libre 813"/>
          <p:cNvSpPr/>
          <p:nvPr/>
        </p:nvSpPr>
        <p:spPr>
          <a:xfrm>
            <a:off x="2304720" y="3705120"/>
            <a:ext cx="1905480" cy="9720"/>
          </a:xfrm>
          <a:custGeom>
            <a:avLst/>
            <a:gdLst/>
            <a:ahLst/>
            <a:cxn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Forma libre 814"/>
          <p:cNvSpPr/>
          <p:nvPr/>
        </p:nvSpPr>
        <p:spPr>
          <a:xfrm>
            <a:off x="4200480" y="3714480"/>
            <a:ext cx="9720" cy="419400"/>
          </a:xfrm>
          <a:custGeom>
            <a:avLst/>
            <a:gdLst/>
            <a:ahLst/>
            <a:cxnLst/>
            <a:rect l="0" t="0" r="r" b="b"/>
            <a:pathLst>
              <a:path w="27" h="1165">
                <a:moveTo>
                  <a:pt x="0" y="0"/>
                </a:moveTo>
                <a:lnTo>
                  <a:pt x="27" y="0"/>
                </a:lnTo>
                <a:lnTo>
                  <a:pt x="27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Forma libre 815"/>
          <p:cNvSpPr/>
          <p:nvPr/>
        </p:nvSpPr>
        <p:spPr>
          <a:xfrm>
            <a:off x="4209840" y="3705120"/>
            <a:ext cx="5001120" cy="9720"/>
          </a:xfrm>
          <a:custGeom>
            <a:avLst/>
            <a:gdLst/>
            <a:ahLst/>
            <a:cxnLst/>
            <a:rect l="0" t="0" r="r" b="b"/>
            <a:pathLst>
              <a:path w="13892" h="27">
                <a:moveTo>
                  <a:pt x="0" y="0"/>
                </a:moveTo>
                <a:lnTo>
                  <a:pt x="13892" y="0"/>
                </a:lnTo>
                <a:lnTo>
                  <a:pt x="138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Forma libre 816"/>
          <p:cNvSpPr/>
          <p:nvPr/>
        </p:nvSpPr>
        <p:spPr>
          <a:xfrm>
            <a:off x="9200880" y="3714480"/>
            <a:ext cx="10080" cy="419400"/>
          </a:xfrm>
          <a:custGeom>
            <a:avLst/>
            <a:gdLst/>
            <a:ahLst/>
            <a:cxnLst/>
            <a:rect l="0" t="0" r="r" b="b"/>
            <a:pathLst>
              <a:path w="28" h="1165">
                <a:moveTo>
                  <a:pt x="0" y="0"/>
                </a:moveTo>
                <a:lnTo>
                  <a:pt x="28" y="0"/>
                </a:lnTo>
                <a:lnTo>
                  <a:pt x="28" y="1165"/>
                </a:lnTo>
                <a:lnTo>
                  <a:pt x="0" y="116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Forma libre 817"/>
          <p:cNvSpPr/>
          <p:nvPr/>
        </p:nvSpPr>
        <p:spPr>
          <a:xfrm>
            <a:off x="666720" y="4124160"/>
            <a:ext cx="1638360" cy="9720"/>
          </a:xfrm>
          <a:custGeom>
            <a:avLst/>
            <a:gdLst/>
            <a:ahLst/>
            <a:cxnLst/>
            <a:rect l="0" t="0" r="r" b="b"/>
            <a:pathLst>
              <a:path w="4551" h="27">
                <a:moveTo>
                  <a:pt x="0" y="0"/>
                </a:moveTo>
                <a:lnTo>
                  <a:pt x="4551" y="0"/>
                </a:lnTo>
                <a:lnTo>
                  <a:pt x="45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Forma libre 818"/>
          <p:cNvSpPr/>
          <p:nvPr/>
        </p:nvSpPr>
        <p:spPr>
          <a:xfrm>
            <a:off x="2304720" y="4124160"/>
            <a:ext cx="1905480" cy="9720"/>
          </a:xfrm>
          <a:custGeom>
            <a:avLst/>
            <a:gdLst/>
            <a:ahLst/>
            <a:cxnLst/>
            <a:rect l="0" t="0" r="r" b="b"/>
            <a:pathLst>
              <a:path w="5293" h="27">
                <a:moveTo>
                  <a:pt x="0" y="0"/>
                </a:moveTo>
                <a:lnTo>
                  <a:pt x="5293" y="0"/>
                </a:lnTo>
                <a:lnTo>
                  <a:pt x="5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Forma libre 819"/>
          <p:cNvSpPr/>
          <p:nvPr/>
        </p:nvSpPr>
        <p:spPr>
          <a:xfrm>
            <a:off x="4209840" y="4124160"/>
            <a:ext cx="5001120" cy="9720"/>
          </a:xfrm>
          <a:custGeom>
            <a:avLst/>
            <a:gdLst/>
            <a:ahLst/>
            <a:cxnLst/>
            <a:rect l="0" t="0" r="r" b="b"/>
            <a:pathLst>
              <a:path w="13892" h="27">
                <a:moveTo>
                  <a:pt x="0" y="0"/>
                </a:moveTo>
                <a:lnTo>
                  <a:pt x="13892" y="0"/>
                </a:lnTo>
                <a:lnTo>
                  <a:pt x="138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CuadroTexto 820"/>
          <p:cNvSpPr txBox="1"/>
          <p:nvPr/>
        </p:nvSpPr>
        <p:spPr>
          <a:xfrm>
            <a:off x="666720" y="1406160"/>
            <a:ext cx="410760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panorama de herramientas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CuadroTexto 821"/>
          <p:cNvSpPr txBox="1"/>
          <p:nvPr/>
        </p:nvSpPr>
        <p:spPr>
          <a:xfrm>
            <a:off x="921960" y="2142720"/>
            <a:ext cx="1129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Herramienta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CuadroTexto 822"/>
          <p:cNvSpPr txBox="1"/>
          <p:nvPr/>
        </p:nvSpPr>
        <p:spPr>
          <a:xfrm>
            <a:off x="2690640" y="2142720"/>
            <a:ext cx="1133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Dónde corre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CuadroTexto 823"/>
          <p:cNvSpPr txBox="1"/>
          <p:nvPr/>
        </p:nvSpPr>
        <p:spPr>
          <a:xfrm>
            <a:off x="5974920" y="2142720"/>
            <a:ext cx="1468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Cuándo la verás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CuadroTexto 824"/>
          <p:cNvSpPr txBox="1"/>
          <p:nvPr/>
        </p:nvSpPr>
        <p:spPr>
          <a:xfrm>
            <a:off x="799920" y="2552400"/>
            <a:ext cx="1372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GitHub Actions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CuadroTexto 825"/>
          <p:cNvSpPr txBox="1"/>
          <p:nvPr/>
        </p:nvSpPr>
        <p:spPr>
          <a:xfrm>
            <a:off x="2429280" y="2552400"/>
            <a:ext cx="16520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integrada en GitHub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CuadroTexto 826"/>
          <p:cNvSpPr txBox="1"/>
          <p:nvPr/>
        </p:nvSpPr>
        <p:spPr>
          <a:xfrm>
            <a:off x="4338000" y="2552400"/>
            <a:ext cx="40161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la usaremos en el curso; gratis en repos públicos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CuadroTexto 827"/>
          <p:cNvSpPr txBox="1"/>
          <p:nvPr/>
        </p:nvSpPr>
        <p:spPr>
          <a:xfrm>
            <a:off x="799920" y="2971440"/>
            <a:ext cx="7304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CircleCI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CuadroTexto 828"/>
          <p:cNvSpPr txBox="1"/>
          <p:nvPr/>
        </p:nvSpPr>
        <p:spPr>
          <a:xfrm>
            <a:off x="2429280" y="2971440"/>
            <a:ext cx="12816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servicio externo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CuadroTexto 829"/>
          <p:cNvSpPr txBox="1"/>
          <p:nvPr/>
        </p:nvSpPr>
        <p:spPr>
          <a:xfrm>
            <a:off x="4338000" y="2971440"/>
            <a:ext cx="33912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común en startups y empresas medianas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CuadroTexto 830"/>
          <p:cNvSpPr txBox="1"/>
          <p:nvPr/>
        </p:nvSpPr>
        <p:spPr>
          <a:xfrm>
            <a:off x="799920" y="3390480"/>
            <a:ext cx="850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GitLab CI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CuadroTexto 831"/>
          <p:cNvSpPr txBox="1"/>
          <p:nvPr/>
        </p:nvSpPr>
        <p:spPr>
          <a:xfrm>
            <a:off x="2429280" y="3390480"/>
            <a:ext cx="16167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integrada en GitLab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CuadroTexto 832"/>
          <p:cNvSpPr txBox="1"/>
          <p:nvPr/>
        </p:nvSpPr>
        <p:spPr>
          <a:xfrm>
            <a:off x="4338000" y="3390480"/>
            <a:ext cx="474624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instituciones con GitLab propio (hospitales, universidades)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CuadroTexto 833"/>
          <p:cNvSpPr txBox="1"/>
          <p:nvPr/>
        </p:nvSpPr>
        <p:spPr>
          <a:xfrm>
            <a:off x="799920" y="3809520"/>
            <a:ext cx="702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Jenkins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CuadroTexto 834"/>
          <p:cNvSpPr txBox="1"/>
          <p:nvPr/>
        </p:nvSpPr>
        <p:spPr>
          <a:xfrm>
            <a:off x="2429280" y="3809520"/>
            <a:ext cx="12286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servidor propio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CuadroTexto 835"/>
          <p:cNvSpPr txBox="1"/>
          <p:nvPr/>
        </p:nvSpPr>
        <p:spPr>
          <a:xfrm>
            <a:off x="4338000" y="3809520"/>
            <a:ext cx="371988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empresas grandes con infraestructura interna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CuadroTexto 836"/>
          <p:cNvSpPr txBox="1"/>
          <p:nvPr/>
        </p:nvSpPr>
        <p:spPr>
          <a:xfrm>
            <a:off x="666720" y="4325760"/>
            <a:ext cx="10595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Los conceptos son idénticos en todas: un archivo declara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qué correr y cuándo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, y un servicio lo ejecuta 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CuadroTexto 837"/>
          <p:cNvSpPr txBox="1"/>
          <p:nvPr/>
        </p:nvSpPr>
        <p:spPr>
          <a:xfrm>
            <a:off x="666720" y="4668840"/>
            <a:ext cx="196956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una máquina limpia.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CuadroTexto 838"/>
          <p:cNvSpPr txBox="1"/>
          <p:nvPr/>
        </p:nvSpPr>
        <p:spPr>
          <a:xfrm>
            <a:off x="666720" y="5163840"/>
            <a:ext cx="4813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Aprende una bien y las demás se leen solas.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CuadroTexto 83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CuadroTexto 84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CuadroTexto 84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31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Forma libre 8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Forma libre 8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Forma libre 8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Forma libre 845"/>
          <p:cNvSpPr/>
          <p:nvPr/>
        </p:nvSpPr>
        <p:spPr>
          <a:xfrm>
            <a:off x="671400" y="1471320"/>
            <a:ext cx="10849320" cy="3734280"/>
          </a:xfrm>
          <a:custGeom>
            <a:avLst/>
            <a:gdLst/>
            <a:ahLst/>
            <a:cxnLst/>
            <a:rect l="0" t="0" r="r" b="b"/>
            <a:pathLst>
              <a:path w="30137" h="10373">
                <a:moveTo>
                  <a:pt x="0" y="1017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0175"/>
                </a:lnTo>
                <a:cubicBezTo>
                  <a:pt x="30137" y="10188"/>
                  <a:pt x="30136" y="10200"/>
                  <a:pt x="30133" y="10213"/>
                </a:cubicBezTo>
                <a:cubicBezTo>
                  <a:pt x="30130" y="10226"/>
                  <a:pt x="30127" y="10238"/>
                  <a:pt x="30122" y="10250"/>
                </a:cubicBezTo>
                <a:cubicBezTo>
                  <a:pt x="30117" y="10263"/>
                  <a:pt x="30111" y="10274"/>
                  <a:pt x="30103" y="10285"/>
                </a:cubicBezTo>
                <a:cubicBezTo>
                  <a:pt x="30096" y="10296"/>
                  <a:pt x="30088" y="10306"/>
                  <a:pt x="30079" y="10315"/>
                </a:cubicBezTo>
                <a:cubicBezTo>
                  <a:pt x="30070" y="10324"/>
                  <a:pt x="30059" y="10332"/>
                  <a:pt x="30049" y="10340"/>
                </a:cubicBezTo>
                <a:cubicBezTo>
                  <a:pt x="30038" y="10347"/>
                  <a:pt x="30026" y="10353"/>
                  <a:pt x="30014" y="10358"/>
                </a:cubicBezTo>
                <a:cubicBezTo>
                  <a:pt x="30002" y="10363"/>
                  <a:pt x="29990" y="10367"/>
                  <a:pt x="29977" y="10369"/>
                </a:cubicBezTo>
                <a:cubicBezTo>
                  <a:pt x="29964" y="10372"/>
                  <a:pt x="29951" y="10373"/>
                  <a:pt x="29938" y="10373"/>
                </a:cubicBezTo>
                <a:lnTo>
                  <a:pt x="198" y="10373"/>
                </a:lnTo>
                <a:cubicBezTo>
                  <a:pt x="185" y="10373"/>
                  <a:pt x="172" y="10372"/>
                  <a:pt x="160" y="10369"/>
                </a:cubicBezTo>
                <a:cubicBezTo>
                  <a:pt x="147" y="10367"/>
                  <a:pt x="134" y="10363"/>
                  <a:pt x="122" y="10358"/>
                </a:cubicBezTo>
                <a:cubicBezTo>
                  <a:pt x="110" y="10353"/>
                  <a:pt x="99" y="10347"/>
                  <a:pt x="88" y="10340"/>
                </a:cubicBezTo>
                <a:cubicBezTo>
                  <a:pt x="77" y="10332"/>
                  <a:pt x="67" y="10324"/>
                  <a:pt x="58" y="10315"/>
                </a:cubicBezTo>
                <a:cubicBezTo>
                  <a:pt x="49" y="10306"/>
                  <a:pt x="40" y="10296"/>
                  <a:pt x="33" y="10285"/>
                </a:cubicBezTo>
                <a:cubicBezTo>
                  <a:pt x="26" y="10274"/>
                  <a:pt x="20" y="10263"/>
                  <a:pt x="15" y="10250"/>
                </a:cubicBezTo>
                <a:cubicBezTo>
                  <a:pt x="10" y="10238"/>
                  <a:pt x="6" y="10226"/>
                  <a:pt x="4" y="10213"/>
                </a:cubicBezTo>
                <a:cubicBezTo>
                  <a:pt x="1" y="10200"/>
                  <a:pt x="0" y="10188"/>
                  <a:pt x="0" y="10175"/>
                </a:cubicBezTo>
                <a:close/>
              </a:path>
            </a:pathLst>
          </a:custGeom>
          <a:solidFill>
            <a:srgbClr val="1E2A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Forma libre 846"/>
          <p:cNvSpPr/>
          <p:nvPr/>
        </p:nvSpPr>
        <p:spPr>
          <a:xfrm>
            <a:off x="671400" y="1471320"/>
            <a:ext cx="10849320" cy="3734280"/>
          </a:xfrm>
          <a:custGeom>
            <a:avLst/>
            <a:gdLst/>
            <a:ahLst/>
            <a:cxnLst/>
            <a:rect l="0" t="0" r="r" b="b"/>
            <a:pathLst>
              <a:path w="30137" h="10373">
                <a:moveTo>
                  <a:pt x="0" y="10175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2" y="2"/>
                  <a:pt x="185" y="0"/>
                  <a:pt x="198" y="0"/>
                </a:cubicBezTo>
                <a:lnTo>
                  <a:pt x="29938" y="0"/>
                </a:lnTo>
                <a:cubicBezTo>
                  <a:pt x="29951" y="0"/>
                  <a:pt x="29964" y="2"/>
                  <a:pt x="29977" y="4"/>
                </a:cubicBezTo>
                <a:cubicBezTo>
                  <a:pt x="29990" y="7"/>
                  <a:pt x="30002" y="10"/>
                  <a:pt x="30014" y="15"/>
                </a:cubicBezTo>
                <a:cubicBezTo>
                  <a:pt x="30026" y="20"/>
                  <a:pt x="30038" y="27"/>
                  <a:pt x="30049" y="34"/>
                </a:cubicBezTo>
                <a:cubicBezTo>
                  <a:pt x="30059" y="41"/>
                  <a:pt x="30070" y="49"/>
                  <a:pt x="30079" y="58"/>
                </a:cubicBezTo>
                <a:cubicBezTo>
                  <a:pt x="30088" y="68"/>
                  <a:pt x="30096" y="78"/>
                  <a:pt x="30103" y="89"/>
                </a:cubicBezTo>
                <a:cubicBezTo>
                  <a:pt x="30111" y="99"/>
                  <a:pt x="30117" y="111"/>
                  <a:pt x="30122" y="123"/>
                </a:cubicBezTo>
                <a:cubicBezTo>
                  <a:pt x="30127" y="135"/>
                  <a:pt x="30130" y="147"/>
                  <a:pt x="30133" y="160"/>
                </a:cubicBezTo>
                <a:cubicBezTo>
                  <a:pt x="30136" y="173"/>
                  <a:pt x="30137" y="186"/>
                  <a:pt x="30137" y="199"/>
                </a:cubicBezTo>
                <a:lnTo>
                  <a:pt x="30137" y="10175"/>
                </a:lnTo>
                <a:cubicBezTo>
                  <a:pt x="30137" y="10188"/>
                  <a:pt x="30136" y="10200"/>
                  <a:pt x="30133" y="10213"/>
                </a:cubicBezTo>
                <a:cubicBezTo>
                  <a:pt x="30130" y="10226"/>
                  <a:pt x="30127" y="10238"/>
                  <a:pt x="30122" y="10250"/>
                </a:cubicBezTo>
                <a:cubicBezTo>
                  <a:pt x="30117" y="10263"/>
                  <a:pt x="30111" y="10274"/>
                  <a:pt x="30103" y="10285"/>
                </a:cubicBezTo>
                <a:cubicBezTo>
                  <a:pt x="30096" y="10296"/>
                  <a:pt x="30088" y="10306"/>
                  <a:pt x="30079" y="10315"/>
                </a:cubicBezTo>
                <a:cubicBezTo>
                  <a:pt x="30070" y="10324"/>
                  <a:pt x="30059" y="10332"/>
                  <a:pt x="30049" y="10340"/>
                </a:cubicBezTo>
                <a:cubicBezTo>
                  <a:pt x="30038" y="10347"/>
                  <a:pt x="30026" y="10353"/>
                  <a:pt x="30014" y="10358"/>
                </a:cubicBezTo>
                <a:cubicBezTo>
                  <a:pt x="30002" y="10363"/>
                  <a:pt x="29990" y="10367"/>
                  <a:pt x="29977" y="10369"/>
                </a:cubicBezTo>
                <a:cubicBezTo>
                  <a:pt x="29964" y="10372"/>
                  <a:pt x="29951" y="10373"/>
                  <a:pt x="29938" y="10373"/>
                </a:cubicBezTo>
                <a:lnTo>
                  <a:pt x="198" y="10373"/>
                </a:lnTo>
                <a:cubicBezTo>
                  <a:pt x="185" y="10373"/>
                  <a:pt x="172" y="10372"/>
                  <a:pt x="160" y="10369"/>
                </a:cubicBezTo>
                <a:cubicBezTo>
                  <a:pt x="147" y="10367"/>
                  <a:pt x="134" y="10363"/>
                  <a:pt x="122" y="10358"/>
                </a:cubicBezTo>
                <a:cubicBezTo>
                  <a:pt x="110" y="10353"/>
                  <a:pt x="99" y="10347"/>
                  <a:pt x="88" y="10340"/>
                </a:cubicBezTo>
                <a:cubicBezTo>
                  <a:pt x="77" y="10332"/>
                  <a:pt x="67" y="10324"/>
                  <a:pt x="58" y="10315"/>
                </a:cubicBezTo>
                <a:cubicBezTo>
                  <a:pt x="49" y="10306"/>
                  <a:pt x="40" y="10296"/>
                  <a:pt x="33" y="10285"/>
                </a:cubicBezTo>
                <a:cubicBezTo>
                  <a:pt x="26" y="10274"/>
                  <a:pt x="20" y="10263"/>
                  <a:pt x="15" y="10250"/>
                </a:cubicBezTo>
                <a:cubicBezTo>
                  <a:pt x="10" y="10238"/>
                  <a:pt x="6" y="10226"/>
                  <a:pt x="4" y="10213"/>
                </a:cubicBezTo>
                <a:cubicBezTo>
                  <a:pt x="1" y="10200"/>
                  <a:pt x="0" y="10188"/>
                  <a:pt x="0" y="1017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CuadroTexto 847"/>
          <p:cNvSpPr txBox="1"/>
          <p:nvPr/>
        </p:nvSpPr>
        <p:spPr>
          <a:xfrm>
            <a:off x="666720" y="825120"/>
            <a:ext cx="22017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Tu robot revisor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CuadroTexto 848"/>
          <p:cNvSpPr txBox="1"/>
          <p:nvPr/>
        </p:nvSpPr>
        <p:spPr>
          <a:xfrm>
            <a:off x="866880" y="1651320"/>
            <a:ext cx="28396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i="1" u="none" strike="noStrike">
                <a:solidFill>
                  <a:srgbClr val="8FA1B0"/>
                </a:solidFill>
                <a:effectLst/>
                <a:uFillTx/>
                <a:latin typeface="Menlo"/>
                <a:ea typeface="Menlo"/>
              </a:rPr>
              <a:t># .github/workflows/ci.yml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CuadroTexto 849"/>
          <p:cNvSpPr txBox="1"/>
          <p:nvPr/>
        </p:nvSpPr>
        <p:spPr>
          <a:xfrm>
            <a:off x="866880" y="1918080"/>
            <a:ext cx="8740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name: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CI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CuadroTexto 850"/>
          <p:cNvSpPr txBox="1"/>
          <p:nvPr/>
        </p:nvSpPr>
        <p:spPr>
          <a:xfrm>
            <a:off x="866880" y="2175120"/>
            <a:ext cx="2621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 err="1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on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: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[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push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pull_request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]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CuadroTexto 851"/>
          <p:cNvSpPr txBox="1"/>
          <p:nvPr/>
        </p:nvSpPr>
        <p:spPr>
          <a:xfrm>
            <a:off x="866880" y="2441880"/>
            <a:ext cx="5464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jobs: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CuadroTexto 852"/>
          <p:cNvSpPr txBox="1"/>
          <p:nvPr/>
        </p:nvSpPr>
        <p:spPr>
          <a:xfrm>
            <a:off x="866880" y="2698920"/>
            <a:ext cx="7650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test: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CuadroTexto 853"/>
          <p:cNvSpPr txBox="1"/>
          <p:nvPr/>
        </p:nvSpPr>
        <p:spPr>
          <a:xfrm>
            <a:off x="866880" y="2965680"/>
            <a:ext cx="28393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runs-on: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ubuntu-latest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CuadroTexto 854"/>
          <p:cNvSpPr txBox="1"/>
          <p:nvPr/>
        </p:nvSpPr>
        <p:spPr>
          <a:xfrm>
            <a:off x="866880" y="3223080"/>
            <a:ext cx="1092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steps: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CuadroTexto 855"/>
          <p:cNvSpPr txBox="1"/>
          <p:nvPr/>
        </p:nvSpPr>
        <p:spPr>
          <a:xfrm>
            <a:off x="866880" y="3489480"/>
            <a:ext cx="3603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uses: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actions/checkout@v4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CuadroTexto 856"/>
          <p:cNvSpPr txBox="1"/>
          <p:nvPr/>
        </p:nvSpPr>
        <p:spPr>
          <a:xfrm>
            <a:off x="866880" y="3746880"/>
            <a:ext cx="404028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uses: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actions/setup-python@v5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CuadroTexto 857"/>
          <p:cNvSpPr txBox="1"/>
          <p:nvPr/>
        </p:nvSpPr>
        <p:spPr>
          <a:xfrm>
            <a:off x="866880" y="4013640"/>
            <a:ext cx="414936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 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with: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{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python-version: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"3.11"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}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CuadroTexto 858"/>
          <p:cNvSpPr txBox="1"/>
          <p:nvPr/>
        </p:nvSpPr>
        <p:spPr>
          <a:xfrm>
            <a:off x="866880" y="4270680"/>
            <a:ext cx="447660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 dirty="0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run: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pip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install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-e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.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pytest</a:t>
            </a:r>
            <a:r>
              <a:rPr lang="es-ES" sz="1430" b="0" u="none" strike="noStrike" dirty="0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 dirty="0" err="1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ruff</a:t>
            </a:r>
            <a:endParaRPr lang="es-ES" sz="143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CuadroTexto 859"/>
          <p:cNvSpPr txBox="1"/>
          <p:nvPr/>
        </p:nvSpPr>
        <p:spPr>
          <a:xfrm>
            <a:off x="866880" y="4537440"/>
            <a:ext cx="272952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run: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ruff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check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.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CuadroTexto 860"/>
          <p:cNvSpPr txBox="1"/>
          <p:nvPr/>
        </p:nvSpPr>
        <p:spPr>
          <a:xfrm>
            <a:off x="866880" y="4804200"/>
            <a:ext cx="2075040" cy="21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     </a:t>
            </a:r>
            <a:r>
              <a:rPr lang="es-ES" sz="1430" b="0" u="none" strike="noStrike">
                <a:solidFill>
                  <a:srgbClr val="3B2300"/>
                </a:solidFill>
                <a:effectLst/>
                <a:uFillTx/>
                <a:latin typeface="Menlo"/>
                <a:ea typeface="Menlo"/>
              </a:rPr>
              <a:t>-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86CBFF"/>
                </a:solidFill>
                <a:effectLst/>
                <a:uFillTx/>
                <a:latin typeface="Menlo"/>
                <a:ea typeface="Menlo"/>
              </a:rPr>
              <a:t>run:</a:t>
            </a:r>
            <a:r>
              <a:rPr lang="es-ES" sz="1430" b="0" u="none" strike="noStrike">
                <a:solidFill>
                  <a:srgbClr val="E8EDF2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s-ES" sz="1430" b="0" u="none" strike="noStrike">
                <a:solidFill>
                  <a:srgbClr val="E8C07D"/>
                </a:solidFill>
                <a:effectLst/>
                <a:uFillTx/>
                <a:latin typeface="Menlo"/>
                <a:ea typeface="Menlo"/>
              </a:rPr>
              <a:t>pytest</a:t>
            </a:r>
            <a:endParaRPr lang="es-ES" sz="1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CuadroTexto 861"/>
          <p:cNvSpPr txBox="1"/>
          <p:nvPr/>
        </p:nvSpPr>
        <p:spPr>
          <a:xfrm>
            <a:off x="666720" y="5402160"/>
            <a:ext cx="10306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Cada push, en una máquina limpia: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si tus pruebas no pasan, te enteras en minutos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no cuando tu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CuadroTexto 862"/>
          <p:cNvSpPr txBox="1"/>
          <p:nvPr/>
        </p:nvSpPr>
        <p:spPr>
          <a:xfrm>
            <a:off x="666720" y="5744880"/>
            <a:ext cx="33512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colega no puede correr tu código.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CuadroTexto 863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CuadroTexto 864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CuadroTexto 865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32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Forma libre 86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Forma libre 8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Forma libre 8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CuadroTexto 869"/>
          <p:cNvSpPr txBox="1"/>
          <p:nvPr/>
        </p:nvSpPr>
        <p:spPr>
          <a:xfrm>
            <a:off x="666720" y="1863360"/>
            <a:ext cx="144432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Para llevar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CuadroTexto 870"/>
          <p:cNvSpPr txBox="1"/>
          <p:nvPr/>
        </p:nvSpPr>
        <p:spPr>
          <a:xfrm>
            <a:off x="869760" y="2535120"/>
            <a:ext cx="10229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1.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Un commit es una instantánea con autor, fecha y porqué.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La historia es un grafo; las ramas son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CuadroTexto 871"/>
          <p:cNvSpPr txBox="1"/>
          <p:nvPr/>
        </p:nvSpPr>
        <p:spPr>
          <a:xfrm>
            <a:off x="1123920" y="2877840"/>
            <a:ext cx="4912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punteros. Con ese modelo, nada de Git es magia.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CuadroTexto 872"/>
          <p:cNvSpPr txBox="1"/>
          <p:nvPr/>
        </p:nvSpPr>
        <p:spPr>
          <a:xfrm>
            <a:off x="869760" y="3373200"/>
            <a:ext cx="9880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2. </a:t>
            </a:r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El conﬂicto es Git negándose a decidir ciencia por ti.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Resolverlo toma 90 segundos y es una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CuadroTexto 873"/>
          <p:cNvSpPr txBox="1"/>
          <p:nvPr/>
        </p:nvSpPr>
        <p:spPr>
          <a:xfrm>
            <a:off x="1123920" y="3716280"/>
            <a:ext cx="37400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decisión metodológica, no un castigo.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Forma libre 874"/>
          <p:cNvSpPr/>
          <p:nvPr/>
        </p:nvSpPr>
        <p:spPr>
          <a:xfrm>
            <a:off x="1123920" y="4228920"/>
            <a:ext cx="1285920" cy="267120"/>
          </a:xfrm>
          <a:custGeom>
            <a:avLst/>
            <a:gdLst/>
            <a:ahLst/>
            <a:cxnLst/>
            <a:rect l="0" t="0" r="r" b="b"/>
            <a:pathLst>
              <a:path w="3572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467" y="0"/>
                </a:lnTo>
                <a:cubicBezTo>
                  <a:pt x="3481" y="0"/>
                  <a:pt x="3494" y="3"/>
                  <a:pt x="3507" y="8"/>
                </a:cubicBezTo>
                <a:cubicBezTo>
                  <a:pt x="3520" y="13"/>
                  <a:pt x="3532" y="21"/>
                  <a:pt x="3541" y="31"/>
                </a:cubicBezTo>
                <a:cubicBezTo>
                  <a:pt x="3551" y="41"/>
                  <a:pt x="3559" y="52"/>
                  <a:pt x="3564" y="65"/>
                </a:cubicBezTo>
                <a:cubicBezTo>
                  <a:pt x="3570" y="78"/>
                  <a:pt x="3572" y="92"/>
                  <a:pt x="3572" y="106"/>
                </a:cubicBezTo>
                <a:lnTo>
                  <a:pt x="3572" y="636"/>
                </a:lnTo>
                <a:cubicBezTo>
                  <a:pt x="3572" y="650"/>
                  <a:pt x="3570" y="664"/>
                  <a:pt x="3564" y="676"/>
                </a:cubicBezTo>
                <a:cubicBezTo>
                  <a:pt x="3559" y="689"/>
                  <a:pt x="3551" y="701"/>
                  <a:pt x="3541" y="711"/>
                </a:cubicBezTo>
                <a:cubicBezTo>
                  <a:pt x="3532" y="721"/>
                  <a:pt x="3520" y="728"/>
                  <a:pt x="3507" y="734"/>
                </a:cubicBezTo>
                <a:cubicBezTo>
                  <a:pt x="3494" y="739"/>
                  <a:pt x="3481" y="742"/>
                  <a:pt x="3467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4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CuadroTexto 875"/>
          <p:cNvSpPr txBox="1"/>
          <p:nvPr/>
        </p:nvSpPr>
        <p:spPr>
          <a:xfrm>
            <a:off x="869760" y="4211640"/>
            <a:ext cx="2548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3.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CuadroTexto 876"/>
          <p:cNvSpPr txBox="1"/>
          <p:nvPr/>
        </p:nvSpPr>
        <p:spPr>
          <a:xfrm>
            <a:off x="1181160" y="4248720"/>
            <a:ext cx="11750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530" b="1" u="none" strike="noStrike">
                <a:solidFill>
                  <a:srgbClr val="B03A2E"/>
                </a:solidFill>
                <a:effectLst/>
                <a:uFillTx/>
                <a:latin typeface="Menlo"/>
                <a:ea typeface="Menlo"/>
              </a:rPr>
              <a:t>git reflog</a:t>
            </a:r>
            <a:endParaRPr lang="es-ES" sz="15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CuadroTexto 877"/>
          <p:cNvSpPr txBox="1"/>
          <p:nvPr/>
        </p:nvSpPr>
        <p:spPr>
          <a:xfrm>
            <a:off x="2408040" y="4211640"/>
            <a:ext cx="88030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 te salva casi siempre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— y lo que nunca se arregla solo es un secreto subido: se rota la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CuadroTexto 878"/>
          <p:cNvSpPr txBox="1"/>
          <p:nvPr/>
        </p:nvSpPr>
        <p:spPr>
          <a:xfrm>
            <a:off x="1123920" y="4554360"/>
            <a:ext cx="10681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credencial.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CuadroTexto 879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CuadroTexto 880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CuadroTexto 881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33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Forma libre 8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Forma libre 8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Forma libre 8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CuadroTexto 885"/>
          <p:cNvSpPr txBox="1"/>
          <p:nvPr/>
        </p:nvSpPr>
        <p:spPr>
          <a:xfrm>
            <a:off x="666720" y="2006280"/>
            <a:ext cx="16005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550" b="0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Laboratorio</a:t>
            </a:r>
            <a:endParaRPr lang="es-ES" sz="2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CuadroTexto 886"/>
          <p:cNvSpPr txBox="1"/>
          <p:nvPr/>
        </p:nvSpPr>
        <p:spPr>
          <a:xfrm>
            <a:off x="666720" y="2717280"/>
            <a:ext cx="544896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2020" b="0" u="none" strike="noStrike">
                <a:solidFill>
                  <a:srgbClr val="1B7CA8"/>
                </a:solidFill>
                <a:effectLst/>
                <a:uFillTx/>
                <a:latin typeface="HelveticaNeue"/>
                <a:ea typeface="HelveticaNeue"/>
              </a:rPr>
              <a:t>Flujo completo de colaboración con pull requests</a:t>
            </a:r>
            <a:endParaRPr lang="es-E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CuadroTexto 887"/>
          <p:cNvSpPr txBox="1"/>
          <p:nvPr/>
        </p:nvSpPr>
        <p:spPr>
          <a:xfrm>
            <a:off x="666720" y="3230280"/>
            <a:ext cx="106930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Repositorio propio con historial limpio, un conﬂicto provocado y resuelto, un PR mergeado, un PR revisado 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CuadroTexto 888"/>
          <p:cNvSpPr txBox="1"/>
          <p:nvPr/>
        </p:nvSpPr>
        <p:spPr>
          <a:xfrm>
            <a:off x="666720" y="3573360"/>
            <a:ext cx="292284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un compañero, y CI en verde.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Forma libre 889"/>
          <p:cNvSpPr/>
          <p:nvPr/>
        </p:nvSpPr>
        <p:spPr>
          <a:xfrm>
            <a:off x="666720" y="4581360"/>
            <a:ext cx="3505320" cy="267120"/>
          </a:xfrm>
          <a:custGeom>
            <a:avLst/>
            <a:gdLst/>
            <a:ahLst/>
            <a:cxnLst/>
            <a:rect l="0" t="0" r="r" b="b"/>
            <a:pathLst>
              <a:path w="9737" h="742">
                <a:moveTo>
                  <a:pt x="0" y="636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9631" y="0"/>
                </a:lnTo>
                <a:cubicBezTo>
                  <a:pt x="9645" y="0"/>
                  <a:pt x="9659" y="3"/>
                  <a:pt x="9672" y="8"/>
                </a:cubicBezTo>
                <a:cubicBezTo>
                  <a:pt x="9685" y="13"/>
                  <a:pt x="9696" y="21"/>
                  <a:pt x="9706" y="31"/>
                </a:cubicBezTo>
                <a:cubicBezTo>
                  <a:pt x="9716" y="41"/>
                  <a:pt x="9724" y="52"/>
                  <a:pt x="9729" y="65"/>
                </a:cubicBezTo>
                <a:cubicBezTo>
                  <a:pt x="9735" y="78"/>
                  <a:pt x="9737" y="92"/>
                  <a:pt x="9737" y="106"/>
                </a:cubicBezTo>
                <a:lnTo>
                  <a:pt x="9737" y="636"/>
                </a:lnTo>
                <a:cubicBezTo>
                  <a:pt x="9737" y="650"/>
                  <a:pt x="9735" y="663"/>
                  <a:pt x="9729" y="676"/>
                </a:cubicBezTo>
                <a:cubicBezTo>
                  <a:pt x="9724" y="689"/>
                  <a:pt x="9716" y="701"/>
                  <a:pt x="9706" y="711"/>
                </a:cubicBezTo>
                <a:cubicBezTo>
                  <a:pt x="9696" y="721"/>
                  <a:pt x="9685" y="728"/>
                  <a:pt x="9672" y="734"/>
                </a:cubicBezTo>
                <a:cubicBezTo>
                  <a:pt x="9659" y="739"/>
                  <a:pt x="9645" y="742"/>
                  <a:pt x="9631" y="742"/>
                </a:cubicBezTo>
                <a:lnTo>
                  <a:pt x="105" y="742"/>
                </a:lnTo>
                <a:cubicBezTo>
                  <a:pt x="91" y="742"/>
                  <a:pt x="78" y="739"/>
                  <a:pt x="65" y="734"/>
                </a:cubicBezTo>
                <a:cubicBezTo>
                  <a:pt x="52" y="728"/>
                  <a:pt x="41" y="721"/>
                  <a:pt x="31" y="711"/>
                </a:cubicBezTo>
                <a:cubicBezTo>
                  <a:pt x="21" y="701"/>
                  <a:pt x="13" y="689"/>
                  <a:pt x="8" y="676"/>
                </a:cubicBezTo>
                <a:cubicBezTo>
                  <a:pt x="2" y="663"/>
                  <a:pt x="0" y="650"/>
                  <a:pt x="0" y="636"/>
                </a:cubicBezTo>
                <a:close/>
              </a:path>
            </a:pathLst>
          </a:custGeom>
          <a:solidFill>
            <a:srgbClr val="F4F6F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CuadroTexto 890"/>
          <p:cNvSpPr txBox="1"/>
          <p:nvPr/>
        </p:nvSpPr>
        <p:spPr>
          <a:xfrm>
            <a:off x="666720" y="4068720"/>
            <a:ext cx="6284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800" b="1" u="none" strike="noStrike">
                <a:solidFill>
                  <a:srgbClr val="0B3C5D"/>
                </a:solidFill>
                <a:effectLst/>
                <a:uFillTx/>
                <a:latin typeface="HelveticaNeue"/>
                <a:ea typeface="HelveticaNeue"/>
              </a:rPr>
              <a:t>Entregable:</a:t>
            </a:r>
            <a:r>
              <a:rPr lang="es-ES" sz="180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 URL del repositorio con todo lo anterior veriﬁcable.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CuadroTexto 89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CuadroTexto 89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CuadroTexto 89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34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Forma libre 8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Forma libre 8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Forma libre 8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B3C5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E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CuadroTexto 898"/>
          <p:cNvSpPr txBox="1"/>
          <p:nvPr/>
        </p:nvSpPr>
        <p:spPr>
          <a:xfrm>
            <a:off x="4672800" y="2692440"/>
            <a:ext cx="2915280" cy="63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4200" b="0" u="none" strike="noStrike">
                <a:solidFill>
                  <a:srgbClr val="FFFFFF"/>
                </a:solidFill>
                <a:effectLst/>
                <a:uFillTx/>
                <a:latin typeface="HelveticaNeue"/>
                <a:ea typeface="HelveticaNeue"/>
              </a:rPr>
              <a:t>¿Preguntas?</a:t>
            </a:r>
            <a:endParaRPr lang="es-E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CuadroTexto 902"/>
          <p:cNvSpPr txBox="1"/>
          <p:nvPr/>
        </p:nvSpPr>
        <p:spPr>
          <a:xfrm>
            <a:off x="285840" y="227160"/>
            <a:ext cx="398808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Sesión 04 · Ciencia de Datos Aplicada en Biomedicina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CuadroTexto 903"/>
          <p:cNvSpPr txBox="1"/>
          <p:nvPr/>
        </p:nvSpPr>
        <p:spPr>
          <a:xfrm>
            <a:off x="285840" y="6428160"/>
            <a:ext cx="3388320" cy="20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350" b="0" u="none" strike="noStrike">
                <a:solidFill>
                  <a:srgbClr val="666666"/>
                </a:solidFill>
                <a:effectLst/>
                <a:uFillTx/>
                <a:latin typeface="HelveticaNeue"/>
                <a:ea typeface="HelveticaNeue"/>
              </a:rPr>
              <a:t>Dr. Antonio Daniel Martínez Gutiérrez · 2027-1</a:t>
            </a:r>
            <a:endParaRPr lang="es-E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CuadroTexto 904"/>
          <p:cNvSpPr txBox="1"/>
          <p:nvPr/>
        </p:nvSpPr>
        <p:spPr>
          <a:xfrm>
            <a:off x="11747160" y="6474240"/>
            <a:ext cx="16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ES" sz="1130" b="0" u="none" strike="noStrike">
                <a:solidFill>
                  <a:srgbClr val="4A4A4A"/>
                </a:solidFill>
                <a:effectLst/>
                <a:uFillTx/>
                <a:latin typeface="HelveticaNeue"/>
                <a:ea typeface="HelveticaNeue"/>
              </a:rPr>
              <a:t>35</a:t>
            </a:r>
            <a:endParaRPr lang="es-ES" sz="11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3143</Words>
  <Application>Microsoft Macintosh PowerPoint</Application>
  <PresentationFormat>Panorámica</PresentationFormat>
  <Paragraphs>464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2" baseType="lpstr">
      <vt:lpstr>Arial</vt:lpstr>
      <vt:lpstr>HelveticaNeue</vt:lpstr>
      <vt:lpstr>Menlo</vt:lpstr>
      <vt:lpstr>Symbol</vt:lpstr>
      <vt:lpstr>Times New Roman</vt:lpstr>
      <vt:lpstr>Wingdings</vt:lpstr>
      <vt:lpstr>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dc:description/>
  <cp:lastModifiedBy>Antonio Daniel Martinez Gutierrez</cp:lastModifiedBy>
  <cp:revision>4</cp:revision>
  <dcterms:modified xsi:type="dcterms:W3CDTF">2026-08-21T03:01:38Z</dcterms:modified>
  <dc:language>es-ES</dc:language>
</cp:coreProperties>
</file>