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7772400" cy="100584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57"/>
    <p:restoredTop sz="94727"/>
  </p:normalViewPr>
  <p:slideViewPr>
    <p:cSldViewPr snapToGrid="0">
      <p:cViewPr varScale="1">
        <p:scale>
          <a:sx n="172" d="100"/>
          <a:sy n="172" d="100"/>
        </p:scale>
        <p:origin x="3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rma libre 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Forma libre 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Forma libre 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Forma libre 8"/>
          <p:cNvSpPr/>
          <p:nvPr/>
        </p:nvSpPr>
        <p:spPr>
          <a:xfrm>
            <a:off x="666720" y="2904840"/>
            <a:ext cx="10858680" cy="38520"/>
          </a:xfrm>
          <a:custGeom>
            <a:avLst/>
            <a:gdLst/>
            <a:ahLst/>
            <a:cxnLst/>
            <a:rect l="0" t="0" r="r" b="b"/>
            <a:pathLst>
              <a:path w="30163" h="107">
                <a:moveTo>
                  <a:pt x="0" y="0"/>
                </a:moveTo>
                <a:lnTo>
                  <a:pt x="30163" y="0"/>
                </a:lnTo>
                <a:lnTo>
                  <a:pt x="30163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666720" y="2203920"/>
            <a:ext cx="2050920" cy="56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37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Sesión 05</a:t>
            </a:r>
            <a:endParaRPr lang="es-ES" sz="3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666720" y="3187440"/>
            <a:ext cx="784188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1B7CA8"/>
                </a:solidFill>
                <a:effectLst/>
                <a:uFillTx/>
                <a:latin typeface="HelveticaNeue"/>
                <a:ea typeface="HelveticaNeue"/>
              </a:rPr>
              <a:t>Buenas Prácticas de Programación y Testing con pytest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666720" y="3868560"/>
            <a:ext cx="55018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Bloque II — Ingeniería de software para cientíﬁcos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666720" y="4363920"/>
            <a:ext cx="62359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Dr. Antonio Daniel Martínez Gutiérrez Semestre 2027-1 · 1:30 h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CuadroTexto 13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05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CuadroTexto 14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orma libre 1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Forma libre 1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Forma libre 1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CuadroTexto 18"/>
          <p:cNvSpPr txBox="1"/>
          <p:nvPr/>
        </p:nvSpPr>
        <p:spPr>
          <a:xfrm>
            <a:off x="666720" y="2101680"/>
            <a:ext cx="30488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Objetivos de la sesión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CuadroTexto 19"/>
          <p:cNvSpPr txBox="1"/>
          <p:nvPr/>
        </p:nvSpPr>
        <p:spPr>
          <a:xfrm>
            <a:off x="666720" y="2773080"/>
            <a:ext cx="38541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Al terminar esta sesión serás capaz de: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CuadroTexto 20"/>
          <p:cNvSpPr txBox="1"/>
          <p:nvPr/>
        </p:nvSpPr>
        <p:spPr>
          <a:xfrm>
            <a:off x="869760" y="3268440"/>
            <a:ext cx="83041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1. Estructurar un proyecto como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paquete instalable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no una carpeta de notebooks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CuadroTexto 21"/>
          <p:cNvSpPr txBox="1"/>
          <p:nvPr/>
        </p:nvSpPr>
        <p:spPr>
          <a:xfrm>
            <a:off x="869760" y="3668400"/>
            <a:ext cx="65800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2. Escribir funciones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testeables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 pequeñas, con tipos y docstrings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CuadroTexto 22"/>
          <p:cNvSpPr txBox="1"/>
          <p:nvPr/>
        </p:nvSpPr>
        <p:spPr>
          <a:xfrm>
            <a:off x="869760" y="4068720"/>
            <a:ext cx="67626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3. Diseñar pruebas con pytest: ﬁxtures, parametrización, casos límite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CuadroTexto 23"/>
          <p:cNvSpPr txBox="1"/>
          <p:nvPr/>
        </p:nvSpPr>
        <p:spPr>
          <a:xfrm>
            <a:off x="869760" y="4468680"/>
            <a:ext cx="81399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4. Automatizar la calidad con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ruﬀ y pre-commit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para no depender de la disciplina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CuadroTexto 24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05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CuadroTexto 25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CuadroTexto 26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orma libre 2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Forma libre 2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Forma libre 2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Forma libre 30"/>
          <p:cNvSpPr/>
          <p:nvPr/>
        </p:nvSpPr>
        <p:spPr>
          <a:xfrm>
            <a:off x="666720" y="4914720"/>
            <a:ext cx="10858680" cy="571680"/>
          </a:xfrm>
          <a:custGeom>
            <a:avLst/>
            <a:gdLst/>
            <a:ahLst/>
            <a:cxnLst/>
            <a:rect l="0" t="0" r="r" b="b"/>
            <a:pathLst>
              <a:path w="30163" h="1588">
                <a:moveTo>
                  <a:pt x="0" y="0"/>
                </a:moveTo>
                <a:lnTo>
                  <a:pt x="30163" y="0"/>
                </a:lnTo>
                <a:lnTo>
                  <a:pt x="30163" y="1588"/>
                </a:lnTo>
                <a:lnTo>
                  <a:pt x="0" y="1588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Forma libre 31"/>
          <p:cNvSpPr/>
          <p:nvPr/>
        </p:nvSpPr>
        <p:spPr>
          <a:xfrm>
            <a:off x="666720" y="4914720"/>
            <a:ext cx="47880" cy="571680"/>
          </a:xfrm>
          <a:custGeom>
            <a:avLst/>
            <a:gdLst/>
            <a:ahLst/>
            <a:cxnLst/>
            <a:rect l="0" t="0" r="r" b="b"/>
            <a:pathLst>
              <a:path w="133" h="1588">
                <a:moveTo>
                  <a:pt x="0" y="0"/>
                </a:moveTo>
                <a:lnTo>
                  <a:pt x="133" y="0"/>
                </a:lnTo>
                <a:lnTo>
                  <a:pt x="133" y="1588"/>
                </a:lnTo>
                <a:lnTo>
                  <a:pt x="0" y="1588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CuadroTexto 32"/>
          <p:cNvSpPr txBox="1"/>
          <p:nvPr/>
        </p:nvSpPr>
        <p:spPr>
          <a:xfrm>
            <a:off x="666720" y="1387080"/>
            <a:ext cx="10832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Agenda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CuadroTexto 33"/>
          <p:cNvSpPr txBox="1"/>
          <p:nvPr/>
        </p:nvSpPr>
        <p:spPr>
          <a:xfrm>
            <a:off x="869760" y="2058840"/>
            <a:ext cx="34099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1. Por qué probar código cientíﬁco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CuadroTexto 34"/>
          <p:cNvSpPr txBox="1"/>
          <p:nvPr/>
        </p:nvSpPr>
        <p:spPr>
          <a:xfrm>
            <a:off x="869760" y="2458800"/>
            <a:ext cx="26686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2. Del notebook al paquete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CuadroTexto 35"/>
          <p:cNvSpPr txBox="1"/>
          <p:nvPr/>
        </p:nvSpPr>
        <p:spPr>
          <a:xfrm>
            <a:off x="869760" y="2859120"/>
            <a:ext cx="35154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3. Funciones que se pueden probar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CuadroTexto 36"/>
          <p:cNvSpPr txBox="1"/>
          <p:nvPr/>
        </p:nvSpPr>
        <p:spPr>
          <a:xfrm>
            <a:off x="869760" y="3259080"/>
            <a:ext cx="20289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4. pytest desde cero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CuadroTexto 37"/>
          <p:cNvSpPr txBox="1"/>
          <p:nvPr/>
        </p:nvSpPr>
        <p:spPr>
          <a:xfrm>
            <a:off x="869760" y="3659040"/>
            <a:ext cx="28206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5. Fixtures y parametrización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CuadroTexto 38"/>
          <p:cNvSpPr txBox="1"/>
          <p:nvPr/>
        </p:nvSpPr>
        <p:spPr>
          <a:xfrm>
            <a:off x="869760" y="4059000"/>
            <a:ext cx="33548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6. Qué probar en código de datos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CuadroTexto 39"/>
          <p:cNvSpPr txBox="1"/>
          <p:nvPr/>
        </p:nvSpPr>
        <p:spPr>
          <a:xfrm>
            <a:off x="869760" y="4459320"/>
            <a:ext cx="24228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7. Automatizar la calidad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CuadroTexto 40"/>
          <p:cNvSpPr txBox="1"/>
          <p:nvPr/>
        </p:nvSpPr>
        <p:spPr>
          <a:xfrm>
            <a:off x="905040" y="5068800"/>
            <a:ext cx="70545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Laboratorio:</a:t>
            </a:r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convertir el análisis de la sesión 2 en un paquete probado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CuadroTexto 41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05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CuadroTexto 42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CuadroTexto 43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Forma libre 4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Forma libre 4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Forma libre 4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CuadroTexto 47"/>
          <p:cNvSpPr txBox="1"/>
          <p:nvPr/>
        </p:nvSpPr>
        <p:spPr>
          <a:xfrm>
            <a:off x="2216520" y="3063960"/>
            <a:ext cx="795600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1. Por qué probar código científico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CuadroTexto 48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05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CuadroTexto 49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CuadroTexto 50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4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orma libre 5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Forma libre 5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Forma libre 5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Forma libre 54"/>
          <p:cNvSpPr/>
          <p:nvPr/>
        </p:nvSpPr>
        <p:spPr>
          <a:xfrm>
            <a:off x="666720" y="4533840"/>
            <a:ext cx="10858680" cy="571680"/>
          </a:xfrm>
          <a:custGeom>
            <a:avLst/>
            <a:gdLst/>
            <a:ahLst/>
            <a:cxnLst/>
            <a:rect l="0" t="0" r="r" b="b"/>
            <a:pathLst>
              <a:path w="30163" h="1588">
                <a:moveTo>
                  <a:pt x="0" y="0"/>
                </a:moveTo>
                <a:lnTo>
                  <a:pt x="30163" y="0"/>
                </a:lnTo>
                <a:lnTo>
                  <a:pt x="30163" y="1588"/>
                </a:lnTo>
                <a:lnTo>
                  <a:pt x="0" y="1588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Forma libre 55"/>
          <p:cNvSpPr/>
          <p:nvPr/>
        </p:nvSpPr>
        <p:spPr>
          <a:xfrm>
            <a:off x="666720" y="4533840"/>
            <a:ext cx="47880" cy="571680"/>
          </a:xfrm>
          <a:custGeom>
            <a:avLst/>
            <a:gdLst/>
            <a:ahLst/>
            <a:cxnLst/>
            <a:rect l="0" t="0" r="r" b="b"/>
            <a:pathLst>
              <a:path w="133" h="1588">
                <a:moveTo>
                  <a:pt x="0" y="0"/>
                </a:moveTo>
                <a:lnTo>
                  <a:pt x="133" y="0"/>
                </a:lnTo>
                <a:lnTo>
                  <a:pt x="133" y="1588"/>
                </a:lnTo>
                <a:lnTo>
                  <a:pt x="0" y="1588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CuadroTexto 56"/>
          <p:cNvSpPr txBox="1"/>
          <p:nvPr/>
        </p:nvSpPr>
        <p:spPr>
          <a:xfrm>
            <a:off x="666720" y="1272960"/>
            <a:ext cx="330228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El caso Geoffrey Chang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CuadroTexto 57"/>
          <p:cNvSpPr txBox="1"/>
          <p:nvPr/>
        </p:nvSpPr>
        <p:spPr>
          <a:xfrm>
            <a:off x="488160" y="1944720"/>
            <a:ext cx="109717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2006. Un laboratorio de cristalografía en </a:t>
            </a:r>
            <a:r>
              <a:rPr lang="es-ES" sz="1800" b="0" u="none" strike="noStrike" dirty="0" err="1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Scripps</a:t>
            </a:r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descubre que un programa heredado </a:t>
            </a:r>
            <a:r>
              <a:rPr lang="es-ES" sz="1800" b="1" u="none" strike="noStrike" dirty="0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invertía dos columnas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CuadroTexto 58"/>
          <p:cNvSpPr txBox="1"/>
          <p:nvPr/>
        </p:nvSpPr>
        <p:spPr>
          <a:xfrm>
            <a:off x="1123920" y="2287440"/>
            <a:ext cx="10126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de datos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Forma libre 59"/>
          <p:cNvSpPr/>
          <p:nvPr/>
        </p:nvSpPr>
        <p:spPr>
          <a:xfrm>
            <a:off x="914040" y="339084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5"/>
                </a:moveTo>
                <a:cubicBezTo>
                  <a:pt x="213" y="120"/>
                  <a:pt x="210" y="133"/>
                  <a:pt x="205" y="146"/>
                </a:cubicBezTo>
                <a:cubicBezTo>
                  <a:pt x="200" y="159"/>
                  <a:pt x="192" y="170"/>
                  <a:pt x="182" y="180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0"/>
                </a:cubicBezTo>
                <a:cubicBezTo>
                  <a:pt x="22" y="170"/>
                  <a:pt x="14" y="159"/>
                  <a:pt x="9" y="146"/>
                </a:cubicBezTo>
                <a:cubicBezTo>
                  <a:pt x="3" y="133"/>
                  <a:pt x="0" y="120"/>
                  <a:pt x="0" y="105"/>
                </a:cubicBezTo>
                <a:cubicBezTo>
                  <a:pt x="0" y="91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CuadroTexto 60"/>
          <p:cNvSpPr txBox="1"/>
          <p:nvPr/>
        </p:nvSpPr>
        <p:spPr>
          <a:xfrm>
            <a:off x="666720" y="2782800"/>
            <a:ext cx="72075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Consecuencia: las estructuras de proteínas publicadas estaban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al revés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Forma libre 61"/>
          <p:cNvSpPr/>
          <p:nvPr/>
        </p:nvSpPr>
        <p:spPr>
          <a:xfrm>
            <a:off x="914040" y="379080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CuadroTexto 62"/>
          <p:cNvSpPr txBox="1"/>
          <p:nvPr/>
        </p:nvSpPr>
        <p:spPr>
          <a:xfrm>
            <a:off x="1123920" y="3278160"/>
            <a:ext cx="43448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5 artículos retractados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— tres en </a:t>
            </a:r>
            <a:r>
              <a:rPr lang="es-ES" sz="1800" b="0" i="1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Science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Forma libre 63"/>
          <p:cNvSpPr/>
          <p:nvPr/>
        </p:nvSpPr>
        <p:spPr>
          <a:xfrm>
            <a:off x="914040" y="419076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79"/>
                  <a:pt x="9" y="65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5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CuadroTexto 64"/>
          <p:cNvSpPr txBox="1"/>
          <p:nvPr/>
        </p:nvSpPr>
        <p:spPr>
          <a:xfrm>
            <a:off x="1123920" y="3678120"/>
            <a:ext cx="94644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Años de trabajo de otros laboratorios que intentaban conciliar sus resultados con los publicados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CuadroTexto 66"/>
          <p:cNvSpPr txBox="1"/>
          <p:nvPr/>
        </p:nvSpPr>
        <p:spPr>
          <a:xfrm>
            <a:off x="905040" y="4687920"/>
            <a:ext cx="41932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Una prueba de 5 líneas lo habría atrapado.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CuadroTexto 70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05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CuadroTexto 71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CuadroTexto 72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5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7D4C14F-FE61-4AE3-4E62-6E5AD6DC02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4020" y="4013052"/>
            <a:ext cx="6039218" cy="27904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Forma libre 7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Forma libre 7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Forma libre 7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Forma libre 76"/>
          <p:cNvSpPr/>
          <p:nvPr/>
        </p:nvSpPr>
        <p:spPr>
          <a:xfrm>
            <a:off x="671400" y="4319280"/>
            <a:ext cx="10849320" cy="1105560"/>
          </a:xfrm>
          <a:custGeom>
            <a:avLst/>
            <a:gdLst/>
            <a:ahLst/>
            <a:cxnLst/>
            <a:rect l="0" t="0" r="r" b="b"/>
            <a:pathLst>
              <a:path w="30137" h="3071">
                <a:moveTo>
                  <a:pt x="0" y="2872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7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2872"/>
                </a:lnTo>
                <a:cubicBezTo>
                  <a:pt x="30137" y="2885"/>
                  <a:pt x="30136" y="2898"/>
                  <a:pt x="30133" y="2911"/>
                </a:cubicBezTo>
                <a:cubicBezTo>
                  <a:pt x="30130" y="2924"/>
                  <a:pt x="30127" y="2936"/>
                  <a:pt x="30122" y="2948"/>
                </a:cubicBezTo>
                <a:cubicBezTo>
                  <a:pt x="30117" y="2960"/>
                  <a:pt x="30111" y="2971"/>
                  <a:pt x="30103" y="2982"/>
                </a:cubicBezTo>
                <a:cubicBezTo>
                  <a:pt x="30096" y="2993"/>
                  <a:pt x="30088" y="3003"/>
                  <a:pt x="30079" y="3012"/>
                </a:cubicBezTo>
                <a:cubicBezTo>
                  <a:pt x="30070" y="3022"/>
                  <a:pt x="30059" y="3030"/>
                  <a:pt x="30049" y="3037"/>
                </a:cubicBezTo>
                <a:cubicBezTo>
                  <a:pt x="30038" y="3044"/>
                  <a:pt x="30026" y="3050"/>
                  <a:pt x="30014" y="3055"/>
                </a:cubicBezTo>
                <a:cubicBezTo>
                  <a:pt x="30002" y="3060"/>
                  <a:pt x="29990" y="3064"/>
                  <a:pt x="29977" y="3067"/>
                </a:cubicBezTo>
                <a:cubicBezTo>
                  <a:pt x="29964" y="3069"/>
                  <a:pt x="29951" y="3071"/>
                  <a:pt x="29938" y="3071"/>
                </a:cubicBezTo>
                <a:lnTo>
                  <a:pt x="198" y="3071"/>
                </a:lnTo>
                <a:cubicBezTo>
                  <a:pt x="185" y="3071"/>
                  <a:pt x="172" y="3069"/>
                  <a:pt x="160" y="3067"/>
                </a:cubicBezTo>
                <a:cubicBezTo>
                  <a:pt x="147" y="3064"/>
                  <a:pt x="134" y="3060"/>
                  <a:pt x="122" y="3055"/>
                </a:cubicBezTo>
                <a:cubicBezTo>
                  <a:pt x="110" y="3050"/>
                  <a:pt x="99" y="3044"/>
                  <a:pt x="88" y="3037"/>
                </a:cubicBezTo>
                <a:cubicBezTo>
                  <a:pt x="77" y="3030"/>
                  <a:pt x="67" y="3022"/>
                  <a:pt x="58" y="3012"/>
                </a:cubicBezTo>
                <a:cubicBezTo>
                  <a:pt x="49" y="3003"/>
                  <a:pt x="40" y="2993"/>
                  <a:pt x="33" y="2982"/>
                </a:cubicBezTo>
                <a:cubicBezTo>
                  <a:pt x="26" y="2971"/>
                  <a:pt x="20" y="2960"/>
                  <a:pt x="15" y="2948"/>
                </a:cubicBezTo>
                <a:cubicBezTo>
                  <a:pt x="10" y="2936"/>
                  <a:pt x="6" y="2924"/>
                  <a:pt x="4" y="2911"/>
                </a:cubicBezTo>
                <a:cubicBezTo>
                  <a:pt x="1" y="2898"/>
                  <a:pt x="0" y="2885"/>
                  <a:pt x="0" y="2872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Forma libre 77"/>
          <p:cNvSpPr/>
          <p:nvPr/>
        </p:nvSpPr>
        <p:spPr>
          <a:xfrm>
            <a:off x="671400" y="4319280"/>
            <a:ext cx="10849320" cy="1105560"/>
          </a:xfrm>
          <a:custGeom>
            <a:avLst/>
            <a:gdLst/>
            <a:ahLst/>
            <a:cxnLst/>
            <a:rect l="0" t="0" r="r" b="b"/>
            <a:pathLst>
              <a:path w="30137" h="3071">
                <a:moveTo>
                  <a:pt x="0" y="2872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7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2872"/>
                </a:lnTo>
                <a:cubicBezTo>
                  <a:pt x="30137" y="2885"/>
                  <a:pt x="30136" y="2898"/>
                  <a:pt x="30133" y="2911"/>
                </a:cubicBezTo>
                <a:cubicBezTo>
                  <a:pt x="30130" y="2924"/>
                  <a:pt x="30127" y="2936"/>
                  <a:pt x="30122" y="2948"/>
                </a:cubicBezTo>
                <a:cubicBezTo>
                  <a:pt x="30117" y="2960"/>
                  <a:pt x="30111" y="2971"/>
                  <a:pt x="30103" y="2982"/>
                </a:cubicBezTo>
                <a:cubicBezTo>
                  <a:pt x="30096" y="2993"/>
                  <a:pt x="30088" y="3003"/>
                  <a:pt x="30079" y="3012"/>
                </a:cubicBezTo>
                <a:cubicBezTo>
                  <a:pt x="30070" y="3022"/>
                  <a:pt x="30059" y="3030"/>
                  <a:pt x="30049" y="3037"/>
                </a:cubicBezTo>
                <a:cubicBezTo>
                  <a:pt x="30038" y="3044"/>
                  <a:pt x="30026" y="3050"/>
                  <a:pt x="30014" y="3055"/>
                </a:cubicBezTo>
                <a:cubicBezTo>
                  <a:pt x="30002" y="3060"/>
                  <a:pt x="29990" y="3064"/>
                  <a:pt x="29977" y="3067"/>
                </a:cubicBezTo>
                <a:cubicBezTo>
                  <a:pt x="29964" y="3069"/>
                  <a:pt x="29951" y="3071"/>
                  <a:pt x="29938" y="3071"/>
                </a:cubicBezTo>
                <a:lnTo>
                  <a:pt x="198" y="3071"/>
                </a:lnTo>
                <a:cubicBezTo>
                  <a:pt x="185" y="3071"/>
                  <a:pt x="172" y="3069"/>
                  <a:pt x="160" y="3067"/>
                </a:cubicBezTo>
                <a:cubicBezTo>
                  <a:pt x="147" y="3064"/>
                  <a:pt x="134" y="3060"/>
                  <a:pt x="122" y="3055"/>
                </a:cubicBezTo>
                <a:cubicBezTo>
                  <a:pt x="110" y="3050"/>
                  <a:pt x="99" y="3044"/>
                  <a:pt x="88" y="3037"/>
                </a:cubicBezTo>
                <a:cubicBezTo>
                  <a:pt x="77" y="3030"/>
                  <a:pt x="67" y="3022"/>
                  <a:pt x="58" y="3012"/>
                </a:cubicBezTo>
                <a:cubicBezTo>
                  <a:pt x="49" y="3003"/>
                  <a:pt x="40" y="2993"/>
                  <a:pt x="33" y="2982"/>
                </a:cubicBezTo>
                <a:cubicBezTo>
                  <a:pt x="26" y="2971"/>
                  <a:pt x="20" y="2960"/>
                  <a:pt x="15" y="2948"/>
                </a:cubicBezTo>
                <a:cubicBezTo>
                  <a:pt x="10" y="2936"/>
                  <a:pt x="6" y="2924"/>
                  <a:pt x="4" y="2911"/>
                </a:cubicBezTo>
                <a:cubicBezTo>
                  <a:pt x="1" y="2898"/>
                  <a:pt x="0" y="2885"/>
                  <a:pt x="0" y="2872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CuadroTexto 78"/>
          <p:cNvSpPr txBox="1"/>
          <p:nvPr/>
        </p:nvSpPr>
        <p:spPr>
          <a:xfrm>
            <a:off x="666720" y="1444320"/>
            <a:ext cx="5366277" cy="3924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 dirty="0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"Si el script corre, está bien" — error</a:t>
            </a:r>
            <a:endParaRPr lang="es-ES" sz="25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Forma libre 79"/>
          <p:cNvSpPr/>
          <p:nvPr/>
        </p:nvSpPr>
        <p:spPr>
          <a:xfrm>
            <a:off x="914040" y="273348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4"/>
                  <a:pt x="0" y="121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CuadroTexto 80"/>
          <p:cNvSpPr txBox="1"/>
          <p:nvPr/>
        </p:nvSpPr>
        <p:spPr>
          <a:xfrm>
            <a:off x="666720" y="2125440"/>
            <a:ext cx="58658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El código cientíﬁco casi nunca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truena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 produce un número.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Forma libre 81"/>
          <p:cNvSpPr/>
          <p:nvPr/>
        </p:nvSpPr>
        <p:spPr>
          <a:xfrm>
            <a:off x="914040" y="313344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9" y="67"/>
                </a:cubicBezTo>
                <a:cubicBezTo>
                  <a:pt x="14" y="54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4"/>
                  <a:pt x="205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CuadroTexto 82"/>
          <p:cNvSpPr txBox="1"/>
          <p:nvPr/>
        </p:nvSpPr>
        <p:spPr>
          <a:xfrm>
            <a:off x="1123920" y="2620800"/>
            <a:ext cx="42184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¿El número es correcto? ¿Cómo lo sabes?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Forma libre 83"/>
          <p:cNvSpPr/>
          <p:nvPr/>
        </p:nvSpPr>
        <p:spPr>
          <a:xfrm>
            <a:off x="3323880" y="3038400"/>
            <a:ext cx="352800" cy="267120"/>
          </a:xfrm>
          <a:custGeom>
            <a:avLst/>
            <a:gdLst/>
            <a:ahLst/>
            <a:cxnLst/>
            <a:rect l="0" t="0" r="r" b="b"/>
            <a:pathLst>
              <a:path w="980" h="742">
                <a:moveTo>
                  <a:pt x="0" y="636"/>
                </a:moveTo>
                <a:lnTo>
                  <a:pt x="0" y="107"/>
                </a:lnTo>
                <a:cubicBezTo>
                  <a:pt x="0" y="93"/>
                  <a:pt x="3" y="79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7" y="8"/>
                </a:cubicBezTo>
                <a:cubicBezTo>
                  <a:pt x="80" y="2"/>
                  <a:pt x="93" y="0"/>
                  <a:pt x="107" y="0"/>
                </a:cubicBezTo>
                <a:lnTo>
                  <a:pt x="875" y="0"/>
                </a:lnTo>
                <a:cubicBezTo>
                  <a:pt x="889" y="0"/>
                  <a:pt x="902" y="2"/>
                  <a:pt x="915" y="8"/>
                </a:cubicBezTo>
                <a:cubicBezTo>
                  <a:pt x="928" y="13"/>
                  <a:pt x="939" y="21"/>
                  <a:pt x="949" y="31"/>
                </a:cubicBezTo>
                <a:cubicBezTo>
                  <a:pt x="959" y="41"/>
                  <a:pt x="967" y="52"/>
                  <a:pt x="972" y="65"/>
                </a:cubicBezTo>
                <a:cubicBezTo>
                  <a:pt x="978" y="79"/>
                  <a:pt x="980" y="93"/>
                  <a:pt x="980" y="107"/>
                </a:cubicBezTo>
                <a:lnTo>
                  <a:pt x="980" y="636"/>
                </a:lnTo>
                <a:cubicBezTo>
                  <a:pt x="980" y="650"/>
                  <a:pt x="978" y="663"/>
                  <a:pt x="972" y="676"/>
                </a:cubicBezTo>
                <a:cubicBezTo>
                  <a:pt x="967" y="689"/>
                  <a:pt x="959" y="701"/>
                  <a:pt x="949" y="711"/>
                </a:cubicBezTo>
                <a:cubicBezTo>
                  <a:pt x="939" y="720"/>
                  <a:pt x="928" y="728"/>
                  <a:pt x="915" y="733"/>
                </a:cubicBezTo>
                <a:cubicBezTo>
                  <a:pt x="902" y="739"/>
                  <a:pt x="889" y="742"/>
                  <a:pt x="875" y="742"/>
                </a:cubicBezTo>
                <a:lnTo>
                  <a:pt x="107" y="742"/>
                </a:lnTo>
                <a:cubicBezTo>
                  <a:pt x="93" y="742"/>
                  <a:pt x="80" y="739"/>
                  <a:pt x="67" y="733"/>
                </a:cubicBezTo>
                <a:cubicBezTo>
                  <a:pt x="53" y="728"/>
                  <a:pt x="41" y="720"/>
                  <a:pt x="31" y="711"/>
                </a:cubicBezTo>
                <a:cubicBezTo>
                  <a:pt x="22" y="701"/>
                  <a:pt x="14" y="689"/>
                  <a:pt x="9" y="676"/>
                </a:cubicBezTo>
                <a:cubicBezTo>
                  <a:pt x="3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CuadroTexto 84"/>
          <p:cNvSpPr txBox="1"/>
          <p:nvPr/>
        </p:nvSpPr>
        <p:spPr>
          <a:xfrm>
            <a:off x="1123920" y="3020760"/>
            <a:ext cx="22024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Un signo invertido, un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CuadroTexto 85"/>
          <p:cNvSpPr txBox="1"/>
          <p:nvPr/>
        </p:nvSpPr>
        <p:spPr>
          <a:xfrm>
            <a:off x="3382920" y="3058200"/>
            <a:ext cx="2354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&gt;=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Forma libre 86"/>
          <p:cNvSpPr/>
          <p:nvPr/>
        </p:nvSpPr>
        <p:spPr>
          <a:xfrm>
            <a:off x="4543200" y="3038400"/>
            <a:ext cx="238680" cy="267120"/>
          </a:xfrm>
          <a:custGeom>
            <a:avLst/>
            <a:gdLst/>
            <a:ahLst/>
            <a:cxnLst/>
            <a:rect l="0" t="0" r="r" b="b"/>
            <a:pathLst>
              <a:path w="663" h="742">
                <a:moveTo>
                  <a:pt x="0" y="636"/>
                </a:moveTo>
                <a:lnTo>
                  <a:pt x="0" y="107"/>
                </a:lnTo>
                <a:cubicBezTo>
                  <a:pt x="0" y="93"/>
                  <a:pt x="3" y="79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557" y="0"/>
                </a:lnTo>
                <a:cubicBezTo>
                  <a:pt x="571" y="0"/>
                  <a:pt x="584" y="2"/>
                  <a:pt x="597" y="8"/>
                </a:cubicBezTo>
                <a:cubicBezTo>
                  <a:pt x="610" y="13"/>
                  <a:pt x="622" y="21"/>
                  <a:pt x="632" y="31"/>
                </a:cubicBezTo>
                <a:cubicBezTo>
                  <a:pt x="642" y="41"/>
                  <a:pt x="649" y="52"/>
                  <a:pt x="655" y="65"/>
                </a:cubicBezTo>
                <a:cubicBezTo>
                  <a:pt x="660" y="79"/>
                  <a:pt x="663" y="93"/>
                  <a:pt x="663" y="107"/>
                </a:cubicBezTo>
                <a:lnTo>
                  <a:pt x="663" y="636"/>
                </a:lnTo>
                <a:cubicBezTo>
                  <a:pt x="663" y="650"/>
                  <a:pt x="660" y="663"/>
                  <a:pt x="655" y="676"/>
                </a:cubicBezTo>
                <a:cubicBezTo>
                  <a:pt x="649" y="689"/>
                  <a:pt x="642" y="701"/>
                  <a:pt x="632" y="711"/>
                </a:cubicBezTo>
                <a:cubicBezTo>
                  <a:pt x="622" y="720"/>
                  <a:pt x="610" y="728"/>
                  <a:pt x="597" y="733"/>
                </a:cubicBezTo>
                <a:cubicBezTo>
                  <a:pt x="584" y="739"/>
                  <a:pt x="571" y="742"/>
                  <a:pt x="557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3"/>
                </a:cubicBezTo>
                <a:cubicBezTo>
                  <a:pt x="52" y="728"/>
                  <a:pt x="41" y="720"/>
                  <a:pt x="31" y="711"/>
                </a:cubicBezTo>
                <a:cubicBezTo>
                  <a:pt x="21" y="701"/>
                  <a:pt x="14" y="689"/>
                  <a:pt x="8" y="676"/>
                </a:cubicBezTo>
                <a:cubicBezTo>
                  <a:pt x="3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CuadroTexto 87"/>
          <p:cNvSpPr txBox="1"/>
          <p:nvPr/>
        </p:nvSpPr>
        <p:spPr>
          <a:xfrm>
            <a:off x="3674160" y="3020760"/>
            <a:ext cx="8733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que era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CuadroTexto 88"/>
          <p:cNvSpPr txBox="1"/>
          <p:nvPr/>
        </p:nvSpPr>
        <p:spPr>
          <a:xfrm>
            <a:off x="4603680" y="3058200"/>
            <a:ext cx="1940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&gt;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CuadroTexto 89"/>
          <p:cNvSpPr txBox="1"/>
          <p:nvPr/>
        </p:nvSpPr>
        <p:spPr>
          <a:xfrm>
            <a:off x="4778280" y="3020760"/>
            <a:ext cx="65336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un join que duplicó ﬁlas —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todo corre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todo produce resultados,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CuadroTexto 90"/>
          <p:cNvSpPr txBox="1"/>
          <p:nvPr/>
        </p:nvSpPr>
        <p:spPr>
          <a:xfrm>
            <a:off x="1123920" y="3363840"/>
            <a:ext cx="15166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todo se publica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CuadroTexto 91"/>
          <p:cNvSpPr txBox="1"/>
          <p:nvPr/>
        </p:nvSpPr>
        <p:spPr>
          <a:xfrm>
            <a:off x="666720" y="3859200"/>
            <a:ext cx="74278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Un test es la respuesta ejecutable a "¿cómo sabes que hace lo que dices?"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CuadroTexto 92"/>
          <p:cNvSpPr txBox="1"/>
          <p:nvPr/>
        </p:nvSpPr>
        <p:spPr>
          <a:xfrm>
            <a:off x="866880" y="4499280"/>
            <a:ext cx="32763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def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D9B3FF"/>
                </a:solidFill>
                <a:effectLst/>
                <a:uFillTx/>
                <a:latin typeface="Menlo"/>
                <a:ea typeface="Menlo"/>
              </a:rPr>
              <a:t>test_egfr_caso_conocido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():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CuadroTexto 93"/>
          <p:cNvSpPr txBox="1"/>
          <p:nvPr/>
        </p:nvSpPr>
        <p:spPr>
          <a:xfrm>
            <a:off x="866880" y="4766040"/>
            <a:ext cx="86263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Mujer de 60 años, creatinina 1.1 -&gt; eGFR conocido por calculadora clínica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CuadroTexto 94"/>
          <p:cNvSpPr txBox="1"/>
          <p:nvPr/>
        </p:nvSpPr>
        <p:spPr>
          <a:xfrm>
            <a:off x="866880" y="5023080"/>
            <a:ext cx="99370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assert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calcular_egfr(creatinina=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1.1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edad=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60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sexo=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"F"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 == pytest.approx(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55.2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abs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=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0.5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CuadroTexto 95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05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CuadroTexto 96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CuadroTexto 97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6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Forma libre 9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Forma libre 9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Forma libre 10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CuadroTexto 101"/>
          <p:cNvSpPr txBox="1"/>
          <p:nvPr/>
        </p:nvSpPr>
        <p:spPr>
          <a:xfrm>
            <a:off x="3052440" y="3063960"/>
            <a:ext cx="622620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2. Del notebook al paquete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CuadroTexto 102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05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CuadroTexto 103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CuadroTexto 104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7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Forma libre 10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Forma libre 10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Forma libre 10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Forma libre 108"/>
          <p:cNvSpPr/>
          <p:nvPr/>
        </p:nvSpPr>
        <p:spPr>
          <a:xfrm>
            <a:off x="671400" y="4547880"/>
            <a:ext cx="10849320" cy="1105560"/>
          </a:xfrm>
          <a:custGeom>
            <a:avLst/>
            <a:gdLst/>
            <a:ahLst/>
            <a:cxnLst/>
            <a:rect l="0" t="0" r="r" b="b"/>
            <a:pathLst>
              <a:path w="30137" h="3071">
                <a:moveTo>
                  <a:pt x="0" y="2872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7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2872"/>
                </a:lnTo>
                <a:cubicBezTo>
                  <a:pt x="30137" y="2885"/>
                  <a:pt x="30136" y="2898"/>
                  <a:pt x="30133" y="2911"/>
                </a:cubicBezTo>
                <a:cubicBezTo>
                  <a:pt x="30130" y="2924"/>
                  <a:pt x="30127" y="2936"/>
                  <a:pt x="30122" y="2948"/>
                </a:cubicBezTo>
                <a:cubicBezTo>
                  <a:pt x="30117" y="2960"/>
                  <a:pt x="30111" y="2971"/>
                  <a:pt x="30103" y="2982"/>
                </a:cubicBezTo>
                <a:cubicBezTo>
                  <a:pt x="30096" y="2993"/>
                  <a:pt x="30088" y="3003"/>
                  <a:pt x="30079" y="3012"/>
                </a:cubicBezTo>
                <a:cubicBezTo>
                  <a:pt x="30070" y="3022"/>
                  <a:pt x="30059" y="3030"/>
                  <a:pt x="30049" y="3037"/>
                </a:cubicBezTo>
                <a:cubicBezTo>
                  <a:pt x="30038" y="3044"/>
                  <a:pt x="30026" y="3050"/>
                  <a:pt x="30014" y="3055"/>
                </a:cubicBezTo>
                <a:cubicBezTo>
                  <a:pt x="30002" y="3060"/>
                  <a:pt x="29990" y="3064"/>
                  <a:pt x="29977" y="3067"/>
                </a:cubicBezTo>
                <a:cubicBezTo>
                  <a:pt x="29964" y="3069"/>
                  <a:pt x="29951" y="3071"/>
                  <a:pt x="29938" y="3071"/>
                </a:cubicBezTo>
                <a:lnTo>
                  <a:pt x="198" y="3071"/>
                </a:lnTo>
                <a:cubicBezTo>
                  <a:pt x="185" y="3071"/>
                  <a:pt x="172" y="3069"/>
                  <a:pt x="160" y="3067"/>
                </a:cubicBezTo>
                <a:cubicBezTo>
                  <a:pt x="147" y="3064"/>
                  <a:pt x="134" y="3060"/>
                  <a:pt x="122" y="3055"/>
                </a:cubicBezTo>
                <a:cubicBezTo>
                  <a:pt x="110" y="3050"/>
                  <a:pt x="99" y="3044"/>
                  <a:pt x="88" y="3037"/>
                </a:cubicBezTo>
                <a:cubicBezTo>
                  <a:pt x="77" y="3030"/>
                  <a:pt x="67" y="3022"/>
                  <a:pt x="58" y="3012"/>
                </a:cubicBezTo>
                <a:cubicBezTo>
                  <a:pt x="49" y="3003"/>
                  <a:pt x="40" y="2993"/>
                  <a:pt x="33" y="2982"/>
                </a:cubicBezTo>
                <a:cubicBezTo>
                  <a:pt x="26" y="2971"/>
                  <a:pt x="20" y="2960"/>
                  <a:pt x="15" y="2948"/>
                </a:cubicBezTo>
                <a:cubicBezTo>
                  <a:pt x="10" y="2936"/>
                  <a:pt x="6" y="2924"/>
                  <a:pt x="4" y="2911"/>
                </a:cubicBezTo>
                <a:cubicBezTo>
                  <a:pt x="1" y="2898"/>
                  <a:pt x="0" y="2885"/>
                  <a:pt x="0" y="2872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Forma libre 109"/>
          <p:cNvSpPr/>
          <p:nvPr/>
        </p:nvSpPr>
        <p:spPr>
          <a:xfrm>
            <a:off x="671400" y="4547880"/>
            <a:ext cx="10849320" cy="1105560"/>
          </a:xfrm>
          <a:custGeom>
            <a:avLst/>
            <a:gdLst/>
            <a:ahLst/>
            <a:cxnLst/>
            <a:rect l="0" t="0" r="r" b="b"/>
            <a:pathLst>
              <a:path w="30137" h="3071">
                <a:moveTo>
                  <a:pt x="0" y="2872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7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2872"/>
                </a:lnTo>
                <a:cubicBezTo>
                  <a:pt x="30137" y="2885"/>
                  <a:pt x="30136" y="2898"/>
                  <a:pt x="30133" y="2911"/>
                </a:cubicBezTo>
                <a:cubicBezTo>
                  <a:pt x="30130" y="2924"/>
                  <a:pt x="30127" y="2936"/>
                  <a:pt x="30122" y="2948"/>
                </a:cubicBezTo>
                <a:cubicBezTo>
                  <a:pt x="30117" y="2960"/>
                  <a:pt x="30111" y="2971"/>
                  <a:pt x="30103" y="2982"/>
                </a:cubicBezTo>
                <a:cubicBezTo>
                  <a:pt x="30096" y="2993"/>
                  <a:pt x="30088" y="3003"/>
                  <a:pt x="30079" y="3012"/>
                </a:cubicBezTo>
                <a:cubicBezTo>
                  <a:pt x="30070" y="3022"/>
                  <a:pt x="30059" y="3030"/>
                  <a:pt x="30049" y="3037"/>
                </a:cubicBezTo>
                <a:cubicBezTo>
                  <a:pt x="30038" y="3044"/>
                  <a:pt x="30026" y="3050"/>
                  <a:pt x="30014" y="3055"/>
                </a:cubicBezTo>
                <a:cubicBezTo>
                  <a:pt x="30002" y="3060"/>
                  <a:pt x="29990" y="3064"/>
                  <a:pt x="29977" y="3067"/>
                </a:cubicBezTo>
                <a:cubicBezTo>
                  <a:pt x="29964" y="3069"/>
                  <a:pt x="29951" y="3071"/>
                  <a:pt x="29938" y="3071"/>
                </a:cubicBezTo>
                <a:lnTo>
                  <a:pt x="198" y="3071"/>
                </a:lnTo>
                <a:cubicBezTo>
                  <a:pt x="185" y="3071"/>
                  <a:pt x="172" y="3069"/>
                  <a:pt x="160" y="3067"/>
                </a:cubicBezTo>
                <a:cubicBezTo>
                  <a:pt x="147" y="3064"/>
                  <a:pt x="134" y="3060"/>
                  <a:pt x="122" y="3055"/>
                </a:cubicBezTo>
                <a:cubicBezTo>
                  <a:pt x="110" y="3050"/>
                  <a:pt x="99" y="3044"/>
                  <a:pt x="88" y="3037"/>
                </a:cubicBezTo>
                <a:cubicBezTo>
                  <a:pt x="77" y="3030"/>
                  <a:pt x="67" y="3022"/>
                  <a:pt x="58" y="3012"/>
                </a:cubicBezTo>
                <a:cubicBezTo>
                  <a:pt x="49" y="3003"/>
                  <a:pt x="40" y="2993"/>
                  <a:pt x="33" y="2982"/>
                </a:cubicBezTo>
                <a:cubicBezTo>
                  <a:pt x="26" y="2971"/>
                  <a:pt x="20" y="2960"/>
                  <a:pt x="15" y="2948"/>
                </a:cubicBezTo>
                <a:cubicBezTo>
                  <a:pt x="10" y="2936"/>
                  <a:pt x="6" y="2924"/>
                  <a:pt x="4" y="2911"/>
                </a:cubicBezTo>
                <a:cubicBezTo>
                  <a:pt x="1" y="2898"/>
                  <a:pt x="0" y="2885"/>
                  <a:pt x="0" y="2872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CuadroTexto 110"/>
          <p:cNvSpPr txBox="1"/>
          <p:nvPr/>
        </p:nvSpPr>
        <p:spPr>
          <a:xfrm>
            <a:off x="666720" y="1215720"/>
            <a:ext cx="74217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El notebook es cuaderno de laboratorio, no producto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Forma libre 111"/>
          <p:cNvSpPr/>
          <p:nvPr/>
        </p:nvSpPr>
        <p:spPr>
          <a:xfrm>
            <a:off x="914040" y="250488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4"/>
                  <a:pt x="0" y="121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CuadroTexto 112"/>
          <p:cNvSpPr txBox="1"/>
          <p:nvPr/>
        </p:nvSpPr>
        <p:spPr>
          <a:xfrm>
            <a:off x="666720" y="1896840"/>
            <a:ext cx="33660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Señales de que ya toca migrar: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Forma libre 113"/>
          <p:cNvSpPr/>
          <p:nvPr/>
        </p:nvSpPr>
        <p:spPr>
          <a:xfrm>
            <a:off x="914040" y="290484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9" y="67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CuadroTexto 114"/>
          <p:cNvSpPr txBox="1"/>
          <p:nvPr/>
        </p:nvSpPr>
        <p:spPr>
          <a:xfrm>
            <a:off x="1123920" y="2392200"/>
            <a:ext cx="76312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Copiaste la misma celda a otro notebook (ya son dos versiones que divergen)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Forma libre 115"/>
          <p:cNvSpPr/>
          <p:nvPr/>
        </p:nvSpPr>
        <p:spPr>
          <a:xfrm>
            <a:off x="914040" y="330516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5"/>
                </a:moveTo>
                <a:cubicBezTo>
                  <a:pt x="213" y="119"/>
                  <a:pt x="210" y="133"/>
                  <a:pt x="205" y="146"/>
                </a:cubicBezTo>
                <a:cubicBezTo>
                  <a:pt x="200" y="159"/>
                  <a:pt x="192" y="170"/>
                  <a:pt x="182" y="180"/>
                </a:cubicBezTo>
                <a:cubicBezTo>
                  <a:pt x="172" y="190"/>
                  <a:pt x="161" y="198"/>
                  <a:pt x="148" y="203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3"/>
                </a:cubicBezTo>
                <a:cubicBezTo>
                  <a:pt x="53" y="198"/>
                  <a:pt x="41" y="190"/>
                  <a:pt x="31" y="180"/>
                </a:cubicBezTo>
                <a:cubicBezTo>
                  <a:pt x="22" y="170"/>
                  <a:pt x="14" y="159"/>
                  <a:pt x="9" y="146"/>
                </a:cubicBezTo>
                <a:cubicBezTo>
                  <a:pt x="3" y="133"/>
                  <a:pt x="0" y="119"/>
                  <a:pt x="0" y="105"/>
                </a:cubicBezTo>
                <a:cubicBezTo>
                  <a:pt x="0" y="91"/>
                  <a:pt x="3" y="78"/>
                  <a:pt x="9" y="65"/>
                </a:cubicBezTo>
                <a:cubicBezTo>
                  <a:pt x="14" y="52"/>
                  <a:pt x="22" y="40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0"/>
                  <a:pt x="200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CuadroTexto 116"/>
          <p:cNvSpPr txBox="1"/>
          <p:nvPr/>
        </p:nvSpPr>
        <p:spPr>
          <a:xfrm>
            <a:off x="1123920" y="2792160"/>
            <a:ext cx="38926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"Corre todo menos la celda 14, esa no"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Forma libre 117"/>
          <p:cNvSpPr/>
          <p:nvPr/>
        </p:nvSpPr>
        <p:spPr>
          <a:xfrm>
            <a:off x="914040" y="370512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200" y="160"/>
                  <a:pt x="192" y="172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2"/>
                  <a:pt x="14" y="160"/>
                  <a:pt x="9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CuadroTexto 118"/>
          <p:cNvSpPr txBox="1"/>
          <p:nvPr/>
        </p:nvSpPr>
        <p:spPr>
          <a:xfrm>
            <a:off x="1123920" y="3192480"/>
            <a:ext cx="54255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El notebook solo funciona si lo ejecutas en cierto orden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CuadroTexto 119"/>
          <p:cNvSpPr txBox="1"/>
          <p:nvPr/>
        </p:nvSpPr>
        <p:spPr>
          <a:xfrm>
            <a:off x="1123920" y="3592440"/>
            <a:ext cx="28036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Alguien más lo necesita usar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CuadroTexto 120"/>
          <p:cNvSpPr txBox="1"/>
          <p:nvPr/>
        </p:nvSpPr>
        <p:spPr>
          <a:xfrm>
            <a:off x="666720" y="4087800"/>
            <a:ext cx="89125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 regla: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exploras en el notebook,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 lógica vive en módulos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y el notebook los importa.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CuadroTexto 121"/>
          <p:cNvSpPr txBox="1"/>
          <p:nvPr/>
        </p:nvSpPr>
        <p:spPr>
          <a:xfrm>
            <a:off x="866880" y="4727880"/>
            <a:ext cx="17478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en el notebook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CuadroTexto 122"/>
          <p:cNvSpPr txBox="1"/>
          <p:nvPr/>
        </p:nvSpPr>
        <p:spPr>
          <a:xfrm>
            <a:off x="866880" y="4994640"/>
            <a:ext cx="50230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from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clinlab.cohortes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import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construir_cohorte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CuadroTexto 123"/>
          <p:cNvSpPr txBox="1"/>
          <p:nvPr/>
        </p:nvSpPr>
        <p:spPr>
          <a:xfrm>
            <a:off x="866880" y="5251680"/>
            <a:ext cx="57873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cohorte = construir_cohorte(pacientes,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"diabetes-t2"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CuadroTexto 124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05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CuadroTexto 125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CuadroTexto 126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8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Forma libre 12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Forma libre 12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Forma libre 12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Forma libre 130"/>
          <p:cNvSpPr/>
          <p:nvPr/>
        </p:nvSpPr>
        <p:spPr>
          <a:xfrm>
            <a:off x="671400" y="1776240"/>
            <a:ext cx="10849320" cy="3210120"/>
          </a:xfrm>
          <a:custGeom>
            <a:avLst/>
            <a:gdLst/>
            <a:ahLst/>
            <a:cxnLst/>
            <a:rect l="0" t="0" r="r" b="b"/>
            <a:pathLst>
              <a:path w="30137" h="8917">
                <a:moveTo>
                  <a:pt x="0" y="8719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5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8719"/>
                </a:lnTo>
                <a:cubicBezTo>
                  <a:pt x="30137" y="8732"/>
                  <a:pt x="30136" y="8745"/>
                  <a:pt x="30133" y="8758"/>
                </a:cubicBezTo>
                <a:cubicBezTo>
                  <a:pt x="30130" y="8770"/>
                  <a:pt x="30127" y="8783"/>
                  <a:pt x="30122" y="8795"/>
                </a:cubicBezTo>
                <a:cubicBezTo>
                  <a:pt x="30117" y="8807"/>
                  <a:pt x="30111" y="8818"/>
                  <a:pt x="30103" y="8829"/>
                </a:cubicBezTo>
                <a:cubicBezTo>
                  <a:pt x="30096" y="8840"/>
                  <a:pt x="30088" y="8850"/>
                  <a:pt x="30079" y="8859"/>
                </a:cubicBezTo>
                <a:cubicBezTo>
                  <a:pt x="30070" y="8869"/>
                  <a:pt x="30059" y="8877"/>
                  <a:pt x="30049" y="8884"/>
                </a:cubicBezTo>
                <a:cubicBezTo>
                  <a:pt x="30038" y="8891"/>
                  <a:pt x="30026" y="8897"/>
                  <a:pt x="30014" y="8902"/>
                </a:cubicBezTo>
                <a:cubicBezTo>
                  <a:pt x="30002" y="8907"/>
                  <a:pt x="29990" y="8911"/>
                  <a:pt x="29977" y="8914"/>
                </a:cubicBezTo>
                <a:cubicBezTo>
                  <a:pt x="29964" y="8916"/>
                  <a:pt x="29951" y="8917"/>
                  <a:pt x="29938" y="8917"/>
                </a:cubicBezTo>
                <a:lnTo>
                  <a:pt x="198" y="8917"/>
                </a:lnTo>
                <a:cubicBezTo>
                  <a:pt x="185" y="8917"/>
                  <a:pt x="172" y="8916"/>
                  <a:pt x="160" y="8914"/>
                </a:cubicBezTo>
                <a:cubicBezTo>
                  <a:pt x="147" y="8911"/>
                  <a:pt x="134" y="8907"/>
                  <a:pt x="122" y="8902"/>
                </a:cubicBezTo>
                <a:cubicBezTo>
                  <a:pt x="110" y="8897"/>
                  <a:pt x="99" y="8891"/>
                  <a:pt x="88" y="8884"/>
                </a:cubicBezTo>
                <a:cubicBezTo>
                  <a:pt x="77" y="8877"/>
                  <a:pt x="67" y="8869"/>
                  <a:pt x="58" y="8859"/>
                </a:cubicBezTo>
                <a:cubicBezTo>
                  <a:pt x="49" y="8850"/>
                  <a:pt x="40" y="8840"/>
                  <a:pt x="33" y="8829"/>
                </a:cubicBezTo>
                <a:cubicBezTo>
                  <a:pt x="26" y="8818"/>
                  <a:pt x="20" y="8807"/>
                  <a:pt x="15" y="8795"/>
                </a:cubicBezTo>
                <a:cubicBezTo>
                  <a:pt x="10" y="8783"/>
                  <a:pt x="6" y="8770"/>
                  <a:pt x="4" y="8758"/>
                </a:cubicBezTo>
                <a:cubicBezTo>
                  <a:pt x="1" y="8745"/>
                  <a:pt x="0" y="8732"/>
                  <a:pt x="0" y="8719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Forma libre 131"/>
          <p:cNvSpPr/>
          <p:nvPr/>
        </p:nvSpPr>
        <p:spPr>
          <a:xfrm>
            <a:off x="671400" y="1776240"/>
            <a:ext cx="10849320" cy="3210120"/>
          </a:xfrm>
          <a:custGeom>
            <a:avLst/>
            <a:gdLst/>
            <a:ahLst/>
            <a:cxnLst/>
            <a:rect l="0" t="0" r="r" b="b"/>
            <a:pathLst>
              <a:path w="30137" h="8917">
                <a:moveTo>
                  <a:pt x="0" y="8719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5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8719"/>
                </a:lnTo>
                <a:cubicBezTo>
                  <a:pt x="30137" y="8732"/>
                  <a:pt x="30136" y="8745"/>
                  <a:pt x="30133" y="8758"/>
                </a:cubicBezTo>
                <a:cubicBezTo>
                  <a:pt x="30130" y="8770"/>
                  <a:pt x="30127" y="8783"/>
                  <a:pt x="30122" y="8795"/>
                </a:cubicBezTo>
                <a:cubicBezTo>
                  <a:pt x="30117" y="8807"/>
                  <a:pt x="30111" y="8818"/>
                  <a:pt x="30103" y="8829"/>
                </a:cubicBezTo>
                <a:cubicBezTo>
                  <a:pt x="30096" y="8840"/>
                  <a:pt x="30088" y="8850"/>
                  <a:pt x="30079" y="8859"/>
                </a:cubicBezTo>
                <a:cubicBezTo>
                  <a:pt x="30070" y="8869"/>
                  <a:pt x="30059" y="8877"/>
                  <a:pt x="30049" y="8884"/>
                </a:cubicBezTo>
                <a:cubicBezTo>
                  <a:pt x="30038" y="8891"/>
                  <a:pt x="30026" y="8897"/>
                  <a:pt x="30014" y="8902"/>
                </a:cubicBezTo>
                <a:cubicBezTo>
                  <a:pt x="30002" y="8907"/>
                  <a:pt x="29990" y="8911"/>
                  <a:pt x="29977" y="8914"/>
                </a:cubicBezTo>
                <a:cubicBezTo>
                  <a:pt x="29964" y="8916"/>
                  <a:pt x="29951" y="8917"/>
                  <a:pt x="29938" y="8917"/>
                </a:cubicBezTo>
                <a:lnTo>
                  <a:pt x="198" y="8917"/>
                </a:lnTo>
                <a:cubicBezTo>
                  <a:pt x="185" y="8917"/>
                  <a:pt x="172" y="8916"/>
                  <a:pt x="160" y="8914"/>
                </a:cubicBezTo>
                <a:cubicBezTo>
                  <a:pt x="147" y="8911"/>
                  <a:pt x="134" y="8907"/>
                  <a:pt x="122" y="8902"/>
                </a:cubicBezTo>
                <a:cubicBezTo>
                  <a:pt x="110" y="8897"/>
                  <a:pt x="99" y="8891"/>
                  <a:pt x="88" y="8884"/>
                </a:cubicBezTo>
                <a:cubicBezTo>
                  <a:pt x="77" y="8877"/>
                  <a:pt x="67" y="8869"/>
                  <a:pt x="58" y="8859"/>
                </a:cubicBezTo>
                <a:cubicBezTo>
                  <a:pt x="49" y="8850"/>
                  <a:pt x="40" y="8840"/>
                  <a:pt x="33" y="8829"/>
                </a:cubicBezTo>
                <a:cubicBezTo>
                  <a:pt x="26" y="8818"/>
                  <a:pt x="20" y="8807"/>
                  <a:pt x="15" y="8795"/>
                </a:cubicBezTo>
                <a:cubicBezTo>
                  <a:pt x="10" y="8783"/>
                  <a:pt x="6" y="8770"/>
                  <a:pt x="4" y="8758"/>
                </a:cubicBezTo>
                <a:cubicBezTo>
                  <a:pt x="1" y="8745"/>
                  <a:pt x="0" y="8732"/>
                  <a:pt x="0" y="8719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Forma libre 132"/>
          <p:cNvSpPr/>
          <p:nvPr/>
        </p:nvSpPr>
        <p:spPr>
          <a:xfrm>
            <a:off x="671400" y="5148000"/>
            <a:ext cx="10849320" cy="581400"/>
          </a:xfrm>
          <a:custGeom>
            <a:avLst/>
            <a:gdLst/>
            <a:ahLst/>
            <a:cxnLst/>
            <a:rect l="0" t="0" r="r" b="b"/>
            <a:pathLst>
              <a:path w="30137" h="1615">
                <a:moveTo>
                  <a:pt x="0" y="1417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1417"/>
                </a:lnTo>
                <a:cubicBezTo>
                  <a:pt x="30137" y="1430"/>
                  <a:pt x="30136" y="1443"/>
                  <a:pt x="30133" y="1455"/>
                </a:cubicBezTo>
                <a:cubicBezTo>
                  <a:pt x="30130" y="1468"/>
                  <a:pt x="30127" y="1481"/>
                  <a:pt x="30122" y="1493"/>
                </a:cubicBezTo>
                <a:cubicBezTo>
                  <a:pt x="30117" y="1505"/>
                  <a:pt x="30111" y="1516"/>
                  <a:pt x="30103" y="1527"/>
                </a:cubicBezTo>
                <a:cubicBezTo>
                  <a:pt x="30096" y="1538"/>
                  <a:pt x="30088" y="1548"/>
                  <a:pt x="30079" y="1557"/>
                </a:cubicBezTo>
                <a:cubicBezTo>
                  <a:pt x="30070" y="1566"/>
                  <a:pt x="30059" y="1575"/>
                  <a:pt x="30049" y="1582"/>
                </a:cubicBezTo>
                <a:cubicBezTo>
                  <a:pt x="30038" y="1589"/>
                  <a:pt x="30026" y="1595"/>
                  <a:pt x="30014" y="1600"/>
                </a:cubicBezTo>
                <a:cubicBezTo>
                  <a:pt x="30002" y="1605"/>
                  <a:pt x="29990" y="1609"/>
                  <a:pt x="29977" y="1611"/>
                </a:cubicBezTo>
                <a:cubicBezTo>
                  <a:pt x="29964" y="1614"/>
                  <a:pt x="29951" y="1615"/>
                  <a:pt x="29938" y="1615"/>
                </a:cubicBezTo>
                <a:lnTo>
                  <a:pt x="198" y="1615"/>
                </a:lnTo>
                <a:cubicBezTo>
                  <a:pt x="185" y="1615"/>
                  <a:pt x="172" y="1614"/>
                  <a:pt x="160" y="1611"/>
                </a:cubicBezTo>
                <a:cubicBezTo>
                  <a:pt x="147" y="1609"/>
                  <a:pt x="134" y="1605"/>
                  <a:pt x="122" y="1600"/>
                </a:cubicBezTo>
                <a:cubicBezTo>
                  <a:pt x="110" y="1595"/>
                  <a:pt x="99" y="1589"/>
                  <a:pt x="88" y="1582"/>
                </a:cubicBezTo>
                <a:cubicBezTo>
                  <a:pt x="77" y="1575"/>
                  <a:pt x="67" y="1566"/>
                  <a:pt x="58" y="1557"/>
                </a:cubicBezTo>
                <a:cubicBezTo>
                  <a:pt x="49" y="1548"/>
                  <a:pt x="40" y="1538"/>
                  <a:pt x="33" y="1527"/>
                </a:cubicBezTo>
                <a:cubicBezTo>
                  <a:pt x="26" y="1516"/>
                  <a:pt x="20" y="1505"/>
                  <a:pt x="15" y="1493"/>
                </a:cubicBezTo>
                <a:cubicBezTo>
                  <a:pt x="10" y="1481"/>
                  <a:pt x="6" y="1468"/>
                  <a:pt x="4" y="1455"/>
                </a:cubicBezTo>
                <a:cubicBezTo>
                  <a:pt x="1" y="1443"/>
                  <a:pt x="0" y="1430"/>
                  <a:pt x="0" y="1417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Forma libre 133"/>
          <p:cNvSpPr/>
          <p:nvPr/>
        </p:nvSpPr>
        <p:spPr>
          <a:xfrm>
            <a:off x="671400" y="5148000"/>
            <a:ext cx="10849320" cy="581400"/>
          </a:xfrm>
          <a:custGeom>
            <a:avLst/>
            <a:gdLst/>
            <a:ahLst/>
            <a:cxnLst/>
            <a:rect l="0" t="0" r="r" b="b"/>
            <a:pathLst>
              <a:path w="30137" h="1615">
                <a:moveTo>
                  <a:pt x="0" y="1417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1417"/>
                </a:lnTo>
                <a:cubicBezTo>
                  <a:pt x="30137" y="1430"/>
                  <a:pt x="30136" y="1443"/>
                  <a:pt x="30133" y="1455"/>
                </a:cubicBezTo>
                <a:cubicBezTo>
                  <a:pt x="30130" y="1468"/>
                  <a:pt x="30127" y="1481"/>
                  <a:pt x="30122" y="1493"/>
                </a:cubicBezTo>
                <a:cubicBezTo>
                  <a:pt x="30117" y="1505"/>
                  <a:pt x="30111" y="1516"/>
                  <a:pt x="30103" y="1527"/>
                </a:cubicBezTo>
                <a:cubicBezTo>
                  <a:pt x="30096" y="1538"/>
                  <a:pt x="30088" y="1548"/>
                  <a:pt x="30079" y="1557"/>
                </a:cubicBezTo>
                <a:cubicBezTo>
                  <a:pt x="30070" y="1566"/>
                  <a:pt x="30059" y="1575"/>
                  <a:pt x="30049" y="1582"/>
                </a:cubicBezTo>
                <a:cubicBezTo>
                  <a:pt x="30038" y="1589"/>
                  <a:pt x="30026" y="1595"/>
                  <a:pt x="30014" y="1600"/>
                </a:cubicBezTo>
                <a:cubicBezTo>
                  <a:pt x="30002" y="1605"/>
                  <a:pt x="29990" y="1609"/>
                  <a:pt x="29977" y="1611"/>
                </a:cubicBezTo>
                <a:cubicBezTo>
                  <a:pt x="29964" y="1614"/>
                  <a:pt x="29951" y="1615"/>
                  <a:pt x="29938" y="1615"/>
                </a:cubicBezTo>
                <a:lnTo>
                  <a:pt x="198" y="1615"/>
                </a:lnTo>
                <a:cubicBezTo>
                  <a:pt x="185" y="1615"/>
                  <a:pt x="172" y="1614"/>
                  <a:pt x="160" y="1611"/>
                </a:cubicBezTo>
                <a:cubicBezTo>
                  <a:pt x="147" y="1609"/>
                  <a:pt x="134" y="1605"/>
                  <a:pt x="122" y="1600"/>
                </a:cubicBezTo>
                <a:cubicBezTo>
                  <a:pt x="110" y="1595"/>
                  <a:pt x="99" y="1589"/>
                  <a:pt x="88" y="1582"/>
                </a:cubicBezTo>
                <a:cubicBezTo>
                  <a:pt x="77" y="1575"/>
                  <a:pt x="67" y="1566"/>
                  <a:pt x="58" y="1557"/>
                </a:cubicBezTo>
                <a:cubicBezTo>
                  <a:pt x="49" y="1548"/>
                  <a:pt x="40" y="1538"/>
                  <a:pt x="33" y="1527"/>
                </a:cubicBezTo>
                <a:cubicBezTo>
                  <a:pt x="26" y="1516"/>
                  <a:pt x="20" y="1505"/>
                  <a:pt x="15" y="1493"/>
                </a:cubicBezTo>
                <a:cubicBezTo>
                  <a:pt x="10" y="1481"/>
                  <a:pt x="6" y="1468"/>
                  <a:pt x="4" y="1455"/>
                </a:cubicBezTo>
                <a:cubicBezTo>
                  <a:pt x="1" y="1443"/>
                  <a:pt x="0" y="1430"/>
                  <a:pt x="0" y="1417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CuadroTexto 134"/>
          <p:cNvSpPr txBox="1"/>
          <p:nvPr/>
        </p:nvSpPr>
        <p:spPr>
          <a:xfrm>
            <a:off x="666720" y="1139400"/>
            <a:ext cx="31514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 estructura estándar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CuadroTexto 135"/>
          <p:cNvSpPr txBox="1"/>
          <p:nvPr/>
        </p:nvSpPr>
        <p:spPr>
          <a:xfrm>
            <a:off x="866880" y="1956240"/>
            <a:ext cx="8740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clinlab/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CuadroTexto 136"/>
          <p:cNvSpPr txBox="1"/>
          <p:nvPr/>
        </p:nvSpPr>
        <p:spPr>
          <a:xfrm>
            <a:off x="866880" y="2223000"/>
            <a:ext cx="62244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├── pyproject.toml        ← nombre, versión, dependencias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CuadroTexto 137"/>
          <p:cNvSpPr txBox="1"/>
          <p:nvPr/>
        </p:nvSpPr>
        <p:spPr>
          <a:xfrm>
            <a:off x="866880" y="2480040"/>
            <a:ext cx="8740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├── src/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CuadroTexto 138"/>
          <p:cNvSpPr txBox="1"/>
          <p:nvPr/>
        </p:nvSpPr>
        <p:spPr>
          <a:xfrm>
            <a:off x="866880" y="2746800"/>
            <a:ext cx="17478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│   └── clinlab/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CuadroTexto 139"/>
          <p:cNvSpPr txBox="1"/>
          <p:nvPr/>
        </p:nvSpPr>
        <p:spPr>
          <a:xfrm>
            <a:off x="866880" y="3003840"/>
            <a:ext cx="25120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│       ├── __init__.py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CuadroTexto 140"/>
          <p:cNvSpPr txBox="1"/>
          <p:nvPr/>
        </p:nvSpPr>
        <p:spPr>
          <a:xfrm>
            <a:off x="866880" y="3270600"/>
            <a:ext cx="25120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│       ├── cohortes.py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CuadroTexto 141"/>
          <p:cNvSpPr txBox="1"/>
          <p:nvPr/>
        </p:nvSpPr>
        <p:spPr>
          <a:xfrm>
            <a:off x="866880" y="3527640"/>
            <a:ext cx="29487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│       └── laboratorios.py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CuadroTexto 142"/>
          <p:cNvSpPr txBox="1"/>
          <p:nvPr/>
        </p:nvSpPr>
        <p:spPr>
          <a:xfrm>
            <a:off x="866880" y="3794400"/>
            <a:ext cx="10926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├── tests/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CuadroTexto 143"/>
          <p:cNvSpPr txBox="1"/>
          <p:nvPr/>
        </p:nvSpPr>
        <p:spPr>
          <a:xfrm>
            <a:off x="866880" y="4051800"/>
            <a:ext cx="26211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│   ├── test_cohortes.py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CuadroTexto 144"/>
          <p:cNvSpPr txBox="1"/>
          <p:nvPr/>
        </p:nvSpPr>
        <p:spPr>
          <a:xfrm>
            <a:off x="866880" y="4318200"/>
            <a:ext cx="30578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│   └── test_laboratorios.py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CuadroTexto 145"/>
          <p:cNvSpPr txBox="1"/>
          <p:nvPr/>
        </p:nvSpPr>
        <p:spPr>
          <a:xfrm>
            <a:off x="866880" y="4575600"/>
            <a:ext cx="67701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└── notebooks/            ← consumen el paquete, no lo definen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CuadroTexto 146"/>
          <p:cNvSpPr txBox="1"/>
          <p:nvPr/>
        </p:nvSpPr>
        <p:spPr>
          <a:xfrm>
            <a:off x="866880" y="5328000"/>
            <a:ext cx="81896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pip install -e .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instalable, importable desde cualquier lado, editable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CuadroTexto 147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05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CuadroTexto 148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CuadroTexto 149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9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Forma libre 15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Forma libre 15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Forma libre 15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CuadroTexto 153"/>
          <p:cNvSpPr txBox="1"/>
          <p:nvPr/>
        </p:nvSpPr>
        <p:spPr>
          <a:xfrm>
            <a:off x="2088360" y="3063960"/>
            <a:ext cx="820188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3. Funciones que se pueden probar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CuadroTexto 154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05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CuadroTexto 155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CuadroTexto 156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10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Forma libre 15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Forma libre 15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Forma libre 15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Forma libre 160"/>
          <p:cNvSpPr/>
          <p:nvPr/>
        </p:nvSpPr>
        <p:spPr>
          <a:xfrm>
            <a:off x="671400" y="1414440"/>
            <a:ext cx="10849320" cy="2152800"/>
          </a:xfrm>
          <a:custGeom>
            <a:avLst/>
            <a:gdLst/>
            <a:ahLst/>
            <a:cxnLst/>
            <a:rect l="0" t="0" r="r" b="b"/>
            <a:pathLst>
              <a:path w="30137" h="5980">
                <a:moveTo>
                  <a:pt x="0" y="5782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8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3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3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8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5782"/>
                </a:lnTo>
                <a:cubicBezTo>
                  <a:pt x="30137" y="5795"/>
                  <a:pt x="30136" y="5808"/>
                  <a:pt x="30133" y="5820"/>
                </a:cubicBezTo>
                <a:cubicBezTo>
                  <a:pt x="30130" y="5833"/>
                  <a:pt x="30127" y="5846"/>
                  <a:pt x="30122" y="5858"/>
                </a:cubicBezTo>
                <a:cubicBezTo>
                  <a:pt x="30117" y="5870"/>
                  <a:pt x="30111" y="5881"/>
                  <a:pt x="30103" y="5892"/>
                </a:cubicBezTo>
                <a:cubicBezTo>
                  <a:pt x="30096" y="5903"/>
                  <a:pt x="30088" y="5913"/>
                  <a:pt x="30079" y="5922"/>
                </a:cubicBezTo>
                <a:cubicBezTo>
                  <a:pt x="30070" y="5931"/>
                  <a:pt x="30059" y="5939"/>
                  <a:pt x="30049" y="5947"/>
                </a:cubicBezTo>
                <a:cubicBezTo>
                  <a:pt x="30038" y="5954"/>
                  <a:pt x="30026" y="5960"/>
                  <a:pt x="30014" y="5965"/>
                </a:cubicBezTo>
                <a:cubicBezTo>
                  <a:pt x="30002" y="5970"/>
                  <a:pt x="29990" y="5974"/>
                  <a:pt x="29977" y="5976"/>
                </a:cubicBezTo>
                <a:cubicBezTo>
                  <a:pt x="29964" y="5979"/>
                  <a:pt x="29951" y="5980"/>
                  <a:pt x="29938" y="5980"/>
                </a:cubicBezTo>
                <a:lnTo>
                  <a:pt x="198" y="5980"/>
                </a:lnTo>
                <a:cubicBezTo>
                  <a:pt x="185" y="5980"/>
                  <a:pt x="172" y="5979"/>
                  <a:pt x="160" y="5976"/>
                </a:cubicBezTo>
                <a:cubicBezTo>
                  <a:pt x="147" y="5974"/>
                  <a:pt x="134" y="5970"/>
                  <a:pt x="122" y="5965"/>
                </a:cubicBezTo>
                <a:cubicBezTo>
                  <a:pt x="110" y="5960"/>
                  <a:pt x="99" y="5954"/>
                  <a:pt x="88" y="5947"/>
                </a:cubicBezTo>
                <a:cubicBezTo>
                  <a:pt x="77" y="5939"/>
                  <a:pt x="67" y="5931"/>
                  <a:pt x="58" y="5922"/>
                </a:cubicBezTo>
                <a:cubicBezTo>
                  <a:pt x="49" y="5913"/>
                  <a:pt x="40" y="5903"/>
                  <a:pt x="33" y="5892"/>
                </a:cubicBezTo>
                <a:cubicBezTo>
                  <a:pt x="26" y="5881"/>
                  <a:pt x="20" y="5870"/>
                  <a:pt x="15" y="5858"/>
                </a:cubicBezTo>
                <a:cubicBezTo>
                  <a:pt x="10" y="5846"/>
                  <a:pt x="6" y="5833"/>
                  <a:pt x="4" y="5820"/>
                </a:cubicBezTo>
                <a:cubicBezTo>
                  <a:pt x="1" y="5808"/>
                  <a:pt x="0" y="5795"/>
                  <a:pt x="0" y="5782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Forma libre 161"/>
          <p:cNvSpPr/>
          <p:nvPr/>
        </p:nvSpPr>
        <p:spPr>
          <a:xfrm>
            <a:off x="671400" y="1414440"/>
            <a:ext cx="10849320" cy="2152800"/>
          </a:xfrm>
          <a:custGeom>
            <a:avLst/>
            <a:gdLst/>
            <a:ahLst/>
            <a:cxnLst/>
            <a:rect l="0" t="0" r="r" b="b"/>
            <a:pathLst>
              <a:path w="30137" h="5980">
                <a:moveTo>
                  <a:pt x="0" y="5782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8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3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3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8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5782"/>
                </a:lnTo>
                <a:cubicBezTo>
                  <a:pt x="30137" y="5795"/>
                  <a:pt x="30136" y="5808"/>
                  <a:pt x="30133" y="5820"/>
                </a:cubicBezTo>
                <a:cubicBezTo>
                  <a:pt x="30130" y="5833"/>
                  <a:pt x="30127" y="5846"/>
                  <a:pt x="30122" y="5858"/>
                </a:cubicBezTo>
                <a:cubicBezTo>
                  <a:pt x="30117" y="5870"/>
                  <a:pt x="30111" y="5881"/>
                  <a:pt x="30103" y="5892"/>
                </a:cubicBezTo>
                <a:cubicBezTo>
                  <a:pt x="30096" y="5903"/>
                  <a:pt x="30088" y="5913"/>
                  <a:pt x="30079" y="5922"/>
                </a:cubicBezTo>
                <a:cubicBezTo>
                  <a:pt x="30070" y="5931"/>
                  <a:pt x="30059" y="5939"/>
                  <a:pt x="30049" y="5947"/>
                </a:cubicBezTo>
                <a:cubicBezTo>
                  <a:pt x="30038" y="5954"/>
                  <a:pt x="30026" y="5960"/>
                  <a:pt x="30014" y="5965"/>
                </a:cubicBezTo>
                <a:cubicBezTo>
                  <a:pt x="30002" y="5970"/>
                  <a:pt x="29990" y="5974"/>
                  <a:pt x="29977" y="5976"/>
                </a:cubicBezTo>
                <a:cubicBezTo>
                  <a:pt x="29964" y="5979"/>
                  <a:pt x="29951" y="5980"/>
                  <a:pt x="29938" y="5980"/>
                </a:cubicBezTo>
                <a:lnTo>
                  <a:pt x="198" y="5980"/>
                </a:lnTo>
                <a:cubicBezTo>
                  <a:pt x="185" y="5980"/>
                  <a:pt x="172" y="5979"/>
                  <a:pt x="160" y="5976"/>
                </a:cubicBezTo>
                <a:cubicBezTo>
                  <a:pt x="147" y="5974"/>
                  <a:pt x="134" y="5970"/>
                  <a:pt x="122" y="5965"/>
                </a:cubicBezTo>
                <a:cubicBezTo>
                  <a:pt x="110" y="5960"/>
                  <a:pt x="99" y="5954"/>
                  <a:pt x="88" y="5947"/>
                </a:cubicBezTo>
                <a:cubicBezTo>
                  <a:pt x="77" y="5939"/>
                  <a:pt x="67" y="5931"/>
                  <a:pt x="58" y="5922"/>
                </a:cubicBezTo>
                <a:cubicBezTo>
                  <a:pt x="49" y="5913"/>
                  <a:pt x="40" y="5903"/>
                  <a:pt x="33" y="5892"/>
                </a:cubicBezTo>
                <a:cubicBezTo>
                  <a:pt x="26" y="5881"/>
                  <a:pt x="20" y="5870"/>
                  <a:pt x="15" y="5858"/>
                </a:cubicBezTo>
                <a:cubicBezTo>
                  <a:pt x="10" y="5846"/>
                  <a:pt x="6" y="5833"/>
                  <a:pt x="4" y="5820"/>
                </a:cubicBezTo>
                <a:cubicBezTo>
                  <a:pt x="1" y="5808"/>
                  <a:pt x="0" y="5795"/>
                  <a:pt x="0" y="5782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Forma libre 162"/>
          <p:cNvSpPr/>
          <p:nvPr/>
        </p:nvSpPr>
        <p:spPr>
          <a:xfrm>
            <a:off x="671400" y="3728880"/>
            <a:ext cx="10849320" cy="1371960"/>
          </a:xfrm>
          <a:custGeom>
            <a:avLst/>
            <a:gdLst/>
            <a:ahLst/>
            <a:cxnLst/>
            <a:rect l="0" t="0" r="r" b="b"/>
            <a:pathLst>
              <a:path w="30137" h="3811">
                <a:moveTo>
                  <a:pt x="0" y="3612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60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3612"/>
                </a:lnTo>
                <a:cubicBezTo>
                  <a:pt x="30137" y="3626"/>
                  <a:pt x="30136" y="3638"/>
                  <a:pt x="30133" y="3651"/>
                </a:cubicBezTo>
                <a:cubicBezTo>
                  <a:pt x="30130" y="3664"/>
                  <a:pt x="30127" y="3676"/>
                  <a:pt x="30122" y="3688"/>
                </a:cubicBezTo>
                <a:cubicBezTo>
                  <a:pt x="30117" y="3700"/>
                  <a:pt x="30111" y="3712"/>
                  <a:pt x="30103" y="3723"/>
                </a:cubicBezTo>
                <a:cubicBezTo>
                  <a:pt x="30096" y="3734"/>
                  <a:pt x="30088" y="3744"/>
                  <a:pt x="30079" y="3753"/>
                </a:cubicBezTo>
                <a:cubicBezTo>
                  <a:pt x="30070" y="3762"/>
                  <a:pt x="30059" y="3770"/>
                  <a:pt x="30049" y="3777"/>
                </a:cubicBezTo>
                <a:cubicBezTo>
                  <a:pt x="30038" y="3785"/>
                  <a:pt x="30026" y="3791"/>
                  <a:pt x="30014" y="3796"/>
                </a:cubicBezTo>
                <a:cubicBezTo>
                  <a:pt x="30002" y="3801"/>
                  <a:pt x="29990" y="3805"/>
                  <a:pt x="29977" y="3807"/>
                </a:cubicBezTo>
                <a:cubicBezTo>
                  <a:pt x="29964" y="3810"/>
                  <a:pt x="29951" y="3811"/>
                  <a:pt x="29938" y="3811"/>
                </a:cubicBezTo>
                <a:lnTo>
                  <a:pt x="198" y="3811"/>
                </a:lnTo>
                <a:cubicBezTo>
                  <a:pt x="185" y="3811"/>
                  <a:pt x="172" y="3810"/>
                  <a:pt x="160" y="3807"/>
                </a:cubicBezTo>
                <a:cubicBezTo>
                  <a:pt x="147" y="3805"/>
                  <a:pt x="134" y="3801"/>
                  <a:pt x="122" y="3796"/>
                </a:cubicBezTo>
                <a:cubicBezTo>
                  <a:pt x="110" y="3791"/>
                  <a:pt x="99" y="3785"/>
                  <a:pt x="88" y="3777"/>
                </a:cubicBezTo>
                <a:cubicBezTo>
                  <a:pt x="77" y="3770"/>
                  <a:pt x="67" y="3762"/>
                  <a:pt x="58" y="3753"/>
                </a:cubicBezTo>
                <a:cubicBezTo>
                  <a:pt x="49" y="3744"/>
                  <a:pt x="40" y="3734"/>
                  <a:pt x="33" y="3723"/>
                </a:cubicBezTo>
                <a:cubicBezTo>
                  <a:pt x="26" y="3712"/>
                  <a:pt x="20" y="3700"/>
                  <a:pt x="15" y="3688"/>
                </a:cubicBezTo>
                <a:cubicBezTo>
                  <a:pt x="10" y="3676"/>
                  <a:pt x="6" y="3664"/>
                  <a:pt x="4" y="3651"/>
                </a:cubicBezTo>
                <a:cubicBezTo>
                  <a:pt x="1" y="3638"/>
                  <a:pt x="0" y="3626"/>
                  <a:pt x="0" y="3612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Forma libre 163"/>
          <p:cNvSpPr/>
          <p:nvPr/>
        </p:nvSpPr>
        <p:spPr>
          <a:xfrm>
            <a:off x="671400" y="3728880"/>
            <a:ext cx="10849320" cy="1371960"/>
          </a:xfrm>
          <a:custGeom>
            <a:avLst/>
            <a:gdLst/>
            <a:ahLst/>
            <a:cxnLst/>
            <a:rect l="0" t="0" r="r" b="b"/>
            <a:pathLst>
              <a:path w="30137" h="3811">
                <a:moveTo>
                  <a:pt x="0" y="3612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60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3612"/>
                </a:lnTo>
                <a:cubicBezTo>
                  <a:pt x="30137" y="3626"/>
                  <a:pt x="30136" y="3638"/>
                  <a:pt x="30133" y="3651"/>
                </a:cubicBezTo>
                <a:cubicBezTo>
                  <a:pt x="30130" y="3664"/>
                  <a:pt x="30127" y="3676"/>
                  <a:pt x="30122" y="3688"/>
                </a:cubicBezTo>
                <a:cubicBezTo>
                  <a:pt x="30117" y="3700"/>
                  <a:pt x="30111" y="3712"/>
                  <a:pt x="30103" y="3723"/>
                </a:cubicBezTo>
                <a:cubicBezTo>
                  <a:pt x="30096" y="3734"/>
                  <a:pt x="30088" y="3744"/>
                  <a:pt x="30079" y="3753"/>
                </a:cubicBezTo>
                <a:cubicBezTo>
                  <a:pt x="30070" y="3762"/>
                  <a:pt x="30059" y="3770"/>
                  <a:pt x="30049" y="3777"/>
                </a:cubicBezTo>
                <a:cubicBezTo>
                  <a:pt x="30038" y="3785"/>
                  <a:pt x="30026" y="3791"/>
                  <a:pt x="30014" y="3796"/>
                </a:cubicBezTo>
                <a:cubicBezTo>
                  <a:pt x="30002" y="3801"/>
                  <a:pt x="29990" y="3805"/>
                  <a:pt x="29977" y="3807"/>
                </a:cubicBezTo>
                <a:cubicBezTo>
                  <a:pt x="29964" y="3810"/>
                  <a:pt x="29951" y="3811"/>
                  <a:pt x="29938" y="3811"/>
                </a:cubicBezTo>
                <a:lnTo>
                  <a:pt x="198" y="3811"/>
                </a:lnTo>
                <a:cubicBezTo>
                  <a:pt x="185" y="3811"/>
                  <a:pt x="172" y="3810"/>
                  <a:pt x="160" y="3807"/>
                </a:cubicBezTo>
                <a:cubicBezTo>
                  <a:pt x="147" y="3805"/>
                  <a:pt x="134" y="3801"/>
                  <a:pt x="122" y="3796"/>
                </a:cubicBezTo>
                <a:cubicBezTo>
                  <a:pt x="110" y="3791"/>
                  <a:pt x="99" y="3785"/>
                  <a:pt x="88" y="3777"/>
                </a:cubicBezTo>
                <a:cubicBezTo>
                  <a:pt x="77" y="3770"/>
                  <a:pt x="67" y="3762"/>
                  <a:pt x="58" y="3753"/>
                </a:cubicBezTo>
                <a:cubicBezTo>
                  <a:pt x="49" y="3744"/>
                  <a:pt x="40" y="3734"/>
                  <a:pt x="33" y="3723"/>
                </a:cubicBezTo>
                <a:cubicBezTo>
                  <a:pt x="26" y="3712"/>
                  <a:pt x="20" y="3700"/>
                  <a:pt x="15" y="3688"/>
                </a:cubicBezTo>
                <a:cubicBezTo>
                  <a:pt x="10" y="3676"/>
                  <a:pt x="6" y="3664"/>
                  <a:pt x="4" y="3651"/>
                </a:cubicBezTo>
                <a:cubicBezTo>
                  <a:pt x="1" y="3638"/>
                  <a:pt x="0" y="3626"/>
                  <a:pt x="0" y="3612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CuadroTexto 164"/>
          <p:cNvSpPr txBox="1"/>
          <p:nvPr/>
        </p:nvSpPr>
        <p:spPr>
          <a:xfrm>
            <a:off x="666720" y="777600"/>
            <a:ext cx="23270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Antes y después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CuadroTexto 165"/>
          <p:cNvSpPr txBox="1"/>
          <p:nvPr/>
        </p:nvSpPr>
        <p:spPr>
          <a:xfrm>
            <a:off x="866880" y="1594080"/>
            <a:ext cx="50230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ANTES: hace cinco cosas, imposible de probar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CuadroTexto 166"/>
          <p:cNvSpPr txBox="1"/>
          <p:nvPr/>
        </p:nvSpPr>
        <p:spPr>
          <a:xfrm>
            <a:off x="866880" y="1860840"/>
            <a:ext cx="16383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def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D9B3FF"/>
                </a:solidFill>
                <a:effectLst/>
                <a:uFillTx/>
                <a:latin typeface="Menlo"/>
                <a:ea typeface="Menlo"/>
              </a:rPr>
              <a:t>procesar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():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CuadroTexto 167"/>
          <p:cNvSpPr txBox="1"/>
          <p:nvPr/>
        </p:nvSpPr>
        <p:spPr>
          <a:xfrm>
            <a:off x="866880" y="2117880"/>
            <a:ext cx="62240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df = pd.read_csv(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"datos.csv"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     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lee de disco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CuadroTexto 168"/>
          <p:cNvSpPr txBox="1"/>
          <p:nvPr/>
        </p:nvSpPr>
        <p:spPr>
          <a:xfrm>
            <a:off x="866880" y="2384640"/>
            <a:ext cx="27302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df = df[df.edad &gt;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18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]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CuadroTexto 169"/>
          <p:cNvSpPr txBox="1"/>
          <p:nvPr/>
        </p:nvSpPr>
        <p:spPr>
          <a:xfrm>
            <a:off x="866880" y="2642040"/>
            <a:ext cx="72068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df[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"egfr"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] =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175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* df.creat**-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1.154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... fórmula enterrada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CuadroTexto 170"/>
          <p:cNvSpPr txBox="1"/>
          <p:nvPr/>
        </p:nvSpPr>
        <p:spPr>
          <a:xfrm>
            <a:off x="866880" y="2908800"/>
            <a:ext cx="65520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df.to_csv(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"salida.csv"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           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escribe a disco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CuadroTexto 171"/>
          <p:cNvSpPr txBox="1"/>
          <p:nvPr/>
        </p:nvSpPr>
        <p:spPr>
          <a:xfrm>
            <a:off x="866880" y="3165840"/>
            <a:ext cx="66607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print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"listo"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                    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efecto invisible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CuadroTexto 172"/>
          <p:cNvSpPr txBox="1"/>
          <p:nvPr/>
        </p:nvSpPr>
        <p:spPr>
          <a:xfrm>
            <a:off x="866880" y="3908880"/>
            <a:ext cx="63334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DESPUÉS: una cosa, entra un DataFrame, sale un DataFrame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CuadroTexto 173"/>
          <p:cNvSpPr txBox="1"/>
          <p:nvPr/>
        </p:nvSpPr>
        <p:spPr>
          <a:xfrm>
            <a:off x="866880" y="4175280"/>
            <a:ext cx="89535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def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D9B3FF"/>
                </a:solidFill>
                <a:effectLst/>
                <a:uFillTx/>
                <a:latin typeface="Menlo"/>
                <a:ea typeface="Menlo"/>
              </a:rPr>
              <a:t>calcular_egfr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(creatinina: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float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edad: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int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sexo: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Literal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[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"M"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"F"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]) -&gt;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float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: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CuadroTexto 174"/>
          <p:cNvSpPr txBox="1"/>
          <p:nvPr/>
        </p:nvSpPr>
        <p:spPr>
          <a:xfrm>
            <a:off x="866880" y="4432680"/>
            <a:ext cx="54597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"""eGFR por CKD-EPI 2021, en mL/min/1.73m²."""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CuadroTexto 175"/>
          <p:cNvSpPr txBox="1"/>
          <p:nvPr/>
        </p:nvSpPr>
        <p:spPr>
          <a:xfrm>
            <a:off x="866880" y="4699440"/>
            <a:ext cx="7650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...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CuadroTexto 176"/>
          <p:cNvSpPr txBox="1"/>
          <p:nvPr/>
        </p:nvSpPr>
        <p:spPr>
          <a:xfrm>
            <a:off x="666720" y="5297400"/>
            <a:ext cx="87501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Testeable = entradas explícitas, salida devuelta, sin tocar disco ni estado global.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CuadroTexto 180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05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CuadroTexto 181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CuadroTexto 182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11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Forma libre 18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Forma libre 18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Forma libre 18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Forma libre 186"/>
          <p:cNvSpPr/>
          <p:nvPr/>
        </p:nvSpPr>
        <p:spPr>
          <a:xfrm>
            <a:off x="671400" y="1309680"/>
            <a:ext cx="10849320" cy="3991320"/>
          </a:xfrm>
          <a:custGeom>
            <a:avLst/>
            <a:gdLst/>
            <a:ahLst/>
            <a:cxnLst/>
            <a:rect l="0" t="0" r="r" b="b"/>
            <a:pathLst>
              <a:path w="30137" h="11087">
                <a:moveTo>
                  <a:pt x="0" y="10888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6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8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3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3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8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6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10888"/>
                </a:lnTo>
                <a:cubicBezTo>
                  <a:pt x="30137" y="10901"/>
                  <a:pt x="30136" y="10914"/>
                  <a:pt x="30133" y="10927"/>
                </a:cubicBezTo>
                <a:cubicBezTo>
                  <a:pt x="30130" y="10940"/>
                  <a:pt x="30127" y="10952"/>
                  <a:pt x="30122" y="10964"/>
                </a:cubicBezTo>
                <a:cubicBezTo>
                  <a:pt x="30117" y="10976"/>
                  <a:pt x="30111" y="10988"/>
                  <a:pt x="30103" y="10998"/>
                </a:cubicBezTo>
                <a:cubicBezTo>
                  <a:pt x="30096" y="11009"/>
                  <a:pt x="30088" y="11019"/>
                  <a:pt x="30079" y="11028"/>
                </a:cubicBezTo>
                <a:cubicBezTo>
                  <a:pt x="30070" y="11038"/>
                  <a:pt x="30059" y="11046"/>
                  <a:pt x="30049" y="11053"/>
                </a:cubicBezTo>
                <a:cubicBezTo>
                  <a:pt x="30038" y="11060"/>
                  <a:pt x="30026" y="11066"/>
                  <a:pt x="30014" y="11071"/>
                </a:cubicBezTo>
                <a:cubicBezTo>
                  <a:pt x="30002" y="11076"/>
                  <a:pt x="29990" y="11080"/>
                  <a:pt x="29977" y="11083"/>
                </a:cubicBezTo>
                <a:cubicBezTo>
                  <a:pt x="29964" y="11085"/>
                  <a:pt x="29951" y="11087"/>
                  <a:pt x="29938" y="11087"/>
                </a:cubicBezTo>
                <a:lnTo>
                  <a:pt x="198" y="11087"/>
                </a:lnTo>
                <a:cubicBezTo>
                  <a:pt x="185" y="11087"/>
                  <a:pt x="172" y="11085"/>
                  <a:pt x="160" y="11083"/>
                </a:cubicBezTo>
                <a:cubicBezTo>
                  <a:pt x="147" y="11080"/>
                  <a:pt x="134" y="11076"/>
                  <a:pt x="122" y="11071"/>
                </a:cubicBezTo>
                <a:cubicBezTo>
                  <a:pt x="110" y="11066"/>
                  <a:pt x="99" y="11060"/>
                  <a:pt x="88" y="11053"/>
                </a:cubicBezTo>
                <a:cubicBezTo>
                  <a:pt x="77" y="11046"/>
                  <a:pt x="67" y="11038"/>
                  <a:pt x="58" y="11028"/>
                </a:cubicBezTo>
                <a:cubicBezTo>
                  <a:pt x="49" y="11019"/>
                  <a:pt x="40" y="11009"/>
                  <a:pt x="33" y="10998"/>
                </a:cubicBezTo>
                <a:cubicBezTo>
                  <a:pt x="26" y="10988"/>
                  <a:pt x="20" y="10976"/>
                  <a:pt x="15" y="10964"/>
                </a:cubicBezTo>
                <a:cubicBezTo>
                  <a:pt x="10" y="10952"/>
                  <a:pt x="6" y="10940"/>
                  <a:pt x="4" y="10927"/>
                </a:cubicBezTo>
                <a:cubicBezTo>
                  <a:pt x="1" y="10914"/>
                  <a:pt x="0" y="10901"/>
                  <a:pt x="0" y="10888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Forma libre 187"/>
          <p:cNvSpPr/>
          <p:nvPr/>
        </p:nvSpPr>
        <p:spPr>
          <a:xfrm>
            <a:off x="671400" y="1309680"/>
            <a:ext cx="10849320" cy="3991320"/>
          </a:xfrm>
          <a:custGeom>
            <a:avLst/>
            <a:gdLst/>
            <a:ahLst/>
            <a:cxnLst/>
            <a:rect l="0" t="0" r="r" b="b"/>
            <a:pathLst>
              <a:path w="30137" h="11087">
                <a:moveTo>
                  <a:pt x="0" y="10888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6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8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3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3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8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6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10888"/>
                </a:lnTo>
                <a:cubicBezTo>
                  <a:pt x="30137" y="10901"/>
                  <a:pt x="30136" y="10914"/>
                  <a:pt x="30133" y="10927"/>
                </a:cubicBezTo>
                <a:cubicBezTo>
                  <a:pt x="30130" y="10940"/>
                  <a:pt x="30127" y="10952"/>
                  <a:pt x="30122" y="10964"/>
                </a:cubicBezTo>
                <a:cubicBezTo>
                  <a:pt x="30117" y="10976"/>
                  <a:pt x="30111" y="10988"/>
                  <a:pt x="30103" y="10998"/>
                </a:cubicBezTo>
                <a:cubicBezTo>
                  <a:pt x="30096" y="11009"/>
                  <a:pt x="30088" y="11019"/>
                  <a:pt x="30079" y="11028"/>
                </a:cubicBezTo>
                <a:cubicBezTo>
                  <a:pt x="30070" y="11038"/>
                  <a:pt x="30059" y="11046"/>
                  <a:pt x="30049" y="11053"/>
                </a:cubicBezTo>
                <a:cubicBezTo>
                  <a:pt x="30038" y="11060"/>
                  <a:pt x="30026" y="11066"/>
                  <a:pt x="30014" y="11071"/>
                </a:cubicBezTo>
                <a:cubicBezTo>
                  <a:pt x="30002" y="11076"/>
                  <a:pt x="29990" y="11080"/>
                  <a:pt x="29977" y="11083"/>
                </a:cubicBezTo>
                <a:cubicBezTo>
                  <a:pt x="29964" y="11085"/>
                  <a:pt x="29951" y="11087"/>
                  <a:pt x="29938" y="11087"/>
                </a:cubicBezTo>
                <a:lnTo>
                  <a:pt x="198" y="11087"/>
                </a:lnTo>
                <a:cubicBezTo>
                  <a:pt x="185" y="11087"/>
                  <a:pt x="172" y="11085"/>
                  <a:pt x="160" y="11083"/>
                </a:cubicBezTo>
                <a:cubicBezTo>
                  <a:pt x="147" y="11080"/>
                  <a:pt x="134" y="11076"/>
                  <a:pt x="122" y="11071"/>
                </a:cubicBezTo>
                <a:cubicBezTo>
                  <a:pt x="110" y="11066"/>
                  <a:pt x="99" y="11060"/>
                  <a:pt x="88" y="11053"/>
                </a:cubicBezTo>
                <a:cubicBezTo>
                  <a:pt x="77" y="11046"/>
                  <a:pt x="67" y="11038"/>
                  <a:pt x="58" y="11028"/>
                </a:cubicBezTo>
                <a:cubicBezTo>
                  <a:pt x="49" y="11019"/>
                  <a:pt x="40" y="11009"/>
                  <a:pt x="33" y="10998"/>
                </a:cubicBezTo>
                <a:cubicBezTo>
                  <a:pt x="26" y="10988"/>
                  <a:pt x="20" y="10976"/>
                  <a:pt x="15" y="10964"/>
                </a:cubicBezTo>
                <a:cubicBezTo>
                  <a:pt x="10" y="10952"/>
                  <a:pt x="6" y="10940"/>
                  <a:pt x="4" y="10927"/>
                </a:cubicBezTo>
                <a:cubicBezTo>
                  <a:pt x="1" y="10914"/>
                  <a:pt x="0" y="10901"/>
                  <a:pt x="0" y="10888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CuadroTexto 188"/>
          <p:cNvSpPr txBox="1"/>
          <p:nvPr/>
        </p:nvSpPr>
        <p:spPr>
          <a:xfrm>
            <a:off x="666720" y="672840"/>
            <a:ext cx="422172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Tipos y docstrings: el contrato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CuadroTexto 189"/>
          <p:cNvSpPr txBox="1"/>
          <p:nvPr/>
        </p:nvSpPr>
        <p:spPr>
          <a:xfrm>
            <a:off x="866880" y="1489320"/>
            <a:ext cx="89535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def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D9B3FF"/>
                </a:solidFill>
                <a:effectLst/>
                <a:uFillTx/>
                <a:latin typeface="Menlo"/>
                <a:ea typeface="Menlo"/>
              </a:rPr>
              <a:t>calcular_egfr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(creatinina: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float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edad: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int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sexo: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Literal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[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"M"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"F"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]) -&gt;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float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: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CuadroTexto 190"/>
          <p:cNvSpPr txBox="1"/>
          <p:nvPr/>
        </p:nvSpPr>
        <p:spPr>
          <a:xfrm>
            <a:off x="866880" y="1756080"/>
            <a:ext cx="66610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"""Tasa de filtración glomerular estimada (CKD-EPI 2021).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CuadroTexto 191"/>
          <p:cNvSpPr txBox="1"/>
          <p:nvPr/>
        </p:nvSpPr>
        <p:spPr>
          <a:xfrm>
            <a:off x="866880" y="2279880"/>
            <a:ext cx="9835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    Args: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CuadroTexto 192"/>
          <p:cNvSpPr txBox="1"/>
          <p:nvPr/>
        </p:nvSpPr>
        <p:spPr>
          <a:xfrm>
            <a:off x="866880" y="2537280"/>
            <a:ext cx="55692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        creatinina: sérica, en mg/dL. Debe ser &gt; 0.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CuadroTexto 193"/>
          <p:cNvSpPr txBox="1"/>
          <p:nvPr/>
        </p:nvSpPr>
        <p:spPr>
          <a:xfrm>
            <a:off x="866880" y="2803680"/>
            <a:ext cx="44773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        edad: en años. Válida para &gt;= 18.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CuadroTexto 194"/>
          <p:cNvSpPr txBox="1"/>
          <p:nvPr/>
        </p:nvSpPr>
        <p:spPr>
          <a:xfrm>
            <a:off x="866880" y="3061080"/>
            <a:ext cx="70977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        sexo: "M" o "F" (la ecuación usa coeficientes distintos).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CuadroTexto 195"/>
          <p:cNvSpPr txBox="1"/>
          <p:nvPr/>
        </p:nvSpPr>
        <p:spPr>
          <a:xfrm>
            <a:off x="866880" y="3584880"/>
            <a:ext cx="13111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    Returns: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CuadroTexto 196"/>
          <p:cNvSpPr txBox="1"/>
          <p:nvPr/>
        </p:nvSpPr>
        <p:spPr>
          <a:xfrm>
            <a:off x="866880" y="3851640"/>
            <a:ext cx="33854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        eGFR en mL/min/1.73 m².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CuadroTexto 197"/>
          <p:cNvSpPr txBox="1"/>
          <p:nvPr/>
        </p:nvSpPr>
        <p:spPr>
          <a:xfrm>
            <a:off x="866880" y="4375440"/>
            <a:ext cx="12016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    Raises: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CuadroTexto 198"/>
          <p:cNvSpPr txBox="1"/>
          <p:nvPr/>
        </p:nvSpPr>
        <p:spPr>
          <a:xfrm>
            <a:off x="866880" y="4642200"/>
            <a:ext cx="55692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        ValueError: si creatinina &lt;= 0 o edad &lt; 18.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Forma libre 199"/>
          <p:cNvSpPr/>
          <p:nvPr/>
        </p:nvSpPr>
        <p:spPr>
          <a:xfrm>
            <a:off x="914040" y="560988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9"/>
                </a:cubicBezTo>
                <a:cubicBezTo>
                  <a:pt x="161" y="14"/>
                  <a:pt x="172" y="22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CuadroTexto 200"/>
          <p:cNvSpPr txBox="1"/>
          <p:nvPr/>
        </p:nvSpPr>
        <p:spPr>
          <a:xfrm>
            <a:off x="866880" y="4899240"/>
            <a:ext cx="7650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    """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Forma libre 201"/>
          <p:cNvSpPr/>
          <p:nvPr/>
        </p:nvSpPr>
        <p:spPr>
          <a:xfrm>
            <a:off x="914040" y="601020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Forma libre 202"/>
          <p:cNvSpPr/>
          <p:nvPr/>
        </p:nvSpPr>
        <p:spPr>
          <a:xfrm>
            <a:off x="1123920" y="5914800"/>
            <a:ext cx="581400" cy="267120"/>
          </a:xfrm>
          <a:custGeom>
            <a:avLst/>
            <a:gdLst/>
            <a:ahLst/>
            <a:cxnLst/>
            <a:rect l="0" t="0" r="r" b="b"/>
            <a:pathLst>
              <a:path w="1615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1509" y="0"/>
                </a:lnTo>
                <a:cubicBezTo>
                  <a:pt x="1523" y="0"/>
                  <a:pt x="1536" y="3"/>
                  <a:pt x="1549" y="8"/>
                </a:cubicBezTo>
                <a:cubicBezTo>
                  <a:pt x="1562" y="14"/>
                  <a:pt x="1574" y="21"/>
                  <a:pt x="1584" y="31"/>
                </a:cubicBezTo>
                <a:cubicBezTo>
                  <a:pt x="1593" y="41"/>
                  <a:pt x="1601" y="52"/>
                  <a:pt x="1606" y="65"/>
                </a:cubicBezTo>
                <a:cubicBezTo>
                  <a:pt x="1612" y="78"/>
                  <a:pt x="1615" y="92"/>
                  <a:pt x="1615" y="106"/>
                </a:cubicBezTo>
                <a:lnTo>
                  <a:pt x="1615" y="636"/>
                </a:lnTo>
                <a:cubicBezTo>
                  <a:pt x="1615" y="650"/>
                  <a:pt x="1612" y="664"/>
                  <a:pt x="1606" y="677"/>
                </a:cubicBezTo>
                <a:cubicBezTo>
                  <a:pt x="1601" y="690"/>
                  <a:pt x="1593" y="701"/>
                  <a:pt x="1584" y="711"/>
                </a:cubicBezTo>
                <a:cubicBezTo>
                  <a:pt x="1574" y="721"/>
                  <a:pt x="1562" y="729"/>
                  <a:pt x="1549" y="734"/>
                </a:cubicBezTo>
                <a:cubicBezTo>
                  <a:pt x="1536" y="739"/>
                  <a:pt x="1523" y="742"/>
                  <a:pt x="1509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2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CuadroTexto 203"/>
          <p:cNvSpPr txBox="1"/>
          <p:nvPr/>
        </p:nvSpPr>
        <p:spPr>
          <a:xfrm>
            <a:off x="1123920" y="5497200"/>
            <a:ext cx="76215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Las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unidades van en el docstring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— mg/dL vs µmol/L es un factor de 88.4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CuadroTexto 204"/>
          <p:cNvSpPr txBox="1"/>
          <p:nvPr/>
        </p:nvSpPr>
        <p:spPr>
          <a:xfrm>
            <a:off x="1181160" y="5934600"/>
            <a:ext cx="4705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mypy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CuadroTexto 205"/>
          <p:cNvSpPr txBox="1"/>
          <p:nvPr/>
        </p:nvSpPr>
        <p:spPr>
          <a:xfrm>
            <a:off x="1706400" y="5897520"/>
            <a:ext cx="55857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veriﬁca los tipos sin ejecutar: bugs gratis antes de correr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CuadroTexto 206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05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CuadroTexto 207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CuadroTexto 208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12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Forma libre 20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Forma libre 21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Forma libre 21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CuadroTexto 212"/>
          <p:cNvSpPr txBox="1"/>
          <p:nvPr/>
        </p:nvSpPr>
        <p:spPr>
          <a:xfrm>
            <a:off x="3787560" y="3063960"/>
            <a:ext cx="473364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4. pytest desde cero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CuadroTexto 213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05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CuadroTexto 214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CuadroTexto 215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13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Forma libre 21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Forma libre 21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Forma libre 21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Forma libre 219"/>
          <p:cNvSpPr/>
          <p:nvPr/>
        </p:nvSpPr>
        <p:spPr>
          <a:xfrm>
            <a:off x="671400" y="1595160"/>
            <a:ext cx="10849320" cy="2676960"/>
          </a:xfrm>
          <a:custGeom>
            <a:avLst/>
            <a:gdLst/>
            <a:ahLst/>
            <a:cxnLst/>
            <a:rect l="0" t="0" r="r" b="b"/>
            <a:pathLst>
              <a:path w="30137" h="7436">
                <a:moveTo>
                  <a:pt x="0" y="7238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7238"/>
                </a:lnTo>
                <a:cubicBezTo>
                  <a:pt x="30137" y="7251"/>
                  <a:pt x="30136" y="7264"/>
                  <a:pt x="30133" y="7276"/>
                </a:cubicBezTo>
                <a:cubicBezTo>
                  <a:pt x="30130" y="7289"/>
                  <a:pt x="30127" y="7302"/>
                  <a:pt x="30122" y="7314"/>
                </a:cubicBezTo>
                <a:cubicBezTo>
                  <a:pt x="30117" y="7326"/>
                  <a:pt x="30111" y="7337"/>
                  <a:pt x="30103" y="7348"/>
                </a:cubicBezTo>
                <a:cubicBezTo>
                  <a:pt x="30096" y="7359"/>
                  <a:pt x="30088" y="7369"/>
                  <a:pt x="30079" y="7378"/>
                </a:cubicBezTo>
                <a:cubicBezTo>
                  <a:pt x="30070" y="7387"/>
                  <a:pt x="30059" y="7395"/>
                  <a:pt x="30049" y="7403"/>
                </a:cubicBezTo>
                <a:cubicBezTo>
                  <a:pt x="30038" y="7410"/>
                  <a:pt x="30026" y="7416"/>
                  <a:pt x="30014" y="7421"/>
                </a:cubicBezTo>
                <a:cubicBezTo>
                  <a:pt x="30002" y="7426"/>
                  <a:pt x="29990" y="7430"/>
                  <a:pt x="29977" y="7432"/>
                </a:cubicBezTo>
                <a:cubicBezTo>
                  <a:pt x="29964" y="7435"/>
                  <a:pt x="29951" y="7436"/>
                  <a:pt x="29938" y="7436"/>
                </a:cubicBezTo>
                <a:lnTo>
                  <a:pt x="198" y="7436"/>
                </a:lnTo>
                <a:cubicBezTo>
                  <a:pt x="185" y="7436"/>
                  <a:pt x="172" y="7435"/>
                  <a:pt x="160" y="7432"/>
                </a:cubicBezTo>
                <a:cubicBezTo>
                  <a:pt x="147" y="7430"/>
                  <a:pt x="134" y="7426"/>
                  <a:pt x="122" y="7421"/>
                </a:cubicBezTo>
                <a:cubicBezTo>
                  <a:pt x="110" y="7416"/>
                  <a:pt x="99" y="7410"/>
                  <a:pt x="88" y="7403"/>
                </a:cubicBezTo>
                <a:cubicBezTo>
                  <a:pt x="77" y="7395"/>
                  <a:pt x="67" y="7387"/>
                  <a:pt x="58" y="7378"/>
                </a:cubicBezTo>
                <a:cubicBezTo>
                  <a:pt x="49" y="7369"/>
                  <a:pt x="40" y="7359"/>
                  <a:pt x="33" y="7348"/>
                </a:cubicBezTo>
                <a:cubicBezTo>
                  <a:pt x="26" y="7337"/>
                  <a:pt x="20" y="7326"/>
                  <a:pt x="15" y="7314"/>
                </a:cubicBezTo>
                <a:cubicBezTo>
                  <a:pt x="10" y="7302"/>
                  <a:pt x="6" y="7289"/>
                  <a:pt x="4" y="7276"/>
                </a:cubicBezTo>
                <a:cubicBezTo>
                  <a:pt x="1" y="7264"/>
                  <a:pt x="0" y="7251"/>
                  <a:pt x="0" y="7238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Forma libre 220"/>
          <p:cNvSpPr/>
          <p:nvPr/>
        </p:nvSpPr>
        <p:spPr>
          <a:xfrm>
            <a:off x="671400" y="1595160"/>
            <a:ext cx="10849320" cy="2676960"/>
          </a:xfrm>
          <a:custGeom>
            <a:avLst/>
            <a:gdLst/>
            <a:ahLst/>
            <a:cxnLst/>
            <a:rect l="0" t="0" r="r" b="b"/>
            <a:pathLst>
              <a:path w="30137" h="7436">
                <a:moveTo>
                  <a:pt x="0" y="7238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7238"/>
                </a:lnTo>
                <a:cubicBezTo>
                  <a:pt x="30137" y="7251"/>
                  <a:pt x="30136" y="7264"/>
                  <a:pt x="30133" y="7276"/>
                </a:cubicBezTo>
                <a:cubicBezTo>
                  <a:pt x="30130" y="7289"/>
                  <a:pt x="30127" y="7302"/>
                  <a:pt x="30122" y="7314"/>
                </a:cubicBezTo>
                <a:cubicBezTo>
                  <a:pt x="30117" y="7326"/>
                  <a:pt x="30111" y="7337"/>
                  <a:pt x="30103" y="7348"/>
                </a:cubicBezTo>
                <a:cubicBezTo>
                  <a:pt x="30096" y="7359"/>
                  <a:pt x="30088" y="7369"/>
                  <a:pt x="30079" y="7378"/>
                </a:cubicBezTo>
                <a:cubicBezTo>
                  <a:pt x="30070" y="7387"/>
                  <a:pt x="30059" y="7395"/>
                  <a:pt x="30049" y="7403"/>
                </a:cubicBezTo>
                <a:cubicBezTo>
                  <a:pt x="30038" y="7410"/>
                  <a:pt x="30026" y="7416"/>
                  <a:pt x="30014" y="7421"/>
                </a:cubicBezTo>
                <a:cubicBezTo>
                  <a:pt x="30002" y="7426"/>
                  <a:pt x="29990" y="7430"/>
                  <a:pt x="29977" y="7432"/>
                </a:cubicBezTo>
                <a:cubicBezTo>
                  <a:pt x="29964" y="7435"/>
                  <a:pt x="29951" y="7436"/>
                  <a:pt x="29938" y="7436"/>
                </a:cubicBezTo>
                <a:lnTo>
                  <a:pt x="198" y="7436"/>
                </a:lnTo>
                <a:cubicBezTo>
                  <a:pt x="185" y="7436"/>
                  <a:pt x="172" y="7435"/>
                  <a:pt x="160" y="7432"/>
                </a:cubicBezTo>
                <a:cubicBezTo>
                  <a:pt x="147" y="7430"/>
                  <a:pt x="134" y="7426"/>
                  <a:pt x="122" y="7421"/>
                </a:cubicBezTo>
                <a:cubicBezTo>
                  <a:pt x="110" y="7416"/>
                  <a:pt x="99" y="7410"/>
                  <a:pt x="88" y="7403"/>
                </a:cubicBezTo>
                <a:cubicBezTo>
                  <a:pt x="77" y="7395"/>
                  <a:pt x="67" y="7387"/>
                  <a:pt x="58" y="7378"/>
                </a:cubicBezTo>
                <a:cubicBezTo>
                  <a:pt x="49" y="7369"/>
                  <a:pt x="40" y="7359"/>
                  <a:pt x="33" y="7348"/>
                </a:cubicBezTo>
                <a:cubicBezTo>
                  <a:pt x="26" y="7337"/>
                  <a:pt x="20" y="7326"/>
                  <a:pt x="15" y="7314"/>
                </a:cubicBezTo>
                <a:cubicBezTo>
                  <a:pt x="10" y="7302"/>
                  <a:pt x="6" y="7289"/>
                  <a:pt x="4" y="7276"/>
                </a:cubicBezTo>
                <a:cubicBezTo>
                  <a:pt x="1" y="7264"/>
                  <a:pt x="0" y="7251"/>
                  <a:pt x="0" y="7238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Forma libre 221"/>
          <p:cNvSpPr/>
          <p:nvPr/>
        </p:nvSpPr>
        <p:spPr>
          <a:xfrm>
            <a:off x="671400" y="4433760"/>
            <a:ext cx="10849320" cy="581400"/>
          </a:xfrm>
          <a:custGeom>
            <a:avLst/>
            <a:gdLst/>
            <a:ahLst/>
            <a:cxnLst/>
            <a:rect l="0" t="0" r="r" b="b"/>
            <a:pathLst>
              <a:path w="30137" h="1615">
                <a:moveTo>
                  <a:pt x="0" y="1416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60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1416"/>
                </a:lnTo>
                <a:cubicBezTo>
                  <a:pt x="30137" y="1429"/>
                  <a:pt x="30136" y="1442"/>
                  <a:pt x="30133" y="1455"/>
                </a:cubicBezTo>
                <a:cubicBezTo>
                  <a:pt x="30130" y="1468"/>
                  <a:pt x="30127" y="1480"/>
                  <a:pt x="30122" y="1492"/>
                </a:cubicBezTo>
                <a:cubicBezTo>
                  <a:pt x="30117" y="1504"/>
                  <a:pt x="30111" y="1516"/>
                  <a:pt x="30103" y="1527"/>
                </a:cubicBezTo>
                <a:cubicBezTo>
                  <a:pt x="30096" y="1537"/>
                  <a:pt x="30088" y="1547"/>
                  <a:pt x="30079" y="1557"/>
                </a:cubicBezTo>
                <a:cubicBezTo>
                  <a:pt x="30070" y="1566"/>
                  <a:pt x="30059" y="1574"/>
                  <a:pt x="30049" y="1581"/>
                </a:cubicBezTo>
                <a:cubicBezTo>
                  <a:pt x="30038" y="1589"/>
                  <a:pt x="30026" y="1595"/>
                  <a:pt x="30014" y="1600"/>
                </a:cubicBezTo>
                <a:cubicBezTo>
                  <a:pt x="30002" y="1605"/>
                  <a:pt x="29990" y="1608"/>
                  <a:pt x="29977" y="1611"/>
                </a:cubicBezTo>
                <a:cubicBezTo>
                  <a:pt x="29964" y="1614"/>
                  <a:pt x="29951" y="1615"/>
                  <a:pt x="29938" y="1615"/>
                </a:cubicBezTo>
                <a:lnTo>
                  <a:pt x="198" y="1615"/>
                </a:lnTo>
                <a:cubicBezTo>
                  <a:pt x="185" y="1615"/>
                  <a:pt x="172" y="1614"/>
                  <a:pt x="160" y="1611"/>
                </a:cubicBezTo>
                <a:cubicBezTo>
                  <a:pt x="147" y="1608"/>
                  <a:pt x="134" y="1605"/>
                  <a:pt x="122" y="1600"/>
                </a:cubicBezTo>
                <a:cubicBezTo>
                  <a:pt x="110" y="1595"/>
                  <a:pt x="99" y="1589"/>
                  <a:pt x="88" y="1581"/>
                </a:cubicBezTo>
                <a:cubicBezTo>
                  <a:pt x="77" y="1574"/>
                  <a:pt x="67" y="1566"/>
                  <a:pt x="58" y="1557"/>
                </a:cubicBezTo>
                <a:cubicBezTo>
                  <a:pt x="49" y="1547"/>
                  <a:pt x="40" y="1537"/>
                  <a:pt x="33" y="1527"/>
                </a:cubicBezTo>
                <a:cubicBezTo>
                  <a:pt x="26" y="1516"/>
                  <a:pt x="20" y="1504"/>
                  <a:pt x="15" y="1492"/>
                </a:cubicBezTo>
                <a:cubicBezTo>
                  <a:pt x="10" y="1480"/>
                  <a:pt x="6" y="1468"/>
                  <a:pt x="4" y="1455"/>
                </a:cubicBezTo>
                <a:cubicBezTo>
                  <a:pt x="1" y="1442"/>
                  <a:pt x="0" y="1429"/>
                  <a:pt x="0" y="1416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Forma libre 222"/>
          <p:cNvSpPr/>
          <p:nvPr/>
        </p:nvSpPr>
        <p:spPr>
          <a:xfrm>
            <a:off x="671400" y="4433760"/>
            <a:ext cx="10849320" cy="581400"/>
          </a:xfrm>
          <a:custGeom>
            <a:avLst/>
            <a:gdLst/>
            <a:ahLst/>
            <a:cxnLst/>
            <a:rect l="0" t="0" r="r" b="b"/>
            <a:pathLst>
              <a:path w="30137" h="1615">
                <a:moveTo>
                  <a:pt x="0" y="1416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60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1416"/>
                </a:lnTo>
                <a:cubicBezTo>
                  <a:pt x="30137" y="1429"/>
                  <a:pt x="30136" y="1442"/>
                  <a:pt x="30133" y="1455"/>
                </a:cubicBezTo>
                <a:cubicBezTo>
                  <a:pt x="30130" y="1468"/>
                  <a:pt x="30127" y="1480"/>
                  <a:pt x="30122" y="1492"/>
                </a:cubicBezTo>
                <a:cubicBezTo>
                  <a:pt x="30117" y="1504"/>
                  <a:pt x="30111" y="1516"/>
                  <a:pt x="30103" y="1527"/>
                </a:cubicBezTo>
                <a:cubicBezTo>
                  <a:pt x="30096" y="1537"/>
                  <a:pt x="30088" y="1547"/>
                  <a:pt x="30079" y="1557"/>
                </a:cubicBezTo>
                <a:cubicBezTo>
                  <a:pt x="30070" y="1566"/>
                  <a:pt x="30059" y="1574"/>
                  <a:pt x="30049" y="1581"/>
                </a:cubicBezTo>
                <a:cubicBezTo>
                  <a:pt x="30038" y="1589"/>
                  <a:pt x="30026" y="1595"/>
                  <a:pt x="30014" y="1600"/>
                </a:cubicBezTo>
                <a:cubicBezTo>
                  <a:pt x="30002" y="1605"/>
                  <a:pt x="29990" y="1608"/>
                  <a:pt x="29977" y="1611"/>
                </a:cubicBezTo>
                <a:cubicBezTo>
                  <a:pt x="29964" y="1614"/>
                  <a:pt x="29951" y="1615"/>
                  <a:pt x="29938" y="1615"/>
                </a:cubicBezTo>
                <a:lnTo>
                  <a:pt x="198" y="1615"/>
                </a:lnTo>
                <a:cubicBezTo>
                  <a:pt x="185" y="1615"/>
                  <a:pt x="172" y="1614"/>
                  <a:pt x="160" y="1611"/>
                </a:cubicBezTo>
                <a:cubicBezTo>
                  <a:pt x="147" y="1608"/>
                  <a:pt x="134" y="1605"/>
                  <a:pt x="122" y="1600"/>
                </a:cubicBezTo>
                <a:cubicBezTo>
                  <a:pt x="110" y="1595"/>
                  <a:pt x="99" y="1589"/>
                  <a:pt x="88" y="1581"/>
                </a:cubicBezTo>
                <a:cubicBezTo>
                  <a:pt x="77" y="1574"/>
                  <a:pt x="67" y="1566"/>
                  <a:pt x="58" y="1557"/>
                </a:cubicBezTo>
                <a:cubicBezTo>
                  <a:pt x="49" y="1547"/>
                  <a:pt x="40" y="1537"/>
                  <a:pt x="33" y="1527"/>
                </a:cubicBezTo>
                <a:cubicBezTo>
                  <a:pt x="26" y="1516"/>
                  <a:pt x="20" y="1504"/>
                  <a:pt x="15" y="1492"/>
                </a:cubicBezTo>
                <a:cubicBezTo>
                  <a:pt x="10" y="1480"/>
                  <a:pt x="6" y="1468"/>
                  <a:pt x="4" y="1455"/>
                </a:cubicBezTo>
                <a:cubicBezTo>
                  <a:pt x="1" y="1442"/>
                  <a:pt x="0" y="1429"/>
                  <a:pt x="0" y="1416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CuadroTexto 223"/>
          <p:cNvSpPr txBox="1"/>
          <p:nvPr/>
        </p:nvSpPr>
        <p:spPr>
          <a:xfrm>
            <a:off x="666720" y="958680"/>
            <a:ext cx="451080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Convención sobre configuración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CuadroTexto 224"/>
          <p:cNvSpPr txBox="1"/>
          <p:nvPr/>
        </p:nvSpPr>
        <p:spPr>
          <a:xfrm>
            <a:off x="866880" y="1775160"/>
            <a:ext cx="30578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tests/test_laboratorios.py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CuadroTexto 225"/>
          <p:cNvSpPr txBox="1"/>
          <p:nvPr/>
        </p:nvSpPr>
        <p:spPr>
          <a:xfrm>
            <a:off x="866880" y="2041920"/>
            <a:ext cx="50230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from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clinlab.laboratorios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import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calcular_egfr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CuadroTexto 226"/>
          <p:cNvSpPr txBox="1"/>
          <p:nvPr/>
        </p:nvSpPr>
        <p:spPr>
          <a:xfrm>
            <a:off x="866880" y="2565720"/>
            <a:ext cx="46958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def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D9B3FF"/>
                </a:solidFill>
                <a:effectLst/>
                <a:uFillTx/>
                <a:latin typeface="Menlo"/>
                <a:ea typeface="Menlo"/>
              </a:rPr>
              <a:t>test_egfr_mujer_60_creatinina_normal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():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CuadroTexto 227"/>
          <p:cNvSpPr txBox="1"/>
          <p:nvPr/>
        </p:nvSpPr>
        <p:spPr>
          <a:xfrm>
            <a:off x="866880" y="2822760"/>
            <a:ext cx="76442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lang="es-ES" sz="1430" b="0" u="none" strike="noStrike" dirty="0" err="1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assert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calcular_egfr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</a:t>
            </a:r>
            <a:r>
              <a:rPr lang="es-ES" sz="1430" b="0" u="none" strike="noStrike" dirty="0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1.1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 dirty="0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60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 dirty="0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"F"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 == </a:t>
            </a:r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pytest.approx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</a:t>
            </a:r>
            <a:r>
              <a:rPr lang="es-ES" sz="1430" b="0" u="none" strike="noStrike" dirty="0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55.2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 dirty="0" err="1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abs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=</a:t>
            </a:r>
            <a:r>
              <a:rPr lang="es-ES" sz="1430" b="0" u="none" strike="noStrike" dirty="0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0.5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</a:t>
            </a:r>
            <a:endParaRPr lang="es-ES" sz="14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CuadroTexto 228"/>
          <p:cNvSpPr txBox="1"/>
          <p:nvPr/>
        </p:nvSpPr>
        <p:spPr>
          <a:xfrm>
            <a:off x="866880" y="3346920"/>
            <a:ext cx="48049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def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D9B3FF"/>
                </a:solidFill>
                <a:effectLst/>
                <a:uFillTx/>
                <a:latin typeface="Menlo"/>
                <a:ea typeface="Menlo"/>
              </a:rPr>
              <a:t>test_egfr_rechaza_creatinina_negativa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():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CuadroTexto 229"/>
          <p:cNvSpPr txBox="1"/>
          <p:nvPr/>
        </p:nvSpPr>
        <p:spPr>
          <a:xfrm>
            <a:off x="866880" y="3613320"/>
            <a:ext cx="38221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with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pytest.raises(ValueError):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CuadroTexto 230"/>
          <p:cNvSpPr txBox="1"/>
          <p:nvPr/>
        </p:nvSpPr>
        <p:spPr>
          <a:xfrm>
            <a:off x="866880" y="3870720"/>
            <a:ext cx="39319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 calcular_egfr(-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1.0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60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"F"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Forma libre 231"/>
          <p:cNvSpPr/>
          <p:nvPr/>
        </p:nvSpPr>
        <p:spPr>
          <a:xfrm>
            <a:off x="914040" y="532440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Forma libre 232"/>
          <p:cNvSpPr/>
          <p:nvPr/>
        </p:nvSpPr>
        <p:spPr>
          <a:xfrm>
            <a:off x="1123920" y="5229000"/>
            <a:ext cx="819360" cy="267120"/>
          </a:xfrm>
          <a:custGeom>
            <a:avLst/>
            <a:gdLst/>
            <a:ahLst/>
            <a:cxnLst/>
            <a:rect l="0" t="0" r="r" b="b"/>
            <a:pathLst>
              <a:path w="2276" h="742">
                <a:moveTo>
                  <a:pt x="0" y="635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2170" y="0"/>
                </a:lnTo>
                <a:cubicBezTo>
                  <a:pt x="2184" y="0"/>
                  <a:pt x="2198" y="3"/>
                  <a:pt x="2211" y="8"/>
                </a:cubicBezTo>
                <a:cubicBezTo>
                  <a:pt x="2224" y="14"/>
                  <a:pt x="2235" y="21"/>
                  <a:pt x="2245" y="31"/>
                </a:cubicBezTo>
                <a:cubicBezTo>
                  <a:pt x="2255" y="41"/>
                  <a:pt x="2263" y="52"/>
                  <a:pt x="2268" y="65"/>
                </a:cubicBezTo>
                <a:cubicBezTo>
                  <a:pt x="2273" y="78"/>
                  <a:pt x="2276" y="92"/>
                  <a:pt x="2276" y="106"/>
                </a:cubicBezTo>
                <a:lnTo>
                  <a:pt x="2276" y="635"/>
                </a:lnTo>
                <a:cubicBezTo>
                  <a:pt x="2276" y="650"/>
                  <a:pt x="2273" y="664"/>
                  <a:pt x="2268" y="677"/>
                </a:cubicBezTo>
                <a:cubicBezTo>
                  <a:pt x="2263" y="690"/>
                  <a:pt x="2255" y="701"/>
                  <a:pt x="2245" y="711"/>
                </a:cubicBezTo>
                <a:cubicBezTo>
                  <a:pt x="2235" y="721"/>
                  <a:pt x="2224" y="729"/>
                  <a:pt x="2211" y="734"/>
                </a:cubicBezTo>
                <a:cubicBezTo>
                  <a:pt x="2198" y="739"/>
                  <a:pt x="2184" y="742"/>
                  <a:pt x="2170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2" y="664"/>
                  <a:pt x="0" y="650"/>
                  <a:pt x="0" y="635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CuadroTexto 233"/>
          <p:cNvSpPr txBox="1"/>
          <p:nvPr/>
        </p:nvSpPr>
        <p:spPr>
          <a:xfrm>
            <a:off x="866880" y="4613760"/>
            <a:ext cx="80805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$ pytest       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descubre tests/test_*.py :: test_* y los corre todos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CuadroTexto 234"/>
          <p:cNvSpPr txBox="1"/>
          <p:nvPr/>
        </p:nvSpPr>
        <p:spPr>
          <a:xfrm>
            <a:off x="1181160" y="5248800"/>
            <a:ext cx="7052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assert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Forma libre 235"/>
          <p:cNvSpPr/>
          <p:nvPr/>
        </p:nvSpPr>
        <p:spPr>
          <a:xfrm>
            <a:off x="914040" y="572436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9" y="66"/>
                </a:cubicBezTo>
                <a:cubicBezTo>
                  <a:pt x="14" y="53"/>
                  <a:pt x="22" y="42"/>
                  <a:pt x="31" y="32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2"/>
                </a:cubicBezTo>
                <a:cubicBezTo>
                  <a:pt x="192" y="42"/>
                  <a:pt x="200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Forma libre 236"/>
          <p:cNvSpPr/>
          <p:nvPr/>
        </p:nvSpPr>
        <p:spPr>
          <a:xfrm>
            <a:off x="1123920" y="5628960"/>
            <a:ext cx="1638360" cy="267120"/>
          </a:xfrm>
          <a:custGeom>
            <a:avLst/>
            <a:gdLst/>
            <a:ahLst/>
            <a:cxnLst/>
            <a:rect l="0" t="0" r="r" b="b"/>
            <a:pathLst>
              <a:path w="4551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4446" y="0"/>
                </a:lnTo>
                <a:cubicBezTo>
                  <a:pt x="4460" y="0"/>
                  <a:pt x="4473" y="3"/>
                  <a:pt x="4486" y="8"/>
                </a:cubicBezTo>
                <a:cubicBezTo>
                  <a:pt x="4499" y="14"/>
                  <a:pt x="4510" y="21"/>
                  <a:pt x="4520" y="31"/>
                </a:cubicBezTo>
                <a:cubicBezTo>
                  <a:pt x="4530" y="41"/>
                  <a:pt x="4538" y="53"/>
                  <a:pt x="4543" y="66"/>
                </a:cubicBezTo>
                <a:cubicBezTo>
                  <a:pt x="4549" y="79"/>
                  <a:pt x="4551" y="92"/>
                  <a:pt x="4551" y="106"/>
                </a:cubicBezTo>
                <a:lnTo>
                  <a:pt x="4551" y="636"/>
                </a:lnTo>
                <a:cubicBezTo>
                  <a:pt x="4551" y="650"/>
                  <a:pt x="4549" y="664"/>
                  <a:pt x="4543" y="677"/>
                </a:cubicBezTo>
                <a:cubicBezTo>
                  <a:pt x="4538" y="690"/>
                  <a:pt x="4530" y="701"/>
                  <a:pt x="4520" y="711"/>
                </a:cubicBezTo>
                <a:cubicBezTo>
                  <a:pt x="4510" y="721"/>
                  <a:pt x="4499" y="729"/>
                  <a:pt x="4486" y="734"/>
                </a:cubicBezTo>
                <a:cubicBezTo>
                  <a:pt x="4473" y="740"/>
                  <a:pt x="4460" y="742"/>
                  <a:pt x="4446" y="742"/>
                </a:cubicBezTo>
                <a:lnTo>
                  <a:pt x="105" y="742"/>
                </a:lnTo>
                <a:cubicBezTo>
                  <a:pt x="91" y="742"/>
                  <a:pt x="78" y="740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2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CuadroTexto 237"/>
          <p:cNvSpPr txBox="1"/>
          <p:nvPr/>
        </p:nvSpPr>
        <p:spPr>
          <a:xfrm>
            <a:off x="1940400" y="5211720"/>
            <a:ext cx="52599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a secas — pytest reescribe el mensaje de error por ti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CuadroTexto 238"/>
          <p:cNvSpPr txBox="1"/>
          <p:nvPr/>
        </p:nvSpPr>
        <p:spPr>
          <a:xfrm>
            <a:off x="1181160" y="5649120"/>
            <a:ext cx="15274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1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pytest.approx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Forma libre 239"/>
          <p:cNvSpPr/>
          <p:nvPr/>
        </p:nvSpPr>
        <p:spPr>
          <a:xfrm>
            <a:off x="5467320" y="5628960"/>
            <a:ext cx="1990800" cy="267120"/>
          </a:xfrm>
          <a:custGeom>
            <a:avLst/>
            <a:gdLst/>
            <a:ahLst/>
            <a:cxnLst/>
            <a:rect l="0" t="0" r="r" b="b"/>
            <a:pathLst>
              <a:path w="5530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5425" y="0"/>
                </a:lnTo>
                <a:cubicBezTo>
                  <a:pt x="5439" y="0"/>
                  <a:pt x="5452" y="3"/>
                  <a:pt x="5465" y="8"/>
                </a:cubicBezTo>
                <a:cubicBezTo>
                  <a:pt x="5478" y="14"/>
                  <a:pt x="5489" y="21"/>
                  <a:pt x="5499" y="31"/>
                </a:cubicBezTo>
                <a:cubicBezTo>
                  <a:pt x="5509" y="41"/>
                  <a:pt x="5517" y="53"/>
                  <a:pt x="5522" y="66"/>
                </a:cubicBezTo>
                <a:cubicBezTo>
                  <a:pt x="5528" y="79"/>
                  <a:pt x="5530" y="92"/>
                  <a:pt x="5530" y="106"/>
                </a:cubicBezTo>
                <a:lnTo>
                  <a:pt x="5530" y="636"/>
                </a:lnTo>
                <a:cubicBezTo>
                  <a:pt x="5530" y="650"/>
                  <a:pt x="5528" y="664"/>
                  <a:pt x="5522" y="677"/>
                </a:cubicBezTo>
                <a:cubicBezTo>
                  <a:pt x="5517" y="690"/>
                  <a:pt x="5509" y="701"/>
                  <a:pt x="5499" y="711"/>
                </a:cubicBezTo>
                <a:cubicBezTo>
                  <a:pt x="5489" y="721"/>
                  <a:pt x="5478" y="729"/>
                  <a:pt x="5465" y="734"/>
                </a:cubicBezTo>
                <a:cubicBezTo>
                  <a:pt x="5452" y="740"/>
                  <a:pt x="5439" y="742"/>
                  <a:pt x="5425" y="742"/>
                </a:cubicBezTo>
                <a:lnTo>
                  <a:pt x="105" y="742"/>
                </a:lnTo>
                <a:cubicBezTo>
                  <a:pt x="91" y="742"/>
                  <a:pt x="78" y="740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2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CuadroTexto 240"/>
          <p:cNvSpPr txBox="1"/>
          <p:nvPr/>
        </p:nvSpPr>
        <p:spPr>
          <a:xfrm>
            <a:off x="2759040" y="5611680"/>
            <a:ext cx="2233625" cy="276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 dirty="0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 para </a:t>
            </a:r>
            <a:r>
              <a:rPr lang="es-ES" sz="1800" b="1" u="none" strike="noStrike" dirty="0" err="1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floats</a:t>
            </a:r>
            <a:r>
              <a:rPr lang="es-ES" sz="1800" b="1" u="none" strike="noStrike" dirty="0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, siempre.</a:t>
            </a:r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CuadroTexto 241"/>
          <p:cNvSpPr txBox="1"/>
          <p:nvPr/>
        </p:nvSpPr>
        <p:spPr>
          <a:xfrm>
            <a:off x="5525640" y="5649120"/>
            <a:ext cx="18799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0.1 + 0.2 != 0.3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CuadroTexto 242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05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CuadroTexto 243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CuadroTexto 244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14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Forma libre 24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Forma libre 24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Forma libre 247"/>
          <p:cNvSpPr/>
          <p:nvPr/>
        </p:nvSpPr>
        <p:spPr>
          <a:xfrm>
            <a:off x="0" y="32796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Forma libre 248"/>
          <p:cNvSpPr/>
          <p:nvPr/>
        </p:nvSpPr>
        <p:spPr>
          <a:xfrm>
            <a:off x="671400" y="4595760"/>
            <a:ext cx="10849320" cy="1105200"/>
          </a:xfrm>
          <a:custGeom>
            <a:avLst/>
            <a:gdLst/>
            <a:ahLst/>
            <a:cxnLst/>
            <a:rect l="0" t="0" r="r" b="b"/>
            <a:pathLst>
              <a:path w="30137" h="3070">
                <a:moveTo>
                  <a:pt x="0" y="2871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3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3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2871"/>
                </a:lnTo>
                <a:cubicBezTo>
                  <a:pt x="30137" y="2884"/>
                  <a:pt x="30136" y="2897"/>
                  <a:pt x="30133" y="2910"/>
                </a:cubicBezTo>
                <a:cubicBezTo>
                  <a:pt x="30130" y="2923"/>
                  <a:pt x="30127" y="2935"/>
                  <a:pt x="30122" y="2947"/>
                </a:cubicBezTo>
                <a:cubicBezTo>
                  <a:pt x="30117" y="2959"/>
                  <a:pt x="30111" y="2971"/>
                  <a:pt x="30103" y="2982"/>
                </a:cubicBezTo>
                <a:cubicBezTo>
                  <a:pt x="30096" y="2992"/>
                  <a:pt x="30088" y="3002"/>
                  <a:pt x="30079" y="3012"/>
                </a:cubicBezTo>
                <a:cubicBezTo>
                  <a:pt x="30070" y="3021"/>
                  <a:pt x="30059" y="3029"/>
                  <a:pt x="30049" y="3036"/>
                </a:cubicBezTo>
                <a:cubicBezTo>
                  <a:pt x="30038" y="3044"/>
                  <a:pt x="30026" y="3050"/>
                  <a:pt x="30014" y="3055"/>
                </a:cubicBezTo>
                <a:cubicBezTo>
                  <a:pt x="30002" y="3060"/>
                  <a:pt x="29990" y="3063"/>
                  <a:pt x="29977" y="3066"/>
                </a:cubicBezTo>
                <a:cubicBezTo>
                  <a:pt x="29964" y="3069"/>
                  <a:pt x="29951" y="3070"/>
                  <a:pt x="29938" y="3070"/>
                </a:cubicBezTo>
                <a:lnTo>
                  <a:pt x="198" y="3070"/>
                </a:lnTo>
                <a:cubicBezTo>
                  <a:pt x="185" y="3070"/>
                  <a:pt x="172" y="3069"/>
                  <a:pt x="160" y="3066"/>
                </a:cubicBezTo>
                <a:cubicBezTo>
                  <a:pt x="147" y="3063"/>
                  <a:pt x="134" y="3060"/>
                  <a:pt x="122" y="3055"/>
                </a:cubicBezTo>
                <a:cubicBezTo>
                  <a:pt x="110" y="3050"/>
                  <a:pt x="99" y="3044"/>
                  <a:pt x="88" y="3036"/>
                </a:cubicBezTo>
                <a:cubicBezTo>
                  <a:pt x="77" y="3029"/>
                  <a:pt x="67" y="3021"/>
                  <a:pt x="58" y="3012"/>
                </a:cubicBezTo>
                <a:cubicBezTo>
                  <a:pt x="49" y="3002"/>
                  <a:pt x="40" y="2992"/>
                  <a:pt x="33" y="2982"/>
                </a:cubicBezTo>
                <a:cubicBezTo>
                  <a:pt x="26" y="2971"/>
                  <a:pt x="20" y="2959"/>
                  <a:pt x="15" y="2947"/>
                </a:cubicBezTo>
                <a:cubicBezTo>
                  <a:pt x="10" y="2935"/>
                  <a:pt x="6" y="2923"/>
                  <a:pt x="4" y="2910"/>
                </a:cubicBezTo>
                <a:cubicBezTo>
                  <a:pt x="1" y="2897"/>
                  <a:pt x="0" y="2884"/>
                  <a:pt x="0" y="2871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Forma libre 249"/>
          <p:cNvSpPr/>
          <p:nvPr/>
        </p:nvSpPr>
        <p:spPr>
          <a:xfrm>
            <a:off x="671400" y="4595760"/>
            <a:ext cx="10849320" cy="1105200"/>
          </a:xfrm>
          <a:custGeom>
            <a:avLst/>
            <a:gdLst/>
            <a:ahLst/>
            <a:cxnLst/>
            <a:rect l="0" t="0" r="r" b="b"/>
            <a:pathLst>
              <a:path w="30137" h="3070">
                <a:moveTo>
                  <a:pt x="0" y="2871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3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3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2871"/>
                </a:lnTo>
                <a:cubicBezTo>
                  <a:pt x="30137" y="2884"/>
                  <a:pt x="30136" y="2897"/>
                  <a:pt x="30133" y="2910"/>
                </a:cubicBezTo>
                <a:cubicBezTo>
                  <a:pt x="30130" y="2923"/>
                  <a:pt x="30127" y="2935"/>
                  <a:pt x="30122" y="2947"/>
                </a:cubicBezTo>
                <a:cubicBezTo>
                  <a:pt x="30117" y="2959"/>
                  <a:pt x="30111" y="2971"/>
                  <a:pt x="30103" y="2982"/>
                </a:cubicBezTo>
                <a:cubicBezTo>
                  <a:pt x="30096" y="2992"/>
                  <a:pt x="30088" y="3002"/>
                  <a:pt x="30079" y="3012"/>
                </a:cubicBezTo>
                <a:cubicBezTo>
                  <a:pt x="30070" y="3021"/>
                  <a:pt x="30059" y="3029"/>
                  <a:pt x="30049" y="3036"/>
                </a:cubicBezTo>
                <a:cubicBezTo>
                  <a:pt x="30038" y="3044"/>
                  <a:pt x="30026" y="3050"/>
                  <a:pt x="30014" y="3055"/>
                </a:cubicBezTo>
                <a:cubicBezTo>
                  <a:pt x="30002" y="3060"/>
                  <a:pt x="29990" y="3063"/>
                  <a:pt x="29977" y="3066"/>
                </a:cubicBezTo>
                <a:cubicBezTo>
                  <a:pt x="29964" y="3069"/>
                  <a:pt x="29951" y="3070"/>
                  <a:pt x="29938" y="3070"/>
                </a:cubicBezTo>
                <a:lnTo>
                  <a:pt x="198" y="3070"/>
                </a:lnTo>
                <a:cubicBezTo>
                  <a:pt x="185" y="3070"/>
                  <a:pt x="172" y="3069"/>
                  <a:pt x="160" y="3066"/>
                </a:cubicBezTo>
                <a:cubicBezTo>
                  <a:pt x="147" y="3063"/>
                  <a:pt x="134" y="3060"/>
                  <a:pt x="122" y="3055"/>
                </a:cubicBezTo>
                <a:cubicBezTo>
                  <a:pt x="110" y="3050"/>
                  <a:pt x="99" y="3044"/>
                  <a:pt x="88" y="3036"/>
                </a:cubicBezTo>
                <a:cubicBezTo>
                  <a:pt x="77" y="3029"/>
                  <a:pt x="67" y="3021"/>
                  <a:pt x="58" y="3012"/>
                </a:cubicBezTo>
                <a:cubicBezTo>
                  <a:pt x="49" y="3002"/>
                  <a:pt x="40" y="2992"/>
                  <a:pt x="33" y="2982"/>
                </a:cubicBezTo>
                <a:cubicBezTo>
                  <a:pt x="26" y="2971"/>
                  <a:pt x="20" y="2959"/>
                  <a:pt x="15" y="2947"/>
                </a:cubicBezTo>
                <a:cubicBezTo>
                  <a:pt x="10" y="2935"/>
                  <a:pt x="6" y="2923"/>
                  <a:pt x="4" y="2910"/>
                </a:cubicBezTo>
                <a:cubicBezTo>
                  <a:pt x="1" y="2897"/>
                  <a:pt x="0" y="2884"/>
                  <a:pt x="0" y="2871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CuadroTexto 250"/>
          <p:cNvSpPr txBox="1"/>
          <p:nvPr/>
        </p:nvSpPr>
        <p:spPr>
          <a:xfrm>
            <a:off x="666720" y="1168200"/>
            <a:ext cx="37533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Ver fallar la prueba primero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CuadroTexto 251"/>
          <p:cNvSpPr txBox="1"/>
          <p:nvPr/>
        </p:nvSpPr>
        <p:spPr>
          <a:xfrm>
            <a:off x="666720" y="1849320"/>
            <a:ext cx="42609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El ciclo corto que sí funciona en la práctica: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CuadroTexto 252"/>
          <p:cNvSpPr txBox="1"/>
          <p:nvPr/>
        </p:nvSpPr>
        <p:spPr>
          <a:xfrm>
            <a:off x="869760" y="2344680"/>
            <a:ext cx="52855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1. Escribe la prueba del comportamiento que quieres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CuadroTexto 253"/>
          <p:cNvSpPr txBox="1"/>
          <p:nvPr/>
        </p:nvSpPr>
        <p:spPr>
          <a:xfrm>
            <a:off x="6415158" y="2344680"/>
            <a:ext cx="2293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CuadroTexto 254"/>
          <p:cNvSpPr txBox="1"/>
          <p:nvPr/>
        </p:nvSpPr>
        <p:spPr>
          <a:xfrm>
            <a:off x="6904357" y="2356063"/>
            <a:ext cx="1379224" cy="276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</a:t>
            </a:r>
            <a:r>
              <a:rPr lang="es-ES" sz="1800" b="1" u="none" strike="noStrike" dirty="0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córrela, falla</a:t>
            </a:r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CuadroTexto 255"/>
          <p:cNvSpPr txBox="1"/>
          <p:nvPr/>
        </p:nvSpPr>
        <p:spPr>
          <a:xfrm>
            <a:off x="869760" y="2744640"/>
            <a:ext cx="4113306" cy="276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2. Escribe el mínimo código que la pasa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CuadroTexto 256"/>
          <p:cNvSpPr txBox="1"/>
          <p:nvPr/>
        </p:nvSpPr>
        <p:spPr>
          <a:xfrm>
            <a:off x="869760" y="3144600"/>
            <a:ext cx="4196662" cy="276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3. Limpia el código con la prueba puesta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CuadroTexto 257"/>
          <p:cNvSpPr txBox="1"/>
          <p:nvPr/>
        </p:nvSpPr>
        <p:spPr>
          <a:xfrm>
            <a:off x="666720" y="3639960"/>
            <a:ext cx="96627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¿Por qué el paso 1 importa?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Una prueba que nunca viste fallar puede estar probando nada.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CuadroTexto 261"/>
          <p:cNvSpPr txBox="1"/>
          <p:nvPr/>
        </p:nvSpPr>
        <p:spPr>
          <a:xfrm>
            <a:off x="866880" y="4775400"/>
            <a:ext cx="17478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def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D9B3FF"/>
                </a:solidFill>
                <a:effectLst/>
                <a:uFillTx/>
                <a:latin typeface="Menlo"/>
                <a:ea typeface="Menlo"/>
              </a:rPr>
              <a:t>test_algo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():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CuadroTexto 262"/>
          <p:cNvSpPr txBox="1"/>
          <p:nvPr/>
        </p:nvSpPr>
        <p:spPr>
          <a:xfrm>
            <a:off x="866880" y="5042160"/>
            <a:ext cx="36039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resultado = mi_funcion(datos)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CuadroTexto 263"/>
          <p:cNvSpPr txBox="1"/>
          <p:nvPr/>
        </p:nvSpPr>
        <p:spPr>
          <a:xfrm>
            <a:off x="866880" y="5299560"/>
            <a:ext cx="74250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assert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resultado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is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not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None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← pasa casi con cualquier bug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CuadroTexto 264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05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CuadroTexto 265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CuadroTexto 266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15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Forma libre 26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Forma libre 26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Forma libre 26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CuadroTexto 270"/>
          <p:cNvSpPr txBox="1"/>
          <p:nvPr/>
        </p:nvSpPr>
        <p:spPr>
          <a:xfrm>
            <a:off x="2887920" y="3063960"/>
            <a:ext cx="658080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5. Fixtures y parametrización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CuadroTexto 271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05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CuadroTexto 272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CuadroTexto 273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16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Forma libre 27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Forma libre 27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Forma libre 27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Forma libre 277"/>
          <p:cNvSpPr/>
          <p:nvPr/>
        </p:nvSpPr>
        <p:spPr>
          <a:xfrm>
            <a:off x="671400" y="1576080"/>
            <a:ext cx="10849320" cy="3467520"/>
          </a:xfrm>
          <a:custGeom>
            <a:avLst/>
            <a:gdLst/>
            <a:ahLst/>
            <a:cxnLst/>
            <a:rect l="0" t="0" r="r" b="b"/>
            <a:pathLst>
              <a:path w="30137" h="9632">
                <a:moveTo>
                  <a:pt x="0" y="9434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7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9434"/>
                </a:lnTo>
                <a:cubicBezTo>
                  <a:pt x="30137" y="9447"/>
                  <a:pt x="30136" y="9460"/>
                  <a:pt x="30133" y="9472"/>
                </a:cubicBezTo>
                <a:cubicBezTo>
                  <a:pt x="30130" y="9485"/>
                  <a:pt x="30127" y="9498"/>
                  <a:pt x="30122" y="9510"/>
                </a:cubicBezTo>
                <a:cubicBezTo>
                  <a:pt x="30117" y="9522"/>
                  <a:pt x="30111" y="9533"/>
                  <a:pt x="30103" y="9544"/>
                </a:cubicBezTo>
                <a:cubicBezTo>
                  <a:pt x="30096" y="9555"/>
                  <a:pt x="30088" y="9565"/>
                  <a:pt x="30079" y="9574"/>
                </a:cubicBezTo>
                <a:cubicBezTo>
                  <a:pt x="30070" y="9583"/>
                  <a:pt x="30059" y="9592"/>
                  <a:pt x="30049" y="9599"/>
                </a:cubicBezTo>
                <a:cubicBezTo>
                  <a:pt x="30038" y="9606"/>
                  <a:pt x="30026" y="9612"/>
                  <a:pt x="30014" y="9617"/>
                </a:cubicBezTo>
                <a:cubicBezTo>
                  <a:pt x="30002" y="9622"/>
                  <a:pt x="29990" y="9626"/>
                  <a:pt x="29977" y="9628"/>
                </a:cubicBezTo>
                <a:cubicBezTo>
                  <a:pt x="29964" y="9631"/>
                  <a:pt x="29951" y="9632"/>
                  <a:pt x="29938" y="9632"/>
                </a:cubicBezTo>
                <a:lnTo>
                  <a:pt x="198" y="9632"/>
                </a:lnTo>
                <a:cubicBezTo>
                  <a:pt x="185" y="9632"/>
                  <a:pt x="172" y="9631"/>
                  <a:pt x="160" y="9628"/>
                </a:cubicBezTo>
                <a:cubicBezTo>
                  <a:pt x="147" y="9626"/>
                  <a:pt x="134" y="9622"/>
                  <a:pt x="122" y="9617"/>
                </a:cubicBezTo>
                <a:cubicBezTo>
                  <a:pt x="110" y="9612"/>
                  <a:pt x="99" y="9606"/>
                  <a:pt x="88" y="9599"/>
                </a:cubicBezTo>
                <a:cubicBezTo>
                  <a:pt x="77" y="9592"/>
                  <a:pt x="67" y="9583"/>
                  <a:pt x="58" y="9574"/>
                </a:cubicBezTo>
                <a:cubicBezTo>
                  <a:pt x="49" y="9565"/>
                  <a:pt x="40" y="9555"/>
                  <a:pt x="33" y="9544"/>
                </a:cubicBezTo>
                <a:cubicBezTo>
                  <a:pt x="26" y="9533"/>
                  <a:pt x="20" y="9522"/>
                  <a:pt x="15" y="9510"/>
                </a:cubicBezTo>
                <a:cubicBezTo>
                  <a:pt x="10" y="9498"/>
                  <a:pt x="6" y="9485"/>
                  <a:pt x="4" y="9472"/>
                </a:cubicBezTo>
                <a:cubicBezTo>
                  <a:pt x="1" y="9460"/>
                  <a:pt x="0" y="9447"/>
                  <a:pt x="0" y="9434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Forma libre 278"/>
          <p:cNvSpPr/>
          <p:nvPr/>
        </p:nvSpPr>
        <p:spPr>
          <a:xfrm>
            <a:off x="671400" y="1576080"/>
            <a:ext cx="10849320" cy="3467520"/>
          </a:xfrm>
          <a:custGeom>
            <a:avLst/>
            <a:gdLst/>
            <a:ahLst/>
            <a:cxnLst/>
            <a:rect l="0" t="0" r="r" b="b"/>
            <a:pathLst>
              <a:path w="30137" h="9632">
                <a:moveTo>
                  <a:pt x="0" y="9434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7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9434"/>
                </a:lnTo>
                <a:cubicBezTo>
                  <a:pt x="30137" y="9447"/>
                  <a:pt x="30136" y="9460"/>
                  <a:pt x="30133" y="9472"/>
                </a:cubicBezTo>
                <a:cubicBezTo>
                  <a:pt x="30130" y="9485"/>
                  <a:pt x="30127" y="9498"/>
                  <a:pt x="30122" y="9510"/>
                </a:cubicBezTo>
                <a:cubicBezTo>
                  <a:pt x="30117" y="9522"/>
                  <a:pt x="30111" y="9533"/>
                  <a:pt x="30103" y="9544"/>
                </a:cubicBezTo>
                <a:cubicBezTo>
                  <a:pt x="30096" y="9555"/>
                  <a:pt x="30088" y="9565"/>
                  <a:pt x="30079" y="9574"/>
                </a:cubicBezTo>
                <a:cubicBezTo>
                  <a:pt x="30070" y="9583"/>
                  <a:pt x="30059" y="9592"/>
                  <a:pt x="30049" y="9599"/>
                </a:cubicBezTo>
                <a:cubicBezTo>
                  <a:pt x="30038" y="9606"/>
                  <a:pt x="30026" y="9612"/>
                  <a:pt x="30014" y="9617"/>
                </a:cubicBezTo>
                <a:cubicBezTo>
                  <a:pt x="30002" y="9622"/>
                  <a:pt x="29990" y="9626"/>
                  <a:pt x="29977" y="9628"/>
                </a:cubicBezTo>
                <a:cubicBezTo>
                  <a:pt x="29964" y="9631"/>
                  <a:pt x="29951" y="9632"/>
                  <a:pt x="29938" y="9632"/>
                </a:cubicBezTo>
                <a:lnTo>
                  <a:pt x="198" y="9632"/>
                </a:lnTo>
                <a:cubicBezTo>
                  <a:pt x="185" y="9632"/>
                  <a:pt x="172" y="9631"/>
                  <a:pt x="160" y="9628"/>
                </a:cubicBezTo>
                <a:cubicBezTo>
                  <a:pt x="147" y="9626"/>
                  <a:pt x="134" y="9622"/>
                  <a:pt x="122" y="9617"/>
                </a:cubicBezTo>
                <a:cubicBezTo>
                  <a:pt x="110" y="9612"/>
                  <a:pt x="99" y="9606"/>
                  <a:pt x="88" y="9599"/>
                </a:cubicBezTo>
                <a:cubicBezTo>
                  <a:pt x="77" y="9592"/>
                  <a:pt x="67" y="9583"/>
                  <a:pt x="58" y="9574"/>
                </a:cubicBezTo>
                <a:cubicBezTo>
                  <a:pt x="49" y="9565"/>
                  <a:pt x="40" y="9555"/>
                  <a:pt x="33" y="9544"/>
                </a:cubicBezTo>
                <a:cubicBezTo>
                  <a:pt x="26" y="9533"/>
                  <a:pt x="20" y="9522"/>
                  <a:pt x="15" y="9510"/>
                </a:cubicBezTo>
                <a:cubicBezTo>
                  <a:pt x="10" y="9498"/>
                  <a:pt x="6" y="9485"/>
                  <a:pt x="4" y="9472"/>
                </a:cubicBezTo>
                <a:cubicBezTo>
                  <a:pt x="1" y="9460"/>
                  <a:pt x="0" y="9447"/>
                  <a:pt x="0" y="9434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CuadroTexto 279"/>
          <p:cNvSpPr txBox="1"/>
          <p:nvPr/>
        </p:nvSpPr>
        <p:spPr>
          <a:xfrm>
            <a:off x="666720" y="929880"/>
            <a:ext cx="527940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Fixtures: datos de prueba reutilizables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CuadroTexto 280"/>
          <p:cNvSpPr txBox="1"/>
          <p:nvPr/>
        </p:nvSpPr>
        <p:spPr>
          <a:xfrm>
            <a:off x="866880" y="1756080"/>
            <a:ext cx="16383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@pytest.fixture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CuadroTexto 281"/>
          <p:cNvSpPr txBox="1"/>
          <p:nvPr/>
        </p:nvSpPr>
        <p:spPr>
          <a:xfrm>
            <a:off x="866880" y="2022840"/>
            <a:ext cx="40406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def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D9B3FF"/>
                </a:solidFill>
                <a:effectLst/>
                <a:uFillTx/>
                <a:latin typeface="Menlo"/>
                <a:ea typeface="Menlo"/>
              </a:rPr>
              <a:t>cohorte_minima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() -&gt; pd.DataFrame: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CuadroTexto 282"/>
          <p:cNvSpPr txBox="1"/>
          <p:nvPr/>
        </p:nvSpPr>
        <p:spPr>
          <a:xfrm>
            <a:off x="866880" y="2279880"/>
            <a:ext cx="72068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"""3 pacientes: uno normal, uno menor de edad, uno con NaN."""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CuadroTexto 283"/>
          <p:cNvSpPr txBox="1"/>
          <p:nvPr/>
        </p:nvSpPr>
        <p:spPr>
          <a:xfrm>
            <a:off x="866880" y="2546640"/>
            <a:ext cx="27302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return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pd.DataFrame({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CuadroTexto 284"/>
          <p:cNvSpPr txBox="1"/>
          <p:nvPr/>
        </p:nvSpPr>
        <p:spPr>
          <a:xfrm>
            <a:off x="866880" y="2803680"/>
            <a:ext cx="33854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"person_id"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: [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1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2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3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],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CuadroTexto 285"/>
          <p:cNvSpPr txBox="1"/>
          <p:nvPr/>
        </p:nvSpPr>
        <p:spPr>
          <a:xfrm>
            <a:off x="866880" y="3070440"/>
            <a:ext cx="37137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"edad"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:      [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45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15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60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],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CuadroTexto 286"/>
          <p:cNvSpPr txBox="1"/>
          <p:nvPr/>
        </p:nvSpPr>
        <p:spPr>
          <a:xfrm>
            <a:off x="866880" y="3327840"/>
            <a:ext cx="42595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"creatinina"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: [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1.1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0.8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None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],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CuadroTexto 287"/>
          <p:cNvSpPr txBox="1"/>
          <p:nvPr/>
        </p:nvSpPr>
        <p:spPr>
          <a:xfrm>
            <a:off x="866880" y="3594600"/>
            <a:ext cx="6559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})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CuadroTexto 288"/>
          <p:cNvSpPr txBox="1"/>
          <p:nvPr/>
        </p:nvSpPr>
        <p:spPr>
          <a:xfrm>
            <a:off x="866880" y="4118400"/>
            <a:ext cx="44773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def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D9B3FF"/>
                </a:solidFill>
                <a:effectLst/>
                <a:uFillTx/>
                <a:latin typeface="Menlo"/>
                <a:ea typeface="Menlo"/>
              </a:rPr>
              <a:t>test_excluye_menores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(cohorte_minima):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CuadroTexto 289"/>
          <p:cNvSpPr txBox="1"/>
          <p:nvPr/>
        </p:nvSpPr>
        <p:spPr>
          <a:xfrm>
            <a:off x="866880" y="4375440"/>
            <a:ext cx="51325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resultado = filtrar_adultos(cohorte_minima)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Forma libre 290"/>
          <p:cNvSpPr/>
          <p:nvPr/>
        </p:nvSpPr>
        <p:spPr>
          <a:xfrm>
            <a:off x="914040" y="535284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9" y="66"/>
                </a:cubicBezTo>
                <a:cubicBezTo>
                  <a:pt x="14" y="53"/>
                  <a:pt x="22" y="42"/>
                  <a:pt x="31" y="32"/>
                </a:cubicBezTo>
                <a:cubicBezTo>
                  <a:pt x="41" y="22"/>
                  <a:pt x="53" y="15"/>
                  <a:pt x="66" y="9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9"/>
                </a:cubicBezTo>
                <a:cubicBezTo>
                  <a:pt x="161" y="15"/>
                  <a:pt x="172" y="22"/>
                  <a:pt x="182" y="32"/>
                </a:cubicBezTo>
                <a:cubicBezTo>
                  <a:pt x="192" y="42"/>
                  <a:pt x="200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CuadroTexto 291"/>
          <p:cNvSpPr txBox="1"/>
          <p:nvPr/>
        </p:nvSpPr>
        <p:spPr>
          <a:xfrm>
            <a:off x="866880" y="4642200"/>
            <a:ext cx="49140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assert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set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(resultado.person_id) == {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1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3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}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Forma libre 292"/>
          <p:cNvSpPr/>
          <p:nvPr/>
        </p:nvSpPr>
        <p:spPr>
          <a:xfrm>
            <a:off x="914040" y="575280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CuadroTexto 293"/>
          <p:cNvSpPr txBox="1"/>
          <p:nvPr/>
        </p:nvSpPr>
        <p:spPr>
          <a:xfrm>
            <a:off x="1123920" y="5240160"/>
            <a:ext cx="64908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La ﬁxture se pide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por nombre de parámetro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— pytest la inyecta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Forma libre 294"/>
          <p:cNvSpPr/>
          <p:nvPr/>
        </p:nvSpPr>
        <p:spPr>
          <a:xfrm>
            <a:off x="1447560" y="5657760"/>
            <a:ext cx="1400760" cy="267120"/>
          </a:xfrm>
          <a:custGeom>
            <a:avLst/>
            <a:gdLst/>
            <a:ahLst/>
            <a:cxnLst/>
            <a:rect l="0" t="0" r="r" b="b"/>
            <a:pathLst>
              <a:path w="3891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3785" y="0"/>
                </a:lnTo>
                <a:cubicBezTo>
                  <a:pt x="3799" y="0"/>
                  <a:pt x="3812" y="2"/>
                  <a:pt x="3825" y="8"/>
                </a:cubicBezTo>
                <a:cubicBezTo>
                  <a:pt x="3838" y="13"/>
                  <a:pt x="3850" y="21"/>
                  <a:pt x="3860" y="31"/>
                </a:cubicBezTo>
                <a:cubicBezTo>
                  <a:pt x="3869" y="41"/>
                  <a:pt x="3877" y="52"/>
                  <a:pt x="3882" y="65"/>
                </a:cubicBezTo>
                <a:cubicBezTo>
                  <a:pt x="3888" y="78"/>
                  <a:pt x="3891" y="92"/>
                  <a:pt x="3891" y="106"/>
                </a:cubicBezTo>
                <a:lnTo>
                  <a:pt x="3891" y="636"/>
                </a:lnTo>
                <a:cubicBezTo>
                  <a:pt x="3891" y="650"/>
                  <a:pt x="3888" y="663"/>
                  <a:pt x="3882" y="676"/>
                </a:cubicBezTo>
                <a:cubicBezTo>
                  <a:pt x="3877" y="689"/>
                  <a:pt x="3869" y="701"/>
                  <a:pt x="3860" y="711"/>
                </a:cubicBezTo>
                <a:cubicBezTo>
                  <a:pt x="3850" y="721"/>
                  <a:pt x="3838" y="728"/>
                  <a:pt x="3825" y="734"/>
                </a:cubicBezTo>
                <a:cubicBezTo>
                  <a:pt x="3812" y="739"/>
                  <a:pt x="3799" y="742"/>
                  <a:pt x="3785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4"/>
                </a:cubicBezTo>
                <a:cubicBezTo>
                  <a:pt x="53" y="728"/>
                  <a:pt x="41" y="721"/>
                  <a:pt x="31" y="711"/>
                </a:cubicBezTo>
                <a:cubicBezTo>
                  <a:pt x="21" y="701"/>
                  <a:pt x="14" y="689"/>
                  <a:pt x="8" y="676"/>
                </a:cubicBezTo>
                <a:cubicBezTo>
                  <a:pt x="3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CuadroTexto 295"/>
          <p:cNvSpPr txBox="1"/>
          <p:nvPr/>
        </p:nvSpPr>
        <p:spPr>
          <a:xfrm>
            <a:off x="1123920" y="5640120"/>
            <a:ext cx="3225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En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CuadroTexto 296"/>
          <p:cNvSpPr txBox="1"/>
          <p:nvPr/>
        </p:nvSpPr>
        <p:spPr>
          <a:xfrm>
            <a:off x="1503000" y="5677560"/>
            <a:ext cx="12927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conftest.py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CuadroTexto 297"/>
          <p:cNvSpPr txBox="1"/>
          <p:nvPr/>
        </p:nvSpPr>
        <p:spPr>
          <a:xfrm>
            <a:off x="2847240" y="5640120"/>
            <a:ext cx="50983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queda disponible para todos los tests del directorio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CuadroTexto 298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05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CuadroTexto 299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CuadroTexto 300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17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Forma libre 30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Forma libre 30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Forma libre 30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Forma libre 304"/>
          <p:cNvSpPr/>
          <p:nvPr/>
        </p:nvSpPr>
        <p:spPr>
          <a:xfrm>
            <a:off x="671400" y="2033280"/>
            <a:ext cx="10849320" cy="2943720"/>
          </a:xfrm>
          <a:custGeom>
            <a:avLst/>
            <a:gdLst/>
            <a:ahLst/>
            <a:cxnLst/>
            <a:rect l="0" t="0" r="r" b="b"/>
            <a:pathLst>
              <a:path w="30137" h="8177">
                <a:moveTo>
                  <a:pt x="0" y="7979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7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7979"/>
                </a:lnTo>
                <a:cubicBezTo>
                  <a:pt x="30137" y="7992"/>
                  <a:pt x="30136" y="8004"/>
                  <a:pt x="30133" y="8017"/>
                </a:cubicBezTo>
                <a:cubicBezTo>
                  <a:pt x="30130" y="8030"/>
                  <a:pt x="30127" y="8042"/>
                  <a:pt x="30122" y="8054"/>
                </a:cubicBezTo>
                <a:cubicBezTo>
                  <a:pt x="30117" y="8067"/>
                  <a:pt x="30111" y="8078"/>
                  <a:pt x="30103" y="8089"/>
                </a:cubicBezTo>
                <a:cubicBezTo>
                  <a:pt x="30096" y="8100"/>
                  <a:pt x="30088" y="8110"/>
                  <a:pt x="30079" y="8119"/>
                </a:cubicBezTo>
                <a:cubicBezTo>
                  <a:pt x="30070" y="8128"/>
                  <a:pt x="30059" y="8136"/>
                  <a:pt x="30049" y="8144"/>
                </a:cubicBezTo>
                <a:cubicBezTo>
                  <a:pt x="30038" y="8151"/>
                  <a:pt x="30026" y="8157"/>
                  <a:pt x="30014" y="8162"/>
                </a:cubicBezTo>
                <a:cubicBezTo>
                  <a:pt x="30002" y="8167"/>
                  <a:pt x="29990" y="8171"/>
                  <a:pt x="29977" y="8173"/>
                </a:cubicBezTo>
                <a:cubicBezTo>
                  <a:pt x="29964" y="8176"/>
                  <a:pt x="29951" y="8177"/>
                  <a:pt x="29938" y="8177"/>
                </a:cubicBezTo>
                <a:lnTo>
                  <a:pt x="198" y="8177"/>
                </a:lnTo>
                <a:cubicBezTo>
                  <a:pt x="185" y="8177"/>
                  <a:pt x="172" y="8176"/>
                  <a:pt x="160" y="8173"/>
                </a:cubicBezTo>
                <a:cubicBezTo>
                  <a:pt x="147" y="8171"/>
                  <a:pt x="134" y="8167"/>
                  <a:pt x="122" y="8162"/>
                </a:cubicBezTo>
                <a:cubicBezTo>
                  <a:pt x="110" y="8157"/>
                  <a:pt x="99" y="8151"/>
                  <a:pt x="88" y="8144"/>
                </a:cubicBezTo>
                <a:cubicBezTo>
                  <a:pt x="77" y="8136"/>
                  <a:pt x="67" y="8128"/>
                  <a:pt x="58" y="8119"/>
                </a:cubicBezTo>
                <a:cubicBezTo>
                  <a:pt x="49" y="8110"/>
                  <a:pt x="40" y="8100"/>
                  <a:pt x="33" y="8089"/>
                </a:cubicBezTo>
                <a:cubicBezTo>
                  <a:pt x="26" y="8078"/>
                  <a:pt x="20" y="8067"/>
                  <a:pt x="15" y="8054"/>
                </a:cubicBezTo>
                <a:cubicBezTo>
                  <a:pt x="10" y="8042"/>
                  <a:pt x="6" y="8030"/>
                  <a:pt x="4" y="8017"/>
                </a:cubicBezTo>
                <a:cubicBezTo>
                  <a:pt x="1" y="8004"/>
                  <a:pt x="0" y="7992"/>
                  <a:pt x="0" y="7979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Forma libre 305"/>
          <p:cNvSpPr/>
          <p:nvPr/>
        </p:nvSpPr>
        <p:spPr>
          <a:xfrm>
            <a:off x="671400" y="2033280"/>
            <a:ext cx="10849320" cy="2943720"/>
          </a:xfrm>
          <a:custGeom>
            <a:avLst/>
            <a:gdLst/>
            <a:ahLst/>
            <a:cxnLst/>
            <a:rect l="0" t="0" r="r" b="b"/>
            <a:pathLst>
              <a:path w="30137" h="8177">
                <a:moveTo>
                  <a:pt x="0" y="7979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7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7979"/>
                </a:lnTo>
                <a:cubicBezTo>
                  <a:pt x="30137" y="7992"/>
                  <a:pt x="30136" y="8004"/>
                  <a:pt x="30133" y="8017"/>
                </a:cubicBezTo>
                <a:cubicBezTo>
                  <a:pt x="30130" y="8030"/>
                  <a:pt x="30127" y="8042"/>
                  <a:pt x="30122" y="8054"/>
                </a:cubicBezTo>
                <a:cubicBezTo>
                  <a:pt x="30117" y="8067"/>
                  <a:pt x="30111" y="8078"/>
                  <a:pt x="30103" y="8089"/>
                </a:cubicBezTo>
                <a:cubicBezTo>
                  <a:pt x="30096" y="8100"/>
                  <a:pt x="30088" y="8110"/>
                  <a:pt x="30079" y="8119"/>
                </a:cubicBezTo>
                <a:cubicBezTo>
                  <a:pt x="30070" y="8128"/>
                  <a:pt x="30059" y="8136"/>
                  <a:pt x="30049" y="8144"/>
                </a:cubicBezTo>
                <a:cubicBezTo>
                  <a:pt x="30038" y="8151"/>
                  <a:pt x="30026" y="8157"/>
                  <a:pt x="30014" y="8162"/>
                </a:cubicBezTo>
                <a:cubicBezTo>
                  <a:pt x="30002" y="8167"/>
                  <a:pt x="29990" y="8171"/>
                  <a:pt x="29977" y="8173"/>
                </a:cubicBezTo>
                <a:cubicBezTo>
                  <a:pt x="29964" y="8176"/>
                  <a:pt x="29951" y="8177"/>
                  <a:pt x="29938" y="8177"/>
                </a:cubicBezTo>
                <a:lnTo>
                  <a:pt x="198" y="8177"/>
                </a:lnTo>
                <a:cubicBezTo>
                  <a:pt x="185" y="8177"/>
                  <a:pt x="172" y="8176"/>
                  <a:pt x="160" y="8173"/>
                </a:cubicBezTo>
                <a:cubicBezTo>
                  <a:pt x="147" y="8171"/>
                  <a:pt x="134" y="8167"/>
                  <a:pt x="122" y="8162"/>
                </a:cubicBezTo>
                <a:cubicBezTo>
                  <a:pt x="110" y="8157"/>
                  <a:pt x="99" y="8151"/>
                  <a:pt x="88" y="8144"/>
                </a:cubicBezTo>
                <a:cubicBezTo>
                  <a:pt x="77" y="8136"/>
                  <a:pt x="67" y="8128"/>
                  <a:pt x="58" y="8119"/>
                </a:cubicBezTo>
                <a:cubicBezTo>
                  <a:pt x="49" y="8110"/>
                  <a:pt x="40" y="8100"/>
                  <a:pt x="33" y="8089"/>
                </a:cubicBezTo>
                <a:cubicBezTo>
                  <a:pt x="26" y="8078"/>
                  <a:pt x="20" y="8067"/>
                  <a:pt x="15" y="8054"/>
                </a:cubicBezTo>
                <a:cubicBezTo>
                  <a:pt x="10" y="8042"/>
                  <a:pt x="6" y="8030"/>
                  <a:pt x="4" y="8017"/>
                </a:cubicBezTo>
                <a:cubicBezTo>
                  <a:pt x="1" y="8004"/>
                  <a:pt x="0" y="7992"/>
                  <a:pt x="0" y="7979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CuadroTexto 306"/>
          <p:cNvSpPr txBox="1"/>
          <p:nvPr/>
        </p:nvSpPr>
        <p:spPr>
          <a:xfrm>
            <a:off x="666720" y="1396800"/>
            <a:ext cx="476352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Parametrización: 8 casos, 3 líneas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CuadroTexto 307"/>
          <p:cNvSpPr txBox="1"/>
          <p:nvPr/>
        </p:nvSpPr>
        <p:spPr>
          <a:xfrm>
            <a:off x="866880" y="2213280"/>
            <a:ext cx="62244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@pytest.mark.parametrize(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"creat, edad, sexo, esperado"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[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CuadroTexto 308"/>
          <p:cNvSpPr txBox="1"/>
          <p:nvPr/>
        </p:nvSpPr>
        <p:spPr>
          <a:xfrm>
            <a:off x="866880" y="2480040"/>
            <a:ext cx="28400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(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1.1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60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"F"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55.2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),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CuadroTexto 309"/>
          <p:cNvSpPr txBox="1"/>
          <p:nvPr/>
        </p:nvSpPr>
        <p:spPr>
          <a:xfrm>
            <a:off x="866880" y="2737080"/>
            <a:ext cx="28400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(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1.1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60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"M"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74.6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),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CuadroTexto 310"/>
          <p:cNvSpPr txBox="1"/>
          <p:nvPr/>
        </p:nvSpPr>
        <p:spPr>
          <a:xfrm>
            <a:off x="866880" y="3003840"/>
            <a:ext cx="29491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(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0.7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30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"F"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107.9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),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CuadroTexto 311"/>
          <p:cNvSpPr txBox="1"/>
          <p:nvPr/>
        </p:nvSpPr>
        <p:spPr>
          <a:xfrm>
            <a:off x="866880" y="3260880"/>
            <a:ext cx="28400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(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2.5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75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"M"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26.3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),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CuadroTexto 312"/>
          <p:cNvSpPr txBox="1"/>
          <p:nvPr/>
        </p:nvSpPr>
        <p:spPr>
          <a:xfrm>
            <a:off x="866880" y="3527640"/>
            <a:ext cx="46958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(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4.0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50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"F"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12.9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),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ERC avanzada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CuadroTexto 313"/>
          <p:cNvSpPr txBox="1"/>
          <p:nvPr/>
        </p:nvSpPr>
        <p:spPr>
          <a:xfrm>
            <a:off x="866880" y="3785040"/>
            <a:ext cx="54601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(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0.4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25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"F"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148.6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),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creatinina muy baja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CuadroTexto 314"/>
          <p:cNvSpPr txBox="1"/>
          <p:nvPr/>
        </p:nvSpPr>
        <p:spPr>
          <a:xfrm>
            <a:off x="866880" y="4051800"/>
            <a:ext cx="2188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]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CuadroTexto 315"/>
          <p:cNvSpPr txBox="1"/>
          <p:nvPr/>
        </p:nvSpPr>
        <p:spPr>
          <a:xfrm>
            <a:off x="866880" y="4308840"/>
            <a:ext cx="68796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def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D9B3FF"/>
                </a:solidFill>
                <a:effectLst/>
                <a:uFillTx/>
                <a:latin typeface="Menlo"/>
                <a:ea typeface="Menlo"/>
              </a:rPr>
              <a:t>test_egfr_casos_de_referencia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(creat, edad, sexo, esperado):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CuadroTexto 316"/>
          <p:cNvSpPr txBox="1"/>
          <p:nvPr/>
        </p:nvSpPr>
        <p:spPr>
          <a:xfrm>
            <a:off x="866880" y="4575600"/>
            <a:ext cx="86263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assert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calcular_egfr(creat, edad, sexo) == pytest.approx(esperado,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abs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=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0.5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CuadroTexto 317"/>
          <p:cNvSpPr txBox="1"/>
          <p:nvPr/>
        </p:nvSpPr>
        <p:spPr>
          <a:xfrm>
            <a:off x="666720" y="5173560"/>
            <a:ext cx="93758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Cada ﬁla corre como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un test independiente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 si falla la cuarta, lo dice con sus valores exactos.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CuadroTexto 318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05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CuadroTexto 319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CuadroTexto 320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18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Forma libre 32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Forma libre 32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Forma libre 323"/>
          <p:cNvSpPr/>
          <p:nvPr/>
        </p:nvSpPr>
        <p:spPr>
          <a:xfrm>
            <a:off x="-59474" y="21420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CuadroTexto 324"/>
          <p:cNvSpPr txBox="1"/>
          <p:nvPr/>
        </p:nvSpPr>
        <p:spPr>
          <a:xfrm>
            <a:off x="2272680" y="3063960"/>
            <a:ext cx="9010352" cy="129266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 dirty="0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6. Qué probar en código que procesa</a:t>
            </a:r>
          </a:p>
          <a:p>
            <a:r>
              <a:rPr lang="es-ES" sz="4200" dirty="0">
                <a:solidFill>
                  <a:srgbClr val="FFFFFF"/>
                </a:solidFill>
                <a:latin typeface="HelveticaNeue"/>
                <a:ea typeface="HelveticaNeue"/>
              </a:rPr>
              <a:t>			</a:t>
            </a:r>
            <a:r>
              <a:rPr lang="es-ES" sz="4200" b="0" u="none" strike="noStrike" dirty="0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 	datos</a:t>
            </a:r>
            <a:endParaRPr lang="es-ES" sz="42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CuadroTexto 325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05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CuadroTexto 326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CuadroTexto 327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19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Forma libre 32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Forma libre 32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Forma libre 33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Forma libre 331"/>
          <p:cNvSpPr/>
          <p:nvPr/>
        </p:nvSpPr>
        <p:spPr>
          <a:xfrm>
            <a:off x="666720" y="4790880"/>
            <a:ext cx="10858680" cy="914760"/>
          </a:xfrm>
          <a:custGeom>
            <a:avLst/>
            <a:gdLst/>
            <a:ahLst/>
            <a:cxnLst/>
            <a:rect l="0" t="0" r="r" b="b"/>
            <a:pathLst>
              <a:path w="30163" h="2541">
                <a:moveTo>
                  <a:pt x="0" y="0"/>
                </a:moveTo>
                <a:lnTo>
                  <a:pt x="30163" y="0"/>
                </a:lnTo>
                <a:lnTo>
                  <a:pt x="3016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Forma libre 332"/>
          <p:cNvSpPr/>
          <p:nvPr/>
        </p:nvSpPr>
        <p:spPr>
          <a:xfrm>
            <a:off x="666720" y="4790880"/>
            <a:ext cx="47880" cy="914760"/>
          </a:xfrm>
          <a:custGeom>
            <a:avLst/>
            <a:gdLst/>
            <a:ahLst/>
            <a:cxnLst/>
            <a:rect l="0" t="0" r="r" b="b"/>
            <a:pathLst>
              <a:path w="133" h="2541">
                <a:moveTo>
                  <a:pt x="0" y="0"/>
                </a:moveTo>
                <a:lnTo>
                  <a:pt x="133" y="0"/>
                </a:lnTo>
                <a:lnTo>
                  <a:pt x="13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CuadroTexto 333"/>
          <p:cNvSpPr txBox="1"/>
          <p:nvPr/>
        </p:nvSpPr>
        <p:spPr>
          <a:xfrm>
            <a:off x="666720" y="1168200"/>
            <a:ext cx="335520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Los casos límite clínicos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Forma libre 334"/>
          <p:cNvSpPr/>
          <p:nvPr/>
        </p:nvSpPr>
        <p:spPr>
          <a:xfrm>
            <a:off x="914040" y="244764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9" y="67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CuadroTexto 335"/>
          <p:cNvSpPr txBox="1"/>
          <p:nvPr/>
        </p:nvSpPr>
        <p:spPr>
          <a:xfrm>
            <a:off x="666720" y="1839600"/>
            <a:ext cx="31388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La lista que debe doler recorrer: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Forma libre 336"/>
          <p:cNvSpPr/>
          <p:nvPr/>
        </p:nvSpPr>
        <p:spPr>
          <a:xfrm>
            <a:off x="914040" y="284796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2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9"/>
                </a:cubicBezTo>
                <a:cubicBezTo>
                  <a:pt x="161" y="14"/>
                  <a:pt x="172" y="22"/>
                  <a:pt x="182" y="32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CuadroTexto 337"/>
          <p:cNvSpPr txBox="1"/>
          <p:nvPr/>
        </p:nvSpPr>
        <p:spPr>
          <a:xfrm>
            <a:off x="1123920" y="2334960"/>
            <a:ext cx="68518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DataFrame vacío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— ¿tu función truena o devuelve vacío coherente?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Forma libre 338"/>
          <p:cNvSpPr/>
          <p:nvPr/>
        </p:nvSpPr>
        <p:spPr>
          <a:xfrm>
            <a:off x="914040" y="324792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200" y="160"/>
                  <a:pt x="192" y="172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2"/>
                  <a:pt x="14" y="160"/>
                  <a:pt x="9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CuadroTexto 339"/>
          <p:cNvSpPr txBox="1"/>
          <p:nvPr/>
        </p:nvSpPr>
        <p:spPr>
          <a:xfrm>
            <a:off x="1123920" y="2735280"/>
            <a:ext cx="68850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Todo NaN en una columna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— ¿la media se vuelve NaN en silencio?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Forma libre 340"/>
          <p:cNvSpPr/>
          <p:nvPr/>
        </p:nvSpPr>
        <p:spPr>
          <a:xfrm>
            <a:off x="914040" y="364788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CuadroTexto 341"/>
          <p:cNvSpPr txBox="1"/>
          <p:nvPr/>
        </p:nvSpPr>
        <p:spPr>
          <a:xfrm>
            <a:off x="1123920" y="3135240"/>
            <a:ext cx="70660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Fechas imposibles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— visita anterior al nacimiento (las viste en el lab 2)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Forma libre 342"/>
          <p:cNvSpPr/>
          <p:nvPr/>
        </p:nvSpPr>
        <p:spPr>
          <a:xfrm>
            <a:off x="3657240" y="3552480"/>
            <a:ext cx="1162440" cy="267120"/>
          </a:xfrm>
          <a:custGeom>
            <a:avLst/>
            <a:gdLst/>
            <a:ahLst/>
            <a:cxnLst/>
            <a:rect l="0" t="0" r="r" b="b"/>
            <a:pathLst>
              <a:path w="3229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2" y="0"/>
                  <a:pt x="106" y="0"/>
                </a:cubicBezTo>
                <a:lnTo>
                  <a:pt x="3124" y="0"/>
                </a:lnTo>
                <a:cubicBezTo>
                  <a:pt x="3138" y="0"/>
                  <a:pt x="3151" y="3"/>
                  <a:pt x="3164" y="9"/>
                </a:cubicBezTo>
                <a:cubicBezTo>
                  <a:pt x="3177" y="14"/>
                  <a:pt x="3188" y="22"/>
                  <a:pt x="3198" y="31"/>
                </a:cubicBezTo>
                <a:cubicBezTo>
                  <a:pt x="3208" y="41"/>
                  <a:pt x="3216" y="53"/>
                  <a:pt x="3221" y="66"/>
                </a:cubicBezTo>
                <a:cubicBezTo>
                  <a:pt x="3227" y="79"/>
                  <a:pt x="3229" y="92"/>
                  <a:pt x="3229" y="106"/>
                </a:cubicBezTo>
                <a:lnTo>
                  <a:pt x="3229" y="636"/>
                </a:lnTo>
                <a:cubicBezTo>
                  <a:pt x="3229" y="650"/>
                  <a:pt x="3227" y="664"/>
                  <a:pt x="3221" y="677"/>
                </a:cubicBezTo>
                <a:cubicBezTo>
                  <a:pt x="3216" y="690"/>
                  <a:pt x="3208" y="701"/>
                  <a:pt x="3198" y="711"/>
                </a:cubicBezTo>
                <a:cubicBezTo>
                  <a:pt x="3188" y="721"/>
                  <a:pt x="3177" y="729"/>
                  <a:pt x="3164" y="734"/>
                </a:cubicBezTo>
                <a:cubicBezTo>
                  <a:pt x="3151" y="740"/>
                  <a:pt x="3138" y="742"/>
                  <a:pt x="3124" y="742"/>
                </a:cubicBezTo>
                <a:lnTo>
                  <a:pt x="106" y="742"/>
                </a:lnTo>
                <a:cubicBezTo>
                  <a:pt x="92" y="742"/>
                  <a:pt x="79" y="740"/>
                  <a:pt x="66" y="734"/>
                </a:cubicBezTo>
                <a:cubicBezTo>
                  <a:pt x="53" y="729"/>
                  <a:pt x="41" y="721"/>
                  <a:pt x="31" y="711"/>
                </a:cubicBezTo>
                <a:cubicBezTo>
                  <a:pt x="22" y="701"/>
                  <a:pt x="14" y="690"/>
                  <a:pt x="9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CuadroTexto 343"/>
          <p:cNvSpPr txBox="1"/>
          <p:nvPr/>
        </p:nvSpPr>
        <p:spPr>
          <a:xfrm>
            <a:off x="1123920" y="3535200"/>
            <a:ext cx="25318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Duplicados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— el mismo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CuadroTexto 344"/>
          <p:cNvSpPr txBox="1"/>
          <p:nvPr/>
        </p:nvSpPr>
        <p:spPr>
          <a:xfrm>
            <a:off x="3712320" y="3572640"/>
            <a:ext cx="10576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person_id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Forma libre 345"/>
          <p:cNvSpPr/>
          <p:nvPr/>
        </p:nvSpPr>
        <p:spPr>
          <a:xfrm>
            <a:off x="914040" y="404784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9" y="67"/>
                </a:cubicBezTo>
                <a:cubicBezTo>
                  <a:pt x="14" y="54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4"/>
                  <a:pt x="205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CuadroTexto 346"/>
          <p:cNvSpPr txBox="1"/>
          <p:nvPr/>
        </p:nvSpPr>
        <p:spPr>
          <a:xfrm>
            <a:off x="4822560" y="3535200"/>
            <a:ext cx="30110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dos veces, ¿tu join multiplica?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Forma libre 347"/>
          <p:cNvSpPr/>
          <p:nvPr/>
        </p:nvSpPr>
        <p:spPr>
          <a:xfrm>
            <a:off x="914040" y="444816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5"/>
                </a:moveTo>
                <a:cubicBezTo>
                  <a:pt x="213" y="119"/>
                  <a:pt x="210" y="133"/>
                  <a:pt x="205" y="146"/>
                </a:cubicBezTo>
                <a:cubicBezTo>
                  <a:pt x="200" y="159"/>
                  <a:pt x="192" y="170"/>
                  <a:pt x="182" y="180"/>
                </a:cubicBezTo>
                <a:cubicBezTo>
                  <a:pt x="172" y="190"/>
                  <a:pt x="161" y="198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8"/>
                  <a:pt x="41" y="190"/>
                  <a:pt x="31" y="180"/>
                </a:cubicBezTo>
                <a:cubicBezTo>
                  <a:pt x="22" y="170"/>
                  <a:pt x="14" y="159"/>
                  <a:pt x="9" y="146"/>
                </a:cubicBezTo>
                <a:cubicBezTo>
                  <a:pt x="3" y="133"/>
                  <a:pt x="0" y="119"/>
                  <a:pt x="0" y="105"/>
                </a:cubicBezTo>
                <a:cubicBezTo>
                  <a:pt x="0" y="91"/>
                  <a:pt x="3" y="78"/>
                  <a:pt x="9" y="65"/>
                </a:cubicBezTo>
                <a:cubicBezTo>
                  <a:pt x="14" y="52"/>
                  <a:pt x="22" y="40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0"/>
                  <a:pt x="200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CuadroTexto 348"/>
          <p:cNvSpPr txBox="1"/>
          <p:nvPr/>
        </p:nvSpPr>
        <p:spPr>
          <a:xfrm>
            <a:off x="1123920" y="3935160"/>
            <a:ext cx="41756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Valores centinela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— edad 180, HbA1c 0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CuadroTexto 349"/>
          <p:cNvSpPr txBox="1"/>
          <p:nvPr/>
        </p:nvSpPr>
        <p:spPr>
          <a:xfrm>
            <a:off x="1123920" y="4335480"/>
            <a:ext cx="47415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Unidades mezcladas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— mg/dL junto a µmol/L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CuadroTexto 350"/>
          <p:cNvSpPr txBox="1"/>
          <p:nvPr/>
        </p:nvSpPr>
        <p:spPr>
          <a:xfrm>
            <a:off x="905040" y="4944960"/>
            <a:ext cx="102528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Cada bug que encuentres en el análisis exploratorio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se convierte en un test</a:t>
            </a:r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antes de arreglarlo. Así no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CuadroTexto 351"/>
          <p:cNvSpPr txBox="1"/>
          <p:nvPr/>
        </p:nvSpPr>
        <p:spPr>
          <a:xfrm>
            <a:off x="905040" y="5287680"/>
            <a:ext cx="8013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regresa.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CuadroTexto 352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05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CuadroTexto 353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CuadroTexto 354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20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Forma libre 35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Forma libre 35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Forma libre 35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Forma libre 358"/>
          <p:cNvSpPr/>
          <p:nvPr/>
        </p:nvSpPr>
        <p:spPr>
          <a:xfrm>
            <a:off x="671400" y="2176200"/>
            <a:ext cx="10849320" cy="1371960"/>
          </a:xfrm>
          <a:custGeom>
            <a:avLst/>
            <a:gdLst/>
            <a:ahLst/>
            <a:cxnLst/>
            <a:rect l="0" t="0" r="r" b="b"/>
            <a:pathLst>
              <a:path w="30137" h="3811">
                <a:moveTo>
                  <a:pt x="0" y="3613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3613"/>
                </a:lnTo>
                <a:cubicBezTo>
                  <a:pt x="30137" y="3626"/>
                  <a:pt x="30136" y="3639"/>
                  <a:pt x="30133" y="3652"/>
                </a:cubicBezTo>
                <a:cubicBezTo>
                  <a:pt x="30130" y="3664"/>
                  <a:pt x="30127" y="3677"/>
                  <a:pt x="30122" y="3689"/>
                </a:cubicBezTo>
                <a:cubicBezTo>
                  <a:pt x="30117" y="3701"/>
                  <a:pt x="30111" y="3712"/>
                  <a:pt x="30103" y="3723"/>
                </a:cubicBezTo>
                <a:cubicBezTo>
                  <a:pt x="30096" y="3734"/>
                  <a:pt x="30088" y="3744"/>
                  <a:pt x="30079" y="3753"/>
                </a:cubicBezTo>
                <a:cubicBezTo>
                  <a:pt x="30070" y="3762"/>
                  <a:pt x="30059" y="3771"/>
                  <a:pt x="30049" y="3778"/>
                </a:cubicBezTo>
                <a:cubicBezTo>
                  <a:pt x="30038" y="3785"/>
                  <a:pt x="30026" y="3791"/>
                  <a:pt x="30014" y="3796"/>
                </a:cubicBezTo>
                <a:cubicBezTo>
                  <a:pt x="30002" y="3801"/>
                  <a:pt x="29990" y="3805"/>
                  <a:pt x="29977" y="3807"/>
                </a:cubicBezTo>
                <a:cubicBezTo>
                  <a:pt x="29964" y="3810"/>
                  <a:pt x="29951" y="3811"/>
                  <a:pt x="29938" y="3811"/>
                </a:cubicBezTo>
                <a:lnTo>
                  <a:pt x="198" y="3811"/>
                </a:lnTo>
                <a:cubicBezTo>
                  <a:pt x="185" y="3811"/>
                  <a:pt x="172" y="3810"/>
                  <a:pt x="160" y="3807"/>
                </a:cubicBezTo>
                <a:cubicBezTo>
                  <a:pt x="147" y="3805"/>
                  <a:pt x="134" y="3801"/>
                  <a:pt x="122" y="3796"/>
                </a:cubicBezTo>
                <a:cubicBezTo>
                  <a:pt x="110" y="3791"/>
                  <a:pt x="99" y="3785"/>
                  <a:pt x="88" y="3778"/>
                </a:cubicBezTo>
                <a:cubicBezTo>
                  <a:pt x="77" y="3771"/>
                  <a:pt x="67" y="3762"/>
                  <a:pt x="58" y="3753"/>
                </a:cubicBezTo>
                <a:cubicBezTo>
                  <a:pt x="49" y="3744"/>
                  <a:pt x="40" y="3734"/>
                  <a:pt x="33" y="3723"/>
                </a:cubicBezTo>
                <a:cubicBezTo>
                  <a:pt x="26" y="3712"/>
                  <a:pt x="20" y="3701"/>
                  <a:pt x="15" y="3689"/>
                </a:cubicBezTo>
                <a:cubicBezTo>
                  <a:pt x="10" y="3677"/>
                  <a:pt x="6" y="3664"/>
                  <a:pt x="4" y="3652"/>
                </a:cubicBezTo>
                <a:cubicBezTo>
                  <a:pt x="1" y="3639"/>
                  <a:pt x="0" y="3626"/>
                  <a:pt x="0" y="3613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Forma libre 359"/>
          <p:cNvSpPr/>
          <p:nvPr/>
        </p:nvSpPr>
        <p:spPr>
          <a:xfrm>
            <a:off x="671400" y="2176200"/>
            <a:ext cx="10849320" cy="1371960"/>
          </a:xfrm>
          <a:custGeom>
            <a:avLst/>
            <a:gdLst/>
            <a:ahLst/>
            <a:cxnLst/>
            <a:rect l="0" t="0" r="r" b="b"/>
            <a:pathLst>
              <a:path w="30137" h="3811">
                <a:moveTo>
                  <a:pt x="0" y="3613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3613"/>
                </a:lnTo>
                <a:cubicBezTo>
                  <a:pt x="30137" y="3626"/>
                  <a:pt x="30136" y="3639"/>
                  <a:pt x="30133" y="3652"/>
                </a:cubicBezTo>
                <a:cubicBezTo>
                  <a:pt x="30130" y="3664"/>
                  <a:pt x="30127" y="3677"/>
                  <a:pt x="30122" y="3689"/>
                </a:cubicBezTo>
                <a:cubicBezTo>
                  <a:pt x="30117" y="3701"/>
                  <a:pt x="30111" y="3712"/>
                  <a:pt x="30103" y="3723"/>
                </a:cubicBezTo>
                <a:cubicBezTo>
                  <a:pt x="30096" y="3734"/>
                  <a:pt x="30088" y="3744"/>
                  <a:pt x="30079" y="3753"/>
                </a:cubicBezTo>
                <a:cubicBezTo>
                  <a:pt x="30070" y="3762"/>
                  <a:pt x="30059" y="3771"/>
                  <a:pt x="30049" y="3778"/>
                </a:cubicBezTo>
                <a:cubicBezTo>
                  <a:pt x="30038" y="3785"/>
                  <a:pt x="30026" y="3791"/>
                  <a:pt x="30014" y="3796"/>
                </a:cubicBezTo>
                <a:cubicBezTo>
                  <a:pt x="30002" y="3801"/>
                  <a:pt x="29990" y="3805"/>
                  <a:pt x="29977" y="3807"/>
                </a:cubicBezTo>
                <a:cubicBezTo>
                  <a:pt x="29964" y="3810"/>
                  <a:pt x="29951" y="3811"/>
                  <a:pt x="29938" y="3811"/>
                </a:cubicBezTo>
                <a:lnTo>
                  <a:pt x="198" y="3811"/>
                </a:lnTo>
                <a:cubicBezTo>
                  <a:pt x="185" y="3811"/>
                  <a:pt x="172" y="3810"/>
                  <a:pt x="160" y="3807"/>
                </a:cubicBezTo>
                <a:cubicBezTo>
                  <a:pt x="147" y="3805"/>
                  <a:pt x="134" y="3801"/>
                  <a:pt x="122" y="3796"/>
                </a:cubicBezTo>
                <a:cubicBezTo>
                  <a:pt x="110" y="3791"/>
                  <a:pt x="99" y="3785"/>
                  <a:pt x="88" y="3778"/>
                </a:cubicBezTo>
                <a:cubicBezTo>
                  <a:pt x="77" y="3771"/>
                  <a:pt x="67" y="3762"/>
                  <a:pt x="58" y="3753"/>
                </a:cubicBezTo>
                <a:cubicBezTo>
                  <a:pt x="49" y="3744"/>
                  <a:pt x="40" y="3734"/>
                  <a:pt x="33" y="3723"/>
                </a:cubicBezTo>
                <a:cubicBezTo>
                  <a:pt x="26" y="3712"/>
                  <a:pt x="20" y="3701"/>
                  <a:pt x="15" y="3689"/>
                </a:cubicBezTo>
                <a:cubicBezTo>
                  <a:pt x="10" y="3677"/>
                  <a:pt x="6" y="3664"/>
                  <a:pt x="4" y="3652"/>
                </a:cubicBezTo>
                <a:cubicBezTo>
                  <a:pt x="1" y="3639"/>
                  <a:pt x="0" y="3626"/>
                  <a:pt x="0" y="3613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Forma libre 360"/>
          <p:cNvSpPr/>
          <p:nvPr/>
        </p:nvSpPr>
        <p:spPr>
          <a:xfrm>
            <a:off x="671400" y="4205160"/>
            <a:ext cx="10849320" cy="1629000"/>
          </a:xfrm>
          <a:custGeom>
            <a:avLst/>
            <a:gdLst/>
            <a:ahLst/>
            <a:cxnLst/>
            <a:rect l="0" t="0" r="r" b="b"/>
            <a:pathLst>
              <a:path w="30137" h="4525">
                <a:moveTo>
                  <a:pt x="0" y="4327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60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4327"/>
                </a:lnTo>
                <a:cubicBezTo>
                  <a:pt x="30137" y="4340"/>
                  <a:pt x="30136" y="4353"/>
                  <a:pt x="30133" y="4366"/>
                </a:cubicBezTo>
                <a:cubicBezTo>
                  <a:pt x="30130" y="4378"/>
                  <a:pt x="30127" y="4391"/>
                  <a:pt x="30122" y="4403"/>
                </a:cubicBezTo>
                <a:cubicBezTo>
                  <a:pt x="30117" y="4415"/>
                  <a:pt x="30111" y="4426"/>
                  <a:pt x="30103" y="4437"/>
                </a:cubicBezTo>
                <a:cubicBezTo>
                  <a:pt x="30096" y="4448"/>
                  <a:pt x="30088" y="4458"/>
                  <a:pt x="30079" y="4467"/>
                </a:cubicBezTo>
                <a:cubicBezTo>
                  <a:pt x="30070" y="4476"/>
                  <a:pt x="30059" y="4485"/>
                  <a:pt x="30049" y="4492"/>
                </a:cubicBezTo>
                <a:cubicBezTo>
                  <a:pt x="30038" y="4499"/>
                  <a:pt x="30026" y="4505"/>
                  <a:pt x="30014" y="4510"/>
                </a:cubicBezTo>
                <a:cubicBezTo>
                  <a:pt x="30002" y="4515"/>
                  <a:pt x="29990" y="4519"/>
                  <a:pt x="29977" y="4521"/>
                </a:cubicBezTo>
                <a:cubicBezTo>
                  <a:pt x="29964" y="4524"/>
                  <a:pt x="29951" y="4525"/>
                  <a:pt x="29938" y="4525"/>
                </a:cubicBezTo>
                <a:lnTo>
                  <a:pt x="198" y="4525"/>
                </a:lnTo>
                <a:cubicBezTo>
                  <a:pt x="185" y="4525"/>
                  <a:pt x="172" y="4524"/>
                  <a:pt x="160" y="4521"/>
                </a:cubicBezTo>
                <a:cubicBezTo>
                  <a:pt x="147" y="4519"/>
                  <a:pt x="134" y="4515"/>
                  <a:pt x="122" y="4510"/>
                </a:cubicBezTo>
                <a:cubicBezTo>
                  <a:pt x="110" y="4505"/>
                  <a:pt x="99" y="4499"/>
                  <a:pt x="88" y="4492"/>
                </a:cubicBezTo>
                <a:cubicBezTo>
                  <a:pt x="77" y="4485"/>
                  <a:pt x="67" y="4476"/>
                  <a:pt x="58" y="4467"/>
                </a:cubicBezTo>
                <a:cubicBezTo>
                  <a:pt x="49" y="4458"/>
                  <a:pt x="40" y="4448"/>
                  <a:pt x="33" y="4437"/>
                </a:cubicBezTo>
                <a:cubicBezTo>
                  <a:pt x="26" y="4426"/>
                  <a:pt x="20" y="4415"/>
                  <a:pt x="15" y="4403"/>
                </a:cubicBezTo>
                <a:cubicBezTo>
                  <a:pt x="10" y="4391"/>
                  <a:pt x="6" y="4378"/>
                  <a:pt x="4" y="4366"/>
                </a:cubicBezTo>
                <a:cubicBezTo>
                  <a:pt x="1" y="4353"/>
                  <a:pt x="0" y="4340"/>
                  <a:pt x="0" y="4327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Forma libre 361"/>
          <p:cNvSpPr/>
          <p:nvPr/>
        </p:nvSpPr>
        <p:spPr>
          <a:xfrm>
            <a:off x="671400" y="4205160"/>
            <a:ext cx="10849320" cy="1629000"/>
          </a:xfrm>
          <a:custGeom>
            <a:avLst/>
            <a:gdLst/>
            <a:ahLst/>
            <a:cxnLst/>
            <a:rect l="0" t="0" r="r" b="b"/>
            <a:pathLst>
              <a:path w="30137" h="4525">
                <a:moveTo>
                  <a:pt x="0" y="4327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60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4327"/>
                </a:lnTo>
                <a:cubicBezTo>
                  <a:pt x="30137" y="4340"/>
                  <a:pt x="30136" y="4353"/>
                  <a:pt x="30133" y="4366"/>
                </a:cubicBezTo>
                <a:cubicBezTo>
                  <a:pt x="30130" y="4378"/>
                  <a:pt x="30127" y="4391"/>
                  <a:pt x="30122" y="4403"/>
                </a:cubicBezTo>
                <a:cubicBezTo>
                  <a:pt x="30117" y="4415"/>
                  <a:pt x="30111" y="4426"/>
                  <a:pt x="30103" y="4437"/>
                </a:cubicBezTo>
                <a:cubicBezTo>
                  <a:pt x="30096" y="4448"/>
                  <a:pt x="30088" y="4458"/>
                  <a:pt x="30079" y="4467"/>
                </a:cubicBezTo>
                <a:cubicBezTo>
                  <a:pt x="30070" y="4476"/>
                  <a:pt x="30059" y="4485"/>
                  <a:pt x="30049" y="4492"/>
                </a:cubicBezTo>
                <a:cubicBezTo>
                  <a:pt x="30038" y="4499"/>
                  <a:pt x="30026" y="4505"/>
                  <a:pt x="30014" y="4510"/>
                </a:cubicBezTo>
                <a:cubicBezTo>
                  <a:pt x="30002" y="4515"/>
                  <a:pt x="29990" y="4519"/>
                  <a:pt x="29977" y="4521"/>
                </a:cubicBezTo>
                <a:cubicBezTo>
                  <a:pt x="29964" y="4524"/>
                  <a:pt x="29951" y="4525"/>
                  <a:pt x="29938" y="4525"/>
                </a:cubicBezTo>
                <a:lnTo>
                  <a:pt x="198" y="4525"/>
                </a:lnTo>
                <a:cubicBezTo>
                  <a:pt x="185" y="4525"/>
                  <a:pt x="172" y="4524"/>
                  <a:pt x="160" y="4521"/>
                </a:cubicBezTo>
                <a:cubicBezTo>
                  <a:pt x="147" y="4519"/>
                  <a:pt x="134" y="4515"/>
                  <a:pt x="122" y="4510"/>
                </a:cubicBezTo>
                <a:cubicBezTo>
                  <a:pt x="110" y="4505"/>
                  <a:pt x="99" y="4499"/>
                  <a:pt x="88" y="4492"/>
                </a:cubicBezTo>
                <a:cubicBezTo>
                  <a:pt x="77" y="4485"/>
                  <a:pt x="67" y="4476"/>
                  <a:pt x="58" y="4467"/>
                </a:cubicBezTo>
                <a:cubicBezTo>
                  <a:pt x="49" y="4458"/>
                  <a:pt x="40" y="4448"/>
                  <a:pt x="33" y="4437"/>
                </a:cubicBezTo>
                <a:cubicBezTo>
                  <a:pt x="26" y="4426"/>
                  <a:pt x="20" y="4415"/>
                  <a:pt x="15" y="4403"/>
                </a:cubicBezTo>
                <a:cubicBezTo>
                  <a:pt x="10" y="4391"/>
                  <a:pt x="6" y="4378"/>
                  <a:pt x="4" y="4366"/>
                </a:cubicBezTo>
                <a:cubicBezTo>
                  <a:pt x="1" y="4353"/>
                  <a:pt x="0" y="4340"/>
                  <a:pt x="0" y="4327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CuadroTexto 362"/>
          <p:cNvSpPr txBox="1"/>
          <p:nvPr/>
        </p:nvSpPr>
        <p:spPr>
          <a:xfrm>
            <a:off x="666720" y="1034640"/>
            <a:ext cx="493632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Dos herramientas de nivel industrial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CuadroTexto 363"/>
          <p:cNvSpPr txBox="1"/>
          <p:nvPr/>
        </p:nvSpPr>
        <p:spPr>
          <a:xfrm>
            <a:off x="666720" y="1716120"/>
            <a:ext cx="10642016" cy="276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 dirty="0" err="1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Hypothesis</a:t>
            </a:r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— tú declaras la propiedad, él busca el contraejemplo (ejecuta cientos de comprobaciones):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CuadroTexto 364"/>
          <p:cNvSpPr txBox="1"/>
          <p:nvPr/>
        </p:nvSpPr>
        <p:spPr>
          <a:xfrm>
            <a:off x="866880" y="2356200"/>
            <a:ext cx="64436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 dirty="0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@</a:t>
            </a:r>
            <a:r>
              <a:rPr lang="es-ES" sz="1430" b="0" u="none" strike="noStrike" dirty="0" err="1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given</a:t>
            </a:r>
            <a:r>
              <a:rPr lang="es-ES" sz="1430" b="0" u="none" strike="noStrike" dirty="0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(</a:t>
            </a:r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creat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=</a:t>
            </a:r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st.floats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</a:t>
            </a:r>
            <a:r>
              <a:rPr lang="es-ES" sz="1430" b="0" u="none" strike="noStrike" dirty="0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0.1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 dirty="0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15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), edad=</a:t>
            </a:r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st.integers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</a:t>
            </a:r>
            <a:r>
              <a:rPr lang="es-ES" sz="1430" b="0" u="none" strike="noStrike" dirty="0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18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 dirty="0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110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),</a:t>
            </a:r>
            <a:endParaRPr lang="es-ES" sz="14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CuadroTexto 365"/>
          <p:cNvSpPr txBox="1"/>
          <p:nvPr/>
        </p:nvSpPr>
        <p:spPr>
          <a:xfrm>
            <a:off x="866880" y="2622960"/>
            <a:ext cx="43686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sexo=st.sampled_from([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"M"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"F"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])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CuadroTexto 366"/>
          <p:cNvSpPr txBox="1"/>
          <p:nvPr/>
        </p:nvSpPr>
        <p:spPr>
          <a:xfrm>
            <a:off x="866880" y="2880000"/>
            <a:ext cx="54601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def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D9B3FF"/>
                </a:solidFill>
                <a:effectLst/>
                <a:uFillTx/>
                <a:latin typeface="Menlo"/>
                <a:ea typeface="Menlo"/>
              </a:rPr>
              <a:t>test_egfr_siempre_positivo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(creat, edad, sexo):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CuadroTexto 367"/>
          <p:cNvSpPr txBox="1"/>
          <p:nvPr/>
        </p:nvSpPr>
        <p:spPr>
          <a:xfrm>
            <a:off x="866880" y="3146760"/>
            <a:ext cx="51325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lang="es-ES" sz="1430" b="0" u="none" strike="noStrike" dirty="0" err="1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assert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calcular_egfr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</a:t>
            </a:r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creat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edad, sexo) &gt; </a:t>
            </a:r>
            <a:r>
              <a:rPr lang="es-ES" sz="1430" b="0" u="none" strike="noStrike" dirty="0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0</a:t>
            </a:r>
            <a:endParaRPr lang="es-ES" sz="14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CuadroTexto 368"/>
          <p:cNvSpPr txBox="1"/>
          <p:nvPr/>
        </p:nvSpPr>
        <p:spPr>
          <a:xfrm>
            <a:off x="666720" y="3744720"/>
            <a:ext cx="6620402" cy="276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 dirty="0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Pandas</a:t>
            </a:r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— el esquema del </a:t>
            </a:r>
            <a:r>
              <a:rPr lang="es-ES" sz="1800" b="0" u="none" strike="noStrike" dirty="0" err="1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DataFrame</a:t>
            </a:r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como contrato ejecutable: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CuadroTexto 369"/>
          <p:cNvSpPr txBox="1"/>
          <p:nvPr/>
        </p:nvSpPr>
        <p:spPr>
          <a:xfrm>
            <a:off x="866880" y="4385160"/>
            <a:ext cx="32763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esquema = pa.DataFrameSchema({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CuadroTexto 370"/>
          <p:cNvSpPr txBox="1"/>
          <p:nvPr/>
        </p:nvSpPr>
        <p:spPr>
          <a:xfrm>
            <a:off x="866880" y="4651560"/>
            <a:ext cx="58971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"edad"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: pa.Column(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int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pa.Check.in_range(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0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120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)),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CuadroTexto 371"/>
          <p:cNvSpPr txBox="1"/>
          <p:nvPr/>
        </p:nvSpPr>
        <p:spPr>
          <a:xfrm>
            <a:off x="866880" y="4908960"/>
            <a:ext cx="77533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"hba1c"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: pa.Column(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float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pa.Check.in_range(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3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20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), nullable=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True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),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CuadroTexto 372"/>
          <p:cNvSpPr txBox="1"/>
          <p:nvPr/>
        </p:nvSpPr>
        <p:spPr>
          <a:xfrm>
            <a:off x="866880" y="5175720"/>
            <a:ext cx="2192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})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CuadroTexto 373"/>
          <p:cNvSpPr txBox="1"/>
          <p:nvPr/>
        </p:nvSpPr>
        <p:spPr>
          <a:xfrm>
            <a:off x="866880" y="5432760"/>
            <a:ext cx="67705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esquema.validate(df) 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explota AQUÍ, no 40 celdas después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CuadroTexto 374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05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CuadroTexto 375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CuadroTexto 376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21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Forma libre 37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Forma libre 37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Forma libre 37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CuadroTexto 380"/>
          <p:cNvSpPr txBox="1"/>
          <p:nvPr/>
        </p:nvSpPr>
        <p:spPr>
          <a:xfrm>
            <a:off x="3336480" y="3063960"/>
            <a:ext cx="565272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7. Automatizar la calidad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CuadroTexto 381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05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CuadroTexto 382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CuadroTexto 383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22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Forma libre 38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Forma libre 38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Forma libre 38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Forma libre 387"/>
          <p:cNvSpPr/>
          <p:nvPr/>
        </p:nvSpPr>
        <p:spPr>
          <a:xfrm>
            <a:off x="671400" y="1442880"/>
            <a:ext cx="10849320" cy="1105200"/>
          </a:xfrm>
          <a:custGeom>
            <a:avLst/>
            <a:gdLst/>
            <a:ahLst/>
            <a:cxnLst/>
            <a:rect l="0" t="0" r="r" b="b"/>
            <a:pathLst>
              <a:path w="30137" h="3070">
                <a:moveTo>
                  <a:pt x="0" y="2872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60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2872"/>
                </a:lnTo>
                <a:cubicBezTo>
                  <a:pt x="30137" y="2885"/>
                  <a:pt x="30136" y="2898"/>
                  <a:pt x="30133" y="2910"/>
                </a:cubicBezTo>
                <a:cubicBezTo>
                  <a:pt x="30130" y="2923"/>
                  <a:pt x="30127" y="2936"/>
                  <a:pt x="30122" y="2948"/>
                </a:cubicBezTo>
                <a:cubicBezTo>
                  <a:pt x="30117" y="2960"/>
                  <a:pt x="30111" y="2971"/>
                  <a:pt x="30103" y="2982"/>
                </a:cubicBezTo>
                <a:cubicBezTo>
                  <a:pt x="30096" y="2993"/>
                  <a:pt x="30088" y="3003"/>
                  <a:pt x="30079" y="3012"/>
                </a:cubicBezTo>
                <a:cubicBezTo>
                  <a:pt x="30070" y="3021"/>
                  <a:pt x="30059" y="3029"/>
                  <a:pt x="30049" y="3037"/>
                </a:cubicBezTo>
                <a:cubicBezTo>
                  <a:pt x="30038" y="3044"/>
                  <a:pt x="30026" y="3050"/>
                  <a:pt x="30014" y="3055"/>
                </a:cubicBezTo>
                <a:cubicBezTo>
                  <a:pt x="30002" y="3060"/>
                  <a:pt x="29990" y="3064"/>
                  <a:pt x="29977" y="3066"/>
                </a:cubicBezTo>
                <a:cubicBezTo>
                  <a:pt x="29964" y="3069"/>
                  <a:pt x="29951" y="3070"/>
                  <a:pt x="29938" y="3070"/>
                </a:cubicBezTo>
                <a:lnTo>
                  <a:pt x="198" y="3070"/>
                </a:lnTo>
                <a:cubicBezTo>
                  <a:pt x="185" y="3070"/>
                  <a:pt x="172" y="3069"/>
                  <a:pt x="160" y="3066"/>
                </a:cubicBezTo>
                <a:cubicBezTo>
                  <a:pt x="147" y="3064"/>
                  <a:pt x="134" y="3060"/>
                  <a:pt x="122" y="3055"/>
                </a:cubicBezTo>
                <a:cubicBezTo>
                  <a:pt x="110" y="3050"/>
                  <a:pt x="99" y="3044"/>
                  <a:pt x="88" y="3037"/>
                </a:cubicBezTo>
                <a:cubicBezTo>
                  <a:pt x="77" y="3029"/>
                  <a:pt x="67" y="3021"/>
                  <a:pt x="58" y="3012"/>
                </a:cubicBezTo>
                <a:cubicBezTo>
                  <a:pt x="49" y="3003"/>
                  <a:pt x="40" y="2993"/>
                  <a:pt x="33" y="2982"/>
                </a:cubicBezTo>
                <a:cubicBezTo>
                  <a:pt x="26" y="2971"/>
                  <a:pt x="20" y="2960"/>
                  <a:pt x="15" y="2948"/>
                </a:cubicBezTo>
                <a:cubicBezTo>
                  <a:pt x="10" y="2936"/>
                  <a:pt x="6" y="2923"/>
                  <a:pt x="4" y="2910"/>
                </a:cubicBezTo>
                <a:cubicBezTo>
                  <a:pt x="1" y="2898"/>
                  <a:pt x="0" y="2885"/>
                  <a:pt x="0" y="2872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Forma libre 388"/>
          <p:cNvSpPr/>
          <p:nvPr/>
        </p:nvSpPr>
        <p:spPr>
          <a:xfrm>
            <a:off x="671400" y="1442880"/>
            <a:ext cx="10849320" cy="1105200"/>
          </a:xfrm>
          <a:custGeom>
            <a:avLst/>
            <a:gdLst/>
            <a:ahLst/>
            <a:cxnLst/>
            <a:rect l="0" t="0" r="r" b="b"/>
            <a:pathLst>
              <a:path w="30137" h="3070">
                <a:moveTo>
                  <a:pt x="0" y="2872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60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2872"/>
                </a:lnTo>
                <a:cubicBezTo>
                  <a:pt x="30137" y="2885"/>
                  <a:pt x="30136" y="2898"/>
                  <a:pt x="30133" y="2910"/>
                </a:cubicBezTo>
                <a:cubicBezTo>
                  <a:pt x="30130" y="2923"/>
                  <a:pt x="30127" y="2936"/>
                  <a:pt x="30122" y="2948"/>
                </a:cubicBezTo>
                <a:cubicBezTo>
                  <a:pt x="30117" y="2960"/>
                  <a:pt x="30111" y="2971"/>
                  <a:pt x="30103" y="2982"/>
                </a:cubicBezTo>
                <a:cubicBezTo>
                  <a:pt x="30096" y="2993"/>
                  <a:pt x="30088" y="3003"/>
                  <a:pt x="30079" y="3012"/>
                </a:cubicBezTo>
                <a:cubicBezTo>
                  <a:pt x="30070" y="3021"/>
                  <a:pt x="30059" y="3029"/>
                  <a:pt x="30049" y="3037"/>
                </a:cubicBezTo>
                <a:cubicBezTo>
                  <a:pt x="30038" y="3044"/>
                  <a:pt x="30026" y="3050"/>
                  <a:pt x="30014" y="3055"/>
                </a:cubicBezTo>
                <a:cubicBezTo>
                  <a:pt x="30002" y="3060"/>
                  <a:pt x="29990" y="3064"/>
                  <a:pt x="29977" y="3066"/>
                </a:cubicBezTo>
                <a:cubicBezTo>
                  <a:pt x="29964" y="3069"/>
                  <a:pt x="29951" y="3070"/>
                  <a:pt x="29938" y="3070"/>
                </a:cubicBezTo>
                <a:lnTo>
                  <a:pt x="198" y="3070"/>
                </a:lnTo>
                <a:cubicBezTo>
                  <a:pt x="185" y="3070"/>
                  <a:pt x="172" y="3069"/>
                  <a:pt x="160" y="3066"/>
                </a:cubicBezTo>
                <a:cubicBezTo>
                  <a:pt x="147" y="3064"/>
                  <a:pt x="134" y="3060"/>
                  <a:pt x="122" y="3055"/>
                </a:cubicBezTo>
                <a:cubicBezTo>
                  <a:pt x="110" y="3050"/>
                  <a:pt x="99" y="3044"/>
                  <a:pt x="88" y="3037"/>
                </a:cubicBezTo>
                <a:cubicBezTo>
                  <a:pt x="77" y="3029"/>
                  <a:pt x="67" y="3021"/>
                  <a:pt x="58" y="3012"/>
                </a:cubicBezTo>
                <a:cubicBezTo>
                  <a:pt x="49" y="3003"/>
                  <a:pt x="40" y="2993"/>
                  <a:pt x="33" y="2982"/>
                </a:cubicBezTo>
                <a:cubicBezTo>
                  <a:pt x="26" y="2971"/>
                  <a:pt x="20" y="2960"/>
                  <a:pt x="15" y="2948"/>
                </a:cubicBezTo>
                <a:cubicBezTo>
                  <a:pt x="10" y="2936"/>
                  <a:pt x="6" y="2923"/>
                  <a:pt x="4" y="2910"/>
                </a:cubicBezTo>
                <a:cubicBezTo>
                  <a:pt x="1" y="2898"/>
                  <a:pt x="0" y="2885"/>
                  <a:pt x="0" y="2872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Forma libre 389"/>
          <p:cNvSpPr/>
          <p:nvPr/>
        </p:nvSpPr>
        <p:spPr>
          <a:xfrm>
            <a:off x="671400" y="2709720"/>
            <a:ext cx="10849320" cy="1629000"/>
          </a:xfrm>
          <a:custGeom>
            <a:avLst/>
            <a:gdLst/>
            <a:ahLst/>
            <a:cxnLst/>
            <a:rect l="0" t="0" r="r" b="b"/>
            <a:pathLst>
              <a:path w="30137" h="4525">
                <a:moveTo>
                  <a:pt x="0" y="4327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60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4327"/>
                </a:lnTo>
                <a:cubicBezTo>
                  <a:pt x="30137" y="4340"/>
                  <a:pt x="30136" y="4353"/>
                  <a:pt x="30133" y="4366"/>
                </a:cubicBezTo>
                <a:cubicBezTo>
                  <a:pt x="30130" y="4378"/>
                  <a:pt x="30127" y="4391"/>
                  <a:pt x="30122" y="4403"/>
                </a:cubicBezTo>
                <a:cubicBezTo>
                  <a:pt x="30117" y="4415"/>
                  <a:pt x="30111" y="4426"/>
                  <a:pt x="30103" y="4437"/>
                </a:cubicBezTo>
                <a:cubicBezTo>
                  <a:pt x="30096" y="4448"/>
                  <a:pt x="30088" y="4458"/>
                  <a:pt x="30079" y="4467"/>
                </a:cubicBezTo>
                <a:cubicBezTo>
                  <a:pt x="30070" y="4476"/>
                  <a:pt x="30059" y="4485"/>
                  <a:pt x="30049" y="4492"/>
                </a:cubicBezTo>
                <a:cubicBezTo>
                  <a:pt x="30038" y="4499"/>
                  <a:pt x="30026" y="4505"/>
                  <a:pt x="30014" y="4510"/>
                </a:cubicBezTo>
                <a:cubicBezTo>
                  <a:pt x="30002" y="4515"/>
                  <a:pt x="29990" y="4519"/>
                  <a:pt x="29977" y="4521"/>
                </a:cubicBezTo>
                <a:cubicBezTo>
                  <a:pt x="29964" y="4524"/>
                  <a:pt x="29951" y="4525"/>
                  <a:pt x="29938" y="4525"/>
                </a:cubicBezTo>
                <a:lnTo>
                  <a:pt x="198" y="4525"/>
                </a:lnTo>
                <a:cubicBezTo>
                  <a:pt x="185" y="4525"/>
                  <a:pt x="172" y="4524"/>
                  <a:pt x="160" y="4521"/>
                </a:cubicBezTo>
                <a:cubicBezTo>
                  <a:pt x="147" y="4519"/>
                  <a:pt x="134" y="4515"/>
                  <a:pt x="122" y="4510"/>
                </a:cubicBezTo>
                <a:cubicBezTo>
                  <a:pt x="110" y="4505"/>
                  <a:pt x="99" y="4499"/>
                  <a:pt x="88" y="4492"/>
                </a:cubicBezTo>
                <a:cubicBezTo>
                  <a:pt x="77" y="4485"/>
                  <a:pt x="67" y="4476"/>
                  <a:pt x="58" y="4467"/>
                </a:cubicBezTo>
                <a:cubicBezTo>
                  <a:pt x="49" y="4458"/>
                  <a:pt x="40" y="4448"/>
                  <a:pt x="33" y="4437"/>
                </a:cubicBezTo>
                <a:cubicBezTo>
                  <a:pt x="26" y="4426"/>
                  <a:pt x="20" y="4415"/>
                  <a:pt x="15" y="4403"/>
                </a:cubicBezTo>
                <a:cubicBezTo>
                  <a:pt x="10" y="4391"/>
                  <a:pt x="6" y="4378"/>
                  <a:pt x="4" y="4366"/>
                </a:cubicBezTo>
                <a:cubicBezTo>
                  <a:pt x="1" y="4353"/>
                  <a:pt x="0" y="4340"/>
                  <a:pt x="0" y="4327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Forma libre 390"/>
          <p:cNvSpPr/>
          <p:nvPr/>
        </p:nvSpPr>
        <p:spPr>
          <a:xfrm>
            <a:off x="671400" y="2709720"/>
            <a:ext cx="10849320" cy="1629000"/>
          </a:xfrm>
          <a:custGeom>
            <a:avLst/>
            <a:gdLst/>
            <a:ahLst/>
            <a:cxnLst/>
            <a:rect l="0" t="0" r="r" b="b"/>
            <a:pathLst>
              <a:path w="30137" h="4525">
                <a:moveTo>
                  <a:pt x="0" y="4327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60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4327"/>
                </a:lnTo>
                <a:cubicBezTo>
                  <a:pt x="30137" y="4340"/>
                  <a:pt x="30136" y="4353"/>
                  <a:pt x="30133" y="4366"/>
                </a:cubicBezTo>
                <a:cubicBezTo>
                  <a:pt x="30130" y="4378"/>
                  <a:pt x="30127" y="4391"/>
                  <a:pt x="30122" y="4403"/>
                </a:cubicBezTo>
                <a:cubicBezTo>
                  <a:pt x="30117" y="4415"/>
                  <a:pt x="30111" y="4426"/>
                  <a:pt x="30103" y="4437"/>
                </a:cubicBezTo>
                <a:cubicBezTo>
                  <a:pt x="30096" y="4448"/>
                  <a:pt x="30088" y="4458"/>
                  <a:pt x="30079" y="4467"/>
                </a:cubicBezTo>
                <a:cubicBezTo>
                  <a:pt x="30070" y="4476"/>
                  <a:pt x="30059" y="4485"/>
                  <a:pt x="30049" y="4492"/>
                </a:cubicBezTo>
                <a:cubicBezTo>
                  <a:pt x="30038" y="4499"/>
                  <a:pt x="30026" y="4505"/>
                  <a:pt x="30014" y="4510"/>
                </a:cubicBezTo>
                <a:cubicBezTo>
                  <a:pt x="30002" y="4515"/>
                  <a:pt x="29990" y="4519"/>
                  <a:pt x="29977" y="4521"/>
                </a:cubicBezTo>
                <a:cubicBezTo>
                  <a:pt x="29964" y="4524"/>
                  <a:pt x="29951" y="4525"/>
                  <a:pt x="29938" y="4525"/>
                </a:cubicBezTo>
                <a:lnTo>
                  <a:pt x="198" y="4525"/>
                </a:lnTo>
                <a:cubicBezTo>
                  <a:pt x="185" y="4525"/>
                  <a:pt x="172" y="4524"/>
                  <a:pt x="160" y="4521"/>
                </a:cubicBezTo>
                <a:cubicBezTo>
                  <a:pt x="147" y="4519"/>
                  <a:pt x="134" y="4515"/>
                  <a:pt x="122" y="4510"/>
                </a:cubicBezTo>
                <a:cubicBezTo>
                  <a:pt x="110" y="4505"/>
                  <a:pt x="99" y="4499"/>
                  <a:pt x="88" y="4492"/>
                </a:cubicBezTo>
                <a:cubicBezTo>
                  <a:pt x="77" y="4485"/>
                  <a:pt x="67" y="4476"/>
                  <a:pt x="58" y="4467"/>
                </a:cubicBezTo>
                <a:cubicBezTo>
                  <a:pt x="49" y="4458"/>
                  <a:pt x="40" y="4448"/>
                  <a:pt x="33" y="4437"/>
                </a:cubicBezTo>
                <a:cubicBezTo>
                  <a:pt x="26" y="4426"/>
                  <a:pt x="20" y="4415"/>
                  <a:pt x="15" y="4403"/>
                </a:cubicBezTo>
                <a:cubicBezTo>
                  <a:pt x="10" y="4391"/>
                  <a:pt x="6" y="4378"/>
                  <a:pt x="4" y="4366"/>
                </a:cubicBezTo>
                <a:cubicBezTo>
                  <a:pt x="1" y="4353"/>
                  <a:pt x="0" y="4340"/>
                  <a:pt x="0" y="4327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Forma libre 391"/>
          <p:cNvSpPr/>
          <p:nvPr/>
        </p:nvSpPr>
        <p:spPr>
          <a:xfrm>
            <a:off x="671400" y="4500360"/>
            <a:ext cx="10849320" cy="581400"/>
          </a:xfrm>
          <a:custGeom>
            <a:avLst/>
            <a:gdLst/>
            <a:ahLst/>
            <a:cxnLst/>
            <a:rect l="0" t="0" r="r" b="b"/>
            <a:pathLst>
              <a:path w="30137" h="1615">
                <a:moveTo>
                  <a:pt x="0" y="1417"/>
                </a:moveTo>
                <a:lnTo>
                  <a:pt x="0" y="198"/>
                </a:lnTo>
                <a:cubicBezTo>
                  <a:pt x="0" y="185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5"/>
                  <a:pt x="30137" y="198"/>
                </a:cubicBezTo>
                <a:lnTo>
                  <a:pt x="30137" y="1417"/>
                </a:lnTo>
                <a:cubicBezTo>
                  <a:pt x="30137" y="1430"/>
                  <a:pt x="30136" y="1443"/>
                  <a:pt x="30133" y="1455"/>
                </a:cubicBezTo>
                <a:cubicBezTo>
                  <a:pt x="30130" y="1468"/>
                  <a:pt x="30127" y="1480"/>
                  <a:pt x="30122" y="1493"/>
                </a:cubicBezTo>
                <a:cubicBezTo>
                  <a:pt x="30117" y="1505"/>
                  <a:pt x="30111" y="1516"/>
                  <a:pt x="30103" y="1527"/>
                </a:cubicBezTo>
                <a:cubicBezTo>
                  <a:pt x="30096" y="1538"/>
                  <a:pt x="30088" y="1548"/>
                  <a:pt x="30079" y="1557"/>
                </a:cubicBezTo>
                <a:cubicBezTo>
                  <a:pt x="30070" y="1566"/>
                  <a:pt x="30059" y="1574"/>
                  <a:pt x="30049" y="1582"/>
                </a:cubicBezTo>
                <a:cubicBezTo>
                  <a:pt x="30038" y="1589"/>
                  <a:pt x="30026" y="1595"/>
                  <a:pt x="30014" y="1600"/>
                </a:cubicBezTo>
                <a:cubicBezTo>
                  <a:pt x="30002" y="1605"/>
                  <a:pt x="29990" y="1609"/>
                  <a:pt x="29977" y="1611"/>
                </a:cubicBezTo>
                <a:cubicBezTo>
                  <a:pt x="29964" y="1614"/>
                  <a:pt x="29951" y="1615"/>
                  <a:pt x="29938" y="1615"/>
                </a:cubicBezTo>
                <a:lnTo>
                  <a:pt x="198" y="1615"/>
                </a:lnTo>
                <a:cubicBezTo>
                  <a:pt x="185" y="1615"/>
                  <a:pt x="172" y="1614"/>
                  <a:pt x="160" y="1611"/>
                </a:cubicBezTo>
                <a:cubicBezTo>
                  <a:pt x="147" y="1609"/>
                  <a:pt x="134" y="1605"/>
                  <a:pt x="122" y="1600"/>
                </a:cubicBezTo>
                <a:cubicBezTo>
                  <a:pt x="110" y="1595"/>
                  <a:pt x="99" y="1589"/>
                  <a:pt x="88" y="1582"/>
                </a:cubicBezTo>
                <a:cubicBezTo>
                  <a:pt x="77" y="1574"/>
                  <a:pt x="67" y="1566"/>
                  <a:pt x="58" y="1557"/>
                </a:cubicBezTo>
                <a:cubicBezTo>
                  <a:pt x="49" y="1548"/>
                  <a:pt x="40" y="1538"/>
                  <a:pt x="33" y="1527"/>
                </a:cubicBezTo>
                <a:cubicBezTo>
                  <a:pt x="26" y="1516"/>
                  <a:pt x="20" y="1505"/>
                  <a:pt x="15" y="1493"/>
                </a:cubicBezTo>
                <a:cubicBezTo>
                  <a:pt x="10" y="1480"/>
                  <a:pt x="6" y="1468"/>
                  <a:pt x="4" y="1455"/>
                </a:cubicBezTo>
                <a:cubicBezTo>
                  <a:pt x="1" y="1443"/>
                  <a:pt x="0" y="1430"/>
                  <a:pt x="0" y="1417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Forma libre 392"/>
          <p:cNvSpPr/>
          <p:nvPr/>
        </p:nvSpPr>
        <p:spPr>
          <a:xfrm>
            <a:off x="671400" y="4500360"/>
            <a:ext cx="10849320" cy="581400"/>
          </a:xfrm>
          <a:custGeom>
            <a:avLst/>
            <a:gdLst/>
            <a:ahLst/>
            <a:cxnLst/>
            <a:rect l="0" t="0" r="r" b="b"/>
            <a:pathLst>
              <a:path w="30137" h="1615">
                <a:moveTo>
                  <a:pt x="0" y="1417"/>
                </a:moveTo>
                <a:lnTo>
                  <a:pt x="0" y="198"/>
                </a:lnTo>
                <a:cubicBezTo>
                  <a:pt x="0" y="185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5"/>
                  <a:pt x="30137" y="198"/>
                </a:cubicBezTo>
                <a:lnTo>
                  <a:pt x="30137" y="1417"/>
                </a:lnTo>
                <a:cubicBezTo>
                  <a:pt x="30137" y="1430"/>
                  <a:pt x="30136" y="1443"/>
                  <a:pt x="30133" y="1455"/>
                </a:cubicBezTo>
                <a:cubicBezTo>
                  <a:pt x="30130" y="1468"/>
                  <a:pt x="30127" y="1480"/>
                  <a:pt x="30122" y="1493"/>
                </a:cubicBezTo>
                <a:cubicBezTo>
                  <a:pt x="30117" y="1505"/>
                  <a:pt x="30111" y="1516"/>
                  <a:pt x="30103" y="1527"/>
                </a:cubicBezTo>
                <a:cubicBezTo>
                  <a:pt x="30096" y="1538"/>
                  <a:pt x="30088" y="1548"/>
                  <a:pt x="30079" y="1557"/>
                </a:cubicBezTo>
                <a:cubicBezTo>
                  <a:pt x="30070" y="1566"/>
                  <a:pt x="30059" y="1574"/>
                  <a:pt x="30049" y="1582"/>
                </a:cubicBezTo>
                <a:cubicBezTo>
                  <a:pt x="30038" y="1589"/>
                  <a:pt x="30026" y="1595"/>
                  <a:pt x="30014" y="1600"/>
                </a:cubicBezTo>
                <a:cubicBezTo>
                  <a:pt x="30002" y="1605"/>
                  <a:pt x="29990" y="1609"/>
                  <a:pt x="29977" y="1611"/>
                </a:cubicBezTo>
                <a:cubicBezTo>
                  <a:pt x="29964" y="1614"/>
                  <a:pt x="29951" y="1615"/>
                  <a:pt x="29938" y="1615"/>
                </a:cubicBezTo>
                <a:lnTo>
                  <a:pt x="198" y="1615"/>
                </a:lnTo>
                <a:cubicBezTo>
                  <a:pt x="185" y="1615"/>
                  <a:pt x="172" y="1614"/>
                  <a:pt x="160" y="1611"/>
                </a:cubicBezTo>
                <a:cubicBezTo>
                  <a:pt x="147" y="1609"/>
                  <a:pt x="134" y="1605"/>
                  <a:pt x="122" y="1600"/>
                </a:cubicBezTo>
                <a:cubicBezTo>
                  <a:pt x="110" y="1595"/>
                  <a:pt x="99" y="1589"/>
                  <a:pt x="88" y="1582"/>
                </a:cubicBezTo>
                <a:cubicBezTo>
                  <a:pt x="77" y="1574"/>
                  <a:pt x="67" y="1566"/>
                  <a:pt x="58" y="1557"/>
                </a:cubicBezTo>
                <a:cubicBezTo>
                  <a:pt x="49" y="1548"/>
                  <a:pt x="40" y="1538"/>
                  <a:pt x="33" y="1527"/>
                </a:cubicBezTo>
                <a:cubicBezTo>
                  <a:pt x="26" y="1516"/>
                  <a:pt x="20" y="1505"/>
                  <a:pt x="15" y="1493"/>
                </a:cubicBezTo>
                <a:cubicBezTo>
                  <a:pt x="10" y="1480"/>
                  <a:pt x="6" y="1468"/>
                  <a:pt x="4" y="1455"/>
                </a:cubicBezTo>
                <a:cubicBezTo>
                  <a:pt x="1" y="1443"/>
                  <a:pt x="0" y="1430"/>
                  <a:pt x="0" y="1417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CuadroTexto 393"/>
          <p:cNvSpPr txBox="1"/>
          <p:nvPr/>
        </p:nvSpPr>
        <p:spPr>
          <a:xfrm>
            <a:off x="666720" y="796680"/>
            <a:ext cx="606168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 disciplina no escala; la automatización sí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CuadroTexto 394"/>
          <p:cNvSpPr txBox="1"/>
          <p:nvPr/>
        </p:nvSpPr>
        <p:spPr>
          <a:xfrm>
            <a:off x="866880" y="1622880"/>
            <a:ext cx="17478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pip install ruff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CuadroTexto 395"/>
          <p:cNvSpPr txBox="1"/>
          <p:nvPr/>
        </p:nvSpPr>
        <p:spPr>
          <a:xfrm>
            <a:off x="866880" y="1889280"/>
            <a:ext cx="80805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ruff check .   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linter: bugs probables, imports muertos, complejidad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CuadroTexto 396"/>
          <p:cNvSpPr txBox="1"/>
          <p:nvPr/>
        </p:nvSpPr>
        <p:spPr>
          <a:xfrm>
            <a:off x="866880" y="2146680"/>
            <a:ext cx="4645502" cy="220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ruff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format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.       </a:t>
            </a:r>
            <a:r>
              <a:rPr lang="es-ES" sz="1430" b="0" i="1" u="none" strike="noStrike" dirty="0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formateador: estilo</a:t>
            </a:r>
            <a:endParaRPr lang="es-ES" sz="14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CuadroTexto 397"/>
          <p:cNvSpPr txBox="1"/>
          <p:nvPr/>
        </p:nvSpPr>
        <p:spPr>
          <a:xfrm>
            <a:off x="866880" y="2889720"/>
            <a:ext cx="64425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.pre-commit-config.yaml — corre SOLO antes de cada commit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CuadroTexto 398"/>
          <p:cNvSpPr txBox="1"/>
          <p:nvPr/>
        </p:nvSpPr>
        <p:spPr>
          <a:xfrm>
            <a:off x="866880" y="3156120"/>
            <a:ext cx="6559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repos: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CuadroTexto 399"/>
          <p:cNvSpPr txBox="1"/>
          <p:nvPr/>
        </p:nvSpPr>
        <p:spPr>
          <a:xfrm>
            <a:off x="866880" y="3413520"/>
            <a:ext cx="58964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</a:t>
            </a:r>
            <a:r>
              <a:rPr lang="es-ES" sz="1430" b="0" u="none" strike="noStrike">
                <a:solidFill>
                  <a:srgbClr val="3B2300"/>
                </a:solidFill>
                <a:effectLst/>
                <a:uFillTx/>
                <a:latin typeface="Menlo"/>
                <a:ea typeface="Menlo"/>
              </a:rPr>
              <a:t>-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repo: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https://github.com/astral-sh/ruff-pre-commit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CuadroTexto 400"/>
          <p:cNvSpPr txBox="1"/>
          <p:nvPr/>
        </p:nvSpPr>
        <p:spPr>
          <a:xfrm>
            <a:off x="866880" y="3680280"/>
            <a:ext cx="16383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rev: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v0.8.4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CuadroTexto 401"/>
          <p:cNvSpPr txBox="1"/>
          <p:nvPr/>
        </p:nvSpPr>
        <p:spPr>
          <a:xfrm>
            <a:off x="866880" y="3937320"/>
            <a:ext cx="45864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hooks: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[{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id: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ruff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}, {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id: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ruff-format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}]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CuadroTexto 402"/>
          <p:cNvSpPr txBox="1"/>
          <p:nvPr/>
        </p:nvSpPr>
        <p:spPr>
          <a:xfrm>
            <a:off x="866880" y="4680360"/>
            <a:ext cx="75344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pre-commit install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una vez; desde ahora, nada sucio entra al repo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Forma libre 403"/>
          <p:cNvSpPr/>
          <p:nvPr/>
        </p:nvSpPr>
        <p:spPr>
          <a:xfrm>
            <a:off x="3362040" y="5295600"/>
            <a:ext cx="1629360" cy="267120"/>
          </a:xfrm>
          <a:custGeom>
            <a:avLst/>
            <a:gdLst/>
            <a:ahLst/>
            <a:cxnLst/>
            <a:rect l="0" t="0" r="r" b="b"/>
            <a:pathLst>
              <a:path w="4526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4420" y="0"/>
                </a:lnTo>
                <a:cubicBezTo>
                  <a:pt x="4434" y="0"/>
                  <a:pt x="4447" y="3"/>
                  <a:pt x="4460" y="8"/>
                </a:cubicBezTo>
                <a:cubicBezTo>
                  <a:pt x="4473" y="14"/>
                  <a:pt x="4485" y="21"/>
                  <a:pt x="4495" y="31"/>
                </a:cubicBezTo>
                <a:cubicBezTo>
                  <a:pt x="4505" y="41"/>
                  <a:pt x="4512" y="53"/>
                  <a:pt x="4518" y="66"/>
                </a:cubicBezTo>
                <a:cubicBezTo>
                  <a:pt x="4523" y="79"/>
                  <a:pt x="4526" y="92"/>
                  <a:pt x="4526" y="106"/>
                </a:cubicBezTo>
                <a:lnTo>
                  <a:pt x="4526" y="636"/>
                </a:lnTo>
                <a:cubicBezTo>
                  <a:pt x="4526" y="650"/>
                  <a:pt x="4523" y="664"/>
                  <a:pt x="4518" y="677"/>
                </a:cubicBezTo>
                <a:cubicBezTo>
                  <a:pt x="4512" y="690"/>
                  <a:pt x="4505" y="701"/>
                  <a:pt x="4495" y="711"/>
                </a:cubicBezTo>
                <a:cubicBezTo>
                  <a:pt x="4485" y="721"/>
                  <a:pt x="4473" y="729"/>
                  <a:pt x="4460" y="734"/>
                </a:cubicBezTo>
                <a:cubicBezTo>
                  <a:pt x="4447" y="739"/>
                  <a:pt x="4434" y="742"/>
                  <a:pt x="4420" y="742"/>
                </a:cubicBezTo>
                <a:lnTo>
                  <a:pt x="106" y="742"/>
                </a:lnTo>
                <a:cubicBezTo>
                  <a:pt x="92" y="742"/>
                  <a:pt x="79" y="739"/>
                  <a:pt x="66" y="734"/>
                </a:cubicBezTo>
                <a:cubicBezTo>
                  <a:pt x="53" y="729"/>
                  <a:pt x="41" y="721"/>
                  <a:pt x="31" y="711"/>
                </a:cubicBezTo>
                <a:cubicBezTo>
                  <a:pt x="21" y="701"/>
                  <a:pt x="14" y="690"/>
                  <a:pt x="8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CuadroTexto 404"/>
          <p:cNvSpPr txBox="1"/>
          <p:nvPr/>
        </p:nvSpPr>
        <p:spPr>
          <a:xfrm>
            <a:off x="666720" y="5278320"/>
            <a:ext cx="26985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Y el CI de la sesión 4 corre 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CuadroTexto 405"/>
          <p:cNvSpPr txBox="1"/>
          <p:nvPr/>
        </p:nvSpPr>
        <p:spPr>
          <a:xfrm>
            <a:off x="3417480" y="5315760"/>
            <a:ext cx="15274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ruff + pytest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CuadroTexto 406"/>
          <p:cNvSpPr txBox="1"/>
          <p:nvPr/>
        </p:nvSpPr>
        <p:spPr>
          <a:xfrm>
            <a:off x="4995720" y="5278320"/>
            <a:ext cx="27403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en cada push: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tres capas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CuadroTexto 410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05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CuadroTexto 411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CuadroTexto 412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23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08F0598-0773-14FA-905B-3D3A042E0EC0}"/>
              </a:ext>
            </a:extLst>
          </p:cNvPr>
          <p:cNvSpPr txBox="1"/>
          <p:nvPr/>
        </p:nvSpPr>
        <p:spPr>
          <a:xfrm>
            <a:off x="9294047" y="2879121"/>
            <a:ext cx="1907573" cy="276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dirty="0">
                <a:solidFill>
                  <a:schemeClr val="bg1"/>
                </a:solidFill>
                <a:latin typeface="HelveticaNeue"/>
                <a:ea typeface="HelveticaNeue"/>
              </a:rPr>
              <a:t>Herramienta de </a:t>
            </a:r>
            <a:r>
              <a:rPr lang="es-ES" dirty="0" err="1">
                <a:solidFill>
                  <a:schemeClr val="bg1"/>
                </a:solidFill>
                <a:latin typeface="HelveticaNeue"/>
                <a:ea typeface="HelveticaNeue"/>
              </a:rPr>
              <a:t>git</a:t>
            </a:r>
            <a:endParaRPr lang="es-ES" sz="1800" b="0" u="none" strike="noStrike" dirty="0">
              <a:solidFill>
                <a:schemeClr val="bg1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Forma libre 41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Forma libre 41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Forma libre 41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Forma libre 416"/>
          <p:cNvSpPr/>
          <p:nvPr/>
        </p:nvSpPr>
        <p:spPr>
          <a:xfrm>
            <a:off x="671400" y="1471320"/>
            <a:ext cx="10849320" cy="3734280"/>
          </a:xfrm>
          <a:custGeom>
            <a:avLst/>
            <a:gdLst/>
            <a:ahLst/>
            <a:cxnLst/>
            <a:rect l="0" t="0" r="r" b="b"/>
            <a:pathLst>
              <a:path w="30137" h="10373">
                <a:moveTo>
                  <a:pt x="0" y="10175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7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10175"/>
                </a:lnTo>
                <a:cubicBezTo>
                  <a:pt x="30137" y="10188"/>
                  <a:pt x="30136" y="10200"/>
                  <a:pt x="30133" y="10213"/>
                </a:cubicBezTo>
                <a:cubicBezTo>
                  <a:pt x="30130" y="10226"/>
                  <a:pt x="30127" y="10238"/>
                  <a:pt x="30122" y="10250"/>
                </a:cubicBezTo>
                <a:cubicBezTo>
                  <a:pt x="30117" y="10263"/>
                  <a:pt x="30111" y="10274"/>
                  <a:pt x="30103" y="10285"/>
                </a:cubicBezTo>
                <a:cubicBezTo>
                  <a:pt x="30096" y="10296"/>
                  <a:pt x="30088" y="10306"/>
                  <a:pt x="30079" y="10315"/>
                </a:cubicBezTo>
                <a:cubicBezTo>
                  <a:pt x="30070" y="10324"/>
                  <a:pt x="30059" y="10332"/>
                  <a:pt x="30049" y="10340"/>
                </a:cubicBezTo>
                <a:cubicBezTo>
                  <a:pt x="30038" y="10347"/>
                  <a:pt x="30026" y="10353"/>
                  <a:pt x="30014" y="10358"/>
                </a:cubicBezTo>
                <a:cubicBezTo>
                  <a:pt x="30002" y="10363"/>
                  <a:pt x="29990" y="10367"/>
                  <a:pt x="29977" y="10369"/>
                </a:cubicBezTo>
                <a:cubicBezTo>
                  <a:pt x="29964" y="10372"/>
                  <a:pt x="29951" y="10373"/>
                  <a:pt x="29938" y="10373"/>
                </a:cubicBezTo>
                <a:lnTo>
                  <a:pt x="198" y="10373"/>
                </a:lnTo>
                <a:cubicBezTo>
                  <a:pt x="185" y="10373"/>
                  <a:pt x="172" y="10372"/>
                  <a:pt x="160" y="10369"/>
                </a:cubicBezTo>
                <a:cubicBezTo>
                  <a:pt x="147" y="10367"/>
                  <a:pt x="134" y="10363"/>
                  <a:pt x="122" y="10358"/>
                </a:cubicBezTo>
                <a:cubicBezTo>
                  <a:pt x="110" y="10353"/>
                  <a:pt x="99" y="10347"/>
                  <a:pt x="88" y="10340"/>
                </a:cubicBezTo>
                <a:cubicBezTo>
                  <a:pt x="77" y="10332"/>
                  <a:pt x="67" y="10324"/>
                  <a:pt x="58" y="10315"/>
                </a:cubicBezTo>
                <a:cubicBezTo>
                  <a:pt x="49" y="10306"/>
                  <a:pt x="40" y="10296"/>
                  <a:pt x="33" y="10285"/>
                </a:cubicBezTo>
                <a:cubicBezTo>
                  <a:pt x="26" y="10274"/>
                  <a:pt x="20" y="10263"/>
                  <a:pt x="15" y="10250"/>
                </a:cubicBezTo>
                <a:cubicBezTo>
                  <a:pt x="10" y="10238"/>
                  <a:pt x="6" y="10226"/>
                  <a:pt x="4" y="10213"/>
                </a:cubicBezTo>
                <a:cubicBezTo>
                  <a:pt x="1" y="10200"/>
                  <a:pt x="0" y="10188"/>
                  <a:pt x="0" y="10175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Forma libre 417"/>
          <p:cNvSpPr/>
          <p:nvPr/>
        </p:nvSpPr>
        <p:spPr>
          <a:xfrm>
            <a:off x="671400" y="1471320"/>
            <a:ext cx="10849320" cy="3734280"/>
          </a:xfrm>
          <a:custGeom>
            <a:avLst/>
            <a:gdLst/>
            <a:ahLst/>
            <a:cxnLst/>
            <a:rect l="0" t="0" r="r" b="b"/>
            <a:pathLst>
              <a:path w="30137" h="10373">
                <a:moveTo>
                  <a:pt x="0" y="10175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7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10175"/>
                </a:lnTo>
                <a:cubicBezTo>
                  <a:pt x="30137" y="10188"/>
                  <a:pt x="30136" y="10200"/>
                  <a:pt x="30133" y="10213"/>
                </a:cubicBezTo>
                <a:cubicBezTo>
                  <a:pt x="30130" y="10226"/>
                  <a:pt x="30127" y="10238"/>
                  <a:pt x="30122" y="10250"/>
                </a:cubicBezTo>
                <a:cubicBezTo>
                  <a:pt x="30117" y="10263"/>
                  <a:pt x="30111" y="10274"/>
                  <a:pt x="30103" y="10285"/>
                </a:cubicBezTo>
                <a:cubicBezTo>
                  <a:pt x="30096" y="10296"/>
                  <a:pt x="30088" y="10306"/>
                  <a:pt x="30079" y="10315"/>
                </a:cubicBezTo>
                <a:cubicBezTo>
                  <a:pt x="30070" y="10324"/>
                  <a:pt x="30059" y="10332"/>
                  <a:pt x="30049" y="10340"/>
                </a:cubicBezTo>
                <a:cubicBezTo>
                  <a:pt x="30038" y="10347"/>
                  <a:pt x="30026" y="10353"/>
                  <a:pt x="30014" y="10358"/>
                </a:cubicBezTo>
                <a:cubicBezTo>
                  <a:pt x="30002" y="10363"/>
                  <a:pt x="29990" y="10367"/>
                  <a:pt x="29977" y="10369"/>
                </a:cubicBezTo>
                <a:cubicBezTo>
                  <a:pt x="29964" y="10372"/>
                  <a:pt x="29951" y="10373"/>
                  <a:pt x="29938" y="10373"/>
                </a:cubicBezTo>
                <a:lnTo>
                  <a:pt x="198" y="10373"/>
                </a:lnTo>
                <a:cubicBezTo>
                  <a:pt x="185" y="10373"/>
                  <a:pt x="172" y="10372"/>
                  <a:pt x="160" y="10369"/>
                </a:cubicBezTo>
                <a:cubicBezTo>
                  <a:pt x="147" y="10367"/>
                  <a:pt x="134" y="10363"/>
                  <a:pt x="122" y="10358"/>
                </a:cubicBezTo>
                <a:cubicBezTo>
                  <a:pt x="110" y="10353"/>
                  <a:pt x="99" y="10347"/>
                  <a:pt x="88" y="10340"/>
                </a:cubicBezTo>
                <a:cubicBezTo>
                  <a:pt x="77" y="10332"/>
                  <a:pt x="67" y="10324"/>
                  <a:pt x="58" y="10315"/>
                </a:cubicBezTo>
                <a:cubicBezTo>
                  <a:pt x="49" y="10306"/>
                  <a:pt x="40" y="10296"/>
                  <a:pt x="33" y="10285"/>
                </a:cubicBezTo>
                <a:cubicBezTo>
                  <a:pt x="26" y="10274"/>
                  <a:pt x="20" y="10263"/>
                  <a:pt x="15" y="10250"/>
                </a:cubicBezTo>
                <a:cubicBezTo>
                  <a:pt x="10" y="10238"/>
                  <a:pt x="6" y="10226"/>
                  <a:pt x="4" y="10213"/>
                </a:cubicBezTo>
                <a:cubicBezTo>
                  <a:pt x="1" y="10200"/>
                  <a:pt x="0" y="10188"/>
                  <a:pt x="0" y="10175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CuadroTexto 418"/>
          <p:cNvSpPr txBox="1"/>
          <p:nvPr/>
        </p:nvSpPr>
        <p:spPr>
          <a:xfrm>
            <a:off x="666720" y="825120"/>
            <a:ext cx="45165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 dirty="0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El </a:t>
            </a:r>
            <a:r>
              <a:rPr lang="es-ES" sz="2550" b="0" u="none" strike="noStrike" dirty="0" err="1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pyproject.toml</a:t>
            </a:r>
            <a:r>
              <a:rPr lang="es-ES" sz="2550" b="0" u="none" strike="noStrike" dirty="0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 lo declara todo</a:t>
            </a:r>
            <a:endParaRPr lang="es-ES" sz="25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CuadroTexto 419"/>
          <p:cNvSpPr txBox="1"/>
          <p:nvPr/>
        </p:nvSpPr>
        <p:spPr>
          <a:xfrm>
            <a:off x="866880" y="1651320"/>
            <a:ext cx="9835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1" u="none" strike="noStrike">
                <a:solidFill>
                  <a:srgbClr val="0550AE"/>
                </a:solidFill>
                <a:effectLst/>
                <a:uFillTx/>
                <a:latin typeface="Menlo"/>
                <a:ea typeface="Menlo"/>
              </a:rPr>
              <a:t>[project]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CuadroTexto 420"/>
          <p:cNvSpPr txBox="1"/>
          <p:nvPr/>
        </p:nvSpPr>
        <p:spPr>
          <a:xfrm>
            <a:off x="866880" y="1918080"/>
            <a:ext cx="17478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name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=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"clinlab"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CuadroTexto 421"/>
          <p:cNvSpPr txBox="1"/>
          <p:nvPr/>
        </p:nvSpPr>
        <p:spPr>
          <a:xfrm>
            <a:off x="866880" y="2175120"/>
            <a:ext cx="18568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version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=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"0.1.0"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CuadroTexto 422"/>
          <p:cNvSpPr txBox="1"/>
          <p:nvPr/>
        </p:nvSpPr>
        <p:spPr>
          <a:xfrm>
            <a:off x="866880" y="2441880"/>
            <a:ext cx="49143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dependencies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= [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"pandas&gt;=2.0"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"numpy&gt;=1.26"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]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CuadroTexto 423"/>
          <p:cNvSpPr txBox="1"/>
          <p:nvPr/>
        </p:nvSpPr>
        <p:spPr>
          <a:xfrm>
            <a:off x="866880" y="2965680"/>
            <a:ext cx="33854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1" u="none" strike="noStrike">
                <a:solidFill>
                  <a:srgbClr val="0550AE"/>
                </a:solidFill>
                <a:effectLst/>
                <a:uFillTx/>
                <a:latin typeface="Menlo"/>
                <a:ea typeface="Menlo"/>
              </a:rPr>
              <a:t>[project.optional-dependencies]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CuadroTexto 424"/>
          <p:cNvSpPr txBox="1"/>
          <p:nvPr/>
        </p:nvSpPr>
        <p:spPr>
          <a:xfrm>
            <a:off x="866880" y="3223080"/>
            <a:ext cx="65527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dev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= [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"pytest"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"pytest-cov"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"ruff"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"mypy"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"pre-commit"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]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CuadroTexto 425"/>
          <p:cNvSpPr txBox="1"/>
          <p:nvPr/>
        </p:nvSpPr>
        <p:spPr>
          <a:xfrm>
            <a:off x="866880" y="3746880"/>
            <a:ext cx="12016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1" u="none" strike="noStrike">
                <a:solidFill>
                  <a:srgbClr val="0550AE"/>
                </a:solidFill>
                <a:effectLst/>
                <a:uFillTx/>
                <a:latin typeface="Menlo"/>
                <a:ea typeface="Menlo"/>
              </a:rPr>
              <a:t>[tool.ruff]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CuadroTexto 426"/>
          <p:cNvSpPr txBox="1"/>
          <p:nvPr/>
        </p:nvSpPr>
        <p:spPr>
          <a:xfrm>
            <a:off x="866880" y="4013640"/>
            <a:ext cx="17478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line-length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=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99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CuadroTexto 427"/>
          <p:cNvSpPr txBox="1"/>
          <p:nvPr/>
        </p:nvSpPr>
        <p:spPr>
          <a:xfrm>
            <a:off x="866880" y="4537440"/>
            <a:ext cx="27302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1" u="none" strike="noStrike">
                <a:solidFill>
                  <a:srgbClr val="0550AE"/>
                </a:solidFill>
                <a:effectLst/>
                <a:uFillTx/>
                <a:latin typeface="Menlo"/>
                <a:ea typeface="Menlo"/>
              </a:rPr>
              <a:t>[tool.pytest.ini_options]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CuadroTexto 428"/>
          <p:cNvSpPr txBox="1"/>
          <p:nvPr/>
        </p:nvSpPr>
        <p:spPr>
          <a:xfrm>
            <a:off x="866880" y="4804200"/>
            <a:ext cx="55692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addopts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=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"--cov=clinlab --cov-report=term-missing"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Forma libre 429"/>
          <p:cNvSpPr/>
          <p:nvPr/>
        </p:nvSpPr>
        <p:spPr>
          <a:xfrm>
            <a:off x="9839160" y="5419440"/>
            <a:ext cx="1581480" cy="267120"/>
          </a:xfrm>
          <a:custGeom>
            <a:avLst/>
            <a:gdLst/>
            <a:ahLst/>
            <a:cxnLst/>
            <a:rect l="0" t="0" r="r" b="b"/>
            <a:pathLst>
              <a:path w="4393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4393" y="0"/>
                </a:lnTo>
                <a:lnTo>
                  <a:pt x="4393" y="742"/>
                </a:lnTo>
                <a:lnTo>
                  <a:pt x="106" y="742"/>
                </a:lnTo>
                <a:cubicBezTo>
                  <a:pt x="92" y="742"/>
                  <a:pt x="78" y="739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CuadroTexto 430"/>
          <p:cNvSpPr txBox="1"/>
          <p:nvPr/>
        </p:nvSpPr>
        <p:spPr>
          <a:xfrm>
            <a:off x="666720" y="5402160"/>
            <a:ext cx="91893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Un archivo: qué es el paquete, qué necesita, y cómo se veriﬁca.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Quien clona tu repo corre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Forma libre 431"/>
          <p:cNvSpPr/>
          <p:nvPr/>
        </p:nvSpPr>
        <p:spPr>
          <a:xfrm>
            <a:off x="666720" y="5762520"/>
            <a:ext cx="1229040" cy="267120"/>
          </a:xfrm>
          <a:custGeom>
            <a:avLst/>
            <a:gdLst/>
            <a:ahLst/>
            <a:cxnLst/>
            <a:rect l="0" t="0" r="r" b="b"/>
            <a:pathLst>
              <a:path w="3414" h="742">
                <a:moveTo>
                  <a:pt x="0" y="0"/>
                </a:moveTo>
                <a:lnTo>
                  <a:pt x="3308" y="0"/>
                </a:lnTo>
                <a:cubicBezTo>
                  <a:pt x="3322" y="0"/>
                  <a:pt x="3335" y="2"/>
                  <a:pt x="3348" y="8"/>
                </a:cubicBezTo>
                <a:cubicBezTo>
                  <a:pt x="3361" y="13"/>
                  <a:pt x="3373" y="21"/>
                  <a:pt x="3383" y="31"/>
                </a:cubicBezTo>
                <a:cubicBezTo>
                  <a:pt x="3393" y="41"/>
                  <a:pt x="3400" y="52"/>
                  <a:pt x="3406" y="65"/>
                </a:cubicBezTo>
                <a:cubicBezTo>
                  <a:pt x="3411" y="78"/>
                  <a:pt x="3414" y="92"/>
                  <a:pt x="3414" y="106"/>
                </a:cubicBezTo>
                <a:lnTo>
                  <a:pt x="3414" y="635"/>
                </a:lnTo>
                <a:cubicBezTo>
                  <a:pt x="3414" y="650"/>
                  <a:pt x="3411" y="663"/>
                  <a:pt x="3406" y="676"/>
                </a:cubicBezTo>
                <a:cubicBezTo>
                  <a:pt x="3400" y="689"/>
                  <a:pt x="3393" y="701"/>
                  <a:pt x="3383" y="711"/>
                </a:cubicBezTo>
                <a:cubicBezTo>
                  <a:pt x="3373" y="721"/>
                  <a:pt x="3361" y="728"/>
                  <a:pt x="3348" y="734"/>
                </a:cubicBezTo>
                <a:cubicBezTo>
                  <a:pt x="3335" y="739"/>
                  <a:pt x="3322" y="742"/>
                  <a:pt x="3308" y="742"/>
                </a:cubicBezTo>
                <a:lnTo>
                  <a:pt x="0" y="742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CuadroTexto 432"/>
          <p:cNvSpPr txBox="1"/>
          <p:nvPr/>
        </p:nvSpPr>
        <p:spPr>
          <a:xfrm>
            <a:off x="9900360" y="5439600"/>
            <a:ext cx="15274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1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pip install -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CuadroTexto 433"/>
          <p:cNvSpPr txBox="1"/>
          <p:nvPr/>
        </p:nvSpPr>
        <p:spPr>
          <a:xfrm>
            <a:off x="666720" y="5782320"/>
            <a:ext cx="11750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1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e ".[dev]"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CuadroTexto 434"/>
          <p:cNvSpPr txBox="1"/>
          <p:nvPr/>
        </p:nvSpPr>
        <p:spPr>
          <a:xfrm>
            <a:off x="1893960" y="5744880"/>
            <a:ext cx="20415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 y tiene tu entorno.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CuadroTexto 435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05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CuadroTexto 436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CuadroTexto 437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24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Forma libre 43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Forma libre 43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Forma libre 440"/>
          <p:cNvSpPr/>
          <p:nvPr/>
        </p:nvSpPr>
        <p:spPr>
          <a:xfrm>
            <a:off x="0" y="21420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CuadroTexto 441"/>
          <p:cNvSpPr txBox="1"/>
          <p:nvPr/>
        </p:nvSpPr>
        <p:spPr>
          <a:xfrm>
            <a:off x="666720" y="1863360"/>
            <a:ext cx="1381789" cy="3924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 dirty="0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Resumen</a:t>
            </a:r>
            <a:endParaRPr lang="es-ES" sz="25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CuadroTexto 442"/>
          <p:cNvSpPr txBox="1"/>
          <p:nvPr/>
        </p:nvSpPr>
        <p:spPr>
          <a:xfrm>
            <a:off x="869760" y="2535120"/>
            <a:ext cx="105584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1.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El código cientíﬁco falla en silencio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 no truena, produce un número plausible y equivocado. El test 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CuadroTexto 443"/>
          <p:cNvSpPr txBox="1"/>
          <p:nvPr/>
        </p:nvSpPr>
        <p:spPr>
          <a:xfrm>
            <a:off x="1123920" y="2877840"/>
            <a:ext cx="71071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la única red que lo atrapa (pregúntale a los cinco retractados de Chang).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CuadroTexto 444"/>
          <p:cNvSpPr txBox="1"/>
          <p:nvPr/>
        </p:nvSpPr>
        <p:spPr>
          <a:xfrm>
            <a:off x="869760" y="3373200"/>
            <a:ext cx="5729132" cy="276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2. </a:t>
            </a:r>
            <a:r>
              <a:rPr lang="es-ES" sz="1800" b="1" u="none" strike="noStrike" dirty="0" err="1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Testeable</a:t>
            </a:r>
            <a:r>
              <a:rPr lang="es-ES" sz="1800" b="1" u="none" strike="noStrike" dirty="0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 = funciones puras con entradas explícitas.</a:t>
            </a:r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CuadroTexto 446"/>
          <p:cNvSpPr txBox="1"/>
          <p:nvPr/>
        </p:nvSpPr>
        <p:spPr>
          <a:xfrm>
            <a:off x="869760" y="4211640"/>
            <a:ext cx="103024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3.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Cada bug encontrado se vuelve test antes de arreglarse.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Y la calidad se automatiza en capas —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CuadroTexto 447"/>
          <p:cNvSpPr txBox="1"/>
          <p:nvPr/>
        </p:nvSpPr>
        <p:spPr>
          <a:xfrm>
            <a:off x="1123920" y="4554360"/>
            <a:ext cx="5484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editor, pre-</a:t>
            </a:r>
            <a:r>
              <a:rPr lang="es-ES" sz="1800" b="0" u="none" strike="noStrike" dirty="0" err="1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commit</a:t>
            </a:r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CI — porque la disciplina no escala.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CuadroTexto 448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05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CuadroTexto 449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CuadroTexto 450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25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Forma libre 45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Forma libre 45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Forma libre 45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CuadroTexto 454"/>
          <p:cNvSpPr txBox="1"/>
          <p:nvPr/>
        </p:nvSpPr>
        <p:spPr>
          <a:xfrm>
            <a:off x="666720" y="2006280"/>
            <a:ext cx="16005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Laboratorio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CuadroTexto 455"/>
          <p:cNvSpPr txBox="1"/>
          <p:nvPr/>
        </p:nvSpPr>
        <p:spPr>
          <a:xfrm>
            <a:off x="666720" y="2717280"/>
            <a:ext cx="516780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020" b="0" u="none" strike="noStrike">
                <a:solidFill>
                  <a:srgbClr val="1B7CA8"/>
                </a:solidFill>
                <a:effectLst/>
                <a:uFillTx/>
                <a:latin typeface="HelveticaNeue"/>
                <a:ea typeface="HelveticaNeue"/>
              </a:rPr>
              <a:t>Convertir un notebook en un paquete probado</a:t>
            </a:r>
            <a:endParaRPr lang="es-ES" sz="20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Forma libre 456"/>
          <p:cNvSpPr/>
          <p:nvPr/>
        </p:nvSpPr>
        <p:spPr>
          <a:xfrm>
            <a:off x="4657680" y="3247920"/>
            <a:ext cx="933840" cy="267120"/>
          </a:xfrm>
          <a:custGeom>
            <a:avLst/>
            <a:gdLst/>
            <a:ahLst/>
            <a:cxnLst/>
            <a:rect l="0" t="0" r="r" b="b"/>
            <a:pathLst>
              <a:path w="2594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1" y="0"/>
                  <a:pt x="105" y="0"/>
                </a:cubicBezTo>
                <a:lnTo>
                  <a:pt x="2488" y="0"/>
                </a:lnTo>
                <a:cubicBezTo>
                  <a:pt x="2502" y="0"/>
                  <a:pt x="2515" y="2"/>
                  <a:pt x="2528" y="8"/>
                </a:cubicBezTo>
                <a:cubicBezTo>
                  <a:pt x="2541" y="13"/>
                  <a:pt x="2553" y="21"/>
                  <a:pt x="2563" y="31"/>
                </a:cubicBezTo>
                <a:cubicBezTo>
                  <a:pt x="2572" y="41"/>
                  <a:pt x="2580" y="52"/>
                  <a:pt x="2585" y="65"/>
                </a:cubicBezTo>
                <a:cubicBezTo>
                  <a:pt x="2591" y="78"/>
                  <a:pt x="2594" y="92"/>
                  <a:pt x="2594" y="106"/>
                </a:cubicBezTo>
                <a:lnTo>
                  <a:pt x="2594" y="636"/>
                </a:lnTo>
                <a:cubicBezTo>
                  <a:pt x="2594" y="650"/>
                  <a:pt x="2591" y="663"/>
                  <a:pt x="2585" y="676"/>
                </a:cubicBezTo>
                <a:cubicBezTo>
                  <a:pt x="2580" y="689"/>
                  <a:pt x="2572" y="701"/>
                  <a:pt x="2563" y="711"/>
                </a:cubicBezTo>
                <a:cubicBezTo>
                  <a:pt x="2553" y="721"/>
                  <a:pt x="2541" y="728"/>
                  <a:pt x="2528" y="734"/>
                </a:cubicBezTo>
                <a:cubicBezTo>
                  <a:pt x="2515" y="739"/>
                  <a:pt x="2502" y="742"/>
                  <a:pt x="2488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4"/>
                </a:cubicBezTo>
                <a:cubicBezTo>
                  <a:pt x="52" y="728"/>
                  <a:pt x="41" y="721"/>
                  <a:pt x="31" y="711"/>
                </a:cubicBezTo>
                <a:cubicBezTo>
                  <a:pt x="21" y="701"/>
                  <a:pt x="13" y="689"/>
                  <a:pt x="8" y="676"/>
                </a:cubicBezTo>
                <a:cubicBezTo>
                  <a:pt x="2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CuadroTexto 457"/>
          <p:cNvSpPr txBox="1"/>
          <p:nvPr/>
        </p:nvSpPr>
        <p:spPr>
          <a:xfrm>
            <a:off x="666720" y="3230280"/>
            <a:ext cx="39895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El análisis de la sesión 2 se convierte en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CuadroTexto 458"/>
          <p:cNvSpPr txBox="1"/>
          <p:nvPr/>
        </p:nvSpPr>
        <p:spPr>
          <a:xfrm>
            <a:off x="4762620" y="3263755"/>
            <a:ext cx="867240" cy="23544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es-ES" sz="1530" b="0" u="none" strike="noStrike" dirty="0" err="1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clinlab</a:t>
            </a:r>
            <a:endParaRPr lang="es-ES" sz="15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CuadroTexto 459"/>
          <p:cNvSpPr txBox="1"/>
          <p:nvPr/>
        </p:nvSpPr>
        <p:spPr>
          <a:xfrm>
            <a:off x="5589000" y="3230280"/>
            <a:ext cx="6280565" cy="276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 un paquete instalable, suite con casos límite clínicos, ≥80%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CuadroTexto 460"/>
          <p:cNvSpPr txBox="1"/>
          <p:nvPr/>
        </p:nvSpPr>
        <p:spPr>
          <a:xfrm>
            <a:off x="666720" y="3573360"/>
            <a:ext cx="39560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de cobertura, pre-commit y CI en verde.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Forma libre 461"/>
          <p:cNvSpPr/>
          <p:nvPr/>
        </p:nvSpPr>
        <p:spPr>
          <a:xfrm>
            <a:off x="3762360" y="4086000"/>
            <a:ext cx="3162600" cy="267120"/>
          </a:xfrm>
          <a:custGeom>
            <a:avLst/>
            <a:gdLst/>
            <a:ahLst/>
            <a:cxnLst/>
            <a:rect l="0" t="0" r="r" b="b"/>
            <a:pathLst>
              <a:path w="8785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0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8679" y="0"/>
                </a:lnTo>
                <a:cubicBezTo>
                  <a:pt x="8693" y="0"/>
                  <a:pt x="8706" y="3"/>
                  <a:pt x="8719" y="8"/>
                </a:cubicBezTo>
                <a:cubicBezTo>
                  <a:pt x="8732" y="14"/>
                  <a:pt x="8744" y="21"/>
                  <a:pt x="8754" y="31"/>
                </a:cubicBezTo>
                <a:cubicBezTo>
                  <a:pt x="8764" y="41"/>
                  <a:pt x="8771" y="52"/>
                  <a:pt x="8777" y="65"/>
                </a:cubicBezTo>
                <a:cubicBezTo>
                  <a:pt x="8782" y="78"/>
                  <a:pt x="8785" y="92"/>
                  <a:pt x="8785" y="106"/>
                </a:cubicBezTo>
                <a:lnTo>
                  <a:pt x="8785" y="636"/>
                </a:lnTo>
                <a:cubicBezTo>
                  <a:pt x="8785" y="650"/>
                  <a:pt x="8782" y="664"/>
                  <a:pt x="8777" y="677"/>
                </a:cubicBezTo>
                <a:cubicBezTo>
                  <a:pt x="8771" y="690"/>
                  <a:pt x="8764" y="701"/>
                  <a:pt x="8754" y="711"/>
                </a:cubicBezTo>
                <a:cubicBezTo>
                  <a:pt x="8744" y="721"/>
                  <a:pt x="8732" y="729"/>
                  <a:pt x="8719" y="734"/>
                </a:cubicBezTo>
                <a:cubicBezTo>
                  <a:pt x="8706" y="739"/>
                  <a:pt x="8693" y="742"/>
                  <a:pt x="8679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4"/>
                </a:cubicBezTo>
                <a:cubicBezTo>
                  <a:pt x="52" y="729"/>
                  <a:pt x="40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2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CuadroTexto 462"/>
          <p:cNvSpPr txBox="1"/>
          <p:nvPr/>
        </p:nvSpPr>
        <p:spPr>
          <a:xfrm>
            <a:off x="666720" y="4068720"/>
            <a:ext cx="31082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Entregable: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repositorio donde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CuadroTexto 463"/>
          <p:cNvSpPr txBox="1"/>
          <p:nvPr/>
        </p:nvSpPr>
        <p:spPr>
          <a:xfrm>
            <a:off x="3823560" y="4105800"/>
            <a:ext cx="30542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pip install -e . &amp;&amp; pytest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Forma libre 464"/>
          <p:cNvSpPr/>
          <p:nvPr/>
        </p:nvSpPr>
        <p:spPr>
          <a:xfrm>
            <a:off x="666720" y="4581360"/>
            <a:ext cx="5029560" cy="267120"/>
          </a:xfrm>
          <a:custGeom>
            <a:avLst/>
            <a:gdLst/>
            <a:ahLst/>
            <a:cxnLst/>
            <a:rect l="0" t="0" r="r" b="b"/>
            <a:pathLst>
              <a:path w="13971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13865" y="0"/>
                </a:lnTo>
                <a:cubicBezTo>
                  <a:pt x="13879" y="0"/>
                  <a:pt x="13892" y="3"/>
                  <a:pt x="13905" y="8"/>
                </a:cubicBezTo>
                <a:cubicBezTo>
                  <a:pt x="13918" y="13"/>
                  <a:pt x="13930" y="21"/>
                  <a:pt x="13940" y="31"/>
                </a:cubicBezTo>
                <a:cubicBezTo>
                  <a:pt x="13950" y="41"/>
                  <a:pt x="13957" y="52"/>
                  <a:pt x="13963" y="65"/>
                </a:cubicBezTo>
                <a:cubicBezTo>
                  <a:pt x="13968" y="78"/>
                  <a:pt x="13971" y="92"/>
                  <a:pt x="13971" y="106"/>
                </a:cubicBezTo>
                <a:lnTo>
                  <a:pt x="13971" y="636"/>
                </a:lnTo>
                <a:cubicBezTo>
                  <a:pt x="13971" y="650"/>
                  <a:pt x="13968" y="663"/>
                  <a:pt x="13963" y="676"/>
                </a:cubicBezTo>
                <a:cubicBezTo>
                  <a:pt x="13957" y="689"/>
                  <a:pt x="13950" y="701"/>
                  <a:pt x="13940" y="711"/>
                </a:cubicBezTo>
                <a:cubicBezTo>
                  <a:pt x="13930" y="721"/>
                  <a:pt x="13918" y="728"/>
                  <a:pt x="13905" y="734"/>
                </a:cubicBezTo>
                <a:cubicBezTo>
                  <a:pt x="13892" y="739"/>
                  <a:pt x="13879" y="742"/>
                  <a:pt x="13865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4"/>
                </a:cubicBezTo>
                <a:cubicBezTo>
                  <a:pt x="52" y="728"/>
                  <a:pt x="41" y="721"/>
                  <a:pt x="31" y="711"/>
                </a:cubicBezTo>
                <a:cubicBezTo>
                  <a:pt x="21" y="701"/>
                  <a:pt x="13" y="689"/>
                  <a:pt x="8" y="676"/>
                </a:cubicBezTo>
                <a:cubicBezTo>
                  <a:pt x="2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CuadroTexto 465"/>
          <p:cNvSpPr txBox="1"/>
          <p:nvPr/>
        </p:nvSpPr>
        <p:spPr>
          <a:xfrm>
            <a:off x="6922080" y="4068720"/>
            <a:ext cx="21351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funciona desde cero.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CuadroTexto 467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05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CuadroTexto 468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CuadroTexto 469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26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Forma libre 47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Forma libre 47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Forma libre 47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CuadroTexto 473"/>
          <p:cNvSpPr txBox="1"/>
          <p:nvPr/>
        </p:nvSpPr>
        <p:spPr>
          <a:xfrm>
            <a:off x="4672800" y="2482920"/>
            <a:ext cx="291528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¿Preguntas?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CuadroTexto 479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05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CuadroTexto 480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CuadroTexto 481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27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Words>2530</Words>
  <Application>Microsoft Macintosh PowerPoint</Application>
  <PresentationFormat>Panorámica</PresentationFormat>
  <Paragraphs>300</Paragraphs>
  <Slides>27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4" baseType="lpstr">
      <vt:lpstr>Arial</vt:lpstr>
      <vt:lpstr>HelveticaNeue</vt:lpstr>
      <vt:lpstr>Menlo</vt:lpstr>
      <vt:lpstr>Symbol</vt:lpstr>
      <vt:lpstr>Times New Roman</vt:lpstr>
      <vt:lpstr>Wingdings</vt:lpstr>
      <vt:lpstr>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dc:description/>
  <cp:lastModifiedBy>Antonio Daniel Martinez Gutierrez</cp:lastModifiedBy>
  <cp:revision>2</cp:revision>
  <dcterms:modified xsi:type="dcterms:W3CDTF">2026-08-25T14:04:56Z</dcterms:modified>
  <dc:language>es-ES</dc:language>
</cp:coreProperties>
</file>