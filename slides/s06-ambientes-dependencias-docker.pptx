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5" r:id="rId15"/>
    <p:sldId id="269" r:id="rId16"/>
    <p:sldId id="270" r:id="rId17"/>
    <p:sldId id="271" r:id="rId18"/>
    <p:sldId id="272" r:id="rId19"/>
    <p:sldId id="286" r:id="rId20"/>
    <p:sldId id="273" r:id="rId21"/>
    <p:sldId id="275" r:id="rId22"/>
    <p:sldId id="276" r:id="rId23"/>
    <p:sldId id="277" r:id="rId24"/>
    <p:sldId id="278" r:id="rId25"/>
    <p:sldId id="280" r:id="rId26"/>
    <p:sldId id="281" r:id="rId27"/>
    <p:sldId id="282" r:id="rId28"/>
    <p:sldId id="283" r:id="rId29"/>
    <p:sldId id="284" r:id="rId30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83"/>
    <p:restoredTop sz="94694"/>
  </p:normalViewPr>
  <p:slideViewPr>
    <p:cSldViewPr snapToGrid="0">
      <p:cViewPr varScale="1">
        <p:scale>
          <a:sx n="121" d="100"/>
          <a:sy n="121" d="100"/>
        </p:scale>
        <p:origin x="8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06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6720" y="3187440"/>
            <a:ext cx="62719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Ambientes Virtuales, Dependencias y Docker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868560"/>
            <a:ext cx="3548087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II — Ingeniería de software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Forma libre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Forma libre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9760" y="3268440"/>
            <a:ext cx="8155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Aislar dependencias con ambientes virtuales y decidir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cuándo eso ya no basta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869760" y="3668400"/>
            <a:ext cx="6716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Distinguir declarar restricciones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congelar versiones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(lockﬁles)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869760" y="4068720"/>
            <a:ext cx="7203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Escribir un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Dockerﬁle correcto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para un proyecto de ciencia de datos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869760" y="4468680"/>
            <a:ext cx="5738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Construir imágenes reproducibles, ligeras y sin secretos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rma libre 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Forma libre 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Forma libre 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Forma libre 30"/>
          <p:cNvSpPr/>
          <p:nvPr/>
        </p:nvSpPr>
        <p:spPr>
          <a:xfrm>
            <a:off x="666720" y="511488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orma libre 31"/>
          <p:cNvSpPr/>
          <p:nvPr/>
        </p:nvSpPr>
        <p:spPr>
          <a:xfrm>
            <a:off x="666720" y="511488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666720" y="11872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869760" y="1858680"/>
            <a:ext cx="3027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«En mi máquina sí funciona»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869760" y="2259000"/>
            <a:ext cx="3231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Ambientes virtuales de Python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869760" y="2658960"/>
            <a:ext cx="4315925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Dependencias: restricciones y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lockﬁles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869760" y="3058920"/>
            <a:ext cx="2457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Qué es un contenedor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869760" y="3458880"/>
            <a:ext cx="2812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El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Dockerﬁle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paso a paso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869760" y="3859200"/>
            <a:ext cx="2469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Ejecutar contenedores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869760" y="4259160"/>
            <a:ext cx="3168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 Buenas prácticas y seguridad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869760" y="4659120"/>
            <a:ext cx="2516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8. Docker en biomedicina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Forma libre 41"/>
          <p:cNvSpPr/>
          <p:nvPr/>
        </p:nvSpPr>
        <p:spPr>
          <a:xfrm>
            <a:off x="4743360" y="5286240"/>
            <a:ext cx="933840" cy="267120"/>
          </a:xfrm>
          <a:custGeom>
            <a:avLst/>
            <a:gdLst/>
            <a:ahLst/>
            <a:cxnLst/>
            <a:rect l="0" t="0" r="r" b="b"/>
            <a:pathLst>
              <a:path w="2594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488" y="0"/>
                </a:lnTo>
                <a:cubicBezTo>
                  <a:pt x="2502" y="0"/>
                  <a:pt x="2515" y="3"/>
                  <a:pt x="2528" y="8"/>
                </a:cubicBezTo>
                <a:cubicBezTo>
                  <a:pt x="2541" y="13"/>
                  <a:pt x="2553" y="21"/>
                  <a:pt x="2563" y="31"/>
                </a:cubicBezTo>
                <a:cubicBezTo>
                  <a:pt x="2573" y="41"/>
                  <a:pt x="2580" y="52"/>
                  <a:pt x="2586" y="65"/>
                </a:cubicBezTo>
                <a:cubicBezTo>
                  <a:pt x="2591" y="78"/>
                  <a:pt x="2594" y="92"/>
                  <a:pt x="2594" y="106"/>
                </a:cubicBezTo>
                <a:lnTo>
                  <a:pt x="2594" y="636"/>
                </a:lnTo>
                <a:cubicBezTo>
                  <a:pt x="2594" y="650"/>
                  <a:pt x="2591" y="663"/>
                  <a:pt x="2586" y="676"/>
                </a:cubicBezTo>
                <a:cubicBezTo>
                  <a:pt x="2580" y="689"/>
                  <a:pt x="2573" y="701"/>
                  <a:pt x="2563" y="711"/>
                </a:cubicBezTo>
                <a:cubicBezTo>
                  <a:pt x="2553" y="721"/>
                  <a:pt x="2541" y="728"/>
                  <a:pt x="2528" y="734"/>
                </a:cubicBezTo>
                <a:cubicBezTo>
                  <a:pt x="2515" y="739"/>
                  <a:pt x="2502" y="742"/>
                  <a:pt x="2488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CuadroTexto 42"/>
          <p:cNvSpPr txBox="1"/>
          <p:nvPr/>
        </p:nvSpPr>
        <p:spPr>
          <a:xfrm>
            <a:off x="905040" y="5268600"/>
            <a:ext cx="3840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containerizar tu paquete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4802400" y="530604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clinlab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CuadroTexto 44"/>
          <p:cNvSpPr txBox="1"/>
          <p:nvPr/>
        </p:nvSpPr>
        <p:spPr>
          <a:xfrm>
            <a:off x="5678640" y="5268600"/>
            <a:ext cx="1423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de la sesión 5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CuadroTexto 4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CuadroTexto 4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orma libre 4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Forma libre 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Forma libre 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2644200" y="3063960"/>
            <a:ext cx="70646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«En mi máquina sí funciona»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CuadroTexto 5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orma libre 5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Forma libre 5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Forma libre 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Forma libre 58"/>
          <p:cNvSpPr/>
          <p:nvPr/>
        </p:nvSpPr>
        <p:spPr>
          <a:xfrm>
            <a:off x="676080" y="2676240"/>
            <a:ext cx="2143440" cy="410040"/>
          </a:xfrm>
          <a:custGeom>
            <a:avLst/>
            <a:gdLst/>
            <a:ahLst/>
            <a:cxnLst/>
            <a:rect l="0" t="0" r="r" b="b"/>
            <a:pathLst>
              <a:path w="5954" h="1139">
                <a:moveTo>
                  <a:pt x="0" y="0"/>
                </a:moveTo>
                <a:lnTo>
                  <a:pt x="5954" y="0"/>
                </a:lnTo>
                <a:lnTo>
                  <a:pt x="595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Forma libre 59"/>
          <p:cNvSpPr/>
          <p:nvPr/>
        </p:nvSpPr>
        <p:spPr>
          <a:xfrm>
            <a:off x="2819160" y="2676240"/>
            <a:ext cx="3410280" cy="410040"/>
          </a:xfrm>
          <a:custGeom>
            <a:avLst/>
            <a:gdLst/>
            <a:ahLst/>
            <a:cxnLst/>
            <a:rect l="0" t="0" r="r" b="b"/>
            <a:pathLst>
              <a:path w="9473" h="1139">
                <a:moveTo>
                  <a:pt x="0" y="0"/>
                </a:moveTo>
                <a:lnTo>
                  <a:pt x="9473" y="0"/>
                </a:lnTo>
                <a:lnTo>
                  <a:pt x="947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Forma libre 60"/>
          <p:cNvSpPr/>
          <p:nvPr/>
        </p:nvSpPr>
        <p:spPr>
          <a:xfrm>
            <a:off x="6229080" y="2676240"/>
            <a:ext cx="3991320" cy="410040"/>
          </a:xfrm>
          <a:custGeom>
            <a:avLst/>
            <a:gdLst/>
            <a:ahLst/>
            <a:cxnLst/>
            <a:rect l="0" t="0" r="r" b="b"/>
            <a:pathLst>
              <a:path w="11087" h="1139">
                <a:moveTo>
                  <a:pt x="0" y="0"/>
                </a:moveTo>
                <a:lnTo>
                  <a:pt x="11087" y="0"/>
                </a:lnTo>
                <a:lnTo>
                  <a:pt x="1108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Forma libre 61"/>
          <p:cNvSpPr/>
          <p:nvPr/>
        </p:nvSpPr>
        <p:spPr>
          <a:xfrm>
            <a:off x="676080" y="2676240"/>
            <a:ext cx="2143440" cy="410040"/>
          </a:xfrm>
          <a:custGeom>
            <a:avLst/>
            <a:gdLst/>
            <a:ahLst/>
            <a:cxnLst/>
            <a:rect l="0" t="0" r="r" b="b"/>
            <a:pathLst>
              <a:path w="5954" h="1139">
                <a:moveTo>
                  <a:pt x="0" y="0"/>
                </a:moveTo>
                <a:lnTo>
                  <a:pt x="5954" y="0"/>
                </a:lnTo>
                <a:lnTo>
                  <a:pt x="595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Forma libre 62"/>
          <p:cNvSpPr/>
          <p:nvPr/>
        </p:nvSpPr>
        <p:spPr>
          <a:xfrm>
            <a:off x="2819160" y="2676240"/>
            <a:ext cx="3410280" cy="410040"/>
          </a:xfrm>
          <a:custGeom>
            <a:avLst/>
            <a:gdLst/>
            <a:ahLst/>
            <a:cxnLst/>
            <a:rect l="0" t="0" r="r" b="b"/>
            <a:pathLst>
              <a:path w="9473" h="1139">
                <a:moveTo>
                  <a:pt x="0" y="0"/>
                </a:moveTo>
                <a:lnTo>
                  <a:pt x="9473" y="0"/>
                </a:lnTo>
                <a:lnTo>
                  <a:pt x="947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Forma libre 63"/>
          <p:cNvSpPr/>
          <p:nvPr/>
        </p:nvSpPr>
        <p:spPr>
          <a:xfrm>
            <a:off x="6229080" y="2676240"/>
            <a:ext cx="3991320" cy="410040"/>
          </a:xfrm>
          <a:custGeom>
            <a:avLst/>
            <a:gdLst/>
            <a:ahLst/>
            <a:cxnLst/>
            <a:rect l="0" t="0" r="r" b="b"/>
            <a:pathLst>
              <a:path w="11087" h="1139">
                <a:moveTo>
                  <a:pt x="0" y="0"/>
                </a:moveTo>
                <a:lnTo>
                  <a:pt x="11087" y="0"/>
                </a:lnTo>
                <a:lnTo>
                  <a:pt x="1108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Forma libre 64"/>
          <p:cNvSpPr/>
          <p:nvPr/>
        </p:nvSpPr>
        <p:spPr>
          <a:xfrm>
            <a:off x="676080" y="3085920"/>
            <a:ext cx="2143440" cy="419400"/>
          </a:xfrm>
          <a:custGeom>
            <a:avLst/>
            <a:gdLst/>
            <a:ahLst/>
            <a:cxnLst/>
            <a:rect l="0" t="0" r="r" b="b"/>
            <a:pathLst>
              <a:path w="5954" h="1165">
                <a:moveTo>
                  <a:pt x="0" y="0"/>
                </a:moveTo>
                <a:lnTo>
                  <a:pt x="5954" y="0"/>
                </a:lnTo>
                <a:lnTo>
                  <a:pt x="595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Forma libre 65"/>
          <p:cNvSpPr/>
          <p:nvPr/>
        </p:nvSpPr>
        <p:spPr>
          <a:xfrm>
            <a:off x="2819160" y="3085920"/>
            <a:ext cx="3410280" cy="419400"/>
          </a:xfrm>
          <a:custGeom>
            <a:avLst/>
            <a:gdLst/>
            <a:ahLst/>
            <a:cxnLst/>
            <a:rect l="0" t="0" r="r" b="b"/>
            <a:pathLst>
              <a:path w="9473" h="1165">
                <a:moveTo>
                  <a:pt x="0" y="0"/>
                </a:moveTo>
                <a:lnTo>
                  <a:pt x="9473" y="0"/>
                </a:lnTo>
                <a:lnTo>
                  <a:pt x="947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Forma libre 66"/>
          <p:cNvSpPr/>
          <p:nvPr/>
        </p:nvSpPr>
        <p:spPr>
          <a:xfrm>
            <a:off x="6229080" y="3085920"/>
            <a:ext cx="3991320" cy="419400"/>
          </a:xfrm>
          <a:custGeom>
            <a:avLst/>
            <a:gdLst/>
            <a:ahLst/>
            <a:cxnLst/>
            <a:rect l="0" t="0" r="r" b="b"/>
            <a:pathLst>
              <a:path w="11087" h="1165">
                <a:moveTo>
                  <a:pt x="0" y="0"/>
                </a:moveTo>
                <a:lnTo>
                  <a:pt x="11087" y="0"/>
                </a:lnTo>
                <a:lnTo>
                  <a:pt x="1108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Forma libre 67"/>
          <p:cNvSpPr/>
          <p:nvPr/>
        </p:nvSpPr>
        <p:spPr>
          <a:xfrm>
            <a:off x="676080" y="3504960"/>
            <a:ext cx="2143440" cy="419400"/>
          </a:xfrm>
          <a:custGeom>
            <a:avLst/>
            <a:gdLst/>
            <a:ahLst/>
            <a:cxnLst/>
            <a:rect l="0" t="0" r="r" b="b"/>
            <a:pathLst>
              <a:path w="5954" h="1165">
                <a:moveTo>
                  <a:pt x="0" y="0"/>
                </a:moveTo>
                <a:lnTo>
                  <a:pt x="5954" y="0"/>
                </a:lnTo>
                <a:lnTo>
                  <a:pt x="595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Forma libre 68"/>
          <p:cNvSpPr/>
          <p:nvPr/>
        </p:nvSpPr>
        <p:spPr>
          <a:xfrm>
            <a:off x="2819160" y="3504960"/>
            <a:ext cx="3410280" cy="419400"/>
          </a:xfrm>
          <a:custGeom>
            <a:avLst/>
            <a:gdLst/>
            <a:ahLst/>
            <a:cxnLst/>
            <a:rect l="0" t="0" r="r" b="b"/>
            <a:pathLst>
              <a:path w="9473" h="1165">
                <a:moveTo>
                  <a:pt x="0" y="0"/>
                </a:moveTo>
                <a:lnTo>
                  <a:pt x="9473" y="0"/>
                </a:lnTo>
                <a:lnTo>
                  <a:pt x="947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Forma libre 69"/>
          <p:cNvSpPr/>
          <p:nvPr/>
        </p:nvSpPr>
        <p:spPr>
          <a:xfrm>
            <a:off x="6229080" y="3504960"/>
            <a:ext cx="3991320" cy="419400"/>
          </a:xfrm>
          <a:custGeom>
            <a:avLst/>
            <a:gdLst/>
            <a:ahLst/>
            <a:cxnLst/>
            <a:rect l="0" t="0" r="r" b="b"/>
            <a:pathLst>
              <a:path w="11087" h="1165">
                <a:moveTo>
                  <a:pt x="0" y="0"/>
                </a:moveTo>
                <a:lnTo>
                  <a:pt x="11087" y="0"/>
                </a:lnTo>
                <a:lnTo>
                  <a:pt x="1108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Forma libre 70"/>
          <p:cNvSpPr/>
          <p:nvPr/>
        </p:nvSpPr>
        <p:spPr>
          <a:xfrm>
            <a:off x="676080" y="3924000"/>
            <a:ext cx="2143440" cy="419400"/>
          </a:xfrm>
          <a:custGeom>
            <a:avLst/>
            <a:gdLst/>
            <a:ahLst/>
            <a:cxnLst/>
            <a:rect l="0" t="0" r="r" b="b"/>
            <a:pathLst>
              <a:path w="5954" h="1165">
                <a:moveTo>
                  <a:pt x="0" y="0"/>
                </a:moveTo>
                <a:lnTo>
                  <a:pt x="5954" y="0"/>
                </a:lnTo>
                <a:lnTo>
                  <a:pt x="595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Forma libre 71"/>
          <p:cNvSpPr/>
          <p:nvPr/>
        </p:nvSpPr>
        <p:spPr>
          <a:xfrm>
            <a:off x="2819160" y="3924000"/>
            <a:ext cx="3410280" cy="419400"/>
          </a:xfrm>
          <a:custGeom>
            <a:avLst/>
            <a:gdLst/>
            <a:ahLst/>
            <a:cxnLst/>
            <a:rect l="0" t="0" r="r" b="b"/>
            <a:pathLst>
              <a:path w="9473" h="1165">
                <a:moveTo>
                  <a:pt x="0" y="0"/>
                </a:moveTo>
                <a:lnTo>
                  <a:pt x="9473" y="0"/>
                </a:lnTo>
                <a:lnTo>
                  <a:pt x="947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Forma libre 72"/>
          <p:cNvSpPr/>
          <p:nvPr/>
        </p:nvSpPr>
        <p:spPr>
          <a:xfrm>
            <a:off x="6229080" y="3924000"/>
            <a:ext cx="3991320" cy="419400"/>
          </a:xfrm>
          <a:custGeom>
            <a:avLst/>
            <a:gdLst/>
            <a:ahLst/>
            <a:cxnLst/>
            <a:rect l="0" t="0" r="r" b="b"/>
            <a:pathLst>
              <a:path w="11087" h="1165">
                <a:moveTo>
                  <a:pt x="0" y="0"/>
                </a:moveTo>
                <a:lnTo>
                  <a:pt x="11087" y="0"/>
                </a:lnTo>
                <a:lnTo>
                  <a:pt x="1108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Forma libre 73"/>
          <p:cNvSpPr/>
          <p:nvPr/>
        </p:nvSpPr>
        <p:spPr>
          <a:xfrm>
            <a:off x="666720" y="26668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Forma libre 74"/>
          <p:cNvSpPr/>
          <p:nvPr/>
        </p:nvSpPr>
        <p:spPr>
          <a:xfrm>
            <a:off x="666720" y="2666880"/>
            <a:ext cx="2152800" cy="9720"/>
          </a:xfrm>
          <a:custGeom>
            <a:avLst/>
            <a:gdLst/>
            <a:ahLst/>
            <a:cxnLst/>
            <a:rect l="0" t="0" r="r" b="b"/>
            <a:pathLst>
              <a:path w="5980" h="27">
                <a:moveTo>
                  <a:pt x="0" y="0"/>
                </a:moveTo>
                <a:lnTo>
                  <a:pt x="5980" y="0"/>
                </a:lnTo>
                <a:lnTo>
                  <a:pt x="59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Forma libre 75"/>
          <p:cNvSpPr/>
          <p:nvPr/>
        </p:nvSpPr>
        <p:spPr>
          <a:xfrm>
            <a:off x="2809800" y="26668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Forma libre 76"/>
          <p:cNvSpPr/>
          <p:nvPr/>
        </p:nvSpPr>
        <p:spPr>
          <a:xfrm>
            <a:off x="2819160" y="2666880"/>
            <a:ext cx="3420000" cy="9720"/>
          </a:xfrm>
          <a:custGeom>
            <a:avLst/>
            <a:gdLst/>
            <a:ahLst/>
            <a:cxnLst/>
            <a:rect l="0" t="0" r="r" b="b"/>
            <a:pathLst>
              <a:path w="9500" h="27">
                <a:moveTo>
                  <a:pt x="0" y="0"/>
                </a:moveTo>
                <a:lnTo>
                  <a:pt x="9500" y="0"/>
                </a:lnTo>
                <a:lnTo>
                  <a:pt x="95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Forma libre 77"/>
          <p:cNvSpPr/>
          <p:nvPr/>
        </p:nvSpPr>
        <p:spPr>
          <a:xfrm>
            <a:off x="6229080" y="26668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Forma libre 78"/>
          <p:cNvSpPr/>
          <p:nvPr/>
        </p:nvSpPr>
        <p:spPr>
          <a:xfrm>
            <a:off x="6238800" y="2666880"/>
            <a:ext cx="3991320" cy="9720"/>
          </a:xfrm>
          <a:custGeom>
            <a:avLst/>
            <a:gdLst/>
            <a:ahLst/>
            <a:cxnLst/>
            <a:rect l="0" t="0" r="r" b="b"/>
            <a:pathLst>
              <a:path w="11087" h="27">
                <a:moveTo>
                  <a:pt x="0" y="0"/>
                </a:moveTo>
                <a:lnTo>
                  <a:pt x="11087" y="0"/>
                </a:lnTo>
                <a:lnTo>
                  <a:pt x="110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Forma libre 79"/>
          <p:cNvSpPr/>
          <p:nvPr/>
        </p:nvSpPr>
        <p:spPr>
          <a:xfrm>
            <a:off x="10220040" y="26668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Forma libre 80"/>
          <p:cNvSpPr/>
          <p:nvPr/>
        </p:nvSpPr>
        <p:spPr>
          <a:xfrm>
            <a:off x="666720" y="3076560"/>
            <a:ext cx="2152800" cy="9720"/>
          </a:xfrm>
          <a:custGeom>
            <a:avLst/>
            <a:gdLst/>
            <a:ahLst/>
            <a:cxnLst/>
            <a:rect l="0" t="0" r="r" b="b"/>
            <a:pathLst>
              <a:path w="5980" h="27">
                <a:moveTo>
                  <a:pt x="0" y="0"/>
                </a:moveTo>
                <a:lnTo>
                  <a:pt x="5980" y="0"/>
                </a:lnTo>
                <a:lnTo>
                  <a:pt x="59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Forma libre 81"/>
          <p:cNvSpPr/>
          <p:nvPr/>
        </p:nvSpPr>
        <p:spPr>
          <a:xfrm>
            <a:off x="2819160" y="3076560"/>
            <a:ext cx="3420000" cy="9720"/>
          </a:xfrm>
          <a:custGeom>
            <a:avLst/>
            <a:gdLst/>
            <a:ahLst/>
            <a:cxnLst/>
            <a:rect l="0" t="0" r="r" b="b"/>
            <a:pathLst>
              <a:path w="9500" h="27">
                <a:moveTo>
                  <a:pt x="0" y="0"/>
                </a:moveTo>
                <a:lnTo>
                  <a:pt x="9500" y="0"/>
                </a:lnTo>
                <a:lnTo>
                  <a:pt x="95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Forma libre 82"/>
          <p:cNvSpPr/>
          <p:nvPr/>
        </p:nvSpPr>
        <p:spPr>
          <a:xfrm>
            <a:off x="6238800" y="3076560"/>
            <a:ext cx="3991320" cy="9720"/>
          </a:xfrm>
          <a:custGeom>
            <a:avLst/>
            <a:gdLst/>
            <a:ahLst/>
            <a:cxnLst/>
            <a:rect l="0" t="0" r="r" b="b"/>
            <a:pathLst>
              <a:path w="11087" h="27">
                <a:moveTo>
                  <a:pt x="0" y="0"/>
                </a:moveTo>
                <a:lnTo>
                  <a:pt x="11087" y="0"/>
                </a:lnTo>
                <a:lnTo>
                  <a:pt x="110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Forma libre 83"/>
          <p:cNvSpPr/>
          <p:nvPr/>
        </p:nvSpPr>
        <p:spPr>
          <a:xfrm>
            <a:off x="666720" y="3085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Forma libre 84"/>
          <p:cNvSpPr/>
          <p:nvPr/>
        </p:nvSpPr>
        <p:spPr>
          <a:xfrm>
            <a:off x="2809800" y="3085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Forma libre 85"/>
          <p:cNvSpPr/>
          <p:nvPr/>
        </p:nvSpPr>
        <p:spPr>
          <a:xfrm>
            <a:off x="6229080" y="30859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Forma libre 86"/>
          <p:cNvSpPr/>
          <p:nvPr/>
        </p:nvSpPr>
        <p:spPr>
          <a:xfrm>
            <a:off x="10220040" y="30859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Forma libre 87"/>
          <p:cNvSpPr/>
          <p:nvPr/>
        </p:nvSpPr>
        <p:spPr>
          <a:xfrm>
            <a:off x="666720" y="35049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Forma libre 88"/>
          <p:cNvSpPr/>
          <p:nvPr/>
        </p:nvSpPr>
        <p:spPr>
          <a:xfrm>
            <a:off x="666720" y="3495600"/>
            <a:ext cx="2152800" cy="9720"/>
          </a:xfrm>
          <a:custGeom>
            <a:avLst/>
            <a:gdLst/>
            <a:ahLst/>
            <a:cxnLst/>
            <a:rect l="0" t="0" r="r" b="b"/>
            <a:pathLst>
              <a:path w="5980" h="27">
                <a:moveTo>
                  <a:pt x="0" y="0"/>
                </a:moveTo>
                <a:lnTo>
                  <a:pt x="5980" y="0"/>
                </a:lnTo>
                <a:lnTo>
                  <a:pt x="59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Forma libre 89"/>
          <p:cNvSpPr/>
          <p:nvPr/>
        </p:nvSpPr>
        <p:spPr>
          <a:xfrm>
            <a:off x="2809800" y="35049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Forma libre 90"/>
          <p:cNvSpPr/>
          <p:nvPr/>
        </p:nvSpPr>
        <p:spPr>
          <a:xfrm>
            <a:off x="2819160" y="3495600"/>
            <a:ext cx="3420000" cy="9720"/>
          </a:xfrm>
          <a:custGeom>
            <a:avLst/>
            <a:gdLst/>
            <a:ahLst/>
            <a:cxnLst/>
            <a:rect l="0" t="0" r="r" b="b"/>
            <a:pathLst>
              <a:path w="9500" h="27">
                <a:moveTo>
                  <a:pt x="0" y="0"/>
                </a:moveTo>
                <a:lnTo>
                  <a:pt x="9500" y="0"/>
                </a:lnTo>
                <a:lnTo>
                  <a:pt x="95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Forma libre 91"/>
          <p:cNvSpPr/>
          <p:nvPr/>
        </p:nvSpPr>
        <p:spPr>
          <a:xfrm>
            <a:off x="6229080" y="35049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Forma libre 92"/>
          <p:cNvSpPr/>
          <p:nvPr/>
        </p:nvSpPr>
        <p:spPr>
          <a:xfrm>
            <a:off x="6238800" y="3495600"/>
            <a:ext cx="3991320" cy="9720"/>
          </a:xfrm>
          <a:custGeom>
            <a:avLst/>
            <a:gdLst/>
            <a:ahLst/>
            <a:cxnLst/>
            <a:rect l="0" t="0" r="r" b="b"/>
            <a:pathLst>
              <a:path w="11087" h="27">
                <a:moveTo>
                  <a:pt x="0" y="0"/>
                </a:moveTo>
                <a:lnTo>
                  <a:pt x="11087" y="0"/>
                </a:lnTo>
                <a:lnTo>
                  <a:pt x="110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Forma libre 93"/>
          <p:cNvSpPr/>
          <p:nvPr/>
        </p:nvSpPr>
        <p:spPr>
          <a:xfrm>
            <a:off x="10220040" y="35049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Forma libre 94"/>
          <p:cNvSpPr/>
          <p:nvPr/>
        </p:nvSpPr>
        <p:spPr>
          <a:xfrm>
            <a:off x="666720" y="3924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Forma libre 95"/>
          <p:cNvSpPr/>
          <p:nvPr/>
        </p:nvSpPr>
        <p:spPr>
          <a:xfrm>
            <a:off x="666720" y="3914640"/>
            <a:ext cx="2152800" cy="9720"/>
          </a:xfrm>
          <a:custGeom>
            <a:avLst/>
            <a:gdLst/>
            <a:ahLst/>
            <a:cxnLst/>
            <a:rect l="0" t="0" r="r" b="b"/>
            <a:pathLst>
              <a:path w="5980" h="27">
                <a:moveTo>
                  <a:pt x="0" y="0"/>
                </a:moveTo>
                <a:lnTo>
                  <a:pt x="5980" y="0"/>
                </a:lnTo>
                <a:lnTo>
                  <a:pt x="59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Forma libre 96"/>
          <p:cNvSpPr/>
          <p:nvPr/>
        </p:nvSpPr>
        <p:spPr>
          <a:xfrm>
            <a:off x="2809800" y="3924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Forma libre 97"/>
          <p:cNvSpPr/>
          <p:nvPr/>
        </p:nvSpPr>
        <p:spPr>
          <a:xfrm>
            <a:off x="2819160" y="3914640"/>
            <a:ext cx="3420000" cy="9720"/>
          </a:xfrm>
          <a:custGeom>
            <a:avLst/>
            <a:gdLst/>
            <a:ahLst/>
            <a:cxnLst/>
            <a:rect l="0" t="0" r="r" b="b"/>
            <a:pathLst>
              <a:path w="9500" h="27">
                <a:moveTo>
                  <a:pt x="0" y="0"/>
                </a:moveTo>
                <a:lnTo>
                  <a:pt x="9500" y="0"/>
                </a:lnTo>
                <a:lnTo>
                  <a:pt x="95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Forma libre 98"/>
          <p:cNvSpPr/>
          <p:nvPr/>
        </p:nvSpPr>
        <p:spPr>
          <a:xfrm>
            <a:off x="6229080" y="39240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Forma libre 99"/>
          <p:cNvSpPr/>
          <p:nvPr/>
        </p:nvSpPr>
        <p:spPr>
          <a:xfrm>
            <a:off x="6238800" y="3914640"/>
            <a:ext cx="3991320" cy="9720"/>
          </a:xfrm>
          <a:custGeom>
            <a:avLst/>
            <a:gdLst/>
            <a:ahLst/>
            <a:cxnLst/>
            <a:rect l="0" t="0" r="r" b="b"/>
            <a:pathLst>
              <a:path w="11087" h="27">
                <a:moveTo>
                  <a:pt x="0" y="0"/>
                </a:moveTo>
                <a:lnTo>
                  <a:pt x="11087" y="0"/>
                </a:lnTo>
                <a:lnTo>
                  <a:pt x="110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Forma libre 100"/>
          <p:cNvSpPr/>
          <p:nvPr/>
        </p:nvSpPr>
        <p:spPr>
          <a:xfrm>
            <a:off x="10220040" y="39240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Forma libre 101"/>
          <p:cNvSpPr/>
          <p:nvPr/>
        </p:nvSpPr>
        <p:spPr>
          <a:xfrm>
            <a:off x="666720" y="4333680"/>
            <a:ext cx="2152800" cy="9720"/>
          </a:xfrm>
          <a:custGeom>
            <a:avLst/>
            <a:gdLst/>
            <a:ahLst/>
            <a:cxnLst/>
            <a:rect l="0" t="0" r="r" b="b"/>
            <a:pathLst>
              <a:path w="5980" h="27">
                <a:moveTo>
                  <a:pt x="0" y="0"/>
                </a:moveTo>
                <a:lnTo>
                  <a:pt x="5980" y="0"/>
                </a:lnTo>
                <a:lnTo>
                  <a:pt x="59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Forma libre 102"/>
          <p:cNvSpPr/>
          <p:nvPr/>
        </p:nvSpPr>
        <p:spPr>
          <a:xfrm>
            <a:off x="2819160" y="4333680"/>
            <a:ext cx="3420000" cy="9720"/>
          </a:xfrm>
          <a:custGeom>
            <a:avLst/>
            <a:gdLst/>
            <a:ahLst/>
            <a:cxnLst/>
            <a:rect l="0" t="0" r="r" b="b"/>
            <a:pathLst>
              <a:path w="9500" h="27">
                <a:moveTo>
                  <a:pt x="0" y="0"/>
                </a:moveTo>
                <a:lnTo>
                  <a:pt x="9500" y="0"/>
                </a:lnTo>
                <a:lnTo>
                  <a:pt x="95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Forma libre 103"/>
          <p:cNvSpPr/>
          <p:nvPr/>
        </p:nvSpPr>
        <p:spPr>
          <a:xfrm>
            <a:off x="6238800" y="4333680"/>
            <a:ext cx="3991320" cy="9720"/>
          </a:xfrm>
          <a:custGeom>
            <a:avLst/>
            <a:gdLst/>
            <a:ahLst/>
            <a:cxnLst/>
            <a:rect l="0" t="0" r="r" b="b"/>
            <a:pathLst>
              <a:path w="11087" h="27">
                <a:moveTo>
                  <a:pt x="0" y="0"/>
                </a:moveTo>
                <a:lnTo>
                  <a:pt x="11087" y="0"/>
                </a:lnTo>
                <a:lnTo>
                  <a:pt x="110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CuadroTexto 104"/>
          <p:cNvSpPr txBox="1"/>
          <p:nvPr/>
        </p:nvSpPr>
        <p:spPr>
          <a:xfrm>
            <a:off x="666720" y="2034720"/>
            <a:ext cx="4279441" cy="392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problema tiene tres niveles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CuadroTexto 105"/>
          <p:cNvSpPr txBox="1"/>
          <p:nvPr/>
        </p:nvSpPr>
        <p:spPr>
          <a:xfrm>
            <a:off x="1545840" y="2771280"/>
            <a:ext cx="395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Piso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CuadroTexto 106"/>
          <p:cNvSpPr txBox="1"/>
          <p:nvPr/>
        </p:nvSpPr>
        <p:spPr>
          <a:xfrm>
            <a:off x="2943720" y="2771280"/>
            <a:ext cx="31651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diﬁere entre tu máquina y otra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CuadroTexto 107"/>
          <p:cNvSpPr txBox="1"/>
          <p:nvPr/>
        </p:nvSpPr>
        <p:spPr>
          <a:xfrm>
            <a:off x="7855200" y="2771280"/>
            <a:ext cx="740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Ejemplo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CuadroTexto 108"/>
          <p:cNvSpPr txBox="1"/>
          <p:nvPr/>
        </p:nvSpPr>
        <p:spPr>
          <a:xfrm>
            <a:off x="799920" y="3180960"/>
            <a:ext cx="1821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Paquetes de Python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CuadroTexto 109"/>
          <p:cNvSpPr txBox="1"/>
          <p:nvPr/>
        </p:nvSpPr>
        <p:spPr>
          <a:xfrm>
            <a:off x="2943720" y="3180960"/>
            <a:ext cx="2555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versiones de pandas, numpy…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Forma libre 110"/>
          <p:cNvSpPr/>
          <p:nvPr/>
        </p:nvSpPr>
        <p:spPr>
          <a:xfrm>
            <a:off x="7534080" y="3190680"/>
            <a:ext cx="695520" cy="228960"/>
          </a:xfrm>
          <a:custGeom>
            <a:avLst/>
            <a:gdLst/>
            <a:ahLst/>
            <a:cxnLst/>
            <a:rect l="0" t="0" r="r" b="b"/>
            <a:pathLst>
              <a:path w="193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827" y="0"/>
                </a:lnTo>
                <a:cubicBezTo>
                  <a:pt x="1841" y="0"/>
                  <a:pt x="1854" y="3"/>
                  <a:pt x="1867" y="8"/>
                </a:cubicBezTo>
                <a:cubicBezTo>
                  <a:pt x="1880" y="13"/>
                  <a:pt x="1892" y="21"/>
                  <a:pt x="1901" y="31"/>
                </a:cubicBezTo>
                <a:cubicBezTo>
                  <a:pt x="1911" y="41"/>
                  <a:pt x="1919" y="52"/>
                  <a:pt x="1924" y="65"/>
                </a:cubicBezTo>
                <a:cubicBezTo>
                  <a:pt x="1930" y="78"/>
                  <a:pt x="1932" y="92"/>
                  <a:pt x="1932" y="106"/>
                </a:cubicBezTo>
                <a:lnTo>
                  <a:pt x="1932" y="530"/>
                </a:lnTo>
                <a:cubicBezTo>
                  <a:pt x="1932" y="544"/>
                  <a:pt x="1930" y="558"/>
                  <a:pt x="1924" y="571"/>
                </a:cubicBezTo>
                <a:cubicBezTo>
                  <a:pt x="1919" y="584"/>
                  <a:pt x="1911" y="595"/>
                  <a:pt x="1901" y="605"/>
                </a:cubicBezTo>
                <a:cubicBezTo>
                  <a:pt x="1892" y="615"/>
                  <a:pt x="1880" y="623"/>
                  <a:pt x="1867" y="628"/>
                </a:cubicBezTo>
                <a:cubicBezTo>
                  <a:pt x="1854" y="633"/>
                  <a:pt x="1841" y="636"/>
                  <a:pt x="182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CuadroTexto 111"/>
          <p:cNvSpPr txBox="1"/>
          <p:nvPr/>
        </p:nvSpPr>
        <p:spPr>
          <a:xfrm>
            <a:off x="6358320" y="3180960"/>
            <a:ext cx="1172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tu código usa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CuadroTexto 112"/>
          <p:cNvSpPr txBox="1"/>
          <p:nvPr/>
        </p:nvSpPr>
        <p:spPr>
          <a:xfrm>
            <a:off x="7587000" y="3211920"/>
            <a:ext cx="5842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df.map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CuadroTexto 113"/>
          <p:cNvSpPr txBox="1"/>
          <p:nvPr/>
        </p:nvSpPr>
        <p:spPr>
          <a:xfrm>
            <a:off x="8229240" y="3180960"/>
            <a:ext cx="18637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su pandas no lo tiene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CuadroTexto 114"/>
          <p:cNvSpPr txBox="1"/>
          <p:nvPr/>
        </p:nvSpPr>
        <p:spPr>
          <a:xfrm>
            <a:off x="799920" y="3600000"/>
            <a:ext cx="1890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Librerías del sistema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Forma libre 115"/>
          <p:cNvSpPr/>
          <p:nvPr/>
        </p:nvSpPr>
        <p:spPr>
          <a:xfrm>
            <a:off x="6362640" y="3609720"/>
            <a:ext cx="1181160" cy="228960"/>
          </a:xfrm>
          <a:custGeom>
            <a:avLst/>
            <a:gdLst/>
            <a:ahLst/>
            <a:cxnLst/>
            <a:rect l="0" t="0" r="r" b="b"/>
            <a:pathLst>
              <a:path w="3281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176" y="0"/>
                </a:lnTo>
                <a:cubicBezTo>
                  <a:pt x="3190" y="0"/>
                  <a:pt x="3203" y="3"/>
                  <a:pt x="3216" y="8"/>
                </a:cubicBezTo>
                <a:cubicBezTo>
                  <a:pt x="3229" y="14"/>
                  <a:pt x="3241" y="21"/>
                  <a:pt x="3250" y="31"/>
                </a:cubicBezTo>
                <a:cubicBezTo>
                  <a:pt x="3260" y="41"/>
                  <a:pt x="3268" y="53"/>
                  <a:pt x="3273" y="66"/>
                </a:cubicBezTo>
                <a:cubicBezTo>
                  <a:pt x="3279" y="79"/>
                  <a:pt x="3281" y="92"/>
                  <a:pt x="3281" y="106"/>
                </a:cubicBezTo>
                <a:lnTo>
                  <a:pt x="3281" y="530"/>
                </a:lnTo>
                <a:cubicBezTo>
                  <a:pt x="3281" y="544"/>
                  <a:pt x="3279" y="558"/>
                  <a:pt x="3273" y="571"/>
                </a:cubicBezTo>
                <a:cubicBezTo>
                  <a:pt x="3268" y="584"/>
                  <a:pt x="3260" y="595"/>
                  <a:pt x="3250" y="605"/>
                </a:cubicBezTo>
                <a:cubicBezTo>
                  <a:pt x="3241" y="615"/>
                  <a:pt x="3229" y="623"/>
                  <a:pt x="3216" y="628"/>
                </a:cubicBezTo>
                <a:cubicBezTo>
                  <a:pt x="3203" y="634"/>
                  <a:pt x="3190" y="636"/>
                  <a:pt x="3176" y="636"/>
                </a:cubicBezTo>
                <a:lnTo>
                  <a:pt x="105" y="636"/>
                </a:lnTo>
                <a:cubicBezTo>
                  <a:pt x="91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2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CuadroTexto 116"/>
          <p:cNvSpPr txBox="1"/>
          <p:nvPr/>
        </p:nvSpPr>
        <p:spPr>
          <a:xfrm>
            <a:off x="2943720" y="3600000"/>
            <a:ext cx="2174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compiladores, BLAS, glibc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CuadroTexto 117"/>
          <p:cNvSpPr txBox="1"/>
          <p:nvPr/>
        </p:nvSpPr>
        <p:spPr>
          <a:xfrm>
            <a:off x="6415560" y="3631320"/>
            <a:ext cx="10706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pip install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CuadroTexto 118"/>
          <p:cNvSpPr txBox="1"/>
          <p:nvPr/>
        </p:nvSpPr>
        <p:spPr>
          <a:xfrm>
            <a:off x="7545240" y="3600000"/>
            <a:ext cx="1383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falla compilando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CuadroTexto 119"/>
          <p:cNvSpPr txBox="1"/>
          <p:nvPr/>
        </p:nvSpPr>
        <p:spPr>
          <a:xfrm>
            <a:off x="799920" y="4019040"/>
            <a:ext cx="1644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Sistema operativo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CuadroTexto 120"/>
          <p:cNvSpPr txBox="1"/>
          <p:nvPr/>
        </p:nvSpPr>
        <p:spPr>
          <a:xfrm>
            <a:off x="2943720" y="4019040"/>
            <a:ext cx="1736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rutas, shell, permisos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Forma libre 121"/>
          <p:cNvSpPr/>
          <p:nvPr/>
        </p:nvSpPr>
        <p:spPr>
          <a:xfrm>
            <a:off x="7657920" y="4028760"/>
            <a:ext cx="695520" cy="228960"/>
          </a:xfrm>
          <a:custGeom>
            <a:avLst/>
            <a:gdLst/>
            <a:ahLst/>
            <a:cxnLst/>
            <a:rect l="0" t="0" r="r" b="b"/>
            <a:pathLst>
              <a:path w="193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827" y="0"/>
                </a:lnTo>
                <a:cubicBezTo>
                  <a:pt x="1841" y="0"/>
                  <a:pt x="1854" y="3"/>
                  <a:pt x="1867" y="8"/>
                </a:cubicBezTo>
                <a:cubicBezTo>
                  <a:pt x="1880" y="14"/>
                  <a:pt x="1892" y="21"/>
                  <a:pt x="1901" y="31"/>
                </a:cubicBezTo>
                <a:cubicBezTo>
                  <a:pt x="1911" y="41"/>
                  <a:pt x="1919" y="53"/>
                  <a:pt x="1924" y="66"/>
                </a:cubicBezTo>
                <a:cubicBezTo>
                  <a:pt x="1930" y="79"/>
                  <a:pt x="1932" y="92"/>
                  <a:pt x="1932" y="106"/>
                </a:cubicBezTo>
                <a:lnTo>
                  <a:pt x="1932" y="530"/>
                </a:lnTo>
                <a:cubicBezTo>
                  <a:pt x="1932" y="545"/>
                  <a:pt x="1930" y="558"/>
                  <a:pt x="1924" y="571"/>
                </a:cubicBezTo>
                <a:cubicBezTo>
                  <a:pt x="1919" y="584"/>
                  <a:pt x="1911" y="595"/>
                  <a:pt x="1901" y="605"/>
                </a:cubicBezTo>
                <a:cubicBezTo>
                  <a:pt x="1892" y="615"/>
                  <a:pt x="1880" y="623"/>
                  <a:pt x="1867" y="628"/>
                </a:cubicBezTo>
                <a:cubicBezTo>
                  <a:pt x="1854" y="634"/>
                  <a:pt x="1841" y="636"/>
                  <a:pt x="1827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5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CuadroTexto 122"/>
          <p:cNvSpPr txBox="1"/>
          <p:nvPr/>
        </p:nvSpPr>
        <p:spPr>
          <a:xfrm>
            <a:off x="6358320" y="4019040"/>
            <a:ext cx="12956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script asume 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CuadroTexto 123"/>
          <p:cNvSpPr txBox="1"/>
          <p:nvPr/>
        </p:nvSpPr>
        <p:spPr>
          <a:xfrm>
            <a:off x="7710480" y="4050360"/>
            <a:ext cx="5842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/home/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CuadroTexto 124"/>
          <p:cNvSpPr txBox="1"/>
          <p:nvPr/>
        </p:nvSpPr>
        <p:spPr>
          <a:xfrm>
            <a:off x="8352720" y="4019040"/>
            <a:ext cx="1926810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,ellos tienen Windows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CuadroTexto 125"/>
          <p:cNvSpPr txBox="1"/>
          <p:nvPr/>
        </p:nvSpPr>
        <p:spPr>
          <a:xfrm>
            <a:off x="666720" y="4535280"/>
            <a:ext cx="10060767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Cada herramienta de hoy resuelve un nivel: </a:t>
            </a:r>
            <a:r>
              <a:rPr lang="es-ES" sz="1800" b="1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venv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el primero · </a:t>
            </a:r>
            <a:r>
              <a:rPr lang="es-ES" sz="1800" b="1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conda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nivel y medio ·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Docker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los tres.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CuadroTexto 12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CuadroTexto 12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CuadroTexto 128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orma libre 1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Forma libre 13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Forma libre 131"/>
          <p:cNvSpPr/>
          <p:nvPr/>
        </p:nvSpPr>
        <p:spPr>
          <a:xfrm>
            <a:off x="0" y="245448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CuadroTexto 134"/>
          <p:cNvSpPr txBox="1"/>
          <p:nvPr/>
        </p:nvSpPr>
        <p:spPr>
          <a:xfrm>
            <a:off x="666720" y="1444320"/>
            <a:ext cx="47390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Reproducibilidad: la vara científica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Forma libre 135"/>
          <p:cNvSpPr/>
          <p:nvPr/>
        </p:nvSpPr>
        <p:spPr>
          <a:xfrm>
            <a:off x="914040" y="27241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CuadroTexto 136"/>
          <p:cNvSpPr txBox="1"/>
          <p:nvPr/>
        </p:nvSpPr>
        <p:spPr>
          <a:xfrm>
            <a:off x="666720" y="2116080"/>
            <a:ext cx="6584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Tu análisis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 está completo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 otra persona no puede ejecutarlo.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Forma libre 137"/>
          <p:cNvSpPr/>
          <p:nvPr/>
        </p:nvSpPr>
        <p:spPr>
          <a:xfrm>
            <a:off x="914040" y="31240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CuadroTexto 138"/>
          <p:cNvSpPr txBox="1"/>
          <p:nvPr/>
        </p:nvSpPr>
        <p:spPr>
          <a:xfrm>
            <a:off x="1123920" y="2611440"/>
            <a:ext cx="3744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revisor que pide reproducir tu ﬁgura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Forma libre 139"/>
          <p:cNvSpPr/>
          <p:nvPr/>
        </p:nvSpPr>
        <p:spPr>
          <a:xfrm>
            <a:off x="914040" y="35240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CuadroTexto 140"/>
          <p:cNvSpPr txBox="1"/>
          <p:nvPr/>
        </p:nvSpPr>
        <p:spPr>
          <a:xfrm>
            <a:off x="1123920" y="3011400"/>
            <a:ext cx="5235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Tu colega que retoma el proyecto cuando te gradúas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CuadroTexto 141"/>
          <p:cNvSpPr txBox="1"/>
          <p:nvPr/>
        </p:nvSpPr>
        <p:spPr>
          <a:xfrm>
            <a:off x="1123920" y="3411360"/>
            <a:ext cx="3573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Tú, en seis meses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con otra laptop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CuadroTexto 145"/>
          <p:cNvSpPr txBox="1"/>
          <p:nvPr/>
        </p:nvSpPr>
        <p:spPr>
          <a:xfrm>
            <a:off x="4256640" y="402084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CuadroTexto 148"/>
          <p:cNvSpPr txBox="1"/>
          <p:nvPr/>
        </p:nvSpPr>
        <p:spPr>
          <a:xfrm>
            <a:off x="4548960" y="402084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CuadroTexto 150"/>
          <p:cNvSpPr txBox="1"/>
          <p:nvPr/>
        </p:nvSpPr>
        <p:spPr>
          <a:xfrm>
            <a:off x="5311800" y="402084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CuadroTexto 15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CuadroTexto 16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CuadroTexto 161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BCCC1D9-EEBA-D63B-4EC4-D861DEDE95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62" b="10248"/>
          <a:stretch/>
        </p:blipFill>
        <p:spPr>
          <a:xfrm>
            <a:off x="4777200" y="3411360"/>
            <a:ext cx="7356175" cy="2813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Forma libre 1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Forma libre 16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Forma libre 1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CuadroTexto 165"/>
          <p:cNvSpPr txBox="1"/>
          <p:nvPr/>
        </p:nvSpPr>
        <p:spPr>
          <a:xfrm>
            <a:off x="2412360" y="3063960"/>
            <a:ext cx="75387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Ambientes virtuales de Python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CuadroTexto 16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CuadroTexto 16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CuadroTexto 168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Forma libre 16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Forma libre 17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Forma libre 17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Forma libre 172"/>
          <p:cNvSpPr/>
          <p:nvPr/>
        </p:nvSpPr>
        <p:spPr>
          <a:xfrm>
            <a:off x="671400" y="213804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4"/>
                  <a:pt x="30127" y="2936"/>
                  <a:pt x="30122" y="2948"/>
                </a:cubicBezTo>
                <a:cubicBezTo>
                  <a:pt x="30117" y="2960"/>
                  <a:pt x="30111" y="2972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2"/>
                  <a:pt x="20" y="2960"/>
                  <a:pt x="15" y="2948"/>
                </a:cubicBezTo>
                <a:cubicBezTo>
                  <a:pt x="10" y="2936"/>
                  <a:pt x="6" y="2924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Forma libre 173"/>
          <p:cNvSpPr/>
          <p:nvPr/>
        </p:nvSpPr>
        <p:spPr>
          <a:xfrm>
            <a:off x="671400" y="213804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4"/>
                  <a:pt x="30127" y="2936"/>
                  <a:pt x="30122" y="2948"/>
                </a:cubicBezTo>
                <a:cubicBezTo>
                  <a:pt x="30117" y="2960"/>
                  <a:pt x="30111" y="2972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2"/>
                  <a:pt x="20" y="2960"/>
                  <a:pt x="15" y="2948"/>
                </a:cubicBezTo>
                <a:cubicBezTo>
                  <a:pt x="10" y="2936"/>
                  <a:pt x="6" y="2924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CuadroTexto 174"/>
          <p:cNvSpPr txBox="1"/>
          <p:nvPr/>
        </p:nvSpPr>
        <p:spPr>
          <a:xfrm>
            <a:off x="666720" y="1491840"/>
            <a:ext cx="5754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ambiente por proyecto, sin excepción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CuadroTexto 175"/>
          <p:cNvSpPr txBox="1"/>
          <p:nvPr/>
        </p:nvSpPr>
        <p:spPr>
          <a:xfrm>
            <a:off x="866880" y="2318040"/>
            <a:ext cx="4477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python -m venv .venv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crear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CuadroTexto 176"/>
          <p:cNvSpPr txBox="1"/>
          <p:nvPr/>
        </p:nvSpPr>
        <p:spPr>
          <a:xfrm>
            <a:off x="866880" y="2584800"/>
            <a:ext cx="8408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source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.venv/bin/activate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activar (Windows: .venv\Scripts\activate)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CuadroTexto 177"/>
          <p:cNvSpPr txBox="1"/>
          <p:nvPr/>
        </p:nvSpPr>
        <p:spPr>
          <a:xfrm>
            <a:off x="866880" y="2841840"/>
            <a:ext cx="7206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pip install pandas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instala AQUÍ, no en el sistema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Forma libre 178"/>
          <p:cNvSpPr/>
          <p:nvPr/>
        </p:nvSpPr>
        <p:spPr>
          <a:xfrm>
            <a:off x="5600520" y="3457440"/>
            <a:ext cx="1638720" cy="267120"/>
          </a:xfrm>
          <a:custGeom>
            <a:avLst/>
            <a:gdLst/>
            <a:ahLst/>
            <a:cxnLst/>
            <a:rect l="0" t="0" r="r" b="b"/>
            <a:pathLst>
              <a:path w="455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446" y="0"/>
                </a:lnTo>
                <a:cubicBezTo>
                  <a:pt x="4460" y="0"/>
                  <a:pt x="4474" y="3"/>
                  <a:pt x="4486" y="8"/>
                </a:cubicBezTo>
                <a:cubicBezTo>
                  <a:pt x="4499" y="13"/>
                  <a:pt x="4511" y="21"/>
                  <a:pt x="4521" y="31"/>
                </a:cubicBezTo>
                <a:cubicBezTo>
                  <a:pt x="4531" y="41"/>
                  <a:pt x="4538" y="52"/>
                  <a:pt x="4544" y="65"/>
                </a:cubicBezTo>
                <a:cubicBezTo>
                  <a:pt x="4549" y="78"/>
                  <a:pt x="4552" y="92"/>
                  <a:pt x="4552" y="106"/>
                </a:cubicBezTo>
                <a:lnTo>
                  <a:pt x="4552" y="636"/>
                </a:lnTo>
                <a:cubicBezTo>
                  <a:pt x="4552" y="650"/>
                  <a:pt x="4549" y="663"/>
                  <a:pt x="4544" y="676"/>
                </a:cubicBezTo>
                <a:cubicBezTo>
                  <a:pt x="4538" y="689"/>
                  <a:pt x="4531" y="701"/>
                  <a:pt x="4521" y="711"/>
                </a:cubicBezTo>
                <a:cubicBezTo>
                  <a:pt x="4511" y="721"/>
                  <a:pt x="4499" y="728"/>
                  <a:pt x="4486" y="734"/>
                </a:cubicBezTo>
                <a:cubicBezTo>
                  <a:pt x="4474" y="739"/>
                  <a:pt x="4460" y="742"/>
                  <a:pt x="4446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CuadroTexto 179"/>
          <p:cNvSpPr txBox="1"/>
          <p:nvPr/>
        </p:nvSpPr>
        <p:spPr>
          <a:xfrm>
            <a:off x="666720" y="3439800"/>
            <a:ext cx="4951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Qué hace de verdad: un directorio con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su propio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CuadroTexto 180"/>
          <p:cNvSpPr txBox="1"/>
          <p:nvPr/>
        </p:nvSpPr>
        <p:spPr>
          <a:xfrm>
            <a:off x="5662080" y="347724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site-packages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Forma libre 181"/>
          <p:cNvSpPr/>
          <p:nvPr/>
        </p:nvSpPr>
        <p:spPr>
          <a:xfrm>
            <a:off x="7781760" y="3457440"/>
            <a:ext cx="819360" cy="267120"/>
          </a:xfrm>
          <a:custGeom>
            <a:avLst/>
            <a:gdLst/>
            <a:ahLst/>
            <a:cxnLst/>
            <a:rect l="0" t="0" r="r" b="b"/>
            <a:pathLst>
              <a:path w="227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170" y="0"/>
                </a:lnTo>
                <a:cubicBezTo>
                  <a:pt x="2184" y="0"/>
                  <a:pt x="2197" y="3"/>
                  <a:pt x="2210" y="8"/>
                </a:cubicBezTo>
                <a:cubicBezTo>
                  <a:pt x="2223" y="13"/>
                  <a:pt x="2234" y="21"/>
                  <a:pt x="2244" y="31"/>
                </a:cubicBezTo>
                <a:cubicBezTo>
                  <a:pt x="2254" y="41"/>
                  <a:pt x="2262" y="52"/>
                  <a:pt x="2267" y="65"/>
                </a:cubicBezTo>
                <a:cubicBezTo>
                  <a:pt x="2274" y="78"/>
                  <a:pt x="2276" y="92"/>
                  <a:pt x="2276" y="106"/>
                </a:cubicBezTo>
                <a:lnTo>
                  <a:pt x="2276" y="636"/>
                </a:lnTo>
                <a:cubicBezTo>
                  <a:pt x="2276" y="650"/>
                  <a:pt x="2274" y="663"/>
                  <a:pt x="2267" y="676"/>
                </a:cubicBezTo>
                <a:cubicBezTo>
                  <a:pt x="2262" y="689"/>
                  <a:pt x="2254" y="701"/>
                  <a:pt x="2244" y="711"/>
                </a:cubicBezTo>
                <a:cubicBezTo>
                  <a:pt x="2234" y="721"/>
                  <a:pt x="2223" y="728"/>
                  <a:pt x="2210" y="734"/>
                </a:cubicBezTo>
                <a:cubicBezTo>
                  <a:pt x="2197" y="739"/>
                  <a:pt x="2184" y="742"/>
                  <a:pt x="2170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CuadroTexto 182"/>
          <p:cNvSpPr txBox="1"/>
          <p:nvPr/>
        </p:nvSpPr>
        <p:spPr>
          <a:xfrm>
            <a:off x="7239960" y="3439800"/>
            <a:ext cx="542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un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CuadroTexto 183"/>
          <p:cNvSpPr txBox="1"/>
          <p:nvPr/>
        </p:nvSpPr>
        <p:spPr>
          <a:xfrm>
            <a:off x="7839360" y="347724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python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CuadroTexto 184"/>
          <p:cNvSpPr txBox="1"/>
          <p:nvPr/>
        </p:nvSpPr>
        <p:spPr>
          <a:xfrm>
            <a:off x="8598240" y="3439800"/>
            <a:ext cx="2526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que apunta ahí. Activar =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Forma libre 185"/>
          <p:cNvSpPr/>
          <p:nvPr/>
        </p:nvSpPr>
        <p:spPr>
          <a:xfrm>
            <a:off x="1714320" y="3800160"/>
            <a:ext cx="819360" cy="267120"/>
          </a:xfrm>
          <a:custGeom>
            <a:avLst/>
            <a:gdLst/>
            <a:ahLst/>
            <a:cxnLst/>
            <a:rect l="0" t="0" r="r" b="b"/>
            <a:pathLst>
              <a:path w="227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171" y="0"/>
                </a:lnTo>
                <a:cubicBezTo>
                  <a:pt x="2185" y="0"/>
                  <a:pt x="2198" y="3"/>
                  <a:pt x="2211" y="8"/>
                </a:cubicBezTo>
                <a:cubicBezTo>
                  <a:pt x="2224" y="14"/>
                  <a:pt x="2235" y="21"/>
                  <a:pt x="2245" y="31"/>
                </a:cubicBezTo>
                <a:cubicBezTo>
                  <a:pt x="2255" y="41"/>
                  <a:pt x="2263" y="53"/>
                  <a:pt x="2268" y="66"/>
                </a:cubicBezTo>
                <a:cubicBezTo>
                  <a:pt x="2274" y="79"/>
                  <a:pt x="2276" y="92"/>
                  <a:pt x="2276" y="106"/>
                </a:cubicBezTo>
                <a:lnTo>
                  <a:pt x="2276" y="636"/>
                </a:lnTo>
                <a:cubicBezTo>
                  <a:pt x="2276" y="650"/>
                  <a:pt x="2274" y="664"/>
                  <a:pt x="2268" y="677"/>
                </a:cubicBezTo>
                <a:cubicBezTo>
                  <a:pt x="2263" y="690"/>
                  <a:pt x="2255" y="701"/>
                  <a:pt x="2245" y="711"/>
                </a:cubicBezTo>
                <a:cubicBezTo>
                  <a:pt x="2235" y="721"/>
                  <a:pt x="2224" y="729"/>
                  <a:pt x="2211" y="734"/>
                </a:cubicBezTo>
                <a:cubicBezTo>
                  <a:pt x="2198" y="740"/>
                  <a:pt x="2185" y="742"/>
                  <a:pt x="2171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CuadroTexto 186"/>
          <p:cNvSpPr txBox="1"/>
          <p:nvPr/>
        </p:nvSpPr>
        <p:spPr>
          <a:xfrm>
            <a:off x="666720" y="3782880"/>
            <a:ext cx="1046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poner ese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CuadroTexto 187"/>
          <p:cNvSpPr txBox="1"/>
          <p:nvPr/>
        </p:nvSpPr>
        <p:spPr>
          <a:xfrm>
            <a:off x="1770120" y="382032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python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Forma libre 188"/>
          <p:cNvSpPr/>
          <p:nvPr/>
        </p:nvSpPr>
        <p:spPr>
          <a:xfrm>
            <a:off x="3933720" y="380016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509" y="0"/>
                </a:lnTo>
                <a:cubicBezTo>
                  <a:pt x="1523" y="0"/>
                  <a:pt x="1536" y="3"/>
                  <a:pt x="1549" y="8"/>
                </a:cubicBezTo>
                <a:cubicBezTo>
                  <a:pt x="1562" y="14"/>
                  <a:pt x="1574" y="21"/>
                  <a:pt x="1584" y="31"/>
                </a:cubicBezTo>
                <a:cubicBezTo>
                  <a:pt x="1594" y="41"/>
                  <a:pt x="1601" y="53"/>
                  <a:pt x="1607" y="66"/>
                </a:cubicBezTo>
                <a:cubicBezTo>
                  <a:pt x="1612" y="79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2" y="664"/>
                  <a:pt x="1607" y="677"/>
                </a:cubicBezTo>
                <a:cubicBezTo>
                  <a:pt x="1601" y="690"/>
                  <a:pt x="1594" y="701"/>
                  <a:pt x="1584" y="711"/>
                </a:cubicBezTo>
                <a:cubicBezTo>
                  <a:pt x="1574" y="721"/>
                  <a:pt x="1562" y="729"/>
                  <a:pt x="1549" y="734"/>
                </a:cubicBezTo>
                <a:cubicBezTo>
                  <a:pt x="1536" y="740"/>
                  <a:pt x="1523" y="742"/>
                  <a:pt x="1509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CuadroTexto 189"/>
          <p:cNvSpPr txBox="1"/>
          <p:nvPr/>
        </p:nvSpPr>
        <p:spPr>
          <a:xfrm>
            <a:off x="2529360" y="3782880"/>
            <a:ext cx="1410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primero en el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CuadroTexto 190"/>
          <p:cNvSpPr txBox="1"/>
          <p:nvPr/>
        </p:nvSpPr>
        <p:spPr>
          <a:xfrm>
            <a:off x="3992400" y="382032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PATH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Forma libre 191"/>
          <p:cNvSpPr/>
          <p:nvPr/>
        </p:nvSpPr>
        <p:spPr>
          <a:xfrm>
            <a:off x="914040" y="43909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CuadroTexto 192"/>
          <p:cNvSpPr txBox="1"/>
          <p:nvPr/>
        </p:nvSpPr>
        <p:spPr>
          <a:xfrm>
            <a:off x="4517640" y="378288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Forma libre 193"/>
          <p:cNvSpPr/>
          <p:nvPr/>
        </p:nvSpPr>
        <p:spPr>
          <a:xfrm>
            <a:off x="914040" y="47908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CuadroTexto 194"/>
          <p:cNvSpPr txBox="1"/>
          <p:nvPr/>
        </p:nvSpPr>
        <p:spPr>
          <a:xfrm>
            <a:off x="1123920" y="4278240"/>
            <a:ext cx="7068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Proyecto A con pandas 1.5 y proyecto B con pandas 2.2,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sin pelearse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Forma libre 195"/>
          <p:cNvSpPr/>
          <p:nvPr/>
        </p:nvSpPr>
        <p:spPr>
          <a:xfrm>
            <a:off x="2466720" y="4695480"/>
            <a:ext cx="1514880" cy="267120"/>
          </a:xfrm>
          <a:custGeom>
            <a:avLst/>
            <a:gdLst/>
            <a:ahLst/>
            <a:cxnLst/>
            <a:rect l="0" t="0" r="r" b="b"/>
            <a:pathLst>
              <a:path w="4208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lnTo>
                  <a:pt x="4102" y="0"/>
                </a:lnTo>
                <a:cubicBezTo>
                  <a:pt x="4116" y="0"/>
                  <a:pt x="4130" y="3"/>
                  <a:pt x="4143" y="9"/>
                </a:cubicBezTo>
                <a:cubicBezTo>
                  <a:pt x="4156" y="14"/>
                  <a:pt x="4167" y="22"/>
                  <a:pt x="4177" y="31"/>
                </a:cubicBezTo>
                <a:cubicBezTo>
                  <a:pt x="4187" y="41"/>
                  <a:pt x="4195" y="53"/>
                  <a:pt x="4200" y="66"/>
                </a:cubicBezTo>
                <a:cubicBezTo>
                  <a:pt x="4205" y="79"/>
                  <a:pt x="4208" y="92"/>
                  <a:pt x="4208" y="106"/>
                </a:cubicBezTo>
                <a:lnTo>
                  <a:pt x="4208" y="635"/>
                </a:lnTo>
                <a:cubicBezTo>
                  <a:pt x="4208" y="650"/>
                  <a:pt x="4205" y="664"/>
                  <a:pt x="4200" y="677"/>
                </a:cubicBezTo>
                <a:cubicBezTo>
                  <a:pt x="4195" y="690"/>
                  <a:pt x="4187" y="701"/>
                  <a:pt x="4177" y="711"/>
                </a:cubicBezTo>
                <a:cubicBezTo>
                  <a:pt x="4167" y="721"/>
                  <a:pt x="4156" y="729"/>
                  <a:pt x="4143" y="734"/>
                </a:cubicBezTo>
                <a:cubicBezTo>
                  <a:pt x="4130" y="740"/>
                  <a:pt x="4116" y="742"/>
                  <a:pt x="4102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CuadroTexto 196"/>
          <p:cNvSpPr txBox="1"/>
          <p:nvPr/>
        </p:nvSpPr>
        <p:spPr>
          <a:xfrm>
            <a:off x="1123920" y="4678200"/>
            <a:ext cx="1343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 borra con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CuadroTexto 197"/>
          <p:cNvSpPr txBox="1"/>
          <p:nvPr/>
        </p:nvSpPr>
        <p:spPr>
          <a:xfrm>
            <a:off x="2523960" y="4715640"/>
            <a:ext cx="14101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rm -rf .venv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Forma libre 198"/>
          <p:cNvSpPr/>
          <p:nvPr/>
        </p:nvSpPr>
        <p:spPr>
          <a:xfrm>
            <a:off x="914040" y="51908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Forma libre 199"/>
          <p:cNvSpPr/>
          <p:nvPr/>
        </p:nvSpPr>
        <p:spPr>
          <a:xfrm>
            <a:off x="1123920" y="5095800"/>
            <a:ext cx="819360" cy="267120"/>
          </a:xfrm>
          <a:custGeom>
            <a:avLst/>
            <a:gdLst/>
            <a:ahLst/>
            <a:cxnLst/>
            <a:rect l="0" t="0" r="r" b="b"/>
            <a:pathLst>
              <a:path w="227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170" y="0"/>
                </a:lnTo>
                <a:cubicBezTo>
                  <a:pt x="2184" y="0"/>
                  <a:pt x="2198" y="2"/>
                  <a:pt x="2211" y="8"/>
                </a:cubicBezTo>
                <a:cubicBezTo>
                  <a:pt x="2224" y="13"/>
                  <a:pt x="2235" y="21"/>
                  <a:pt x="2245" y="31"/>
                </a:cubicBezTo>
                <a:cubicBezTo>
                  <a:pt x="2255" y="41"/>
                  <a:pt x="2263" y="52"/>
                  <a:pt x="2268" y="65"/>
                </a:cubicBezTo>
                <a:cubicBezTo>
                  <a:pt x="2273" y="78"/>
                  <a:pt x="2276" y="92"/>
                  <a:pt x="2276" y="106"/>
                </a:cubicBezTo>
                <a:lnTo>
                  <a:pt x="2276" y="636"/>
                </a:lnTo>
                <a:cubicBezTo>
                  <a:pt x="2276" y="650"/>
                  <a:pt x="2273" y="663"/>
                  <a:pt x="2268" y="676"/>
                </a:cubicBezTo>
                <a:cubicBezTo>
                  <a:pt x="2263" y="689"/>
                  <a:pt x="2255" y="701"/>
                  <a:pt x="2245" y="711"/>
                </a:cubicBezTo>
                <a:cubicBezTo>
                  <a:pt x="2235" y="720"/>
                  <a:pt x="2224" y="728"/>
                  <a:pt x="2211" y="733"/>
                </a:cubicBezTo>
                <a:cubicBezTo>
                  <a:pt x="2198" y="739"/>
                  <a:pt x="2184" y="742"/>
                  <a:pt x="2170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CuadroTexto 200"/>
          <p:cNvSpPr txBox="1"/>
          <p:nvPr/>
        </p:nvSpPr>
        <p:spPr>
          <a:xfrm>
            <a:off x="3985200" y="4678200"/>
            <a:ext cx="1588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no pasó nada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CuadroTexto 201"/>
          <p:cNvSpPr txBox="1"/>
          <p:nvPr/>
        </p:nvSpPr>
        <p:spPr>
          <a:xfrm>
            <a:off x="1181160" y="511560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.venv/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Forma libre 202"/>
          <p:cNvSpPr/>
          <p:nvPr/>
        </p:nvSpPr>
        <p:spPr>
          <a:xfrm>
            <a:off x="2819160" y="5095800"/>
            <a:ext cx="1286280" cy="267120"/>
          </a:xfrm>
          <a:custGeom>
            <a:avLst/>
            <a:gdLst/>
            <a:ahLst/>
            <a:cxnLst/>
            <a:rect l="0" t="0" r="r" b="b"/>
            <a:pathLst>
              <a:path w="357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5" y="2"/>
                  <a:pt x="3508" y="8"/>
                </a:cubicBezTo>
                <a:cubicBezTo>
                  <a:pt x="3521" y="13"/>
                  <a:pt x="3532" y="21"/>
                  <a:pt x="3542" y="31"/>
                </a:cubicBezTo>
                <a:cubicBezTo>
                  <a:pt x="3552" y="41"/>
                  <a:pt x="3560" y="52"/>
                  <a:pt x="3565" y="65"/>
                </a:cubicBezTo>
                <a:cubicBezTo>
                  <a:pt x="3570" y="78"/>
                  <a:pt x="3573" y="92"/>
                  <a:pt x="3573" y="106"/>
                </a:cubicBezTo>
                <a:lnTo>
                  <a:pt x="3573" y="636"/>
                </a:lnTo>
                <a:cubicBezTo>
                  <a:pt x="3573" y="650"/>
                  <a:pt x="3570" y="663"/>
                  <a:pt x="3565" y="676"/>
                </a:cubicBezTo>
                <a:cubicBezTo>
                  <a:pt x="3560" y="689"/>
                  <a:pt x="3552" y="701"/>
                  <a:pt x="3542" y="711"/>
                </a:cubicBezTo>
                <a:cubicBezTo>
                  <a:pt x="3532" y="720"/>
                  <a:pt x="3521" y="728"/>
                  <a:pt x="3508" y="733"/>
                </a:cubicBezTo>
                <a:cubicBezTo>
                  <a:pt x="3495" y="739"/>
                  <a:pt x="3481" y="742"/>
                  <a:pt x="3467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3"/>
                </a:cubicBezTo>
                <a:cubicBezTo>
                  <a:pt x="53" y="728"/>
                  <a:pt x="41" y="720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CuadroTexto 203"/>
          <p:cNvSpPr txBox="1"/>
          <p:nvPr/>
        </p:nvSpPr>
        <p:spPr>
          <a:xfrm>
            <a:off x="1940400" y="5078160"/>
            <a:ext cx="881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va en el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CuadroTexto 204"/>
          <p:cNvSpPr txBox="1"/>
          <p:nvPr/>
        </p:nvSpPr>
        <p:spPr>
          <a:xfrm>
            <a:off x="2878560" y="511560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.gitignore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CuadroTexto 205"/>
          <p:cNvSpPr txBox="1"/>
          <p:nvPr/>
        </p:nvSpPr>
        <p:spPr>
          <a:xfrm>
            <a:off x="4105440" y="5078160"/>
            <a:ext cx="4984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lo que se versiona es la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receta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no el ambiente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CuadroTexto 20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CuadroTexto 20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CuadroTexto 208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Forma libre 20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Forma libre 21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Forma libre 21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Forma libre 212"/>
          <p:cNvSpPr/>
          <p:nvPr/>
        </p:nvSpPr>
        <p:spPr>
          <a:xfrm>
            <a:off x="676080" y="1942920"/>
            <a:ext cx="1676880" cy="410040"/>
          </a:xfrm>
          <a:custGeom>
            <a:avLst/>
            <a:gdLst/>
            <a:ahLst/>
            <a:cxnLst/>
            <a:rect l="0" t="0" r="r" b="b"/>
            <a:pathLst>
              <a:path w="4658" h="1139">
                <a:moveTo>
                  <a:pt x="0" y="0"/>
                </a:moveTo>
                <a:lnTo>
                  <a:pt x="4658" y="0"/>
                </a:lnTo>
                <a:lnTo>
                  <a:pt x="465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Forma libre 213"/>
          <p:cNvSpPr/>
          <p:nvPr/>
        </p:nvSpPr>
        <p:spPr>
          <a:xfrm>
            <a:off x="2352600" y="1942920"/>
            <a:ext cx="3791160" cy="410040"/>
          </a:xfrm>
          <a:custGeom>
            <a:avLst/>
            <a:gdLst/>
            <a:ahLst/>
            <a:cxnLst/>
            <a:rect l="0" t="0" r="r" b="b"/>
            <a:pathLst>
              <a:path w="10531" h="1139">
                <a:moveTo>
                  <a:pt x="0" y="0"/>
                </a:moveTo>
                <a:lnTo>
                  <a:pt x="10531" y="0"/>
                </a:lnTo>
                <a:lnTo>
                  <a:pt x="1053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Forma libre 214"/>
          <p:cNvSpPr/>
          <p:nvPr/>
        </p:nvSpPr>
        <p:spPr>
          <a:xfrm>
            <a:off x="6143400" y="1942920"/>
            <a:ext cx="3258000" cy="410040"/>
          </a:xfrm>
          <a:custGeom>
            <a:avLst/>
            <a:gdLst/>
            <a:ahLst/>
            <a:cxnLst/>
            <a:rect l="0" t="0" r="r" b="b"/>
            <a:pathLst>
              <a:path w="9050" h="1139">
                <a:moveTo>
                  <a:pt x="0" y="0"/>
                </a:moveTo>
                <a:lnTo>
                  <a:pt x="9050" y="0"/>
                </a:lnTo>
                <a:lnTo>
                  <a:pt x="905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Forma libre 215"/>
          <p:cNvSpPr/>
          <p:nvPr/>
        </p:nvSpPr>
        <p:spPr>
          <a:xfrm>
            <a:off x="676080" y="1942920"/>
            <a:ext cx="1676880" cy="410040"/>
          </a:xfrm>
          <a:custGeom>
            <a:avLst/>
            <a:gdLst/>
            <a:ahLst/>
            <a:cxnLst/>
            <a:rect l="0" t="0" r="r" b="b"/>
            <a:pathLst>
              <a:path w="4658" h="1139">
                <a:moveTo>
                  <a:pt x="0" y="0"/>
                </a:moveTo>
                <a:lnTo>
                  <a:pt x="4658" y="0"/>
                </a:lnTo>
                <a:lnTo>
                  <a:pt x="465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Forma libre 216"/>
          <p:cNvSpPr/>
          <p:nvPr/>
        </p:nvSpPr>
        <p:spPr>
          <a:xfrm>
            <a:off x="2352600" y="1942920"/>
            <a:ext cx="3791160" cy="410040"/>
          </a:xfrm>
          <a:custGeom>
            <a:avLst/>
            <a:gdLst/>
            <a:ahLst/>
            <a:cxnLst/>
            <a:rect l="0" t="0" r="r" b="b"/>
            <a:pathLst>
              <a:path w="10531" h="1139">
                <a:moveTo>
                  <a:pt x="0" y="0"/>
                </a:moveTo>
                <a:lnTo>
                  <a:pt x="10531" y="0"/>
                </a:lnTo>
                <a:lnTo>
                  <a:pt x="1053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Forma libre 217"/>
          <p:cNvSpPr/>
          <p:nvPr/>
        </p:nvSpPr>
        <p:spPr>
          <a:xfrm>
            <a:off x="6143400" y="1942920"/>
            <a:ext cx="3258000" cy="410040"/>
          </a:xfrm>
          <a:custGeom>
            <a:avLst/>
            <a:gdLst/>
            <a:ahLst/>
            <a:cxnLst/>
            <a:rect l="0" t="0" r="r" b="b"/>
            <a:pathLst>
              <a:path w="9050" h="1139">
                <a:moveTo>
                  <a:pt x="0" y="0"/>
                </a:moveTo>
                <a:lnTo>
                  <a:pt x="9050" y="0"/>
                </a:lnTo>
                <a:lnTo>
                  <a:pt x="905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Forma libre 218"/>
          <p:cNvSpPr/>
          <p:nvPr/>
        </p:nvSpPr>
        <p:spPr>
          <a:xfrm>
            <a:off x="676080" y="2352600"/>
            <a:ext cx="1676880" cy="419400"/>
          </a:xfrm>
          <a:custGeom>
            <a:avLst/>
            <a:gdLst/>
            <a:ahLst/>
            <a:cxnLst/>
            <a:rect l="0" t="0" r="r" b="b"/>
            <a:pathLst>
              <a:path w="4658" h="1165">
                <a:moveTo>
                  <a:pt x="0" y="0"/>
                </a:moveTo>
                <a:lnTo>
                  <a:pt x="4658" y="0"/>
                </a:lnTo>
                <a:lnTo>
                  <a:pt x="465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Forma libre 219"/>
          <p:cNvSpPr/>
          <p:nvPr/>
        </p:nvSpPr>
        <p:spPr>
          <a:xfrm>
            <a:off x="2352600" y="2352600"/>
            <a:ext cx="3791160" cy="419400"/>
          </a:xfrm>
          <a:custGeom>
            <a:avLst/>
            <a:gdLst/>
            <a:ahLst/>
            <a:cxnLst/>
            <a:rect l="0" t="0" r="r" b="b"/>
            <a:pathLst>
              <a:path w="10531" h="1165">
                <a:moveTo>
                  <a:pt x="0" y="0"/>
                </a:moveTo>
                <a:lnTo>
                  <a:pt x="10531" y="0"/>
                </a:lnTo>
                <a:lnTo>
                  <a:pt x="1053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Forma libre 220"/>
          <p:cNvSpPr/>
          <p:nvPr/>
        </p:nvSpPr>
        <p:spPr>
          <a:xfrm>
            <a:off x="6143400" y="2352600"/>
            <a:ext cx="3258000" cy="419400"/>
          </a:xfrm>
          <a:custGeom>
            <a:avLst/>
            <a:gdLst/>
            <a:ahLst/>
            <a:cxnLst/>
            <a:rect l="0" t="0" r="r" b="b"/>
            <a:pathLst>
              <a:path w="9050" h="1165">
                <a:moveTo>
                  <a:pt x="0" y="0"/>
                </a:moveTo>
                <a:lnTo>
                  <a:pt x="9050" y="0"/>
                </a:lnTo>
                <a:lnTo>
                  <a:pt x="905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Forma libre 221"/>
          <p:cNvSpPr/>
          <p:nvPr/>
        </p:nvSpPr>
        <p:spPr>
          <a:xfrm>
            <a:off x="676080" y="2771640"/>
            <a:ext cx="1676880" cy="419400"/>
          </a:xfrm>
          <a:custGeom>
            <a:avLst/>
            <a:gdLst/>
            <a:ahLst/>
            <a:cxnLst/>
            <a:rect l="0" t="0" r="r" b="b"/>
            <a:pathLst>
              <a:path w="4658" h="1165">
                <a:moveTo>
                  <a:pt x="0" y="0"/>
                </a:moveTo>
                <a:lnTo>
                  <a:pt x="4658" y="0"/>
                </a:lnTo>
                <a:lnTo>
                  <a:pt x="465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Forma libre 222"/>
          <p:cNvSpPr/>
          <p:nvPr/>
        </p:nvSpPr>
        <p:spPr>
          <a:xfrm>
            <a:off x="2352600" y="2771640"/>
            <a:ext cx="3791160" cy="419400"/>
          </a:xfrm>
          <a:custGeom>
            <a:avLst/>
            <a:gdLst/>
            <a:ahLst/>
            <a:cxnLst/>
            <a:rect l="0" t="0" r="r" b="b"/>
            <a:pathLst>
              <a:path w="10531" h="1165">
                <a:moveTo>
                  <a:pt x="0" y="0"/>
                </a:moveTo>
                <a:lnTo>
                  <a:pt x="10531" y="0"/>
                </a:lnTo>
                <a:lnTo>
                  <a:pt x="1053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Forma libre 223"/>
          <p:cNvSpPr/>
          <p:nvPr/>
        </p:nvSpPr>
        <p:spPr>
          <a:xfrm>
            <a:off x="6143400" y="2771640"/>
            <a:ext cx="3258000" cy="419400"/>
          </a:xfrm>
          <a:custGeom>
            <a:avLst/>
            <a:gdLst/>
            <a:ahLst/>
            <a:cxnLst/>
            <a:rect l="0" t="0" r="r" b="b"/>
            <a:pathLst>
              <a:path w="9050" h="1165">
                <a:moveTo>
                  <a:pt x="0" y="0"/>
                </a:moveTo>
                <a:lnTo>
                  <a:pt x="9050" y="0"/>
                </a:lnTo>
                <a:lnTo>
                  <a:pt x="905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Forma libre 224"/>
          <p:cNvSpPr/>
          <p:nvPr/>
        </p:nvSpPr>
        <p:spPr>
          <a:xfrm>
            <a:off x="676080" y="3190680"/>
            <a:ext cx="1676880" cy="419400"/>
          </a:xfrm>
          <a:custGeom>
            <a:avLst/>
            <a:gdLst/>
            <a:ahLst/>
            <a:cxnLst/>
            <a:rect l="0" t="0" r="r" b="b"/>
            <a:pathLst>
              <a:path w="4658" h="1165">
                <a:moveTo>
                  <a:pt x="0" y="0"/>
                </a:moveTo>
                <a:lnTo>
                  <a:pt x="4658" y="0"/>
                </a:lnTo>
                <a:lnTo>
                  <a:pt x="465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Forma libre 225"/>
          <p:cNvSpPr/>
          <p:nvPr/>
        </p:nvSpPr>
        <p:spPr>
          <a:xfrm>
            <a:off x="2352600" y="3190680"/>
            <a:ext cx="3791160" cy="419400"/>
          </a:xfrm>
          <a:custGeom>
            <a:avLst/>
            <a:gdLst/>
            <a:ahLst/>
            <a:cxnLst/>
            <a:rect l="0" t="0" r="r" b="b"/>
            <a:pathLst>
              <a:path w="10531" h="1165">
                <a:moveTo>
                  <a:pt x="0" y="0"/>
                </a:moveTo>
                <a:lnTo>
                  <a:pt x="10531" y="0"/>
                </a:lnTo>
                <a:lnTo>
                  <a:pt x="1053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Forma libre 226"/>
          <p:cNvSpPr/>
          <p:nvPr/>
        </p:nvSpPr>
        <p:spPr>
          <a:xfrm>
            <a:off x="6143400" y="3190680"/>
            <a:ext cx="3258000" cy="419400"/>
          </a:xfrm>
          <a:custGeom>
            <a:avLst/>
            <a:gdLst/>
            <a:ahLst/>
            <a:cxnLst/>
            <a:rect l="0" t="0" r="r" b="b"/>
            <a:pathLst>
              <a:path w="9050" h="1165">
                <a:moveTo>
                  <a:pt x="0" y="0"/>
                </a:moveTo>
                <a:lnTo>
                  <a:pt x="9050" y="0"/>
                </a:lnTo>
                <a:lnTo>
                  <a:pt x="905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Forma libre 227"/>
          <p:cNvSpPr/>
          <p:nvPr/>
        </p:nvSpPr>
        <p:spPr>
          <a:xfrm>
            <a:off x="666720" y="1933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Forma libre 228"/>
          <p:cNvSpPr/>
          <p:nvPr/>
        </p:nvSpPr>
        <p:spPr>
          <a:xfrm>
            <a:off x="666720" y="1933560"/>
            <a:ext cx="1686240" cy="9720"/>
          </a:xfrm>
          <a:custGeom>
            <a:avLst/>
            <a:gdLst/>
            <a:ahLst/>
            <a:cxnLst/>
            <a:rect l="0" t="0" r="r" b="b"/>
            <a:pathLst>
              <a:path w="4684" h="27">
                <a:moveTo>
                  <a:pt x="0" y="0"/>
                </a:moveTo>
                <a:lnTo>
                  <a:pt x="4684" y="0"/>
                </a:lnTo>
                <a:lnTo>
                  <a:pt x="46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Forma libre 229"/>
          <p:cNvSpPr/>
          <p:nvPr/>
        </p:nvSpPr>
        <p:spPr>
          <a:xfrm>
            <a:off x="2342880" y="1933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Forma libre 230"/>
          <p:cNvSpPr/>
          <p:nvPr/>
        </p:nvSpPr>
        <p:spPr>
          <a:xfrm>
            <a:off x="2352600" y="1933560"/>
            <a:ext cx="3791160" cy="9720"/>
          </a:xfrm>
          <a:custGeom>
            <a:avLst/>
            <a:gdLst/>
            <a:ahLst/>
            <a:cxnLst/>
            <a:rect l="0" t="0" r="r" b="b"/>
            <a:pathLst>
              <a:path w="10531" h="27">
                <a:moveTo>
                  <a:pt x="0" y="0"/>
                </a:moveTo>
                <a:lnTo>
                  <a:pt x="10531" y="0"/>
                </a:lnTo>
                <a:lnTo>
                  <a:pt x="105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Forma libre 231"/>
          <p:cNvSpPr/>
          <p:nvPr/>
        </p:nvSpPr>
        <p:spPr>
          <a:xfrm>
            <a:off x="6134040" y="1933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Forma libre 232"/>
          <p:cNvSpPr/>
          <p:nvPr/>
        </p:nvSpPr>
        <p:spPr>
          <a:xfrm>
            <a:off x="6143400" y="1933560"/>
            <a:ext cx="3258000" cy="9720"/>
          </a:xfrm>
          <a:custGeom>
            <a:avLst/>
            <a:gdLst/>
            <a:ahLst/>
            <a:cxnLst/>
            <a:rect l="0" t="0" r="r" b="b"/>
            <a:pathLst>
              <a:path w="9050" h="27">
                <a:moveTo>
                  <a:pt x="0" y="0"/>
                </a:moveTo>
                <a:lnTo>
                  <a:pt x="9050" y="0"/>
                </a:lnTo>
                <a:lnTo>
                  <a:pt x="9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Forma libre 233"/>
          <p:cNvSpPr/>
          <p:nvPr/>
        </p:nvSpPr>
        <p:spPr>
          <a:xfrm>
            <a:off x="9391320" y="1933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Forma libre 234"/>
          <p:cNvSpPr/>
          <p:nvPr/>
        </p:nvSpPr>
        <p:spPr>
          <a:xfrm>
            <a:off x="666720" y="2342880"/>
            <a:ext cx="1686240" cy="10080"/>
          </a:xfrm>
          <a:custGeom>
            <a:avLst/>
            <a:gdLst/>
            <a:ahLst/>
            <a:cxnLst/>
            <a:rect l="0" t="0" r="r" b="b"/>
            <a:pathLst>
              <a:path w="4684" h="28">
                <a:moveTo>
                  <a:pt x="0" y="0"/>
                </a:moveTo>
                <a:lnTo>
                  <a:pt x="4684" y="0"/>
                </a:lnTo>
                <a:lnTo>
                  <a:pt x="46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Forma libre 235"/>
          <p:cNvSpPr/>
          <p:nvPr/>
        </p:nvSpPr>
        <p:spPr>
          <a:xfrm>
            <a:off x="2352600" y="2342880"/>
            <a:ext cx="3791160" cy="10080"/>
          </a:xfrm>
          <a:custGeom>
            <a:avLst/>
            <a:gdLst/>
            <a:ahLst/>
            <a:cxnLst/>
            <a:rect l="0" t="0" r="r" b="b"/>
            <a:pathLst>
              <a:path w="10531" h="28">
                <a:moveTo>
                  <a:pt x="0" y="0"/>
                </a:moveTo>
                <a:lnTo>
                  <a:pt x="10531" y="0"/>
                </a:lnTo>
                <a:lnTo>
                  <a:pt x="105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Forma libre 236"/>
          <p:cNvSpPr/>
          <p:nvPr/>
        </p:nvSpPr>
        <p:spPr>
          <a:xfrm>
            <a:off x="6143400" y="2342880"/>
            <a:ext cx="3258000" cy="10080"/>
          </a:xfrm>
          <a:custGeom>
            <a:avLst/>
            <a:gdLst/>
            <a:ahLst/>
            <a:cxnLst/>
            <a:rect l="0" t="0" r="r" b="b"/>
            <a:pathLst>
              <a:path w="9050" h="28">
                <a:moveTo>
                  <a:pt x="0" y="0"/>
                </a:moveTo>
                <a:lnTo>
                  <a:pt x="9050" y="0"/>
                </a:lnTo>
                <a:lnTo>
                  <a:pt x="90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Forma libre 237"/>
          <p:cNvSpPr/>
          <p:nvPr/>
        </p:nvSpPr>
        <p:spPr>
          <a:xfrm>
            <a:off x="666720" y="2352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Forma libre 238"/>
          <p:cNvSpPr/>
          <p:nvPr/>
        </p:nvSpPr>
        <p:spPr>
          <a:xfrm>
            <a:off x="2342880" y="2352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Forma libre 239"/>
          <p:cNvSpPr/>
          <p:nvPr/>
        </p:nvSpPr>
        <p:spPr>
          <a:xfrm>
            <a:off x="6134040" y="2352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Forma libre 240"/>
          <p:cNvSpPr/>
          <p:nvPr/>
        </p:nvSpPr>
        <p:spPr>
          <a:xfrm>
            <a:off x="9391320" y="2352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Forma libre 241"/>
          <p:cNvSpPr/>
          <p:nvPr/>
        </p:nvSpPr>
        <p:spPr>
          <a:xfrm>
            <a:off x="666720" y="2771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Forma libre 242"/>
          <p:cNvSpPr/>
          <p:nvPr/>
        </p:nvSpPr>
        <p:spPr>
          <a:xfrm>
            <a:off x="666720" y="2761920"/>
            <a:ext cx="1686240" cy="10080"/>
          </a:xfrm>
          <a:custGeom>
            <a:avLst/>
            <a:gdLst/>
            <a:ahLst/>
            <a:cxnLst/>
            <a:rect l="0" t="0" r="r" b="b"/>
            <a:pathLst>
              <a:path w="4684" h="28">
                <a:moveTo>
                  <a:pt x="0" y="0"/>
                </a:moveTo>
                <a:lnTo>
                  <a:pt x="4684" y="0"/>
                </a:lnTo>
                <a:lnTo>
                  <a:pt x="46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Forma libre 243"/>
          <p:cNvSpPr/>
          <p:nvPr/>
        </p:nvSpPr>
        <p:spPr>
          <a:xfrm>
            <a:off x="2342880" y="27716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Forma libre 244"/>
          <p:cNvSpPr/>
          <p:nvPr/>
        </p:nvSpPr>
        <p:spPr>
          <a:xfrm>
            <a:off x="2352600" y="2761920"/>
            <a:ext cx="3791160" cy="10080"/>
          </a:xfrm>
          <a:custGeom>
            <a:avLst/>
            <a:gdLst/>
            <a:ahLst/>
            <a:cxnLst/>
            <a:rect l="0" t="0" r="r" b="b"/>
            <a:pathLst>
              <a:path w="10531" h="28">
                <a:moveTo>
                  <a:pt x="0" y="0"/>
                </a:moveTo>
                <a:lnTo>
                  <a:pt x="10531" y="0"/>
                </a:lnTo>
                <a:lnTo>
                  <a:pt x="105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Forma libre 245"/>
          <p:cNvSpPr/>
          <p:nvPr/>
        </p:nvSpPr>
        <p:spPr>
          <a:xfrm>
            <a:off x="6134040" y="2771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Forma libre 246"/>
          <p:cNvSpPr/>
          <p:nvPr/>
        </p:nvSpPr>
        <p:spPr>
          <a:xfrm>
            <a:off x="6143400" y="2761920"/>
            <a:ext cx="3258000" cy="10080"/>
          </a:xfrm>
          <a:custGeom>
            <a:avLst/>
            <a:gdLst/>
            <a:ahLst/>
            <a:cxnLst/>
            <a:rect l="0" t="0" r="r" b="b"/>
            <a:pathLst>
              <a:path w="9050" h="28">
                <a:moveTo>
                  <a:pt x="0" y="0"/>
                </a:moveTo>
                <a:lnTo>
                  <a:pt x="9050" y="0"/>
                </a:lnTo>
                <a:lnTo>
                  <a:pt x="90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Forma libre 247"/>
          <p:cNvSpPr/>
          <p:nvPr/>
        </p:nvSpPr>
        <p:spPr>
          <a:xfrm>
            <a:off x="9391320" y="27716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Forma libre 248"/>
          <p:cNvSpPr/>
          <p:nvPr/>
        </p:nvSpPr>
        <p:spPr>
          <a:xfrm>
            <a:off x="666720" y="31906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Forma libre 249"/>
          <p:cNvSpPr/>
          <p:nvPr/>
        </p:nvSpPr>
        <p:spPr>
          <a:xfrm>
            <a:off x="666720" y="3181320"/>
            <a:ext cx="1686240" cy="9720"/>
          </a:xfrm>
          <a:custGeom>
            <a:avLst/>
            <a:gdLst/>
            <a:ahLst/>
            <a:cxnLst/>
            <a:rect l="0" t="0" r="r" b="b"/>
            <a:pathLst>
              <a:path w="4684" h="27">
                <a:moveTo>
                  <a:pt x="0" y="0"/>
                </a:moveTo>
                <a:lnTo>
                  <a:pt x="4684" y="0"/>
                </a:lnTo>
                <a:lnTo>
                  <a:pt x="46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Forma libre 250"/>
          <p:cNvSpPr/>
          <p:nvPr/>
        </p:nvSpPr>
        <p:spPr>
          <a:xfrm>
            <a:off x="2342880" y="31906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Forma libre 251"/>
          <p:cNvSpPr/>
          <p:nvPr/>
        </p:nvSpPr>
        <p:spPr>
          <a:xfrm>
            <a:off x="2352600" y="3181320"/>
            <a:ext cx="3791160" cy="9720"/>
          </a:xfrm>
          <a:custGeom>
            <a:avLst/>
            <a:gdLst/>
            <a:ahLst/>
            <a:cxnLst/>
            <a:rect l="0" t="0" r="r" b="b"/>
            <a:pathLst>
              <a:path w="10531" h="27">
                <a:moveTo>
                  <a:pt x="0" y="0"/>
                </a:moveTo>
                <a:lnTo>
                  <a:pt x="10531" y="0"/>
                </a:lnTo>
                <a:lnTo>
                  <a:pt x="105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Forma libre 252"/>
          <p:cNvSpPr/>
          <p:nvPr/>
        </p:nvSpPr>
        <p:spPr>
          <a:xfrm>
            <a:off x="6134040" y="31906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Forma libre 253"/>
          <p:cNvSpPr/>
          <p:nvPr/>
        </p:nvSpPr>
        <p:spPr>
          <a:xfrm>
            <a:off x="6143400" y="3181320"/>
            <a:ext cx="3258000" cy="9720"/>
          </a:xfrm>
          <a:custGeom>
            <a:avLst/>
            <a:gdLst/>
            <a:ahLst/>
            <a:cxnLst/>
            <a:rect l="0" t="0" r="r" b="b"/>
            <a:pathLst>
              <a:path w="9050" h="27">
                <a:moveTo>
                  <a:pt x="0" y="0"/>
                </a:moveTo>
                <a:lnTo>
                  <a:pt x="9050" y="0"/>
                </a:lnTo>
                <a:lnTo>
                  <a:pt x="9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Forma libre 254"/>
          <p:cNvSpPr/>
          <p:nvPr/>
        </p:nvSpPr>
        <p:spPr>
          <a:xfrm>
            <a:off x="9391320" y="31906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Forma libre 255"/>
          <p:cNvSpPr/>
          <p:nvPr/>
        </p:nvSpPr>
        <p:spPr>
          <a:xfrm>
            <a:off x="666720" y="3600360"/>
            <a:ext cx="1686240" cy="9720"/>
          </a:xfrm>
          <a:custGeom>
            <a:avLst/>
            <a:gdLst/>
            <a:ahLst/>
            <a:cxnLst/>
            <a:rect l="0" t="0" r="r" b="b"/>
            <a:pathLst>
              <a:path w="4684" h="27">
                <a:moveTo>
                  <a:pt x="0" y="0"/>
                </a:moveTo>
                <a:lnTo>
                  <a:pt x="4684" y="0"/>
                </a:lnTo>
                <a:lnTo>
                  <a:pt x="46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Forma libre 256"/>
          <p:cNvSpPr/>
          <p:nvPr/>
        </p:nvSpPr>
        <p:spPr>
          <a:xfrm>
            <a:off x="2352600" y="3600360"/>
            <a:ext cx="3791160" cy="9720"/>
          </a:xfrm>
          <a:custGeom>
            <a:avLst/>
            <a:gdLst/>
            <a:ahLst/>
            <a:cxnLst/>
            <a:rect l="0" t="0" r="r" b="b"/>
            <a:pathLst>
              <a:path w="10531" h="27">
                <a:moveTo>
                  <a:pt x="0" y="0"/>
                </a:moveTo>
                <a:lnTo>
                  <a:pt x="10531" y="0"/>
                </a:lnTo>
                <a:lnTo>
                  <a:pt x="105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Forma libre 257"/>
          <p:cNvSpPr/>
          <p:nvPr/>
        </p:nvSpPr>
        <p:spPr>
          <a:xfrm>
            <a:off x="6143400" y="3600360"/>
            <a:ext cx="3258000" cy="9720"/>
          </a:xfrm>
          <a:custGeom>
            <a:avLst/>
            <a:gdLst/>
            <a:ahLst/>
            <a:cxnLst/>
            <a:rect l="0" t="0" r="r" b="b"/>
            <a:pathLst>
              <a:path w="9050" h="27">
                <a:moveTo>
                  <a:pt x="0" y="0"/>
                </a:moveTo>
                <a:lnTo>
                  <a:pt x="9050" y="0"/>
                </a:lnTo>
                <a:lnTo>
                  <a:pt x="9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Forma libre 258"/>
          <p:cNvSpPr/>
          <p:nvPr/>
        </p:nvSpPr>
        <p:spPr>
          <a:xfrm>
            <a:off x="671400" y="376704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6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50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50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5"/>
                  <a:pt x="30130" y="148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416"/>
                </a:lnTo>
                <a:cubicBezTo>
                  <a:pt x="30137" y="1429"/>
                  <a:pt x="30136" y="1442"/>
                  <a:pt x="30133" y="1455"/>
                </a:cubicBezTo>
                <a:cubicBezTo>
                  <a:pt x="30130" y="1468"/>
                  <a:pt x="30127" y="1480"/>
                  <a:pt x="30122" y="1492"/>
                </a:cubicBezTo>
                <a:cubicBezTo>
                  <a:pt x="30117" y="1504"/>
                  <a:pt x="30111" y="1516"/>
                  <a:pt x="30103" y="1527"/>
                </a:cubicBezTo>
                <a:cubicBezTo>
                  <a:pt x="30096" y="1537"/>
                  <a:pt x="30088" y="1547"/>
                  <a:pt x="30079" y="1557"/>
                </a:cubicBezTo>
                <a:cubicBezTo>
                  <a:pt x="30070" y="1566"/>
                  <a:pt x="30059" y="1574"/>
                  <a:pt x="30049" y="1581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8"/>
                  <a:pt x="29977" y="1611"/>
                </a:cubicBezTo>
                <a:cubicBezTo>
                  <a:pt x="29964" y="1613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3"/>
                  <a:pt x="160" y="1611"/>
                </a:cubicBezTo>
                <a:cubicBezTo>
                  <a:pt x="147" y="1608"/>
                  <a:pt x="134" y="1605"/>
                  <a:pt x="122" y="1600"/>
                </a:cubicBezTo>
                <a:cubicBezTo>
                  <a:pt x="110" y="1595"/>
                  <a:pt x="99" y="1589"/>
                  <a:pt x="88" y="1581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7"/>
                  <a:pt x="40" y="1537"/>
                  <a:pt x="33" y="1527"/>
                </a:cubicBezTo>
                <a:cubicBezTo>
                  <a:pt x="26" y="1516"/>
                  <a:pt x="20" y="1504"/>
                  <a:pt x="15" y="1492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2"/>
                  <a:pt x="0" y="1429"/>
                  <a:pt x="0" y="1416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Forma libre 259"/>
          <p:cNvSpPr/>
          <p:nvPr/>
        </p:nvSpPr>
        <p:spPr>
          <a:xfrm>
            <a:off x="671400" y="376704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6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50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50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5"/>
                  <a:pt x="30130" y="148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416"/>
                </a:lnTo>
                <a:cubicBezTo>
                  <a:pt x="30137" y="1429"/>
                  <a:pt x="30136" y="1442"/>
                  <a:pt x="30133" y="1455"/>
                </a:cubicBezTo>
                <a:cubicBezTo>
                  <a:pt x="30130" y="1468"/>
                  <a:pt x="30127" y="1480"/>
                  <a:pt x="30122" y="1492"/>
                </a:cubicBezTo>
                <a:cubicBezTo>
                  <a:pt x="30117" y="1504"/>
                  <a:pt x="30111" y="1516"/>
                  <a:pt x="30103" y="1527"/>
                </a:cubicBezTo>
                <a:cubicBezTo>
                  <a:pt x="30096" y="1537"/>
                  <a:pt x="30088" y="1547"/>
                  <a:pt x="30079" y="1557"/>
                </a:cubicBezTo>
                <a:cubicBezTo>
                  <a:pt x="30070" y="1566"/>
                  <a:pt x="30059" y="1574"/>
                  <a:pt x="30049" y="1581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8"/>
                  <a:pt x="29977" y="1611"/>
                </a:cubicBezTo>
                <a:cubicBezTo>
                  <a:pt x="29964" y="1613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3"/>
                  <a:pt x="160" y="1611"/>
                </a:cubicBezTo>
                <a:cubicBezTo>
                  <a:pt x="147" y="1608"/>
                  <a:pt x="134" y="1605"/>
                  <a:pt x="122" y="1600"/>
                </a:cubicBezTo>
                <a:cubicBezTo>
                  <a:pt x="110" y="1595"/>
                  <a:pt x="99" y="1589"/>
                  <a:pt x="88" y="1581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7"/>
                  <a:pt x="40" y="1537"/>
                  <a:pt x="33" y="1527"/>
                </a:cubicBezTo>
                <a:cubicBezTo>
                  <a:pt x="26" y="1516"/>
                  <a:pt x="20" y="1504"/>
                  <a:pt x="15" y="1492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2"/>
                  <a:pt x="0" y="1429"/>
                  <a:pt x="0" y="141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Forma libre 260"/>
          <p:cNvSpPr/>
          <p:nvPr/>
        </p:nvSpPr>
        <p:spPr>
          <a:xfrm>
            <a:off x="690480" y="4505040"/>
            <a:ext cx="10834920" cy="1067400"/>
          </a:xfrm>
          <a:custGeom>
            <a:avLst/>
            <a:gdLst/>
            <a:ahLst/>
            <a:cxnLst/>
            <a:rect l="0" t="0" r="r" b="b"/>
            <a:pathLst>
              <a:path w="30097" h="2965">
                <a:moveTo>
                  <a:pt x="0" y="2965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7"/>
                </a:cubicBezTo>
                <a:cubicBezTo>
                  <a:pt x="30035" y="33"/>
                  <a:pt x="30043" y="39"/>
                  <a:pt x="30051" y="47"/>
                </a:cubicBezTo>
                <a:cubicBezTo>
                  <a:pt x="30058" y="54"/>
                  <a:pt x="30065" y="62"/>
                  <a:pt x="30070" y="71"/>
                </a:cubicBezTo>
                <a:cubicBezTo>
                  <a:pt x="30076" y="80"/>
                  <a:pt x="30081" y="89"/>
                  <a:pt x="30085" y="98"/>
                </a:cubicBezTo>
                <a:cubicBezTo>
                  <a:pt x="30089" y="108"/>
                  <a:pt x="30092" y="118"/>
                  <a:pt x="30094" y="128"/>
                </a:cubicBezTo>
                <a:cubicBezTo>
                  <a:pt x="30096" y="138"/>
                  <a:pt x="30097" y="149"/>
                  <a:pt x="30097" y="159"/>
                </a:cubicBezTo>
                <a:lnTo>
                  <a:pt x="30097" y="2806"/>
                </a:lnTo>
                <a:cubicBezTo>
                  <a:pt x="30097" y="2816"/>
                  <a:pt x="30096" y="2827"/>
                  <a:pt x="30094" y="2837"/>
                </a:cubicBezTo>
                <a:cubicBezTo>
                  <a:pt x="30092" y="2847"/>
                  <a:pt x="30089" y="2857"/>
                  <a:pt x="30085" y="2867"/>
                </a:cubicBezTo>
                <a:cubicBezTo>
                  <a:pt x="30081" y="2876"/>
                  <a:pt x="30076" y="2885"/>
                  <a:pt x="30070" y="2894"/>
                </a:cubicBezTo>
                <a:cubicBezTo>
                  <a:pt x="30065" y="2903"/>
                  <a:pt x="30058" y="2911"/>
                  <a:pt x="30051" y="2918"/>
                </a:cubicBezTo>
                <a:cubicBezTo>
                  <a:pt x="30043" y="2925"/>
                  <a:pt x="30035" y="2932"/>
                  <a:pt x="30027" y="2938"/>
                </a:cubicBezTo>
                <a:cubicBezTo>
                  <a:pt x="30018" y="2944"/>
                  <a:pt x="30009" y="2949"/>
                  <a:pt x="29999" y="2953"/>
                </a:cubicBezTo>
                <a:cubicBezTo>
                  <a:pt x="29989" y="2957"/>
                  <a:pt x="29980" y="2960"/>
                  <a:pt x="29969" y="2962"/>
                </a:cubicBezTo>
                <a:cubicBezTo>
                  <a:pt x="29959" y="2964"/>
                  <a:pt x="29949" y="2965"/>
                  <a:pt x="29938" y="2965"/>
                </a:cubicBezTo>
                <a:lnTo>
                  <a:pt x="0" y="2965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Forma libre 261"/>
          <p:cNvSpPr/>
          <p:nvPr/>
        </p:nvSpPr>
        <p:spPr>
          <a:xfrm>
            <a:off x="666720" y="4505040"/>
            <a:ext cx="47880" cy="1067400"/>
          </a:xfrm>
          <a:custGeom>
            <a:avLst/>
            <a:gdLst/>
            <a:ahLst/>
            <a:cxnLst/>
            <a:rect l="0" t="0" r="r" b="b"/>
            <a:pathLst>
              <a:path w="133" h="2965">
                <a:moveTo>
                  <a:pt x="0" y="0"/>
                </a:moveTo>
                <a:lnTo>
                  <a:pt x="133" y="0"/>
                </a:lnTo>
                <a:lnTo>
                  <a:pt x="133" y="2965"/>
                </a:lnTo>
                <a:lnTo>
                  <a:pt x="0" y="2965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CuadroTexto 262"/>
          <p:cNvSpPr txBox="1"/>
          <p:nvPr/>
        </p:nvSpPr>
        <p:spPr>
          <a:xfrm>
            <a:off x="666720" y="1301400"/>
            <a:ext cx="5574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conda/mamba y uv: cuándo cada quién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CuadroTexto 263"/>
          <p:cNvSpPr txBox="1"/>
          <p:nvPr/>
        </p:nvSpPr>
        <p:spPr>
          <a:xfrm>
            <a:off x="3830400" y="2037960"/>
            <a:ext cx="8298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Resuelve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CuadroTexto 264"/>
          <p:cNvSpPr txBox="1"/>
          <p:nvPr/>
        </p:nvSpPr>
        <p:spPr>
          <a:xfrm>
            <a:off x="7145640" y="2037960"/>
            <a:ext cx="1249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Úsalo cuando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CuadroTexto 265"/>
          <p:cNvSpPr txBox="1"/>
          <p:nvPr/>
        </p:nvSpPr>
        <p:spPr>
          <a:xfrm>
            <a:off x="799920" y="2447640"/>
            <a:ext cx="923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venv + pip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CuadroTexto 266"/>
          <p:cNvSpPr txBox="1"/>
          <p:nvPr/>
        </p:nvSpPr>
        <p:spPr>
          <a:xfrm>
            <a:off x="2478600" y="2447640"/>
            <a:ext cx="16556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paquetes de Python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CuadroTexto 267"/>
          <p:cNvSpPr txBox="1"/>
          <p:nvPr/>
        </p:nvSpPr>
        <p:spPr>
          <a:xfrm>
            <a:off x="6268680" y="2447640"/>
            <a:ext cx="3007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caso general: suﬁciente casi siempre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CuadroTexto 268"/>
          <p:cNvSpPr txBox="1"/>
          <p:nvPr/>
        </p:nvSpPr>
        <p:spPr>
          <a:xfrm>
            <a:off x="799920" y="2866680"/>
            <a:ext cx="1422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conda / mamba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CuadroTexto 269"/>
          <p:cNvSpPr txBox="1"/>
          <p:nvPr/>
        </p:nvSpPr>
        <p:spPr>
          <a:xfrm>
            <a:off x="2478600" y="2866680"/>
            <a:ext cx="2802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paquetes de Python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y no-Python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CuadroTexto 270"/>
          <p:cNvSpPr txBox="1"/>
          <p:nvPr/>
        </p:nvSpPr>
        <p:spPr>
          <a:xfrm>
            <a:off x="6268680" y="2866680"/>
            <a:ext cx="29786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necesitas BLAS, GDAL, samtools, 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CuadroTexto 271"/>
          <p:cNvSpPr txBox="1"/>
          <p:nvPr/>
        </p:nvSpPr>
        <p:spPr>
          <a:xfrm>
            <a:off x="799920" y="3285720"/>
            <a:ext cx="21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uv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CuadroTexto 272"/>
          <p:cNvSpPr txBox="1"/>
          <p:nvPr/>
        </p:nvSpPr>
        <p:spPr>
          <a:xfrm>
            <a:off x="2478600" y="3285720"/>
            <a:ext cx="3533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 mismo que venv+pip, ~100× más rápido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CuadroTexto 273"/>
          <p:cNvSpPr txBox="1"/>
          <p:nvPr/>
        </p:nvSpPr>
        <p:spPr>
          <a:xfrm>
            <a:off x="6268680" y="3285720"/>
            <a:ext cx="3003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quieres velocidad y lockﬁle integrado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CuadroTexto 274"/>
          <p:cNvSpPr txBox="1"/>
          <p:nvPr/>
        </p:nvSpPr>
        <p:spPr>
          <a:xfrm>
            <a:off x="866880" y="3946680"/>
            <a:ext cx="6442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uv venv &amp;&amp; uv pip install pandas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segundos, no minutos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CuadroTexto 275"/>
          <p:cNvSpPr txBox="1"/>
          <p:nvPr/>
        </p:nvSpPr>
        <p:spPr>
          <a:xfrm>
            <a:off x="885960" y="4659120"/>
            <a:ext cx="10285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 bioinformática, conda (canal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bioconda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) sigue siendo el estándar para herramientas como samtools 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CuadroTexto 276"/>
          <p:cNvSpPr txBox="1"/>
          <p:nvPr/>
        </p:nvSpPr>
        <p:spPr>
          <a:xfrm>
            <a:off x="885960" y="5002200"/>
            <a:ext cx="6738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bwa. Para proyectos puros de Python,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uv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el reemplazo moderno.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CuadroTexto 27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CuadroTexto 27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CuadroTexto 279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Forma libre 28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Forma libre 28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Forma libre 28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CuadroTexto 283"/>
          <p:cNvSpPr txBox="1"/>
          <p:nvPr/>
        </p:nvSpPr>
        <p:spPr>
          <a:xfrm>
            <a:off x="3240000" y="3063960"/>
            <a:ext cx="4047583" cy="6463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 dirty="0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Dependencias</a:t>
            </a:r>
            <a:endParaRPr lang="es-ES" sz="4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CuadroTexto 28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CuadroTexto 28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CuadroTexto 28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Forma libre 28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Forma libre 28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Forma libre 28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Forma libre 290"/>
          <p:cNvSpPr/>
          <p:nvPr/>
        </p:nvSpPr>
        <p:spPr>
          <a:xfrm>
            <a:off x="671400" y="178560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7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6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6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7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Forma libre 291"/>
          <p:cNvSpPr/>
          <p:nvPr/>
        </p:nvSpPr>
        <p:spPr>
          <a:xfrm>
            <a:off x="671400" y="178560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7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6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6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7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Forma libre 292"/>
          <p:cNvSpPr/>
          <p:nvPr/>
        </p:nvSpPr>
        <p:spPr>
          <a:xfrm>
            <a:off x="671400" y="2795400"/>
            <a:ext cx="10849320" cy="1629000"/>
          </a:xfrm>
          <a:custGeom>
            <a:avLst/>
            <a:gdLst/>
            <a:ahLst/>
            <a:cxnLst/>
            <a:rect l="0" t="0" r="r" b="b"/>
            <a:pathLst>
              <a:path w="30137" h="4525">
                <a:moveTo>
                  <a:pt x="0" y="4327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8"/>
                  <a:pt x="30127" y="4391"/>
                  <a:pt x="30122" y="4403"/>
                </a:cubicBezTo>
                <a:cubicBezTo>
                  <a:pt x="30117" y="4415"/>
                  <a:pt x="30111" y="4426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6"/>
                  <a:pt x="30059" y="4485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2"/>
                </a:cubicBezTo>
                <a:cubicBezTo>
                  <a:pt x="29964" y="4524"/>
                  <a:pt x="29951" y="4525"/>
                  <a:pt x="29938" y="4525"/>
                </a:cubicBezTo>
                <a:lnTo>
                  <a:pt x="198" y="4525"/>
                </a:lnTo>
                <a:cubicBezTo>
                  <a:pt x="185" y="4525"/>
                  <a:pt x="172" y="4524"/>
                  <a:pt x="160" y="4522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5"/>
                  <a:pt x="67" y="4476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6"/>
                  <a:pt x="20" y="4415"/>
                  <a:pt x="15" y="4403"/>
                </a:cubicBezTo>
                <a:cubicBezTo>
                  <a:pt x="10" y="4391"/>
                  <a:pt x="6" y="4378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Forma libre 293"/>
          <p:cNvSpPr/>
          <p:nvPr/>
        </p:nvSpPr>
        <p:spPr>
          <a:xfrm>
            <a:off x="671400" y="2795400"/>
            <a:ext cx="10849320" cy="1629000"/>
          </a:xfrm>
          <a:custGeom>
            <a:avLst/>
            <a:gdLst/>
            <a:ahLst/>
            <a:cxnLst/>
            <a:rect l="0" t="0" r="r" b="b"/>
            <a:pathLst>
              <a:path w="30137" h="4525">
                <a:moveTo>
                  <a:pt x="0" y="4327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8"/>
                  <a:pt x="30127" y="4391"/>
                  <a:pt x="30122" y="4403"/>
                </a:cubicBezTo>
                <a:cubicBezTo>
                  <a:pt x="30117" y="4415"/>
                  <a:pt x="30111" y="4426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6"/>
                  <a:pt x="30059" y="4485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2"/>
                </a:cubicBezTo>
                <a:cubicBezTo>
                  <a:pt x="29964" y="4524"/>
                  <a:pt x="29951" y="4525"/>
                  <a:pt x="29938" y="4525"/>
                </a:cubicBezTo>
                <a:lnTo>
                  <a:pt x="198" y="4525"/>
                </a:lnTo>
                <a:cubicBezTo>
                  <a:pt x="185" y="4525"/>
                  <a:pt x="172" y="4524"/>
                  <a:pt x="160" y="4522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5"/>
                  <a:pt x="67" y="4476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6"/>
                  <a:pt x="20" y="4415"/>
                  <a:pt x="15" y="4403"/>
                </a:cubicBezTo>
                <a:cubicBezTo>
                  <a:pt x="10" y="4391"/>
                  <a:pt x="6" y="4378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CuadroTexto 294"/>
          <p:cNvSpPr txBox="1"/>
          <p:nvPr/>
        </p:nvSpPr>
        <p:spPr>
          <a:xfrm>
            <a:off x="666720" y="1149120"/>
            <a:ext cx="33145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Declarar no es congelar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CuadroTexto 295"/>
          <p:cNvSpPr txBox="1"/>
          <p:nvPr/>
        </p:nvSpPr>
        <p:spPr>
          <a:xfrm>
            <a:off x="866880" y="1965600"/>
            <a:ext cx="6333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pyproject.toml — lo que DECLARAS (restricciones amplias)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CuadroTexto 296"/>
          <p:cNvSpPr txBox="1"/>
          <p:nvPr/>
        </p:nvSpPr>
        <p:spPr>
          <a:xfrm>
            <a:off x="866880" y="2232360"/>
            <a:ext cx="4914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dependencies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= 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"pandas&gt;=2.0"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"numpy&gt;=1.26"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CuadroTexto 297"/>
          <p:cNvSpPr txBox="1"/>
          <p:nvPr/>
        </p:nvSpPr>
        <p:spPr>
          <a:xfrm>
            <a:off x="866880" y="2975400"/>
            <a:ext cx="7534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# uv.lock / requirements.lock — lo que se CONGELA (resolución exacta)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CuadroTexto 298"/>
          <p:cNvSpPr txBox="1"/>
          <p:nvPr/>
        </p:nvSpPr>
        <p:spPr>
          <a:xfrm>
            <a:off x="866880" y="3242160"/>
            <a:ext cx="1420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pandas==2.2.3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CuadroTexto 299"/>
          <p:cNvSpPr txBox="1"/>
          <p:nvPr/>
        </p:nvSpPr>
        <p:spPr>
          <a:xfrm>
            <a:off x="866880" y="3499200"/>
            <a:ext cx="1311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numpy==2.1.3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CuadroTexto 300"/>
          <p:cNvSpPr txBox="1"/>
          <p:nvPr/>
        </p:nvSpPr>
        <p:spPr>
          <a:xfrm>
            <a:off x="866880" y="3765960"/>
            <a:ext cx="5896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python-dateutil==2.9.0.post0    ← ni sabías que estaba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Forma libre 301"/>
          <p:cNvSpPr/>
          <p:nvPr/>
        </p:nvSpPr>
        <p:spPr>
          <a:xfrm>
            <a:off x="914040" y="47336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CuadroTexto 302"/>
          <p:cNvSpPr txBox="1"/>
          <p:nvPr/>
        </p:nvSpPr>
        <p:spPr>
          <a:xfrm>
            <a:off x="866880" y="4023000"/>
            <a:ext cx="6879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tzdata==2024.2                  ← dependencia de tu dependencia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Forma libre 303"/>
          <p:cNvSpPr/>
          <p:nvPr/>
        </p:nvSpPr>
        <p:spPr>
          <a:xfrm>
            <a:off x="914040" y="51339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CuadroTexto 304"/>
          <p:cNvSpPr txBox="1"/>
          <p:nvPr/>
        </p:nvSpPr>
        <p:spPr>
          <a:xfrm>
            <a:off x="1123920" y="4620960"/>
            <a:ext cx="6157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declaración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dice qué necesitas y con qué eres compatible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Forma libre 305"/>
          <p:cNvSpPr/>
          <p:nvPr/>
        </p:nvSpPr>
        <p:spPr>
          <a:xfrm>
            <a:off x="914040" y="55339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CuadroTexto 306"/>
          <p:cNvSpPr txBox="1"/>
          <p:nvPr/>
        </p:nvSpPr>
        <p:spPr>
          <a:xfrm>
            <a:off x="1123920" y="5021280"/>
            <a:ext cx="5851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lockﬁle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registra la resolución exacta, transitivas incluidas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Forma libre 307"/>
          <p:cNvSpPr/>
          <p:nvPr/>
        </p:nvSpPr>
        <p:spPr>
          <a:xfrm>
            <a:off x="2390760" y="5438520"/>
            <a:ext cx="933480" cy="267120"/>
          </a:xfrm>
          <a:custGeom>
            <a:avLst/>
            <a:gdLst/>
            <a:ahLst/>
            <a:cxnLst/>
            <a:rect l="0" t="0" r="r" b="b"/>
            <a:pathLst>
              <a:path w="2593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2" y="80"/>
                  <a:pt x="8" y="67"/>
                </a:cubicBezTo>
                <a:cubicBezTo>
                  <a:pt x="13" y="53"/>
                  <a:pt x="21" y="41"/>
                  <a:pt x="31" y="31"/>
                </a:cubicBezTo>
                <a:cubicBezTo>
                  <a:pt x="40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488" y="0"/>
                </a:lnTo>
                <a:cubicBezTo>
                  <a:pt x="2502" y="0"/>
                  <a:pt x="2515" y="3"/>
                  <a:pt x="2528" y="8"/>
                </a:cubicBezTo>
                <a:cubicBezTo>
                  <a:pt x="2541" y="14"/>
                  <a:pt x="2553" y="21"/>
                  <a:pt x="2562" y="31"/>
                </a:cubicBezTo>
                <a:cubicBezTo>
                  <a:pt x="2572" y="41"/>
                  <a:pt x="2580" y="53"/>
                  <a:pt x="2585" y="67"/>
                </a:cubicBezTo>
                <a:cubicBezTo>
                  <a:pt x="2591" y="80"/>
                  <a:pt x="2593" y="93"/>
                  <a:pt x="2593" y="107"/>
                </a:cubicBezTo>
                <a:lnTo>
                  <a:pt x="2593" y="636"/>
                </a:lnTo>
                <a:cubicBezTo>
                  <a:pt x="2593" y="650"/>
                  <a:pt x="2591" y="664"/>
                  <a:pt x="2585" y="677"/>
                </a:cubicBezTo>
                <a:cubicBezTo>
                  <a:pt x="2580" y="690"/>
                  <a:pt x="2572" y="701"/>
                  <a:pt x="2562" y="711"/>
                </a:cubicBezTo>
                <a:cubicBezTo>
                  <a:pt x="2553" y="721"/>
                  <a:pt x="2541" y="729"/>
                  <a:pt x="2528" y="734"/>
                </a:cubicBezTo>
                <a:cubicBezTo>
                  <a:pt x="2515" y="739"/>
                  <a:pt x="2502" y="742"/>
                  <a:pt x="2488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0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CuadroTexto 308"/>
          <p:cNvSpPr txBox="1"/>
          <p:nvPr/>
        </p:nvSpPr>
        <p:spPr>
          <a:xfrm>
            <a:off x="1123920" y="5421240"/>
            <a:ext cx="1266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 lockﬁle,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CuadroTexto 309"/>
          <p:cNvSpPr txBox="1"/>
          <p:nvPr/>
        </p:nvSpPr>
        <p:spPr>
          <a:xfrm>
            <a:off x="2447280" y="545832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install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CuadroTexto 310"/>
          <p:cNvSpPr txBox="1"/>
          <p:nvPr/>
        </p:nvSpPr>
        <p:spPr>
          <a:xfrm>
            <a:off x="3323520" y="5421240"/>
            <a:ext cx="4474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mismo ambiente hoy y en dos años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CuadroTexto 31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CuadroTexto 31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CuadroTexto 31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Forma libre 3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Forma libre 3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Forma libre 3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CuadroTexto 317"/>
          <p:cNvSpPr txBox="1"/>
          <p:nvPr/>
        </p:nvSpPr>
        <p:spPr>
          <a:xfrm>
            <a:off x="3291480" y="3063960"/>
            <a:ext cx="5732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Qué es un contenedor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CuadroTexto 31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CuadroTexto 31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CuadroTexto 32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Forma libre 3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Forma libre 3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Forma libre 32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Forma libre 324"/>
          <p:cNvSpPr/>
          <p:nvPr/>
        </p:nvSpPr>
        <p:spPr>
          <a:xfrm>
            <a:off x="676080" y="2057040"/>
            <a:ext cx="1343520" cy="410040"/>
          </a:xfrm>
          <a:custGeom>
            <a:avLst/>
            <a:gdLst/>
            <a:ahLst/>
            <a:cxnLst/>
            <a:rect l="0" t="0" r="r" b="b"/>
            <a:pathLst>
              <a:path w="3732" h="1139">
                <a:moveTo>
                  <a:pt x="0" y="0"/>
                </a:moveTo>
                <a:lnTo>
                  <a:pt x="3732" y="0"/>
                </a:lnTo>
                <a:lnTo>
                  <a:pt x="373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Forma libre 325"/>
          <p:cNvSpPr/>
          <p:nvPr/>
        </p:nvSpPr>
        <p:spPr>
          <a:xfrm>
            <a:off x="2019240" y="2057040"/>
            <a:ext cx="3009960" cy="410040"/>
          </a:xfrm>
          <a:custGeom>
            <a:avLst/>
            <a:gdLst/>
            <a:ahLst/>
            <a:cxnLst/>
            <a:rect l="0" t="0" r="r" b="b"/>
            <a:pathLst>
              <a:path w="8361" h="1139">
                <a:moveTo>
                  <a:pt x="0" y="0"/>
                </a:moveTo>
                <a:lnTo>
                  <a:pt x="8361" y="0"/>
                </a:lnTo>
                <a:lnTo>
                  <a:pt x="836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Forma libre 326"/>
          <p:cNvSpPr/>
          <p:nvPr/>
        </p:nvSpPr>
        <p:spPr>
          <a:xfrm>
            <a:off x="5028840" y="2057040"/>
            <a:ext cx="4343760" cy="410040"/>
          </a:xfrm>
          <a:custGeom>
            <a:avLst/>
            <a:gdLst/>
            <a:ahLst/>
            <a:cxnLst/>
            <a:rect l="0" t="0" r="r" b="b"/>
            <a:pathLst>
              <a:path w="12066" h="1139">
                <a:moveTo>
                  <a:pt x="0" y="0"/>
                </a:moveTo>
                <a:lnTo>
                  <a:pt x="12066" y="0"/>
                </a:lnTo>
                <a:lnTo>
                  <a:pt x="1206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Forma libre 327"/>
          <p:cNvSpPr/>
          <p:nvPr/>
        </p:nvSpPr>
        <p:spPr>
          <a:xfrm>
            <a:off x="676080" y="2057040"/>
            <a:ext cx="1343520" cy="410040"/>
          </a:xfrm>
          <a:custGeom>
            <a:avLst/>
            <a:gdLst/>
            <a:ahLst/>
            <a:cxnLst/>
            <a:rect l="0" t="0" r="r" b="b"/>
            <a:pathLst>
              <a:path w="3732" h="1139">
                <a:moveTo>
                  <a:pt x="0" y="0"/>
                </a:moveTo>
                <a:lnTo>
                  <a:pt x="3732" y="0"/>
                </a:lnTo>
                <a:lnTo>
                  <a:pt x="373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Forma libre 328"/>
          <p:cNvSpPr/>
          <p:nvPr/>
        </p:nvSpPr>
        <p:spPr>
          <a:xfrm>
            <a:off x="2019240" y="2057040"/>
            <a:ext cx="3009960" cy="410040"/>
          </a:xfrm>
          <a:custGeom>
            <a:avLst/>
            <a:gdLst/>
            <a:ahLst/>
            <a:cxnLst/>
            <a:rect l="0" t="0" r="r" b="b"/>
            <a:pathLst>
              <a:path w="8361" h="1139">
                <a:moveTo>
                  <a:pt x="0" y="0"/>
                </a:moveTo>
                <a:lnTo>
                  <a:pt x="8361" y="0"/>
                </a:lnTo>
                <a:lnTo>
                  <a:pt x="836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Forma libre 329"/>
          <p:cNvSpPr/>
          <p:nvPr/>
        </p:nvSpPr>
        <p:spPr>
          <a:xfrm>
            <a:off x="5028840" y="2057040"/>
            <a:ext cx="4343760" cy="410040"/>
          </a:xfrm>
          <a:custGeom>
            <a:avLst/>
            <a:gdLst/>
            <a:ahLst/>
            <a:cxnLst/>
            <a:rect l="0" t="0" r="r" b="b"/>
            <a:pathLst>
              <a:path w="12066" h="1139">
                <a:moveTo>
                  <a:pt x="0" y="0"/>
                </a:moveTo>
                <a:lnTo>
                  <a:pt x="12066" y="0"/>
                </a:lnTo>
                <a:lnTo>
                  <a:pt x="1206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Forma libre 330"/>
          <p:cNvSpPr/>
          <p:nvPr/>
        </p:nvSpPr>
        <p:spPr>
          <a:xfrm>
            <a:off x="676080" y="2466720"/>
            <a:ext cx="1343520" cy="419400"/>
          </a:xfrm>
          <a:custGeom>
            <a:avLst/>
            <a:gdLst/>
            <a:ahLst/>
            <a:cxnLst/>
            <a:rect l="0" t="0" r="r" b="b"/>
            <a:pathLst>
              <a:path w="3732" h="1165">
                <a:moveTo>
                  <a:pt x="0" y="0"/>
                </a:moveTo>
                <a:lnTo>
                  <a:pt x="3732" y="0"/>
                </a:lnTo>
                <a:lnTo>
                  <a:pt x="373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Forma libre 331"/>
          <p:cNvSpPr/>
          <p:nvPr/>
        </p:nvSpPr>
        <p:spPr>
          <a:xfrm>
            <a:off x="2019240" y="2466720"/>
            <a:ext cx="3009960" cy="419400"/>
          </a:xfrm>
          <a:custGeom>
            <a:avLst/>
            <a:gdLst/>
            <a:ahLst/>
            <a:cxnLst/>
            <a:rect l="0" t="0" r="r" b="b"/>
            <a:pathLst>
              <a:path w="8361" h="1165">
                <a:moveTo>
                  <a:pt x="0" y="0"/>
                </a:moveTo>
                <a:lnTo>
                  <a:pt x="8361" y="0"/>
                </a:lnTo>
                <a:lnTo>
                  <a:pt x="836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Forma libre 332"/>
          <p:cNvSpPr/>
          <p:nvPr/>
        </p:nvSpPr>
        <p:spPr>
          <a:xfrm>
            <a:off x="5028840" y="2466720"/>
            <a:ext cx="4343760" cy="419400"/>
          </a:xfrm>
          <a:custGeom>
            <a:avLst/>
            <a:gdLst/>
            <a:ahLst/>
            <a:cxnLst/>
            <a:rect l="0" t="0" r="r" b="b"/>
            <a:pathLst>
              <a:path w="12066" h="1165">
                <a:moveTo>
                  <a:pt x="0" y="0"/>
                </a:moveTo>
                <a:lnTo>
                  <a:pt x="12066" y="0"/>
                </a:lnTo>
                <a:lnTo>
                  <a:pt x="1206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Forma libre 333"/>
          <p:cNvSpPr/>
          <p:nvPr/>
        </p:nvSpPr>
        <p:spPr>
          <a:xfrm>
            <a:off x="676080" y="2885760"/>
            <a:ext cx="1343520" cy="419760"/>
          </a:xfrm>
          <a:custGeom>
            <a:avLst/>
            <a:gdLst/>
            <a:ahLst/>
            <a:cxnLst/>
            <a:rect l="0" t="0" r="r" b="b"/>
            <a:pathLst>
              <a:path w="3732" h="1166">
                <a:moveTo>
                  <a:pt x="0" y="0"/>
                </a:moveTo>
                <a:lnTo>
                  <a:pt x="3732" y="0"/>
                </a:lnTo>
                <a:lnTo>
                  <a:pt x="3732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Forma libre 334"/>
          <p:cNvSpPr/>
          <p:nvPr/>
        </p:nvSpPr>
        <p:spPr>
          <a:xfrm>
            <a:off x="2019240" y="2885760"/>
            <a:ext cx="3009960" cy="419760"/>
          </a:xfrm>
          <a:custGeom>
            <a:avLst/>
            <a:gdLst/>
            <a:ahLst/>
            <a:cxnLst/>
            <a:rect l="0" t="0" r="r" b="b"/>
            <a:pathLst>
              <a:path w="8361" h="1166">
                <a:moveTo>
                  <a:pt x="0" y="0"/>
                </a:moveTo>
                <a:lnTo>
                  <a:pt x="8361" y="0"/>
                </a:lnTo>
                <a:lnTo>
                  <a:pt x="8361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Forma libre 335"/>
          <p:cNvSpPr/>
          <p:nvPr/>
        </p:nvSpPr>
        <p:spPr>
          <a:xfrm>
            <a:off x="5028840" y="2885760"/>
            <a:ext cx="4343760" cy="419760"/>
          </a:xfrm>
          <a:custGeom>
            <a:avLst/>
            <a:gdLst/>
            <a:ahLst/>
            <a:cxnLst/>
            <a:rect l="0" t="0" r="r" b="b"/>
            <a:pathLst>
              <a:path w="12066" h="1166">
                <a:moveTo>
                  <a:pt x="0" y="0"/>
                </a:moveTo>
                <a:lnTo>
                  <a:pt x="12066" y="0"/>
                </a:lnTo>
                <a:lnTo>
                  <a:pt x="12066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Forma libre 336"/>
          <p:cNvSpPr/>
          <p:nvPr/>
        </p:nvSpPr>
        <p:spPr>
          <a:xfrm>
            <a:off x="676080" y="3305160"/>
            <a:ext cx="1343520" cy="409680"/>
          </a:xfrm>
          <a:custGeom>
            <a:avLst/>
            <a:gdLst/>
            <a:ahLst/>
            <a:cxnLst/>
            <a:rect l="0" t="0" r="r" b="b"/>
            <a:pathLst>
              <a:path w="3732" h="1138">
                <a:moveTo>
                  <a:pt x="0" y="0"/>
                </a:moveTo>
                <a:lnTo>
                  <a:pt x="3732" y="0"/>
                </a:lnTo>
                <a:lnTo>
                  <a:pt x="3732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Forma libre 337"/>
          <p:cNvSpPr/>
          <p:nvPr/>
        </p:nvSpPr>
        <p:spPr>
          <a:xfrm>
            <a:off x="2019240" y="3305160"/>
            <a:ext cx="3009960" cy="409680"/>
          </a:xfrm>
          <a:custGeom>
            <a:avLst/>
            <a:gdLst/>
            <a:ahLst/>
            <a:cxnLst/>
            <a:rect l="0" t="0" r="r" b="b"/>
            <a:pathLst>
              <a:path w="8361" h="1138">
                <a:moveTo>
                  <a:pt x="0" y="0"/>
                </a:moveTo>
                <a:lnTo>
                  <a:pt x="8361" y="0"/>
                </a:lnTo>
                <a:lnTo>
                  <a:pt x="8361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Forma libre 338"/>
          <p:cNvSpPr/>
          <p:nvPr/>
        </p:nvSpPr>
        <p:spPr>
          <a:xfrm>
            <a:off x="5028840" y="3305160"/>
            <a:ext cx="4343760" cy="409680"/>
          </a:xfrm>
          <a:custGeom>
            <a:avLst/>
            <a:gdLst/>
            <a:ahLst/>
            <a:cxnLst/>
            <a:rect l="0" t="0" r="r" b="b"/>
            <a:pathLst>
              <a:path w="12066" h="1138">
                <a:moveTo>
                  <a:pt x="0" y="0"/>
                </a:moveTo>
                <a:lnTo>
                  <a:pt x="12066" y="0"/>
                </a:lnTo>
                <a:lnTo>
                  <a:pt x="1206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Forma libre 339"/>
          <p:cNvSpPr/>
          <p:nvPr/>
        </p:nvSpPr>
        <p:spPr>
          <a:xfrm>
            <a:off x="676080" y="3714480"/>
            <a:ext cx="1343520" cy="410040"/>
          </a:xfrm>
          <a:custGeom>
            <a:avLst/>
            <a:gdLst/>
            <a:ahLst/>
            <a:cxnLst/>
            <a:rect l="0" t="0" r="r" b="b"/>
            <a:pathLst>
              <a:path w="3732" h="1139">
                <a:moveTo>
                  <a:pt x="0" y="0"/>
                </a:moveTo>
                <a:lnTo>
                  <a:pt x="3732" y="0"/>
                </a:lnTo>
                <a:lnTo>
                  <a:pt x="373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Forma libre 340"/>
          <p:cNvSpPr/>
          <p:nvPr/>
        </p:nvSpPr>
        <p:spPr>
          <a:xfrm>
            <a:off x="2019240" y="3714480"/>
            <a:ext cx="3009960" cy="410040"/>
          </a:xfrm>
          <a:custGeom>
            <a:avLst/>
            <a:gdLst/>
            <a:ahLst/>
            <a:cxnLst/>
            <a:rect l="0" t="0" r="r" b="b"/>
            <a:pathLst>
              <a:path w="8361" h="1139">
                <a:moveTo>
                  <a:pt x="0" y="0"/>
                </a:moveTo>
                <a:lnTo>
                  <a:pt x="8361" y="0"/>
                </a:lnTo>
                <a:lnTo>
                  <a:pt x="836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Forma libre 341"/>
          <p:cNvSpPr/>
          <p:nvPr/>
        </p:nvSpPr>
        <p:spPr>
          <a:xfrm>
            <a:off x="5028840" y="3714480"/>
            <a:ext cx="4343760" cy="410040"/>
          </a:xfrm>
          <a:custGeom>
            <a:avLst/>
            <a:gdLst/>
            <a:ahLst/>
            <a:cxnLst/>
            <a:rect l="0" t="0" r="r" b="b"/>
            <a:pathLst>
              <a:path w="12066" h="1139">
                <a:moveTo>
                  <a:pt x="0" y="0"/>
                </a:moveTo>
                <a:lnTo>
                  <a:pt x="12066" y="0"/>
                </a:lnTo>
                <a:lnTo>
                  <a:pt x="1206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Forma libre 342"/>
          <p:cNvSpPr/>
          <p:nvPr/>
        </p:nvSpPr>
        <p:spPr>
          <a:xfrm>
            <a:off x="666720" y="20476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Forma libre 343"/>
          <p:cNvSpPr/>
          <p:nvPr/>
        </p:nvSpPr>
        <p:spPr>
          <a:xfrm>
            <a:off x="666720" y="2047680"/>
            <a:ext cx="1362240" cy="9720"/>
          </a:xfrm>
          <a:custGeom>
            <a:avLst/>
            <a:gdLst/>
            <a:ahLst/>
            <a:cxnLst/>
            <a:rect l="0" t="0" r="r" b="b"/>
            <a:pathLst>
              <a:path w="3784" h="27">
                <a:moveTo>
                  <a:pt x="0" y="0"/>
                </a:moveTo>
                <a:lnTo>
                  <a:pt x="3784" y="0"/>
                </a:lnTo>
                <a:lnTo>
                  <a:pt x="37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Forma libre 344"/>
          <p:cNvSpPr/>
          <p:nvPr/>
        </p:nvSpPr>
        <p:spPr>
          <a:xfrm>
            <a:off x="2019240" y="20476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Forma libre 345"/>
          <p:cNvSpPr/>
          <p:nvPr/>
        </p:nvSpPr>
        <p:spPr>
          <a:xfrm>
            <a:off x="2028600" y="2047680"/>
            <a:ext cx="3010320" cy="9720"/>
          </a:xfrm>
          <a:custGeom>
            <a:avLst/>
            <a:gdLst/>
            <a:ahLst/>
            <a:cxnLst/>
            <a:rect l="0" t="0" r="r" b="b"/>
            <a:pathLst>
              <a:path w="8362" h="27">
                <a:moveTo>
                  <a:pt x="0" y="0"/>
                </a:moveTo>
                <a:lnTo>
                  <a:pt x="8362" y="0"/>
                </a:lnTo>
                <a:lnTo>
                  <a:pt x="83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Forma libre 346"/>
          <p:cNvSpPr/>
          <p:nvPr/>
        </p:nvSpPr>
        <p:spPr>
          <a:xfrm>
            <a:off x="5028840" y="20476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Forma libre 347"/>
          <p:cNvSpPr/>
          <p:nvPr/>
        </p:nvSpPr>
        <p:spPr>
          <a:xfrm>
            <a:off x="5038560" y="2047680"/>
            <a:ext cx="4334040" cy="9720"/>
          </a:xfrm>
          <a:custGeom>
            <a:avLst/>
            <a:gdLst/>
            <a:ahLst/>
            <a:cxnLst/>
            <a:rect l="0" t="0" r="r" b="b"/>
            <a:pathLst>
              <a:path w="12039" h="27">
                <a:moveTo>
                  <a:pt x="0" y="0"/>
                </a:moveTo>
                <a:lnTo>
                  <a:pt x="12039" y="0"/>
                </a:lnTo>
                <a:lnTo>
                  <a:pt x="12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Forma libre 348"/>
          <p:cNvSpPr/>
          <p:nvPr/>
        </p:nvSpPr>
        <p:spPr>
          <a:xfrm>
            <a:off x="9362880" y="20476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Forma libre 349"/>
          <p:cNvSpPr/>
          <p:nvPr/>
        </p:nvSpPr>
        <p:spPr>
          <a:xfrm>
            <a:off x="666720" y="2457360"/>
            <a:ext cx="1362240" cy="9720"/>
          </a:xfrm>
          <a:custGeom>
            <a:avLst/>
            <a:gdLst/>
            <a:ahLst/>
            <a:cxnLst/>
            <a:rect l="0" t="0" r="r" b="b"/>
            <a:pathLst>
              <a:path w="3784" h="27">
                <a:moveTo>
                  <a:pt x="0" y="0"/>
                </a:moveTo>
                <a:lnTo>
                  <a:pt x="3784" y="0"/>
                </a:lnTo>
                <a:lnTo>
                  <a:pt x="37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Forma libre 350"/>
          <p:cNvSpPr/>
          <p:nvPr/>
        </p:nvSpPr>
        <p:spPr>
          <a:xfrm>
            <a:off x="2028600" y="2457360"/>
            <a:ext cx="3010320" cy="9720"/>
          </a:xfrm>
          <a:custGeom>
            <a:avLst/>
            <a:gdLst/>
            <a:ahLst/>
            <a:cxnLst/>
            <a:rect l="0" t="0" r="r" b="b"/>
            <a:pathLst>
              <a:path w="8362" h="27">
                <a:moveTo>
                  <a:pt x="0" y="0"/>
                </a:moveTo>
                <a:lnTo>
                  <a:pt x="8362" y="0"/>
                </a:lnTo>
                <a:lnTo>
                  <a:pt x="83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Forma libre 351"/>
          <p:cNvSpPr/>
          <p:nvPr/>
        </p:nvSpPr>
        <p:spPr>
          <a:xfrm>
            <a:off x="5038560" y="2457360"/>
            <a:ext cx="4334040" cy="9720"/>
          </a:xfrm>
          <a:custGeom>
            <a:avLst/>
            <a:gdLst/>
            <a:ahLst/>
            <a:cxnLst/>
            <a:rect l="0" t="0" r="r" b="b"/>
            <a:pathLst>
              <a:path w="12039" h="27">
                <a:moveTo>
                  <a:pt x="0" y="0"/>
                </a:moveTo>
                <a:lnTo>
                  <a:pt x="12039" y="0"/>
                </a:lnTo>
                <a:lnTo>
                  <a:pt x="12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Forma libre 352"/>
          <p:cNvSpPr/>
          <p:nvPr/>
        </p:nvSpPr>
        <p:spPr>
          <a:xfrm>
            <a:off x="666720" y="2466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Forma libre 353"/>
          <p:cNvSpPr/>
          <p:nvPr/>
        </p:nvSpPr>
        <p:spPr>
          <a:xfrm>
            <a:off x="2019240" y="2466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Forma libre 354"/>
          <p:cNvSpPr/>
          <p:nvPr/>
        </p:nvSpPr>
        <p:spPr>
          <a:xfrm>
            <a:off x="5028840" y="24667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Forma libre 355"/>
          <p:cNvSpPr/>
          <p:nvPr/>
        </p:nvSpPr>
        <p:spPr>
          <a:xfrm>
            <a:off x="9362880" y="2466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Forma libre 356"/>
          <p:cNvSpPr/>
          <p:nvPr/>
        </p:nvSpPr>
        <p:spPr>
          <a:xfrm>
            <a:off x="666720" y="28857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Forma libre 357"/>
          <p:cNvSpPr/>
          <p:nvPr/>
        </p:nvSpPr>
        <p:spPr>
          <a:xfrm>
            <a:off x="666720" y="2876400"/>
            <a:ext cx="1362240" cy="9720"/>
          </a:xfrm>
          <a:custGeom>
            <a:avLst/>
            <a:gdLst/>
            <a:ahLst/>
            <a:cxnLst/>
            <a:rect l="0" t="0" r="r" b="b"/>
            <a:pathLst>
              <a:path w="3784" h="27">
                <a:moveTo>
                  <a:pt x="0" y="0"/>
                </a:moveTo>
                <a:lnTo>
                  <a:pt x="3784" y="0"/>
                </a:lnTo>
                <a:lnTo>
                  <a:pt x="37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Forma libre 358"/>
          <p:cNvSpPr/>
          <p:nvPr/>
        </p:nvSpPr>
        <p:spPr>
          <a:xfrm>
            <a:off x="2019240" y="28857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Forma libre 359"/>
          <p:cNvSpPr/>
          <p:nvPr/>
        </p:nvSpPr>
        <p:spPr>
          <a:xfrm>
            <a:off x="2028600" y="2876400"/>
            <a:ext cx="3010320" cy="9720"/>
          </a:xfrm>
          <a:custGeom>
            <a:avLst/>
            <a:gdLst/>
            <a:ahLst/>
            <a:cxnLst/>
            <a:rect l="0" t="0" r="r" b="b"/>
            <a:pathLst>
              <a:path w="8362" h="27">
                <a:moveTo>
                  <a:pt x="0" y="0"/>
                </a:moveTo>
                <a:lnTo>
                  <a:pt x="8362" y="0"/>
                </a:lnTo>
                <a:lnTo>
                  <a:pt x="83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Forma libre 360"/>
          <p:cNvSpPr/>
          <p:nvPr/>
        </p:nvSpPr>
        <p:spPr>
          <a:xfrm>
            <a:off x="5028840" y="288576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Forma libre 361"/>
          <p:cNvSpPr/>
          <p:nvPr/>
        </p:nvSpPr>
        <p:spPr>
          <a:xfrm>
            <a:off x="5038560" y="2876400"/>
            <a:ext cx="4334040" cy="9720"/>
          </a:xfrm>
          <a:custGeom>
            <a:avLst/>
            <a:gdLst/>
            <a:ahLst/>
            <a:cxnLst/>
            <a:rect l="0" t="0" r="r" b="b"/>
            <a:pathLst>
              <a:path w="12039" h="27">
                <a:moveTo>
                  <a:pt x="0" y="0"/>
                </a:moveTo>
                <a:lnTo>
                  <a:pt x="12039" y="0"/>
                </a:lnTo>
                <a:lnTo>
                  <a:pt x="12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Forma libre 362"/>
          <p:cNvSpPr/>
          <p:nvPr/>
        </p:nvSpPr>
        <p:spPr>
          <a:xfrm>
            <a:off x="9362880" y="28857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Forma libre 363"/>
          <p:cNvSpPr/>
          <p:nvPr/>
        </p:nvSpPr>
        <p:spPr>
          <a:xfrm>
            <a:off x="666720" y="33051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Forma libre 364"/>
          <p:cNvSpPr/>
          <p:nvPr/>
        </p:nvSpPr>
        <p:spPr>
          <a:xfrm>
            <a:off x="666720" y="3295440"/>
            <a:ext cx="1362240" cy="10080"/>
          </a:xfrm>
          <a:custGeom>
            <a:avLst/>
            <a:gdLst/>
            <a:ahLst/>
            <a:cxnLst/>
            <a:rect l="0" t="0" r="r" b="b"/>
            <a:pathLst>
              <a:path w="3784" h="28">
                <a:moveTo>
                  <a:pt x="0" y="0"/>
                </a:moveTo>
                <a:lnTo>
                  <a:pt x="3784" y="0"/>
                </a:lnTo>
                <a:lnTo>
                  <a:pt x="37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Forma libre 365"/>
          <p:cNvSpPr/>
          <p:nvPr/>
        </p:nvSpPr>
        <p:spPr>
          <a:xfrm>
            <a:off x="2019240" y="33051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Forma libre 366"/>
          <p:cNvSpPr/>
          <p:nvPr/>
        </p:nvSpPr>
        <p:spPr>
          <a:xfrm>
            <a:off x="2028600" y="3295440"/>
            <a:ext cx="3010320" cy="10080"/>
          </a:xfrm>
          <a:custGeom>
            <a:avLst/>
            <a:gdLst/>
            <a:ahLst/>
            <a:cxnLst/>
            <a:rect l="0" t="0" r="r" b="b"/>
            <a:pathLst>
              <a:path w="8362" h="28">
                <a:moveTo>
                  <a:pt x="0" y="0"/>
                </a:moveTo>
                <a:lnTo>
                  <a:pt x="8362" y="0"/>
                </a:lnTo>
                <a:lnTo>
                  <a:pt x="83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Forma libre 367"/>
          <p:cNvSpPr/>
          <p:nvPr/>
        </p:nvSpPr>
        <p:spPr>
          <a:xfrm>
            <a:off x="5028840" y="330516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Forma libre 368"/>
          <p:cNvSpPr/>
          <p:nvPr/>
        </p:nvSpPr>
        <p:spPr>
          <a:xfrm>
            <a:off x="5038560" y="3295440"/>
            <a:ext cx="4334040" cy="10080"/>
          </a:xfrm>
          <a:custGeom>
            <a:avLst/>
            <a:gdLst/>
            <a:ahLst/>
            <a:cxnLst/>
            <a:rect l="0" t="0" r="r" b="b"/>
            <a:pathLst>
              <a:path w="12039" h="28">
                <a:moveTo>
                  <a:pt x="0" y="0"/>
                </a:moveTo>
                <a:lnTo>
                  <a:pt x="12039" y="0"/>
                </a:lnTo>
                <a:lnTo>
                  <a:pt x="12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Forma libre 369"/>
          <p:cNvSpPr/>
          <p:nvPr/>
        </p:nvSpPr>
        <p:spPr>
          <a:xfrm>
            <a:off x="9362880" y="33051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Forma libre 370"/>
          <p:cNvSpPr/>
          <p:nvPr/>
        </p:nvSpPr>
        <p:spPr>
          <a:xfrm>
            <a:off x="666720" y="37144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Forma libre 371"/>
          <p:cNvSpPr/>
          <p:nvPr/>
        </p:nvSpPr>
        <p:spPr>
          <a:xfrm>
            <a:off x="666720" y="3705120"/>
            <a:ext cx="1362240" cy="9720"/>
          </a:xfrm>
          <a:custGeom>
            <a:avLst/>
            <a:gdLst/>
            <a:ahLst/>
            <a:cxnLst/>
            <a:rect l="0" t="0" r="r" b="b"/>
            <a:pathLst>
              <a:path w="3784" h="27">
                <a:moveTo>
                  <a:pt x="0" y="0"/>
                </a:moveTo>
                <a:lnTo>
                  <a:pt x="3784" y="0"/>
                </a:lnTo>
                <a:lnTo>
                  <a:pt x="37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Forma libre 372"/>
          <p:cNvSpPr/>
          <p:nvPr/>
        </p:nvSpPr>
        <p:spPr>
          <a:xfrm>
            <a:off x="2019240" y="37144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Forma libre 373"/>
          <p:cNvSpPr/>
          <p:nvPr/>
        </p:nvSpPr>
        <p:spPr>
          <a:xfrm>
            <a:off x="2028600" y="3705120"/>
            <a:ext cx="3010320" cy="9720"/>
          </a:xfrm>
          <a:custGeom>
            <a:avLst/>
            <a:gdLst/>
            <a:ahLst/>
            <a:cxnLst/>
            <a:rect l="0" t="0" r="r" b="b"/>
            <a:pathLst>
              <a:path w="8362" h="27">
                <a:moveTo>
                  <a:pt x="0" y="0"/>
                </a:moveTo>
                <a:lnTo>
                  <a:pt x="8362" y="0"/>
                </a:lnTo>
                <a:lnTo>
                  <a:pt x="83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Forma libre 374"/>
          <p:cNvSpPr/>
          <p:nvPr/>
        </p:nvSpPr>
        <p:spPr>
          <a:xfrm>
            <a:off x="5028840" y="37144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Forma libre 375"/>
          <p:cNvSpPr/>
          <p:nvPr/>
        </p:nvSpPr>
        <p:spPr>
          <a:xfrm>
            <a:off x="5038560" y="3705120"/>
            <a:ext cx="4334040" cy="9720"/>
          </a:xfrm>
          <a:custGeom>
            <a:avLst/>
            <a:gdLst/>
            <a:ahLst/>
            <a:cxnLst/>
            <a:rect l="0" t="0" r="r" b="b"/>
            <a:pathLst>
              <a:path w="12039" h="27">
                <a:moveTo>
                  <a:pt x="0" y="0"/>
                </a:moveTo>
                <a:lnTo>
                  <a:pt x="12039" y="0"/>
                </a:lnTo>
                <a:lnTo>
                  <a:pt x="12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Forma libre 376"/>
          <p:cNvSpPr/>
          <p:nvPr/>
        </p:nvSpPr>
        <p:spPr>
          <a:xfrm>
            <a:off x="9362880" y="37144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Forma libre 377"/>
          <p:cNvSpPr/>
          <p:nvPr/>
        </p:nvSpPr>
        <p:spPr>
          <a:xfrm>
            <a:off x="666720" y="4114440"/>
            <a:ext cx="1362240" cy="10080"/>
          </a:xfrm>
          <a:custGeom>
            <a:avLst/>
            <a:gdLst/>
            <a:ahLst/>
            <a:cxnLst/>
            <a:rect l="0" t="0" r="r" b="b"/>
            <a:pathLst>
              <a:path w="3784" h="28">
                <a:moveTo>
                  <a:pt x="0" y="0"/>
                </a:moveTo>
                <a:lnTo>
                  <a:pt x="3784" y="0"/>
                </a:lnTo>
                <a:lnTo>
                  <a:pt x="37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Forma libre 378"/>
          <p:cNvSpPr/>
          <p:nvPr/>
        </p:nvSpPr>
        <p:spPr>
          <a:xfrm>
            <a:off x="2028600" y="4114440"/>
            <a:ext cx="3010320" cy="10080"/>
          </a:xfrm>
          <a:custGeom>
            <a:avLst/>
            <a:gdLst/>
            <a:ahLst/>
            <a:cxnLst/>
            <a:rect l="0" t="0" r="r" b="b"/>
            <a:pathLst>
              <a:path w="8362" h="28">
                <a:moveTo>
                  <a:pt x="0" y="0"/>
                </a:moveTo>
                <a:lnTo>
                  <a:pt x="8362" y="0"/>
                </a:lnTo>
                <a:lnTo>
                  <a:pt x="83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Forma libre 379"/>
          <p:cNvSpPr/>
          <p:nvPr/>
        </p:nvSpPr>
        <p:spPr>
          <a:xfrm>
            <a:off x="5038560" y="4114440"/>
            <a:ext cx="4334040" cy="10080"/>
          </a:xfrm>
          <a:custGeom>
            <a:avLst/>
            <a:gdLst/>
            <a:ahLst/>
            <a:cxnLst/>
            <a:rect l="0" t="0" r="r" b="b"/>
            <a:pathLst>
              <a:path w="12039" h="28">
                <a:moveTo>
                  <a:pt x="0" y="0"/>
                </a:moveTo>
                <a:lnTo>
                  <a:pt x="12039" y="0"/>
                </a:lnTo>
                <a:lnTo>
                  <a:pt x="12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CuadroTexto 380"/>
          <p:cNvSpPr txBox="1"/>
          <p:nvPr/>
        </p:nvSpPr>
        <p:spPr>
          <a:xfrm>
            <a:off x="666720" y="1415880"/>
            <a:ext cx="36262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 es una máquina virtual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CuadroTexto 381"/>
          <p:cNvSpPr txBox="1"/>
          <p:nvPr/>
        </p:nvSpPr>
        <p:spPr>
          <a:xfrm>
            <a:off x="2828160" y="2152440"/>
            <a:ext cx="1397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Máquina virtual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CuadroTexto 382"/>
          <p:cNvSpPr txBox="1"/>
          <p:nvPr/>
        </p:nvSpPr>
        <p:spPr>
          <a:xfrm>
            <a:off x="6663240" y="2152440"/>
            <a:ext cx="1076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Contenedor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CuadroTexto 383"/>
          <p:cNvSpPr txBox="1"/>
          <p:nvPr/>
        </p:nvSpPr>
        <p:spPr>
          <a:xfrm>
            <a:off x="799920" y="2561760"/>
            <a:ext cx="1094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Qué virtualiza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CuadroTexto 384"/>
          <p:cNvSpPr txBox="1"/>
          <p:nvPr/>
        </p:nvSpPr>
        <p:spPr>
          <a:xfrm>
            <a:off x="2151000" y="2561760"/>
            <a:ext cx="2758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hardware completo + SO invitado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CuadroTexto 385"/>
          <p:cNvSpPr txBox="1"/>
          <p:nvPr/>
        </p:nvSpPr>
        <p:spPr>
          <a:xfrm>
            <a:off x="5158800" y="2561760"/>
            <a:ext cx="2872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solo procesos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kernel compartido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CuadroTexto 386"/>
          <p:cNvSpPr txBox="1"/>
          <p:nvPr/>
        </p:nvSpPr>
        <p:spPr>
          <a:xfrm>
            <a:off x="799920" y="2980800"/>
            <a:ext cx="752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Arranque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CuadroTexto 387"/>
          <p:cNvSpPr txBox="1"/>
          <p:nvPr/>
        </p:nvSpPr>
        <p:spPr>
          <a:xfrm>
            <a:off x="2151000" y="2980800"/>
            <a:ext cx="653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minutos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CuadroTexto 388"/>
          <p:cNvSpPr txBox="1"/>
          <p:nvPr/>
        </p:nvSpPr>
        <p:spPr>
          <a:xfrm>
            <a:off x="5158800" y="2980800"/>
            <a:ext cx="1209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milisegundos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CuadroTexto 389"/>
          <p:cNvSpPr txBox="1"/>
          <p:nvPr/>
        </p:nvSpPr>
        <p:spPr>
          <a:xfrm>
            <a:off x="799920" y="3390480"/>
            <a:ext cx="671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Tamaño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CuadroTexto 390"/>
          <p:cNvSpPr txBox="1"/>
          <p:nvPr/>
        </p:nvSpPr>
        <p:spPr>
          <a:xfrm>
            <a:off x="2151000" y="3390480"/>
            <a:ext cx="1281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decenas de GB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CuadroTexto 391"/>
          <p:cNvSpPr txBox="1"/>
          <p:nvPr/>
        </p:nvSpPr>
        <p:spPr>
          <a:xfrm>
            <a:off x="5158800" y="3390480"/>
            <a:ext cx="1981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decenas–cientos de MB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CuadroTexto 392"/>
          <p:cNvSpPr txBox="1"/>
          <p:nvPr/>
        </p:nvSpPr>
        <p:spPr>
          <a:xfrm>
            <a:off x="799920" y="3800160"/>
            <a:ext cx="939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Aislamiento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CuadroTexto 393"/>
          <p:cNvSpPr txBox="1"/>
          <p:nvPr/>
        </p:nvSpPr>
        <p:spPr>
          <a:xfrm>
            <a:off x="2151000" y="3800160"/>
            <a:ext cx="353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total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CuadroTexto 394"/>
          <p:cNvSpPr txBox="1"/>
          <p:nvPr/>
        </p:nvSpPr>
        <p:spPr>
          <a:xfrm>
            <a:off x="5158800" y="3800160"/>
            <a:ext cx="4098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procesos, red y archivos (namespaces + cgroups)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CuadroTexto 395"/>
          <p:cNvSpPr txBox="1"/>
          <p:nvPr/>
        </p:nvSpPr>
        <p:spPr>
          <a:xfrm>
            <a:off x="666720" y="4316400"/>
            <a:ext cx="10771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contenedor es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proceso normal de Linux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al que el kernel le miente: ve su propio sistema de archivos,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CuadroTexto 396"/>
          <p:cNvSpPr txBox="1"/>
          <p:nvPr/>
        </p:nvSpPr>
        <p:spPr>
          <a:xfrm>
            <a:off x="666720" y="4659120"/>
            <a:ext cx="3620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su propia red, sus propios procesos.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CuadroTexto 40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CuadroTexto 40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CuadroTexto 40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F51B740-B9B2-2249-72F8-569303E4F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59" y="740663"/>
            <a:ext cx="11183567" cy="576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536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Forma libre 40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Forma libre 40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Forma libre 40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Forma libre 406"/>
          <p:cNvSpPr/>
          <p:nvPr/>
        </p:nvSpPr>
        <p:spPr>
          <a:xfrm>
            <a:off x="671400" y="332892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2"/>
                </a:lnTo>
                <a:cubicBezTo>
                  <a:pt x="30137" y="3625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2"/>
                </a:cubicBezTo>
                <a:cubicBezTo>
                  <a:pt x="30096" y="3733"/>
                  <a:pt x="30088" y="3743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4"/>
                  <a:pt x="30026" y="3791"/>
                  <a:pt x="30014" y="3796"/>
                </a:cubicBezTo>
                <a:cubicBezTo>
                  <a:pt x="30002" y="3801"/>
                  <a:pt x="29990" y="3804"/>
                  <a:pt x="29977" y="3807"/>
                </a:cubicBezTo>
                <a:cubicBezTo>
                  <a:pt x="29964" y="3809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09"/>
                  <a:pt x="160" y="3807"/>
                </a:cubicBezTo>
                <a:cubicBezTo>
                  <a:pt x="147" y="3804"/>
                  <a:pt x="134" y="3801"/>
                  <a:pt x="122" y="3796"/>
                </a:cubicBezTo>
                <a:cubicBezTo>
                  <a:pt x="110" y="3791"/>
                  <a:pt x="99" y="3784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3"/>
                  <a:pt x="40" y="3733"/>
                  <a:pt x="33" y="3722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5"/>
                  <a:pt x="0" y="361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Forma libre 407"/>
          <p:cNvSpPr/>
          <p:nvPr/>
        </p:nvSpPr>
        <p:spPr>
          <a:xfrm>
            <a:off x="671400" y="332892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2"/>
                </a:lnTo>
                <a:cubicBezTo>
                  <a:pt x="30137" y="3625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2"/>
                </a:cubicBezTo>
                <a:cubicBezTo>
                  <a:pt x="30096" y="3733"/>
                  <a:pt x="30088" y="3743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4"/>
                  <a:pt x="30026" y="3791"/>
                  <a:pt x="30014" y="3796"/>
                </a:cubicBezTo>
                <a:cubicBezTo>
                  <a:pt x="30002" y="3801"/>
                  <a:pt x="29990" y="3804"/>
                  <a:pt x="29977" y="3807"/>
                </a:cubicBezTo>
                <a:cubicBezTo>
                  <a:pt x="29964" y="3809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09"/>
                  <a:pt x="160" y="3807"/>
                </a:cubicBezTo>
                <a:cubicBezTo>
                  <a:pt x="147" y="3804"/>
                  <a:pt x="134" y="3801"/>
                  <a:pt x="122" y="3796"/>
                </a:cubicBezTo>
                <a:cubicBezTo>
                  <a:pt x="110" y="3791"/>
                  <a:pt x="99" y="3784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3"/>
                  <a:pt x="40" y="3733"/>
                  <a:pt x="33" y="3722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5"/>
                  <a:pt x="0" y="361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Forma libre 408"/>
          <p:cNvSpPr/>
          <p:nvPr/>
        </p:nvSpPr>
        <p:spPr>
          <a:xfrm>
            <a:off x="666720" y="485748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Forma libre 409"/>
          <p:cNvSpPr/>
          <p:nvPr/>
        </p:nvSpPr>
        <p:spPr>
          <a:xfrm>
            <a:off x="666720" y="485748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Forma libre 410"/>
          <p:cNvSpPr/>
          <p:nvPr/>
        </p:nvSpPr>
        <p:spPr>
          <a:xfrm>
            <a:off x="914040" y="22381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CuadroTexto 411"/>
          <p:cNvSpPr txBox="1"/>
          <p:nvPr/>
        </p:nvSpPr>
        <p:spPr>
          <a:xfrm>
            <a:off x="666720" y="1444320"/>
            <a:ext cx="2965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Imagen y contenedor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CuadroTexto 412"/>
          <p:cNvSpPr txBox="1"/>
          <p:nvPr/>
        </p:nvSpPr>
        <p:spPr>
          <a:xfrm>
            <a:off x="1123920" y="2125440"/>
            <a:ext cx="10178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Imagen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= plantilla inmutable: sistema de archivos + metadatos. Se construye una vez, se comparte, se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Forma libre 413"/>
          <p:cNvSpPr/>
          <p:nvPr/>
        </p:nvSpPr>
        <p:spPr>
          <a:xfrm>
            <a:off x="914040" y="29811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CuadroTexto 414"/>
          <p:cNvSpPr txBox="1"/>
          <p:nvPr/>
        </p:nvSpPr>
        <p:spPr>
          <a:xfrm>
            <a:off x="1123920" y="2468520"/>
            <a:ext cx="817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versiona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CuadroTexto 415"/>
          <p:cNvSpPr txBox="1"/>
          <p:nvPr/>
        </p:nvSpPr>
        <p:spPr>
          <a:xfrm>
            <a:off x="1123920" y="2868480"/>
            <a:ext cx="9715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Contenedor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= una instancia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 ejecución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esa imagen. Puedes lanzar veinte del mismo molde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CuadroTexto 416"/>
          <p:cNvSpPr txBox="1"/>
          <p:nvPr/>
        </p:nvSpPr>
        <p:spPr>
          <a:xfrm>
            <a:off x="866880" y="3508560"/>
            <a:ext cx="5896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docker pull python:3.11-slim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traer una imagen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CuadroTexto 417"/>
          <p:cNvSpPr txBox="1"/>
          <p:nvPr/>
        </p:nvSpPr>
        <p:spPr>
          <a:xfrm>
            <a:off x="866880" y="3775320"/>
            <a:ext cx="7425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docker run -it python:3.11-slim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crear y arrancar un contenedor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CuadroTexto 418"/>
          <p:cNvSpPr txBox="1"/>
          <p:nvPr/>
        </p:nvSpPr>
        <p:spPr>
          <a:xfrm>
            <a:off x="866880" y="4032720"/>
            <a:ext cx="6115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docker ps     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contenedores vivos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CuadroTexto 419"/>
          <p:cNvSpPr txBox="1"/>
          <p:nvPr/>
        </p:nvSpPr>
        <p:spPr>
          <a:xfrm>
            <a:off x="866880" y="4299120"/>
            <a:ext cx="5896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docker images 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imágenes locales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CuadroTexto 420"/>
          <p:cNvSpPr txBox="1"/>
          <p:nvPr/>
        </p:nvSpPr>
        <p:spPr>
          <a:xfrm>
            <a:off x="905040" y="5011560"/>
            <a:ext cx="5658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Analogía: la imagen es la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clase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; el contenedor, 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objeto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CuadroTexto 42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CuadroTexto 42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CuadroTexto 42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Forma libre 42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Forma libre 42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Forma libre 4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CuadroTexto 427"/>
          <p:cNvSpPr txBox="1"/>
          <p:nvPr/>
        </p:nvSpPr>
        <p:spPr>
          <a:xfrm>
            <a:off x="2892600" y="3063960"/>
            <a:ext cx="65620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El Dockerfile, paso a paso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CuadroTexto 42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CuadroTexto 42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CuadroTexto 43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Forma libre 4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Forma libre 4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Forma libre 4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Forma libre 434"/>
          <p:cNvSpPr/>
          <p:nvPr/>
        </p:nvSpPr>
        <p:spPr>
          <a:xfrm>
            <a:off x="671400" y="1519200"/>
            <a:ext cx="10849320" cy="3467160"/>
          </a:xfrm>
          <a:custGeom>
            <a:avLst/>
            <a:gdLst/>
            <a:ahLst/>
            <a:cxnLst/>
            <a:rect l="0" t="0" r="r" b="b"/>
            <a:pathLst>
              <a:path w="30137" h="9631">
                <a:moveTo>
                  <a:pt x="0" y="943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9433"/>
                </a:lnTo>
                <a:cubicBezTo>
                  <a:pt x="30137" y="9446"/>
                  <a:pt x="30136" y="9459"/>
                  <a:pt x="30133" y="9472"/>
                </a:cubicBezTo>
                <a:cubicBezTo>
                  <a:pt x="30130" y="9484"/>
                  <a:pt x="30127" y="9497"/>
                  <a:pt x="30122" y="9509"/>
                </a:cubicBezTo>
                <a:cubicBezTo>
                  <a:pt x="30117" y="9521"/>
                  <a:pt x="30111" y="9532"/>
                  <a:pt x="30103" y="9543"/>
                </a:cubicBezTo>
                <a:cubicBezTo>
                  <a:pt x="30096" y="9554"/>
                  <a:pt x="30088" y="9564"/>
                  <a:pt x="30079" y="9573"/>
                </a:cubicBezTo>
                <a:cubicBezTo>
                  <a:pt x="30070" y="9583"/>
                  <a:pt x="30059" y="9591"/>
                  <a:pt x="30049" y="9598"/>
                </a:cubicBezTo>
                <a:cubicBezTo>
                  <a:pt x="30038" y="9605"/>
                  <a:pt x="30026" y="9611"/>
                  <a:pt x="30014" y="9616"/>
                </a:cubicBezTo>
                <a:cubicBezTo>
                  <a:pt x="30002" y="9621"/>
                  <a:pt x="29990" y="9625"/>
                  <a:pt x="29977" y="9628"/>
                </a:cubicBezTo>
                <a:cubicBezTo>
                  <a:pt x="29964" y="9630"/>
                  <a:pt x="29951" y="9631"/>
                  <a:pt x="29938" y="9631"/>
                </a:cubicBezTo>
                <a:lnTo>
                  <a:pt x="198" y="9631"/>
                </a:lnTo>
                <a:cubicBezTo>
                  <a:pt x="185" y="9631"/>
                  <a:pt x="172" y="9630"/>
                  <a:pt x="160" y="9628"/>
                </a:cubicBezTo>
                <a:cubicBezTo>
                  <a:pt x="147" y="9625"/>
                  <a:pt x="134" y="9621"/>
                  <a:pt x="122" y="9616"/>
                </a:cubicBezTo>
                <a:cubicBezTo>
                  <a:pt x="110" y="9611"/>
                  <a:pt x="99" y="9605"/>
                  <a:pt x="88" y="9598"/>
                </a:cubicBezTo>
                <a:cubicBezTo>
                  <a:pt x="77" y="9591"/>
                  <a:pt x="67" y="9583"/>
                  <a:pt x="58" y="9573"/>
                </a:cubicBezTo>
                <a:cubicBezTo>
                  <a:pt x="49" y="9564"/>
                  <a:pt x="40" y="9554"/>
                  <a:pt x="33" y="9543"/>
                </a:cubicBezTo>
                <a:cubicBezTo>
                  <a:pt x="26" y="9532"/>
                  <a:pt x="20" y="9521"/>
                  <a:pt x="15" y="9509"/>
                </a:cubicBezTo>
                <a:cubicBezTo>
                  <a:pt x="10" y="9497"/>
                  <a:pt x="6" y="9484"/>
                  <a:pt x="4" y="9472"/>
                </a:cubicBezTo>
                <a:cubicBezTo>
                  <a:pt x="1" y="9459"/>
                  <a:pt x="0" y="9446"/>
                  <a:pt x="0" y="943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Forma libre 435"/>
          <p:cNvSpPr/>
          <p:nvPr/>
        </p:nvSpPr>
        <p:spPr>
          <a:xfrm>
            <a:off x="671400" y="1519200"/>
            <a:ext cx="10849320" cy="3467160"/>
          </a:xfrm>
          <a:custGeom>
            <a:avLst/>
            <a:gdLst/>
            <a:ahLst/>
            <a:cxnLst/>
            <a:rect l="0" t="0" r="r" b="b"/>
            <a:pathLst>
              <a:path w="30137" h="9631">
                <a:moveTo>
                  <a:pt x="0" y="943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9433"/>
                </a:lnTo>
                <a:cubicBezTo>
                  <a:pt x="30137" y="9446"/>
                  <a:pt x="30136" y="9459"/>
                  <a:pt x="30133" y="9472"/>
                </a:cubicBezTo>
                <a:cubicBezTo>
                  <a:pt x="30130" y="9484"/>
                  <a:pt x="30127" y="9497"/>
                  <a:pt x="30122" y="9509"/>
                </a:cubicBezTo>
                <a:cubicBezTo>
                  <a:pt x="30117" y="9521"/>
                  <a:pt x="30111" y="9532"/>
                  <a:pt x="30103" y="9543"/>
                </a:cubicBezTo>
                <a:cubicBezTo>
                  <a:pt x="30096" y="9554"/>
                  <a:pt x="30088" y="9564"/>
                  <a:pt x="30079" y="9573"/>
                </a:cubicBezTo>
                <a:cubicBezTo>
                  <a:pt x="30070" y="9583"/>
                  <a:pt x="30059" y="9591"/>
                  <a:pt x="30049" y="9598"/>
                </a:cubicBezTo>
                <a:cubicBezTo>
                  <a:pt x="30038" y="9605"/>
                  <a:pt x="30026" y="9611"/>
                  <a:pt x="30014" y="9616"/>
                </a:cubicBezTo>
                <a:cubicBezTo>
                  <a:pt x="30002" y="9621"/>
                  <a:pt x="29990" y="9625"/>
                  <a:pt x="29977" y="9628"/>
                </a:cubicBezTo>
                <a:cubicBezTo>
                  <a:pt x="29964" y="9630"/>
                  <a:pt x="29951" y="9631"/>
                  <a:pt x="29938" y="9631"/>
                </a:cubicBezTo>
                <a:lnTo>
                  <a:pt x="198" y="9631"/>
                </a:lnTo>
                <a:cubicBezTo>
                  <a:pt x="185" y="9631"/>
                  <a:pt x="172" y="9630"/>
                  <a:pt x="160" y="9628"/>
                </a:cubicBezTo>
                <a:cubicBezTo>
                  <a:pt x="147" y="9625"/>
                  <a:pt x="134" y="9621"/>
                  <a:pt x="122" y="9616"/>
                </a:cubicBezTo>
                <a:cubicBezTo>
                  <a:pt x="110" y="9611"/>
                  <a:pt x="99" y="9605"/>
                  <a:pt x="88" y="9598"/>
                </a:cubicBezTo>
                <a:cubicBezTo>
                  <a:pt x="77" y="9591"/>
                  <a:pt x="67" y="9583"/>
                  <a:pt x="58" y="9573"/>
                </a:cubicBezTo>
                <a:cubicBezTo>
                  <a:pt x="49" y="9564"/>
                  <a:pt x="40" y="9554"/>
                  <a:pt x="33" y="9543"/>
                </a:cubicBezTo>
                <a:cubicBezTo>
                  <a:pt x="26" y="9532"/>
                  <a:pt x="20" y="9521"/>
                  <a:pt x="15" y="9509"/>
                </a:cubicBezTo>
                <a:cubicBezTo>
                  <a:pt x="10" y="9497"/>
                  <a:pt x="6" y="9484"/>
                  <a:pt x="4" y="9472"/>
                </a:cubicBezTo>
                <a:cubicBezTo>
                  <a:pt x="1" y="9459"/>
                  <a:pt x="0" y="9446"/>
                  <a:pt x="0" y="943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Forma libre 436"/>
          <p:cNvSpPr/>
          <p:nvPr/>
        </p:nvSpPr>
        <p:spPr>
          <a:xfrm>
            <a:off x="671400" y="514800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1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Forma libre 437"/>
          <p:cNvSpPr/>
          <p:nvPr/>
        </p:nvSpPr>
        <p:spPr>
          <a:xfrm>
            <a:off x="671400" y="514800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1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CuadroTexto 438"/>
          <p:cNvSpPr txBox="1"/>
          <p:nvPr/>
        </p:nvSpPr>
        <p:spPr>
          <a:xfrm>
            <a:off x="666720" y="872640"/>
            <a:ext cx="2694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receta completa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CuadroTexto 439"/>
          <p:cNvSpPr txBox="1"/>
          <p:nvPr/>
        </p:nvSpPr>
        <p:spPr>
          <a:xfrm>
            <a:off x="866880" y="1698840"/>
            <a:ext cx="6114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python: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3.11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-slim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imagen base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CuadroTexto 440"/>
          <p:cNvSpPr txBox="1"/>
          <p:nvPr/>
        </p:nvSpPr>
        <p:spPr>
          <a:xfrm>
            <a:off x="866880" y="2223000"/>
            <a:ext cx="7207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WORKDIR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/app         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directorio de trabajo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CuadroTexto 441"/>
          <p:cNvSpPr txBox="1"/>
          <p:nvPr/>
        </p:nvSpPr>
        <p:spPr>
          <a:xfrm>
            <a:off x="866880" y="2746800"/>
            <a:ext cx="7097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COPY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requirements.lock .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1º las dependencias…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CuadroTexto 442"/>
          <p:cNvSpPr txBox="1"/>
          <p:nvPr/>
        </p:nvSpPr>
        <p:spPr>
          <a:xfrm>
            <a:off x="866880" y="3013560"/>
            <a:ext cx="5569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RUN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pip install --no-cache-dir -r requirements.lock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CuadroTexto 443"/>
          <p:cNvSpPr txBox="1"/>
          <p:nvPr/>
        </p:nvSpPr>
        <p:spPr>
          <a:xfrm>
            <a:off x="866880" y="3537360"/>
            <a:ext cx="6879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COPY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src/ ./src/     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…después el código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CuadroTexto 444"/>
          <p:cNvSpPr txBox="1"/>
          <p:nvPr/>
        </p:nvSpPr>
        <p:spPr>
          <a:xfrm>
            <a:off x="866880" y="3794400"/>
            <a:ext cx="2948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RUN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pip install --no-deps 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CuadroTexto 445"/>
          <p:cNvSpPr txBox="1"/>
          <p:nvPr/>
        </p:nvSpPr>
        <p:spPr>
          <a:xfrm>
            <a:off x="866880" y="4318200"/>
            <a:ext cx="6988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USER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1000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no correr como root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CuadroTexto 446"/>
          <p:cNvSpPr txBox="1"/>
          <p:nvPr/>
        </p:nvSpPr>
        <p:spPr>
          <a:xfrm>
            <a:off x="866880" y="4584960"/>
            <a:ext cx="7207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CMD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"python"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"-m"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"clinlab"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qué corre por defecto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CuadroTexto 447"/>
          <p:cNvSpPr txBox="1"/>
          <p:nvPr/>
        </p:nvSpPr>
        <p:spPr>
          <a:xfrm>
            <a:off x="866880" y="5328000"/>
            <a:ext cx="3385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docker build -t clinlab:0.1.0 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CuadroTexto 448"/>
          <p:cNvSpPr txBox="1"/>
          <p:nvPr/>
        </p:nvSpPr>
        <p:spPr>
          <a:xfrm>
            <a:off x="866880" y="5594760"/>
            <a:ext cx="3167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docker run --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rm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clinlab:0.1.0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CuadroTexto 44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CuadroTexto 45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CuadroTexto 45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Forma libre 4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Forma libre 4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Forma libre 4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Forma libre 455"/>
          <p:cNvSpPr/>
          <p:nvPr/>
        </p:nvSpPr>
        <p:spPr>
          <a:xfrm>
            <a:off x="671400" y="209052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Forma libre 456"/>
          <p:cNvSpPr/>
          <p:nvPr/>
        </p:nvSpPr>
        <p:spPr>
          <a:xfrm>
            <a:off x="671400" y="209052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CuadroTexto 457"/>
          <p:cNvSpPr txBox="1"/>
          <p:nvPr/>
        </p:nvSpPr>
        <p:spPr>
          <a:xfrm>
            <a:off x="666720" y="1444320"/>
            <a:ext cx="4161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Cada instrucción es una capa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CuadroTexto 458"/>
          <p:cNvSpPr txBox="1"/>
          <p:nvPr/>
        </p:nvSpPr>
        <p:spPr>
          <a:xfrm>
            <a:off x="866880" y="2270520"/>
            <a:ext cx="8080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FROM python:3.11-slim      ──►  capa 0  (base, compartida entre proyectos)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CuadroTexto 459"/>
          <p:cNvSpPr txBox="1"/>
          <p:nvPr/>
        </p:nvSpPr>
        <p:spPr>
          <a:xfrm>
            <a:off x="866880" y="2537280"/>
            <a:ext cx="6661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RUN pip install -r ...     ──►  capa 1  (pesada, cambia poco)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Forma libre 460"/>
          <p:cNvSpPr/>
          <p:nvPr/>
        </p:nvSpPr>
        <p:spPr>
          <a:xfrm>
            <a:off x="914040" y="35049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9" y="65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CuadroTexto 461"/>
          <p:cNvSpPr txBox="1"/>
          <p:nvPr/>
        </p:nvSpPr>
        <p:spPr>
          <a:xfrm>
            <a:off x="866880" y="2794320"/>
            <a:ext cx="6988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COPY src/ ./src/           ──►  capa 2  (ligera, cambia siempre)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Forma libre 462"/>
          <p:cNvSpPr/>
          <p:nvPr/>
        </p:nvSpPr>
        <p:spPr>
          <a:xfrm>
            <a:off x="914040" y="39049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CuadroTexto 463"/>
          <p:cNvSpPr txBox="1"/>
          <p:nvPr/>
        </p:nvSpPr>
        <p:spPr>
          <a:xfrm>
            <a:off x="1123920" y="3392280"/>
            <a:ext cx="7215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Las capas se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apilan y se cachean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si una no cambió, no se reconstruye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CuadroTexto 464"/>
          <p:cNvSpPr txBox="1"/>
          <p:nvPr/>
        </p:nvSpPr>
        <p:spPr>
          <a:xfrm>
            <a:off x="1123920" y="3792240"/>
            <a:ext cx="7531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Docker invalida la caché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desde la primera capa que cambió hacia abajo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CuadroTexto 465"/>
          <p:cNvSpPr txBox="1"/>
          <p:nvPr/>
        </p:nvSpPr>
        <p:spPr>
          <a:xfrm>
            <a:off x="666720" y="4287600"/>
            <a:ext cx="10307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 ahí la regla de oro: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lo que cambia poco arriba, lo que cambia mucho abajo. Dependencias primero,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CuadroTexto 466"/>
          <p:cNvSpPr txBox="1"/>
          <p:nvPr/>
        </p:nvSpPr>
        <p:spPr>
          <a:xfrm>
            <a:off x="666720" y="4630680"/>
            <a:ext cx="1410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código al ﬁnal.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CuadroTexto 47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CuadroTexto 47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CuadroTexto 47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73FA0BC-8C01-D20C-FA10-A24E84DB7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71" y="968629"/>
            <a:ext cx="11653658" cy="492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88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Forma libre 47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Forma libre 47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Forma libre 47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Forma libre 476"/>
          <p:cNvSpPr/>
          <p:nvPr/>
        </p:nvSpPr>
        <p:spPr>
          <a:xfrm>
            <a:off x="676080" y="2104920"/>
            <a:ext cx="2514960" cy="409680"/>
          </a:xfrm>
          <a:custGeom>
            <a:avLst/>
            <a:gdLst/>
            <a:ahLst/>
            <a:cxnLst/>
            <a:rect l="0" t="0" r="r" b="b"/>
            <a:pathLst>
              <a:path w="6986" h="1138">
                <a:moveTo>
                  <a:pt x="0" y="0"/>
                </a:moveTo>
                <a:lnTo>
                  <a:pt x="6986" y="0"/>
                </a:lnTo>
                <a:lnTo>
                  <a:pt x="698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Forma libre 477"/>
          <p:cNvSpPr/>
          <p:nvPr/>
        </p:nvSpPr>
        <p:spPr>
          <a:xfrm>
            <a:off x="3190680" y="2104920"/>
            <a:ext cx="1591200" cy="409680"/>
          </a:xfrm>
          <a:custGeom>
            <a:avLst/>
            <a:gdLst/>
            <a:ahLst/>
            <a:cxnLst/>
            <a:rect l="0" t="0" r="r" b="b"/>
            <a:pathLst>
              <a:path w="4420" h="1138">
                <a:moveTo>
                  <a:pt x="0" y="0"/>
                </a:moveTo>
                <a:lnTo>
                  <a:pt x="4420" y="0"/>
                </a:lnTo>
                <a:lnTo>
                  <a:pt x="442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Forma libre 478"/>
          <p:cNvSpPr/>
          <p:nvPr/>
        </p:nvSpPr>
        <p:spPr>
          <a:xfrm>
            <a:off x="4781520" y="2104920"/>
            <a:ext cx="4276800" cy="409680"/>
          </a:xfrm>
          <a:custGeom>
            <a:avLst/>
            <a:gdLst/>
            <a:ahLst/>
            <a:cxnLst/>
            <a:rect l="0" t="0" r="r" b="b"/>
            <a:pathLst>
              <a:path w="11880" h="1138">
                <a:moveTo>
                  <a:pt x="0" y="0"/>
                </a:moveTo>
                <a:lnTo>
                  <a:pt x="11880" y="0"/>
                </a:lnTo>
                <a:lnTo>
                  <a:pt x="1188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Forma libre 479"/>
          <p:cNvSpPr/>
          <p:nvPr/>
        </p:nvSpPr>
        <p:spPr>
          <a:xfrm>
            <a:off x="676080" y="2104920"/>
            <a:ext cx="2514960" cy="409680"/>
          </a:xfrm>
          <a:custGeom>
            <a:avLst/>
            <a:gdLst/>
            <a:ahLst/>
            <a:cxnLst/>
            <a:rect l="0" t="0" r="r" b="b"/>
            <a:pathLst>
              <a:path w="6986" h="1138">
                <a:moveTo>
                  <a:pt x="0" y="0"/>
                </a:moveTo>
                <a:lnTo>
                  <a:pt x="6986" y="0"/>
                </a:lnTo>
                <a:lnTo>
                  <a:pt x="698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Forma libre 480"/>
          <p:cNvSpPr/>
          <p:nvPr/>
        </p:nvSpPr>
        <p:spPr>
          <a:xfrm>
            <a:off x="3190680" y="2104920"/>
            <a:ext cx="1591200" cy="409680"/>
          </a:xfrm>
          <a:custGeom>
            <a:avLst/>
            <a:gdLst/>
            <a:ahLst/>
            <a:cxnLst/>
            <a:rect l="0" t="0" r="r" b="b"/>
            <a:pathLst>
              <a:path w="4420" h="1138">
                <a:moveTo>
                  <a:pt x="0" y="0"/>
                </a:moveTo>
                <a:lnTo>
                  <a:pt x="4420" y="0"/>
                </a:lnTo>
                <a:lnTo>
                  <a:pt x="442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Forma libre 481"/>
          <p:cNvSpPr/>
          <p:nvPr/>
        </p:nvSpPr>
        <p:spPr>
          <a:xfrm>
            <a:off x="4781520" y="2104920"/>
            <a:ext cx="4276800" cy="409680"/>
          </a:xfrm>
          <a:custGeom>
            <a:avLst/>
            <a:gdLst/>
            <a:ahLst/>
            <a:cxnLst/>
            <a:rect l="0" t="0" r="r" b="b"/>
            <a:pathLst>
              <a:path w="11880" h="1138">
                <a:moveTo>
                  <a:pt x="0" y="0"/>
                </a:moveTo>
                <a:lnTo>
                  <a:pt x="11880" y="0"/>
                </a:lnTo>
                <a:lnTo>
                  <a:pt x="1188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Forma libre 482"/>
          <p:cNvSpPr/>
          <p:nvPr/>
        </p:nvSpPr>
        <p:spPr>
          <a:xfrm>
            <a:off x="676080" y="2514240"/>
            <a:ext cx="2514960" cy="410040"/>
          </a:xfrm>
          <a:custGeom>
            <a:avLst/>
            <a:gdLst/>
            <a:ahLst/>
            <a:cxnLst/>
            <a:rect l="0" t="0" r="r" b="b"/>
            <a:pathLst>
              <a:path w="6986" h="1139">
                <a:moveTo>
                  <a:pt x="0" y="0"/>
                </a:moveTo>
                <a:lnTo>
                  <a:pt x="6986" y="0"/>
                </a:lnTo>
                <a:lnTo>
                  <a:pt x="698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Forma libre 483"/>
          <p:cNvSpPr/>
          <p:nvPr/>
        </p:nvSpPr>
        <p:spPr>
          <a:xfrm>
            <a:off x="3190680" y="2514240"/>
            <a:ext cx="1591200" cy="410040"/>
          </a:xfrm>
          <a:custGeom>
            <a:avLst/>
            <a:gdLst/>
            <a:ahLst/>
            <a:cxnLst/>
            <a:rect l="0" t="0" r="r" b="b"/>
            <a:pathLst>
              <a:path w="4420" h="1139">
                <a:moveTo>
                  <a:pt x="0" y="0"/>
                </a:moveTo>
                <a:lnTo>
                  <a:pt x="4420" y="0"/>
                </a:lnTo>
                <a:lnTo>
                  <a:pt x="442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Forma libre 484"/>
          <p:cNvSpPr/>
          <p:nvPr/>
        </p:nvSpPr>
        <p:spPr>
          <a:xfrm>
            <a:off x="4781520" y="2514240"/>
            <a:ext cx="4276800" cy="410040"/>
          </a:xfrm>
          <a:custGeom>
            <a:avLst/>
            <a:gdLst/>
            <a:ahLst/>
            <a:cxnLst/>
            <a:rect l="0" t="0" r="r" b="b"/>
            <a:pathLst>
              <a:path w="11880" h="1139">
                <a:moveTo>
                  <a:pt x="0" y="0"/>
                </a:moveTo>
                <a:lnTo>
                  <a:pt x="11880" y="0"/>
                </a:lnTo>
                <a:lnTo>
                  <a:pt x="1188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Forma libre 485"/>
          <p:cNvSpPr/>
          <p:nvPr/>
        </p:nvSpPr>
        <p:spPr>
          <a:xfrm>
            <a:off x="676080" y="2923920"/>
            <a:ext cx="2514960" cy="419400"/>
          </a:xfrm>
          <a:custGeom>
            <a:avLst/>
            <a:gdLst/>
            <a:ahLst/>
            <a:cxnLst/>
            <a:rect l="0" t="0" r="r" b="b"/>
            <a:pathLst>
              <a:path w="6986" h="1165">
                <a:moveTo>
                  <a:pt x="0" y="0"/>
                </a:moveTo>
                <a:lnTo>
                  <a:pt x="6986" y="0"/>
                </a:lnTo>
                <a:lnTo>
                  <a:pt x="698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Forma libre 486"/>
          <p:cNvSpPr/>
          <p:nvPr/>
        </p:nvSpPr>
        <p:spPr>
          <a:xfrm>
            <a:off x="3190680" y="2923920"/>
            <a:ext cx="1591200" cy="419400"/>
          </a:xfrm>
          <a:custGeom>
            <a:avLst/>
            <a:gdLst/>
            <a:ahLst/>
            <a:cxnLst/>
            <a:rect l="0" t="0" r="r" b="b"/>
            <a:pathLst>
              <a:path w="4420" h="1165">
                <a:moveTo>
                  <a:pt x="0" y="0"/>
                </a:moveTo>
                <a:lnTo>
                  <a:pt x="4420" y="0"/>
                </a:lnTo>
                <a:lnTo>
                  <a:pt x="442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Forma libre 487"/>
          <p:cNvSpPr/>
          <p:nvPr/>
        </p:nvSpPr>
        <p:spPr>
          <a:xfrm>
            <a:off x="4781520" y="2923920"/>
            <a:ext cx="4276800" cy="419400"/>
          </a:xfrm>
          <a:custGeom>
            <a:avLst/>
            <a:gdLst/>
            <a:ahLst/>
            <a:cxnLst/>
            <a:rect l="0" t="0" r="r" b="b"/>
            <a:pathLst>
              <a:path w="11880" h="1165">
                <a:moveTo>
                  <a:pt x="0" y="0"/>
                </a:moveTo>
                <a:lnTo>
                  <a:pt x="11880" y="0"/>
                </a:lnTo>
                <a:lnTo>
                  <a:pt x="1188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Forma libre 488"/>
          <p:cNvSpPr/>
          <p:nvPr/>
        </p:nvSpPr>
        <p:spPr>
          <a:xfrm>
            <a:off x="676080" y="3342960"/>
            <a:ext cx="2514960" cy="410040"/>
          </a:xfrm>
          <a:custGeom>
            <a:avLst/>
            <a:gdLst/>
            <a:ahLst/>
            <a:cxnLst/>
            <a:rect l="0" t="0" r="r" b="b"/>
            <a:pathLst>
              <a:path w="6986" h="1139">
                <a:moveTo>
                  <a:pt x="0" y="0"/>
                </a:moveTo>
                <a:lnTo>
                  <a:pt x="6986" y="0"/>
                </a:lnTo>
                <a:lnTo>
                  <a:pt x="698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Forma libre 489"/>
          <p:cNvSpPr/>
          <p:nvPr/>
        </p:nvSpPr>
        <p:spPr>
          <a:xfrm>
            <a:off x="3190680" y="3342960"/>
            <a:ext cx="1591200" cy="410040"/>
          </a:xfrm>
          <a:custGeom>
            <a:avLst/>
            <a:gdLst/>
            <a:ahLst/>
            <a:cxnLst/>
            <a:rect l="0" t="0" r="r" b="b"/>
            <a:pathLst>
              <a:path w="4420" h="1139">
                <a:moveTo>
                  <a:pt x="0" y="0"/>
                </a:moveTo>
                <a:lnTo>
                  <a:pt x="4420" y="0"/>
                </a:lnTo>
                <a:lnTo>
                  <a:pt x="442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Forma libre 490"/>
          <p:cNvSpPr/>
          <p:nvPr/>
        </p:nvSpPr>
        <p:spPr>
          <a:xfrm>
            <a:off x="4781520" y="3342960"/>
            <a:ext cx="4276800" cy="410040"/>
          </a:xfrm>
          <a:custGeom>
            <a:avLst/>
            <a:gdLst/>
            <a:ahLst/>
            <a:cxnLst/>
            <a:rect l="0" t="0" r="r" b="b"/>
            <a:pathLst>
              <a:path w="11880" h="1139">
                <a:moveTo>
                  <a:pt x="0" y="0"/>
                </a:moveTo>
                <a:lnTo>
                  <a:pt x="11880" y="0"/>
                </a:lnTo>
                <a:lnTo>
                  <a:pt x="1188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Forma libre 491"/>
          <p:cNvSpPr/>
          <p:nvPr/>
        </p:nvSpPr>
        <p:spPr>
          <a:xfrm>
            <a:off x="676080" y="3752640"/>
            <a:ext cx="2514960" cy="410040"/>
          </a:xfrm>
          <a:custGeom>
            <a:avLst/>
            <a:gdLst/>
            <a:ahLst/>
            <a:cxnLst/>
            <a:rect l="0" t="0" r="r" b="b"/>
            <a:pathLst>
              <a:path w="6986" h="1139">
                <a:moveTo>
                  <a:pt x="0" y="0"/>
                </a:moveTo>
                <a:lnTo>
                  <a:pt x="6986" y="0"/>
                </a:lnTo>
                <a:lnTo>
                  <a:pt x="698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Forma libre 492"/>
          <p:cNvSpPr/>
          <p:nvPr/>
        </p:nvSpPr>
        <p:spPr>
          <a:xfrm>
            <a:off x="3190680" y="3752640"/>
            <a:ext cx="1591200" cy="410040"/>
          </a:xfrm>
          <a:custGeom>
            <a:avLst/>
            <a:gdLst/>
            <a:ahLst/>
            <a:cxnLst/>
            <a:rect l="0" t="0" r="r" b="b"/>
            <a:pathLst>
              <a:path w="4420" h="1139">
                <a:moveTo>
                  <a:pt x="0" y="0"/>
                </a:moveTo>
                <a:lnTo>
                  <a:pt x="4420" y="0"/>
                </a:lnTo>
                <a:lnTo>
                  <a:pt x="442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Forma libre 493"/>
          <p:cNvSpPr/>
          <p:nvPr/>
        </p:nvSpPr>
        <p:spPr>
          <a:xfrm>
            <a:off x="4781520" y="3752640"/>
            <a:ext cx="4276800" cy="410040"/>
          </a:xfrm>
          <a:custGeom>
            <a:avLst/>
            <a:gdLst/>
            <a:ahLst/>
            <a:cxnLst/>
            <a:rect l="0" t="0" r="r" b="b"/>
            <a:pathLst>
              <a:path w="11880" h="1139">
                <a:moveTo>
                  <a:pt x="0" y="0"/>
                </a:moveTo>
                <a:lnTo>
                  <a:pt x="11880" y="0"/>
                </a:lnTo>
                <a:lnTo>
                  <a:pt x="1188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Forma libre 494"/>
          <p:cNvSpPr/>
          <p:nvPr/>
        </p:nvSpPr>
        <p:spPr>
          <a:xfrm>
            <a:off x="666720" y="2104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Forma libre 495"/>
          <p:cNvSpPr/>
          <p:nvPr/>
        </p:nvSpPr>
        <p:spPr>
          <a:xfrm>
            <a:off x="666720" y="2104920"/>
            <a:ext cx="2524320" cy="9720"/>
          </a:xfrm>
          <a:custGeom>
            <a:avLst/>
            <a:gdLst/>
            <a:ahLst/>
            <a:cxn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Forma libre 496"/>
          <p:cNvSpPr/>
          <p:nvPr/>
        </p:nvSpPr>
        <p:spPr>
          <a:xfrm>
            <a:off x="3181320" y="2104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Forma libre 497"/>
          <p:cNvSpPr/>
          <p:nvPr/>
        </p:nvSpPr>
        <p:spPr>
          <a:xfrm>
            <a:off x="3190680" y="2104920"/>
            <a:ext cx="1600560" cy="9720"/>
          </a:xfrm>
          <a:custGeom>
            <a:avLst/>
            <a:gdLst/>
            <a:ahLst/>
            <a:cxn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Forma libre 498"/>
          <p:cNvSpPr/>
          <p:nvPr/>
        </p:nvSpPr>
        <p:spPr>
          <a:xfrm>
            <a:off x="4781520" y="2104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Forma libre 499"/>
          <p:cNvSpPr/>
          <p:nvPr/>
        </p:nvSpPr>
        <p:spPr>
          <a:xfrm>
            <a:off x="4790880" y="2104920"/>
            <a:ext cx="4267440" cy="9720"/>
          </a:xfrm>
          <a:custGeom>
            <a:avLst/>
            <a:gdLst/>
            <a:ahLst/>
            <a:cxnLst/>
            <a:rect l="0" t="0" r="r" b="b"/>
            <a:pathLst>
              <a:path w="11854" h="27">
                <a:moveTo>
                  <a:pt x="0" y="0"/>
                </a:moveTo>
                <a:lnTo>
                  <a:pt x="11854" y="0"/>
                </a:lnTo>
                <a:lnTo>
                  <a:pt x="118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Forma libre 500"/>
          <p:cNvSpPr/>
          <p:nvPr/>
        </p:nvSpPr>
        <p:spPr>
          <a:xfrm>
            <a:off x="9048600" y="2104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Forma libre 501"/>
          <p:cNvSpPr/>
          <p:nvPr/>
        </p:nvSpPr>
        <p:spPr>
          <a:xfrm>
            <a:off x="666720" y="2514240"/>
            <a:ext cx="2524320" cy="10080"/>
          </a:xfrm>
          <a:custGeom>
            <a:avLst/>
            <a:gdLst/>
            <a:ahLst/>
            <a:cxnLst/>
            <a:rect l="0" t="0" r="r" b="b"/>
            <a:pathLst>
              <a:path w="7012" h="28">
                <a:moveTo>
                  <a:pt x="0" y="0"/>
                </a:moveTo>
                <a:lnTo>
                  <a:pt x="7012" y="0"/>
                </a:lnTo>
                <a:lnTo>
                  <a:pt x="7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Forma libre 502"/>
          <p:cNvSpPr/>
          <p:nvPr/>
        </p:nvSpPr>
        <p:spPr>
          <a:xfrm>
            <a:off x="3190680" y="2514240"/>
            <a:ext cx="1600560" cy="10080"/>
          </a:xfrm>
          <a:custGeom>
            <a:avLst/>
            <a:gdLst/>
            <a:ahLst/>
            <a:cxn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Forma libre 503"/>
          <p:cNvSpPr/>
          <p:nvPr/>
        </p:nvSpPr>
        <p:spPr>
          <a:xfrm>
            <a:off x="4790880" y="2514240"/>
            <a:ext cx="4267440" cy="10080"/>
          </a:xfrm>
          <a:custGeom>
            <a:avLst/>
            <a:gdLst/>
            <a:ahLst/>
            <a:cxnLst/>
            <a:rect l="0" t="0" r="r" b="b"/>
            <a:pathLst>
              <a:path w="11854" h="28">
                <a:moveTo>
                  <a:pt x="0" y="0"/>
                </a:moveTo>
                <a:lnTo>
                  <a:pt x="11854" y="0"/>
                </a:lnTo>
                <a:lnTo>
                  <a:pt x="118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Forma libre 504"/>
          <p:cNvSpPr/>
          <p:nvPr/>
        </p:nvSpPr>
        <p:spPr>
          <a:xfrm>
            <a:off x="666720" y="25239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Forma libre 505"/>
          <p:cNvSpPr/>
          <p:nvPr/>
        </p:nvSpPr>
        <p:spPr>
          <a:xfrm>
            <a:off x="3181320" y="25239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Forma libre 506"/>
          <p:cNvSpPr/>
          <p:nvPr/>
        </p:nvSpPr>
        <p:spPr>
          <a:xfrm>
            <a:off x="4781520" y="25239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Forma libre 507"/>
          <p:cNvSpPr/>
          <p:nvPr/>
        </p:nvSpPr>
        <p:spPr>
          <a:xfrm>
            <a:off x="9048600" y="25239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Forma libre 508"/>
          <p:cNvSpPr/>
          <p:nvPr/>
        </p:nvSpPr>
        <p:spPr>
          <a:xfrm>
            <a:off x="666720" y="2933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Forma libre 509"/>
          <p:cNvSpPr/>
          <p:nvPr/>
        </p:nvSpPr>
        <p:spPr>
          <a:xfrm>
            <a:off x="666720" y="2923920"/>
            <a:ext cx="2524320" cy="10080"/>
          </a:xfrm>
          <a:custGeom>
            <a:avLst/>
            <a:gdLst/>
            <a:ahLst/>
            <a:cxnLst/>
            <a:rect l="0" t="0" r="r" b="b"/>
            <a:pathLst>
              <a:path w="7012" h="28">
                <a:moveTo>
                  <a:pt x="0" y="0"/>
                </a:moveTo>
                <a:lnTo>
                  <a:pt x="7012" y="0"/>
                </a:lnTo>
                <a:lnTo>
                  <a:pt x="7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Forma libre 510"/>
          <p:cNvSpPr/>
          <p:nvPr/>
        </p:nvSpPr>
        <p:spPr>
          <a:xfrm>
            <a:off x="3181320" y="2933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Forma libre 511"/>
          <p:cNvSpPr/>
          <p:nvPr/>
        </p:nvSpPr>
        <p:spPr>
          <a:xfrm>
            <a:off x="3190680" y="2923920"/>
            <a:ext cx="1600560" cy="10080"/>
          </a:xfrm>
          <a:custGeom>
            <a:avLst/>
            <a:gdLst/>
            <a:ahLst/>
            <a:cxn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Forma libre 512"/>
          <p:cNvSpPr/>
          <p:nvPr/>
        </p:nvSpPr>
        <p:spPr>
          <a:xfrm>
            <a:off x="4781520" y="2933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Forma libre 513"/>
          <p:cNvSpPr/>
          <p:nvPr/>
        </p:nvSpPr>
        <p:spPr>
          <a:xfrm>
            <a:off x="4790880" y="2923920"/>
            <a:ext cx="4267440" cy="10080"/>
          </a:xfrm>
          <a:custGeom>
            <a:avLst/>
            <a:gdLst/>
            <a:ahLst/>
            <a:cxnLst/>
            <a:rect l="0" t="0" r="r" b="b"/>
            <a:pathLst>
              <a:path w="11854" h="28">
                <a:moveTo>
                  <a:pt x="0" y="0"/>
                </a:moveTo>
                <a:lnTo>
                  <a:pt x="11854" y="0"/>
                </a:lnTo>
                <a:lnTo>
                  <a:pt x="118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Forma libre 514"/>
          <p:cNvSpPr/>
          <p:nvPr/>
        </p:nvSpPr>
        <p:spPr>
          <a:xfrm>
            <a:off x="9048600" y="2933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Forma libre 515"/>
          <p:cNvSpPr/>
          <p:nvPr/>
        </p:nvSpPr>
        <p:spPr>
          <a:xfrm>
            <a:off x="666720" y="3352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Forma libre 516"/>
          <p:cNvSpPr/>
          <p:nvPr/>
        </p:nvSpPr>
        <p:spPr>
          <a:xfrm>
            <a:off x="666720" y="3342960"/>
            <a:ext cx="2524320" cy="10080"/>
          </a:xfrm>
          <a:custGeom>
            <a:avLst/>
            <a:gdLst/>
            <a:ahLst/>
            <a:cxnLst/>
            <a:rect l="0" t="0" r="r" b="b"/>
            <a:pathLst>
              <a:path w="7012" h="28">
                <a:moveTo>
                  <a:pt x="0" y="0"/>
                </a:moveTo>
                <a:lnTo>
                  <a:pt x="7012" y="0"/>
                </a:lnTo>
                <a:lnTo>
                  <a:pt x="7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Forma libre 517"/>
          <p:cNvSpPr/>
          <p:nvPr/>
        </p:nvSpPr>
        <p:spPr>
          <a:xfrm>
            <a:off x="3181320" y="3352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Forma libre 518"/>
          <p:cNvSpPr/>
          <p:nvPr/>
        </p:nvSpPr>
        <p:spPr>
          <a:xfrm>
            <a:off x="3190680" y="3342960"/>
            <a:ext cx="1600560" cy="10080"/>
          </a:xfrm>
          <a:custGeom>
            <a:avLst/>
            <a:gdLst/>
            <a:ahLst/>
            <a:cxn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Forma libre 519"/>
          <p:cNvSpPr/>
          <p:nvPr/>
        </p:nvSpPr>
        <p:spPr>
          <a:xfrm>
            <a:off x="4781520" y="3352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Forma libre 520"/>
          <p:cNvSpPr/>
          <p:nvPr/>
        </p:nvSpPr>
        <p:spPr>
          <a:xfrm>
            <a:off x="4790880" y="3342960"/>
            <a:ext cx="4267440" cy="10080"/>
          </a:xfrm>
          <a:custGeom>
            <a:avLst/>
            <a:gdLst/>
            <a:ahLst/>
            <a:cxnLst/>
            <a:rect l="0" t="0" r="r" b="b"/>
            <a:pathLst>
              <a:path w="11854" h="28">
                <a:moveTo>
                  <a:pt x="0" y="0"/>
                </a:moveTo>
                <a:lnTo>
                  <a:pt x="11854" y="0"/>
                </a:lnTo>
                <a:lnTo>
                  <a:pt x="118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Forma libre 521"/>
          <p:cNvSpPr/>
          <p:nvPr/>
        </p:nvSpPr>
        <p:spPr>
          <a:xfrm>
            <a:off x="9048600" y="3352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Forma libre 522"/>
          <p:cNvSpPr/>
          <p:nvPr/>
        </p:nvSpPr>
        <p:spPr>
          <a:xfrm>
            <a:off x="666720" y="37623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Forma libre 523"/>
          <p:cNvSpPr/>
          <p:nvPr/>
        </p:nvSpPr>
        <p:spPr>
          <a:xfrm>
            <a:off x="666720" y="3752640"/>
            <a:ext cx="2524320" cy="10080"/>
          </a:xfrm>
          <a:custGeom>
            <a:avLst/>
            <a:gdLst/>
            <a:ahLst/>
            <a:cxnLst/>
            <a:rect l="0" t="0" r="r" b="b"/>
            <a:pathLst>
              <a:path w="7012" h="28">
                <a:moveTo>
                  <a:pt x="0" y="0"/>
                </a:moveTo>
                <a:lnTo>
                  <a:pt x="7012" y="0"/>
                </a:lnTo>
                <a:lnTo>
                  <a:pt x="7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Forma libre 524"/>
          <p:cNvSpPr/>
          <p:nvPr/>
        </p:nvSpPr>
        <p:spPr>
          <a:xfrm>
            <a:off x="3181320" y="37623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Forma libre 525"/>
          <p:cNvSpPr/>
          <p:nvPr/>
        </p:nvSpPr>
        <p:spPr>
          <a:xfrm>
            <a:off x="3190680" y="3752640"/>
            <a:ext cx="1600560" cy="10080"/>
          </a:xfrm>
          <a:custGeom>
            <a:avLst/>
            <a:gdLst/>
            <a:ahLst/>
            <a:cxn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Forma libre 526"/>
          <p:cNvSpPr/>
          <p:nvPr/>
        </p:nvSpPr>
        <p:spPr>
          <a:xfrm>
            <a:off x="4781520" y="37623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Forma libre 527"/>
          <p:cNvSpPr/>
          <p:nvPr/>
        </p:nvSpPr>
        <p:spPr>
          <a:xfrm>
            <a:off x="4790880" y="3752640"/>
            <a:ext cx="4267440" cy="10080"/>
          </a:xfrm>
          <a:custGeom>
            <a:avLst/>
            <a:gdLst/>
            <a:ahLst/>
            <a:cxnLst/>
            <a:rect l="0" t="0" r="r" b="b"/>
            <a:pathLst>
              <a:path w="11854" h="28">
                <a:moveTo>
                  <a:pt x="0" y="0"/>
                </a:moveTo>
                <a:lnTo>
                  <a:pt x="11854" y="0"/>
                </a:lnTo>
                <a:lnTo>
                  <a:pt x="118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Forma libre 528"/>
          <p:cNvSpPr/>
          <p:nvPr/>
        </p:nvSpPr>
        <p:spPr>
          <a:xfrm>
            <a:off x="9048600" y="37623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Forma libre 529"/>
          <p:cNvSpPr/>
          <p:nvPr/>
        </p:nvSpPr>
        <p:spPr>
          <a:xfrm>
            <a:off x="666720" y="4162320"/>
            <a:ext cx="2524320" cy="9720"/>
          </a:xfrm>
          <a:custGeom>
            <a:avLst/>
            <a:gdLst/>
            <a:ahLst/>
            <a:cxn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Forma libre 530"/>
          <p:cNvSpPr/>
          <p:nvPr/>
        </p:nvSpPr>
        <p:spPr>
          <a:xfrm>
            <a:off x="3190680" y="4162320"/>
            <a:ext cx="1600560" cy="9720"/>
          </a:xfrm>
          <a:custGeom>
            <a:avLst/>
            <a:gdLst/>
            <a:ahLst/>
            <a:cxn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Forma libre 531"/>
          <p:cNvSpPr/>
          <p:nvPr/>
        </p:nvSpPr>
        <p:spPr>
          <a:xfrm>
            <a:off x="4790880" y="4162320"/>
            <a:ext cx="4267440" cy="9720"/>
          </a:xfrm>
          <a:custGeom>
            <a:avLst/>
            <a:gdLst/>
            <a:ahLst/>
            <a:cxnLst/>
            <a:rect l="0" t="0" r="r" b="b"/>
            <a:pathLst>
              <a:path w="11854" h="27">
                <a:moveTo>
                  <a:pt x="0" y="0"/>
                </a:moveTo>
                <a:lnTo>
                  <a:pt x="11854" y="0"/>
                </a:lnTo>
                <a:lnTo>
                  <a:pt x="118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CuadroTexto 532"/>
          <p:cNvSpPr txBox="1"/>
          <p:nvPr/>
        </p:nvSpPr>
        <p:spPr>
          <a:xfrm>
            <a:off x="666720" y="1463400"/>
            <a:ext cx="2965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Elegir la imagen base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CuadroTexto 533"/>
          <p:cNvSpPr txBox="1"/>
          <p:nvPr/>
        </p:nvSpPr>
        <p:spPr>
          <a:xfrm>
            <a:off x="1702080" y="2209320"/>
            <a:ext cx="455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Base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CuadroTexto 534"/>
          <p:cNvSpPr txBox="1"/>
          <p:nvPr/>
        </p:nvSpPr>
        <p:spPr>
          <a:xfrm>
            <a:off x="3316320" y="2209320"/>
            <a:ext cx="1362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Tamaño aprox.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Forma libre 535"/>
          <p:cNvSpPr/>
          <p:nvPr/>
        </p:nvSpPr>
        <p:spPr>
          <a:xfrm>
            <a:off x="799920" y="2619360"/>
            <a:ext cx="1190880" cy="228960"/>
          </a:xfrm>
          <a:custGeom>
            <a:avLst/>
            <a:gdLst/>
            <a:ahLst/>
            <a:cxnLst/>
            <a:rect l="0" t="0" r="r" b="b"/>
            <a:pathLst>
              <a:path w="3308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2"/>
                </a:cubicBezTo>
                <a:cubicBezTo>
                  <a:pt x="41" y="22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202" y="0"/>
                </a:lnTo>
                <a:cubicBezTo>
                  <a:pt x="3216" y="0"/>
                  <a:pt x="3230" y="2"/>
                  <a:pt x="3243" y="8"/>
                </a:cubicBezTo>
                <a:cubicBezTo>
                  <a:pt x="3256" y="13"/>
                  <a:pt x="3267" y="22"/>
                  <a:pt x="3277" y="32"/>
                </a:cubicBezTo>
                <a:cubicBezTo>
                  <a:pt x="3287" y="41"/>
                  <a:pt x="3295" y="53"/>
                  <a:pt x="3300" y="66"/>
                </a:cubicBezTo>
                <a:cubicBezTo>
                  <a:pt x="3306" y="79"/>
                  <a:pt x="3308" y="92"/>
                  <a:pt x="3308" y="106"/>
                </a:cubicBezTo>
                <a:lnTo>
                  <a:pt x="3308" y="530"/>
                </a:lnTo>
                <a:cubicBezTo>
                  <a:pt x="3308" y="544"/>
                  <a:pt x="3306" y="557"/>
                  <a:pt x="3300" y="570"/>
                </a:cubicBezTo>
                <a:cubicBezTo>
                  <a:pt x="3295" y="583"/>
                  <a:pt x="3287" y="595"/>
                  <a:pt x="3277" y="605"/>
                </a:cubicBezTo>
                <a:cubicBezTo>
                  <a:pt x="3267" y="614"/>
                  <a:pt x="3256" y="622"/>
                  <a:pt x="3243" y="627"/>
                </a:cubicBezTo>
                <a:cubicBezTo>
                  <a:pt x="3230" y="633"/>
                  <a:pt x="3216" y="636"/>
                  <a:pt x="3202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7"/>
                </a:cubicBezTo>
                <a:cubicBezTo>
                  <a:pt x="52" y="622"/>
                  <a:pt x="41" y="614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CuadroTexto 536"/>
          <p:cNvSpPr txBox="1"/>
          <p:nvPr/>
        </p:nvSpPr>
        <p:spPr>
          <a:xfrm>
            <a:off x="6563880" y="2209320"/>
            <a:ext cx="709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Cuándo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CuadroTexto 537"/>
          <p:cNvSpPr txBox="1"/>
          <p:nvPr/>
        </p:nvSpPr>
        <p:spPr>
          <a:xfrm>
            <a:off x="857160" y="2640600"/>
            <a:ext cx="10706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python:3.11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CuadroTexto 538"/>
          <p:cNvSpPr txBox="1"/>
          <p:nvPr/>
        </p:nvSpPr>
        <p:spPr>
          <a:xfrm>
            <a:off x="3316320" y="2609640"/>
            <a:ext cx="542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~1 GB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Forma libre 539"/>
          <p:cNvSpPr/>
          <p:nvPr/>
        </p:nvSpPr>
        <p:spPr>
          <a:xfrm>
            <a:off x="799920" y="3028680"/>
            <a:ext cx="1676880" cy="228960"/>
          </a:xfrm>
          <a:custGeom>
            <a:avLst/>
            <a:gdLst/>
            <a:ahLst/>
            <a:cxnLst/>
            <a:rect l="0" t="0" r="r" b="b"/>
            <a:pathLst>
              <a:path w="4658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7" y="0"/>
                </a:cubicBezTo>
                <a:lnTo>
                  <a:pt x="4552" y="0"/>
                </a:lnTo>
                <a:cubicBezTo>
                  <a:pt x="4566" y="0"/>
                  <a:pt x="4579" y="3"/>
                  <a:pt x="4592" y="8"/>
                </a:cubicBezTo>
                <a:cubicBezTo>
                  <a:pt x="4605" y="14"/>
                  <a:pt x="4617" y="21"/>
                  <a:pt x="4627" y="31"/>
                </a:cubicBezTo>
                <a:cubicBezTo>
                  <a:pt x="4637" y="41"/>
                  <a:pt x="4644" y="53"/>
                  <a:pt x="4650" y="66"/>
                </a:cubicBezTo>
                <a:cubicBezTo>
                  <a:pt x="4655" y="79"/>
                  <a:pt x="4658" y="92"/>
                  <a:pt x="4658" y="106"/>
                </a:cubicBezTo>
                <a:lnTo>
                  <a:pt x="4658" y="530"/>
                </a:lnTo>
                <a:cubicBezTo>
                  <a:pt x="4658" y="544"/>
                  <a:pt x="4655" y="558"/>
                  <a:pt x="4650" y="571"/>
                </a:cubicBezTo>
                <a:cubicBezTo>
                  <a:pt x="4644" y="584"/>
                  <a:pt x="4637" y="595"/>
                  <a:pt x="4627" y="605"/>
                </a:cubicBezTo>
                <a:cubicBezTo>
                  <a:pt x="4617" y="615"/>
                  <a:pt x="4605" y="623"/>
                  <a:pt x="4592" y="628"/>
                </a:cubicBezTo>
                <a:cubicBezTo>
                  <a:pt x="4579" y="634"/>
                  <a:pt x="4566" y="636"/>
                  <a:pt x="4552" y="636"/>
                </a:cubicBezTo>
                <a:lnTo>
                  <a:pt x="107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CuadroTexto 540"/>
          <p:cNvSpPr txBox="1"/>
          <p:nvPr/>
        </p:nvSpPr>
        <p:spPr>
          <a:xfrm>
            <a:off x="4910760" y="2609640"/>
            <a:ext cx="3822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nunca en producción; trae hasta compiladores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CuadroTexto 541"/>
          <p:cNvSpPr txBox="1"/>
          <p:nvPr/>
        </p:nvSpPr>
        <p:spPr>
          <a:xfrm>
            <a:off x="857160" y="3050280"/>
            <a:ext cx="15570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python:3.11-slim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CuadroTexto 542"/>
          <p:cNvSpPr txBox="1"/>
          <p:nvPr/>
        </p:nvSpPr>
        <p:spPr>
          <a:xfrm>
            <a:off x="3316320" y="3018960"/>
            <a:ext cx="769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~130 MB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Forma libre 543"/>
          <p:cNvSpPr/>
          <p:nvPr/>
        </p:nvSpPr>
        <p:spPr>
          <a:xfrm>
            <a:off x="799920" y="3447720"/>
            <a:ext cx="1867320" cy="228960"/>
          </a:xfrm>
          <a:custGeom>
            <a:avLst/>
            <a:gdLst/>
            <a:ahLst/>
            <a:cxnLst/>
            <a:rect l="0" t="0" r="r" b="b"/>
            <a:pathLst>
              <a:path w="5187" h="636">
                <a:moveTo>
                  <a:pt x="0" y="531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081" y="0"/>
                </a:lnTo>
                <a:cubicBezTo>
                  <a:pt x="5095" y="0"/>
                  <a:pt x="5109" y="3"/>
                  <a:pt x="5121" y="8"/>
                </a:cubicBezTo>
                <a:cubicBezTo>
                  <a:pt x="5134" y="14"/>
                  <a:pt x="5146" y="21"/>
                  <a:pt x="5156" y="31"/>
                </a:cubicBezTo>
                <a:cubicBezTo>
                  <a:pt x="5166" y="41"/>
                  <a:pt x="5173" y="53"/>
                  <a:pt x="5179" y="66"/>
                </a:cubicBezTo>
                <a:cubicBezTo>
                  <a:pt x="5184" y="79"/>
                  <a:pt x="5187" y="92"/>
                  <a:pt x="5187" y="106"/>
                </a:cubicBezTo>
                <a:lnTo>
                  <a:pt x="5187" y="531"/>
                </a:lnTo>
                <a:cubicBezTo>
                  <a:pt x="5187" y="545"/>
                  <a:pt x="5184" y="558"/>
                  <a:pt x="5179" y="571"/>
                </a:cubicBezTo>
                <a:cubicBezTo>
                  <a:pt x="5173" y="584"/>
                  <a:pt x="5166" y="595"/>
                  <a:pt x="5156" y="605"/>
                </a:cubicBezTo>
                <a:cubicBezTo>
                  <a:pt x="5146" y="615"/>
                  <a:pt x="5134" y="623"/>
                  <a:pt x="5121" y="628"/>
                </a:cubicBezTo>
                <a:cubicBezTo>
                  <a:pt x="5109" y="634"/>
                  <a:pt x="5095" y="636"/>
                  <a:pt x="5081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5"/>
                  <a:pt x="0" y="531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CuadroTexto 544"/>
          <p:cNvSpPr txBox="1"/>
          <p:nvPr/>
        </p:nvSpPr>
        <p:spPr>
          <a:xfrm>
            <a:off x="4910760" y="3028680"/>
            <a:ext cx="3430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default sensato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para ciencia de datos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CuadroTexto 545"/>
          <p:cNvSpPr txBox="1"/>
          <p:nvPr/>
        </p:nvSpPr>
        <p:spPr>
          <a:xfrm>
            <a:off x="857160" y="3469320"/>
            <a:ext cx="17514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python:3.11-alpine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CuadroTexto 546"/>
          <p:cNvSpPr txBox="1"/>
          <p:nvPr/>
        </p:nvSpPr>
        <p:spPr>
          <a:xfrm>
            <a:off x="3316320" y="3438000"/>
            <a:ext cx="663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~50 MB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Forma libre 547"/>
          <p:cNvSpPr/>
          <p:nvPr/>
        </p:nvSpPr>
        <p:spPr>
          <a:xfrm>
            <a:off x="799920" y="3857400"/>
            <a:ext cx="2257920" cy="228960"/>
          </a:xfrm>
          <a:custGeom>
            <a:avLst/>
            <a:gdLst/>
            <a:ahLst/>
            <a:cxnLst/>
            <a:rect l="0" t="0" r="r" b="b"/>
            <a:pathLst>
              <a:path w="627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6166" y="0"/>
                </a:lnTo>
                <a:cubicBezTo>
                  <a:pt x="6180" y="0"/>
                  <a:pt x="6193" y="3"/>
                  <a:pt x="6206" y="8"/>
                </a:cubicBezTo>
                <a:cubicBezTo>
                  <a:pt x="6219" y="14"/>
                  <a:pt x="6231" y="21"/>
                  <a:pt x="6241" y="31"/>
                </a:cubicBezTo>
                <a:cubicBezTo>
                  <a:pt x="6251" y="41"/>
                  <a:pt x="6258" y="52"/>
                  <a:pt x="6264" y="65"/>
                </a:cubicBezTo>
                <a:cubicBezTo>
                  <a:pt x="6269" y="78"/>
                  <a:pt x="6272" y="92"/>
                  <a:pt x="6272" y="106"/>
                </a:cubicBezTo>
                <a:lnTo>
                  <a:pt x="6272" y="530"/>
                </a:lnTo>
                <a:cubicBezTo>
                  <a:pt x="6272" y="544"/>
                  <a:pt x="6269" y="558"/>
                  <a:pt x="6264" y="571"/>
                </a:cubicBezTo>
                <a:cubicBezTo>
                  <a:pt x="6258" y="584"/>
                  <a:pt x="6251" y="595"/>
                  <a:pt x="6241" y="605"/>
                </a:cubicBezTo>
                <a:cubicBezTo>
                  <a:pt x="6231" y="615"/>
                  <a:pt x="6219" y="623"/>
                  <a:pt x="6206" y="628"/>
                </a:cubicBezTo>
                <a:cubicBezTo>
                  <a:pt x="6193" y="633"/>
                  <a:pt x="6180" y="636"/>
                  <a:pt x="6166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CuadroTexto 548"/>
          <p:cNvSpPr txBox="1"/>
          <p:nvPr/>
        </p:nvSpPr>
        <p:spPr>
          <a:xfrm>
            <a:off x="4910760" y="3438000"/>
            <a:ext cx="4023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tentadora, pero rompe wheels de numpy/pandas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CuadroTexto 549"/>
          <p:cNvSpPr txBox="1"/>
          <p:nvPr/>
        </p:nvSpPr>
        <p:spPr>
          <a:xfrm>
            <a:off x="857160" y="3878640"/>
            <a:ext cx="21405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jupyter/scipy-notebook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CuadroTexto 550"/>
          <p:cNvSpPr txBox="1"/>
          <p:nvPr/>
        </p:nvSpPr>
        <p:spPr>
          <a:xfrm>
            <a:off x="3316320" y="3847680"/>
            <a:ext cx="542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~2 GB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Forma libre 551"/>
          <p:cNvSpPr/>
          <p:nvPr/>
        </p:nvSpPr>
        <p:spPr>
          <a:xfrm>
            <a:off x="914040" y="44766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CuadroTexto 552"/>
          <p:cNvSpPr txBox="1"/>
          <p:nvPr/>
        </p:nvSpPr>
        <p:spPr>
          <a:xfrm>
            <a:off x="4910760" y="3847680"/>
            <a:ext cx="3939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entorno interactivo completo, no para desplegar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Forma libre 553"/>
          <p:cNvSpPr/>
          <p:nvPr/>
        </p:nvSpPr>
        <p:spPr>
          <a:xfrm>
            <a:off x="2752560" y="4381200"/>
            <a:ext cx="1991160" cy="267120"/>
          </a:xfrm>
          <a:custGeom>
            <a:avLst/>
            <a:gdLst/>
            <a:ahLst/>
            <a:cxnLst/>
            <a:rect l="0" t="0" r="r" b="b"/>
            <a:pathLst>
              <a:path w="5531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425" y="0"/>
                </a:lnTo>
                <a:cubicBezTo>
                  <a:pt x="5439" y="0"/>
                  <a:pt x="5452" y="3"/>
                  <a:pt x="5465" y="8"/>
                </a:cubicBezTo>
                <a:cubicBezTo>
                  <a:pt x="5478" y="14"/>
                  <a:pt x="5490" y="21"/>
                  <a:pt x="5500" y="31"/>
                </a:cubicBezTo>
                <a:cubicBezTo>
                  <a:pt x="5510" y="42"/>
                  <a:pt x="5517" y="54"/>
                  <a:pt x="5523" y="67"/>
                </a:cubicBezTo>
                <a:cubicBezTo>
                  <a:pt x="5528" y="80"/>
                  <a:pt x="5531" y="93"/>
                  <a:pt x="5531" y="107"/>
                </a:cubicBezTo>
                <a:lnTo>
                  <a:pt x="5531" y="636"/>
                </a:lnTo>
                <a:cubicBezTo>
                  <a:pt x="5531" y="650"/>
                  <a:pt x="5528" y="664"/>
                  <a:pt x="5523" y="677"/>
                </a:cubicBezTo>
                <a:cubicBezTo>
                  <a:pt x="5517" y="690"/>
                  <a:pt x="5510" y="701"/>
                  <a:pt x="5500" y="711"/>
                </a:cubicBezTo>
                <a:cubicBezTo>
                  <a:pt x="5490" y="721"/>
                  <a:pt x="5478" y="729"/>
                  <a:pt x="5465" y="734"/>
                </a:cubicBezTo>
                <a:cubicBezTo>
                  <a:pt x="5452" y="739"/>
                  <a:pt x="5439" y="742"/>
                  <a:pt x="5425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CuadroTexto 554"/>
          <p:cNvSpPr txBox="1"/>
          <p:nvPr/>
        </p:nvSpPr>
        <p:spPr>
          <a:xfrm>
            <a:off x="1123920" y="4363920"/>
            <a:ext cx="1630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Fija la versión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CuadroTexto 555"/>
          <p:cNvSpPr txBox="1"/>
          <p:nvPr/>
        </p:nvSpPr>
        <p:spPr>
          <a:xfrm>
            <a:off x="2811240" y="4401360"/>
            <a:ext cx="1879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python:3.11-slim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Forma libre 556"/>
          <p:cNvSpPr/>
          <p:nvPr/>
        </p:nvSpPr>
        <p:spPr>
          <a:xfrm>
            <a:off x="5514840" y="4381200"/>
            <a:ext cx="1629000" cy="267120"/>
          </a:xfrm>
          <a:custGeom>
            <a:avLst/>
            <a:gdLst/>
            <a:ahLst/>
            <a:cxnLst/>
            <a:rect l="0" t="0" r="r" b="b"/>
            <a:pathLst>
              <a:path w="4525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419" y="0"/>
                </a:lnTo>
                <a:cubicBezTo>
                  <a:pt x="4433" y="0"/>
                  <a:pt x="4447" y="3"/>
                  <a:pt x="4460" y="8"/>
                </a:cubicBezTo>
                <a:cubicBezTo>
                  <a:pt x="4473" y="14"/>
                  <a:pt x="4484" y="21"/>
                  <a:pt x="4494" y="31"/>
                </a:cubicBezTo>
                <a:cubicBezTo>
                  <a:pt x="4504" y="42"/>
                  <a:pt x="4512" y="54"/>
                  <a:pt x="4517" y="67"/>
                </a:cubicBezTo>
                <a:cubicBezTo>
                  <a:pt x="4523" y="80"/>
                  <a:pt x="4525" y="93"/>
                  <a:pt x="4525" y="107"/>
                </a:cubicBezTo>
                <a:lnTo>
                  <a:pt x="4525" y="636"/>
                </a:lnTo>
                <a:cubicBezTo>
                  <a:pt x="4525" y="650"/>
                  <a:pt x="4523" y="664"/>
                  <a:pt x="4517" y="677"/>
                </a:cubicBezTo>
                <a:cubicBezTo>
                  <a:pt x="4512" y="690"/>
                  <a:pt x="4504" y="701"/>
                  <a:pt x="4494" y="711"/>
                </a:cubicBezTo>
                <a:cubicBezTo>
                  <a:pt x="4484" y="721"/>
                  <a:pt x="4473" y="729"/>
                  <a:pt x="4460" y="734"/>
                </a:cubicBezTo>
                <a:cubicBezTo>
                  <a:pt x="4447" y="739"/>
                  <a:pt x="4433" y="742"/>
                  <a:pt x="4419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CuadroTexto 557"/>
          <p:cNvSpPr txBox="1"/>
          <p:nvPr/>
        </p:nvSpPr>
        <p:spPr>
          <a:xfrm>
            <a:off x="4740120" y="4363920"/>
            <a:ext cx="771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jamás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Forma libre 558"/>
          <p:cNvSpPr/>
          <p:nvPr/>
        </p:nvSpPr>
        <p:spPr>
          <a:xfrm>
            <a:off x="914040" y="48765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CuadroTexto 559"/>
          <p:cNvSpPr txBox="1"/>
          <p:nvPr/>
        </p:nvSpPr>
        <p:spPr>
          <a:xfrm>
            <a:off x="5567760" y="440136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python:latest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CuadroTexto 560"/>
          <p:cNvSpPr txBox="1"/>
          <p:nvPr/>
        </p:nvSpPr>
        <p:spPr>
          <a:xfrm>
            <a:off x="1123920" y="4763880"/>
            <a:ext cx="10093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Alpine usa musl en vez de glibc: muchos paquetes cientíﬁcos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compilan de cero o fallan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Para datos,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CuadroTexto 561"/>
          <p:cNvSpPr txBox="1"/>
          <p:nvPr/>
        </p:nvSpPr>
        <p:spPr>
          <a:xfrm>
            <a:off x="1123920" y="5106960"/>
            <a:ext cx="936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slim gana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CuadroTexto 56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CuadroTexto 56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CuadroTexto 56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Forma libre 58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Forma libre 58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Forma libre 58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CuadroTexto 589"/>
          <p:cNvSpPr txBox="1"/>
          <p:nvPr/>
        </p:nvSpPr>
        <p:spPr>
          <a:xfrm>
            <a:off x="3283920" y="3063960"/>
            <a:ext cx="57618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Ejecutar contenedores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CuadroTexto 59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CuadroTexto 59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CuadroTexto 59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Forma libre 5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Forma libre 59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Forma libre 5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Forma libre 596"/>
          <p:cNvSpPr/>
          <p:nvPr/>
        </p:nvSpPr>
        <p:spPr>
          <a:xfrm>
            <a:off x="671400" y="162396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067"/>
                </a:lnTo>
                <a:cubicBezTo>
                  <a:pt x="30137" y="5080"/>
                  <a:pt x="30136" y="5093"/>
                  <a:pt x="30133" y="5106"/>
                </a:cubicBezTo>
                <a:cubicBezTo>
                  <a:pt x="30130" y="5119"/>
                  <a:pt x="30127" y="5131"/>
                  <a:pt x="30122" y="5143"/>
                </a:cubicBezTo>
                <a:cubicBezTo>
                  <a:pt x="30117" y="5155"/>
                  <a:pt x="30111" y="5167"/>
                  <a:pt x="30103" y="5178"/>
                </a:cubicBezTo>
                <a:cubicBezTo>
                  <a:pt x="30096" y="5188"/>
                  <a:pt x="30088" y="5199"/>
                  <a:pt x="30079" y="5208"/>
                </a:cubicBezTo>
                <a:cubicBezTo>
                  <a:pt x="30070" y="5217"/>
                  <a:pt x="30059" y="5225"/>
                  <a:pt x="30049" y="5232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59"/>
                  <a:pt x="29977" y="5262"/>
                </a:cubicBezTo>
                <a:cubicBezTo>
                  <a:pt x="29964" y="5265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5"/>
                  <a:pt x="160" y="5262"/>
                </a:cubicBezTo>
                <a:cubicBezTo>
                  <a:pt x="147" y="5259"/>
                  <a:pt x="134" y="5256"/>
                  <a:pt x="122" y="5251"/>
                </a:cubicBezTo>
                <a:cubicBezTo>
                  <a:pt x="110" y="5246"/>
                  <a:pt x="99" y="5240"/>
                  <a:pt x="88" y="5232"/>
                </a:cubicBezTo>
                <a:cubicBezTo>
                  <a:pt x="77" y="5225"/>
                  <a:pt x="67" y="5217"/>
                  <a:pt x="58" y="5208"/>
                </a:cubicBezTo>
                <a:cubicBezTo>
                  <a:pt x="49" y="5199"/>
                  <a:pt x="40" y="5188"/>
                  <a:pt x="33" y="5178"/>
                </a:cubicBezTo>
                <a:cubicBezTo>
                  <a:pt x="26" y="5167"/>
                  <a:pt x="20" y="5155"/>
                  <a:pt x="15" y="5143"/>
                </a:cubicBezTo>
                <a:cubicBezTo>
                  <a:pt x="10" y="5131"/>
                  <a:pt x="6" y="5119"/>
                  <a:pt x="4" y="5106"/>
                </a:cubicBezTo>
                <a:cubicBezTo>
                  <a:pt x="1" y="5093"/>
                  <a:pt x="0" y="5080"/>
                  <a:pt x="0" y="506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Forma libre 597"/>
          <p:cNvSpPr/>
          <p:nvPr/>
        </p:nvSpPr>
        <p:spPr>
          <a:xfrm>
            <a:off x="671400" y="162396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067"/>
                </a:lnTo>
                <a:cubicBezTo>
                  <a:pt x="30137" y="5080"/>
                  <a:pt x="30136" y="5093"/>
                  <a:pt x="30133" y="5106"/>
                </a:cubicBezTo>
                <a:cubicBezTo>
                  <a:pt x="30130" y="5119"/>
                  <a:pt x="30127" y="5131"/>
                  <a:pt x="30122" y="5143"/>
                </a:cubicBezTo>
                <a:cubicBezTo>
                  <a:pt x="30117" y="5155"/>
                  <a:pt x="30111" y="5167"/>
                  <a:pt x="30103" y="5178"/>
                </a:cubicBezTo>
                <a:cubicBezTo>
                  <a:pt x="30096" y="5188"/>
                  <a:pt x="30088" y="5199"/>
                  <a:pt x="30079" y="5208"/>
                </a:cubicBezTo>
                <a:cubicBezTo>
                  <a:pt x="30070" y="5217"/>
                  <a:pt x="30059" y="5225"/>
                  <a:pt x="30049" y="5232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59"/>
                  <a:pt x="29977" y="5262"/>
                </a:cubicBezTo>
                <a:cubicBezTo>
                  <a:pt x="29964" y="5265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5"/>
                  <a:pt x="160" y="5262"/>
                </a:cubicBezTo>
                <a:cubicBezTo>
                  <a:pt x="147" y="5259"/>
                  <a:pt x="134" y="5256"/>
                  <a:pt x="122" y="5251"/>
                </a:cubicBezTo>
                <a:cubicBezTo>
                  <a:pt x="110" y="5246"/>
                  <a:pt x="99" y="5240"/>
                  <a:pt x="88" y="5232"/>
                </a:cubicBezTo>
                <a:cubicBezTo>
                  <a:pt x="77" y="5225"/>
                  <a:pt x="67" y="5217"/>
                  <a:pt x="58" y="5208"/>
                </a:cubicBezTo>
                <a:cubicBezTo>
                  <a:pt x="49" y="5199"/>
                  <a:pt x="40" y="5188"/>
                  <a:pt x="33" y="5178"/>
                </a:cubicBezTo>
                <a:cubicBezTo>
                  <a:pt x="26" y="5167"/>
                  <a:pt x="20" y="5155"/>
                  <a:pt x="15" y="5143"/>
                </a:cubicBezTo>
                <a:cubicBezTo>
                  <a:pt x="10" y="5131"/>
                  <a:pt x="6" y="5119"/>
                  <a:pt x="4" y="5106"/>
                </a:cubicBezTo>
                <a:cubicBezTo>
                  <a:pt x="1" y="5093"/>
                  <a:pt x="0" y="5080"/>
                  <a:pt x="0" y="506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Forma libre 598"/>
          <p:cNvSpPr/>
          <p:nvPr/>
        </p:nvSpPr>
        <p:spPr>
          <a:xfrm>
            <a:off x="666720" y="497196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Forma libre 599"/>
          <p:cNvSpPr/>
          <p:nvPr/>
        </p:nvSpPr>
        <p:spPr>
          <a:xfrm>
            <a:off x="666720" y="497196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CuadroTexto 600"/>
          <p:cNvSpPr txBox="1"/>
          <p:nvPr/>
        </p:nvSpPr>
        <p:spPr>
          <a:xfrm>
            <a:off x="666720" y="987120"/>
            <a:ext cx="4516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Las cinco banderas del día a día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CuadroTexto 601"/>
          <p:cNvSpPr txBox="1"/>
          <p:nvPr/>
        </p:nvSpPr>
        <p:spPr>
          <a:xfrm>
            <a:off x="866880" y="1803600"/>
            <a:ext cx="6770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docker run --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rm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\  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bórrate al terminar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CuadroTexto 602"/>
          <p:cNvSpPr txBox="1"/>
          <p:nvPr/>
        </p:nvSpPr>
        <p:spPr>
          <a:xfrm>
            <a:off x="866880" y="2070360"/>
            <a:ext cx="6879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-it \            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terminal interactiva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CuadroTexto 603"/>
          <p:cNvSpPr txBox="1"/>
          <p:nvPr/>
        </p:nvSpPr>
        <p:spPr>
          <a:xfrm>
            <a:off x="866880" y="2327760"/>
            <a:ext cx="8625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-v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$PWD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/data:/app/data"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\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carpeta compartida host ↔ contenedor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CuadroTexto 604"/>
          <p:cNvSpPr txBox="1"/>
          <p:nvPr/>
        </p:nvSpPr>
        <p:spPr>
          <a:xfrm>
            <a:off x="866880" y="2594160"/>
            <a:ext cx="7097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-p 8888:8888 \   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puerto host:contenedor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CuadroTexto 605"/>
          <p:cNvSpPr txBox="1"/>
          <p:nvPr/>
        </p:nvSpPr>
        <p:spPr>
          <a:xfrm>
            <a:off x="866880" y="2851560"/>
            <a:ext cx="6770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-e OMOP_DB=duckdb \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variable de entorno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Forma libre 606"/>
          <p:cNvSpPr/>
          <p:nvPr/>
        </p:nvSpPr>
        <p:spPr>
          <a:xfrm>
            <a:off x="914040" y="38289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2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Forma libre 607"/>
          <p:cNvSpPr/>
          <p:nvPr/>
        </p:nvSpPr>
        <p:spPr>
          <a:xfrm>
            <a:off x="1123920" y="3733560"/>
            <a:ext cx="352800" cy="267120"/>
          </a:xfrm>
          <a:custGeom>
            <a:avLst/>
            <a:gdLst/>
            <a:ahLst/>
            <a:cxnLst/>
            <a:rect l="0" t="0" r="r" b="b"/>
            <a:pathLst>
              <a:path w="980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874" y="0"/>
                </a:lnTo>
                <a:cubicBezTo>
                  <a:pt x="888" y="0"/>
                  <a:pt x="901" y="3"/>
                  <a:pt x="914" y="8"/>
                </a:cubicBezTo>
                <a:cubicBezTo>
                  <a:pt x="927" y="14"/>
                  <a:pt x="939" y="21"/>
                  <a:pt x="949" y="31"/>
                </a:cubicBezTo>
                <a:cubicBezTo>
                  <a:pt x="958" y="41"/>
                  <a:pt x="966" y="53"/>
                  <a:pt x="971" y="65"/>
                </a:cubicBezTo>
                <a:cubicBezTo>
                  <a:pt x="977" y="78"/>
                  <a:pt x="980" y="92"/>
                  <a:pt x="980" y="106"/>
                </a:cubicBezTo>
                <a:lnTo>
                  <a:pt x="980" y="636"/>
                </a:lnTo>
                <a:cubicBezTo>
                  <a:pt x="980" y="650"/>
                  <a:pt x="977" y="664"/>
                  <a:pt x="971" y="677"/>
                </a:cubicBezTo>
                <a:cubicBezTo>
                  <a:pt x="966" y="690"/>
                  <a:pt x="958" y="701"/>
                  <a:pt x="949" y="711"/>
                </a:cubicBezTo>
                <a:cubicBezTo>
                  <a:pt x="939" y="721"/>
                  <a:pt x="927" y="729"/>
                  <a:pt x="914" y="734"/>
                </a:cubicBezTo>
                <a:cubicBezTo>
                  <a:pt x="901" y="739"/>
                  <a:pt x="888" y="742"/>
                  <a:pt x="874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CuadroTexto 608"/>
          <p:cNvSpPr txBox="1"/>
          <p:nvPr/>
        </p:nvSpPr>
        <p:spPr>
          <a:xfrm>
            <a:off x="866880" y="3118320"/>
            <a:ext cx="1638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clinlab:0.1.0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CuadroTexto 609"/>
          <p:cNvSpPr txBox="1"/>
          <p:nvPr/>
        </p:nvSpPr>
        <p:spPr>
          <a:xfrm>
            <a:off x="1181160" y="3753360"/>
            <a:ext cx="235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-v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Forma libre 610"/>
          <p:cNvSpPr/>
          <p:nvPr/>
        </p:nvSpPr>
        <p:spPr>
          <a:xfrm>
            <a:off x="914040" y="42289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Forma libre 611"/>
          <p:cNvSpPr/>
          <p:nvPr/>
        </p:nvSpPr>
        <p:spPr>
          <a:xfrm>
            <a:off x="1123920" y="4133520"/>
            <a:ext cx="352800" cy="267120"/>
          </a:xfrm>
          <a:custGeom>
            <a:avLst/>
            <a:gdLst/>
            <a:ahLst/>
            <a:cxnLst/>
            <a:rect l="0" t="0" r="r" b="b"/>
            <a:pathLst>
              <a:path w="980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874" y="0"/>
                </a:lnTo>
                <a:cubicBezTo>
                  <a:pt x="888" y="0"/>
                  <a:pt x="901" y="3"/>
                  <a:pt x="914" y="8"/>
                </a:cubicBezTo>
                <a:cubicBezTo>
                  <a:pt x="927" y="14"/>
                  <a:pt x="939" y="21"/>
                  <a:pt x="949" y="31"/>
                </a:cubicBezTo>
                <a:cubicBezTo>
                  <a:pt x="958" y="41"/>
                  <a:pt x="966" y="53"/>
                  <a:pt x="971" y="66"/>
                </a:cubicBezTo>
                <a:cubicBezTo>
                  <a:pt x="977" y="79"/>
                  <a:pt x="980" y="92"/>
                  <a:pt x="980" y="106"/>
                </a:cubicBezTo>
                <a:lnTo>
                  <a:pt x="980" y="635"/>
                </a:lnTo>
                <a:cubicBezTo>
                  <a:pt x="980" y="649"/>
                  <a:pt x="977" y="663"/>
                  <a:pt x="971" y="676"/>
                </a:cubicBezTo>
                <a:cubicBezTo>
                  <a:pt x="966" y="689"/>
                  <a:pt x="958" y="700"/>
                  <a:pt x="949" y="710"/>
                </a:cubicBezTo>
                <a:cubicBezTo>
                  <a:pt x="939" y="720"/>
                  <a:pt x="927" y="729"/>
                  <a:pt x="914" y="734"/>
                </a:cubicBezTo>
                <a:cubicBezTo>
                  <a:pt x="901" y="740"/>
                  <a:pt x="888" y="742"/>
                  <a:pt x="874" y="742"/>
                </a:cubicBezTo>
                <a:lnTo>
                  <a:pt x="105" y="742"/>
                </a:lnTo>
                <a:cubicBezTo>
                  <a:pt x="91" y="742"/>
                  <a:pt x="78" y="740"/>
                  <a:pt x="65" y="734"/>
                </a:cubicBezTo>
                <a:cubicBezTo>
                  <a:pt x="52" y="729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CuadroTexto 612"/>
          <p:cNvSpPr txBox="1"/>
          <p:nvPr/>
        </p:nvSpPr>
        <p:spPr>
          <a:xfrm>
            <a:off x="1472400" y="3716280"/>
            <a:ext cx="5518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los datos viven FUERA; el contenedor los ve prestados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CuadroTexto 613"/>
          <p:cNvSpPr txBox="1"/>
          <p:nvPr/>
        </p:nvSpPr>
        <p:spPr>
          <a:xfrm>
            <a:off x="1181160" y="4153680"/>
            <a:ext cx="235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-p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Forma libre 614"/>
          <p:cNvSpPr/>
          <p:nvPr/>
        </p:nvSpPr>
        <p:spPr>
          <a:xfrm>
            <a:off x="914040" y="46288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Forma libre 615"/>
          <p:cNvSpPr/>
          <p:nvPr/>
        </p:nvSpPr>
        <p:spPr>
          <a:xfrm>
            <a:off x="1123920" y="4533840"/>
            <a:ext cx="352800" cy="266760"/>
          </a:xfrm>
          <a:custGeom>
            <a:avLst/>
            <a:gdLst/>
            <a:ahLst/>
            <a:cxnLst/>
            <a:rect l="0" t="0" r="r" b="b"/>
            <a:pathLst>
              <a:path w="980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874" y="0"/>
                </a:lnTo>
                <a:cubicBezTo>
                  <a:pt x="888" y="0"/>
                  <a:pt x="901" y="2"/>
                  <a:pt x="914" y="8"/>
                </a:cubicBezTo>
                <a:cubicBezTo>
                  <a:pt x="927" y="13"/>
                  <a:pt x="939" y="21"/>
                  <a:pt x="949" y="31"/>
                </a:cubicBezTo>
                <a:cubicBezTo>
                  <a:pt x="958" y="41"/>
                  <a:pt x="966" y="52"/>
                  <a:pt x="971" y="65"/>
                </a:cubicBezTo>
                <a:cubicBezTo>
                  <a:pt x="977" y="78"/>
                  <a:pt x="980" y="91"/>
                  <a:pt x="980" y="105"/>
                </a:cubicBezTo>
                <a:lnTo>
                  <a:pt x="980" y="636"/>
                </a:lnTo>
                <a:cubicBezTo>
                  <a:pt x="980" y="650"/>
                  <a:pt x="977" y="663"/>
                  <a:pt x="971" y="676"/>
                </a:cubicBezTo>
                <a:cubicBezTo>
                  <a:pt x="966" y="689"/>
                  <a:pt x="958" y="701"/>
                  <a:pt x="949" y="711"/>
                </a:cubicBezTo>
                <a:cubicBezTo>
                  <a:pt x="939" y="720"/>
                  <a:pt x="927" y="728"/>
                  <a:pt x="914" y="733"/>
                </a:cubicBezTo>
                <a:cubicBezTo>
                  <a:pt x="901" y="739"/>
                  <a:pt x="888" y="741"/>
                  <a:pt x="874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CuadroTexto 616"/>
          <p:cNvSpPr txBox="1"/>
          <p:nvPr/>
        </p:nvSpPr>
        <p:spPr>
          <a:xfrm>
            <a:off x="1472400" y="4116240"/>
            <a:ext cx="5916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sin esto, el Jupyter de adentro no existe para tu navegador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CuadroTexto 617"/>
          <p:cNvSpPr txBox="1"/>
          <p:nvPr/>
        </p:nvSpPr>
        <p:spPr>
          <a:xfrm>
            <a:off x="1181160" y="4553640"/>
            <a:ext cx="235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-e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CuadroTexto 618"/>
          <p:cNvSpPr txBox="1"/>
          <p:nvPr/>
        </p:nvSpPr>
        <p:spPr>
          <a:xfrm>
            <a:off x="1472400" y="4516200"/>
            <a:ext cx="5933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conﬁguración por entorno — nunca horneada en la imagen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CuadroTexto 619"/>
          <p:cNvSpPr txBox="1"/>
          <p:nvPr/>
        </p:nvSpPr>
        <p:spPr>
          <a:xfrm>
            <a:off x="905040" y="5126040"/>
            <a:ext cx="10141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Todo lo que escribas fuera de un volumen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muere con el contenedor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 No es un bug: es la garantía 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CuadroTexto 620"/>
          <p:cNvSpPr txBox="1"/>
          <p:nvPr/>
        </p:nvSpPr>
        <p:spPr>
          <a:xfrm>
            <a:off x="905040" y="5468760"/>
            <a:ext cx="2901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que el estado no se acumula.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CuadroTexto 62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CuadroTexto 62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CuadroTexto 62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Forma libre 62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Forma libre 62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Forma libre 6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CuadroTexto 627"/>
          <p:cNvSpPr txBox="1"/>
          <p:nvPr/>
        </p:nvSpPr>
        <p:spPr>
          <a:xfrm>
            <a:off x="2483280" y="3063960"/>
            <a:ext cx="73915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7. Buenas prácticas y seguridad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CuadroTexto 62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CuadroTexto 62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CuadroTexto 63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Forma libre 6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Forma libre 6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Forma libre 633"/>
          <p:cNvSpPr/>
          <p:nvPr/>
        </p:nvSpPr>
        <p:spPr>
          <a:xfrm>
            <a:off x="0" y="242064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Forma libre 634"/>
          <p:cNvSpPr/>
          <p:nvPr/>
        </p:nvSpPr>
        <p:spPr>
          <a:xfrm>
            <a:off x="671400" y="454788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Forma libre 635"/>
          <p:cNvSpPr/>
          <p:nvPr/>
        </p:nvSpPr>
        <p:spPr>
          <a:xfrm>
            <a:off x="671400" y="454788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CuadroTexto 636"/>
          <p:cNvSpPr txBox="1"/>
          <p:nvPr/>
        </p:nvSpPr>
        <p:spPr>
          <a:xfrm>
            <a:off x="666720" y="1472760"/>
            <a:ext cx="46310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cinco pecados del Dockerfile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Forma libre 637"/>
          <p:cNvSpPr/>
          <p:nvPr/>
        </p:nvSpPr>
        <p:spPr>
          <a:xfrm>
            <a:off x="3990960" y="2162160"/>
            <a:ext cx="1171800" cy="266760"/>
          </a:xfrm>
          <a:custGeom>
            <a:avLst/>
            <a:gdLst/>
            <a:ahLst/>
            <a:cxnLst/>
            <a:rect l="0" t="0" r="r" b="b"/>
            <a:pathLst>
              <a:path w="3255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3149" y="0"/>
                </a:lnTo>
                <a:cubicBezTo>
                  <a:pt x="3163" y="0"/>
                  <a:pt x="3177" y="2"/>
                  <a:pt x="3190" y="8"/>
                </a:cubicBezTo>
                <a:cubicBezTo>
                  <a:pt x="3203" y="13"/>
                  <a:pt x="3214" y="21"/>
                  <a:pt x="3224" y="31"/>
                </a:cubicBezTo>
                <a:cubicBezTo>
                  <a:pt x="3234" y="40"/>
                  <a:pt x="3241" y="52"/>
                  <a:pt x="3247" y="65"/>
                </a:cubicBezTo>
                <a:cubicBezTo>
                  <a:pt x="3252" y="78"/>
                  <a:pt x="3255" y="91"/>
                  <a:pt x="3255" y="105"/>
                </a:cubicBezTo>
                <a:lnTo>
                  <a:pt x="3255" y="636"/>
                </a:lnTo>
                <a:cubicBezTo>
                  <a:pt x="3255" y="650"/>
                  <a:pt x="3252" y="663"/>
                  <a:pt x="3247" y="676"/>
                </a:cubicBezTo>
                <a:cubicBezTo>
                  <a:pt x="3241" y="689"/>
                  <a:pt x="3234" y="700"/>
                  <a:pt x="3224" y="710"/>
                </a:cubicBezTo>
                <a:cubicBezTo>
                  <a:pt x="3214" y="720"/>
                  <a:pt x="3203" y="728"/>
                  <a:pt x="3190" y="733"/>
                </a:cubicBezTo>
                <a:cubicBezTo>
                  <a:pt x="3177" y="739"/>
                  <a:pt x="3163" y="741"/>
                  <a:pt x="3149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0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CuadroTexto 638"/>
          <p:cNvSpPr txBox="1"/>
          <p:nvPr/>
        </p:nvSpPr>
        <p:spPr>
          <a:xfrm>
            <a:off x="869760" y="2144520"/>
            <a:ext cx="3121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Secretos horneados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un 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CuadroTexto 639"/>
          <p:cNvSpPr txBox="1"/>
          <p:nvPr/>
        </p:nvSpPr>
        <p:spPr>
          <a:xfrm>
            <a:off x="4047840" y="218196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COPY .env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CuadroTexto 640"/>
          <p:cNvSpPr txBox="1"/>
          <p:nvPr/>
        </p:nvSpPr>
        <p:spPr>
          <a:xfrm>
            <a:off x="5157720" y="2144520"/>
            <a:ext cx="5586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queda en la capa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siempre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aunque lo borres en 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CuadroTexto 641"/>
          <p:cNvSpPr txBox="1"/>
          <p:nvPr/>
        </p:nvSpPr>
        <p:spPr>
          <a:xfrm>
            <a:off x="1123920" y="2487600"/>
            <a:ext cx="2122376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instrucción siguiente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CuadroTexto 642"/>
          <p:cNvSpPr txBox="1"/>
          <p:nvPr/>
        </p:nvSpPr>
        <p:spPr>
          <a:xfrm>
            <a:off x="869760" y="2887560"/>
            <a:ext cx="7156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Correr como root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un escape del contenedor hereda tus permisos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Forma libre 643"/>
          <p:cNvSpPr/>
          <p:nvPr/>
        </p:nvSpPr>
        <p:spPr>
          <a:xfrm>
            <a:off x="1123920" y="3305160"/>
            <a:ext cx="933480" cy="266760"/>
          </a:xfrm>
          <a:custGeom>
            <a:avLst/>
            <a:gdLst/>
            <a:ahLst/>
            <a:cxnLst/>
            <a:rect l="0" t="0" r="r" b="b"/>
            <a:pathLst>
              <a:path w="2593" h="741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488" y="0"/>
                </a:lnTo>
                <a:cubicBezTo>
                  <a:pt x="2502" y="0"/>
                  <a:pt x="2515" y="2"/>
                  <a:pt x="2528" y="8"/>
                </a:cubicBezTo>
                <a:cubicBezTo>
                  <a:pt x="2541" y="13"/>
                  <a:pt x="2553" y="21"/>
                  <a:pt x="2563" y="31"/>
                </a:cubicBezTo>
                <a:cubicBezTo>
                  <a:pt x="2572" y="40"/>
                  <a:pt x="2580" y="52"/>
                  <a:pt x="2585" y="65"/>
                </a:cubicBezTo>
                <a:cubicBezTo>
                  <a:pt x="2591" y="79"/>
                  <a:pt x="2593" y="92"/>
                  <a:pt x="2593" y="106"/>
                </a:cubicBezTo>
                <a:lnTo>
                  <a:pt x="2593" y="636"/>
                </a:lnTo>
                <a:cubicBezTo>
                  <a:pt x="2593" y="650"/>
                  <a:pt x="2591" y="663"/>
                  <a:pt x="2585" y="676"/>
                </a:cubicBezTo>
                <a:cubicBezTo>
                  <a:pt x="2580" y="689"/>
                  <a:pt x="2572" y="700"/>
                  <a:pt x="2563" y="710"/>
                </a:cubicBezTo>
                <a:cubicBezTo>
                  <a:pt x="2553" y="720"/>
                  <a:pt x="2541" y="728"/>
                  <a:pt x="2528" y="733"/>
                </a:cubicBezTo>
                <a:cubicBezTo>
                  <a:pt x="2515" y="739"/>
                  <a:pt x="2502" y="741"/>
                  <a:pt x="2488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CuadroTexto 644"/>
          <p:cNvSpPr txBox="1"/>
          <p:nvPr/>
        </p:nvSpPr>
        <p:spPr>
          <a:xfrm>
            <a:off x="869760" y="328752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CuadroTexto 645"/>
          <p:cNvSpPr txBox="1"/>
          <p:nvPr/>
        </p:nvSpPr>
        <p:spPr>
          <a:xfrm>
            <a:off x="1181160" y="332496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:latest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CuadroTexto 646"/>
          <p:cNvSpPr txBox="1"/>
          <p:nvPr/>
        </p:nvSpPr>
        <p:spPr>
          <a:xfrm>
            <a:off x="2057400" y="3287520"/>
            <a:ext cx="6327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la imagen de hoy no es la de mañana; adiós reproducibilidad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Forma libre 647"/>
          <p:cNvSpPr/>
          <p:nvPr/>
        </p:nvSpPr>
        <p:spPr>
          <a:xfrm>
            <a:off x="1533240" y="3705120"/>
            <a:ext cx="1629360" cy="267120"/>
          </a:xfrm>
          <a:custGeom>
            <a:avLst/>
            <a:gdLst/>
            <a:ahLst/>
            <a:cxnLst/>
            <a:rect l="0" t="0" r="r" b="b"/>
            <a:pathLst>
              <a:path w="452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4420" y="0"/>
                </a:lnTo>
                <a:cubicBezTo>
                  <a:pt x="4434" y="0"/>
                  <a:pt x="4447" y="2"/>
                  <a:pt x="4460" y="8"/>
                </a:cubicBezTo>
                <a:cubicBezTo>
                  <a:pt x="4473" y="13"/>
                  <a:pt x="4485" y="21"/>
                  <a:pt x="4495" y="31"/>
                </a:cubicBezTo>
                <a:cubicBezTo>
                  <a:pt x="4505" y="41"/>
                  <a:pt x="4512" y="52"/>
                  <a:pt x="4518" y="65"/>
                </a:cubicBezTo>
                <a:cubicBezTo>
                  <a:pt x="4523" y="78"/>
                  <a:pt x="4526" y="92"/>
                  <a:pt x="4526" y="106"/>
                </a:cubicBezTo>
                <a:lnTo>
                  <a:pt x="4526" y="636"/>
                </a:lnTo>
                <a:cubicBezTo>
                  <a:pt x="4526" y="650"/>
                  <a:pt x="4523" y="663"/>
                  <a:pt x="4518" y="676"/>
                </a:cubicBezTo>
                <a:cubicBezTo>
                  <a:pt x="4512" y="689"/>
                  <a:pt x="4505" y="701"/>
                  <a:pt x="4495" y="711"/>
                </a:cubicBezTo>
                <a:cubicBezTo>
                  <a:pt x="4485" y="721"/>
                  <a:pt x="4473" y="728"/>
                  <a:pt x="4460" y="734"/>
                </a:cubicBezTo>
                <a:cubicBezTo>
                  <a:pt x="4447" y="739"/>
                  <a:pt x="4434" y="742"/>
                  <a:pt x="4420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CuadroTexto 648"/>
          <p:cNvSpPr txBox="1"/>
          <p:nvPr/>
        </p:nvSpPr>
        <p:spPr>
          <a:xfrm>
            <a:off x="869760" y="3687480"/>
            <a:ext cx="661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CuadroTexto 649"/>
          <p:cNvSpPr txBox="1"/>
          <p:nvPr/>
        </p:nvSpPr>
        <p:spPr>
          <a:xfrm>
            <a:off x="1587600" y="372492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.dockerignore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Forma libre 650"/>
          <p:cNvSpPr/>
          <p:nvPr/>
        </p:nvSpPr>
        <p:spPr>
          <a:xfrm>
            <a:off x="3524040" y="3705120"/>
            <a:ext cx="1047960" cy="267120"/>
          </a:xfrm>
          <a:custGeom>
            <a:avLst/>
            <a:gdLst/>
            <a:ahLst/>
            <a:cxnLst/>
            <a:rect l="0" t="0" r="r" b="b"/>
            <a:pathLst>
              <a:path w="291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806" y="0"/>
                </a:lnTo>
                <a:cubicBezTo>
                  <a:pt x="2820" y="0"/>
                  <a:pt x="2833" y="2"/>
                  <a:pt x="2846" y="8"/>
                </a:cubicBezTo>
                <a:cubicBezTo>
                  <a:pt x="2859" y="13"/>
                  <a:pt x="2871" y="21"/>
                  <a:pt x="2881" y="31"/>
                </a:cubicBezTo>
                <a:cubicBezTo>
                  <a:pt x="2890" y="41"/>
                  <a:pt x="2898" y="52"/>
                  <a:pt x="2903" y="65"/>
                </a:cubicBezTo>
                <a:cubicBezTo>
                  <a:pt x="2909" y="78"/>
                  <a:pt x="2911" y="92"/>
                  <a:pt x="2911" y="106"/>
                </a:cubicBezTo>
                <a:lnTo>
                  <a:pt x="2911" y="636"/>
                </a:lnTo>
                <a:cubicBezTo>
                  <a:pt x="2911" y="650"/>
                  <a:pt x="2909" y="663"/>
                  <a:pt x="2903" y="676"/>
                </a:cubicBezTo>
                <a:cubicBezTo>
                  <a:pt x="2898" y="689"/>
                  <a:pt x="2890" y="701"/>
                  <a:pt x="2881" y="711"/>
                </a:cubicBezTo>
                <a:cubicBezTo>
                  <a:pt x="2871" y="721"/>
                  <a:pt x="2859" y="728"/>
                  <a:pt x="2846" y="734"/>
                </a:cubicBezTo>
                <a:cubicBezTo>
                  <a:pt x="2833" y="739"/>
                  <a:pt x="2820" y="742"/>
                  <a:pt x="2806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CuadroTexto 651"/>
          <p:cNvSpPr txBox="1"/>
          <p:nvPr/>
        </p:nvSpPr>
        <p:spPr>
          <a:xfrm>
            <a:off x="3165840" y="3687480"/>
            <a:ext cx="356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CuadroTexto 652"/>
          <p:cNvSpPr txBox="1"/>
          <p:nvPr/>
        </p:nvSpPr>
        <p:spPr>
          <a:xfrm>
            <a:off x="3578760" y="372492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COPY . .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Forma libre 653"/>
          <p:cNvSpPr/>
          <p:nvPr/>
        </p:nvSpPr>
        <p:spPr>
          <a:xfrm>
            <a:off x="5448240" y="3705120"/>
            <a:ext cx="695520" cy="267120"/>
          </a:xfrm>
          <a:custGeom>
            <a:avLst/>
            <a:gdLst/>
            <a:ahLst/>
            <a:cxnLst/>
            <a:rect l="0" t="0" r="r" b="b"/>
            <a:pathLst>
              <a:path w="193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1826" y="0"/>
                </a:lnTo>
                <a:cubicBezTo>
                  <a:pt x="1840" y="0"/>
                  <a:pt x="1854" y="2"/>
                  <a:pt x="1867" y="8"/>
                </a:cubicBezTo>
                <a:cubicBezTo>
                  <a:pt x="1880" y="13"/>
                  <a:pt x="1891" y="21"/>
                  <a:pt x="1901" y="31"/>
                </a:cubicBezTo>
                <a:cubicBezTo>
                  <a:pt x="1911" y="41"/>
                  <a:pt x="1919" y="52"/>
                  <a:pt x="1924" y="65"/>
                </a:cubicBezTo>
                <a:cubicBezTo>
                  <a:pt x="1929" y="78"/>
                  <a:pt x="1932" y="92"/>
                  <a:pt x="1932" y="106"/>
                </a:cubicBezTo>
                <a:lnTo>
                  <a:pt x="1932" y="636"/>
                </a:lnTo>
                <a:cubicBezTo>
                  <a:pt x="1932" y="650"/>
                  <a:pt x="1929" y="663"/>
                  <a:pt x="1924" y="676"/>
                </a:cubicBezTo>
                <a:cubicBezTo>
                  <a:pt x="1919" y="689"/>
                  <a:pt x="1911" y="701"/>
                  <a:pt x="1901" y="711"/>
                </a:cubicBezTo>
                <a:cubicBezTo>
                  <a:pt x="1891" y="721"/>
                  <a:pt x="1880" y="728"/>
                  <a:pt x="1867" y="734"/>
                </a:cubicBezTo>
                <a:cubicBezTo>
                  <a:pt x="1854" y="739"/>
                  <a:pt x="1840" y="742"/>
                  <a:pt x="1826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CuadroTexto 654"/>
          <p:cNvSpPr txBox="1"/>
          <p:nvPr/>
        </p:nvSpPr>
        <p:spPr>
          <a:xfrm>
            <a:off x="4572000" y="3687480"/>
            <a:ext cx="877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arrastra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CuadroTexto 655"/>
          <p:cNvSpPr txBox="1"/>
          <p:nvPr/>
        </p:nvSpPr>
        <p:spPr>
          <a:xfrm>
            <a:off x="5505840" y="372492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.git/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Forma libre 656"/>
          <p:cNvSpPr/>
          <p:nvPr/>
        </p:nvSpPr>
        <p:spPr>
          <a:xfrm>
            <a:off x="7057800" y="3705120"/>
            <a:ext cx="705240" cy="267120"/>
          </a:xfrm>
          <a:custGeom>
            <a:avLst/>
            <a:gdLst/>
            <a:ahLst/>
            <a:cxnLst/>
            <a:rect l="0" t="0" r="r" b="b"/>
            <a:pathLst>
              <a:path w="195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853" y="0"/>
                </a:lnTo>
                <a:cubicBezTo>
                  <a:pt x="1867" y="0"/>
                  <a:pt x="1881" y="2"/>
                  <a:pt x="1894" y="8"/>
                </a:cubicBezTo>
                <a:cubicBezTo>
                  <a:pt x="1907" y="13"/>
                  <a:pt x="1918" y="21"/>
                  <a:pt x="1928" y="31"/>
                </a:cubicBezTo>
                <a:cubicBezTo>
                  <a:pt x="1938" y="41"/>
                  <a:pt x="1946" y="52"/>
                  <a:pt x="1951" y="65"/>
                </a:cubicBezTo>
                <a:cubicBezTo>
                  <a:pt x="1956" y="78"/>
                  <a:pt x="1959" y="92"/>
                  <a:pt x="1959" y="106"/>
                </a:cubicBezTo>
                <a:lnTo>
                  <a:pt x="1959" y="636"/>
                </a:lnTo>
                <a:cubicBezTo>
                  <a:pt x="1959" y="650"/>
                  <a:pt x="1956" y="663"/>
                  <a:pt x="1951" y="676"/>
                </a:cubicBezTo>
                <a:cubicBezTo>
                  <a:pt x="1946" y="689"/>
                  <a:pt x="1938" y="701"/>
                  <a:pt x="1928" y="711"/>
                </a:cubicBezTo>
                <a:cubicBezTo>
                  <a:pt x="1918" y="721"/>
                  <a:pt x="1907" y="728"/>
                  <a:pt x="1894" y="734"/>
                </a:cubicBezTo>
                <a:cubicBezTo>
                  <a:pt x="1881" y="739"/>
                  <a:pt x="1867" y="742"/>
                  <a:pt x="1853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CuadroTexto 657"/>
          <p:cNvSpPr txBox="1"/>
          <p:nvPr/>
        </p:nvSpPr>
        <p:spPr>
          <a:xfrm>
            <a:off x="6148080" y="3687480"/>
            <a:ext cx="915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datos y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CuadroTexto 658"/>
          <p:cNvSpPr txBox="1"/>
          <p:nvPr/>
        </p:nvSpPr>
        <p:spPr>
          <a:xfrm>
            <a:off x="7119720" y="372492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.venv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CuadroTexto 659"/>
          <p:cNvSpPr txBox="1"/>
          <p:nvPr/>
        </p:nvSpPr>
        <p:spPr>
          <a:xfrm>
            <a:off x="7761960" y="3687480"/>
            <a:ext cx="822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adentro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Forma libre 660"/>
          <p:cNvSpPr/>
          <p:nvPr/>
        </p:nvSpPr>
        <p:spPr>
          <a:xfrm>
            <a:off x="4524120" y="4105080"/>
            <a:ext cx="467280" cy="267120"/>
          </a:xfrm>
          <a:custGeom>
            <a:avLst/>
            <a:gdLst/>
            <a:ahLst/>
            <a:cxnLst/>
            <a:rect l="0" t="0" r="r" b="b"/>
            <a:pathLst>
              <a:path w="1298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79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192" y="0"/>
                </a:lnTo>
                <a:cubicBezTo>
                  <a:pt x="1206" y="0"/>
                  <a:pt x="1219" y="3"/>
                  <a:pt x="1232" y="8"/>
                </a:cubicBezTo>
                <a:cubicBezTo>
                  <a:pt x="1245" y="13"/>
                  <a:pt x="1257" y="21"/>
                  <a:pt x="1267" y="31"/>
                </a:cubicBezTo>
                <a:cubicBezTo>
                  <a:pt x="1277" y="41"/>
                  <a:pt x="1284" y="52"/>
                  <a:pt x="1290" y="65"/>
                </a:cubicBezTo>
                <a:cubicBezTo>
                  <a:pt x="1295" y="79"/>
                  <a:pt x="1298" y="93"/>
                  <a:pt x="1298" y="107"/>
                </a:cubicBezTo>
                <a:lnTo>
                  <a:pt x="1298" y="636"/>
                </a:lnTo>
                <a:cubicBezTo>
                  <a:pt x="1298" y="650"/>
                  <a:pt x="1295" y="664"/>
                  <a:pt x="1290" y="677"/>
                </a:cubicBezTo>
                <a:cubicBezTo>
                  <a:pt x="1284" y="690"/>
                  <a:pt x="1277" y="701"/>
                  <a:pt x="1267" y="711"/>
                </a:cubicBezTo>
                <a:cubicBezTo>
                  <a:pt x="1257" y="721"/>
                  <a:pt x="1245" y="728"/>
                  <a:pt x="1232" y="734"/>
                </a:cubicBezTo>
                <a:cubicBezTo>
                  <a:pt x="1219" y="739"/>
                  <a:pt x="1206" y="742"/>
                  <a:pt x="1192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CuadroTexto 661"/>
          <p:cNvSpPr txBox="1"/>
          <p:nvPr/>
        </p:nvSpPr>
        <p:spPr>
          <a:xfrm>
            <a:off x="869760" y="4087800"/>
            <a:ext cx="3654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Una capa gigante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todo en un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CuadroTexto 662"/>
          <p:cNvSpPr txBox="1"/>
          <p:nvPr/>
        </p:nvSpPr>
        <p:spPr>
          <a:xfrm>
            <a:off x="4581000" y="4124880"/>
            <a:ext cx="353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RUN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CuadroTexto 663"/>
          <p:cNvSpPr txBox="1"/>
          <p:nvPr/>
        </p:nvSpPr>
        <p:spPr>
          <a:xfrm>
            <a:off x="4989240" y="4087800"/>
            <a:ext cx="2868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la caché no puede ayudarte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CuadroTexto 664"/>
          <p:cNvSpPr txBox="1"/>
          <p:nvPr/>
        </p:nvSpPr>
        <p:spPr>
          <a:xfrm>
            <a:off x="866880" y="4727880"/>
            <a:ext cx="2402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# .dockerignore mínimo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CuadroTexto 665"/>
          <p:cNvSpPr txBox="1"/>
          <p:nvPr/>
        </p:nvSpPr>
        <p:spPr>
          <a:xfrm>
            <a:off x="866880" y="4994640"/>
            <a:ext cx="5132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.git/  .venv/  data/  __pycache__/  *.csv  .env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CuadroTexto 66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CuadroTexto 66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CuadroTexto 66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Forma libre 69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Forma libre 6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Forma libre 6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CuadroTexto 700"/>
          <p:cNvSpPr txBox="1"/>
          <p:nvPr/>
        </p:nvSpPr>
        <p:spPr>
          <a:xfrm>
            <a:off x="3225240" y="3063960"/>
            <a:ext cx="58701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8. Docker en biomedicina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CuadroTexto 70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CuadroTexto 70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CuadroTexto 70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Forma libre 70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Forma libre 70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Forma libre 70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Forma libre 707"/>
          <p:cNvSpPr/>
          <p:nvPr/>
        </p:nvSpPr>
        <p:spPr>
          <a:xfrm>
            <a:off x="666720" y="4657680"/>
            <a:ext cx="1108044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Forma libre 708"/>
          <p:cNvSpPr/>
          <p:nvPr/>
        </p:nvSpPr>
        <p:spPr>
          <a:xfrm>
            <a:off x="666720" y="465768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Forma libre 709"/>
          <p:cNvSpPr/>
          <p:nvPr/>
        </p:nvSpPr>
        <p:spPr>
          <a:xfrm>
            <a:off x="914040" y="20858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CuadroTexto 710"/>
          <p:cNvSpPr txBox="1"/>
          <p:nvPr/>
        </p:nvSpPr>
        <p:spPr>
          <a:xfrm>
            <a:off x="666720" y="1301400"/>
            <a:ext cx="47750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ecosistema ya es contenedores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Forma libre 711"/>
          <p:cNvSpPr/>
          <p:nvPr/>
        </p:nvSpPr>
        <p:spPr>
          <a:xfrm>
            <a:off x="8696160" y="1990440"/>
            <a:ext cx="1343520" cy="267120"/>
          </a:xfrm>
          <a:custGeom>
            <a:avLst/>
            <a:gdLst/>
            <a:ahLst/>
            <a:cxnLst/>
            <a:rect l="0" t="0" r="r" b="b"/>
            <a:pathLst>
              <a:path w="3732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2" y="14"/>
                  <a:pt x="65" y="8"/>
                </a:cubicBezTo>
                <a:cubicBezTo>
                  <a:pt x="78" y="3"/>
                  <a:pt x="93" y="0"/>
                  <a:pt x="107" y="0"/>
                </a:cubicBezTo>
                <a:lnTo>
                  <a:pt x="3732" y="0"/>
                </a:lnTo>
                <a:lnTo>
                  <a:pt x="3732" y="742"/>
                </a:lnTo>
                <a:lnTo>
                  <a:pt x="107" y="742"/>
                </a:lnTo>
                <a:cubicBezTo>
                  <a:pt x="93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CuadroTexto 712"/>
          <p:cNvSpPr txBox="1"/>
          <p:nvPr/>
        </p:nvSpPr>
        <p:spPr>
          <a:xfrm>
            <a:off x="1123920" y="1973160"/>
            <a:ext cx="7575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BioContainers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miles de herramientas bioinformáticas ya empaquetadas —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Forma libre 713"/>
          <p:cNvSpPr/>
          <p:nvPr/>
        </p:nvSpPr>
        <p:spPr>
          <a:xfrm>
            <a:off x="1123920" y="2333520"/>
            <a:ext cx="2629080" cy="267120"/>
          </a:xfrm>
          <a:custGeom>
            <a:avLst/>
            <a:gdLst/>
            <a:ahLst/>
            <a:cxnLst/>
            <a:rect l="0" t="0" r="r" b="b"/>
            <a:pathLst>
              <a:path w="7303" h="742">
                <a:moveTo>
                  <a:pt x="0" y="0"/>
                </a:moveTo>
                <a:lnTo>
                  <a:pt x="7197" y="0"/>
                </a:lnTo>
                <a:cubicBezTo>
                  <a:pt x="7211" y="0"/>
                  <a:pt x="7225" y="2"/>
                  <a:pt x="7238" y="8"/>
                </a:cubicBezTo>
                <a:cubicBezTo>
                  <a:pt x="7251" y="13"/>
                  <a:pt x="7262" y="21"/>
                  <a:pt x="7272" y="31"/>
                </a:cubicBezTo>
                <a:cubicBezTo>
                  <a:pt x="7282" y="41"/>
                  <a:pt x="7290" y="52"/>
                  <a:pt x="7295" y="65"/>
                </a:cubicBezTo>
                <a:cubicBezTo>
                  <a:pt x="7300" y="78"/>
                  <a:pt x="7303" y="92"/>
                  <a:pt x="7303" y="106"/>
                </a:cubicBezTo>
                <a:lnTo>
                  <a:pt x="7303" y="636"/>
                </a:lnTo>
                <a:cubicBezTo>
                  <a:pt x="7303" y="650"/>
                  <a:pt x="7300" y="663"/>
                  <a:pt x="7295" y="676"/>
                </a:cubicBezTo>
                <a:cubicBezTo>
                  <a:pt x="7290" y="689"/>
                  <a:pt x="7282" y="701"/>
                  <a:pt x="7272" y="711"/>
                </a:cubicBezTo>
                <a:cubicBezTo>
                  <a:pt x="7262" y="721"/>
                  <a:pt x="7251" y="728"/>
                  <a:pt x="7238" y="734"/>
                </a:cubicBezTo>
                <a:cubicBezTo>
                  <a:pt x="7225" y="739"/>
                  <a:pt x="7211" y="742"/>
                  <a:pt x="7197" y="742"/>
                </a:cubicBez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CuadroTexto 714"/>
          <p:cNvSpPr txBox="1"/>
          <p:nvPr/>
        </p:nvSpPr>
        <p:spPr>
          <a:xfrm>
            <a:off x="8755560" y="2010600"/>
            <a:ext cx="129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docker run 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CuadroTexto 715"/>
          <p:cNvSpPr txBox="1"/>
          <p:nvPr/>
        </p:nvSpPr>
        <p:spPr>
          <a:xfrm>
            <a:off x="1123920" y="2353320"/>
            <a:ext cx="2584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biocontainers/samtools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Forma libre 716"/>
          <p:cNvSpPr/>
          <p:nvPr/>
        </p:nvSpPr>
        <p:spPr>
          <a:xfrm>
            <a:off x="914040" y="28288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CuadroTexto 717"/>
          <p:cNvSpPr txBox="1"/>
          <p:nvPr/>
        </p:nvSpPr>
        <p:spPr>
          <a:xfrm>
            <a:off x="3754800" y="2315880"/>
            <a:ext cx="1157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a trabajar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CuadroTexto 718"/>
          <p:cNvSpPr txBox="1"/>
          <p:nvPr/>
        </p:nvSpPr>
        <p:spPr>
          <a:xfrm>
            <a:off x="1123920" y="2716200"/>
            <a:ext cx="9240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Nextﬂow / Snakemake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cada paso del pipeline corre en su contenedor; el pipeline entero 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Forma libre 719"/>
          <p:cNvSpPr/>
          <p:nvPr/>
        </p:nvSpPr>
        <p:spPr>
          <a:xfrm>
            <a:off x="914040" y="35715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CuadroTexto 720"/>
          <p:cNvSpPr txBox="1"/>
          <p:nvPr/>
        </p:nvSpPr>
        <p:spPr>
          <a:xfrm>
            <a:off x="1123920" y="3058920"/>
            <a:ext cx="2956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reproducible por construcción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Forma libre 721"/>
          <p:cNvSpPr/>
          <p:nvPr/>
        </p:nvSpPr>
        <p:spPr>
          <a:xfrm>
            <a:off x="914040" y="39718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CuadroTexto 722"/>
          <p:cNvSpPr txBox="1"/>
          <p:nvPr/>
        </p:nvSpPr>
        <p:spPr>
          <a:xfrm>
            <a:off x="1123920" y="3458880"/>
            <a:ext cx="8109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OHDSI Broadsea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(lo verán en s12): ATLAS + base OMOP, todo en contenedores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CuadroTexto 723"/>
          <p:cNvSpPr txBox="1"/>
          <p:nvPr/>
        </p:nvSpPr>
        <p:spPr>
          <a:xfrm>
            <a:off x="1123920" y="3859200"/>
            <a:ext cx="10082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Apptainer/Singularity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contenedores en el clúster HPC donde no eres root — convierte imágenes 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CuadroTexto 724"/>
          <p:cNvSpPr txBox="1"/>
          <p:nvPr/>
        </p:nvSpPr>
        <p:spPr>
          <a:xfrm>
            <a:off x="1123920" y="4201920"/>
            <a:ext cx="2058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Docker directamente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CuadroTexto 725"/>
          <p:cNvSpPr txBox="1"/>
          <p:nvPr/>
        </p:nvSpPr>
        <p:spPr>
          <a:xfrm>
            <a:off x="905040" y="4811400"/>
            <a:ext cx="10413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El artículo con pipeline containerizado es el que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sí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se puede reproducir cinco años después. Los revisores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CuadroTexto 726"/>
          <p:cNvSpPr txBox="1"/>
          <p:nvPr/>
        </p:nvSpPr>
        <p:spPr>
          <a:xfrm>
            <a:off x="905040" y="5154480"/>
            <a:ext cx="1186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ya lo saben.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CuadroTexto 72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CuadroTexto 72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CuadroTexto 72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Forma libre 73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Forma libre 7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Forma libre 7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CuadroTexto 733"/>
          <p:cNvSpPr txBox="1"/>
          <p:nvPr/>
        </p:nvSpPr>
        <p:spPr>
          <a:xfrm>
            <a:off x="666720" y="203472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CuadroTexto 734"/>
          <p:cNvSpPr txBox="1"/>
          <p:nvPr/>
        </p:nvSpPr>
        <p:spPr>
          <a:xfrm>
            <a:off x="869760" y="2706480"/>
            <a:ext cx="10335458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problema tiene tres niveles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paquetes, sistema, SO — y cada herramienta resuelve uno: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venv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CuadroTexto 735"/>
          <p:cNvSpPr txBox="1"/>
          <p:nvPr/>
        </p:nvSpPr>
        <p:spPr>
          <a:xfrm>
            <a:off x="1123920" y="3049560"/>
            <a:ext cx="1554528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conda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Docker.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CuadroTexto 736"/>
          <p:cNvSpPr txBox="1"/>
          <p:nvPr/>
        </p:nvSpPr>
        <p:spPr>
          <a:xfrm>
            <a:off x="869760" y="3544920"/>
            <a:ext cx="10657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Declarar no es congelar.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El lockﬁle es lo que hace que «instalar» signiﬁque lo mismo hoy y en dos años.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CuadroTexto 737"/>
          <p:cNvSpPr txBox="1"/>
          <p:nvPr/>
        </p:nvSpPr>
        <p:spPr>
          <a:xfrm>
            <a:off x="869760" y="4039920"/>
            <a:ext cx="10441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imagen es la receta ejecutable de tu entorno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dependencias arriba, código abajo, versión ﬁjada,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CuadroTexto 738"/>
          <p:cNvSpPr txBox="1"/>
          <p:nvPr/>
        </p:nvSpPr>
        <p:spPr>
          <a:xfrm>
            <a:off x="1123920" y="4383000"/>
            <a:ext cx="2210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sin secretos y sin root.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CuadroTexto 73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CuadroTexto 74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CuadroTexto 74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Forma libre 7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Forma libre 7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Forma libre 744"/>
          <p:cNvSpPr/>
          <p:nvPr/>
        </p:nvSpPr>
        <p:spPr>
          <a:xfrm>
            <a:off x="0" y="228168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CuadroTexto 747"/>
          <p:cNvSpPr txBox="1"/>
          <p:nvPr/>
        </p:nvSpPr>
        <p:spPr>
          <a:xfrm>
            <a:off x="666720" y="164448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Forma libre 748"/>
          <p:cNvSpPr/>
          <p:nvPr/>
        </p:nvSpPr>
        <p:spPr>
          <a:xfrm>
            <a:off x="666720" y="2885760"/>
            <a:ext cx="933480" cy="267120"/>
          </a:xfrm>
          <a:custGeom>
            <a:avLst/>
            <a:gdLst/>
            <a:ahLst/>
            <a:cxnLst/>
            <a:rect l="0" t="0" r="r" b="b"/>
            <a:pathLst>
              <a:path w="259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488" y="0"/>
                </a:lnTo>
                <a:cubicBezTo>
                  <a:pt x="2502" y="0"/>
                  <a:pt x="2515" y="3"/>
                  <a:pt x="2528" y="8"/>
                </a:cubicBezTo>
                <a:cubicBezTo>
                  <a:pt x="2541" y="14"/>
                  <a:pt x="2553" y="21"/>
                  <a:pt x="2563" y="31"/>
                </a:cubicBezTo>
                <a:cubicBezTo>
                  <a:pt x="2572" y="41"/>
                  <a:pt x="2580" y="53"/>
                  <a:pt x="2585" y="66"/>
                </a:cubicBezTo>
                <a:cubicBezTo>
                  <a:pt x="2591" y="79"/>
                  <a:pt x="2593" y="92"/>
                  <a:pt x="2593" y="106"/>
                </a:cubicBezTo>
                <a:lnTo>
                  <a:pt x="2593" y="636"/>
                </a:lnTo>
                <a:cubicBezTo>
                  <a:pt x="2593" y="650"/>
                  <a:pt x="2591" y="664"/>
                  <a:pt x="2585" y="677"/>
                </a:cubicBezTo>
                <a:cubicBezTo>
                  <a:pt x="2580" y="690"/>
                  <a:pt x="2572" y="701"/>
                  <a:pt x="2563" y="711"/>
                </a:cubicBezTo>
                <a:cubicBezTo>
                  <a:pt x="2553" y="721"/>
                  <a:pt x="2541" y="729"/>
                  <a:pt x="2528" y="734"/>
                </a:cubicBezTo>
                <a:cubicBezTo>
                  <a:pt x="2515" y="740"/>
                  <a:pt x="2502" y="742"/>
                  <a:pt x="2488" y="742"/>
                </a:cubicBezTo>
                <a:lnTo>
                  <a:pt x="105" y="742"/>
                </a:lnTo>
                <a:cubicBezTo>
                  <a:pt x="91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CuadroTexto 749"/>
          <p:cNvSpPr txBox="1"/>
          <p:nvPr/>
        </p:nvSpPr>
        <p:spPr>
          <a:xfrm>
            <a:off x="666720" y="2355480"/>
            <a:ext cx="39459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Containerizar tu paquete de análisis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CuadroTexto 750"/>
          <p:cNvSpPr txBox="1"/>
          <p:nvPr/>
        </p:nvSpPr>
        <p:spPr>
          <a:xfrm>
            <a:off x="723960" y="290592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clinlab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CuadroTexto 751"/>
          <p:cNvSpPr txBox="1"/>
          <p:nvPr/>
        </p:nvSpPr>
        <p:spPr>
          <a:xfrm>
            <a:off x="1600200" y="2868480"/>
            <a:ext cx="9492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(sesión 5) empaquetado: lockﬁle determinista, Dockerﬁle multi-stage &lt; 500 MB, usuario no-root,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CuadroTexto 752"/>
          <p:cNvSpPr txBox="1"/>
          <p:nvPr/>
        </p:nvSpPr>
        <p:spPr>
          <a:xfrm>
            <a:off x="666720" y="3211200"/>
            <a:ext cx="5679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escaneo documentado y publicación en ghcr.io desde CI.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Forma libre 753"/>
          <p:cNvSpPr/>
          <p:nvPr/>
        </p:nvSpPr>
        <p:spPr>
          <a:xfrm>
            <a:off x="666720" y="4219560"/>
            <a:ext cx="5734080" cy="266760"/>
          </a:xfrm>
          <a:custGeom>
            <a:avLst/>
            <a:gdLst/>
            <a:ahLst/>
            <a:cxnLst/>
            <a:rect l="0" t="0" r="r" b="b"/>
            <a:pathLst>
              <a:path w="15928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15823" y="0"/>
                </a:lnTo>
                <a:cubicBezTo>
                  <a:pt x="15837" y="0"/>
                  <a:pt x="15850" y="2"/>
                  <a:pt x="15863" y="8"/>
                </a:cubicBezTo>
                <a:cubicBezTo>
                  <a:pt x="15876" y="13"/>
                  <a:pt x="15888" y="21"/>
                  <a:pt x="15898" y="31"/>
                </a:cubicBezTo>
                <a:cubicBezTo>
                  <a:pt x="15907" y="40"/>
                  <a:pt x="15915" y="52"/>
                  <a:pt x="15920" y="65"/>
                </a:cubicBezTo>
                <a:cubicBezTo>
                  <a:pt x="15926" y="78"/>
                  <a:pt x="15928" y="91"/>
                  <a:pt x="15928" y="105"/>
                </a:cubicBezTo>
                <a:lnTo>
                  <a:pt x="15928" y="636"/>
                </a:lnTo>
                <a:cubicBezTo>
                  <a:pt x="15928" y="650"/>
                  <a:pt x="15926" y="663"/>
                  <a:pt x="15920" y="676"/>
                </a:cubicBezTo>
                <a:cubicBezTo>
                  <a:pt x="15915" y="689"/>
                  <a:pt x="15907" y="700"/>
                  <a:pt x="15898" y="710"/>
                </a:cubicBezTo>
                <a:cubicBezTo>
                  <a:pt x="15888" y="720"/>
                  <a:pt x="15876" y="728"/>
                  <a:pt x="15863" y="733"/>
                </a:cubicBezTo>
                <a:cubicBezTo>
                  <a:pt x="15850" y="739"/>
                  <a:pt x="15837" y="741"/>
                  <a:pt x="15823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CuadroTexto 754"/>
          <p:cNvSpPr txBox="1"/>
          <p:nvPr/>
        </p:nvSpPr>
        <p:spPr>
          <a:xfrm>
            <a:off x="666720" y="3706560"/>
            <a:ext cx="7845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Dockerﬁle + imagen publicada + tabla de tamaños antes/después.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CuadroTexto 755"/>
          <p:cNvSpPr txBox="1"/>
          <p:nvPr/>
        </p:nvSpPr>
        <p:spPr>
          <a:xfrm>
            <a:off x="723960" y="4239360"/>
            <a:ext cx="5637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labs/s06-ambientes-dependencias-docker/README.md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Forma libre 756"/>
          <p:cNvSpPr/>
          <p:nvPr/>
        </p:nvSpPr>
        <p:spPr>
          <a:xfrm>
            <a:off x="3933720" y="4829040"/>
            <a:ext cx="2343600" cy="267120"/>
          </a:xfrm>
          <a:custGeom>
            <a:avLst/>
            <a:gdLst/>
            <a:ahLst/>
            <a:cxnLst/>
            <a:rect l="0" t="0" r="r" b="b"/>
            <a:pathLst>
              <a:path w="6510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6404" y="0"/>
                </a:lnTo>
                <a:cubicBezTo>
                  <a:pt x="6418" y="0"/>
                  <a:pt x="6431" y="3"/>
                  <a:pt x="6444" y="8"/>
                </a:cubicBezTo>
                <a:cubicBezTo>
                  <a:pt x="6457" y="13"/>
                  <a:pt x="6469" y="21"/>
                  <a:pt x="6479" y="31"/>
                </a:cubicBezTo>
                <a:cubicBezTo>
                  <a:pt x="6488" y="41"/>
                  <a:pt x="6496" y="52"/>
                  <a:pt x="6501" y="65"/>
                </a:cubicBezTo>
                <a:cubicBezTo>
                  <a:pt x="6507" y="78"/>
                  <a:pt x="6510" y="92"/>
                  <a:pt x="6510" y="106"/>
                </a:cubicBezTo>
                <a:lnTo>
                  <a:pt x="6510" y="636"/>
                </a:lnTo>
                <a:cubicBezTo>
                  <a:pt x="6510" y="650"/>
                  <a:pt x="6507" y="663"/>
                  <a:pt x="6501" y="676"/>
                </a:cubicBezTo>
                <a:cubicBezTo>
                  <a:pt x="6496" y="689"/>
                  <a:pt x="6488" y="701"/>
                  <a:pt x="6479" y="711"/>
                </a:cubicBezTo>
                <a:cubicBezTo>
                  <a:pt x="6469" y="721"/>
                  <a:pt x="6457" y="728"/>
                  <a:pt x="6444" y="734"/>
                </a:cubicBezTo>
                <a:cubicBezTo>
                  <a:pt x="6431" y="739"/>
                  <a:pt x="6418" y="742"/>
                  <a:pt x="6404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CuadroTexto 76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CuadroTexto 76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CuadroTexto 76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Forma libre 76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Forma libre 7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Forma libre 76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CuadroTexto 766"/>
          <p:cNvSpPr txBox="1"/>
          <p:nvPr/>
        </p:nvSpPr>
        <p:spPr>
          <a:xfrm>
            <a:off x="4672800" y="248292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CuadroTexto 77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CuadroTexto 77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CuadroTexto 77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Words>2087</Words>
  <Application>Microsoft Macintosh PowerPoint</Application>
  <PresentationFormat>Panorámica</PresentationFormat>
  <Paragraphs>318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6" baseType="lpstr">
      <vt:lpstr>Arial</vt:lpstr>
      <vt:lpstr>HelveticaNeue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3</cp:revision>
  <dcterms:modified xsi:type="dcterms:W3CDTF">2026-08-28T14:52:44Z</dcterms:modified>
  <dc:language>es-ES</dc:language>
</cp:coreProperties>
</file>