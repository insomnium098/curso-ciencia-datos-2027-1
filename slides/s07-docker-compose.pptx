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2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41"/>
    <p:restoredTop sz="94658"/>
  </p:normalViewPr>
  <p:slideViewPr>
    <p:cSldViewPr snapToGrid="0">
      <p:cViewPr>
        <p:scale>
          <a:sx n="176" d="100"/>
          <a:sy n="176" d="100"/>
        </p:scale>
        <p:origin x="84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Forma libre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orma libre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666720" y="2904840"/>
            <a:ext cx="10858680" cy="38520"/>
          </a:xfrm>
          <a:custGeom>
            <a:avLst/>
            <a:gdLst/>
            <a:ahLst/>
            <a:cxnLst/>
            <a:rect l="0" t="0" r="r" b="b"/>
            <a:pathLst>
              <a:path w="30163" h="107">
                <a:moveTo>
                  <a:pt x="0" y="0"/>
                </a:moveTo>
                <a:lnTo>
                  <a:pt x="30163" y="0"/>
                </a:lnTo>
                <a:lnTo>
                  <a:pt x="301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66720" y="2203920"/>
            <a:ext cx="20509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37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07</a:t>
            </a:r>
            <a:endParaRPr lang="es-E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666720" y="3187440"/>
            <a:ext cx="6514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Docker Compose y Servicios Multi-contenedor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66720" y="3868560"/>
            <a:ext cx="5501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Bloque II — Ingeniería de software para cientíﬁcos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66720" y="4363920"/>
            <a:ext cx="623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Dr. Antonio Daniel Martínez Gutiérrez Semestre 2027-1 · 1:30 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a libre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Forma libre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Forma libre 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666720" y="2101680"/>
            <a:ext cx="304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Objetivos de la sesión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666720" y="2773080"/>
            <a:ext cx="385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 esta sesión serás capaz de: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69760" y="3268440"/>
            <a:ext cx="7516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Orquestar varios servicios interdependientes con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archivo declarativo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869760" y="3668400"/>
            <a:ext cx="6652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Conectar contenedores por red y persistir datos con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volúmenes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Forma libre 22"/>
          <p:cNvSpPr/>
          <p:nvPr/>
        </p:nvSpPr>
        <p:spPr>
          <a:xfrm>
            <a:off x="8057880" y="4086000"/>
            <a:ext cx="1286280" cy="267120"/>
          </a:xfrm>
          <a:custGeom>
            <a:avLst/>
            <a:gdLst/>
            <a:ahLst/>
            <a:cxnLst/>
            <a:rect l="0" t="0" r="r" b="b"/>
            <a:pathLst>
              <a:path w="357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5" y="3"/>
                  <a:pt x="3508" y="8"/>
                </a:cubicBezTo>
                <a:cubicBezTo>
                  <a:pt x="3521" y="14"/>
                  <a:pt x="3532" y="21"/>
                  <a:pt x="3542" y="31"/>
                </a:cubicBezTo>
                <a:cubicBezTo>
                  <a:pt x="3552" y="41"/>
                  <a:pt x="3560" y="52"/>
                  <a:pt x="3565" y="65"/>
                </a:cubicBezTo>
                <a:cubicBezTo>
                  <a:pt x="3570" y="78"/>
                  <a:pt x="3573" y="92"/>
                  <a:pt x="3573" y="106"/>
                </a:cubicBezTo>
                <a:lnTo>
                  <a:pt x="3573" y="636"/>
                </a:lnTo>
                <a:cubicBezTo>
                  <a:pt x="3573" y="650"/>
                  <a:pt x="3570" y="664"/>
                  <a:pt x="3565" y="677"/>
                </a:cubicBezTo>
                <a:cubicBezTo>
                  <a:pt x="3560" y="690"/>
                  <a:pt x="3552" y="701"/>
                  <a:pt x="3542" y="711"/>
                </a:cubicBezTo>
                <a:cubicBezTo>
                  <a:pt x="3532" y="721"/>
                  <a:pt x="3521" y="729"/>
                  <a:pt x="3508" y="734"/>
                </a:cubicBezTo>
                <a:cubicBezTo>
                  <a:pt x="3495" y="739"/>
                  <a:pt x="3481" y="742"/>
                  <a:pt x="3467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869760" y="4068720"/>
            <a:ext cx="7200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Controlar el orden de arranque con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healthchecks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y saber por qué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8118000" y="410580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depends_on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9345240" y="4068720"/>
            <a:ext cx="923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no basta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869760" y="4468680"/>
            <a:ext cx="8241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Separar conﬁguración de código y manejar secretos sin horneárselos a la imagen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CuadroTexto 2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orma libre 3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Forma libre 3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Forma libre 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Forma libre 33"/>
          <p:cNvSpPr/>
          <p:nvPr/>
        </p:nvSpPr>
        <p:spPr>
          <a:xfrm>
            <a:off x="666720" y="511488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Forma libre 34"/>
          <p:cNvSpPr/>
          <p:nvPr/>
        </p:nvSpPr>
        <p:spPr>
          <a:xfrm>
            <a:off x="666720" y="511488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666720" y="1187280"/>
            <a:ext cx="108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Agenda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869760" y="1858680"/>
            <a:ext cx="3405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Del contenedor único al sistema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Forma libre 37"/>
          <p:cNvSpPr/>
          <p:nvPr/>
        </p:nvSpPr>
        <p:spPr>
          <a:xfrm>
            <a:off x="2428560" y="2276280"/>
            <a:ext cx="1410120" cy="267120"/>
          </a:xfrm>
          <a:custGeom>
            <a:avLst/>
            <a:gdLst/>
            <a:ahLst/>
            <a:cxnLst/>
            <a:rect l="0" t="0" r="r" b="b"/>
            <a:pathLst>
              <a:path w="3917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811" y="0"/>
                </a:lnTo>
                <a:cubicBezTo>
                  <a:pt x="3825" y="0"/>
                  <a:pt x="3839" y="3"/>
                  <a:pt x="3852" y="8"/>
                </a:cubicBezTo>
                <a:cubicBezTo>
                  <a:pt x="3865" y="13"/>
                  <a:pt x="3876" y="21"/>
                  <a:pt x="3886" y="31"/>
                </a:cubicBezTo>
                <a:cubicBezTo>
                  <a:pt x="3896" y="41"/>
                  <a:pt x="3904" y="52"/>
                  <a:pt x="3909" y="65"/>
                </a:cubicBezTo>
                <a:cubicBezTo>
                  <a:pt x="3915" y="78"/>
                  <a:pt x="3917" y="92"/>
                  <a:pt x="3917" y="106"/>
                </a:cubicBezTo>
                <a:lnTo>
                  <a:pt x="3917" y="635"/>
                </a:lnTo>
                <a:cubicBezTo>
                  <a:pt x="3917" y="649"/>
                  <a:pt x="3915" y="663"/>
                  <a:pt x="3909" y="676"/>
                </a:cubicBezTo>
                <a:cubicBezTo>
                  <a:pt x="3904" y="689"/>
                  <a:pt x="3896" y="700"/>
                  <a:pt x="3886" y="711"/>
                </a:cubicBezTo>
                <a:cubicBezTo>
                  <a:pt x="3876" y="721"/>
                  <a:pt x="3865" y="728"/>
                  <a:pt x="3852" y="734"/>
                </a:cubicBezTo>
                <a:cubicBezTo>
                  <a:pt x="3839" y="739"/>
                  <a:pt x="3825" y="742"/>
                  <a:pt x="3811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0"/>
                  <a:pt x="14" y="689"/>
                  <a:pt x="8" y="676"/>
                </a:cubicBezTo>
                <a:cubicBezTo>
                  <a:pt x="3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CuadroTexto 38"/>
          <p:cNvSpPr txBox="1"/>
          <p:nvPr/>
        </p:nvSpPr>
        <p:spPr>
          <a:xfrm>
            <a:off x="869760" y="2259000"/>
            <a:ext cx="1563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Anatomía de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2489760" y="2296080"/>
            <a:ext cx="1292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compose.yml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869760" y="2658960"/>
            <a:ext cx="4434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Redes: los servicios se hablan por nombre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869760" y="3058920"/>
            <a:ext cx="4090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Persistencia: volúmenes y bind mounts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CuadroTexto 42"/>
          <p:cNvSpPr txBox="1"/>
          <p:nvPr/>
        </p:nvSpPr>
        <p:spPr>
          <a:xfrm>
            <a:off x="869760" y="3458880"/>
            <a:ext cx="2880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Orden de arranque y salud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869760" y="3859200"/>
            <a:ext cx="2694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 Conﬁguración y secretos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CuadroTexto 44"/>
          <p:cNvSpPr txBox="1"/>
          <p:nvPr/>
        </p:nvSpPr>
        <p:spPr>
          <a:xfrm>
            <a:off x="869760" y="4259160"/>
            <a:ext cx="2092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7. Perﬁles y overrides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CuadroTexto 45"/>
          <p:cNvSpPr txBox="1"/>
          <p:nvPr/>
        </p:nvSpPr>
        <p:spPr>
          <a:xfrm>
            <a:off x="869760" y="4659120"/>
            <a:ext cx="1864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8. Operación diaria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CuadroTexto 46"/>
          <p:cNvSpPr txBox="1"/>
          <p:nvPr/>
        </p:nvSpPr>
        <p:spPr>
          <a:xfrm>
            <a:off x="905040" y="5268600"/>
            <a:ext cx="6085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levantar un stack clínico completo, escrito por ti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orma libre 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Forma libre 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Forma libre 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2214720" y="3063960"/>
            <a:ext cx="79444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Del contenedor único al sistema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CuadroTexto 5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CuadroTexto 5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orma libre 5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Forma libre 5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Forma libre 5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CuadroTexto 60"/>
          <p:cNvSpPr txBox="1"/>
          <p:nvPr/>
        </p:nvSpPr>
        <p:spPr>
          <a:xfrm>
            <a:off x="666720" y="1682280"/>
            <a:ext cx="63450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Una aplicación real nunca es un solo proceso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Forma libre 61"/>
          <p:cNvSpPr/>
          <p:nvPr/>
        </p:nvSpPr>
        <p:spPr>
          <a:xfrm>
            <a:off x="914040" y="29620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CuadroTexto 62"/>
          <p:cNvSpPr txBox="1"/>
          <p:nvPr/>
        </p:nvSpPr>
        <p:spPr>
          <a:xfrm>
            <a:off x="666720" y="2354040"/>
            <a:ext cx="4679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 que necesita un análisis clínico reproducible: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Forma libre 63"/>
          <p:cNvSpPr/>
          <p:nvPr/>
        </p:nvSpPr>
        <p:spPr>
          <a:xfrm>
            <a:off x="914040" y="33620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CuadroTexto 64"/>
          <p:cNvSpPr txBox="1"/>
          <p:nvPr/>
        </p:nvSpPr>
        <p:spPr>
          <a:xfrm>
            <a:off x="1123920" y="2849400"/>
            <a:ext cx="3224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base de datos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 el CDM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Forma libre 65"/>
          <p:cNvSpPr/>
          <p:nvPr/>
        </p:nvSpPr>
        <p:spPr>
          <a:xfrm>
            <a:off x="914040" y="37623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3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3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CuadroTexto 66"/>
          <p:cNvSpPr txBox="1"/>
          <p:nvPr/>
        </p:nvSpPr>
        <p:spPr>
          <a:xfrm>
            <a:off x="1123920" y="3249360"/>
            <a:ext cx="3955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notebook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o una API que la consulte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Forma libre 67"/>
          <p:cNvSpPr/>
          <p:nvPr/>
        </p:nvSpPr>
        <p:spPr>
          <a:xfrm>
            <a:off x="914040" y="41623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1123920" y="3649680"/>
            <a:ext cx="3937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cliente web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para explorar las tablas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CuadroTexto 69"/>
          <p:cNvSpPr txBox="1"/>
          <p:nvPr/>
        </p:nvSpPr>
        <p:spPr>
          <a:xfrm>
            <a:off x="1123920" y="4049640"/>
            <a:ext cx="5332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 veces: caché, cola de trabajos, servidor de modelos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Forma libre 70"/>
          <p:cNvSpPr/>
          <p:nvPr/>
        </p:nvSpPr>
        <p:spPr>
          <a:xfrm>
            <a:off x="3400200" y="4562280"/>
            <a:ext cx="1286280" cy="267120"/>
          </a:xfrm>
          <a:custGeom>
            <a:avLst/>
            <a:gdLst/>
            <a:ahLst/>
            <a:cxnLst/>
            <a:rect l="0" t="0" r="r" b="b"/>
            <a:pathLst>
              <a:path w="357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5" y="3"/>
                  <a:pt x="3508" y="8"/>
                </a:cubicBezTo>
                <a:cubicBezTo>
                  <a:pt x="3521" y="13"/>
                  <a:pt x="3532" y="21"/>
                  <a:pt x="3542" y="31"/>
                </a:cubicBezTo>
                <a:cubicBezTo>
                  <a:pt x="3552" y="41"/>
                  <a:pt x="3560" y="52"/>
                  <a:pt x="3565" y="65"/>
                </a:cubicBezTo>
                <a:cubicBezTo>
                  <a:pt x="3570" y="78"/>
                  <a:pt x="3573" y="92"/>
                  <a:pt x="3573" y="106"/>
                </a:cubicBezTo>
                <a:lnTo>
                  <a:pt x="3573" y="636"/>
                </a:lnTo>
                <a:cubicBezTo>
                  <a:pt x="3573" y="650"/>
                  <a:pt x="3570" y="664"/>
                  <a:pt x="3565" y="677"/>
                </a:cubicBezTo>
                <a:cubicBezTo>
                  <a:pt x="3560" y="690"/>
                  <a:pt x="3552" y="701"/>
                  <a:pt x="3542" y="711"/>
                </a:cubicBezTo>
                <a:cubicBezTo>
                  <a:pt x="3532" y="721"/>
                  <a:pt x="3521" y="728"/>
                  <a:pt x="3508" y="734"/>
                </a:cubicBezTo>
                <a:cubicBezTo>
                  <a:pt x="3495" y="739"/>
                  <a:pt x="3481" y="742"/>
                  <a:pt x="3467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CuadroTexto 71"/>
          <p:cNvSpPr txBox="1"/>
          <p:nvPr/>
        </p:nvSpPr>
        <p:spPr>
          <a:xfrm>
            <a:off x="666720" y="4545000"/>
            <a:ext cx="2741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Hacerlo a mano son cuatro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CuadroTexto 72"/>
          <p:cNvSpPr txBox="1"/>
          <p:nvPr/>
        </p:nvSpPr>
        <p:spPr>
          <a:xfrm>
            <a:off x="3459960" y="458208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docker run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CuadroTexto 73"/>
          <p:cNvSpPr txBox="1"/>
          <p:nvPr/>
        </p:nvSpPr>
        <p:spPr>
          <a:xfrm>
            <a:off x="4687200" y="4545000"/>
            <a:ext cx="6730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 banderas largas, en el orden correcto, recordando los nombres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CuadroTexto 74"/>
          <p:cNvSpPr txBox="1"/>
          <p:nvPr/>
        </p:nvSpPr>
        <p:spPr>
          <a:xfrm>
            <a:off x="666720" y="4887720"/>
            <a:ext cx="3155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 red y los puertos.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Cada vez.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CuadroTexto 7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CuadroTexto 7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CuadroTexto 77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orma libre 7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Forma libre 7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Forma libre 80"/>
          <p:cNvSpPr/>
          <p:nvPr/>
        </p:nvSpPr>
        <p:spPr>
          <a:xfrm>
            <a:off x="0" y="208372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Forma libre 81"/>
          <p:cNvSpPr/>
          <p:nvPr/>
        </p:nvSpPr>
        <p:spPr>
          <a:xfrm>
            <a:off x="671400" y="237636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7"/>
                  <a:pt x="30103" y="2267"/>
                </a:cubicBezTo>
                <a:cubicBezTo>
                  <a:pt x="30096" y="2278"/>
                  <a:pt x="30088" y="2288"/>
                  <a:pt x="30079" y="2298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29"/>
                  <a:pt x="30026" y="2336"/>
                  <a:pt x="30014" y="2341"/>
                </a:cubicBezTo>
                <a:cubicBezTo>
                  <a:pt x="30002" y="2346"/>
                  <a:pt x="29990" y="2349"/>
                  <a:pt x="29977" y="2352"/>
                </a:cubicBezTo>
                <a:cubicBezTo>
                  <a:pt x="29964" y="2354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4"/>
                  <a:pt x="160" y="2352"/>
                </a:cubicBezTo>
                <a:cubicBezTo>
                  <a:pt x="147" y="2349"/>
                  <a:pt x="134" y="2346"/>
                  <a:pt x="122" y="2341"/>
                </a:cubicBezTo>
                <a:cubicBezTo>
                  <a:pt x="110" y="2336"/>
                  <a:pt x="99" y="2329"/>
                  <a:pt x="88" y="2322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7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Forma libre 82"/>
          <p:cNvSpPr/>
          <p:nvPr/>
        </p:nvSpPr>
        <p:spPr>
          <a:xfrm>
            <a:off x="671400" y="237636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7"/>
                  <a:pt x="30103" y="2267"/>
                </a:cubicBezTo>
                <a:cubicBezTo>
                  <a:pt x="30096" y="2278"/>
                  <a:pt x="30088" y="2288"/>
                  <a:pt x="30079" y="2298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29"/>
                  <a:pt x="30026" y="2336"/>
                  <a:pt x="30014" y="2341"/>
                </a:cubicBezTo>
                <a:cubicBezTo>
                  <a:pt x="30002" y="2346"/>
                  <a:pt x="29990" y="2349"/>
                  <a:pt x="29977" y="2352"/>
                </a:cubicBezTo>
                <a:cubicBezTo>
                  <a:pt x="29964" y="2354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4"/>
                  <a:pt x="160" y="2352"/>
                </a:cubicBezTo>
                <a:cubicBezTo>
                  <a:pt x="147" y="2349"/>
                  <a:pt x="134" y="2346"/>
                  <a:pt x="122" y="2341"/>
                </a:cubicBezTo>
                <a:cubicBezTo>
                  <a:pt x="110" y="2336"/>
                  <a:pt x="99" y="2329"/>
                  <a:pt x="88" y="2322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7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Forma libre 83"/>
          <p:cNvSpPr/>
          <p:nvPr/>
        </p:nvSpPr>
        <p:spPr>
          <a:xfrm>
            <a:off x="666720" y="421956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Forma libre 84"/>
          <p:cNvSpPr/>
          <p:nvPr/>
        </p:nvSpPr>
        <p:spPr>
          <a:xfrm>
            <a:off x="666720" y="421956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CuadroTexto 85"/>
          <p:cNvSpPr txBox="1"/>
          <p:nvPr/>
        </p:nvSpPr>
        <p:spPr>
          <a:xfrm>
            <a:off x="666720" y="1739520"/>
            <a:ext cx="54846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Compose: infraestructura como código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CuadroTexto 86"/>
          <p:cNvSpPr txBox="1"/>
          <p:nvPr/>
        </p:nvSpPr>
        <p:spPr>
          <a:xfrm>
            <a:off x="866880" y="2556360"/>
            <a:ext cx="6551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docker compose up -d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levanta TODO, en orden, conectado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CuadroTexto 87"/>
          <p:cNvSpPr txBox="1"/>
          <p:nvPr/>
        </p:nvSpPr>
        <p:spPr>
          <a:xfrm>
            <a:off x="866880" y="2822760"/>
            <a:ext cx="48049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docker compose down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y lo apaga limpio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Forma libre 88"/>
          <p:cNvSpPr/>
          <p:nvPr/>
        </p:nvSpPr>
        <p:spPr>
          <a:xfrm>
            <a:off x="1780920" y="3438360"/>
            <a:ext cx="1400760" cy="267120"/>
          </a:xfrm>
          <a:custGeom>
            <a:avLst/>
            <a:gdLst/>
            <a:ahLst/>
            <a:cxnLst/>
            <a:rect l="0" t="0" r="r" b="b"/>
            <a:pathLst>
              <a:path w="389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785" y="0"/>
                </a:lnTo>
                <a:cubicBezTo>
                  <a:pt x="3799" y="0"/>
                  <a:pt x="3812" y="3"/>
                  <a:pt x="3825" y="8"/>
                </a:cubicBezTo>
                <a:cubicBezTo>
                  <a:pt x="3838" y="13"/>
                  <a:pt x="3850" y="21"/>
                  <a:pt x="3860" y="31"/>
                </a:cubicBezTo>
                <a:cubicBezTo>
                  <a:pt x="3870" y="41"/>
                  <a:pt x="3877" y="52"/>
                  <a:pt x="3883" y="65"/>
                </a:cubicBezTo>
                <a:cubicBezTo>
                  <a:pt x="3888" y="78"/>
                  <a:pt x="3891" y="92"/>
                  <a:pt x="3891" y="106"/>
                </a:cubicBezTo>
                <a:lnTo>
                  <a:pt x="3891" y="636"/>
                </a:lnTo>
                <a:cubicBezTo>
                  <a:pt x="3891" y="650"/>
                  <a:pt x="3888" y="663"/>
                  <a:pt x="3883" y="676"/>
                </a:cubicBezTo>
                <a:cubicBezTo>
                  <a:pt x="3877" y="689"/>
                  <a:pt x="3870" y="701"/>
                  <a:pt x="3860" y="711"/>
                </a:cubicBezTo>
                <a:cubicBezTo>
                  <a:pt x="3850" y="721"/>
                  <a:pt x="3838" y="728"/>
                  <a:pt x="3825" y="734"/>
                </a:cubicBezTo>
                <a:cubicBezTo>
                  <a:pt x="3812" y="739"/>
                  <a:pt x="3799" y="742"/>
                  <a:pt x="3785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CuadroTexto 89"/>
          <p:cNvSpPr txBox="1"/>
          <p:nvPr/>
        </p:nvSpPr>
        <p:spPr>
          <a:xfrm>
            <a:off x="666720" y="3421080"/>
            <a:ext cx="1114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archivo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CuadroTexto 90"/>
          <p:cNvSpPr txBox="1"/>
          <p:nvPr/>
        </p:nvSpPr>
        <p:spPr>
          <a:xfrm>
            <a:off x="1833480" y="3458160"/>
            <a:ext cx="1292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compose.yml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CuadroTexto 91"/>
          <p:cNvSpPr txBox="1"/>
          <p:nvPr/>
        </p:nvSpPr>
        <p:spPr>
          <a:xfrm>
            <a:off x="3177720" y="3421080"/>
            <a:ext cx="8101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versionado en git describe el sistema completo: qué servicios, con qué imágenes,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CuadroTexto 92"/>
          <p:cNvSpPr txBox="1"/>
          <p:nvPr/>
        </p:nvSpPr>
        <p:spPr>
          <a:xfrm>
            <a:off x="666720" y="3763800"/>
            <a:ext cx="4311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qué puertos, qué volúmenes, en qué orden.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Forma libre 93"/>
          <p:cNvSpPr/>
          <p:nvPr/>
        </p:nvSpPr>
        <p:spPr>
          <a:xfrm>
            <a:off x="3714480" y="4390920"/>
            <a:ext cx="1753200" cy="267120"/>
          </a:xfrm>
          <a:custGeom>
            <a:avLst/>
            <a:gdLst/>
            <a:ahLst/>
            <a:cxnLst/>
            <a:rect l="0" t="0" r="r" b="b"/>
            <a:pathLst>
              <a:path w="4870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4764" y="0"/>
                </a:lnTo>
                <a:cubicBezTo>
                  <a:pt x="4778" y="0"/>
                  <a:pt x="4791" y="2"/>
                  <a:pt x="4804" y="8"/>
                </a:cubicBezTo>
                <a:cubicBezTo>
                  <a:pt x="4817" y="14"/>
                  <a:pt x="4829" y="22"/>
                  <a:pt x="4839" y="32"/>
                </a:cubicBezTo>
                <a:cubicBezTo>
                  <a:pt x="4849" y="42"/>
                  <a:pt x="4856" y="53"/>
                  <a:pt x="4862" y="66"/>
                </a:cubicBezTo>
                <a:cubicBezTo>
                  <a:pt x="4867" y="79"/>
                  <a:pt x="4870" y="93"/>
                  <a:pt x="4870" y="107"/>
                </a:cubicBezTo>
                <a:lnTo>
                  <a:pt x="4870" y="636"/>
                </a:lnTo>
                <a:cubicBezTo>
                  <a:pt x="4870" y="650"/>
                  <a:pt x="4867" y="663"/>
                  <a:pt x="4862" y="676"/>
                </a:cubicBezTo>
                <a:cubicBezTo>
                  <a:pt x="4856" y="689"/>
                  <a:pt x="4849" y="701"/>
                  <a:pt x="4839" y="711"/>
                </a:cubicBezTo>
                <a:cubicBezTo>
                  <a:pt x="4829" y="721"/>
                  <a:pt x="4817" y="728"/>
                  <a:pt x="4804" y="734"/>
                </a:cubicBezTo>
                <a:cubicBezTo>
                  <a:pt x="4791" y="739"/>
                  <a:pt x="4778" y="742"/>
                  <a:pt x="4764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905040" y="4373280"/>
            <a:ext cx="2811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Es el mismo salto que dio el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3823200" y="4394520"/>
            <a:ext cx="1644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pyproject.toml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CuadroTexto 96"/>
          <p:cNvSpPr txBox="1"/>
          <p:nvPr/>
        </p:nvSpPr>
        <p:spPr>
          <a:xfrm>
            <a:off x="5468400" y="4373280"/>
            <a:ext cx="5874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en la sesión 5: pasar de comandos que hay que recordar 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CuadroTexto 97"/>
          <p:cNvSpPr txBox="1"/>
          <p:nvPr/>
        </p:nvSpPr>
        <p:spPr>
          <a:xfrm>
            <a:off x="905040" y="4716360"/>
            <a:ext cx="3586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una declaración que se versiona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CuadroTexto 9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CuadroTexto 9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CuadroTexto 100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orma libre 1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Forma libre 1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Forma libre 103"/>
          <p:cNvSpPr/>
          <p:nvPr/>
        </p:nvSpPr>
        <p:spPr>
          <a:xfrm>
            <a:off x="0" y="21420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Forma libre 104"/>
          <p:cNvSpPr/>
          <p:nvPr/>
        </p:nvSpPr>
        <p:spPr>
          <a:xfrm>
            <a:off x="6167227" y="3065040"/>
            <a:ext cx="3686400" cy="619560"/>
          </a:xfrm>
          <a:custGeom>
            <a:avLst/>
            <a:gdLst/>
            <a:ahLst/>
            <a:cxnLst/>
            <a:rect l="0" t="0" r="r" b="b"/>
            <a:pathLst>
              <a:path w="10240" h="1721">
                <a:moveTo>
                  <a:pt x="0" y="161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0135" y="0"/>
                </a:lnTo>
                <a:cubicBezTo>
                  <a:pt x="10149" y="0"/>
                  <a:pt x="10162" y="3"/>
                  <a:pt x="10175" y="8"/>
                </a:cubicBezTo>
                <a:cubicBezTo>
                  <a:pt x="10188" y="14"/>
                  <a:pt x="10200" y="21"/>
                  <a:pt x="10209" y="31"/>
                </a:cubicBezTo>
                <a:cubicBezTo>
                  <a:pt x="10219" y="41"/>
                  <a:pt x="10227" y="52"/>
                  <a:pt x="10232" y="65"/>
                </a:cubicBezTo>
                <a:cubicBezTo>
                  <a:pt x="10238" y="78"/>
                  <a:pt x="10240" y="92"/>
                  <a:pt x="10240" y="106"/>
                </a:cubicBezTo>
                <a:lnTo>
                  <a:pt x="10240" y="1615"/>
                </a:lnTo>
                <a:cubicBezTo>
                  <a:pt x="10240" y="1629"/>
                  <a:pt x="10238" y="1643"/>
                  <a:pt x="10232" y="1656"/>
                </a:cubicBezTo>
                <a:cubicBezTo>
                  <a:pt x="10227" y="1669"/>
                  <a:pt x="10219" y="1680"/>
                  <a:pt x="10209" y="1690"/>
                </a:cubicBezTo>
                <a:cubicBezTo>
                  <a:pt x="10200" y="1700"/>
                  <a:pt x="10188" y="1707"/>
                  <a:pt x="10175" y="1713"/>
                </a:cubicBezTo>
                <a:cubicBezTo>
                  <a:pt x="10162" y="1718"/>
                  <a:pt x="10149" y="1721"/>
                  <a:pt x="10135" y="1721"/>
                </a:cubicBezTo>
                <a:lnTo>
                  <a:pt x="106" y="1721"/>
                </a:lnTo>
                <a:cubicBezTo>
                  <a:pt x="92" y="1721"/>
                  <a:pt x="78" y="1718"/>
                  <a:pt x="65" y="1713"/>
                </a:cubicBezTo>
                <a:cubicBezTo>
                  <a:pt x="52" y="1707"/>
                  <a:pt x="41" y="1700"/>
                  <a:pt x="31" y="1690"/>
                </a:cubicBezTo>
                <a:cubicBezTo>
                  <a:pt x="21" y="1680"/>
                  <a:pt x="14" y="1669"/>
                  <a:pt x="8" y="1656"/>
                </a:cubicBezTo>
                <a:cubicBezTo>
                  <a:pt x="3" y="1643"/>
                  <a:pt x="0" y="1629"/>
                  <a:pt x="0" y="161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CuadroTexto 105"/>
          <p:cNvSpPr txBox="1"/>
          <p:nvPr/>
        </p:nvSpPr>
        <p:spPr>
          <a:xfrm>
            <a:off x="2469240" y="3054600"/>
            <a:ext cx="36471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 dirty="0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Anatomía de </a:t>
            </a:r>
            <a:endParaRPr lang="es-ES" sz="4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CuadroTexto 106"/>
          <p:cNvSpPr txBox="1"/>
          <p:nvPr/>
        </p:nvSpPr>
        <p:spPr>
          <a:xfrm>
            <a:off x="6243907" y="3021120"/>
            <a:ext cx="3533040" cy="622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compose.yml</a:t>
            </a:r>
            <a:endParaRPr lang="es-ES" sz="4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CuadroTexto 10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CuadroTexto 10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CuadroTexto 109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orma libre 11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Forma libre 11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Forma libre 11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Forma libre 113"/>
          <p:cNvSpPr/>
          <p:nvPr/>
        </p:nvSpPr>
        <p:spPr>
          <a:xfrm>
            <a:off x="671400" y="1500120"/>
            <a:ext cx="10849320" cy="4515120"/>
          </a:xfrm>
          <a:custGeom>
            <a:avLst/>
            <a:gdLst/>
            <a:ahLst/>
            <a:cxnLst/>
            <a:rect l="0" t="0" r="r" b="b"/>
            <a:pathLst>
              <a:path w="30137" h="12542">
                <a:moveTo>
                  <a:pt x="0" y="12343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2343"/>
                </a:lnTo>
                <a:cubicBezTo>
                  <a:pt x="30137" y="12357"/>
                  <a:pt x="30136" y="12369"/>
                  <a:pt x="30133" y="12382"/>
                </a:cubicBezTo>
                <a:cubicBezTo>
                  <a:pt x="30130" y="12395"/>
                  <a:pt x="30127" y="12407"/>
                  <a:pt x="30122" y="12419"/>
                </a:cubicBezTo>
                <a:cubicBezTo>
                  <a:pt x="30117" y="12431"/>
                  <a:pt x="30111" y="12443"/>
                  <a:pt x="30103" y="12454"/>
                </a:cubicBezTo>
                <a:cubicBezTo>
                  <a:pt x="30096" y="12465"/>
                  <a:pt x="30088" y="12475"/>
                  <a:pt x="30079" y="12484"/>
                </a:cubicBezTo>
                <a:cubicBezTo>
                  <a:pt x="30070" y="12493"/>
                  <a:pt x="30059" y="12501"/>
                  <a:pt x="30049" y="12508"/>
                </a:cubicBezTo>
                <a:cubicBezTo>
                  <a:pt x="30038" y="12516"/>
                  <a:pt x="30026" y="12522"/>
                  <a:pt x="30014" y="12527"/>
                </a:cubicBezTo>
                <a:cubicBezTo>
                  <a:pt x="30002" y="12532"/>
                  <a:pt x="29990" y="12536"/>
                  <a:pt x="29977" y="12538"/>
                </a:cubicBezTo>
                <a:cubicBezTo>
                  <a:pt x="29964" y="12541"/>
                  <a:pt x="29951" y="12542"/>
                  <a:pt x="29938" y="12542"/>
                </a:cubicBezTo>
                <a:lnTo>
                  <a:pt x="198" y="12542"/>
                </a:lnTo>
                <a:cubicBezTo>
                  <a:pt x="185" y="12542"/>
                  <a:pt x="172" y="12541"/>
                  <a:pt x="160" y="12538"/>
                </a:cubicBezTo>
                <a:cubicBezTo>
                  <a:pt x="147" y="12536"/>
                  <a:pt x="134" y="12532"/>
                  <a:pt x="122" y="12527"/>
                </a:cubicBezTo>
                <a:cubicBezTo>
                  <a:pt x="110" y="12522"/>
                  <a:pt x="99" y="12516"/>
                  <a:pt x="88" y="12508"/>
                </a:cubicBezTo>
                <a:cubicBezTo>
                  <a:pt x="77" y="12501"/>
                  <a:pt x="67" y="12493"/>
                  <a:pt x="58" y="12484"/>
                </a:cubicBezTo>
                <a:cubicBezTo>
                  <a:pt x="49" y="12475"/>
                  <a:pt x="40" y="12465"/>
                  <a:pt x="33" y="12454"/>
                </a:cubicBezTo>
                <a:cubicBezTo>
                  <a:pt x="26" y="12443"/>
                  <a:pt x="20" y="12431"/>
                  <a:pt x="15" y="12419"/>
                </a:cubicBezTo>
                <a:cubicBezTo>
                  <a:pt x="10" y="12407"/>
                  <a:pt x="6" y="12395"/>
                  <a:pt x="4" y="12382"/>
                </a:cubicBezTo>
                <a:cubicBezTo>
                  <a:pt x="1" y="12369"/>
                  <a:pt x="0" y="12357"/>
                  <a:pt x="0" y="1234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Forma libre 114"/>
          <p:cNvSpPr/>
          <p:nvPr/>
        </p:nvSpPr>
        <p:spPr>
          <a:xfrm>
            <a:off x="671400" y="1500120"/>
            <a:ext cx="10849320" cy="4515120"/>
          </a:xfrm>
          <a:custGeom>
            <a:avLst/>
            <a:gdLst/>
            <a:ahLst/>
            <a:cxnLst/>
            <a:rect l="0" t="0" r="r" b="b"/>
            <a:pathLst>
              <a:path w="30137" h="12542">
                <a:moveTo>
                  <a:pt x="0" y="12343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2343"/>
                </a:lnTo>
                <a:cubicBezTo>
                  <a:pt x="30137" y="12357"/>
                  <a:pt x="30136" y="12369"/>
                  <a:pt x="30133" y="12382"/>
                </a:cubicBezTo>
                <a:cubicBezTo>
                  <a:pt x="30130" y="12395"/>
                  <a:pt x="30127" y="12407"/>
                  <a:pt x="30122" y="12419"/>
                </a:cubicBezTo>
                <a:cubicBezTo>
                  <a:pt x="30117" y="12431"/>
                  <a:pt x="30111" y="12443"/>
                  <a:pt x="30103" y="12454"/>
                </a:cubicBezTo>
                <a:cubicBezTo>
                  <a:pt x="30096" y="12465"/>
                  <a:pt x="30088" y="12475"/>
                  <a:pt x="30079" y="12484"/>
                </a:cubicBezTo>
                <a:cubicBezTo>
                  <a:pt x="30070" y="12493"/>
                  <a:pt x="30059" y="12501"/>
                  <a:pt x="30049" y="12508"/>
                </a:cubicBezTo>
                <a:cubicBezTo>
                  <a:pt x="30038" y="12516"/>
                  <a:pt x="30026" y="12522"/>
                  <a:pt x="30014" y="12527"/>
                </a:cubicBezTo>
                <a:cubicBezTo>
                  <a:pt x="30002" y="12532"/>
                  <a:pt x="29990" y="12536"/>
                  <a:pt x="29977" y="12538"/>
                </a:cubicBezTo>
                <a:cubicBezTo>
                  <a:pt x="29964" y="12541"/>
                  <a:pt x="29951" y="12542"/>
                  <a:pt x="29938" y="12542"/>
                </a:cubicBezTo>
                <a:lnTo>
                  <a:pt x="198" y="12542"/>
                </a:lnTo>
                <a:cubicBezTo>
                  <a:pt x="185" y="12542"/>
                  <a:pt x="172" y="12541"/>
                  <a:pt x="160" y="12538"/>
                </a:cubicBezTo>
                <a:cubicBezTo>
                  <a:pt x="147" y="12536"/>
                  <a:pt x="134" y="12532"/>
                  <a:pt x="122" y="12527"/>
                </a:cubicBezTo>
                <a:cubicBezTo>
                  <a:pt x="110" y="12522"/>
                  <a:pt x="99" y="12516"/>
                  <a:pt x="88" y="12508"/>
                </a:cubicBezTo>
                <a:cubicBezTo>
                  <a:pt x="77" y="12501"/>
                  <a:pt x="67" y="12493"/>
                  <a:pt x="58" y="12484"/>
                </a:cubicBezTo>
                <a:cubicBezTo>
                  <a:pt x="49" y="12475"/>
                  <a:pt x="40" y="12465"/>
                  <a:pt x="33" y="12454"/>
                </a:cubicBezTo>
                <a:cubicBezTo>
                  <a:pt x="26" y="12443"/>
                  <a:pt x="20" y="12431"/>
                  <a:pt x="15" y="12419"/>
                </a:cubicBezTo>
                <a:cubicBezTo>
                  <a:pt x="10" y="12407"/>
                  <a:pt x="6" y="12395"/>
                  <a:pt x="4" y="12382"/>
                </a:cubicBezTo>
                <a:cubicBezTo>
                  <a:pt x="1" y="12369"/>
                  <a:pt x="0" y="12357"/>
                  <a:pt x="0" y="1234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CuadroTexto 115"/>
          <p:cNvSpPr txBox="1"/>
          <p:nvPr/>
        </p:nvSpPr>
        <p:spPr>
          <a:xfrm>
            <a:off x="666720" y="853920"/>
            <a:ext cx="2694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cuatro bloques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CuadroTexto 116"/>
          <p:cNvSpPr txBox="1"/>
          <p:nvPr/>
        </p:nvSpPr>
        <p:spPr>
          <a:xfrm>
            <a:off x="866880" y="1679760"/>
            <a:ext cx="5350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services: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los contenedores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CuadroTexto 117"/>
          <p:cNvSpPr txBox="1"/>
          <p:nvPr/>
        </p:nvSpPr>
        <p:spPr>
          <a:xfrm>
            <a:off x="866880" y="1946520"/>
            <a:ext cx="1202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postgres: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CuadroTexto 118"/>
          <p:cNvSpPr txBox="1"/>
          <p:nvPr/>
        </p:nvSpPr>
        <p:spPr>
          <a:xfrm>
            <a:off x="866880" y="2203920"/>
            <a:ext cx="5787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image: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postgres:16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imagen ya construida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CuadroTexto 119"/>
          <p:cNvSpPr txBox="1"/>
          <p:nvPr/>
        </p:nvSpPr>
        <p:spPr>
          <a:xfrm>
            <a:off x="866880" y="2470320"/>
            <a:ext cx="1747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environment: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CuadroTexto 120"/>
          <p:cNvSpPr txBox="1"/>
          <p:nvPr/>
        </p:nvSpPr>
        <p:spPr>
          <a:xfrm>
            <a:off x="866880" y="2727720"/>
            <a:ext cx="2512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POSTGRES_DB: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omop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CuadroTexto 121"/>
          <p:cNvSpPr txBox="1"/>
          <p:nvPr/>
        </p:nvSpPr>
        <p:spPr>
          <a:xfrm>
            <a:off x="866880" y="2994480"/>
            <a:ext cx="1310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volumes: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CuadroTexto 122"/>
          <p:cNvSpPr txBox="1"/>
          <p:nvPr/>
        </p:nvSpPr>
        <p:spPr>
          <a:xfrm>
            <a:off x="866880" y="3251520"/>
            <a:ext cx="4258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</a:t>
            </a:r>
            <a:r>
              <a:rPr lang="es-ES" sz="1430" b="0" u="none" strike="noStrike">
                <a:solidFill>
                  <a:srgbClr val="3B2300"/>
                </a:solidFill>
                <a:effectLst/>
                <a:uFillTx/>
                <a:latin typeface="Menlo"/>
                <a:ea typeface="Menlo"/>
              </a:rPr>
              <a:t>-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pgdata:/var/lib/postgresql/data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CuadroTexto 123"/>
          <p:cNvSpPr txBox="1"/>
          <p:nvPr/>
        </p:nvSpPr>
        <p:spPr>
          <a:xfrm>
            <a:off x="866880" y="3518280"/>
            <a:ext cx="10926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ports: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CuadroTexto 124"/>
          <p:cNvSpPr txBox="1"/>
          <p:nvPr/>
        </p:nvSpPr>
        <p:spPr>
          <a:xfrm>
            <a:off x="866880" y="3775320"/>
            <a:ext cx="2075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</a:t>
            </a:r>
            <a:r>
              <a:rPr lang="es-ES" sz="1430" b="0" u="none" strike="noStrike">
                <a:solidFill>
                  <a:srgbClr val="3B2300"/>
                </a:solidFill>
                <a:effectLst/>
                <a:uFillTx/>
                <a:latin typeface="Menlo"/>
                <a:ea typeface="Menlo"/>
              </a:rPr>
              <a:t>-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"5432:5432"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CuadroTexto 125"/>
          <p:cNvSpPr txBox="1"/>
          <p:nvPr/>
        </p:nvSpPr>
        <p:spPr>
          <a:xfrm>
            <a:off x="866880" y="4299120"/>
            <a:ext cx="1202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notebook: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CuadroTexto 126"/>
          <p:cNvSpPr txBox="1"/>
          <p:nvPr/>
        </p:nvSpPr>
        <p:spPr>
          <a:xfrm>
            <a:off x="866880" y="4565880"/>
            <a:ext cx="6988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build: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./docker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o construir desde un Dockerfile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CuadroTexto 127"/>
          <p:cNvSpPr txBox="1"/>
          <p:nvPr/>
        </p:nvSpPr>
        <p:spPr>
          <a:xfrm>
            <a:off x="866880" y="4832640"/>
            <a:ext cx="2839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depends_on: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postgres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CuadroTexto 128"/>
          <p:cNvSpPr txBox="1"/>
          <p:nvPr/>
        </p:nvSpPr>
        <p:spPr>
          <a:xfrm>
            <a:off x="866880" y="5356440"/>
            <a:ext cx="6333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volumes: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almacenamiento con nombre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CuadroTexto 129"/>
          <p:cNvSpPr txBox="1"/>
          <p:nvPr/>
        </p:nvSpPr>
        <p:spPr>
          <a:xfrm>
            <a:off x="866880" y="5613840"/>
            <a:ext cx="983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pgdata: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CuadroTexto 13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CuadroTexto 13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CuadroTexto 132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Forma libre 1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Forma libre 1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Forma libre 1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Forma libre 136"/>
          <p:cNvSpPr/>
          <p:nvPr/>
        </p:nvSpPr>
        <p:spPr>
          <a:xfrm>
            <a:off x="671400" y="201420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7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6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6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7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Forma libre 137"/>
          <p:cNvSpPr/>
          <p:nvPr/>
        </p:nvSpPr>
        <p:spPr>
          <a:xfrm>
            <a:off x="671400" y="201420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7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6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6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7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Forma libre 138"/>
          <p:cNvSpPr/>
          <p:nvPr/>
        </p:nvSpPr>
        <p:spPr>
          <a:xfrm>
            <a:off x="666720" y="460044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Forma libre 139"/>
          <p:cNvSpPr/>
          <p:nvPr/>
        </p:nvSpPr>
        <p:spPr>
          <a:xfrm>
            <a:off x="666720" y="460044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Forma libre 140"/>
          <p:cNvSpPr/>
          <p:nvPr/>
        </p:nvSpPr>
        <p:spPr>
          <a:xfrm>
            <a:off x="666720" y="1361880"/>
            <a:ext cx="1086120" cy="381240"/>
          </a:xfrm>
          <a:custGeom>
            <a:avLst/>
            <a:gdLst/>
            <a:ahLst/>
            <a:cxnLst/>
            <a:rect l="0" t="0" r="r" b="b"/>
            <a:pathLst>
              <a:path w="3017" h="1059">
                <a:moveTo>
                  <a:pt x="0" y="953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911" y="0"/>
                </a:lnTo>
                <a:cubicBezTo>
                  <a:pt x="2925" y="0"/>
                  <a:pt x="2939" y="3"/>
                  <a:pt x="2952" y="8"/>
                </a:cubicBezTo>
                <a:cubicBezTo>
                  <a:pt x="2964" y="13"/>
                  <a:pt x="2976" y="21"/>
                  <a:pt x="2986" y="31"/>
                </a:cubicBezTo>
                <a:cubicBezTo>
                  <a:pt x="2996" y="41"/>
                  <a:pt x="3003" y="52"/>
                  <a:pt x="3009" y="65"/>
                </a:cubicBezTo>
                <a:cubicBezTo>
                  <a:pt x="3014" y="78"/>
                  <a:pt x="3017" y="92"/>
                  <a:pt x="3017" y="106"/>
                </a:cubicBezTo>
                <a:lnTo>
                  <a:pt x="3017" y="953"/>
                </a:lnTo>
                <a:cubicBezTo>
                  <a:pt x="3017" y="967"/>
                  <a:pt x="3014" y="981"/>
                  <a:pt x="3009" y="994"/>
                </a:cubicBezTo>
                <a:cubicBezTo>
                  <a:pt x="3003" y="1007"/>
                  <a:pt x="2996" y="1018"/>
                  <a:pt x="2986" y="1028"/>
                </a:cubicBezTo>
                <a:cubicBezTo>
                  <a:pt x="2976" y="1038"/>
                  <a:pt x="2964" y="1046"/>
                  <a:pt x="2952" y="1051"/>
                </a:cubicBezTo>
                <a:cubicBezTo>
                  <a:pt x="2939" y="1057"/>
                  <a:pt x="2925" y="1059"/>
                  <a:pt x="2911" y="1059"/>
                </a:cubicBezTo>
                <a:lnTo>
                  <a:pt x="105" y="1059"/>
                </a:lnTo>
                <a:cubicBezTo>
                  <a:pt x="91" y="1059"/>
                  <a:pt x="78" y="1057"/>
                  <a:pt x="65" y="1051"/>
                </a:cubicBezTo>
                <a:cubicBezTo>
                  <a:pt x="52" y="1046"/>
                  <a:pt x="41" y="1038"/>
                  <a:pt x="31" y="1028"/>
                </a:cubicBezTo>
                <a:cubicBezTo>
                  <a:pt x="21" y="1018"/>
                  <a:pt x="13" y="1007"/>
                  <a:pt x="8" y="994"/>
                </a:cubicBezTo>
                <a:cubicBezTo>
                  <a:pt x="2" y="981"/>
                  <a:pt x="0" y="967"/>
                  <a:pt x="0" y="953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CuadroTexto 141"/>
          <p:cNvSpPr txBox="1"/>
          <p:nvPr/>
        </p:nvSpPr>
        <p:spPr>
          <a:xfrm>
            <a:off x="731520" y="1366200"/>
            <a:ext cx="97776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ports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Forma libre 142"/>
          <p:cNvSpPr/>
          <p:nvPr/>
        </p:nvSpPr>
        <p:spPr>
          <a:xfrm>
            <a:off x="4609800" y="1361880"/>
            <a:ext cx="1286280" cy="381240"/>
          </a:xfrm>
          <a:custGeom>
            <a:avLst/>
            <a:gdLst/>
            <a:ahLst/>
            <a:cxnLst/>
            <a:rect l="0" t="0" r="r" b="b"/>
            <a:pathLst>
              <a:path w="3573" h="1059">
                <a:moveTo>
                  <a:pt x="0" y="953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5" y="3"/>
                  <a:pt x="3508" y="8"/>
                </a:cubicBezTo>
                <a:cubicBezTo>
                  <a:pt x="3521" y="13"/>
                  <a:pt x="3532" y="21"/>
                  <a:pt x="3542" y="31"/>
                </a:cubicBezTo>
                <a:cubicBezTo>
                  <a:pt x="3552" y="41"/>
                  <a:pt x="3560" y="52"/>
                  <a:pt x="3565" y="65"/>
                </a:cubicBezTo>
                <a:cubicBezTo>
                  <a:pt x="3571" y="78"/>
                  <a:pt x="3573" y="92"/>
                  <a:pt x="3573" y="106"/>
                </a:cubicBezTo>
                <a:lnTo>
                  <a:pt x="3573" y="953"/>
                </a:lnTo>
                <a:cubicBezTo>
                  <a:pt x="3573" y="967"/>
                  <a:pt x="3571" y="981"/>
                  <a:pt x="3565" y="994"/>
                </a:cubicBezTo>
                <a:cubicBezTo>
                  <a:pt x="3560" y="1007"/>
                  <a:pt x="3552" y="1018"/>
                  <a:pt x="3542" y="1028"/>
                </a:cubicBezTo>
                <a:cubicBezTo>
                  <a:pt x="3532" y="1038"/>
                  <a:pt x="3521" y="1046"/>
                  <a:pt x="3508" y="1051"/>
                </a:cubicBezTo>
                <a:cubicBezTo>
                  <a:pt x="3495" y="1057"/>
                  <a:pt x="3481" y="1059"/>
                  <a:pt x="3467" y="1059"/>
                </a:cubicBezTo>
                <a:lnTo>
                  <a:pt x="106" y="1059"/>
                </a:lnTo>
                <a:cubicBezTo>
                  <a:pt x="92" y="1059"/>
                  <a:pt x="79" y="1057"/>
                  <a:pt x="66" y="1051"/>
                </a:cubicBezTo>
                <a:cubicBezTo>
                  <a:pt x="53" y="1046"/>
                  <a:pt x="41" y="1038"/>
                  <a:pt x="31" y="1028"/>
                </a:cubicBezTo>
                <a:cubicBezTo>
                  <a:pt x="21" y="1018"/>
                  <a:pt x="14" y="1007"/>
                  <a:pt x="8" y="994"/>
                </a:cubicBezTo>
                <a:cubicBezTo>
                  <a:pt x="3" y="981"/>
                  <a:pt x="0" y="967"/>
                  <a:pt x="0" y="953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CuadroTexto 143"/>
          <p:cNvSpPr txBox="1"/>
          <p:nvPr/>
        </p:nvSpPr>
        <p:spPr>
          <a:xfrm>
            <a:off x="1755000" y="1358640"/>
            <a:ext cx="29286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no es lo mismo que 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CuadroTexto 144"/>
          <p:cNvSpPr txBox="1"/>
          <p:nvPr/>
        </p:nvSpPr>
        <p:spPr>
          <a:xfrm>
            <a:off x="4676040" y="1366200"/>
            <a:ext cx="117324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expose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CuadroTexto 145"/>
          <p:cNvSpPr txBox="1"/>
          <p:nvPr/>
        </p:nvSpPr>
        <p:spPr>
          <a:xfrm>
            <a:off x="866880" y="2194200"/>
            <a:ext cx="6559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ports: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Forma libre 146"/>
          <p:cNvSpPr/>
          <p:nvPr/>
        </p:nvSpPr>
        <p:spPr>
          <a:xfrm>
            <a:off x="914040" y="31716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Forma libre 147"/>
          <p:cNvSpPr/>
          <p:nvPr/>
        </p:nvSpPr>
        <p:spPr>
          <a:xfrm>
            <a:off x="1123920" y="3076560"/>
            <a:ext cx="695520" cy="266760"/>
          </a:xfrm>
          <a:custGeom>
            <a:avLst/>
            <a:gdLst/>
            <a:ahLst/>
            <a:cxnLst/>
            <a:rect l="0" t="0" r="r" b="b"/>
            <a:pathLst>
              <a:path w="1932" h="741">
                <a:moveTo>
                  <a:pt x="0" y="635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1826" y="0"/>
                </a:lnTo>
                <a:cubicBezTo>
                  <a:pt x="1840" y="0"/>
                  <a:pt x="1854" y="2"/>
                  <a:pt x="1867" y="8"/>
                </a:cubicBezTo>
                <a:cubicBezTo>
                  <a:pt x="1880" y="13"/>
                  <a:pt x="1891" y="21"/>
                  <a:pt x="1901" y="31"/>
                </a:cubicBezTo>
                <a:cubicBezTo>
                  <a:pt x="1911" y="40"/>
                  <a:pt x="1919" y="52"/>
                  <a:pt x="1924" y="65"/>
                </a:cubicBezTo>
                <a:cubicBezTo>
                  <a:pt x="1929" y="78"/>
                  <a:pt x="1932" y="91"/>
                  <a:pt x="1932" y="105"/>
                </a:cubicBezTo>
                <a:lnTo>
                  <a:pt x="1932" y="635"/>
                </a:lnTo>
                <a:cubicBezTo>
                  <a:pt x="1932" y="649"/>
                  <a:pt x="1929" y="662"/>
                  <a:pt x="1924" y="675"/>
                </a:cubicBezTo>
                <a:cubicBezTo>
                  <a:pt x="1919" y="688"/>
                  <a:pt x="1911" y="699"/>
                  <a:pt x="1901" y="710"/>
                </a:cubicBezTo>
                <a:cubicBezTo>
                  <a:pt x="1891" y="720"/>
                  <a:pt x="1880" y="728"/>
                  <a:pt x="1867" y="733"/>
                </a:cubicBezTo>
                <a:cubicBezTo>
                  <a:pt x="1854" y="739"/>
                  <a:pt x="1840" y="741"/>
                  <a:pt x="1826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699"/>
                  <a:pt x="13" y="688"/>
                  <a:pt x="8" y="675"/>
                </a:cubicBezTo>
                <a:cubicBezTo>
                  <a:pt x="2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CuadroTexto 148"/>
          <p:cNvSpPr txBox="1"/>
          <p:nvPr/>
        </p:nvSpPr>
        <p:spPr>
          <a:xfrm>
            <a:off x="866880" y="2460960"/>
            <a:ext cx="7425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3B2300"/>
                </a:solidFill>
                <a:effectLst/>
                <a:uFillTx/>
                <a:latin typeface="Menlo"/>
                <a:ea typeface="Menlo"/>
              </a:rPr>
              <a:t>-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"8888:8888"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HOST:CONTENEDOR — accesible desde tu navegador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CuadroTexto 149"/>
          <p:cNvSpPr txBox="1"/>
          <p:nvPr/>
        </p:nvSpPr>
        <p:spPr>
          <a:xfrm>
            <a:off x="1181160" y="309636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ports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CuadroTexto 150"/>
          <p:cNvSpPr txBox="1"/>
          <p:nvPr/>
        </p:nvSpPr>
        <p:spPr>
          <a:xfrm>
            <a:off x="1823400" y="3058920"/>
            <a:ext cx="90234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abre un puerto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hacia tu máquina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Sin esto, el Jupyter de adentro no existe para el mundo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Forma libre 151"/>
          <p:cNvSpPr/>
          <p:nvPr/>
        </p:nvSpPr>
        <p:spPr>
          <a:xfrm>
            <a:off x="914040" y="39146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0"/>
                  <a:pt x="161" y="198"/>
                  <a:pt x="148" y="203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3"/>
                </a:cubicBezTo>
                <a:cubicBezTo>
                  <a:pt x="53" y="198"/>
                  <a:pt x="41" y="190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CuadroTexto 152"/>
          <p:cNvSpPr txBox="1"/>
          <p:nvPr/>
        </p:nvSpPr>
        <p:spPr>
          <a:xfrm>
            <a:off x="1123920" y="3402000"/>
            <a:ext cx="729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exterior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Forma libre 153"/>
          <p:cNvSpPr/>
          <p:nvPr/>
        </p:nvSpPr>
        <p:spPr>
          <a:xfrm>
            <a:off x="1533240" y="3819240"/>
            <a:ext cx="695880" cy="267120"/>
          </a:xfrm>
          <a:custGeom>
            <a:avLst/>
            <a:gdLst/>
            <a:ahLst/>
            <a:cxnLst/>
            <a:rect l="0" t="0" r="r" b="b"/>
            <a:pathLst>
              <a:path w="193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827" y="0"/>
                </a:lnTo>
                <a:cubicBezTo>
                  <a:pt x="1841" y="0"/>
                  <a:pt x="1854" y="3"/>
                  <a:pt x="1867" y="8"/>
                </a:cubicBezTo>
                <a:cubicBezTo>
                  <a:pt x="1880" y="14"/>
                  <a:pt x="1892" y="21"/>
                  <a:pt x="1902" y="31"/>
                </a:cubicBezTo>
                <a:cubicBezTo>
                  <a:pt x="1912" y="41"/>
                  <a:pt x="1919" y="53"/>
                  <a:pt x="1925" y="66"/>
                </a:cubicBezTo>
                <a:cubicBezTo>
                  <a:pt x="1930" y="79"/>
                  <a:pt x="1933" y="92"/>
                  <a:pt x="1933" y="106"/>
                </a:cubicBezTo>
                <a:lnTo>
                  <a:pt x="1933" y="636"/>
                </a:lnTo>
                <a:cubicBezTo>
                  <a:pt x="1933" y="650"/>
                  <a:pt x="1930" y="664"/>
                  <a:pt x="1925" y="677"/>
                </a:cubicBezTo>
                <a:cubicBezTo>
                  <a:pt x="1919" y="690"/>
                  <a:pt x="1912" y="701"/>
                  <a:pt x="1902" y="711"/>
                </a:cubicBezTo>
                <a:cubicBezTo>
                  <a:pt x="1892" y="721"/>
                  <a:pt x="1880" y="729"/>
                  <a:pt x="1867" y="734"/>
                </a:cubicBezTo>
                <a:cubicBezTo>
                  <a:pt x="1854" y="739"/>
                  <a:pt x="1841" y="742"/>
                  <a:pt x="1827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CuadroTexto 154"/>
          <p:cNvSpPr txBox="1"/>
          <p:nvPr/>
        </p:nvSpPr>
        <p:spPr>
          <a:xfrm>
            <a:off x="1123920" y="3801960"/>
            <a:ext cx="407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Sin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CuadroTexto 155"/>
          <p:cNvSpPr txBox="1"/>
          <p:nvPr/>
        </p:nvSpPr>
        <p:spPr>
          <a:xfrm>
            <a:off x="1587600" y="383940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ports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CuadroTexto 156"/>
          <p:cNvSpPr txBox="1"/>
          <p:nvPr/>
        </p:nvSpPr>
        <p:spPr>
          <a:xfrm>
            <a:off x="2229840" y="3801960"/>
            <a:ext cx="8633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el servicio sigue siendo accesible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desde los otros contenedores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la red interna no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CuadroTexto 157"/>
          <p:cNvSpPr txBox="1"/>
          <p:nvPr/>
        </p:nvSpPr>
        <p:spPr>
          <a:xfrm>
            <a:off x="1123920" y="4144680"/>
            <a:ext cx="1999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necesita publicación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CuadroTexto 158"/>
          <p:cNvSpPr txBox="1"/>
          <p:nvPr/>
        </p:nvSpPr>
        <p:spPr>
          <a:xfrm>
            <a:off x="905040" y="4754520"/>
            <a:ext cx="10340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Regla de seguridad: publica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sólo lo que un humano va a abrir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 Una base de datos que sólo usa tu API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Forma libre 159"/>
          <p:cNvSpPr/>
          <p:nvPr/>
        </p:nvSpPr>
        <p:spPr>
          <a:xfrm>
            <a:off x="2095200" y="5114880"/>
            <a:ext cx="705240" cy="266760"/>
          </a:xfrm>
          <a:custGeom>
            <a:avLst/>
            <a:gdLst/>
            <a:ahLst/>
            <a:cxnLst/>
            <a:rect l="0" t="0" r="r" b="b"/>
            <a:pathLst>
              <a:path w="1959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853" y="0"/>
                </a:lnTo>
                <a:cubicBezTo>
                  <a:pt x="1867" y="0"/>
                  <a:pt x="1881" y="2"/>
                  <a:pt x="1894" y="8"/>
                </a:cubicBezTo>
                <a:cubicBezTo>
                  <a:pt x="1907" y="13"/>
                  <a:pt x="1918" y="21"/>
                  <a:pt x="1928" y="31"/>
                </a:cubicBezTo>
                <a:cubicBezTo>
                  <a:pt x="1938" y="41"/>
                  <a:pt x="1946" y="52"/>
                  <a:pt x="1951" y="65"/>
                </a:cubicBezTo>
                <a:cubicBezTo>
                  <a:pt x="1957" y="78"/>
                  <a:pt x="1959" y="91"/>
                  <a:pt x="1959" y="105"/>
                </a:cubicBezTo>
                <a:lnTo>
                  <a:pt x="1959" y="636"/>
                </a:lnTo>
                <a:cubicBezTo>
                  <a:pt x="1959" y="650"/>
                  <a:pt x="1957" y="663"/>
                  <a:pt x="1951" y="676"/>
                </a:cubicBezTo>
                <a:cubicBezTo>
                  <a:pt x="1946" y="689"/>
                  <a:pt x="1938" y="701"/>
                  <a:pt x="1928" y="710"/>
                </a:cubicBezTo>
                <a:cubicBezTo>
                  <a:pt x="1918" y="720"/>
                  <a:pt x="1907" y="728"/>
                  <a:pt x="1894" y="733"/>
                </a:cubicBezTo>
                <a:cubicBezTo>
                  <a:pt x="1881" y="739"/>
                  <a:pt x="1867" y="741"/>
                  <a:pt x="1853" y="741"/>
                </a:cubicBezTo>
                <a:lnTo>
                  <a:pt x="106" y="741"/>
                </a:lnTo>
                <a:cubicBezTo>
                  <a:pt x="92" y="741"/>
                  <a:pt x="79" y="739"/>
                  <a:pt x="66" y="733"/>
                </a:cubicBezTo>
                <a:cubicBezTo>
                  <a:pt x="53" y="728"/>
                  <a:pt x="41" y="720"/>
                  <a:pt x="31" y="710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CuadroTexto 160"/>
          <p:cNvSpPr txBox="1"/>
          <p:nvPr/>
        </p:nvSpPr>
        <p:spPr>
          <a:xfrm>
            <a:off x="905040" y="5097240"/>
            <a:ext cx="1194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no necesita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CuadroTexto 161"/>
          <p:cNvSpPr txBox="1"/>
          <p:nvPr/>
        </p:nvSpPr>
        <p:spPr>
          <a:xfrm>
            <a:off x="2156400" y="513468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ports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CuadroTexto 162"/>
          <p:cNvSpPr txBox="1"/>
          <p:nvPr/>
        </p:nvSpPr>
        <p:spPr>
          <a:xfrm>
            <a:off x="2798640" y="509724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CuadroTexto 16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CuadroTexto 16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CuadroTexto 165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Forma libre 16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Forma libre 16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Forma libre 16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CuadroTexto 169"/>
          <p:cNvSpPr txBox="1"/>
          <p:nvPr/>
        </p:nvSpPr>
        <p:spPr>
          <a:xfrm>
            <a:off x="5084640" y="3063960"/>
            <a:ext cx="20660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Redes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CuadroTexto 17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CuadroTexto 17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CuadroTexto 17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Forma libre 17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Forma libre 174"/>
          <p:cNvSpPr/>
          <p:nvPr/>
        </p:nvSpPr>
        <p:spPr>
          <a:xfrm>
            <a:off x="0" y="7632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Forma libre 176"/>
          <p:cNvSpPr/>
          <p:nvPr/>
        </p:nvSpPr>
        <p:spPr>
          <a:xfrm>
            <a:off x="671400" y="2557440"/>
            <a:ext cx="10849320" cy="1895760"/>
          </a:xfrm>
          <a:custGeom>
            <a:avLst/>
            <a:gdLst/>
            <a:ahLst/>
            <a:cxnLst/>
            <a:rect l="0" t="0" r="r" b="b"/>
            <a:pathLst>
              <a:path w="30137" h="5266">
                <a:moveTo>
                  <a:pt x="0" y="506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067"/>
                </a:lnTo>
                <a:cubicBezTo>
                  <a:pt x="30137" y="5080"/>
                  <a:pt x="30136" y="5093"/>
                  <a:pt x="30133" y="5106"/>
                </a:cubicBezTo>
                <a:cubicBezTo>
                  <a:pt x="30130" y="5119"/>
                  <a:pt x="30127" y="5131"/>
                  <a:pt x="30122" y="5143"/>
                </a:cubicBezTo>
                <a:cubicBezTo>
                  <a:pt x="30117" y="5155"/>
                  <a:pt x="30111" y="5167"/>
                  <a:pt x="30103" y="5178"/>
                </a:cubicBezTo>
                <a:cubicBezTo>
                  <a:pt x="30096" y="5188"/>
                  <a:pt x="30088" y="5198"/>
                  <a:pt x="30079" y="5208"/>
                </a:cubicBezTo>
                <a:cubicBezTo>
                  <a:pt x="30070" y="5217"/>
                  <a:pt x="30059" y="5225"/>
                  <a:pt x="30049" y="5232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59"/>
                  <a:pt x="29977" y="5262"/>
                </a:cubicBezTo>
                <a:cubicBezTo>
                  <a:pt x="29964" y="5264"/>
                  <a:pt x="29951" y="5266"/>
                  <a:pt x="29938" y="5266"/>
                </a:cubicBezTo>
                <a:lnTo>
                  <a:pt x="198" y="5266"/>
                </a:lnTo>
                <a:cubicBezTo>
                  <a:pt x="185" y="5266"/>
                  <a:pt x="172" y="5264"/>
                  <a:pt x="160" y="5262"/>
                </a:cubicBezTo>
                <a:cubicBezTo>
                  <a:pt x="147" y="5259"/>
                  <a:pt x="134" y="5256"/>
                  <a:pt x="122" y="5251"/>
                </a:cubicBezTo>
                <a:cubicBezTo>
                  <a:pt x="110" y="5246"/>
                  <a:pt x="99" y="5240"/>
                  <a:pt x="88" y="5232"/>
                </a:cubicBezTo>
                <a:cubicBezTo>
                  <a:pt x="77" y="5225"/>
                  <a:pt x="67" y="5217"/>
                  <a:pt x="58" y="5208"/>
                </a:cubicBezTo>
                <a:cubicBezTo>
                  <a:pt x="49" y="5198"/>
                  <a:pt x="40" y="5188"/>
                  <a:pt x="33" y="5178"/>
                </a:cubicBezTo>
                <a:cubicBezTo>
                  <a:pt x="26" y="5167"/>
                  <a:pt x="20" y="5155"/>
                  <a:pt x="15" y="5143"/>
                </a:cubicBezTo>
                <a:cubicBezTo>
                  <a:pt x="10" y="5131"/>
                  <a:pt x="6" y="5119"/>
                  <a:pt x="4" y="5106"/>
                </a:cubicBezTo>
                <a:cubicBezTo>
                  <a:pt x="1" y="5093"/>
                  <a:pt x="0" y="5080"/>
                  <a:pt x="0" y="506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Forma libre 177"/>
          <p:cNvSpPr/>
          <p:nvPr/>
        </p:nvSpPr>
        <p:spPr>
          <a:xfrm>
            <a:off x="671400" y="2557440"/>
            <a:ext cx="10849320" cy="1895760"/>
          </a:xfrm>
          <a:custGeom>
            <a:avLst/>
            <a:gdLst/>
            <a:ahLst/>
            <a:cxnLst/>
            <a:rect l="0" t="0" r="r" b="b"/>
            <a:pathLst>
              <a:path w="30137" h="5266">
                <a:moveTo>
                  <a:pt x="0" y="506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067"/>
                </a:lnTo>
                <a:cubicBezTo>
                  <a:pt x="30137" y="5080"/>
                  <a:pt x="30136" y="5093"/>
                  <a:pt x="30133" y="5106"/>
                </a:cubicBezTo>
                <a:cubicBezTo>
                  <a:pt x="30130" y="5119"/>
                  <a:pt x="30127" y="5131"/>
                  <a:pt x="30122" y="5143"/>
                </a:cubicBezTo>
                <a:cubicBezTo>
                  <a:pt x="30117" y="5155"/>
                  <a:pt x="30111" y="5167"/>
                  <a:pt x="30103" y="5178"/>
                </a:cubicBezTo>
                <a:cubicBezTo>
                  <a:pt x="30096" y="5188"/>
                  <a:pt x="30088" y="5198"/>
                  <a:pt x="30079" y="5208"/>
                </a:cubicBezTo>
                <a:cubicBezTo>
                  <a:pt x="30070" y="5217"/>
                  <a:pt x="30059" y="5225"/>
                  <a:pt x="30049" y="5232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59"/>
                  <a:pt x="29977" y="5262"/>
                </a:cubicBezTo>
                <a:cubicBezTo>
                  <a:pt x="29964" y="5264"/>
                  <a:pt x="29951" y="5266"/>
                  <a:pt x="29938" y="5266"/>
                </a:cubicBezTo>
                <a:lnTo>
                  <a:pt x="198" y="5266"/>
                </a:lnTo>
                <a:cubicBezTo>
                  <a:pt x="185" y="5266"/>
                  <a:pt x="172" y="5264"/>
                  <a:pt x="160" y="5262"/>
                </a:cubicBezTo>
                <a:cubicBezTo>
                  <a:pt x="147" y="5259"/>
                  <a:pt x="134" y="5256"/>
                  <a:pt x="122" y="5251"/>
                </a:cubicBezTo>
                <a:cubicBezTo>
                  <a:pt x="110" y="5246"/>
                  <a:pt x="99" y="5240"/>
                  <a:pt x="88" y="5232"/>
                </a:cubicBezTo>
                <a:cubicBezTo>
                  <a:pt x="77" y="5225"/>
                  <a:pt x="67" y="5217"/>
                  <a:pt x="58" y="5208"/>
                </a:cubicBezTo>
                <a:cubicBezTo>
                  <a:pt x="49" y="5198"/>
                  <a:pt x="40" y="5188"/>
                  <a:pt x="33" y="5178"/>
                </a:cubicBezTo>
                <a:cubicBezTo>
                  <a:pt x="26" y="5167"/>
                  <a:pt x="20" y="5155"/>
                  <a:pt x="15" y="5143"/>
                </a:cubicBezTo>
                <a:cubicBezTo>
                  <a:pt x="10" y="5131"/>
                  <a:pt x="6" y="5119"/>
                  <a:pt x="4" y="5106"/>
                </a:cubicBezTo>
                <a:cubicBezTo>
                  <a:pt x="1" y="5093"/>
                  <a:pt x="0" y="5080"/>
                  <a:pt x="0" y="506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CuadroTexto 178"/>
          <p:cNvSpPr txBox="1"/>
          <p:nvPr/>
        </p:nvSpPr>
        <p:spPr>
          <a:xfrm>
            <a:off x="666720" y="1082520"/>
            <a:ext cx="49730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servicios se hablan por nombre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CuadroTexto 179"/>
          <p:cNvSpPr txBox="1"/>
          <p:nvPr/>
        </p:nvSpPr>
        <p:spPr>
          <a:xfrm>
            <a:off x="666720" y="1753920"/>
            <a:ext cx="10374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Compose crea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una red privada por proyecto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un DNS interno: el nombre del servicio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el nombre de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CuadroTexto 180"/>
          <p:cNvSpPr txBox="1"/>
          <p:nvPr/>
        </p:nvSpPr>
        <p:spPr>
          <a:xfrm>
            <a:off x="666720" y="2097000"/>
            <a:ext cx="491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host.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CuadroTexto 181"/>
          <p:cNvSpPr txBox="1"/>
          <p:nvPr/>
        </p:nvSpPr>
        <p:spPr>
          <a:xfrm>
            <a:off x="866880" y="2737080"/>
            <a:ext cx="3713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desde el contenedor del notebook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CuadroTexto 182"/>
          <p:cNvSpPr txBox="1"/>
          <p:nvPr/>
        </p:nvSpPr>
        <p:spPr>
          <a:xfrm>
            <a:off x="866880" y="3003840"/>
            <a:ext cx="7316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engine = create_engine(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"postgresql://omop:omop@postgres:5432/omop"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CuadroTexto 183"/>
          <p:cNvSpPr txBox="1"/>
          <p:nvPr/>
        </p:nvSpPr>
        <p:spPr>
          <a:xfrm>
            <a:off x="866880" y="3260880"/>
            <a:ext cx="7534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                                           ↑ el nombre del servicio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CuadroTexto 184"/>
          <p:cNvSpPr txBox="1"/>
          <p:nvPr/>
        </p:nvSpPr>
        <p:spPr>
          <a:xfrm>
            <a:off x="866880" y="3785040"/>
            <a:ext cx="3931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desde TU máquina (gracias a ports)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CuadroTexto 185"/>
          <p:cNvSpPr txBox="1"/>
          <p:nvPr/>
        </p:nvSpPr>
        <p:spPr>
          <a:xfrm>
            <a:off x="866880" y="4051800"/>
            <a:ext cx="7425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engine = create_engine(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"postgresql://omop:omop@localhost:5432/omop"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Forma libre 186"/>
          <p:cNvSpPr/>
          <p:nvPr/>
        </p:nvSpPr>
        <p:spPr>
          <a:xfrm>
            <a:off x="2543040" y="4667040"/>
            <a:ext cx="1638720" cy="267120"/>
          </a:xfrm>
          <a:custGeom>
            <a:avLst/>
            <a:gdLst/>
            <a:ahLst/>
            <a:cxnLst/>
            <a:rect l="0" t="0" r="r" b="b"/>
            <a:pathLst>
              <a:path w="4552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446" y="0"/>
                </a:lnTo>
                <a:cubicBezTo>
                  <a:pt x="4460" y="0"/>
                  <a:pt x="4473" y="3"/>
                  <a:pt x="4486" y="8"/>
                </a:cubicBezTo>
                <a:cubicBezTo>
                  <a:pt x="4499" y="14"/>
                  <a:pt x="4511" y="21"/>
                  <a:pt x="4521" y="31"/>
                </a:cubicBezTo>
                <a:cubicBezTo>
                  <a:pt x="4531" y="41"/>
                  <a:pt x="4538" y="52"/>
                  <a:pt x="4544" y="65"/>
                </a:cubicBezTo>
                <a:cubicBezTo>
                  <a:pt x="4549" y="78"/>
                  <a:pt x="4552" y="92"/>
                  <a:pt x="4552" y="106"/>
                </a:cubicBezTo>
                <a:lnTo>
                  <a:pt x="4552" y="635"/>
                </a:lnTo>
                <a:cubicBezTo>
                  <a:pt x="4552" y="649"/>
                  <a:pt x="4549" y="663"/>
                  <a:pt x="4544" y="676"/>
                </a:cubicBezTo>
                <a:cubicBezTo>
                  <a:pt x="4538" y="689"/>
                  <a:pt x="4531" y="700"/>
                  <a:pt x="4521" y="710"/>
                </a:cubicBezTo>
                <a:cubicBezTo>
                  <a:pt x="4511" y="720"/>
                  <a:pt x="4499" y="728"/>
                  <a:pt x="4486" y="734"/>
                </a:cubicBezTo>
                <a:cubicBezTo>
                  <a:pt x="4473" y="739"/>
                  <a:pt x="4460" y="742"/>
                  <a:pt x="4446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3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CuadroTexto 187"/>
          <p:cNvSpPr txBox="1"/>
          <p:nvPr/>
        </p:nvSpPr>
        <p:spPr>
          <a:xfrm>
            <a:off x="666720" y="4649760"/>
            <a:ext cx="1884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Dentro de la red: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CuadroTexto 188"/>
          <p:cNvSpPr txBox="1"/>
          <p:nvPr/>
        </p:nvSpPr>
        <p:spPr>
          <a:xfrm>
            <a:off x="2599560" y="4686840"/>
            <a:ext cx="1527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postgres:5432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Forma libre 189"/>
          <p:cNvSpPr/>
          <p:nvPr/>
        </p:nvSpPr>
        <p:spPr>
          <a:xfrm>
            <a:off x="5752800" y="4667040"/>
            <a:ext cx="1753200" cy="267120"/>
          </a:xfrm>
          <a:custGeom>
            <a:avLst/>
            <a:gdLst/>
            <a:ahLst/>
            <a:cxnLst/>
            <a:rect l="0" t="0" r="r" b="b"/>
            <a:pathLst>
              <a:path w="4870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764" y="0"/>
                </a:lnTo>
                <a:cubicBezTo>
                  <a:pt x="4778" y="0"/>
                  <a:pt x="4791" y="3"/>
                  <a:pt x="4804" y="8"/>
                </a:cubicBezTo>
                <a:cubicBezTo>
                  <a:pt x="4817" y="14"/>
                  <a:pt x="4829" y="21"/>
                  <a:pt x="4839" y="31"/>
                </a:cubicBezTo>
                <a:cubicBezTo>
                  <a:pt x="4849" y="41"/>
                  <a:pt x="4856" y="52"/>
                  <a:pt x="4862" y="65"/>
                </a:cubicBezTo>
                <a:cubicBezTo>
                  <a:pt x="4867" y="78"/>
                  <a:pt x="4870" y="92"/>
                  <a:pt x="4870" y="106"/>
                </a:cubicBezTo>
                <a:lnTo>
                  <a:pt x="4870" y="635"/>
                </a:lnTo>
                <a:cubicBezTo>
                  <a:pt x="4870" y="649"/>
                  <a:pt x="4867" y="663"/>
                  <a:pt x="4862" y="676"/>
                </a:cubicBezTo>
                <a:cubicBezTo>
                  <a:pt x="4856" y="689"/>
                  <a:pt x="4849" y="700"/>
                  <a:pt x="4839" y="710"/>
                </a:cubicBezTo>
                <a:cubicBezTo>
                  <a:pt x="4829" y="720"/>
                  <a:pt x="4817" y="728"/>
                  <a:pt x="4804" y="734"/>
                </a:cubicBezTo>
                <a:cubicBezTo>
                  <a:pt x="4791" y="739"/>
                  <a:pt x="4778" y="742"/>
                  <a:pt x="4764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0"/>
                  <a:pt x="31" y="710"/>
                </a:cubicBezTo>
                <a:cubicBezTo>
                  <a:pt x="21" y="700"/>
                  <a:pt x="14" y="689"/>
                  <a:pt x="8" y="676"/>
                </a:cubicBezTo>
                <a:cubicBezTo>
                  <a:pt x="3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CuadroTexto 190"/>
          <p:cNvSpPr txBox="1"/>
          <p:nvPr/>
        </p:nvSpPr>
        <p:spPr>
          <a:xfrm>
            <a:off x="4177440" y="4649760"/>
            <a:ext cx="1575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. Desde fuera: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CuadroTexto 191"/>
          <p:cNvSpPr txBox="1"/>
          <p:nvPr/>
        </p:nvSpPr>
        <p:spPr>
          <a:xfrm>
            <a:off x="5810040" y="4686840"/>
            <a:ext cx="1644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localhost:5432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CuadroTexto 192"/>
          <p:cNvSpPr txBox="1"/>
          <p:nvPr/>
        </p:nvSpPr>
        <p:spPr>
          <a:xfrm>
            <a:off x="7504920" y="4649760"/>
            <a:ext cx="3405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 la confusión número uno de 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CuadroTexto 193"/>
          <p:cNvSpPr txBox="1"/>
          <p:nvPr/>
        </p:nvSpPr>
        <p:spPr>
          <a:xfrm>
            <a:off x="666720" y="4992480"/>
            <a:ext cx="694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sesión.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CuadroTexto 19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CuadroTexto 19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CuadroTexto 19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0FC0E10-F356-D793-35CC-919BA6DE9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15" y="654938"/>
            <a:ext cx="10363199" cy="57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46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Forma libre 2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Forma libre 2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Forma libre 2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CuadroTexto 203"/>
          <p:cNvSpPr txBox="1"/>
          <p:nvPr/>
        </p:nvSpPr>
        <p:spPr>
          <a:xfrm>
            <a:off x="4456080" y="3063960"/>
            <a:ext cx="33602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Persistencia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CuadroTexto 20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CuadroTexto 20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CuadroTexto 20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Forma libre 20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Forma libre 20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Forma libre 20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Forma libre 210"/>
          <p:cNvSpPr/>
          <p:nvPr/>
        </p:nvSpPr>
        <p:spPr>
          <a:xfrm>
            <a:off x="676080" y="1562040"/>
            <a:ext cx="1162440" cy="409680"/>
          </a:xfrm>
          <a:custGeom>
            <a:avLst/>
            <a:gdLst/>
            <a:ahLst/>
            <a:cxnLst/>
            <a:rect l="0" t="0" r="r" b="b"/>
            <a:pathLst>
              <a:path w="3229" h="1138">
                <a:moveTo>
                  <a:pt x="0" y="0"/>
                </a:moveTo>
                <a:lnTo>
                  <a:pt x="3229" y="0"/>
                </a:lnTo>
                <a:lnTo>
                  <a:pt x="3229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Forma libre 211"/>
          <p:cNvSpPr/>
          <p:nvPr/>
        </p:nvSpPr>
        <p:spPr>
          <a:xfrm>
            <a:off x="1838160" y="1562040"/>
            <a:ext cx="3391200" cy="409680"/>
          </a:xfrm>
          <a:custGeom>
            <a:avLst/>
            <a:gdLst/>
            <a:ahLst/>
            <a:cxnLst/>
            <a:rect l="0" t="0" r="r" b="b"/>
            <a:pathLst>
              <a:path w="9420" h="1138">
                <a:moveTo>
                  <a:pt x="0" y="0"/>
                </a:moveTo>
                <a:lnTo>
                  <a:pt x="9420" y="0"/>
                </a:lnTo>
                <a:lnTo>
                  <a:pt x="942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Forma libre 212"/>
          <p:cNvSpPr/>
          <p:nvPr/>
        </p:nvSpPr>
        <p:spPr>
          <a:xfrm>
            <a:off x="5229000" y="1562040"/>
            <a:ext cx="2619720" cy="409680"/>
          </a:xfrm>
          <a:custGeom>
            <a:avLst/>
            <a:gdLst/>
            <a:ahLst/>
            <a:cxnLst/>
            <a:rect l="0" t="0" r="r" b="b"/>
            <a:pathLst>
              <a:path w="7277" h="1138">
                <a:moveTo>
                  <a:pt x="0" y="0"/>
                </a:moveTo>
                <a:lnTo>
                  <a:pt x="7277" y="0"/>
                </a:lnTo>
                <a:lnTo>
                  <a:pt x="727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Forma libre 213"/>
          <p:cNvSpPr/>
          <p:nvPr/>
        </p:nvSpPr>
        <p:spPr>
          <a:xfrm>
            <a:off x="676080" y="1562040"/>
            <a:ext cx="1162440" cy="409680"/>
          </a:xfrm>
          <a:custGeom>
            <a:avLst/>
            <a:gdLst/>
            <a:ahLst/>
            <a:cxnLst/>
            <a:rect l="0" t="0" r="r" b="b"/>
            <a:pathLst>
              <a:path w="3229" h="1138">
                <a:moveTo>
                  <a:pt x="0" y="0"/>
                </a:moveTo>
                <a:lnTo>
                  <a:pt x="3229" y="0"/>
                </a:lnTo>
                <a:lnTo>
                  <a:pt x="3229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Forma libre 214"/>
          <p:cNvSpPr/>
          <p:nvPr/>
        </p:nvSpPr>
        <p:spPr>
          <a:xfrm>
            <a:off x="1838160" y="1562040"/>
            <a:ext cx="3391200" cy="409680"/>
          </a:xfrm>
          <a:custGeom>
            <a:avLst/>
            <a:gdLst/>
            <a:ahLst/>
            <a:cxnLst/>
            <a:rect l="0" t="0" r="r" b="b"/>
            <a:pathLst>
              <a:path w="9420" h="1138">
                <a:moveTo>
                  <a:pt x="0" y="0"/>
                </a:moveTo>
                <a:lnTo>
                  <a:pt x="9420" y="0"/>
                </a:lnTo>
                <a:lnTo>
                  <a:pt x="942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Forma libre 215"/>
          <p:cNvSpPr/>
          <p:nvPr/>
        </p:nvSpPr>
        <p:spPr>
          <a:xfrm>
            <a:off x="5229000" y="1562040"/>
            <a:ext cx="2619720" cy="409680"/>
          </a:xfrm>
          <a:custGeom>
            <a:avLst/>
            <a:gdLst/>
            <a:ahLst/>
            <a:cxnLst/>
            <a:rect l="0" t="0" r="r" b="b"/>
            <a:pathLst>
              <a:path w="7277" h="1138">
                <a:moveTo>
                  <a:pt x="0" y="0"/>
                </a:moveTo>
                <a:lnTo>
                  <a:pt x="7277" y="0"/>
                </a:lnTo>
                <a:lnTo>
                  <a:pt x="727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Forma libre 216"/>
          <p:cNvSpPr/>
          <p:nvPr/>
        </p:nvSpPr>
        <p:spPr>
          <a:xfrm>
            <a:off x="676080" y="1971360"/>
            <a:ext cx="1162440" cy="410040"/>
          </a:xfrm>
          <a:custGeom>
            <a:avLst/>
            <a:gdLst/>
            <a:ahLst/>
            <a:cxnLst/>
            <a:rect l="0" t="0" r="r" b="b"/>
            <a:pathLst>
              <a:path w="3229" h="1139">
                <a:moveTo>
                  <a:pt x="0" y="0"/>
                </a:moveTo>
                <a:lnTo>
                  <a:pt x="3229" y="0"/>
                </a:lnTo>
                <a:lnTo>
                  <a:pt x="322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Forma libre 217"/>
          <p:cNvSpPr/>
          <p:nvPr/>
        </p:nvSpPr>
        <p:spPr>
          <a:xfrm>
            <a:off x="1838160" y="1971360"/>
            <a:ext cx="3391200" cy="410040"/>
          </a:xfrm>
          <a:custGeom>
            <a:avLst/>
            <a:gdLst/>
            <a:ahLst/>
            <a:cxnLst/>
            <a:rect l="0" t="0" r="r" b="b"/>
            <a:pathLst>
              <a:path w="9420" h="1139">
                <a:moveTo>
                  <a:pt x="0" y="0"/>
                </a:moveTo>
                <a:lnTo>
                  <a:pt x="9420" y="0"/>
                </a:lnTo>
                <a:lnTo>
                  <a:pt x="942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Forma libre 218"/>
          <p:cNvSpPr/>
          <p:nvPr/>
        </p:nvSpPr>
        <p:spPr>
          <a:xfrm>
            <a:off x="5229000" y="1971360"/>
            <a:ext cx="2619720" cy="410040"/>
          </a:xfrm>
          <a:custGeom>
            <a:avLst/>
            <a:gdLst/>
            <a:ahLst/>
            <a:cxnLst/>
            <a:rect l="0" t="0" r="r" b="b"/>
            <a:pathLst>
              <a:path w="7277" h="1139">
                <a:moveTo>
                  <a:pt x="0" y="0"/>
                </a:moveTo>
                <a:lnTo>
                  <a:pt x="7277" y="0"/>
                </a:lnTo>
                <a:lnTo>
                  <a:pt x="727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Forma libre 219"/>
          <p:cNvSpPr/>
          <p:nvPr/>
        </p:nvSpPr>
        <p:spPr>
          <a:xfrm>
            <a:off x="676080" y="2381040"/>
            <a:ext cx="1162440" cy="419400"/>
          </a:xfrm>
          <a:custGeom>
            <a:avLst/>
            <a:gdLst/>
            <a:ahLst/>
            <a:cxnLst/>
            <a:rect l="0" t="0" r="r" b="b"/>
            <a:pathLst>
              <a:path w="3229" h="1165">
                <a:moveTo>
                  <a:pt x="0" y="0"/>
                </a:moveTo>
                <a:lnTo>
                  <a:pt x="3229" y="0"/>
                </a:lnTo>
                <a:lnTo>
                  <a:pt x="322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Forma libre 220"/>
          <p:cNvSpPr/>
          <p:nvPr/>
        </p:nvSpPr>
        <p:spPr>
          <a:xfrm>
            <a:off x="1838160" y="2381040"/>
            <a:ext cx="3391200" cy="419400"/>
          </a:xfrm>
          <a:custGeom>
            <a:avLst/>
            <a:gdLst/>
            <a:ahLst/>
            <a:cxnLst/>
            <a:rect l="0" t="0" r="r" b="b"/>
            <a:pathLst>
              <a:path w="9420" h="1165">
                <a:moveTo>
                  <a:pt x="0" y="0"/>
                </a:moveTo>
                <a:lnTo>
                  <a:pt x="9420" y="0"/>
                </a:lnTo>
                <a:lnTo>
                  <a:pt x="942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Forma libre 221"/>
          <p:cNvSpPr/>
          <p:nvPr/>
        </p:nvSpPr>
        <p:spPr>
          <a:xfrm>
            <a:off x="5229000" y="2381040"/>
            <a:ext cx="2619720" cy="419400"/>
          </a:xfrm>
          <a:custGeom>
            <a:avLst/>
            <a:gdLst/>
            <a:ahLst/>
            <a:cxnLst/>
            <a:rect l="0" t="0" r="r" b="b"/>
            <a:pathLst>
              <a:path w="7277" h="1165">
                <a:moveTo>
                  <a:pt x="0" y="0"/>
                </a:moveTo>
                <a:lnTo>
                  <a:pt x="7277" y="0"/>
                </a:lnTo>
                <a:lnTo>
                  <a:pt x="727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Forma libre 222"/>
          <p:cNvSpPr/>
          <p:nvPr/>
        </p:nvSpPr>
        <p:spPr>
          <a:xfrm>
            <a:off x="676080" y="2800080"/>
            <a:ext cx="1162440" cy="410040"/>
          </a:xfrm>
          <a:custGeom>
            <a:avLst/>
            <a:gdLst/>
            <a:ahLst/>
            <a:cxnLst/>
            <a:rect l="0" t="0" r="r" b="b"/>
            <a:pathLst>
              <a:path w="3229" h="1139">
                <a:moveTo>
                  <a:pt x="0" y="0"/>
                </a:moveTo>
                <a:lnTo>
                  <a:pt x="3229" y="0"/>
                </a:lnTo>
                <a:lnTo>
                  <a:pt x="322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Forma libre 223"/>
          <p:cNvSpPr/>
          <p:nvPr/>
        </p:nvSpPr>
        <p:spPr>
          <a:xfrm>
            <a:off x="1838160" y="2800080"/>
            <a:ext cx="3391200" cy="410040"/>
          </a:xfrm>
          <a:custGeom>
            <a:avLst/>
            <a:gdLst/>
            <a:ahLst/>
            <a:cxnLst/>
            <a:rect l="0" t="0" r="r" b="b"/>
            <a:pathLst>
              <a:path w="9420" h="1139">
                <a:moveTo>
                  <a:pt x="0" y="0"/>
                </a:moveTo>
                <a:lnTo>
                  <a:pt x="9420" y="0"/>
                </a:lnTo>
                <a:lnTo>
                  <a:pt x="942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Forma libre 224"/>
          <p:cNvSpPr/>
          <p:nvPr/>
        </p:nvSpPr>
        <p:spPr>
          <a:xfrm>
            <a:off x="5229000" y="2800080"/>
            <a:ext cx="2619720" cy="410040"/>
          </a:xfrm>
          <a:custGeom>
            <a:avLst/>
            <a:gdLst/>
            <a:ahLst/>
            <a:cxnLst/>
            <a:rect l="0" t="0" r="r" b="b"/>
            <a:pathLst>
              <a:path w="7277" h="1139">
                <a:moveTo>
                  <a:pt x="0" y="0"/>
                </a:moveTo>
                <a:lnTo>
                  <a:pt x="7277" y="0"/>
                </a:lnTo>
                <a:lnTo>
                  <a:pt x="727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Forma libre 225"/>
          <p:cNvSpPr/>
          <p:nvPr/>
        </p:nvSpPr>
        <p:spPr>
          <a:xfrm>
            <a:off x="676080" y="3209760"/>
            <a:ext cx="1162440" cy="410040"/>
          </a:xfrm>
          <a:custGeom>
            <a:avLst/>
            <a:gdLst/>
            <a:ahLst/>
            <a:cxnLst/>
            <a:rect l="0" t="0" r="r" b="b"/>
            <a:pathLst>
              <a:path w="3229" h="1139">
                <a:moveTo>
                  <a:pt x="0" y="0"/>
                </a:moveTo>
                <a:lnTo>
                  <a:pt x="3229" y="0"/>
                </a:lnTo>
                <a:lnTo>
                  <a:pt x="322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Forma libre 226"/>
          <p:cNvSpPr/>
          <p:nvPr/>
        </p:nvSpPr>
        <p:spPr>
          <a:xfrm>
            <a:off x="1838160" y="3209760"/>
            <a:ext cx="3391200" cy="410040"/>
          </a:xfrm>
          <a:custGeom>
            <a:avLst/>
            <a:gdLst/>
            <a:ahLst/>
            <a:cxnLst/>
            <a:rect l="0" t="0" r="r" b="b"/>
            <a:pathLst>
              <a:path w="9420" h="1139">
                <a:moveTo>
                  <a:pt x="0" y="0"/>
                </a:moveTo>
                <a:lnTo>
                  <a:pt x="9420" y="0"/>
                </a:lnTo>
                <a:lnTo>
                  <a:pt x="942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Forma libre 227"/>
          <p:cNvSpPr/>
          <p:nvPr/>
        </p:nvSpPr>
        <p:spPr>
          <a:xfrm>
            <a:off x="5229000" y="3209760"/>
            <a:ext cx="2619720" cy="410040"/>
          </a:xfrm>
          <a:custGeom>
            <a:avLst/>
            <a:gdLst/>
            <a:ahLst/>
            <a:cxnLst/>
            <a:rect l="0" t="0" r="r" b="b"/>
            <a:pathLst>
              <a:path w="7277" h="1139">
                <a:moveTo>
                  <a:pt x="0" y="0"/>
                </a:moveTo>
                <a:lnTo>
                  <a:pt x="7277" y="0"/>
                </a:lnTo>
                <a:lnTo>
                  <a:pt x="727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Forma libre 228"/>
          <p:cNvSpPr/>
          <p:nvPr/>
        </p:nvSpPr>
        <p:spPr>
          <a:xfrm>
            <a:off x="666720" y="1552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Forma libre 229"/>
          <p:cNvSpPr/>
          <p:nvPr/>
        </p:nvSpPr>
        <p:spPr>
          <a:xfrm>
            <a:off x="666720" y="1552320"/>
            <a:ext cx="1181160" cy="10080"/>
          </a:xfrm>
          <a:custGeom>
            <a:avLst/>
            <a:gdLst/>
            <a:ahLst/>
            <a:cxnLst/>
            <a:rect l="0" t="0" r="r" b="b"/>
            <a:pathLst>
              <a:path w="3281" h="28">
                <a:moveTo>
                  <a:pt x="0" y="0"/>
                </a:moveTo>
                <a:lnTo>
                  <a:pt x="3281" y="0"/>
                </a:lnTo>
                <a:lnTo>
                  <a:pt x="32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Forma libre 230"/>
          <p:cNvSpPr/>
          <p:nvPr/>
        </p:nvSpPr>
        <p:spPr>
          <a:xfrm>
            <a:off x="1838160" y="1552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Forma libre 231"/>
          <p:cNvSpPr/>
          <p:nvPr/>
        </p:nvSpPr>
        <p:spPr>
          <a:xfrm>
            <a:off x="1847520" y="1552320"/>
            <a:ext cx="3391560" cy="10080"/>
          </a:xfrm>
          <a:custGeom>
            <a:avLst/>
            <a:gdLst/>
            <a:ahLst/>
            <a:cxnLst/>
            <a:rect l="0" t="0" r="r" b="b"/>
            <a:pathLst>
              <a:path w="9421" h="28">
                <a:moveTo>
                  <a:pt x="0" y="0"/>
                </a:moveTo>
                <a:lnTo>
                  <a:pt x="9421" y="0"/>
                </a:lnTo>
                <a:lnTo>
                  <a:pt x="94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Forma libre 232"/>
          <p:cNvSpPr/>
          <p:nvPr/>
        </p:nvSpPr>
        <p:spPr>
          <a:xfrm>
            <a:off x="5229000" y="15523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Forma libre 233"/>
          <p:cNvSpPr/>
          <p:nvPr/>
        </p:nvSpPr>
        <p:spPr>
          <a:xfrm>
            <a:off x="5238720" y="1552320"/>
            <a:ext cx="2610000" cy="10080"/>
          </a:xfrm>
          <a:custGeom>
            <a:avLst/>
            <a:gdLst/>
            <a:ahLst/>
            <a:cxnLst/>
            <a:rect l="0" t="0" r="r" b="b"/>
            <a:pathLst>
              <a:path w="7250" h="28">
                <a:moveTo>
                  <a:pt x="0" y="0"/>
                </a:moveTo>
                <a:lnTo>
                  <a:pt x="7250" y="0"/>
                </a:lnTo>
                <a:lnTo>
                  <a:pt x="7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Forma libre 234"/>
          <p:cNvSpPr/>
          <p:nvPr/>
        </p:nvSpPr>
        <p:spPr>
          <a:xfrm>
            <a:off x="7839000" y="1552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Forma libre 235"/>
          <p:cNvSpPr/>
          <p:nvPr/>
        </p:nvSpPr>
        <p:spPr>
          <a:xfrm>
            <a:off x="666720" y="1962000"/>
            <a:ext cx="1181160" cy="9720"/>
          </a:xfrm>
          <a:custGeom>
            <a:avLst/>
            <a:gdLst/>
            <a:ahLst/>
            <a:cxnLst/>
            <a:rect l="0" t="0" r="r" b="b"/>
            <a:pathLst>
              <a:path w="3281" h="27">
                <a:moveTo>
                  <a:pt x="0" y="0"/>
                </a:moveTo>
                <a:lnTo>
                  <a:pt x="3281" y="0"/>
                </a:lnTo>
                <a:lnTo>
                  <a:pt x="32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Forma libre 236"/>
          <p:cNvSpPr/>
          <p:nvPr/>
        </p:nvSpPr>
        <p:spPr>
          <a:xfrm>
            <a:off x="1847520" y="1962000"/>
            <a:ext cx="3391560" cy="9720"/>
          </a:xfrm>
          <a:custGeom>
            <a:avLst/>
            <a:gdLst/>
            <a:ahLst/>
            <a:cxnLst/>
            <a:rect l="0" t="0" r="r" b="b"/>
            <a:pathLst>
              <a:path w="9421" h="27">
                <a:moveTo>
                  <a:pt x="0" y="0"/>
                </a:moveTo>
                <a:lnTo>
                  <a:pt x="9421" y="0"/>
                </a:lnTo>
                <a:lnTo>
                  <a:pt x="94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Forma libre 237"/>
          <p:cNvSpPr/>
          <p:nvPr/>
        </p:nvSpPr>
        <p:spPr>
          <a:xfrm>
            <a:off x="5238720" y="1962000"/>
            <a:ext cx="2610000" cy="9720"/>
          </a:xfrm>
          <a:custGeom>
            <a:avLst/>
            <a:gdLst/>
            <a:ahLst/>
            <a:cxnLst/>
            <a:rect l="0" t="0" r="r" b="b"/>
            <a:pathLst>
              <a:path w="7250" h="27">
                <a:moveTo>
                  <a:pt x="0" y="0"/>
                </a:moveTo>
                <a:lnTo>
                  <a:pt x="7250" y="0"/>
                </a:lnTo>
                <a:lnTo>
                  <a:pt x="7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Forma libre 238"/>
          <p:cNvSpPr/>
          <p:nvPr/>
        </p:nvSpPr>
        <p:spPr>
          <a:xfrm>
            <a:off x="666720" y="19713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Forma libre 239"/>
          <p:cNvSpPr/>
          <p:nvPr/>
        </p:nvSpPr>
        <p:spPr>
          <a:xfrm>
            <a:off x="1838160" y="19713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Forma libre 240"/>
          <p:cNvSpPr/>
          <p:nvPr/>
        </p:nvSpPr>
        <p:spPr>
          <a:xfrm>
            <a:off x="5229000" y="197136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Forma libre 241"/>
          <p:cNvSpPr/>
          <p:nvPr/>
        </p:nvSpPr>
        <p:spPr>
          <a:xfrm>
            <a:off x="7839000" y="19713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Forma libre 242"/>
          <p:cNvSpPr/>
          <p:nvPr/>
        </p:nvSpPr>
        <p:spPr>
          <a:xfrm>
            <a:off x="66672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Forma libre 243"/>
          <p:cNvSpPr/>
          <p:nvPr/>
        </p:nvSpPr>
        <p:spPr>
          <a:xfrm>
            <a:off x="666720" y="2371680"/>
            <a:ext cx="1181160" cy="9720"/>
          </a:xfrm>
          <a:custGeom>
            <a:avLst/>
            <a:gdLst/>
            <a:ahLst/>
            <a:cxnLst/>
            <a:rect l="0" t="0" r="r" b="b"/>
            <a:pathLst>
              <a:path w="3281" h="27">
                <a:moveTo>
                  <a:pt x="0" y="0"/>
                </a:moveTo>
                <a:lnTo>
                  <a:pt x="3281" y="0"/>
                </a:lnTo>
                <a:lnTo>
                  <a:pt x="32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Forma libre 244"/>
          <p:cNvSpPr/>
          <p:nvPr/>
        </p:nvSpPr>
        <p:spPr>
          <a:xfrm>
            <a:off x="183816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Forma libre 245"/>
          <p:cNvSpPr/>
          <p:nvPr/>
        </p:nvSpPr>
        <p:spPr>
          <a:xfrm>
            <a:off x="1847520" y="2371680"/>
            <a:ext cx="3391560" cy="9720"/>
          </a:xfrm>
          <a:custGeom>
            <a:avLst/>
            <a:gdLst/>
            <a:ahLst/>
            <a:cxnLst/>
            <a:rect l="0" t="0" r="r" b="b"/>
            <a:pathLst>
              <a:path w="9421" h="27">
                <a:moveTo>
                  <a:pt x="0" y="0"/>
                </a:moveTo>
                <a:lnTo>
                  <a:pt x="9421" y="0"/>
                </a:lnTo>
                <a:lnTo>
                  <a:pt x="94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Forma libre 246"/>
          <p:cNvSpPr/>
          <p:nvPr/>
        </p:nvSpPr>
        <p:spPr>
          <a:xfrm>
            <a:off x="5229000" y="23810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Forma libre 247"/>
          <p:cNvSpPr/>
          <p:nvPr/>
        </p:nvSpPr>
        <p:spPr>
          <a:xfrm>
            <a:off x="5238720" y="2371680"/>
            <a:ext cx="2610000" cy="9720"/>
          </a:xfrm>
          <a:custGeom>
            <a:avLst/>
            <a:gdLst/>
            <a:ahLst/>
            <a:cxnLst/>
            <a:rect l="0" t="0" r="r" b="b"/>
            <a:pathLst>
              <a:path w="7250" h="27">
                <a:moveTo>
                  <a:pt x="0" y="0"/>
                </a:moveTo>
                <a:lnTo>
                  <a:pt x="7250" y="0"/>
                </a:lnTo>
                <a:lnTo>
                  <a:pt x="7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Forma libre 248"/>
          <p:cNvSpPr/>
          <p:nvPr/>
        </p:nvSpPr>
        <p:spPr>
          <a:xfrm>
            <a:off x="783900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Forma libre 249"/>
          <p:cNvSpPr/>
          <p:nvPr/>
        </p:nvSpPr>
        <p:spPr>
          <a:xfrm>
            <a:off x="666720" y="28000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Forma libre 250"/>
          <p:cNvSpPr/>
          <p:nvPr/>
        </p:nvSpPr>
        <p:spPr>
          <a:xfrm>
            <a:off x="666720" y="2790720"/>
            <a:ext cx="1181160" cy="9720"/>
          </a:xfrm>
          <a:custGeom>
            <a:avLst/>
            <a:gdLst/>
            <a:ahLst/>
            <a:cxnLst/>
            <a:rect l="0" t="0" r="r" b="b"/>
            <a:pathLst>
              <a:path w="3281" h="27">
                <a:moveTo>
                  <a:pt x="0" y="0"/>
                </a:moveTo>
                <a:lnTo>
                  <a:pt x="3281" y="0"/>
                </a:lnTo>
                <a:lnTo>
                  <a:pt x="32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Forma libre 251"/>
          <p:cNvSpPr/>
          <p:nvPr/>
        </p:nvSpPr>
        <p:spPr>
          <a:xfrm>
            <a:off x="1838160" y="28000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Forma libre 252"/>
          <p:cNvSpPr/>
          <p:nvPr/>
        </p:nvSpPr>
        <p:spPr>
          <a:xfrm>
            <a:off x="1847520" y="2790720"/>
            <a:ext cx="3391560" cy="9720"/>
          </a:xfrm>
          <a:custGeom>
            <a:avLst/>
            <a:gdLst/>
            <a:ahLst/>
            <a:cxnLst/>
            <a:rect l="0" t="0" r="r" b="b"/>
            <a:pathLst>
              <a:path w="9421" h="27">
                <a:moveTo>
                  <a:pt x="0" y="0"/>
                </a:moveTo>
                <a:lnTo>
                  <a:pt x="9421" y="0"/>
                </a:lnTo>
                <a:lnTo>
                  <a:pt x="94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Forma libre 253"/>
          <p:cNvSpPr/>
          <p:nvPr/>
        </p:nvSpPr>
        <p:spPr>
          <a:xfrm>
            <a:off x="5229000" y="28000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Forma libre 254"/>
          <p:cNvSpPr/>
          <p:nvPr/>
        </p:nvSpPr>
        <p:spPr>
          <a:xfrm>
            <a:off x="5238720" y="2790720"/>
            <a:ext cx="2610000" cy="9720"/>
          </a:xfrm>
          <a:custGeom>
            <a:avLst/>
            <a:gdLst/>
            <a:ahLst/>
            <a:cxnLst/>
            <a:rect l="0" t="0" r="r" b="b"/>
            <a:pathLst>
              <a:path w="7250" h="27">
                <a:moveTo>
                  <a:pt x="0" y="0"/>
                </a:moveTo>
                <a:lnTo>
                  <a:pt x="7250" y="0"/>
                </a:lnTo>
                <a:lnTo>
                  <a:pt x="7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Forma libre 255"/>
          <p:cNvSpPr/>
          <p:nvPr/>
        </p:nvSpPr>
        <p:spPr>
          <a:xfrm>
            <a:off x="7839000" y="28000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Forma libre 256"/>
          <p:cNvSpPr/>
          <p:nvPr/>
        </p:nvSpPr>
        <p:spPr>
          <a:xfrm>
            <a:off x="666720" y="32097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Forma libre 257"/>
          <p:cNvSpPr/>
          <p:nvPr/>
        </p:nvSpPr>
        <p:spPr>
          <a:xfrm>
            <a:off x="666720" y="3200040"/>
            <a:ext cx="1181160" cy="10080"/>
          </a:xfrm>
          <a:custGeom>
            <a:avLst/>
            <a:gdLst/>
            <a:ahLst/>
            <a:cxnLst/>
            <a:rect l="0" t="0" r="r" b="b"/>
            <a:pathLst>
              <a:path w="3281" h="28">
                <a:moveTo>
                  <a:pt x="0" y="0"/>
                </a:moveTo>
                <a:lnTo>
                  <a:pt x="3281" y="0"/>
                </a:lnTo>
                <a:lnTo>
                  <a:pt x="32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Forma libre 258"/>
          <p:cNvSpPr/>
          <p:nvPr/>
        </p:nvSpPr>
        <p:spPr>
          <a:xfrm>
            <a:off x="1838160" y="32097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Forma libre 259"/>
          <p:cNvSpPr/>
          <p:nvPr/>
        </p:nvSpPr>
        <p:spPr>
          <a:xfrm>
            <a:off x="1847520" y="3200040"/>
            <a:ext cx="3391560" cy="10080"/>
          </a:xfrm>
          <a:custGeom>
            <a:avLst/>
            <a:gdLst/>
            <a:ahLst/>
            <a:cxnLst/>
            <a:rect l="0" t="0" r="r" b="b"/>
            <a:pathLst>
              <a:path w="9421" h="28">
                <a:moveTo>
                  <a:pt x="0" y="0"/>
                </a:moveTo>
                <a:lnTo>
                  <a:pt x="9421" y="0"/>
                </a:lnTo>
                <a:lnTo>
                  <a:pt x="94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Forma libre 260"/>
          <p:cNvSpPr/>
          <p:nvPr/>
        </p:nvSpPr>
        <p:spPr>
          <a:xfrm>
            <a:off x="5229000" y="320976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Forma libre 261"/>
          <p:cNvSpPr/>
          <p:nvPr/>
        </p:nvSpPr>
        <p:spPr>
          <a:xfrm>
            <a:off x="5238720" y="3200040"/>
            <a:ext cx="2610000" cy="10080"/>
          </a:xfrm>
          <a:custGeom>
            <a:avLst/>
            <a:gdLst/>
            <a:ahLst/>
            <a:cxnLst/>
            <a:rect l="0" t="0" r="r" b="b"/>
            <a:pathLst>
              <a:path w="7250" h="28">
                <a:moveTo>
                  <a:pt x="0" y="0"/>
                </a:moveTo>
                <a:lnTo>
                  <a:pt x="7250" y="0"/>
                </a:lnTo>
                <a:lnTo>
                  <a:pt x="7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Forma libre 262"/>
          <p:cNvSpPr/>
          <p:nvPr/>
        </p:nvSpPr>
        <p:spPr>
          <a:xfrm>
            <a:off x="7839000" y="32097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Forma libre 263"/>
          <p:cNvSpPr/>
          <p:nvPr/>
        </p:nvSpPr>
        <p:spPr>
          <a:xfrm>
            <a:off x="666720" y="3609720"/>
            <a:ext cx="1181160" cy="10080"/>
          </a:xfrm>
          <a:custGeom>
            <a:avLst/>
            <a:gdLst/>
            <a:ahLst/>
            <a:cxnLst/>
            <a:rect l="0" t="0" r="r" b="b"/>
            <a:pathLst>
              <a:path w="3281" h="28">
                <a:moveTo>
                  <a:pt x="0" y="0"/>
                </a:moveTo>
                <a:lnTo>
                  <a:pt x="3281" y="0"/>
                </a:lnTo>
                <a:lnTo>
                  <a:pt x="32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Forma libre 264"/>
          <p:cNvSpPr/>
          <p:nvPr/>
        </p:nvSpPr>
        <p:spPr>
          <a:xfrm>
            <a:off x="1847520" y="3609720"/>
            <a:ext cx="3391560" cy="10080"/>
          </a:xfrm>
          <a:custGeom>
            <a:avLst/>
            <a:gdLst/>
            <a:ahLst/>
            <a:cxnLst/>
            <a:rect l="0" t="0" r="r" b="b"/>
            <a:pathLst>
              <a:path w="9421" h="28">
                <a:moveTo>
                  <a:pt x="0" y="0"/>
                </a:moveTo>
                <a:lnTo>
                  <a:pt x="9421" y="0"/>
                </a:lnTo>
                <a:lnTo>
                  <a:pt x="94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Forma libre 265"/>
          <p:cNvSpPr/>
          <p:nvPr/>
        </p:nvSpPr>
        <p:spPr>
          <a:xfrm>
            <a:off x="5238720" y="3609720"/>
            <a:ext cx="2610000" cy="10080"/>
          </a:xfrm>
          <a:custGeom>
            <a:avLst/>
            <a:gdLst/>
            <a:ahLst/>
            <a:cxnLst/>
            <a:rect l="0" t="0" r="r" b="b"/>
            <a:pathLst>
              <a:path w="7250" h="28">
                <a:moveTo>
                  <a:pt x="0" y="0"/>
                </a:moveTo>
                <a:lnTo>
                  <a:pt x="7250" y="0"/>
                </a:lnTo>
                <a:lnTo>
                  <a:pt x="7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Forma libre 266"/>
          <p:cNvSpPr/>
          <p:nvPr/>
        </p:nvSpPr>
        <p:spPr>
          <a:xfrm>
            <a:off x="671400" y="377640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Forma libre 267"/>
          <p:cNvSpPr/>
          <p:nvPr/>
        </p:nvSpPr>
        <p:spPr>
          <a:xfrm>
            <a:off x="671400" y="377640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Forma libre 268"/>
          <p:cNvSpPr/>
          <p:nvPr/>
        </p:nvSpPr>
        <p:spPr>
          <a:xfrm>
            <a:off x="666720" y="503856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Forma libre 269"/>
          <p:cNvSpPr/>
          <p:nvPr/>
        </p:nvSpPr>
        <p:spPr>
          <a:xfrm>
            <a:off x="666720" y="503856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CuadroTexto 270"/>
          <p:cNvSpPr txBox="1"/>
          <p:nvPr/>
        </p:nvSpPr>
        <p:spPr>
          <a:xfrm>
            <a:off x="666720" y="920520"/>
            <a:ext cx="38847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Volumen contra bind mount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CuadroTexto 271"/>
          <p:cNvSpPr txBox="1"/>
          <p:nvPr/>
        </p:nvSpPr>
        <p:spPr>
          <a:xfrm>
            <a:off x="2572920" y="1657080"/>
            <a:ext cx="1940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Volumen con nombre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CuadroTexto 272"/>
          <p:cNvSpPr txBox="1"/>
          <p:nvPr/>
        </p:nvSpPr>
        <p:spPr>
          <a:xfrm>
            <a:off x="6016320" y="1657080"/>
            <a:ext cx="1048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Bind mount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Forma libre 273"/>
          <p:cNvSpPr/>
          <p:nvPr/>
        </p:nvSpPr>
        <p:spPr>
          <a:xfrm>
            <a:off x="1971360" y="2066760"/>
            <a:ext cx="3134160" cy="228960"/>
          </a:xfrm>
          <a:custGeom>
            <a:avLst/>
            <a:gdLst/>
            <a:ahLst/>
            <a:cxnLst/>
            <a:rect l="0" t="0" r="r" b="b"/>
            <a:pathLst>
              <a:path w="8706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8600" y="0"/>
                </a:lnTo>
                <a:cubicBezTo>
                  <a:pt x="8614" y="0"/>
                  <a:pt x="8628" y="3"/>
                  <a:pt x="8641" y="8"/>
                </a:cubicBezTo>
                <a:cubicBezTo>
                  <a:pt x="8654" y="13"/>
                  <a:pt x="8665" y="21"/>
                  <a:pt x="8675" y="31"/>
                </a:cubicBezTo>
                <a:cubicBezTo>
                  <a:pt x="8685" y="41"/>
                  <a:pt x="8693" y="52"/>
                  <a:pt x="8698" y="65"/>
                </a:cubicBezTo>
                <a:cubicBezTo>
                  <a:pt x="8703" y="78"/>
                  <a:pt x="8706" y="92"/>
                  <a:pt x="8706" y="106"/>
                </a:cubicBezTo>
                <a:lnTo>
                  <a:pt x="8706" y="530"/>
                </a:lnTo>
                <a:cubicBezTo>
                  <a:pt x="8706" y="544"/>
                  <a:pt x="8703" y="558"/>
                  <a:pt x="8698" y="571"/>
                </a:cubicBezTo>
                <a:cubicBezTo>
                  <a:pt x="8693" y="584"/>
                  <a:pt x="8685" y="595"/>
                  <a:pt x="8675" y="605"/>
                </a:cubicBezTo>
                <a:cubicBezTo>
                  <a:pt x="8665" y="615"/>
                  <a:pt x="8654" y="623"/>
                  <a:pt x="8641" y="628"/>
                </a:cubicBezTo>
                <a:cubicBezTo>
                  <a:pt x="8628" y="633"/>
                  <a:pt x="8614" y="636"/>
                  <a:pt x="8600" y="636"/>
                </a:cubicBezTo>
                <a:lnTo>
                  <a:pt x="106" y="636"/>
                </a:lnTo>
                <a:cubicBezTo>
                  <a:pt x="92" y="636"/>
                  <a:pt x="79" y="633"/>
                  <a:pt x="66" y="628"/>
                </a:cubicBezTo>
                <a:cubicBezTo>
                  <a:pt x="53" y="623"/>
                  <a:pt x="41" y="615"/>
                  <a:pt x="31" y="605"/>
                </a:cubicBezTo>
                <a:cubicBezTo>
                  <a:pt x="21" y="595"/>
                  <a:pt x="14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CuadroTexto 274"/>
          <p:cNvSpPr txBox="1"/>
          <p:nvPr/>
        </p:nvSpPr>
        <p:spPr>
          <a:xfrm>
            <a:off x="799920" y="2057040"/>
            <a:ext cx="632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Sintaxis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Forma libre 275"/>
          <p:cNvSpPr/>
          <p:nvPr/>
        </p:nvSpPr>
        <p:spPr>
          <a:xfrm>
            <a:off x="5362560" y="2066760"/>
            <a:ext cx="2257560" cy="228960"/>
          </a:xfrm>
          <a:custGeom>
            <a:avLst/>
            <a:gdLst/>
            <a:ahLst/>
            <a:cxnLst/>
            <a:rect l="0" t="0" r="r" b="b"/>
            <a:pathLst>
              <a:path w="6271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6165" y="0"/>
                </a:lnTo>
                <a:cubicBezTo>
                  <a:pt x="6179" y="0"/>
                  <a:pt x="6193" y="3"/>
                  <a:pt x="6206" y="8"/>
                </a:cubicBezTo>
                <a:cubicBezTo>
                  <a:pt x="6219" y="13"/>
                  <a:pt x="6230" y="21"/>
                  <a:pt x="6240" y="31"/>
                </a:cubicBezTo>
                <a:cubicBezTo>
                  <a:pt x="6250" y="41"/>
                  <a:pt x="6258" y="52"/>
                  <a:pt x="6263" y="65"/>
                </a:cubicBezTo>
                <a:cubicBezTo>
                  <a:pt x="6268" y="78"/>
                  <a:pt x="6271" y="92"/>
                  <a:pt x="6271" y="106"/>
                </a:cubicBezTo>
                <a:lnTo>
                  <a:pt x="6271" y="530"/>
                </a:lnTo>
                <a:cubicBezTo>
                  <a:pt x="6271" y="544"/>
                  <a:pt x="6268" y="558"/>
                  <a:pt x="6263" y="571"/>
                </a:cubicBezTo>
                <a:cubicBezTo>
                  <a:pt x="6258" y="584"/>
                  <a:pt x="6250" y="595"/>
                  <a:pt x="6240" y="605"/>
                </a:cubicBezTo>
                <a:cubicBezTo>
                  <a:pt x="6230" y="615"/>
                  <a:pt x="6219" y="623"/>
                  <a:pt x="6206" y="628"/>
                </a:cubicBezTo>
                <a:cubicBezTo>
                  <a:pt x="6193" y="633"/>
                  <a:pt x="6179" y="636"/>
                  <a:pt x="6165" y="636"/>
                </a:cubicBezTo>
                <a:lnTo>
                  <a:pt x="105" y="636"/>
                </a:lnTo>
                <a:cubicBezTo>
                  <a:pt x="91" y="636"/>
                  <a:pt x="78" y="633"/>
                  <a:pt x="65" y="628"/>
                </a:cubicBezTo>
                <a:cubicBezTo>
                  <a:pt x="52" y="623"/>
                  <a:pt x="40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2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CuadroTexto 276"/>
          <p:cNvSpPr txBox="1"/>
          <p:nvPr/>
        </p:nvSpPr>
        <p:spPr>
          <a:xfrm>
            <a:off x="2025000" y="2088000"/>
            <a:ext cx="30157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pgdata:/var/lib/postgresql/data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CuadroTexto 277"/>
          <p:cNvSpPr txBox="1"/>
          <p:nvPr/>
        </p:nvSpPr>
        <p:spPr>
          <a:xfrm>
            <a:off x="5418360" y="2088000"/>
            <a:ext cx="21405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./notebooks:/home/work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CuadroTexto 278"/>
          <p:cNvSpPr txBox="1"/>
          <p:nvPr/>
        </p:nvSpPr>
        <p:spPr>
          <a:xfrm>
            <a:off x="799920" y="2476080"/>
            <a:ext cx="911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Dónde vive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CuadroTexto 279"/>
          <p:cNvSpPr txBox="1"/>
          <p:nvPr/>
        </p:nvSpPr>
        <p:spPr>
          <a:xfrm>
            <a:off x="1967760" y="2476080"/>
            <a:ext cx="15325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Docker lo gestiona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CuadroTexto 280"/>
          <p:cNvSpPr txBox="1"/>
          <p:nvPr/>
        </p:nvSpPr>
        <p:spPr>
          <a:xfrm>
            <a:off x="5361480" y="2476080"/>
            <a:ext cx="1115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ruta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tuya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CuadroTexto 281"/>
          <p:cNvSpPr txBox="1"/>
          <p:nvPr/>
        </p:nvSpPr>
        <p:spPr>
          <a:xfrm>
            <a:off x="799920" y="2885760"/>
            <a:ext cx="741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Para qué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CuadroTexto 282"/>
          <p:cNvSpPr txBox="1"/>
          <p:nvPr/>
        </p:nvSpPr>
        <p:spPr>
          <a:xfrm>
            <a:off x="1967760" y="2885760"/>
            <a:ext cx="1966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datos de la base, caché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CuadroTexto 283"/>
          <p:cNvSpPr txBox="1"/>
          <p:nvPr/>
        </p:nvSpPr>
        <p:spPr>
          <a:xfrm>
            <a:off x="5361480" y="2885760"/>
            <a:ext cx="2358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tu código, que editas en vivo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Forma libre 284"/>
          <p:cNvSpPr/>
          <p:nvPr/>
        </p:nvSpPr>
        <p:spPr>
          <a:xfrm>
            <a:off x="1971360" y="3305160"/>
            <a:ext cx="790920" cy="228960"/>
          </a:xfrm>
          <a:custGeom>
            <a:avLst/>
            <a:gdLst/>
            <a:ahLst/>
            <a:cxnLst/>
            <a:rect l="0" t="0" r="r" b="b"/>
            <a:pathLst>
              <a:path w="2197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5" y="53"/>
                  <a:pt x="22" y="41"/>
                  <a:pt x="32" y="32"/>
                </a:cubicBezTo>
                <a:cubicBezTo>
                  <a:pt x="42" y="22"/>
                  <a:pt x="54" y="14"/>
                  <a:pt x="67" y="8"/>
                </a:cubicBezTo>
                <a:cubicBezTo>
                  <a:pt x="80" y="2"/>
                  <a:pt x="93" y="0"/>
                  <a:pt x="107" y="0"/>
                </a:cubicBezTo>
                <a:lnTo>
                  <a:pt x="2092" y="0"/>
                </a:lnTo>
                <a:cubicBezTo>
                  <a:pt x="2106" y="0"/>
                  <a:pt x="2119" y="2"/>
                  <a:pt x="2132" y="8"/>
                </a:cubicBezTo>
                <a:cubicBezTo>
                  <a:pt x="2145" y="14"/>
                  <a:pt x="2156" y="22"/>
                  <a:pt x="2166" y="32"/>
                </a:cubicBezTo>
                <a:cubicBezTo>
                  <a:pt x="2176" y="41"/>
                  <a:pt x="2184" y="53"/>
                  <a:pt x="2189" y="66"/>
                </a:cubicBezTo>
                <a:cubicBezTo>
                  <a:pt x="2195" y="79"/>
                  <a:pt x="2197" y="92"/>
                  <a:pt x="2197" y="106"/>
                </a:cubicBezTo>
                <a:lnTo>
                  <a:pt x="2197" y="530"/>
                </a:lnTo>
                <a:cubicBezTo>
                  <a:pt x="2197" y="544"/>
                  <a:pt x="2195" y="557"/>
                  <a:pt x="2189" y="570"/>
                </a:cubicBezTo>
                <a:cubicBezTo>
                  <a:pt x="2184" y="583"/>
                  <a:pt x="2176" y="595"/>
                  <a:pt x="2166" y="605"/>
                </a:cubicBezTo>
                <a:cubicBezTo>
                  <a:pt x="2156" y="614"/>
                  <a:pt x="2145" y="622"/>
                  <a:pt x="2132" y="627"/>
                </a:cubicBezTo>
                <a:cubicBezTo>
                  <a:pt x="2119" y="633"/>
                  <a:pt x="2106" y="636"/>
                  <a:pt x="2092" y="636"/>
                </a:cubicBezTo>
                <a:lnTo>
                  <a:pt x="107" y="636"/>
                </a:lnTo>
                <a:cubicBezTo>
                  <a:pt x="93" y="636"/>
                  <a:pt x="80" y="633"/>
                  <a:pt x="67" y="627"/>
                </a:cubicBezTo>
                <a:cubicBezTo>
                  <a:pt x="54" y="622"/>
                  <a:pt x="42" y="614"/>
                  <a:pt x="32" y="605"/>
                </a:cubicBezTo>
                <a:cubicBezTo>
                  <a:pt x="22" y="595"/>
                  <a:pt x="15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CuadroTexto 285"/>
          <p:cNvSpPr txBox="1"/>
          <p:nvPr/>
        </p:nvSpPr>
        <p:spPr>
          <a:xfrm>
            <a:off x="799920" y="3295440"/>
            <a:ext cx="8442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borrarlo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CuadroTexto 286"/>
          <p:cNvSpPr txBox="1"/>
          <p:nvPr/>
        </p:nvSpPr>
        <p:spPr>
          <a:xfrm>
            <a:off x="2025000" y="3326400"/>
            <a:ext cx="6814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down -v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CuadroTexto 287"/>
          <p:cNvSpPr txBox="1"/>
          <p:nvPr/>
        </p:nvSpPr>
        <p:spPr>
          <a:xfrm>
            <a:off x="5361480" y="3295440"/>
            <a:ext cx="1687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nunca, es tu carpeta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CuadroTexto 288"/>
          <p:cNvSpPr txBox="1"/>
          <p:nvPr/>
        </p:nvSpPr>
        <p:spPr>
          <a:xfrm>
            <a:off x="866880" y="3956400"/>
            <a:ext cx="874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volumes: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CuadroTexto 289"/>
          <p:cNvSpPr txBox="1"/>
          <p:nvPr/>
        </p:nvSpPr>
        <p:spPr>
          <a:xfrm>
            <a:off x="866880" y="4223160"/>
            <a:ext cx="8189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3B2300"/>
                </a:solidFill>
                <a:effectLst/>
                <a:uFillTx/>
                <a:latin typeface="Menlo"/>
                <a:ea typeface="Menlo"/>
              </a:rPr>
              <a:t>-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pgdata:/var/lib/postgresql/data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volumen: persiste entre reinicios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CuadroTexto 290"/>
          <p:cNvSpPr txBox="1"/>
          <p:nvPr/>
        </p:nvSpPr>
        <p:spPr>
          <a:xfrm>
            <a:off x="866880" y="4480200"/>
            <a:ext cx="8189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3B2300"/>
                </a:solidFill>
                <a:effectLst/>
                <a:uFillTx/>
                <a:latin typeface="Menlo"/>
                <a:ea typeface="Menlo"/>
              </a:rPr>
              <a:t>-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./notebooks:/home/jovyan/work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bind: editas fuera, corre adentro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Forma libre 291"/>
          <p:cNvSpPr/>
          <p:nvPr/>
        </p:nvSpPr>
        <p:spPr>
          <a:xfrm>
            <a:off x="2238120" y="5209920"/>
            <a:ext cx="2333880" cy="267120"/>
          </a:xfrm>
          <a:custGeom>
            <a:avLst/>
            <a:gdLst/>
            <a:ahLst/>
            <a:cxnLst/>
            <a:rect l="0" t="0" r="r" b="b"/>
            <a:pathLst>
              <a:path w="6483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6378" y="0"/>
                </a:lnTo>
                <a:cubicBezTo>
                  <a:pt x="6392" y="0"/>
                  <a:pt x="6405" y="3"/>
                  <a:pt x="6418" y="8"/>
                </a:cubicBezTo>
                <a:cubicBezTo>
                  <a:pt x="6431" y="14"/>
                  <a:pt x="6443" y="21"/>
                  <a:pt x="6453" y="31"/>
                </a:cubicBezTo>
                <a:cubicBezTo>
                  <a:pt x="6462" y="41"/>
                  <a:pt x="6470" y="53"/>
                  <a:pt x="6475" y="66"/>
                </a:cubicBezTo>
                <a:cubicBezTo>
                  <a:pt x="6481" y="79"/>
                  <a:pt x="6483" y="92"/>
                  <a:pt x="6483" y="106"/>
                </a:cubicBezTo>
                <a:lnTo>
                  <a:pt x="6483" y="635"/>
                </a:lnTo>
                <a:cubicBezTo>
                  <a:pt x="6483" y="649"/>
                  <a:pt x="6481" y="663"/>
                  <a:pt x="6475" y="676"/>
                </a:cubicBezTo>
                <a:cubicBezTo>
                  <a:pt x="6470" y="689"/>
                  <a:pt x="6462" y="701"/>
                  <a:pt x="6453" y="711"/>
                </a:cubicBezTo>
                <a:cubicBezTo>
                  <a:pt x="6443" y="721"/>
                  <a:pt x="6431" y="729"/>
                  <a:pt x="6418" y="734"/>
                </a:cubicBezTo>
                <a:cubicBezTo>
                  <a:pt x="6405" y="739"/>
                  <a:pt x="6392" y="742"/>
                  <a:pt x="6378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CuadroTexto 292"/>
          <p:cNvSpPr txBox="1"/>
          <p:nvPr/>
        </p:nvSpPr>
        <p:spPr>
          <a:xfrm>
            <a:off x="905040" y="5192640"/>
            <a:ext cx="1330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Sin volumen,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CuadroTexto 293"/>
          <p:cNvSpPr txBox="1"/>
          <p:nvPr/>
        </p:nvSpPr>
        <p:spPr>
          <a:xfrm>
            <a:off x="2291760" y="5229720"/>
            <a:ext cx="2232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docker compose down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CuadroTexto 294"/>
          <p:cNvSpPr txBox="1"/>
          <p:nvPr/>
        </p:nvSpPr>
        <p:spPr>
          <a:xfrm>
            <a:off x="4571640" y="5192640"/>
            <a:ext cx="6674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borra tu base de datos completa. Con volumen, sobrevive — hasta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Forma libre 295"/>
          <p:cNvSpPr/>
          <p:nvPr/>
        </p:nvSpPr>
        <p:spPr>
          <a:xfrm>
            <a:off x="1866600" y="5553000"/>
            <a:ext cx="933840" cy="267120"/>
          </a:xfrm>
          <a:custGeom>
            <a:avLst/>
            <a:gdLst/>
            <a:ahLst/>
            <a:cxnLst/>
            <a:rect l="0" t="0" r="r" b="b"/>
            <a:pathLst>
              <a:path w="2594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488" y="0"/>
                </a:lnTo>
                <a:cubicBezTo>
                  <a:pt x="2502" y="0"/>
                  <a:pt x="2516" y="2"/>
                  <a:pt x="2529" y="8"/>
                </a:cubicBezTo>
                <a:cubicBezTo>
                  <a:pt x="2542" y="13"/>
                  <a:pt x="2553" y="21"/>
                  <a:pt x="2563" y="31"/>
                </a:cubicBezTo>
                <a:cubicBezTo>
                  <a:pt x="2573" y="41"/>
                  <a:pt x="2581" y="52"/>
                  <a:pt x="2586" y="65"/>
                </a:cubicBezTo>
                <a:cubicBezTo>
                  <a:pt x="2592" y="78"/>
                  <a:pt x="2594" y="92"/>
                  <a:pt x="2594" y="106"/>
                </a:cubicBezTo>
                <a:lnTo>
                  <a:pt x="2594" y="636"/>
                </a:lnTo>
                <a:cubicBezTo>
                  <a:pt x="2594" y="650"/>
                  <a:pt x="2592" y="663"/>
                  <a:pt x="2586" y="676"/>
                </a:cubicBezTo>
                <a:cubicBezTo>
                  <a:pt x="2581" y="689"/>
                  <a:pt x="2573" y="701"/>
                  <a:pt x="2563" y="711"/>
                </a:cubicBezTo>
                <a:cubicBezTo>
                  <a:pt x="2553" y="720"/>
                  <a:pt x="2542" y="728"/>
                  <a:pt x="2529" y="733"/>
                </a:cubicBezTo>
                <a:cubicBezTo>
                  <a:pt x="2516" y="739"/>
                  <a:pt x="2502" y="742"/>
                  <a:pt x="2488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3"/>
                </a:cubicBezTo>
                <a:cubicBezTo>
                  <a:pt x="53" y="728"/>
                  <a:pt x="41" y="720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CuadroTexto 296"/>
          <p:cNvSpPr txBox="1"/>
          <p:nvPr/>
        </p:nvSpPr>
        <p:spPr>
          <a:xfrm>
            <a:off x="905040" y="5535360"/>
            <a:ext cx="961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que uses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CuadroTexto 297"/>
          <p:cNvSpPr txBox="1"/>
          <p:nvPr/>
        </p:nvSpPr>
        <p:spPr>
          <a:xfrm>
            <a:off x="1923120" y="557280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down -v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CuadroTexto 298"/>
          <p:cNvSpPr txBox="1"/>
          <p:nvPr/>
        </p:nvSpPr>
        <p:spPr>
          <a:xfrm>
            <a:off x="2799360" y="553536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CuadroTexto 29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CuadroTexto 30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CuadroTexto 30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Forma libre 3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Forma libre 30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Forma libre 304"/>
          <p:cNvSpPr/>
          <p:nvPr/>
        </p:nvSpPr>
        <p:spPr>
          <a:xfrm>
            <a:off x="0" y="9828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Forma libre 305"/>
          <p:cNvSpPr/>
          <p:nvPr/>
        </p:nvSpPr>
        <p:spPr>
          <a:xfrm>
            <a:off x="671400" y="148104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2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2"/>
                </a:lnTo>
                <a:cubicBezTo>
                  <a:pt x="30137" y="3625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0"/>
                  <a:pt x="30111" y="3712"/>
                  <a:pt x="30103" y="3723"/>
                </a:cubicBezTo>
                <a:cubicBezTo>
                  <a:pt x="30096" y="3733"/>
                  <a:pt x="30088" y="3743"/>
                  <a:pt x="30079" y="3753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4"/>
                  <a:pt x="29977" y="3807"/>
                </a:cubicBezTo>
                <a:cubicBezTo>
                  <a:pt x="29964" y="3809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09"/>
                  <a:pt x="160" y="3807"/>
                </a:cubicBezTo>
                <a:cubicBezTo>
                  <a:pt x="147" y="3804"/>
                  <a:pt x="134" y="3801"/>
                  <a:pt x="122" y="3796"/>
                </a:cubicBezTo>
                <a:cubicBezTo>
                  <a:pt x="110" y="3791"/>
                  <a:pt x="99" y="3785"/>
                  <a:pt x="88" y="3777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3"/>
                  <a:pt x="40" y="3733"/>
                  <a:pt x="33" y="3723"/>
                </a:cubicBezTo>
                <a:cubicBezTo>
                  <a:pt x="26" y="3712"/>
                  <a:pt x="20" y="3700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5"/>
                  <a:pt x="0" y="361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Forma libre 306"/>
          <p:cNvSpPr/>
          <p:nvPr/>
        </p:nvSpPr>
        <p:spPr>
          <a:xfrm>
            <a:off x="671400" y="148104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2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2"/>
                </a:lnTo>
                <a:cubicBezTo>
                  <a:pt x="30137" y="3625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0"/>
                  <a:pt x="30111" y="3712"/>
                  <a:pt x="30103" y="3723"/>
                </a:cubicBezTo>
                <a:cubicBezTo>
                  <a:pt x="30096" y="3733"/>
                  <a:pt x="30088" y="3743"/>
                  <a:pt x="30079" y="3753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4"/>
                  <a:pt x="29977" y="3807"/>
                </a:cubicBezTo>
                <a:cubicBezTo>
                  <a:pt x="29964" y="3809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09"/>
                  <a:pt x="160" y="3807"/>
                </a:cubicBezTo>
                <a:cubicBezTo>
                  <a:pt x="147" y="3804"/>
                  <a:pt x="134" y="3801"/>
                  <a:pt x="122" y="3796"/>
                </a:cubicBezTo>
                <a:cubicBezTo>
                  <a:pt x="110" y="3791"/>
                  <a:pt x="99" y="3785"/>
                  <a:pt x="88" y="3777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3"/>
                  <a:pt x="40" y="3733"/>
                  <a:pt x="33" y="3723"/>
                </a:cubicBezTo>
                <a:cubicBezTo>
                  <a:pt x="26" y="3712"/>
                  <a:pt x="20" y="3700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5"/>
                  <a:pt x="0" y="361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Forma libre 307"/>
          <p:cNvSpPr/>
          <p:nvPr/>
        </p:nvSpPr>
        <p:spPr>
          <a:xfrm>
            <a:off x="671400" y="385272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1"/>
                </a:cubicBezTo>
                <a:cubicBezTo>
                  <a:pt x="6" y="148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50"/>
                  <a:pt x="77" y="42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2"/>
                  <a:pt x="30070" y="50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3"/>
                </a:cubicBezTo>
                <a:cubicBezTo>
                  <a:pt x="30127" y="135"/>
                  <a:pt x="30130" y="148"/>
                  <a:pt x="30133" y="161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0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29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0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Forma libre 308"/>
          <p:cNvSpPr/>
          <p:nvPr/>
        </p:nvSpPr>
        <p:spPr>
          <a:xfrm>
            <a:off x="671400" y="385272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1"/>
                </a:cubicBezTo>
                <a:cubicBezTo>
                  <a:pt x="6" y="148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50"/>
                  <a:pt x="77" y="42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2"/>
                  <a:pt x="30070" y="50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3"/>
                </a:cubicBezTo>
                <a:cubicBezTo>
                  <a:pt x="30127" y="135"/>
                  <a:pt x="30130" y="148"/>
                  <a:pt x="30133" y="161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0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29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0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Forma libre 309"/>
          <p:cNvSpPr/>
          <p:nvPr/>
        </p:nvSpPr>
        <p:spPr>
          <a:xfrm>
            <a:off x="666720" y="511488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Forma libre 310"/>
          <p:cNvSpPr/>
          <p:nvPr/>
        </p:nvSpPr>
        <p:spPr>
          <a:xfrm>
            <a:off x="666720" y="511488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CuadroTexto 311"/>
          <p:cNvSpPr txBox="1"/>
          <p:nvPr/>
        </p:nvSpPr>
        <p:spPr>
          <a:xfrm>
            <a:off x="666720" y="844200"/>
            <a:ext cx="36565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Inicializar la base de datos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CuadroTexto 312"/>
          <p:cNvSpPr txBox="1"/>
          <p:nvPr/>
        </p:nvSpPr>
        <p:spPr>
          <a:xfrm>
            <a:off x="866880" y="1660680"/>
            <a:ext cx="983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postgres: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CuadroTexto 313"/>
          <p:cNvSpPr txBox="1"/>
          <p:nvPr/>
        </p:nvSpPr>
        <p:spPr>
          <a:xfrm>
            <a:off x="866880" y="1927440"/>
            <a:ext cx="10926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volumes: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CuadroTexto 314"/>
          <p:cNvSpPr txBox="1"/>
          <p:nvPr/>
        </p:nvSpPr>
        <p:spPr>
          <a:xfrm>
            <a:off x="866880" y="2184840"/>
            <a:ext cx="4040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3B2300"/>
                </a:solidFill>
                <a:effectLst/>
                <a:uFillTx/>
                <a:latin typeface="Menlo"/>
                <a:ea typeface="Menlo"/>
              </a:rPr>
              <a:t>-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pgdata:/var/lib/postgresql/data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CuadroTexto 315"/>
          <p:cNvSpPr txBox="1"/>
          <p:nvPr/>
        </p:nvSpPr>
        <p:spPr>
          <a:xfrm>
            <a:off x="866880" y="2451600"/>
            <a:ext cx="4913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3B2300"/>
                </a:solidFill>
                <a:effectLst/>
                <a:uFillTx/>
                <a:latin typeface="Menlo"/>
                <a:ea typeface="Menlo"/>
              </a:rPr>
              <a:t>-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./initdb:/docker-entrypoint-initdb.d:ro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Forma libre 316"/>
          <p:cNvSpPr/>
          <p:nvPr/>
        </p:nvSpPr>
        <p:spPr>
          <a:xfrm>
            <a:off x="1085760" y="3066840"/>
            <a:ext cx="590760" cy="267120"/>
          </a:xfrm>
          <a:custGeom>
            <a:avLst/>
            <a:gdLst/>
            <a:ahLst/>
            <a:cxnLst/>
            <a:rect l="0" t="0" r="r" b="b"/>
            <a:pathLst>
              <a:path w="1641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535" y="0"/>
                </a:lnTo>
                <a:cubicBezTo>
                  <a:pt x="1549" y="0"/>
                  <a:pt x="1563" y="3"/>
                  <a:pt x="1576" y="8"/>
                </a:cubicBezTo>
                <a:cubicBezTo>
                  <a:pt x="1589" y="14"/>
                  <a:pt x="1600" y="21"/>
                  <a:pt x="1610" y="31"/>
                </a:cubicBezTo>
                <a:cubicBezTo>
                  <a:pt x="1620" y="41"/>
                  <a:pt x="1628" y="52"/>
                  <a:pt x="1633" y="65"/>
                </a:cubicBezTo>
                <a:cubicBezTo>
                  <a:pt x="1638" y="78"/>
                  <a:pt x="1641" y="92"/>
                  <a:pt x="1641" y="106"/>
                </a:cubicBezTo>
                <a:lnTo>
                  <a:pt x="1641" y="635"/>
                </a:lnTo>
                <a:cubicBezTo>
                  <a:pt x="1641" y="649"/>
                  <a:pt x="1638" y="663"/>
                  <a:pt x="1633" y="676"/>
                </a:cubicBezTo>
                <a:cubicBezTo>
                  <a:pt x="1628" y="689"/>
                  <a:pt x="1620" y="700"/>
                  <a:pt x="1610" y="710"/>
                </a:cubicBezTo>
                <a:cubicBezTo>
                  <a:pt x="1600" y="720"/>
                  <a:pt x="1589" y="727"/>
                  <a:pt x="1576" y="734"/>
                </a:cubicBezTo>
                <a:cubicBezTo>
                  <a:pt x="1563" y="739"/>
                  <a:pt x="1549" y="742"/>
                  <a:pt x="1535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7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CuadroTexto 317"/>
          <p:cNvSpPr txBox="1"/>
          <p:nvPr/>
        </p:nvSpPr>
        <p:spPr>
          <a:xfrm>
            <a:off x="666720" y="3049560"/>
            <a:ext cx="424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Los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CuadroTexto 318"/>
          <p:cNvSpPr txBox="1"/>
          <p:nvPr/>
        </p:nvSpPr>
        <p:spPr>
          <a:xfrm>
            <a:off x="1147320" y="308664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.sql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Forma libre 319"/>
          <p:cNvSpPr/>
          <p:nvPr/>
        </p:nvSpPr>
        <p:spPr>
          <a:xfrm>
            <a:off x="1904760" y="3066840"/>
            <a:ext cx="467280" cy="267120"/>
          </a:xfrm>
          <a:custGeom>
            <a:avLst/>
            <a:gdLst/>
            <a:ahLst/>
            <a:cxnLst/>
            <a:rect l="0" t="0" r="r" b="b"/>
            <a:pathLst>
              <a:path w="1298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92" y="0"/>
                </a:lnTo>
                <a:cubicBezTo>
                  <a:pt x="1206" y="0"/>
                  <a:pt x="1219" y="3"/>
                  <a:pt x="1232" y="8"/>
                </a:cubicBezTo>
                <a:cubicBezTo>
                  <a:pt x="1245" y="14"/>
                  <a:pt x="1257" y="21"/>
                  <a:pt x="1267" y="31"/>
                </a:cubicBezTo>
                <a:cubicBezTo>
                  <a:pt x="1277" y="41"/>
                  <a:pt x="1284" y="52"/>
                  <a:pt x="1290" y="65"/>
                </a:cubicBezTo>
                <a:cubicBezTo>
                  <a:pt x="1295" y="78"/>
                  <a:pt x="1298" y="92"/>
                  <a:pt x="1298" y="106"/>
                </a:cubicBezTo>
                <a:lnTo>
                  <a:pt x="1298" y="635"/>
                </a:lnTo>
                <a:cubicBezTo>
                  <a:pt x="1298" y="649"/>
                  <a:pt x="1295" y="663"/>
                  <a:pt x="1290" y="676"/>
                </a:cubicBezTo>
                <a:cubicBezTo>
                  <a:pt x="1284" y="689"/>
                  <a:pt x="1277" y="700"/>
                  <a:pt x="1267" y="710"/>
                </a:cubicBezTo>
                <a:cubicBezTo>
                  <a:pt x="1257" y="720"/>
                  <a:pt x="1245" y="727"/>
                  <a:pt x="1232" y="734"/>
                </a:cubicBezTo>
                <a:cubicBezTo>
                  <a:pt x="1219" y="739"/>
                  <a:pt x="1206" y="742"/>
                  <a:pt x="1192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3" y="727"/>
                  <a:pt x="41" y="720"/>
                  <a:pt x="31" y="710"/>
                </a:cubicBezTo>
                <a:cubicBezTo>
                  <a:pt x="21" y="700"/>
                  <a:pt x="14" y="689"/>
                  <a:pt x="8" y="676"/>
                </a:cubicBezTo>
                <a:cubicBezTo>
                  <a:pt x="3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CuadroTexto 320"/>
          <p:cNvSpPr txBox="1"/>
          <p:nvPr/>
        </p:nvSpPr>
        <p:spPr>
          <a:xfrm>
            <a:off x="1672560" y="3049560"/>
            <a:ext cx="233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CuadroTexto 321"/>
          <p:cNvSpPr txBox="1"/>
          <p:nvPr/>
        </p:nvSpPr>
        <p:spPr>
          <a:xfrm>
            <a:off x="1962720" y="3086640"/>
            <a:ext cx="353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.sh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CuadroTexto 322"/>
          <p:cNvSpPr txBox="1"/>
          <p:nvPr/>
        </p:nvSpPr>
        <p:spPr>
          <a:xfrm>
            <a:off x="2370960" y="3049560"/>
            <a:ext cx="8395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esa carpeta se ejecutan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 orden alfabético, sólo la primera vez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cuando 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CuadroTexto 323"/>
          <p:cNvSpPr txBox="1"/>
          <p:nvPr/>
        </p:nvSpPr>
        <p:spPr>
          <a:xfrm>
            <a:off x="666720" y="3392280"/>
            <a:ext cx="1948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volumen está vacío.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CuadroTexto 324"/>
          <p:cNvSpPr txBox="1"/>
          <p:nvPr/>
        </p:nvSpPr>
        <p:spPr>
          <a:xfrm>
            <a:off x="866880" y="4032720"/>
            <a:ext cx="765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initdb/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CuadroTexto 325"/>
          <p:cNvSpPr txBox="1"/>
          <p:nvPr/>
        </p:nvSpPr>
        <p:spPr>
          <a:xfrm>
            <a:off x="866880" y="4299120"/>
            <a:ext cx="5569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├── 00-schemas.sql     # CREATE SCHEMA cdm, results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CuadroTexto 326"/>
          <p:cNvSpPr txBox="1"/>
          <p:nvPr/>
        </p:nvSpPr>
        <p:spPr>
          <a:xfrm>
            <a:off x="866880" y="4556520"/>
            <a:ext cx="5350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└── 01-carga.sql       # tablas y datos iniciales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Forma libre 327"/>
          <p:cNvSpPr/>
          <p:nvPr/>
        </p:nvSpPr>
        <p:spPr>
          <a:xfrm>
            <a:off x="8619840" y="5286240"/>
            <a:ext cx="933840" cy="267120"/>
          </a:xfrm>
          <a:custGeom>
            <a:avLst/>
            <a:gdLst/>
            <a:ahLst/>
            <a:cxnLst/>
            <a:rect l="0" t="0" r="r" b="b"/>
            <a:pathLst>
              <a:path w="2594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488" y="0"/>
                </a:lnTo>
                <a:cubicBezTo>
                  <a:pt x="2502" y="0"/>
                  <a:pt x="2516" y="3"/>
                  <a:pt x="2529" y="8"/>
                </a:cubicBezTo>
                <a:cubicBezTo>
                  <a:pt x="2542" y="13"/>
                  <a:pt x="2553" y="21"/>
                  <a:pt x="2563" y="31"/>
                </a:cubicBezTo>
                <a:cubicBezTo>
                  <a:pt x="2573" y="41"/>
                  <a:pt x="2581" y="52"/>
                  <a:pt x="2586" y="65"/>
                </a:cubicBezTo>
                <a:cubicBezTo>
                  <a:pt x="2592" y="78"/>
                  <a:pt x="2594" y="92"/>
                  <a:pt x="2594" y="106"/>
                </a:cubicBezTo>
                <a:lnTo>
                  <a:pt x="2594" y="636"/>
                </a:lnTo>
                <a:cubicBezTo>
                  <a:pt x="2594" y="650"/>
                  <a:pt x="2592" y="663"/>
                  <a:pt x="2586" y="676"/>
                </a:cubicBezTo>
                <a:cubicBezTo>
                  <a:pt x="2581" y="689"/>
                  <a:pt x="2573" y="701"/>
                  <a:pt x="2563" y="711"/>
                </a:cubicBezTo>
                <a:cubicBezTo>
                  <a:pt x="2553" y="721"/>
                  <a:pt x="2542" y="728"/>
                  <a:pt x="2529" y="734"/>
                </a:cubicBezTo>
                <a:cubicBezTo>
                  <a:pt x="2516" y="739"/>
                  <a:pt x="2502" y="742"/>
                  <a:pt x="2488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CuadroTexto 328"/>
          <p:cNvSpPr txBox="1"/>
          <p:nvPr/>
        </p:nvSpPr>
        <p:spPr>
          <a:xfrm>
            <a:off x="905040" y="5268600"/>
            <a:ext cx="7715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Si cambias los scripts y no ves el efecto: el volumen ya tenía datos. Hace falta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CuadroTexto 329"/>
          <p:cNvSpPr txBox="1"/>
          <p:nvPr/>
        </p:nvSpPr>
        <p:spPr>
          <a:xfrm>
            <a:off x="8958060" y="528984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down</a:t>
            </a:r>
            <a:r>
              <a:rPr lang="es-ES" sz="153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 -v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CuadroTexto 330"/>
          <p:cNvSpPr txBox="1"/>
          <p:nvPr/>
        </p:nvSpPr>
        <p:spPr>
          <a:xfrm>
            <a:off x="9792989" y="5247360"/>
            <a:ext cx="1322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para volver a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CuadroTexto 331"/>
          <p:cNvSpPr txBox="1"/>
          <p:nvPr/>
        </p:nvSpPr>
        <p:spPr>
          <a:xfrm>
            <a:off x="905040" y="5611680"/>
            <a:ext cx="932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inicializar.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CuadroTexto 33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CuadroTexto 33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CuadroTexto 33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Forma libre 3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Forma libre 33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Forma libre 33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CuadroTexto 338"/>
          <p:cNvSpPr txBox="1"/>
          <p:nvPr/>
        </p:nvSpPr>
        <p:spPr>
          <a:xfrm>
            <a:off x="2815920" y="3063960"/>
            <a:ext cx="67201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5. Orden de arranque y salud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CuadroTexto 33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CuadroTexto 34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CuadroTexto 34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Forma libre 34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Forma libre 34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Forma libre 3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Forma libre 345"/>
          <p:cNvSpPr/>
          <p:nvPr/>
        </p:nvSpPr>
        <p:spPr>
          <a:xfrm>
            <a:off x="671400" y="136656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6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6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Forma libre 346"/>
          <p:cNvSpPr/>
          <p:nvPr/>
        </p:nvSpPr>
        <p:spPr>
          <a:xfrm>
            <a:off x="671400" y="136656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6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6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Forma libre 347"/>
          <p:cNvSpPr/>
          <p:nvPr/>
        </p:nvSpPr>
        <p:spPr>
          <a:xfrm>
            <a:off x="671400" y="3214440"/>
            <a:ext cx="10849320" cy="2943720"/>
          </a:xfrm>
          <a:custGeom>
            <a:avLst/>
            <a:gdLst/>
            <a:ahLst/>
            <a:cxnLst/>
            <a:rect l="0" t="0" r="r" b="b"/>
            <a:pathLst>
              <a:path w="30137" h="8177">
                <a:moveTo>
                  <a:pt x="0" y="797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7978"/>
                </a:lnTo>
                <a:cubicBezTo>
                  <a:pt x="30137" y="7991"/>
                  <a:pt x="30136" y="8004"/>
                  <a:pt x="30133" y="8017"/>
                </a:cubicBezTo>
                <a:cubicBezTo>
                  <a:pt x="30130" y="8030"/>
                  <a:pt x="30127" y="8042"/>
                  <a:pt x="30122" y="8054"/>
                </a:cubicBezTo>
                <a:cubicBezTo>
                  <a:pt x="30117" y="8066"/>
                  <a:pt x="30111" y="8078"/>
                  <a:pt x="30103" y="8089"/>
                </a:cubicBezTo>
                <a:cubicBezTo>
                  <a:pt x="30096" y="8099"/>
                  <a:pt x="30088" y="8109"/>
                  <a:pt x="30079" y="8119"/>
                </a:cubicBezTo>
                <a:cubicBezTo>
                  <a:pt x="30070" y="8128"/>
                  <a:pt x="30059" y="8136"/>
                  <a:pt x="30049" y="8143"/>
                </a:cubicBezTo>
                <a:cubicBezTo>
                  <a:pt x="30038" y="8151"/>
                  <a:pt x="30026" y="8157"/>
                  <a:pt x="30014" y="8162"/>
                </a:cubicBezTo>
                <a:cubicBezTo>
                  <a:pt x="30002" y="8167"/>
                  <a:pt x="29990" y="8170"/>
                  <a:pt x="29977" y="8173"/>
                </a:cubicBezTo>
                <a:cubicBezTo>
                  <a:pt x="29964" y="8176"/>
                  <a:pt x="29951" y="8177"/>
                  <a:pt x="29938" y="8177"/>
                </a:cubicBezTo>
                <a:lnTo>
                  <a:pt x="198" y="8177"/>
                </a:lnTo>
                <a:cubicBezTo>
                  <a:pt x="185" y="8177"/>
                  <a:pt x="172" y="8176"/>
                  <a:pt x="160" y="8173"/>
                </a:cubicBezTo>
                <a:cubicBezTo>
                  <a:pt x="147" y="8170"/>
                  <a:pt x="134" y="8167"/>
                  <a:pt x="122" y="8162"/>
                </a:cubicBezTo>
                <a:cubicBezTo>
                  <a:pt x="110" y="8157"/>
                  <a:pt x="99" y="8151"/>
                  <a:pt x="88" y="8143"/>
                </a:cubicBezTo>
                <a:cubicBezTo>
                  <a:pt x="77" y="8136"/>
                  <a:pt x="67" y="8128"/>
                  <a:pt x="58" y="8119"/>
                </a:cubicBezTo>
                <a:cubicBezTo>
                  <a:pt x="49" y="8109"/>
                  <a:pt x="40" y="8099"/>
                  <a:pt x="33" y="8089"/>
                </a:cubicBezTo>
                <a:cubicBezTo>
                  <a:pt x="26" y="8078"/>
                  <a:pt x="20" y="8066"/>
                  <a:pt x="15" y="8054"/>
                </a:cubicBezTo>
                <a:cubicBezTo>
                  <a:pt x="10" y="8042"/>
                  <a:pt x="6" y="8030"/>
                  <a:pt x="4" y="8017"/>
                </a:cubicBezTo>
                <a:cubicBezTo>
                  <a:pt x="1" y="8004"/>
                  <a:pt x="0" y="7991"/>
                  <a:pt x="0" y="797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Forma libre 348"/>
          <p:cNvSpPr/>
          <p:nvPr/>
        </p:nvSpPr>
        <p:spPr>
          <a:xfrm>
            <a:off x="671400" y="3214440"/>
            <a:ext cx="10849320" cy="2943720"/>
          </a:xfrm>
          <a:custGeom>
            <a:avLst/>
            <a:gdLst/>
            <a:ahLst/>
            <a:cxnLst/>
            <a:rect l="0" t="0" r="r" b="b"/>
            <a:pathLst>
              <a:path w="30137" h="8177">
                <a:moveTo>
                  <a:pt x="0" y="797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7978"/>
                </a:lnTo>
                <a:cubicBezTo>
                  <a:pt x="30137" y="7991"/>
                  <a:pt x="30136" y="8004"/>
                  <a:pt x="30133" y="8017"/>
                </a:cubicBezTo>
                <a:cubicBezTo>
                  <a:pt x="30130" y="8030"/>
                  <a:pt x="30127" y="8042"/>
                  <a:pt x="30122" y="8054"/>
                </a:cubicBezTo>
                <a:cubicBezTo>
                  <a:pt x="30117" y="8066"/>
                  <a:pt x="30111" y="8078"/>
                  <a:pt x="30103" y="8089"/>
                </a:cubicBezTo>
                <a:cubicBezTo>
                  <a:pt x="30096" y="8099"/>
                  <a:pt x="30088" y="8109"/>
                  <a:pt x="30079" y="8119"/>
                </a:cubicBezTo>
                <a:cubicBezTo>
                  <a:pt x="30070" y="8128"/>
                  <a:pt x="30059" y="8136"/>
                  <a:pt x="30049" y="8143"/>
                </a:cubicBezTo>
                <a:cubicBezTo>
                  <a:pt x="30038" y="8151"/>
                  <a:pt x="30026" y="8157"/>
                  <a:pt x="30014" y="8162"/>
                </a:cubicBezTo>
                <a:cubicBezTo>
                  <a:pt x="30002" y="8167"/>
                  <a:pt x="29990" y="8170"/>
                  <a:pt x="29977" y="8173"/>
                </a:cubicBezTo>
                <a:cubicBezTo>
                  <a:pt x="29964" y="8176"/>
                  <a:pt x="29951" y="8177"/>
                  <a:pt x="29938" y="8177"/>
                </a:cubicBezTo>
                <a:lnTo>
                  <a:pt x="198" y="8177"/>
                </a:lnTo>
                <a:cubicBezTo>
                  <a:pt x="185" y="8177"/>
                  <a:pt x="172" y="8176"/>
                  <a:pt x="160" y="8173"/>
                </a:cubicBezTo>
                <a:cubicBezTo>
                  <a:pt x="147" y="8170"/>
                  <a:pt x="134" y="8167"/>
                  <a:pt x="122" y="8162"/>
                </a:cubicBezTo>
                <a:cubicBezTo>
                  <a:pt x="110" y="8157"/>
                  <a:pt x="99" y="8151"/>
                  <a:pt x="88" y="8143"/>
                </a:cubicBezTo>
                <a:cubicBezTo>
                  <a:pt x="77" y="8136"/>
                  <a:pt x="67" y="8128"/>
                  <a:pt x="58" y="8119"/>
                </a:cubicBezTo>
                <a:cubicBezTo>
                  <a:pt x="49" y="8109"/>
                  <a:pt x="40" y="8099"/>
                  <a:pt x="33" y="8089"/>
                </a:cubicBezTo>
                <a:cubicBezTo>
                  <a:pt x="26" y="8078"/>
                  <a:pt x="20" y="8066"/>
                  <a:pt x="15" y="8054"/>
                </a:cubicBezTo>
                <a:cubicBezTo>
                  <a:pt x="10" y="8042"/>
                  <a:pt x="6" y="8030"/>
                  <a:pt x="4" y="8017"/>
                </a:cubicBezTo>
                <a:cubicBezTo>
                  <a:pt x="1" y="8004"/>
                  <a:pt x="0" y="7991"/>
                  <a:pt x="0" y="79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Forma libre 349"/>
          <p:cNvSpPr/>
          <p:nvPr/>
        </p:nvSpPr>
        <p:spPr>
          <a:xfrm>
            <a:off x="666720" y="714240"/>
            <a:ext cx="2048040" cy="381240"/>
          </a:xfrm>
          <a:custGeom>
            <a:avLst/>
            <a:gdLst/>
            <a:ahLst/>
            <a:cxnLst/>
            <a:rect l="0" t="0" r="r" b="b"/>
            <a:pathLst>
              <a:path w="5689" h="1059">
                <a:moveTo>
                  <a:pt x="0" y="953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5583" y="0"/>
                </a:lnTo>
                <a:cubicBezTo>
                  <a:pt x="5597" y="0"/>
                  <a:pt x="5611" y="3"/>
                  <a:pt x="5624" y="8"/>
                </a:cubicBezTo>
                <a:cubicBezTo>
                  <a:pt x="5637" y="13"/>
                  <a:pt x="5648" y="21"/>
                  <a:pt x="5658" y="31"/>
                </a:cubicBezTo>
                <a:cubicBezTo>
                  <a:pt x="5668" y="41"/>
                  <a:pt x="5676" y="52"/>
                  <a:pt x="5681" y="65"/>
                </a:cubicBezTo>
                <a:cubicBezTo>
                  <a:pt x="5686" y="78"/>
                  <a:pt x="5689" y="92"/>
                  <a:pt x="5689" y="106"/>
                </a:cubicBezTo>
                <a:lnTo>
                  <a:pt x="5689" y="953"/>
                </a:lnTo>
                <a:cubicBezTo>
                  <a:pt x="5689" y="967"/>
                  <a:pt x="5686" y="981"/>
                  <a:pt x="5681" y="994"/>
                </a:cubicBezTo>
                <a:cubicBezTo>
                  <a:pt x="5676" y="1007"/>
                  <a:pt x="5668" y="1018"/>
                  <a:pt x="5658" y="1028"/>
                </a:cubicBezTo>
                <a:cubicBezTo>
                  <a:pt x="5648" y="1038"/>
                  <a:pt x="5637" y="1046"/>
                  <a:pt x="5624" y="1051"/>
                </a:cubicBezTo>
                <a:cubicBezTo>
                  <a:pt x="5611" y="1057"/>
                  <a:pt x="5597" y="1059"/>
                  <a:pt x="5583" y="1059"/>
                </a:cubicBezTo>
                <a:lnTo>
                  <a:pt x="105" y="1059"/>
                </a:lnTo>
                <a:cubicBezTo>
                  <a:pt x="91" y="1059"/>
                  <a:pt x="78" y="1057"/>
                  <a:pt x="65" y="1051"/>
                </a:cubicBezTo>
                <a:cubicBezTo>
                  <a:pt x="52" y="1046"/>
                  <a:pt x="41" y="1038"/>
                  <a:pt x="31" y="1028"/>
                </a:cubicBezTo>
                <a:cubicBezTo>
                  <a:pt x="21" y="1018"/>
                  <a:pt x="13" y="1007"/>
                  <a:pt x="8" y="994"/>
                </a:cubicBezTo>
                <a:cubicBezTo>
                  <a:pt x="2" y="981"/>
                  <a:pt x="0" y="967"/>
                  <a:pt x="0" y="953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CuadroTexto 350"/>
          <p:cNvSpPr txBox="1"/>
          <p:nvPr/>
        </p:nvSpPr>
        <p:spPr>
          <a:xfrm>
            <a:off x="731520" y="718560"/>
            <a:ext cx="195516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depends_on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CuadroTexto 351"/>
          <p:cNvSpPr txBox="1"/>
          <p:nvPr/>
        </p:nvSpPr>
        <p:spPr>
          <a:xfrm>
            <a:off x="2713680" y="711000"/>
            <a:ext cx="22611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no es suficiente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CuadroTexto 352"/>
          <p:cNvSpPr txBox="1"/>
          <p:nvPr/>
        </p:nvSpPr>
        <p:spPr>
          <a:xfrm>
            <a:off x="866880" y="1546560"/>
            <a:ext cx="983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notebook: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CuadroTexto 353"/>
          <p:cNvSpPr txBox="1"/>
          <p:nvPr/>
        </p:nvSpPr>
        <p:spPr>
          <a:xfrm>
            <a:off x="866880" y="1813320"/>
            <a:ext cx="7971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depends_on: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postgres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espera a que ARRANQUE, no a que esté LISTO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CuadroTexto 354"/>
          <p:cNvSpPr txBox="1"/>
          <p:nvPr/>
        </p:nvSpPr>
        <p:spPr>
          <a:xfrm>
            <a:off x="666720" y="2411280"/>
            <a:ext cx="10591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Postgres tarda algunos segundos en aceptar conexiones. Tu notebook arranca antes y falla con </a:t>
            </a:r>
            <a:r>
              <a:rPr lang="es-ES" sz="18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connection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CuadroTexto 355"/>
          <p:cNvSpPr txBox="1"/>
          <p:nvPr/>
        </p:nvSpPr>
        <p:spPr>
          <a:xfrm>
            <a:off x="666720" y="2754000"/>
            <a:ext cx="4498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refused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El contenedor «ya estaba corriendo».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CuadroTexto 356"/>
          <p:cNvSpPr txBox="1"/>
          <p:nvPr/>
        </p:nvSpPr>
        <p:spPr>
          <a:xfrm>
            <a:off x="866880" y="3394440"/>
            <a:ext cx="983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postgres: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CuadroTexto 357"/>
          <p:cNvSpPr txBox="1"/>
          <p:nvPr/>
        </p:nvSpPr>
        <p:spPr>
          <a:xfrm>
            <a:off x="866880" y="3661200"/>
            <a:ext cx="1529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healthcheck: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CuadroTexto 358"/>
          <p:cNvSpPr txBox="1"/>
          <p:nvPr/>
        </p:nvSpPr>
        <p:spPr>
          <a:xfrm>
            <a:off x="866880" y="3918240"/>
            <a:ext cx="5787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test: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"CMD-SHELL"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"pg_isready -U omop -d omop"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CuadroTexto 359"/>
          <p:cNvSpPr txBox="1"/>
          <p:nvPr/>
        </p:nvSpPr>
        <p:spPr>
          <a:xfrm>
            <a:off x="866880" y="4185000"/>
            <a:ext cx="1747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interval: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5s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CuadroTexto 360"/>
          <p:cNvSpPr txBox="1"/>
          <p:nvPr/>
        </p:nvSpPr>
        <p:spPr>
          <a:xfrm>
            <a:off x="866880" y="4442040"/>
            <a:ext cx="1638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retries: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20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CuadroTexto 361"/>
          <p:cNvSpPr txBox="1"/>
          <p:nvPr/>
        </p:nvSpPr>
        <p:spPr>
          <a:xfrm>
            <a:off x="866880" y="4966200"/>
            <a:ext cx="983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notebook: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CuadroTexto 362"/>
          <p:cNvSpPr txBox="1"/>
          <p:nvPr/>
        </p:nvSpPr>
        <p:spPr>
          <a:xfrm>
            <a:off x="866880" y="5232600"/>
            <a:ext cx="1420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depends_on: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CuadroTexto 363"/>
          <p:cNvSpPr txBox="1"/>
          <p:nvPr/>
        </p:nvSpPr>
        <p:spPr>
          <a:xfrm>
            <a:off x="866880" y="5490000"/>
            <a:ext cx="1420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postgres: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CuadroTexto 364"/>
          <p:cNvSpPr txBox="1"/>
          <p:nvPr/>
        </p:nvSpPr>
        <p:spPr>
          <a:xfrm>
            <a:off x="866880" y="5756760"/>
            <a:ext cx="77526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condition: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service_healthy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← ahora sí espera a que RESPONDA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CuadroTexto 36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CuadroTexto 36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CuadroTexto 36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Forma libre 36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Forma libre 36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Forma libre 37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CuadroTexto 371"/>
          <p:cNvSpPr txBox="1"/>
          <p:nvPr/>
        </p:nvSpPr>
        <p:spPr>
          <a:xfrm>
            <a:off x="3030480" y="3063960"/>
            <a:ext cx="62852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6. Configuración y secretos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CuadroTexto 37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CuadroTexto 37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CuadroTexto 37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Forma libre 37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Forma libre 37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Forma libre 37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Forma libre 378"/>
          <p:cNvSpPr/>
          <p:nvPr/>
        </p:nvSpPr>
        <p:spPr>
          <a:xfrm>
            <a:off x="671400" y="158580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2"/>
                </a:lnTo>
                <a:cubicBezTo>
                  <a:pt x="30137" y="3625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0"/>
                  <a:pt x="30111" y="3712"/>
                  <a:pt x="30103" y="3723"/>
                </a:cubicBezTo>
                <a:cubicBezTo>
                  <a:pt x="30096" y="3733"/>
                  <a:pt x="30088" y="3743"/>
                  <a:pt x="30079" y="3753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4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4"/>
                  <a:pt x="134" y="3801"/>
                  <a:pt x="122" y="3796"/>
                </a:cubicBezTo>
                <a:cubicBezTo>
                  <a:pt x="110" y="3791"/>
                  <a:pt x="99" y="3785"/>
                  <a:pt x="88" y="3777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3"/>
                  <a:pt x="40" y="3733"/>
                  <a:pt x="33" y="3723"/>
                </a:cubicBezTo>
                <a:cubicBezTo>
                  <a:pt x="26" y="3712"/>
                  <a:pt x="20" y="3700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5"/>
                  <a:pt x="0" y="361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Forma libre 379"/>
          <p:cNvSpPr/>
          <p:nvPr/>
        </p:nvSpPr>
        <p:spPr>
          <a:xfrm>
            <a:off x="671400" y="158580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2"/>
                </a:lnTo>
                <a:cubicBezTo>
                  <a:pt x="30137" y="3625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0"/>
                  <a:pt x="30111" y="3712"/>
                  <a:pt x="30103" y="3723"/>
                </a:cubicBezTo>
                <a:cubicBezTo>
                  <a:pt x="30096" y="3733"/>
                  <a:pt x="30088" y="3743"/>
                  <a:pt x="30079" y="3753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4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4"/>
                  <a:pt x="134" y="3801"/>
                  <a:pt x="122" y="3796"/>
                </a:cubicBezTo>
                <a:cubicBezTo>
                  <a:pt x="110" y="3791"/>
                  <a:pt x="99" y="3785"/>
                  <a:pt x="88" y="3777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3"/>
                  <a:pt x="40" y="3733"/>
                  <a:pt x="33" y="3723"/>
                </a:cubicBezTo>
                <a:cubicBezTo>
                  <a:pt x="26" y="3712"/>
                  <a:pt x="20" y="3700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5"/>
                  <a:pt x="0" y="361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Forma libre 380"/>
          <p:cNvSpPr/>
          <p:nvPr/>
        </p:nvSpPr>
        <p:spPr>
          <a:xfrm>
            <a:off x="671400" y="3119400"/>
            <a:ext cx="10849320" cy="847800"/>
          </a:xfrm>
          <a:custGeom>
            <a:avLst/>
            <a:gdLst/>
            <a:ahLst/>
            <a:cxnLst/>
            <a:rect l="0" t="0" r="r" b="b"/>
            <a:pathLst>
              <a:path w="30137" h="2355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8"/>
                  <a:pt x="30127" y="2221"/>
                  <a:pt x="30122" y="2233"/>
                </a:cubicBezTo>
                <a:cubicBezTo>
                  <a:pt x="30117" y="2245"/>
                  <a:pt x="30111" y="2256"/>
                  <a:pt x="30103" y="2267"/>
                </a:cubicBezTo>
                <a:cubicBezTo>
                  <a:pt x="30096" y="2278"/>
                  <a:pt x="30088" y="2288"/>
                  <a:pt x="30079" y="2297"/>
                </a:cubicBezTo>
                <a:cubicBezTo>
                  <a:pt x="30070" y="2306"/>
                  <a:pt x="30059" y="2315"/>
                  <a:pt x="30049" y="2322"/>
                </a:cubicBezTo>
                <a:cubicBezTo>
                  <a:pt x="30038" y="2329"/>
                  <a:pt x="30026" y="2335"/>
                  <a:pt x="30014" y="2340"/>
                </a:cubicBezTo>
                <a:cubicBezTo>
                  <a:pt x="30002" y="2345"/>
                  <a:pt x="29990" y="2349"/>
                  <a:pt x="29977" y="2352"/>
                </a:cubicBezTo>
                <a:cubicBezTo>
                  <a:pt x="29964" y="2354"/>
                  <a:pt x="29951" y="2355"/>
                  <a:pt x="29938" y="2355"/>
                </a:cubicBezTo>
                <a:lnTo>
                  <a:pt x="198" y="2355"/>
                </a:lnTo>
                <a:cubicBezTo>
                  <a:pt x="185" y="2355"/>
                  <a:pt x="172" y="2354"/>
                  <a:pt x="160" y="2352"/>
                </a:cubicBezTo>
                <a:cubicBezTo>
                  <a:pt x="147" y="2349"/>
                  <a:pt x="134" y="2345"/>
                  <a:pt x="122" y="2340"/>
                </a:cubicBezTo>
                <a:cubicBezTo>
                  <a:pt x="110" y="2335"/>
                  <a:pt x="99" y="2329"/>
                  <a:pt x="88" y="2322"/>
                </a:cubicBezTo>
                <a:cubicBezTo>
                  <a:pt x="77" y="2315"/>
                  <a:pt x="67" y="2306"/>
                  <a:pt x="58" y="2297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6"/>
                  <a:pt x="20" y="2245"/>
                  <a:pt x="15" y="2233"/>
                </a:cubicBezTo>
                <a:cubicBezTo>
                  <a:pt x="10" y="2221"/>
                  <a:pt x="6" y="2208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Forma libre 381"/>
          <p:cNvSpPr/>
          <p:nvPr/>
        </p:nvSpPr>
        <p:spPr>
          <a:xfrm>
            <a:off x="671400" y="3119400"/>
            <a:ext cx="10849320" cy="847800"/>
          </a:xfrm>
          <a:custGeom>
            <a:avLst/>
            <a:gdLst/>
            <a:ahLst/>
            <a:cxnLst/>
            <a:rect l="0" t="0" r="r" b="b"/>
            <a:pathLst>
              <a:path w="30137" h="2355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8"/>
                  <a:pt x="30127" y="2221"/>
                  <a:pt x="30122" y="2233"/>
                </a:cubicBezTo>
                <a:cubicBezTo>
                  <a:pt x="30117" y="2245"/>
                  <a:pt x="30111" y="2256"/>
                  <a:pt x="30103" y="2267"/>
                </a:cubicBezTo>
                <a:cubicBezTo>
                  <a:pt x="30096" y="2278"/>
                  <a:pt x="30088" y="2288"/>
                  <a:pt x="30079" y="2297"/>
                </a:cubicBezTo>
                <a:cubicBezTo>
                  <a:pt x="30070" y="2306"/>
                  <a:pt x="30059" y="2315"/>
                  <a:pt x="30049" y="2322"/>
                </a:cubicBezTo>
                <a:cubicBezTo>
                  <a:pt x="30038" y="2329"/>
                  <a:pt x="30026" y="2335"/>
                  <a:pt x="30014" y="2340"/>
                </a:cubicBezTo>
                <a:cubicBezTo>
                  <a:pt x="30002" y="2345"/>
                  <a:pt x="29990" y="2349"/>
                  <a:pt x="29977" y="2352"/>
                </a:cubicBezTo>
                <a:cubicBezTo>
                  <a:pt x="29964" y="2354"/>
                  <a:pt x="29951" y="2355"/>
                  <a:pt x="29938" y="2355"/>
                </a:cubicBezTo>
                <a:lnTo>
                  <a:pt x="198" y="2355"/>
                </a:lnTo>
                <a:cubicBezTo>
                  <a:pt x="185" y="2355"/>
                  <a:pt x="172" y="2354"/>
                  <a:pt x="160" y="2352"/>
                </a:cubicBezTo>
                <a:cubicBezTo>
                  <a:pt x="147" y="2349"/>
                  <a:pt x="134" y="2345"/>
                  <a:pt x="122" y="2340"/>
                </a:cubicBezTo>
                <a:cubicBezTo>
                  <a:pt x="110" y="2335"/>
                  <a:pt x="99" y="2329"/>
                  <a:pt x="88" y="2322"/>
                </a:cubicBezTo>
                <a:cubicBezTo>
                  <a:pt x="77" y="2315"/>
                  <a:pt x="67" y="2306"/>
                  <a:pt x="58" y="2297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6"/>
                  <a:pt x="20" y="2245"/>
                  <a:pt x="15" y="2233"/>
                </a:cubicBezTo>
                <a:cubicBezTo>
                  <a:pt x="10" y="2221"/>
                  <a:pt x="6" y="2208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Forma libre 382"/>
          <p:cNvSpPr/>
          <p:nvPr/>
        </p:nvSpPr>
        <p:spPr>
          <a:xfrm>
            <a:off x="666720" y="501948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Forma libre 383"/>
          <p:cNvSpPr/>
          <p:nvPr/>
        </p:nvSpPr>
        <p:spPr>
          <a:xfrm>
            <a:off x="666720" y="501948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Forma libre 384"/>
          <p:cNvSpPr/>
          <p:nvPr/>
        </p:nvSpPr>
        <p:spPr>
          <a:xfrm>
            <a:off x="666720" y="942840"/>
            <a:ext cx="895680" cy="381240"/>
          </a:xfrm>
          <a:custGeom>
            <a:avLst/>
            <a:gdLst/>
            <a:ahLst/>
            <a:cxnLst/>
            <a:rect l="0" t="0" r="r" b="b"/>
            <a:pathLst>
              <a:path w="2488" h="1059">
                <a:moveTo>
                  <a:pt x="0" y="953"/>
                </a:moveTo>
                <a:lnTo>
                  <a:pt x="0" y="107"/>
                </a:ln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382" y="0"/>
                </a:lnTo>
                <a:cubicBezTo>
                  <a:pt x="2396" y="0"/>
                  <a:pt x="2409" y="3"/>
                  <a:pt x="2422" y="8"/>
                </a:cubicBezTo>
                <a:cubicBezTo>
                  <a:pt x="2435" y="13"/>
                  <a:pt x="2447" y="21"/>
                  <a:pt x="2457" y="32"/>
                </a:cubicBezTo>
                <a:cubicBezTo>
                  <a:pt x="2467" y="42"/>
                  <a:pt x="2474" y="53"/>
                  <a:pt x="2480" y="66"/>
                </a:cubicBezTo>
                <a:cubicBezTo>
                  <a:pt x="2485" y="79"/>
                  <a:pt x="2488" y="93"/>
                  <a:pt x="2488" y="107"/>
                </a:cubicBezTo>
                <a:lnTo>
                  <a:pt x="2488" y="953"/>
                </a:lnTo>
                <a:cubicBezTo>
                  <a:pt x="2488" y="967"/>
                  <a:pt x="2485" y="981"/>
                  <a:pt x="2480" y="994"/>
                </a:cubicBezTo>
                <a:cubicBezTo>
                  <a:pt x="2474" y="1007"/>
                  <a:pt x="2467" y="1018"/>
                  <a:pt x="2457" y="1028"/>
                </a:cubicBezTo>
                <a:cubicBezTo>
                  <a:pt x="2447" y="1038"/>
                  <a:pt x="2435" y="1046"/>
                  <a:pt x="2422" y="1051"/>
                </a:cubicBezTo>
                <a:cubicBezTo>
                  <a:pt x="2409" y="1057"/>
                  <a:pt x="2396" y="1059"/>
                  <a:pt x="2382" y="1059"/>
                </a:cubicBezTo>
                <a:lnTo>
                  <a:pt x="105" y="1059"/>
                </a:lnTo>
                <a:cubicBezTo>
                  <a:pt x="91" y="1059"/>
                  <a:pt x="78" y="1057"/>
                  <a:pt x="65" y="1051"/>
                </a:cubicBezTo>
                <a:cubicBezTo>
                  <a:pt x="52" y="1046"/>
                  <a:pt x="41" y="1038"/>
                  <a:pt x="31" y="1028"/>
                </a:cubicBezTo>
                <a:cubicBezTo>
                  <a:pt x="21" y="1018"/>
                  <a:pt x="13" y="1007"/>
                  <a:pt x="8" y="994"/>
                </a:cubicBezTo>
                <a:cubicBezTo>
                  <a:pt x="2" y="981"/>
                  <a:pt x="0" y="967"/>
                  <a:pt x="0" y="953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CuadroTexto 385"/>
          <p:cNvSpPr txBox="1"/>
          <p:nvPr/>
        </p:nvSpPr>
        <p:spPr>
          <a:xfrm>
            <a:off x="731520" y="947160"/>
            <a:ext cx="78228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.env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CuadroTexto 386"/>
          <p:cNvSpPr txBox="1"/>
          <p:nvPr/>
        </p:nvSpPr>
        <p:spPr>
          <a:xfrm>
            <a:off x="1563120" y="939600"/>
            <a:ext cx="24300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y la interpolación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CuadroTexto 387"/>
          <p:cNvSpPr txBox="1"/>
          <p:nvPr/>
        </p:nvSpPr>
        <p:spPr>
          <a:xfrm>
            <a:off x="866880" y="1765800"/>
            <a:ext cx="983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postgres: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CuadroTexto 388"/>
          <p:cNvSpPr txBox="1"/>
          <p:nvPr/>
        </p:nvSpPr>
        <p:spPr>
          <a:xfrm>
            <a:off x="866880" y="2032200"/>
            <a:ext cx="1529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environment: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CuadroTexto 389"/>
          <p:cNvSpPr txBox="1"/>
          <p:nvPr/>
        </p:nvSpPr>
        <p:spPr>
          <a:xfrm>
            <a:off x="866880" y="2289600"/>
            <a:ext cx="6551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POSTGRES_PASSWORD: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${POSTGRES_PASSWORD:?falta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definirla}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CuadroTexto 390"/>
          <p:cNvSpPr txBox="1"/>
          <p:nvPr/>
        </p:nvSpPr>
        <p:spPr>
          <a:xfrm>
            <a:off x="866880" y="2556360"/>
            <a:ext cx="68796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POSTGRES_DB: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${POSTGRES_DB:-omop}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valor por defecto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CuadroTexto 391"/>
          <p:cNvSpPr txBox="1"/>
          <p:nvPr/>
        </p:nvSpPr>
        <p:spPr>
          <a:xfrm>
            <a:off x="866880" y="3299040"/>
            <a:ext cx="6442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.env              → NUNCA al repositorio (va en .gitignore)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Forma libre 392"/>
          <p:cNvSpPr/>
          <p:nvPr/>
        </p:nvSpPr>
        <p:spPr>
          <a:xfrm>
            <a:off x="914040" y="42764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Forma libre 393"/>
          <p:cNvSpPr/>
          <p:nvPr/>
        </p:nvSpPr>
        <p:spPr>
          <a:xfrm>
            <a:off x="1123920" y="4181400"/>
            <a:ext cx="1866960" cy="267120"/>
          </a:xfrm>
          <a:custGeom>
            <a:avLst/>
            <a:gdLst/>
            <a:ahLst/>
            <a:cxnLst/>
            <a:rect l="0" t="0" r="r" b="b"/>
            <a:pathLst>
              <a:path w="518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5081" y="0"/>
                </a:lnTo>
                <a:cubicBezTo>
                  <a:pt x="5095" y="0"/>
                  <a:pt x="5108" y="2"/>
                  <a:pt x="5121" y="8"/>
                </a:cubicBezTo>
                <a:cubicBezTo>
                  <a:pt x="5134" y="13"/>
                  <a:pt x="5145" y="21"/>
                  <a:pt x="5155" y="31"/>
                </a:cubicBezTo>
                <a:cubicBezTo>
                  <a:pt x="5165" y="41"/>
                  <a:pt x="5173" y="52"/>
                  <a:pt x="5178" y="65"/>
                </a:cubicBezTo>
                <a:cubicBezTo>
                  <a:pt x="5184" y="78"/>
                  <a:pt x="5186" y="92"/>
                  <a:pt x="5186" y="106"/>
                </a:cubicBezTo>
                <a:lnTo>
                  <a:pt x="5186" y="636"/>
                </a:lnTo>
                <a:cubicBezTo>
                  <a:pt x="5186" y="650"/>
                  <a:pt x="5184" y="663"/>
                  <a:pt x="5178" y="676"/>
                </a:cubicBezTo>
                <a:cubicBezTo>
                  <a:pt x="5173" y="689"/>
                  <a:pt x="5165" y="701"/>
                  <a:pt x="5155" y="711"/>
                </a:cubicBezTo>
                <a:cubicBezTo>
                  <a:pt x="5145" y="720"/>
                  <a:pt x="5134" y="728"/>
                  <a:pt x="5121" y="733"/>
                </a:cubicBezTo>
                <a:cubicBezTo>
                  <a:pt x="5108" y="739"/>
                  <a:pt x="5095" y="742"/>
                  <a:pt x="5081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3"/>
                </a:cubicBezTo>
                <a:cubicBezTo>
                  <a:pt x="52" y="728"/>
                  <a:pt x="41" y="720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CuadroTexto 394"/>
          <p:cNvSpPr txBox="1"/>
          <p:nvPr/>
        </p:nvSpPr>
        <p:spPr>
          <a:xfrm>
            <a:off x="866880" y="3565800"/>
            <a:ext cx="8080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.env.example      → SÍ al repositorio, con las claves y valores de mentira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CuadroTexto 395"/>
          <p:cNvSpPr txBox="1"/>
          <p:nvPr/>
        </p:nvSpPr>
        <p:spPr>
          <a:xfrm>
            <a:off x="1181160" y="4201200"/>
            <a:ext cx="1762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${VAR:-default}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Forma libre 396"/>
          <p:cNvSpPr/>
          <p:nvPr/>
        </p:nvSpPr>
        <p:spPr>
          <a:xfrm>
            <a:off x="914040" y="46767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Forma libre 397"/>
          <p:cNvSpPr/>
          <p:nvPr/>
        </p:nvSpPr>
        <p:spPr>
          <a:xfrm>
            <a:off x="1123920" y="4581360"/>
            <a:ext cx="1866960" cy="267120"/>
          </a:xfrm>
          <a:custGeom>
            <a:avLst/>
            <a:gdLst/>
            <a:ahLst/>
            <a:cxnLst/>
            <a:rect l="0" t="0" r="r" b="b"/>
            <a:pathLst>
              <a:path w="518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5081" y="0"/>
                </a:lnTo>
                <a:cubicBezTo>
                  <a:pt x="5095" y="0"/>
                  <a:pt x="5108" y="3"/>
                  <a:pt x="5121" y="8"/>
                </a:cubicBezTo>
                <a:cubicBezTo>
                  <a:pt x="5134" y="13"/>
                  <a:pt x="5145" y="21"/>
                  <a:pt x="5155" y="31"/>
                </a:cubicBezTo>
                <a:cubicBezTo>
                  <a:pt x="5165" y="41"/>
                  <a:pt x="5173" y="52"/>
                  <a:pt x="5178" y="65"/>
                </a:cubicBezTo>
                <a:cubicBezTo>
                  <a:pt x="5184" y="78"/>
                  <a:pt x="5186" y="92"/>
                  <a:pt x="5186" y="106"/>
                </a:cubicBezTo>
                <a:lnTo>
                  <a:pt x="5186" y="636"/>
                </a:lnTo>
                <a:cubicBezTo>
                  <a:pt x="5186" y="650"/>
                  <a:pt x="5184" y="663"/>
                  <a:pt x="5178" y="676"/>
                </a:cubicBezTo>
                <a:cubicBezTo>
                  <a:pt x="5173" y="689"/>
                  <a:pt x="5165" y="701"/>
                  <a:pt x="5155" y="711"/>
                </a:cubicBezTo>
                <a:cubicBezTo>
                  <a:pt x="5145" y="721"/>
                  <a:pt x="5134" y="728"/>
                  <a:pt x="5121" y="734"/>
                </a:cubicBezTo>
                <a:cubicBezTo>
                  <a:pt x="5108" y="739"/>
                  <a:pt x="5095" y="742"/>
                  <a:pt x="5081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CuadroTexto 398"/>
          <p:cNvSpPr txBox="1"/>
          <p:nvPr/>
        </p:nvSpPr>
        <p:spPr>
          <a:xfrm>
            <a:off x="2993040" y="4163760"/>
            <a:ext cx="3558667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usa un valor si no está 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deﬁnido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CuadroTexto 399"/>
          <p:cNvSpPr txBox="1"/>
          <p:nvPr/>
        </p:nvSpPr>
        <p:spPr>
          <a:xfrm>
            <a:off x="1181160" y="4601160"/>
            <a:ext cx="1762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${VAR:?mensaje}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CuadroTexto 400"/>
          <p:cNvSpPr txBox="1"/>
          <p:nvPr/>
        </p:nvSpPr>
        <p:spPr>
          <a:xfrm>
            <a:off x="2993040" y="4564080"/>
            <a:ext cx="7152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falla al arrancar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si falta. Mejor que descubrirlo a la mitad del análisis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CuadroTexto 401"/>
          <p:cNvSpPr txBox="1"/>
          <p:nvPr/>
        </p:nvSpPr>
        <p:spPr>
          <a:xfrm>
            <a:off x="905040" y="5173560"/>
            <a:ext cx="9879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La misma lección de la sesión 6: la conﬁguración entra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 tiempo de ejecución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, no horneada en 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CuadroTexto 402"/>
          <p:cNvSpPr txBox="1"/>
          <p:nvPr/>
        </p:nvSpPr>
        <p:spPr>
          <a:xfrm>
            <a:off x="905040" y="5516280"/>
            <a:ext cx="784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imagen.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CuadroTexto 40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CuadroTexto 40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CuadroTexto 40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Forma libre 40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Forma libre 40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Forma libre 40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CuadroTexto 409"/>
          <p:cNvSpPr txBox="1"/>
          <p:nvPr/>
        </p:nvSpPr>
        <p:spPr>
          <a:xfrm>
            <a:off x="3716640" y="3063960"/>
            <a:ext cx="48819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7. Perfiles y overrides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CuadroTexto 41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CuadroTexto 41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CuadroTexto 41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Forma libre 4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Forma libre 4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Forma libre 4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Forma libre 416"/>
          <p:cNvSpPr/>
          <p:nvPr/>
        </p:nvSpPr>
        <p:spPr>
          <a:xfrm>
            <a:off x="671400" y="228096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2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Forma libre 417"/>
          <p:cNvSpPr/>
          <p:nvPr/>
        </p:nvSpPr>
        <p:spPr>
          <a:xfrm>
            <a:off x="671400" y="228096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2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Forma libre 418"/>
          <p:cNvSpPr/>
          <p:nvPr/>
        </p:nvSpPr>
        <p:spPr>
          <a:xfrm>
            <a:off x="671400" y="354780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6"/>
                </a:cubicBezTo>
                <a:cubicBezTo>
                  <a:pt x="30130" y="2209"/>
                  <a:pt x="30127" y="2221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Forma libre 419"/>
          <p:cNvSpPr/>
          <p:nvPr/>
        </p:nvSpPr>
        <p:spPr>
          <a:xfrm>
            <a:off x="671400" y="354780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6"/>
                </a:cubicBezTo>
                <a:cubicBezTo>
                  <a:pt x="30130" y="2209"/>
                  <a:pt x="30127" y="2221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CuadroTexto 420"/>
          <p:cNvSpPr txBox="1"/>
          <p:nvPr/>
        </p:nvSpPr>
        <p:spPr>
          <a:xfrm>
            <a:off x="666720" y="1634760"/>
            <a:ext cx="38131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archivo, varios entornos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CuadroTexto 421"/>
          <p:cNvSpPr txBox="1"/>
          <p:nvPr/>
        </p:nvSpPr>
        <p:spPr>
          <a:xfrm>
            <a:off x="866880" y="2460960"/>
            <a:ext cx="874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adminer: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CuadroTexto 422"/>
          <p:cNvSpPr txBox="1"/>
          <p:nvPr/>
        </p:nvSpPr>
        <p:spPr>
          <a:xfrm>
            <a:off x="866880" y="2727720"/>
            <a:ext cx="1747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image: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adminer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CuadroTexto 423"/>
          <p:cNvSpPr txBox="1"/>
          <p:nvPr/>
        </p:nvSpPr>
        <p:spPr>
          <a:xfrm>
            <a:off x="866880" y="2984760"/>
            <a:ext cx="6334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profiles: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dev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sólo si lo pides explícitamente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CuadroTexto 424"/>
          <p:cNvSpPr txBox="1"/>
          <p:nvPr/>
        </p:nvSpPr>
        <p:spPr>
          <a:xfrm>
            <a:off x="866880" y="3727800"/>
            <a:ext cx="5787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docker compose up -d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sin adminer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Forma libre 425"/>
          <p:cNvSpPr/>
          <p:nvPr/>
        </p:nvSpPr>
        <p:spPr>
          <a:xfrm>
            <a:off x="666720" y="4609800"/>
            <a:ext cx="2457720" cy="267120"/>
          </a:xfrm>
          <a:custGeom>
            <a:avLst/>
            <a:gdLst/>
            <a:ahLst/>
            <a:cxnLst/>
            <a:rect l="0" t="0" r="r" b="b"/>
            <a:pathLst>
              <a:path w="682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6721" y="0"/>
                </a:lnTo>
                <a:cubicBezTo>
                  <a:pt x="6735" y="0"/>
                  <a:pt x="6749" y="3"/>
                  <a:pt x="6761" y="8"/>
                </a:cubicBezTo>
                <a:cubicBezTo>
                  <a:pt x="6774" y="14"/>
                  <a:pt x="6786" y="21"/>
                  <a:pt x="6796" y="31"/>
                </a:cubicBezTo>
                <a:cubicBezTo>
                  <a:pt x="6806" y="41"/>
                  <a:pt x="6813" y="53"/>
                  <a:pt x="6819" y="66"/>
                </a:cubicBezTo>
                <a:cubicBezTo>
                  <a:pt x="6824" y="79"/>
                  <a:pt x="6827" y="92"/>
                  <a:pt x="6827" y="106"/>
                </a:cubicBezTo>
                <a:lnTo>
                  <a:pt x="6827" y="636"/>
                </a:lnTo>
                <a:cubicBezTo>
                  <a:pt x="6827" y="650"/>
                  <a:pt x="6824" y="664"/>
                  <a:pt x="6819" y="677"/>
                </a:cubicBezTo>
                <a:cubicBezTo>
                  <a:pt x="6813" y="690"/>
                  <a:pt x="6806" y="701"/>
                  <a:pt x="6796" y="711"/>
                </a:cubicBezTo>
                <a:cubicBezTo>
                  <a:pt x="6786" y="721"/>
                  <a:pt x="6774" y="729"/>
                  <a:pt x="6761" y="734"/>
                </a:cubicBezTo>
                <a:cubicBezTo>
                  <a:pt x="6749" y="739"/>
                  <a:pt x="6735" y="742"/>
                  <a:pt x="6721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CuadroTexto 426"/>
          <p:cNvSpPr txBox="1"/>
          <p:nvPr/>
        </p:nvSpPr>
        <p:spPr>
          <a:xfrm>
            <a:off x="866880" y="3994560"/>
            <a:ext cx="5787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docker compose --profile dev up -d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con adminer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CuadroTexto 427"/>
          <p:cNvSpPr txBox="1"/>
          <p:nvPr/>
        </p:nvSpPr>
        <p:spPr>
          <a:xfrm>
            <a:off x="723960" y="4629960"/>
            <a:ext cx="2349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compose.override.yml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CuadroTexto 428"/>
          <p:cNvSpPr txBox="1"/>
          <p:nvPr/>
        </p:nvSpPr>
        <p:spPr>
          <a:xfrm>
            <a:off x="3120840" y="4592520"/>
            <a:ext cx="7684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se aplica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automáticamente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encima del principal: puertos extra, montajes de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CuadroTexto 429"/>
          <p:cNvSpPr txBox="1"/>
          <p:nvPr/>
        </p:nvSpPr>
        <p:spPr>
          <a:xfrm>
            <a:off x="666720" y="4935240"/>
            <a:ext cx="7352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desarrollo, variables locales — sin tocar el archivo que comparte el equipo.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CuadroTexto 43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CuadroTexto 43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CuadroTexto 43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Forma libre 4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Forma libre 4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Forma libre 4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CuadroTexto 436"/>
          <p:cNvSpPr txBox="1"/>
          <p:nvPr/>
        </p:nvSpPr>
        <p:spPr>
          <a:xfrm>
            <a:off x="3972600" y="3063960"/>
            <a:ext cx="43491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8. Operación diaria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CuadroTexto 43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CuadroTexto 43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CuadroTexto 43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Forma libre 44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Forma libre 4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Forma libre 44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Forma libre 443"/>
          <p:cNvSpPr/>
          <p:nvPr/>
        </p:nvSpPr>
        <p:spPr>
          <a:xfrm>
            <a:off x="671400" y="1776240"/>
            <a:ext cx="10849320" cy="1895760"/>
          </a:xfrm>
          <a:custGeom>
            <a:avLst/>
            <a:gdLst/>
            <a:ahLst/>
            <a:cxnLst/>
            <a:rect l="0" t="0" r="r" b="b"/>
            <a:pathLst>
              <a:path w="30137" h="5266">
                <a:moveTo>
                  <a:pt x="0" y="5068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068"/>
                </a:lnTo>
                <a:cubicBezTo>
                  <a:pt x="30137" y="5081"/>
                  <a:pt x="30136" y="5094"/>
                  <a:pt x="30133" y="5106"/>
                </a:cubicBezTo>
                <a:cubicBezTo>
                  <a:pt x="30130" y="5119"/>
                  <a:pt x="30127" y="5132"/>
                  <a:pt x="30122" y="5144"/>
                </a:cubicBezTo>
                <a:cubicBezTo>
                  <a:pt x="30117" y="5156"/>
                  <a:pt x="30111" y="5167"/>
                  <a:pt x="30103" y="5178"/>
                </a:cubicBezTo>
                <a:cubicBezTo>
                  <a:pt x="30096" y="5189"/>
                  <a:pt x="30088" y="5199"/>
                  <a:pt x="30079" y="5208"/>
                </a:cubicBezTo>
                <a:cubicBezTo>
                  <a:pt x="30070" y="5217"/>
                  <a:pt x="30059" y="5226"/>
                  <a:pt x="30049" y="5233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60"/>
                  <a:pt x="29977" y="5262"/>
                </a:cubicBezTo>
                <a:cubicBezTo>
                  <a:pt x="29964" y="5265"/>
                  <a:pt x="29951" y="5266"/>
                  <a:pt x="29938" y="5266"/>
                </a:cubicBezTo>
                <a:lnTo>
                  <a:pt x="198" y="5266"/>
                </a:lnTo>
                <a:cubicBezTo>
                  <a:pt x="185" y="5266"/>
                  <a:pt x="172" y="5265"/>
                  <a:pt x="160" y="5262"/>
                </a:cubicBezTo>
                <a:cubicBezTo>
                  <a:pt x="147" y="5260"/>
                  <a:pt x="134" y="5256"/>
                  <a:pt x="122" y="5251"/>
                </a:cubicBezTo>
                <a:cubicBezTo>
                  <a:pt x="110" y="5246"/>
                  <a:pt x="99" y="5240"/>
                  <a:pt x="88" y="5233"/>
                </a:cubicBezTo>
                <a:cubicBezTo>
                  <a:pt x="77" y="5226"/>
                  <a:pt x="67" y="5217"/>
                  <a:pt x="58" y="5208"/>
                </a:cubicBezTo>
                <a:cubicBezTo>
                  <a:pt x="49" y="5199"/>
                  <a:pt x="40" y="5189"/>
                  <a:pt x="33" y="5178"/>
                </a:cubicBezTo>
                <a:cubicBezTo>
                  <a:pt x="26" y="5167"/>
                  <a:pt x="20" y="5156"/>
                  <a:pt x="15" y="5144"/>
                </a:cubicBezTo>
                <a:cubicBezTo>
                  <a:pt x="10" y="5132"/>
                  <a:pt x="6" y="5119"/>
                  <a:pt x="4" y="5106"/>
                </a:cubicBezTo>
                <a:cubicBezTo>
                  <a:pt x="1" y="5094"/>
                  <a:pt x="0" y="5081"/>
                  <a:pt x="0" y="506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Forma libre 444"/>
          <p:cNvSpPr/>
          <p:nvPr/>
        </p:nvSpPr>
        <p:spPr>
          <a:xfrm>
            <a:off x="671400" y="1776240"/>
            <a:ext cx="10849320" cy="1895760"/>
          </a:xfrm>
          <a:custGeom>
            <a:avLst/>
            <a:gdLst/>
            <a:ahLst/>
            <a:cxnLst/>
            <a:rect l="0" t="0" r="r" b="b"/>
            <a:pathLst>
              <a:path w="30137" h="5266">
                <a:moveTo>
                  <a:pt x="0" y="5068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068"/>
                </a:lnTo>
                <a:cubicBezTo>
                  <a:pt x="30137" y="5081"/>
                  <a:pt x="30136" y="5094"/>
                  <a:pt x="30133" y="5106"/>
                </a:cubicBezTo>
                <a:cubicBezTo>
                  <a:pt x="30130" y="5119"/>
                  <a:pt x="30127" y="5132"/>
                  <a:pt x="30122" y="5144"/>
                </a:cubicBezTo>
                <a:cubicBezTo>
                  <a:pt x="30117" y="5156"/>
                  <a:pt x="30111" y="5167"/>
                  <a:pt x="30103" y="5178"/>
                </a:cubicBezTo>
                <a:cubicBezTo>
                  <a:pt x="30096" y="5189"/>
                  <a:pt x="30088" y="5199"/>
                  <a:pt x="30079" y="5208"/>
                </a:cubicBezTo>
                <a:cubicBezTo>
                  <a:pt x="30070" y="5217"/>
                  <a:pt x="30059" y="5226"/>
                  <a:pt x="30049" y="5233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60"/>
                  <a:pt x="29977" y="5262"/>
                </a:cubicBezTo>
                <a:cubicBezTo>
                  <a:pt x="29964" y="5265"/>
                  <a:pt x="29951" y="5266"/>
                  <a:pt x="29938" y="5266"/>
                </a:cubicBezTo>
                <a:lnTo>
                  <a:pt x="198" y="5266"/>
                </a:lnTo>
                <a:cubicBezTo>
                  <a:pt x="185" y="5266"/>
                  <a:pt x="172" y="5265"/>
                  <a:pt x="160" y="5262"/>
                </a:cubicBezTo>
                <a:cubicBezTo>
                  <a:pt x="147" y="5260"/>
                  <a:pt x="134" y="5256"/>
                  <a:pt x="122" y="5251"/>
                </a:cubicBezTo>
                <a:cubicBezTo>
                  <a:pt x="110" y="5246"/>
                  <a:pt x="99" y="5240"/>
                  <a:pt x="88" y="5233"/>
                </a:cubicBezTo>
                <a:cubicBezTo>
                  <a:pt x="77" y="5226"/>
                  <a:pt x="67" y="5217"/>
                  <a:pt x="58" y="5208"/>
                </a:cubicBezTo>
                <a:cubicBezTo>
                  <a:pt x="49" y="5199"/>
                  <a:pt x="40" y="5189"/>
                  <a:pt x="33" y="5178"/>
                </a:cubicBezTo>
                <a:cubicBezTo>
                  <a:pt x="26" y="5167"/>
                  <a:pt x="20" y="5156"/>
                  <a:pt x="15" y="5144"/>
                </a:cubicBezTo>
                <a:cubicBezTo>
                  <a:pt x="10" y="5132"/>
                  <a:pt x="6" y="5119"/>
                  <a:pt x="4" y="5106"/>
                </a:cubicBezTo>
                <a:cubicBezTo>
                  <a:pt x="1" y="5094"/>
                  <a:pt x="0" y="5081"/>
                  <a:pt x="0" y="506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Forma libre 445"/>
          <p:cNvSpPr/>
          <p:nvPr/>
        </p:nvSpPr>
        <p:spPr>
          <a:xfrm>
            <a:off x="690480" y="4667040"/>
            <a:ext cx="10834920" cy="1067040"/>
          </a:xfrm>
          <a:custGeom>
            <a:avLst/>
            <a:gdLst/>
            <a:ahLst/>
            <a:cxnLst/>
            <a:rect l="0" t="0" r="r" b="b"/>
            <a:pathLst>
              <a:path w="30097" h="2964">
                <a:moveTo>
                  <a:pt x="0" y="2964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1"/>
                  <a:pt x="29969" y="3"/>
                </a:cubicBezTo>
                <a:cubicBezTo>
                  <a:pt x="29980" y="5"/>
                  <a:pt x="29989" y="8"/>
                  <a:pt x="29999" y="12"/>
                </a:cubicBezTo>
                <a:cubicBezTo>
                  <a:pt x="30009" y="16"/>
                  <a:pt x="30018" y="21"/>
                  <a:pt x="30027" y="27"/>
                </a:cubicBezTo>
                <a:cubicBezTo>
                  <a:pt x="30035" y="33"/>
                  <a:pt x="30043" y="39"/>
                  <a:pt x="30051" y="47"/>
                </a:cubicBezTo>
                <a:cubicBezTo>
                  <a:pt x="30058" y="54"/>
                  <a:pt x="30065" y="62"/>
                  <a:pt x="30070" y="71"/>
                </a:cubicBezTo>
                <a:cubicBezTo>
                  <a:pt x="30076" y="79"/>
                  <a:pt x="30081" y="88"/>
                  <a:pt x="30085" y="98"/>
                </a:cubicBezTo>
                <a:cubicBezTo>
                  <a:pt x="30089" y="108"/>
                  <a:pt x="30092" y="118"/>
                  <a:pt x="30094" y="128"/>
                </a:cubicBezTo>
                <a:cubicBezTo>
                  <a:pt x="30096" y="138"/>
                  <a:pt x="30097" y="148"/>
                  <a:pt x="30097" y="159"/>
                </a:cubicBezTo>
                <a:lnTo>
                  <a:pt x="30097" y="2806"/>
                </a:lnTo>
                <a:cubicBezTo>
                  <a:pt x="30097" y="2816"/>
                  <a:pt x="30096" y="2826"/>
                  <a:pt x="30094" y="2837"/>
                </a:cubicBezTo>
                <a:cubicBezTo>
                  <a:pt x="30092" y="2847"/>
                  <a:pt x="30089" y="2857"/>
                  <a:pt x="30085" y="2866"/>
                </a:cubicBezTo>
                <a:cubicBezTo>
                  <a:pt x="30081" y="2876"/>
                  <a:pt x="30076" y="2885"/>
                  <a:pt x="30070" y="2894"/>
                </a:cubicBezTo>
                <a:cubicBezTo>
                  <a:pt x="30065" y="2903"/>
                  <a:pt x="30058" y="2911"/>
                  <a:pt x="30051" y="2918"/>
                </a:cubicBezTo>
                <a:cubicBezTo>
                  <a:pt x="30043" y="2925"/>
                  <a:pt x="30035" y="2932"/>
                  <a:pt x="30027" y="2938"/>
                </a:cubicBezTo>
                <a:cubicBezTo>
                  <a:pt x="30018" y="2943"/>
                  <a:pt x="30009" y="2948"/>
                  <a:pt x="29999" y="2952"/>
                </a:cubicBezTo>
                <a:cubicBezTo>
                  <a:pt x="29989" y="2956"/>
                  <a:pt x="29980" y="2959"/>
                  <a:pt x="29969" y="2961"/>
                </a:cubicBezTo>
                <a:cubicBezTo>
                  <a:pt x="29959" y="2963"/>
                  <a:pt x="29949" y="2964"/>
                  <a:pt x="29938" y="2964"/>
                </a:cubicBezTo>
                <a:lnTo>
                  <a:pt x="0" y="2964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Forma libre 446"/>
          <p:cNvSpPr/>
          <p:nvPr/>
        </p:nvSpPr>
        <p:spPr>
          <a:xfrm>
            <a:off x="666720" y="4667040"/>
            <a:ext cx="47880" cy="1067040"/>
          </a:xfrm>
          <a:custGeom>
            <a:avLst/>
            <a:gdLst/>
            <a:ahLst/>
            <a:cxnLst/>
            <a:rect l="0" t="0" r="r" b="b"/>
            <a:pathLst>
              <a:path w="133" h="2964">
                <a:moveTo>
                  <a:pt x="0" y="0"/>
                </a:moveTo>
                <a:lnTo>
                  <a:pt x="133" y="0"/>
                </a:lnTo>
                <a:lnTo>
                  <a:pt x="133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CuadroTexto 447"/>
          <p:cNvSpPr txBox="1"/>
          <p:nvPr/>
        </p:nvSpPr>
        <p:spPr>
          <a:xfrm>
            <a:off x="666720" y="1139400"/>
            <a:ext cx="42217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comandos que vas a usar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CuadroTexto 448"/>
          <p:cNvSpPr txBox="1"/>
          <p:nvPr/>
        </p:nvSpPr>
        <p:spPr>
          <a:xfrm>
            <a:off x="866880" y="1956240"/>
            <a:ext cx="7534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docker compose up -d --build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levantar (y reconstruir si cambió)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CuadroTexto 449"/>
          <p:cNvSpPr txBox="1"/>
          <p:nvPr/>
        </p:nvSpPr>
        <p:spPr>
          <a:xfrm>
            <a:off x="866880" y="2223000"/>
            <a:ext cx="64429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docker compose ps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qué está vivo y su salud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CuadroTexto 450"/>
          <p:cNvSpPr txBox="1"/>
          <p:nvPr/>
        </p:nvSpPr>
        <p:spPr>
          <a:xfrm>
            <a:off x="866880" y="2480040"/>
            <a:ext cx="7097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docker compose logs -f postgres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seguir los logs de UN servicio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CuadroTexto 451"/>
          <p:cNvSpPr txBox="1"/>
          <p:nvPr/>
        </p:nvSpPr>
        <p:spPr>
          <a:xfrm>
            <a:off x="866880" y="2746800"/>
            <a:ext cx="7971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docker compose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exec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postgres psql -U omop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entrar a un contenedor vivo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CuadroTexto 452"/>
          <p:cNvSpPr txBox="1"/>
          <p:nvPr/>
        </p:nvSpPr>
        <p:spPr>
          <a:xfrm>
            <a:off x="866880" y="3003840"/>
            <a:ext cx="6988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docker compose down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apagar, conservando volúmenes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CuadroTexto 453"/>
          <p:cNvSpPr txBox="1"/>
          <p:nvPr/>
        </p:nvSpPr>
        <p:spPr>
          <a:xfrm>
            <a:off x="866880" y="3270600"/>
            <a:ext cx="6552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docker compose down -v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apagar y BORRAR los datos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Forma libre 454"/>
          <p:cNvSpPr/>
          <p:nvPr/>
        </p:nvSpPr>
        <p:spPr>
          <a:xfrm>
            <a:off x="3228840" y="3885840"/>
            <a:ext cx="352800" cy="267120"/>
          </a:xfrm>
          <a:custGeom>
            <a:avLst/>
            <a:gdLst/>
            <a:ahLst/>
            <a:cxnLst/>
            <a:rect l="0" t="0" r="r" b="b"/>
            <a:pathLst>
              <a:path w="980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874" y="0"/>
                </a:lnTo>
                <a:cubicBezTo>
                  <a:pt x="888" y="0"/>
                  <a:pt x="902" y="3"/>
                  <a:pt x="914" y="9"/>
                </a:cubicBezTo>
                <a:cubicBezTo>
                  <a:pt x="927" y="14"/>
                  <a:pt x="939" y="22"/>
                  <a:pt x="949" y="31"/>
                </a:cubicBezTo>
                <a:cubicBezTo>
                  <a:pt x="959" y="41"/>
                  <a:pt x="966" y="53"/>
                  <a:pt x="972" y="66"/>
                </a:cubicBezTo>
                <a:cubicBezTo>
                  <a:pt x="977" y="79"/>
                  <a:pt x="980" y="92"/>
                  <a:pt x="980" y="106"/>
                </a:cubicBezTo>
                <a:lnTo>
                  <a:pt x="980" y="635"/>
                </a:lnTo>
                <a:cubicBezTo>
                  <a:pt x="980" y="650"/>
                  <a:pt x="977" y="663"/>
                  <a:pt x="972" y="677"/>
                </a:cubicBezTo>
                <a:cubicBezTo>
                  <a:pt x="966" y="690"/>
                  <a:pt x="959" y="701"/>
                  <a:pt x="949" y="711"/>
                </a:cubicBezTo>
                <a:cubicBezTo>
                  <a:pt x="939" y="721"/>
                  <a:pt x="927" y="729"/>
                  <a:pt x="914" y="734"/>
                </a:cubicBezTo>
                <a:cubicBezTo>
                  <a:pt x="902" y="740"/>
                  <a:pt x="888" y="742"/>
                  <a:pt x="874" y="742"/>
                </a:cubicBezTo>
                <a:lnTo>
                  <a:pt x="106" y="742"/>
                </a:lnTo>
                <a:cubicBezTo>
                  <a:pt x="92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3"/>
                  <a:pt x="0" y="650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CuadroTexto 455"/>
          <p:cNvSpPr txBox="1"/>
          <p:nvPr/>
        </p:nvSpPr>
        <p:spPr>
          <a:xfrm>
            <a:off x="666720" y="3868560"/>
            <a:ext cx="2571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Depurar en este orden: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CuadroTexto 456"/>
          <p:cNvSpPr txBox="1"/>
          <p:nvPr/>
        </p:nvSpPr>
        <p:spPr>
          <a:xfrm>
            <a:off x="3290040" y="3906000"/>
            <a:ext cx="235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ps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CuadroTexto 457"/>
          <p:cNvSpPr txBox="1"/>
          <p:nvPr/>
        </p:nvSpPr>
        <p:spPr>
          <a:xfrm>
            <a:off x="3581280" y="3868560"/>
            <a:ext cx="2130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(¿está vivo? ¿sano?)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CuadroTexto 458"/>
          <p:cNvSpPr txBox="1"/>
          <p:nvPr/>
        </p:nvSpPr>
        <p:spPr>
          <a:xfrm>
            <a:off x="5711400" y="387936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Forma libre 459"/>
          <p:cNvSpPr/>
          <p:nvPr/>
        </p:nvSpPr>
        <p:spPr>
          <a:xfrm>
            <a:off x="6000480" y="388584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lnTo>
                  <a:pt x="1509" y="0"/>
                </a:lnTo>
                <a:cubicBezTo>
                  <a:pt x="1523" y="0"/>
                  <a:pt x="1537" y="3"/>
                  <a:pt x="1550" y="9"/>
                </a:cubicBezTo>
                <a:cubicBezTo>
                  <a:pt x="1563" y="14"/>
                  <a:pt x="1574" y="22"/>
                  <a:pt x="1584" y="31"/>
                </a:cubicBezTo>
                <a:cubicBezTo>
                  <a:pt x="1594" y="41"/>
                  <a:pt x="1602" y="53"/>
                  <a:pt x="1607" y="66"/>
                </a:cubicBezTo>
                <a:cubicBezTo>
                  <a:pt x="1613" y="79"/>
                  <a:pt x="1615" y="92"/>
                  <a:pt x="1615" y="106"/>
                </a:cubicBezTo>
                <a:lnTo>
                  <a:pt x="1615" y="635"/>
                </a:lnTo>
                <a:cubicBezTo>
                  <a:pt x="1615" y="650"/>
                  <a:pt x="1613" y="663"/>
                  <a:pt x="1607" y="677"/>
                </a:cubicBezTo>
                <a:cubicBezTo>
                  <a:pt x="1602" y="690"/>
                  <a:pt x="1594" y="701"/>
                  <a:pt x="1584" y="711"/>
                </a:cubicBezTo>
                <a:cubicBezTo>
                  <a:pt x="1574" y="721"/>
                  <a:pt x="1563" y="729"/>
                  <a:pt x="1550" y="734"/>
                </a:cubicBezTo>
                <a:cubicBezTo>
                  <a:pt x="1537" y="740"/>
                  <a:pt x="1523" y="742"/>
                  <a:pt x="1509" y="742"/>
                </a:cubicBezTo>
                <a:lnTo>
                  <a:pt x="106" y="742"/>
                </a:lnTo>
                <a:cubicBezTo>
                  <a:pt x="92" y="742"/>
                  <a:pt x="79" y="740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3"/>
                  <a:pt x="0" y="650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CuadroTexto 460"/>
          <p:cNvSpPr txBox="1"/>
          <p:nvPr/>
        </p:nvSpPr>
        <p:spPr>
          <a:xfrm>
            <a:off x="5940000" y="386856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CuadroTexto 461"/>
          <p:cNvSpPr txBox="1"/>
          <p:nvPr/>
        </p:nvSpPr>
        <p:spPr>
          <a:xfrm>
            <a:off x="6060600" y="390600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logs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CuadroTexto 462"/>
          <p:cNvSpPr txBox="1"/>
          <p:nvPr/>
        </p:nvSpPr>
        <p:spPr>
          <a:xfrm>
            <a:off x="6585840" y="3868560"/>
            <a:ext cx="2054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(¿qué dijo al morir?)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CuadroTexto 463"/>
          <p:cNvSpPr txBox="1"/>
          <p:nvPr/>
        </p:nvSpPr>
        <p:spPr>
          <a:xfrm>
            <a:off x="8639640" y="387936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Forma libre 464"/>
          <p:cNvSpPr/>
          <p:nvPr/>
        </p:nvSpPr>
        <p:spPr>
          <a:xfrm>
            <a:off x="8934120" y="388584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lnTo>
                  <a:pt x="1510" y="0"/>
                </a:lnTo>
                <a:cubicBezTo>
                  <a:pt x="1524" y="0"/>
                  <a:pt x="1537" y="3"/>
                  <a:pt x="1550" y="9"/>
                </a:cubicBezTo>
                <a:cubicBezTo>
                  <a:pt x="1563" y="14"/>
                  <a:pt x="1574" y="22"/>
                  <a:pt x="1584" y="31"/>
                </a:cubicBezTo>
                <a:cubicBezTo>
                  <a:pt x="1594" y="41"/>
                  <a:pt x="1602" y="53"/>
                  <a:pt x="1607" y="66"/>
                </a:cubicBezTo>
                <a:cubicBezTo>
                  <a:pt x="1613" y="79"/>
                  <a:pt x="1615" y="92"/>
                  <a:pt x="1615" y="106"/>
                </a:cubicBezTo>
                <a:lnTo>
                  <a:pt x="1615" y="635"/>
                </a:lnTo>
                <a:cubicBezTo>
                  <a:pt x="1615" y="650"/>
                  <a:pt x="1613" y="663"/>
                  <a:pt x="1607" y="677"/>
                </a:cubicBezTo>
                <a:cubicBezTo>
                  <a:pt x="1602" y="690"/>
                  <a:pt x="1594" y="701"/>
                  <a:pt x="1584" y="711"/>
                </a:cubicBezTo>
                <a:cubicBezTo>
                  <a:pt x="1574" y="721"/>
                  <a:pt x="1563" y="729"/>
                  <a:pt x="1550" y="734"/>
                </a:cubicBezTo>
                <a:cubicBezTo>
                  <a:pt x="1537" y="740"/>
                  <a:pt x="1524" y="742"/>
                  <a:pt x="1510" y="742"/>
                </a:cubicBezTo>
                <a:lnTo>
                  <a:pt x="106" y="742"/>
                </a:lnTo>
                <a:cubicBezTo>
                  <a:pt x="92" y="742"/>
                  <a:pt x="79" y="740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3"/>
                  <a:pt x="0" y="650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CuadroTexto 465"/>
          <p:cNvSpPr txBox="1"/>
          <p:nvPr/>
        </p:nvSpPr>
        <p:spPr>
          <a:xfrm>
            <a:off x="8868240" y="386856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CuadroTexto 466"/>
          <p:cNvSpPr txBox="1"/>
          <p:nvPr/>
        </p:nvSpPr>
        <p:spPr>
          <a:xfrm>
            <a:off x="8988840" y="390600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exec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CuadroTexto 467"/>
          <p:cNvSpPr txBox="1"/>
          <p:nvPr/>
        </p:nvSpPr>
        <p:spPr>
          <a:xfrm>
            <a:off x="9514080" y="3868560"/>
            <a:ext cx="1576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(¿qué ve desde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Forma libre 468"/>
          <p:cNvSpPr/>
          <p:nvPr/>
        </p:nvSpPr>
        <p:spPr>
          <a:xfrm>
            <a:off x="885600" y="483840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508" y="0"/>
                </a:lnTo>
                <a:cubicBezTo>
                  <a:pt x="1522" y="0"/>
                  <a:pt x="1536" y="3"/>
                  <a:pt x="1549" y="8"/>
                </a:cubicBezTo>
                <a:cubicBezTo>
                  <a:pt x="1562" y="14"/>
                  <a:pt x="1574" y="21"/>
                  <a:pt x="1584" y="31"/>
                </a:cubicBezTo>
                <a:cubicBezTo>
                  <a:pt x="1594" y="41"/>
                  <a:pt x="1602" y="53"/>
                  <a:pt x="1607" y="66"/>
                </a:cubicBezTo>
                <a:cubicBezTo>
                  <a:pt x="1612" y="79"/>
                  <a:pt x="1615" y="92"/>
                  <a:pt x="1615" y="106"/>
                </a:cubicBezTo>
                <a:lnTo>
                  <a:pt x="1615" y="636"/>
                </a:lnTo>
                <a:cubicBezTo>
                  <a:pt x="1615" y="650"/>
                  <a:pt x="1612" y="664"/>
                  <a:pt x="1607" y="677"/>
                </a:cubicBezTo>
                <a:cubicBezTo>
                  <a:pt x="1602" y="690"/>
                  <a:pt x="1594" y="701"/>
                  <a:pt x="1584" y="711"/>
                </a:cubicBezTo>
                <a:cubicBezTo>
                  <a:pt x="1574" y="721"/>
                  <a:pt x="1562" y="729"/>
                  <a:pt x="1549" y="734"/>
                </a:cubicBezTo>
                <a:cubicBezTo>
                  <a:pt x="1536" y="739"/>
                  <a:pt x="1522" y="742"/>
                  <a:pt x="1508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CuadroTexto 469"/>
          <p:cNvSpPr txBox="1"/>
          <p:nvPr/>
        </p:nvSpPr>
        <p:spPr>
          <a:xfrm>
            <a:off x="666720" y="4211640"/>
            <a:ext cx="1000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adentro?).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CuadroTexto 470"/>
          <p:cNvSpPr txBox="1"/>
          <p:nvPr/>
        </p:nvSpPr>
        <p:spPr>
          <a:xfrm>
            <a:off x="942840" y="485856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exec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Forma libre 471"/>
          <p:cNvSpPr/>
          <p:nvPr/>
        </p:nvSpPr>
        <p:spPr>
          <a:xfrm>
            <a:off x="5267160" y="4838400"/>
            <a:ext cx="457560" cy="267120"/>
          </a:xfrm>
          <a:custGeom>
            <a:avLst/>
            <a:gdLst/>
            <a:ahLst/>
            <a:cxnLst/>
            <a:rect l="0" t="0" r="r" b="b"/>
            <a:pathLst>
              <a:path w="127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64" y="0"/>
                </a:lnTo>
                <a:cubicBezTo>
                  <a:pt x="1178" y="0"/>
                  <a:pt x="1192" y="3"/>
                  <a:pt x="1205" y="8"/>
                </a:cubicBezTo>
                <a:cubicBezTo>
                  <a:pt x="1218" y="14"/>
                  <a:pt x="1229" y="21"/>
                  <a:pt x="1240" y="31"/>
                </a:cubicBezTo>
                <a:cubicBezTo>
                  <a:pt x="1250" y="41"/>
                  <a:pt x="1258" y="53"/>
                  <a:pt x="1263" y="66"/>
                </a:cubicBezTo>
                <a:cubicBezTo>
                  <a:pt x="1268" y="79"/>
                  <a:pt x="1271" y="92"/>
                  <a:pt x="1271" y="106"/>
                </a:cubicBezTo>
                <a:lnTo>
                  <a:pt x="1271" y="636"/>
                </a:lnTo>
                <a:cubicBezTo>
                  <a:pt x="1271" y="650"/>
                  <a:pt x="1268" y="664"/>
                  <a:pt x="1263" y="677"/>
                </a:cubicBezTo>
                <a:cubicBezTo>
                  <a:pt x="1258" y="690"/>
                  <a:pt x="1250" y="701"/>
                  <a:pt x="1240" y="711"/>
                </a:cubicBezTo>
                <a:cubicBezTo>
                  <a:pt x="1229" y="721"/>
                  <a:pt x="1218" y="729"/>
                  <a:pt x="1205" y="734"/>
                </a:cubicBezTo>
                <a:cubicBezTo>
                  <a:pt x="1192" y="739"/>
                  <a:pt x="1178" y="742"/>
                  <a:pt x="1164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CuadroTexto 472"/>
          <p:cNvSpPr txBox="1"/>
          <p:nvPr/>
        </p:nvSpPr>
        <p:spPr>
          <a:xfrm>
            <a:off x="1468080" y="4821120"/>
            <a:ext cx="3799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entra a un contenedor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que ya corre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;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CuadroTexto 473"/>
          <p:cNvSpPr txBox="1"/>
          <p:nvPr/>
        </p:nvSpPr>
        <p:spPr>
          <a:xfrm>
            <a:off x="5320080" y="4858560"/>
            <a:ext cx="353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run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CuadroTexto 474"/>
          <p:cNvSpPr txBox="1"/>
          <p:nvPr/>
        </p:nvSpPr>
        <p:spPr>
          <a:xfrm>
            <a:off x="5728320" y="4821120"/>
            <a:ext cx="4887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crea uno nuevo. Confundirlos hace perder tardes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CuadroTexto 475"/>
          <p:cNvSpPr txBox="1"/>
          <p:nvPr/>
        </p:nvSpPr>
        <p:spPr>
          <a:xfrm>
            <a:off x="885960" y="5163840"/>
            <a:ext cx="792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enteras.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CuadroTexto 47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CuadroTexto 47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CuadroTexto 47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Forma libre 47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Forma libre 48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Forma libre 48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Forma libre 482"/>
          <p:cNvSpPr/>
          <p:nvPr/>
        </p:nvSpPr>
        <p:spPr>
          <a:xfrm>
            <a:off x="666720" y="445752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Forma libre 483"/>
          <p:cNvSpPr/>
          <p:nvPr/>
        </p:nvSpPr>
        <p:spPr>
          <a:xfrm>
            <a:off x="666720" y="445752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Forma libre 484"/>
          <p:cNvSpPr/>
          <p:nvPr/>
        </p:nvSpPr>
        <p:spPr>
          <a:xfrm>
            <a:off x="914040" y="22856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CuadroTexto 485"/>
          <p:cNvSpPr txBox="1"/>
          <p:nvPr/>
        </p:nvSpPr>
        <p:spPr>
          <a:xfrm>
            <a:off x="666720" y="1501560"/>
            <a:ext cx="3045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Más allá de Compose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CuadroTexto 486"/>
          <p:cNvSpPr txBox="1"/>
          <p:nvPr/>
        </p:nvSpPr>
        <p:spPr>
          <a:xfrm>
            <a:off x="1123920" y="2173320"/>
            <a:ext cx="9264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Compose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resuelve un stack en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una máquina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Es lo correcto para desarrollo, para un análisis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Forma libre 487"/>
          <p:cNvSpPr/>
          <p:nvPr/>
        </p:nvSpPr>
        <p:spPr>
          <a:xfrm>
            <a:off x="914040" y="30286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CuadroTexto 488"/>
          <p:cNvSpPr txBox="1"/>
          <p:nvPr/>
        </p:nvSpPr>
        <p:spPr>
          <a:xfrm>
            <a:off x="1123920" y="2516040"/>
            <a:ext cx="3507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reproducible y para el proyecto ﬁnal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CuadroTexto 489"/>
          <p:cNvSpPr txBox="1"/>
          <p:nvPr/>
        </p:nvSpPr>
        <p:spPr>
          <a:xfrm>
            <a:off x="1123920" y="2916000"/>
            <a:ext cx="10027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Kubernetes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aparece cuando necesitas varias máquinas, escalado automático y alta disponibilidad —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Forma libre 490"/>
          <p:cNvSpPr/>
          <p:nvPr/>
        </p:nvSpPr>
        <p:spPr>
          <a:xfrm>
            <a:off x="914040" y="37717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CuadroTexto 491"/>
          <p:cNvSpPr txBox="1"/>
          <p:nvPr/>
        </p:nvSpPr>
        <p:spPr>
          <a:xfrm>
            <a:off x="1123920" y="3259080"/>
            <a:ext cx="4756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otro nivel de complejidad, y rara vez lo necesitas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CuadroTexto 492"/>
          <p:cNvSpPr txBox="1"/>
          <p:nvPr/>
        </p:nvSpPr>
        <p:spPr>
          <a:xfrm>
            <a:off x="1123920" y="3659040"/>
            <a:ext cx="10132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Nextﬂow / Snakemake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orquestan </a:t>
            </a:r>
            <a:r>
              <a:rPr lang="es-ES" sz="18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pipelines cientíﬁcos 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 contenedores: no servicios que viven, sino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CuadroTexto 493"/>
          <p:cNvSpPr txBox="1"/>
          <p:nvPr/>
        </p:nvSpPr>
        <p:spPr>
          <a:xfrm>
            <a:off x="1123920" y="4002120"/>
            <a:ext cx="2816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pasos que corren y terminan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CuadroTexto 494"/>
          <p:cNvSpPr txBox="1"/>
          <p:nvPr/>
        </p:nvSpPr>
        <p:spPr>
          <a:xfrm>
            <a:off x="905040" y="4611600"/>
            <a:ext cx="10209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Para tu tesis y tu proyecto ﬁnal, Compose es suﬁciente. Sabrás que necesitas más cuando Compose 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CuadroTexto 495"/>
          <p:cNvSpPr txBox="1"/>
          <p:nvPr/>
        </p:nvSpPr>
        <p:spPr>
          <a:xfrm>
            <a:off x="905040" y="4954320"/>
            <a:ext cx="1423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falle, no antes.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CuadroTexto 49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CuadroTexto 49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CuadroTexto 49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Forma libre 4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Forma libre 5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Forma libre 5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CuadroTexto 502"/>
          <p:cNvSpPr txBox="1"/>
          <p:nvPr/>
        </p:nvSpPr>
        <p:spPr>
          <a:xfrm>
            <a:off x="666720" y="2034720"/>
            <a:ext cx="1444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llevar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CuadroTexto 503"/>
          <p:cNvSpPr txBox="1"/>
          <p:nvPr/>
        </p:nvSpPr>
        <p:spPr>
          <a:xfrm>
            <a:off x="869760" y="2706480"/>
            <a:ext cx="10521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Compose es infraestructura como código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el sistema completo declarado en un archivo versionado,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CuadroTexto 504"/>
          <p:cNvSpPr txBox="1"/>
          <p:nvPr/>
        </p:nvSpPr>
        <p:spPr>
          <a:xfrm>
            <a:off x="1123920" y="3049560"/>
            <a:ext cx="3905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no en comandos que hay que recordar.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Forma libre 505"/>
          <p:cNvSpPr/>
          <p:nvPr/>
        </p:nvSpPr>
        <p:spPr>
          <a:xfrm>
            <a:off x="3000240" y="3562200"/>
            <a:ext cx="1638720" cy="267120"/>
          </a:xfrm>
          <a:custGeom>
            <a:avLst/>
            <a:gdLst/>
            <a:ahLst/>
            <a:cxnLst/>
            <a:rect l="0" t="0" r="r" b="b"/>
            <a:pathLst>
              <a:path w="4552" h="742">
                <a:moveTo>
                  <a:pt x="0" y="636"/>
                </a:moveTo>
                <a:lnTo>
                  <a:pt x="0" y="107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446" y="0"/>
                </a:lnTo>
                <a:cubicBezTo>
                  <a:pt x="4460" y="0"/>
                  <a:pt x="4473" y="3"/>
                  <a:pt x="4486" y="8"/>
                </a:cubicBezTo>
                <a:cubicBezTo>
                  <a:pt x="4499" y="13"/>
                  <a:pt x="4511" y="21"/>
                  <a:pt x="4521" y="31"/>
                </a:cubicBezTo>
                <a:cubicBezTo>
                  <a:pt x="4531" y="41"/>
                  <a:pt x="4538" y="52"/>
                  <a:pt x="4544" y="65"/>
                </a:cubicBezTo>
                <a:cubicBezTo>
                  <a:pt x="4549" y="78"/>
                  <a:pt x="4552" y="92"/>
                  <a:pt x="4552" y="107"/>
                </a:cubicBezTo>
                <a:lnTo>
                  <a:pt x="4552" y="636"/>
                </a:lnTo>
                <a:cubicBezTo>
                  <a:pt x="4552" y="650"/>
                  <a:pt x="4549" y="663"/>
                  <a:pt x="4544" y="676"/>
                </a:cubicBezTo>
                <a:cubicBezTo>
                  <a:pt x="4538" y="689"/>
                  <a:pt x="4531" y="701"/>
                  <a:pt x="4521" y="711"/>
                </a:cubicBezTo>
                <a:cubicBezTo>
                  <a:pt x="4511" y="721"/>
                  <a:pt x="4499" y="728"/>
                  <a:pt x="4486" y="734"/>
                </a:cubicBezTo>
                <a:cubicBezTo>
                  <a:pt x="4473" y="739"/>
                  <a:pt x="4460" y="742"/>
                  <a:pt x="4446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CuadroTexto 506"/>
          <p:cNvSpPr txBox="1"/>
          <p:nvPr/>
        </p:nvSpPr>
        <p:spPr>
          <a:xfrm>
            <a:off x="869760" y="3544920"/>
            <a:ext cx="2138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Dentro de la red,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CuadroTexto 507"/>
          <p:cNvSpPr txBox="1"/>
          <p:nvPr/>
        </p:nvSpPr>
        <p:spPr>
          <a:xfrm>
            <a:off x="3056760" y="3582000"/>
            <a:ext cx="1527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postgres:5432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Forma libre 508"/>
          <p:cNvSpPr/>
          <p:nvPr/>
        </p:nvSpPr>
        <p:spPr>
          <a:xfrm>
            <a:off x="6181560" y="3562200"/>
            <a:ext cx="1752840" cy="267120"/>
          </a:xfrm>
          <a:custGeom>
            <a:avLst/>
            <a:gdLst/>
            <a:ahLst/>
            <a:cxnLst/>
            <a:rect l="0" t="0" r="r" b="b"/>
            <a:pathLst>
              <a:path w="4869" h="742">
                <a:moveTo>
                  <a:pt x="0" y="636"/>
                </a:moveTo>
                <a:lnTo>
                  <a:pt x="0" y="107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763" y="0"/>
                </a:lnTo>
                <a:cubicBezTo>
                  <a:pt x="4777" y="0"/>
                  <a:pt x="4791" y="3"/>
                  <a:pt x="4804" y="8"/>
                </a:cubicBezTo>
                <a:cubicBezTo>
                  <a:pt x="4817" y="13"/>
                  <a:pt x="4828" y="21"/>
                  <a:pt x="4838" y="31"/>
                </a:cubicBezTo>
                <a:cubicBezTo>
                  <a:pt x="4848" y="41"/>
                  <a:pt x="4856" y="52"/>
                  <a:pt x="4861" y="65"/>
                </a:cubicBezTo>
                <a:cubicBezTo>
                  <a:pt x="4867" y="78"/>
                  <a:pt x="4869" y="92"/>
                  <a:pt x="4869" y="107"/>
                </a:cubicBezTo>
                <a:lnTo>
                  <a:pt x="4869" y="636"/>
                </a:lnTo>
                <a:cubicBezTo>
                  <a:pt x="4869" y="650"/>
                  <a:pt x="4867" y="663"/>
                  <a:pt x="4861" y="676"/>
                </a:cubicBezTo>
                <a:cubicBezTo>
                  <a:pt x="4856" y="689"/>
                  <a:pt x="4848" y="701"/>
                  <a:pt x="4838" y="711"/>
                </a:cubicBezTo>
                <a:cubicBezTo>
                  <a:pt x="4828" y="721"/>
                  <a:pt x="4817" y="728"/>
                  <a:pt x="4804" y="734"/>
                </a:cubicBezTo>
                <a:cubicBezTo>
                  <a:pt x="4791" y="739"/>
                  <a:pt x="4777" y="742"/>
                  <a:pt x="4763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CuadroTexto 509"/>
          <p:cNvSpPr txBox="1"/>
          <p:nvPr/>
        </p:nvSpPr>
        <p:spPr>
          <a:xfrm>
            <a:off x="4634640" y="3544920"/>
            <a:ext cx="1546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; desde fuera,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CuadroTexto 510"/>
          <p:cNvSpPr txBox="1"/>
          <p:nvPr/>
        </p:nvSpPr>
        <p:spPr>
          <a:xfrm>
            <a:off x="6237360" y="3582000"/>
            <a:ext cx="1644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localhost:5432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Forma libre 511"/>
          <p:cNvSpPr/>
          <p:nvPr/>
        </p:nvSpPr>
        <p:spPr>
          <a:xfrm>
            <a:off x="8267400" y="3562200"/>
            <a:ext cx="1276920" cy="267120"/>
          </a:xfrm>
          <a:custGeom>
            <a:avLst/>
            <a:gdLst/>
            <a:ahLst/>
            <a:cxnLst/>
            <a:rect l="0" t="0" r="r" b="b"/>
            <a:pathLst>
              <a:path w="3547" h="742">
                <a:moveTo>
                  <a:pt x="0" y="636"/>
                </a:moveTo>
                <a:lnTo>
                  <a:pt x="0" y="107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80" y="3"/>
                  <a:pt x="93" y="0"/>
                  <a:pt x="107" y="0"/>
                </a:cubicBezTo>
                <a:lnTo>
                  <a:pt x="3441" y="0"/>
                </a:lnTo>
                <a:cubicBezTo>
                  <a:pt x="3455" y="0"/>
                  <a:pt x="3468" y="3"/>
                  <a:pt x="3481" y="8"/>
                </a:cubicBezTo>
                <a:cubicBezTo>
                  <a:pt x="3494" y="13"/>
                  <a:pt x="3506" y="21"/>
                  <a:pt x="3516" y="31"/>
                </a:cubicBezTo>
                <a:cubicBezTo>
                  <a:pt x="3526" y="41"/>
                  <a:pt x="3533" y="52"/>
                  <a:pt x="3539" y="65"/>
                </a:cubicBezTo>
                <a:cubicBezTo>
                  <a:pt x="3544" y="78"/>
                  <a:pt x="3547" y="92"/>
                  <a:pt x="3547" y="107"/>
                </a:cubicBezTo>
                <a:lnTo>
                  <a:pt x="3547" y="636"/>
                </a:lnTo>
                <a:cubicBezTo>
                  <a:pt x="3547" y="650"/>
                  <a:pt x="3544" y="663"/>
                  <a:pt x="3539" y="676"/>
                </a:cubicBezTo>
                <a:cubicBezTo>
                  <a:pt x="3533" y="689"/>
                  <a:pt x="3526" y="701"/>
                  <a:pt x="3516" y="711"/>
                </a:cubicBezTo>
                <a:cubicBezTo>
                  <a:pt x="3506" y="721"/>
                  <a:pt x="3494" y="728"/>
                  <a:pt x="3481" y="734"/>
                </a:cubicBezTo>
                <a:cubicBezTo>
                  <a:pt x="3468" y="739"/>
                  <a:pt x="3455" y="742"/>
                  <a:pt x="3441" y="742"/>
                </a:cubicBezTo>
                <a:lnTo>
                  <a:pt x="107" y="742"/>
                </a:lnTo>
                <a:cubicBezTo>
                  <a:pt x="93" y="742"/>
                  <a:pt x="80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CuadroTexto 512"/>
          <p:cNvSpPr txBox="1"/>
          <p:nvPr/>
        </p:nvSpPr>
        <p:spPr>
          <a:xfrm>
            <a:off x="7932240" y="3544920"/>
            <a:ext cx="331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CuadroTexto 513"/>
          <p:cNvSpPr txBox="1"/>
          <p:nvPr/>
        </p:nvSpPr>
        <p:spPr>
          <a:xfrm>
            <a:off x="8319960" y="358200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depends_on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CuadroTexto 514"/>
          <p:cNvSpPr txBox="1"/>
          <p:nvPr/>
        </p:nvSpPr>
        <p:spPr>
          <a:xfrm>
            <a:off x="9547200" y="3544920"/>
            <a:ext cx="1961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espera al arranque,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Forma libre 515"/>
          <p:cNvSpPr/>
          <p:nvPr/>
        </p:nvSpPr>
        <p:spPr>
          <a:xfrm>
            <a:off x="3895560" y="3904920"/>
            <a:ext cx="1400400" cy="267120"/>
          </a:xfrm>
          <a:custGeom>
            <a:avLst/>
            <a:gdLst/>
            <a:ahLst/>
            <a:cxnLst/>
            <a:rect l="0" t="0" r="r" b="b"/>
            <a:pathLst>
              <a:path w="3890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784" y="0"/>
                </a:lnTo>
                <a:cubicBezTo>
                  <a:pt x="3799" y="0"/>
                  <a:pt x="3812" y="3"/>
                  <a:pt x="3825" y="8"/>
                </a:cubicBezTo>
                <a:cubicBezTo>
                  <a:pt x="3838" y="14"/>
                  <a:pt x="3849" y="21"/>
                  <a:pt x="3859" y="31"/>
                </a:cubicBezTo>
                <a:cubicBezTo>
                  <a:pt x="3869" y="41"/>
                  <a:pt x="3877" y="53"/>
                  <a:pt x="3882" y="66"/>
                </a:cubicBezTo>
                <a:cubicBezTo>
                  <a:pt x="3888" y="79"/>
                  <a:pt x="3890" y="92"/>
                  <a:pt x="3890" y="106"/>
                </a:cubicBezTo>
                <a:lnTo>
                  <a:pt x="3890" y="636"/>
                </a:lnTo>
                <a:cubicBezTo>
                  <a:pt x="3890" y="650"/>
                  <a:pt x="3888" y="664"/>
                  <a:pt x="3882" y="677"/>
                </a:cubicBezTo>
                <a:cubicBezTo>
                  <a:pt x="3877" y="690"/>
                  <a:pt x="3869" y="701"/>
                  <a:pt x="3859" y="711"/>
                </a:cubicBezTo>
                <a:cubicBezTo>
                  <a:pt x="3849" y="721"/>
                  <a:pt x="3838" y="729"/>
                  <a:pt x="3825" y="734"/>
                </a:cubicBezTo>
                <a:cubicBezTo>
                  <a:pt x="3812" y="740"/>
                  <a:pt x="3799" y="742"/>
                  <a:pt x="3784" y="742"/>
                </a:cubicBezTo>
                <a:lnTo>
                  <a:pt x="106" y="742"/>
                </a:lnTo>
                <a:cubicBezTo>
                  <a:pt x="92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CuadroTexto 516"/>
          <p:cNvSpPr txBox="1"/>
          <p:nvPr/>
        </p:nvSpPr>
        <p:spPr>
          <a:xfrm>
            <a:off x="1123920" y="3887640"/>
            <a:ext cx="2774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no a la salud: para eso está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CuadroTexto 517"/>
          <p:cNvSpPr txBox="1"/>
          <p:nvPr/>
        </p:nvSpPr>
        <p:spPr>
          <a:xfrm>
            <a:off x="3954960" y="3925080"/>
            <a:ext cx="1292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healthcheck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CuadroTexto 518"/>
          <p:cNvSpPr txBox="1"/>
          <p:nvPr/>
        </p:nvSpPr>
        <p:spPr>
          <a:xfrm>
            <a:off x="5299200" y="388764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Forma libre 519"/>
          <p:cNvSpPr/>
          <p:nvPr/>
        </p:nvSpPr>
        <p:spPr>
          <a:xfrm>
            <a:off x="6743520" y="440028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509" y="0"/>
                </a:lnTo>
                <a:cubicBezTo>
                  <a:pt x="1523" y="0"/>
                  <a:pt x="1537" y="3"/>
                  <a:pt x="1550" y="8"/>
                </a:cubicBezTo>
                <a:cubicBezTo>
                  <a:pt x="1563" y="14"/>
                  <a:pt x="1574" y="21"/>
                  <a:pt x="1584" y="31"/>
                </a:cubicBezTo>
                <a:cubicBezTo>
                  <a:pt x="1594" y="41"/>
                  <a:pt x="1602" y="53"/>
                  <a:pt x="1607" y="66"/>
                </a:cubicBezTo>
                <a:cubicBezTo>
                  <a:pt x="1612" y="79"/>
                  <a:pt x="1615" y="92"/>
                  <a:pt x="1615" y="106"/>
                </a:cubicBezTo>
                <a:lnTo>
                  <a:pt x="1615" y="635"/>
                </a:lnTo>
                <a:cubicBezTo>
                  <a:pt x="1615" y="649"/>
                  <a:pt x="1612" y="663"/>
                  <a:pt x="1607" y="676"/>
                </a:cubicBezTo>
                <a:cubicBezTo>
                  <a:pt x="1602" y="689"/>
                  <a:pt x="1594" y="700"/>
                  <a:pt x="1584" y="710"/>
                </a:cubicBezTo>
                <a:cubicBezTo>
                  <a:pt x="1574" y="720"/>
                  <a:pt x="1563" y="729"/>
                  <a:pt x="1550" y="734"/>
                </a:cubicBezTo>
                <a:cubicBezTo>
                  <a:pt x="1537" y="739"/>
                  <a:pt x="1523" y="742"/>
                  <a:pt x="1509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3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CuadroTexto 520"/>
          <p:cNvSpPr txBox="1"/>
          <p:nvPr/>
        </p:nvSpPr>
        <p:spPr>
          <a:xfrm>
            <a:off x="869760" y="4383000"/>
            <a:ext cx="5877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datos viven en volúmenes; la conﬁguración, en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CuadroTexto 521"/>
          <p:cNvSpPr txBox="1"/>
          <p:nvPr/>
        </p:nvSpPr>
        <p:spPr>
          <a:xfrm>
            <a:off x="6440783" y="439416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.</a:t>
            </a:r>
            <a:r>
              <a:rPr lang="es-ES" sz="1530" b="1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env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CuadroTexto 522"/>
          <p:cNvSpPr txBox="1"/>
          <p:nvPr/>
        </p:nvSpPr>
        <p:spPr>
          <a:xfrm>
            <a:off x="7003800" y="4376926"/>
            <a:ext cx="3180358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Nada de eso </a:t>
            </a:r>
            <a:r>
              <a:rPr lang="es-ES" dirty="0">
                <a:solidFill>
                  <a:srgbClr val="4A4A4A"/>
                </a:solidFill>
                <a:latin typeface="HelveticaNeue"/>
                <a:ea typeface="HelveticaNeue"/>
              </a:rPr>
              <a:t>va 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 la imagen.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CuadroTexto 52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CuadroTexto 52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CuadroTexto 52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Forma libre 52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Forma libre 5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Forma libre 5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CuadroTexto 531"/>
          <p:cNvSpPr txBox="1"/>
          <p:nvPr/>
        </p:nvSpPr>
        <p:spPr>
          <a:xfrm>
            <a:off x="666720" y="1644480"/>
            <a:ext cx="1600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CuadroTexto 532"/>
          <p:cNvSpPr txBox="1"/>
          <p:nvPr/>
        </p:nvSpPr>
        <p:spPr>
          <a:xfrm>
            <a:off x="666720" y="2355480"/>
            <a:ext cx="38458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02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Levantar un stack clínico completo</a:t>
            </a:r>
            <a:endParaRPr lang="es-E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Forma libre 533"/>
          <p:cNvSpPr/>
          <p:nvPr/>
        </p:nvSpPr>
        <p:spPr>
          <a:xfrm>
            <a:off x="2933640" y="2885760"/>
            <a:ext cx="1400400" cy="267120"/>
          </a:xfrm>
          <a:custGeom>
            <a:avLst/>
            <a:gdLst/>
            <a:ahLst/>
            <a:cxnLst/>
            <a:rect l="0" t="0" r="r" b="b"/>
            <a:pathLst>
              <a:path w="3890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784" y="0"/>
                </a:lnTo>
                <a:cubicBezTo>
                  <a:pt x="3798" y="0"/>
                  <a:pt x="3812" y="3"/>
                  <a:pt x="3825" y="8"/>
                </a:cubicBezTo>
                <a:cubicBezTo>
                  <a:pt x="3838" y="14"/>
                  <a:pt x="3849" y="21"/>
                  <a:pt x="3859" y="31"/>
                </a:cubicBezTo>
                <a:cubicBezTo>
                  <a:pt x="3869" y="41"/>
                  <a:pt x="3877" y="53"/>
                  <a:pt x="3882" y="66"/>
                </a:cubicBezTo>
                <a:cubicBezTo>
                  <a:pt x="3887" y="79"/>
                  <a:pt x="3890" y="92"/>
                  <a:pt x="3890" y="106"/>
                </a:cubicBezTo>
                <a:lnTo>
                  <a:pt x="3890" y="636"/>
                </a:lnTo>
                <a:cubicBezTo>
                  <a:pt x="3890" y="650"/>
                  <a:pt x="3887" y="664"/>
                  <a:pt x="3882" y="677"/>
                </a:cubicBezTo>
                <a:cubicBezTo>
                  <a:pt x="3877" y="690"/>
                  <a:pt x="3869" y="701"/>
                  <a:pt x="3859" y="711"/>
                </a:cubicBezTo>
                <a:cubicBezTo>
                  <a:pt x="3849" y="721"/>
                  <a:pt x="3838" y="729"/>
                  <a:pt x="3825" y="734"/>
                </a:cubicBezTo>
                <a:cubicBezTo>
                  <a:pt x="3812" y="740"/>
                  <a:pt x="3798" y="742"/>
                  <a:pt x="3784" y="742"/>
                </a:cubicBezTo>
                <a:lnTo>
                  <a:pt x="105" y="742"/>
                </a:lnTo>
                <a:cubicBezTo>
                  <a:pt x="91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CuadroTexto 534"/>
          <p:cNvSpPr txBox="1"/>
          <p:nvPr/>
        </p:nvSpPr>
        <p:spPr>
          <a:xfrm>
            <a:off x="666720" y="2868480"/>
            <a:ext cx="2270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Escribir desde cero un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CuadroTexto 535"/>
          <p:cNvSpPr txBox="1"/>
          <p:nvPr/>
        </p:nvSpPr>
        <p:spPr>
          <a:xfrm>
            <a:off x="2989800" y="2905920"/>
            <a:ext cx="1292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compose.yml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CuadroTexto 536"/>
          <p:cNvSpPr txBox="1"/>
          <p:nvPr/>
        </p:nvSpPr>
        <p:spPr>
          <a:xfrm>
            <a:off x="4333680" y="2868480"/>
            <a:ext cx="6975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 Postgres, Adminer y Jupyter: inicialización con SQL, healthchecks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Forma libre 537"/>
          <p:cNvSpPr/>
          <p:nvPr/>
        </p:nvSpPr>
        <p:spPr>
          <a:xfrm>
            <a:off x="3057480" y="322884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509" y="0"/>
                </a:lnTo>
                <a:cubicBezTo>
                  <a:pt x="1523" y="0"/>
                  <a:pt x="1536" y="3"/>
                  <a:pt x="1549" y="8"/>
                </a:cubicBezTo>
                <a:cubicBezTo>
                  <a:pt x="1562" y="13"/>
                  <a:pt x="1574" y="21"/>
                  <a:pt x="1584" y="31"/>
                </a:cubicBezTo>
                <a:cubicBezTo>
                  <a:pt x="1594" y="41"/>
                  <a:pt x="1601" y="52"/>
                  <a:pt x="1607" y="65"/>
                </a:cubicBezTo>
                <a:cubicBezTo>
                  <a:pt x="1612" y="78"/>
                  <a:pt x="1615" y="92"/>
                  <a:pt x="1615" y="106"/>
                </a:cubicBezTo>
                <a:lnTo>
                  <a:pt x="1615" y="636"/>
                </a:lnTo>
                <a:cubicBezTo>
                  <a:pt x="1615" y="650"/>
                  <a:pt x="1612" y="663"/>
                  <a:pt x="1607" y="676"/>
                </a:cubicBezTo>
                <a:cubicBezTo>
                  <a:pt x="1601" y="689"/>
                  <a:pt x="1594" y="701"/>
                  <a:pt x="1584" y="711"/>
                </a:cubicBezTo>
                <a:cubicBezTo>
                  <a:pt x="1574" y="721"/>
                  <a:pt x="1562" y="728"/>
                  <a:pt x="1549" y="734"/>
                </a:cubicBezTo>
                <a:cubicBezTo>
                  <a:pt x="1536" y="739"/>
                  <a:pt x="1523" y="742"/>
                  <a:pt x="1509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CuadroTexto 538"/>
          <p:cNvSpPr txBox="1"/>
          <p:nvPr/>
        </p:nvSpPr>
        <p:spPr>
          <a:xfrm>
            <a:off x="666720" y="3211200"/>
            <a:ext cx="2397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reales, conﬁguración en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CuadroTexto 539"/>
          <p:cNvSpPr txBox="1"/>
          <p:nvPr/>
        </p:nvSpPr>
        <p:spPr>
          <a:xfrm>
            <a:off x="3116880" y="324864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.env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Forma libre 540"/>
          <p:cNvSpPr/>
          <p:nvPr/>
        </p:nvSpPr>
        <p:spPr>
          <a:xfrm>
            <a:off x="8877240" y="3228840"/>
            <a:ext cx="933840" cy="267120"/>
          </a:xfrm>
          <a:custGeom>
            <a:avLst/>
            <a:gdLst/>
            <a:ahLst/>
            <a:cxnLst/>
            <a:rect l="0" t="0" r="r" b="b"/>
            <a:pathLst>
              <a:path w="2594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487" y="0"/>
                </a:lnTo>
                <a:cubicBezTo>
                  <a:pt x="2501" y="0"/>
                  <a:pt x="2514" y="3"/>
                  <a:pt x="2527" y="8"/>
                </a:cubicBezTo>
                <a:cubicBezTo>
                  <a:pt x="2540" y="13"/>
                  <a:pt x="2552" y="21"/>
                  <a:pt x="2563" y="31"/>
                </a:cubicBezTo>
                <a:cubicBezTo>
                  <a:pt x="2573" y="41"/>
                  <a:pt x="2580" y="52"/>
                  <a:pt x="2586" y="65"/>
                </a:cubicBezTo>
                <a:cubicBezTo>
                  <a:pt x="2591" y="78"/>
                  <a:pt x="2594" y="92"/>
                  <a:pt x="2594" y="106"/>
                </a:cubicBezTo>
                <a:lnTo>
                  <a:pt x="2594" y="636"/>
                </a:lnTo>
                <a:cubicBezTo>
                  <a:pt x="2594" y="650"/>
                  <a:pt x="2591" y="663"/>
                  <a:pt x="2586" y="676"/>
                </a:cubicBezTo>
                <a:cubicBezTo>
                  <a:pt x="2580" y="689"/>
                  <a:pt x="2573" y="701"/>
                  <a:pt x="2563" y="711"/>
                </a:cubicBezTo>
                <a:cubicBezTo>
                  <a:pt x="2552" y="721"/>
                  <a:pt x="2540" y="728"/>
                  <a:pt x="2527" y="734"/>
                </a:cubicBezTo>
                <a:cubicBezTo>
                  <a:pt x="2514" y="739"/>
                  <a:pt x="2501" y="742"/>
                  <a:pt x="2487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CuadroTexto 541"/>
          <p:cNvSpPr txBox="1"/>
          <p:nvPr/>
        </p:nvSpPr>
        <p:spPr>
          <a:xfrm>
            <a:off x="3642120" y="3211200"/>
            <a:ext cx="5247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un servicio bajo perﬁl, y comprobar qué sobrevive a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CuadroTexto 542"/>
          <p:cNvSpPr txBox="1"/>
          <p:nvPr/>
        </p:nvSpPr>
        <p:spPr>
          <a:xfrm>
            <a:off x="9141840" y="3240794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down</a:t>
            </a:r>
            <a:r>
              <a:rPr lang="es-ES" sz="153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 -v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CuadroTexto 543"/>
          <p:cNvSpPr txBox="1"/>
          <p:nvPr/>
        </p:nvSpPr>
        <p:spPr>
          <a:xfrm>
            <a:off x="9813960" y="321120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Forma libre 544"/>
          <p:cNvSpPr/>
          <p:nvPr/>
        </p:nvSpPr>
        <p:spPr>
          <a:xfrm>
            <a:off x="2781000" y="3724200"/>
            <a:ext cx="819720" cy="267120"/>
          </a:xfrm>
          <a:custGeom>
            <a:avLst/>
            <a:gdLst/>
            <a:ahLst/>
            <a:cxnLst/>
            <a:rect l="0" t="0" r="r" b="b"/>
            <a:pathLst>
              <a:path w="227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171" y="0"/>
                </a:lnTo>
                <a:cubicBezTo>
                  <a:pt x="2185" y="0"/>
                  <a:pt x="2198" y="2"/>
                  <a:pt x="2211" y="8"/>
                </a:cubicBezTo>
                <a:cubicBezTo>
                  <a:pt x="2224" y="13"/>
                  <a:pt x="2236" y="21"/>
                  <a:pt x="2246" y="31"/>
                </a:cubicBezTo>
                <a:cubicBezTo>
                  <a:pt x="2256" y="41"/>
                  <a:pt x="2263" y="52"/>
                  <a:pt x="2269" y="65"/>
                </a:cubicBezTo>
                <a:cubicBezTo>
                  <a:pt x="2274" y="78"/>
                  <a:pt x="2277" y="92"/>
                  <a:pt x="2277" y="106"/>
                </a:cubicBezTo>
                <a:lnTo>
                  <a:pt x="2277" y="636"/>
                </a:lnTo>
                <a:cubicBezTo>
                  <a:pt x="2277" y="650"/>
                  <a:pt x="2274" y="663"/>
                  <a:pt x="2269" y="676"/>
                </a:cubicBezTo>
                <a:cubicBezTo>
                  <a:pt x="2263" y="689"/>
                  <a:pt x="2256" y="701"/>
                  <a:pt x="2246" y="711"/>
                </a:cubicBezTo>
                <a:cubicBezTo>
                  <a:pt x="2236" y="720"/>
                  <a:pt x="2224" y="728"/>
                  <a:pt x="2211" y="733"/>
                </a:cubicBezTo>
                <a:cubicBezTo>
                  <a:pt x="2198" y="739"/>
                  <a:pt x="2185" y="742"/>
                  <a:pt x="2171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3"/>
                </a:cubicBezTo>
                <a:cubicBezTo>
                  <a:pt x="53" y="728"/>
                  <a:pt x="41" y="720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CuadroTexto 545"/>
          <p:cNvSpPr txBox="1"/>
          <p:nvPr/>
        </p:nvSpPr>
        <p:spPr>
          <a:xfrm>
            <a:off x="666720" y="3706560"/>
            <a:ext cx="2121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Entregable: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carpeta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CuadroTexto 546"/>
          <p:cNvSpPr txBox="1"/>
          <p:nvPr/>
        </p:nvSpPr>
        <p:spPr>
          <a:xfrm>
            <a:off x="2841120" y="374400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stack/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Forma libre 547"/>
          <p:cNvSpPr/>
          <p:nvPr/>
        </p:nvSpPr>
        <p:spPr>
          <a:xfrm>
            <a:off x="666720" y="4219560"/>
            <a:ext cx="3972240" cy="266760"/>
          </a:xfrm>
          <a:custGeom>
            <a:avLst/>
            <a:gdLst/>
            <a:ahLst/>
            <a:cxnLst/>
            <a:rect l="0" t="0" r="r" b="b"/>
            <a:pathLst>
              <a:path w="11034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10928" y="0"/>
                </a:lnTo>
                <a:cubicBezTo>
                  <a:pt x="10942" y="0"/>
                  <a:pt x="10955" y="2"/>
                  <a:pt x="10968" y="8"/>
                </a:cubicBezTo>
                <a:cubicBezTo>
                  <a:pt x="10981" y="13"/>
                  <a:pt x="10993" y="21"/>
                  <a:pt x="11003" y="31"/>
                </a:cubicBezTo>
                <a:cubicBezTo>
                  <a:pt x="11013" y="40"/>
                  <a:pt x="11020" y="52"/>
                  <a:pt x="11026" y="65"/>
                </a:cubicBezTo>
                <a:cubicBezTo>
                  <a:pt x="11031" y="78"/>
                  <a:pt x="11034" y="91"/>
                  <a:pt x="11034" y="105"/>
                </a:cubicBezTo>
                <a:lnTo>
                  <a:pt x="11034" y="636"/>
                </a:lnTo>
                <a:cubicBezTo>
                  <a:pt x="11034" y="650"/>
                  <a:pt x="11031" y="663"/>
                  <a:pt x="11026" y="676"/>
                </a:cubicBezTo>
                <a:cubicBezTo>
                  <a:pt x="11020" y="689"/>
                  <a:pt x="11013" y="700"/>
                  <a:pt x="11003" y="710"/>
                </a:cubicBezTo>
                <a:cubicBezTo>
                  <a:pt x="10993" y="720"/>
                  <a:pt x="10981" y="728"/>
                  <a:pt x="10968" y="733"/>
                </a:cubicBezTo>
                <a:cubicBezTo>
                  <a:pt x="10955" y="739"/>
                  <a:pt x="10942" y="741"/>
                  <a:pt x="10928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CuadroTexto 548"/>
          <p:cNvSpPr txBox="1"/>
          <p:nvPr/>
        </p:nvSpPr>
        <p:spPr>
          <a:xfrm>
            <a:off x="3600000" y="3706560"/>
            <a:ext cx="4332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que un tercero levanta sin pasos manuales.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CuadroTexto 549"/>
          <p:cNvSpPr txBox="1"/>
          <p:nvPr/>
        </p:nvSpPr>
        <p:spPr>
          <a:xfrm>
            <a:off x="723960" y="4239360"/>
            <a:ext cx="3876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labs/s07-docker-compose/README.md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Forma libre 550"/>
          <p:cNvSpPr/>
          <p:nvPr/>
        </p:nvSpPr>
        <p:spPr>
          <a:xfrm>
            <a:off x="3933720" y="4829040"/>
            <a:ext cx="2457720" cy="267120"/>
          </a:xfrm>
          <a:custGeom>
            <a:avLst/>
            <a:gdLst/>
            <a:ahLst/>
            <a:cxnLst/>
            <a:rect l="0" t="0" r="r" b="b"/>
            <a:pathLst>
              <a:path w="682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6721" y="0"/>
                </a:lnTo>
                <a:cubicBezTo>
                  <a:pt x="6735" y="0"/>
                  <a:pt x="6749" y="3"/>
                  <a:pt x="6762" y="8"/>
                </a:cubicBezTo>
                <a:cubicBezTo>
                  <a:pt x="6775" y="13"/>
                  <a:pt x="6786" y="21"/>
                  <a:pt x="6796" y="31"/>
                </a:cubicBezTo>
                <a:cubicBezTo>
                  <a:pt x="6806" y="41"/>
                  <a:pt x="6814" y="52"/>
                  <a:pt x="6819" y="65"/>
                </a:cubicBezTo>
                <a:cubicBezTo>
                  <a:pt x="6824" y="78"/>
                  <a:pt x="6827" y="92"/>
                  <a:pt x="6827" y="106"/>
                </a:cubicBezTo>
                <a:lnTo>
                  <a:pt x="6827" y="636"/>
                </a:lnTo>
                <a:cubicBezTo>
                  <a:pt x="6827" y="650"/>
                  <a:pt x="6824" y="663"/>
                  <a:pt x="6819" y="676"/>
                </a:cubicBezTo>
                <a:cubicBezTo>
                  <a:pt x="6814" y="689"/>
                  <a:pt x="6806" y="701"/>
                  <a:pt x="6796" y="711"/>
                </a:cubicBezTo>
                <a:cubicBezTo>
                  <a:pt x="6786" y="721"/>
                  <a:pt x="6775" y="728"/>
                  <a:pt x="6762" y="734"/>
                </a:cubicBezTo>
                <a:cubicBezTo>
                  <a:pt x="6749" y="739"/>
                  <a:pt x="6735" y="742"/>
                  <a:pt x="6721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CuadroTexto 55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CuadroTexto 55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CuadroTexto 55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Forma libre 55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Forma libre 55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Forma libre 55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CuadroTexto 560"/>
          <p:cNvSpPr txBox="1"/>
          <p:nvPr/>
        </p:nvSpPr>
        <p:spPr>
          <a:xfrm>
            <a:off x="4672800" y="2692440"/>
            <a:ext cx="2915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¿Preguntas?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CuadroTexto 56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CuadroTexto 56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CuadroTexto 56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2036</Words>
  <Application>Microsoft Macintosh PowerPoint</Application>
  <PresentationFormat>Panorámica</PresentationFormat>
  <Paragraphs>319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4" baseType="lpstr">
      <vt:lpstr>Arial</vt:lpstr>
      <vt:lpstr>HelveticaNeue</vt:lpstr>
      <vt:lpstr>Menlo</vt:lpstr>
      <vt:lpstr>Symbol</vt:lpstr>
      <vt:lpstr>Times New Roman</vt:lpstr>
      <vt:lpstr>Wingdings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Antonio Daniel Martinez Gutierrez</cp:lastModifiedBy>
  <cp:revision>1</cp:revision>
  <dcterms:modified xsi:type="dcterms:W3CDTF">2026-09-01T14:23:29Z</dcterms:modified>
  <dc:language>es-ES</dc:language>
</cp:coreProperties>
</file>