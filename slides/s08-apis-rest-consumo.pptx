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4"/>
    <p:restoredTop sz="94604"/>
  </p:normalViewPr>
  <p:slideViewPr>
    <p:cSldViewPr snapToGrid="0">
      <p:cViewPr varScale="1">
        <p:scale>
          <a:sx n="138" d="100"/>
          <a:sy n="138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08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7276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APIs REST: Consumo de Servicios Web con Python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50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 — Ingeniería de software para cientíﬁcos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6980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Explicar el modelo HTTP: verbos, códigos de estado y encabezados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5498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Consumir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APIs biomédicas públicas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desde Python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7423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Manejar autenticación, paginación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límites de tasa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que te bloqueen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7190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Construir un cliente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robusto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timeouts, reintentos con backoff y caché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2927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te importa una API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42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HTTP en diez minutos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213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Qué signiﬁca REST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Forma libre 36"/>
          <p:cNvSpPr/>
          <p:nvPr/>
        </p:nvSpPr>
        <p:spPr>
          <a:xfrm>
            <a:off x="1123920" y="3076560"/>
            <a:ext cx="1047960" cy="266760"/>
          </a:xfrm>
          <a:custGeom>
            <a:avLst/>
            <a:gdLst/>
            <a:ahLst/>
            <a:cxnLst/>
            <a:rect l="0" t="0" r="r" b="b"/>
            <a:pathLst>
              <a:path w="2911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0"/>
                  <a:pt x="2898" y="52"/>
                  <a:pt x="2903" y="65"/>
                </a:cubicBezTo>
                <a:cubicBezTo>
                  <a:pt x="2908" y="78"/>
                  <a:pt x="2911" y="91"/>
                  <a:pt x="2911" y="105"/>
                </a:cubicBezTo>
                <a:lnTo>
                  <a:pt x="2911" y="635"/>
                </a:lnTo>
                <a:cubicBezTo>
                  <a:pt x="2911" y="649"/>
                  <a:pt x="2908" y="662"/>
                  <a:pt x="2903" y="675"/>
                </a:cubicBezTo>
                <a:cubicBezTo>
                  <a:pt x="2898" y="688"/>
                  <a:pt x="2890" y="699"/>
                  <a:pt x="2880" y="710"/>
                </a:cubicBezTo>
                <a:cubicBezTo>
                  <a:pt x="2870" y="720"/>
                  <a:pt x="2859" y="728"/>
                  <a:pt x="2846" y="733"/>
                </a:cubicBezTo>
                <a:cubicBezTo>
                  <a:pt x="2833" y="739"/>
                  <a:pt x="2819" y="741"/>
                  <a:pt x="280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05892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1181160" y="309636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requests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2409480" y="3076560"/>
            <a:ext cx="695880" cy="266760"/>
          </a:xfrm>
          <a:custGeom>
            <a:avLst/>
            <a:gdLst/>
            <a:ahLst/>
            <a:cxnLst/>
            <a:rect l="0" t="0" r="r" b="b"/>
            <a:pathLst>
              <a:path w="1933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lnTo>
                  <a:pt x="1827" y="0"/>
                </a:lnTo>
                <a:cubicBezTo>
                  <a:pt x="1841" y="0"/>
                  <a:pt x="1855" y="2"/>
                  <a:pt x="1868" y="8"/>
                </a:cubicBezTo>
                <a:cubicBezTo>
                  <a:pt x="1881" y="13"/>
                  <a:pt x="1892" y="21"/>
                  <a:pt x="1902" y="31"/>
                </a:cubicBezTo>
                <a:cubicBezTo>
                  <a:pt x="1912" y="40"/>
                  <a:pt x="1919" y="52"/>
                  <a:pt x="1925" y="65"/>
                </a:cubicBezTo>
                <a:cubicBezTo>
                  <a:pt x="1930" y="78"/>
                  <a:pt x="1933" y="91"/>
                  <a:pt x="1933" y="105"/>
                </a:cubicBezTo>
                <a:lnTo>
                  <a:pt x="1933" y="635"/>
                </a:lnTo>
                <a:cubicBezTo>
                  <a:pt x="1933" y="649"/>
                  <a:pt x="1930" y="662"/>
                  <a:pt x="1925" y="675"/>
                </a:cubicBezTo>
                <a:cubicBezTo>
                  <a:pt x="1919" y="688"/>
                  <a:pt x="1912" y="699"/>
                  <a:pt x="1902" y="710"/>
                </a:cubicBezTo>
                <a:cubicBezTo>
                  <a:pt x="1892" y="720"/>
                  <a:pt x="1881" y="728"/>
                  <a:pt x="1868" y="733"/>
                </a:cubicBezTo>
                <a:cubicBezTo>
                  <a:pt x="1855" y="739"/>
                  <a:pt x="1841" y="741"/>
                  <a:pt x="1827" y="741"/>
                </a:cubicBezTo>
                <a:lnTo>
                  <a:pt x="107" y="741"/>
                </a:lnTo>
                <a:cubicBezTo>
                  <a:pt x="93" y="741"/>
                  <a:pt x="80" y="739"/>
                  <a:pt x="67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2" y="699"/>
                  <a:pt x="14" y="688"/>
                  <a:pt x="9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2174400" y="305892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464560" y="30963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httpx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869760" y="3458880"/>
            <a:ext cx="158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Autenticación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869760" y="3859200"/>
            <a:ext cx="240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Paginación y volumen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869760" y="4259160"/>
            <a:ext cx="3985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Robustez: timeouts, reintentos, caché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69760" y="4659120"/>
            <a:ext cx="443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APIs biomédicas que vale la pena conocer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905040" y="5268600"/>
            <a:ext cx="7071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un cliente para tres APIs biomédicas, con pruebas sin red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bre 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2759400" y="3063960"/>
            <a:ext cx="68288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te importa una API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libre 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66720" y="43430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666720" y="43430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914040" y="2400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666720" y="1615680"/>
            <a:ext cx="507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datos que no puedes descargar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914040" y="2800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1123920" y="2287440"/>
            <a:ext cx="5679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PubMed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37 millones de referencias. No hay «bajar todo»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91404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1123920" y="2687400"/>
            <a:ext cx="6663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ClinicalTrials.gov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qué ensayos hay activos para tu condición, hoy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914040" y="3600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1123920" y="3087720"/>
            <a:ext cx="549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openFDA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eventos adversos reportados de un fármaco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914040" y="4000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1123920" y="3487680"/>
            <a:ext cx="674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RxNav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normalizar un nombre comercial a su ingrediente (sesión 15)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1123920" y="3887640"/>
            <a:ext cx="5882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FHIR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cómo un hospital te entrega datos clínicos de verdad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905040" y="4497120"/>
            <a:ext cx="10354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Una API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base de datos que no es tuya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con una puerta estrecha y reglas de cortesía. Aprender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905040" y="4840200"/>
            <a:ext cx="3545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 tocar esa puerta bien es la sesión.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3326400" y="3063960"/>
            <a:ext cx="5662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HTTP en diez minutos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orma libre 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71400" y="16617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71400" y="1661760"/>
            <a:ext cx="10849320" cy="1105560"/>
          </a:xfrm>
          <a:custGeom>
            <a:avLst/>
            <a:gdLst/>
            <a:ahLst/>
            <a:cxnLst/>
            <a:rect l="0" t="0" r="r" b="b"/>
            <a:pathLst>
              <a:path w="30137" h="3071">
                <a:moveTo>
                  <a:pt x="0" y="287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1"/>
                  <a:pt x="29990" y="3064"/>
                  <a:pt x="29977" y="3067"/>
                </a:cubicBezTo>
                <a:cubicBezTo>
                  <a:pt x="29964" y="3069"/>
                  <a:pt x="29951" y="3071"/>
                  <a:pt x="29938" y="3071"/>
                </a:cubicBezTo>
                <a:lnTo>
                  <a:pt x="198" y="3071"/>
                </a:lnTo>
                <a:cubicBezTo>
                  <a:pt x="185" y="3071"/>
                  <a:pt x="172" y="3069"/>
                  <a:pt x="160" y="3067"/>
                </a:cubicBezTo>
                <a:cubicBezTo>
                  <a:pt x="147" y="3064"/>
                  <a:pt x="134" y="3061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671400" y="292860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8"/>
                </a:cubicBezTo>
                <a:cubicBezTo>
                  <a:pt x="30096" y="4448"/>
                  <a:pt x="30088" y="4458"/>
                  <a:pt x="30079" y="4468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500"/>
                  <a:pt x="30026" y="4506"/>
                  <a:pt x="30014" y="4511"/>
                </a:cubicBezTo>
                <a:cubicBezTo>
                  <a:pt x="30002" y="4516"/>
                  <a:pt x="29990" y="4519"/>
                  <a:pt x="29977" y="4522"/>
                </a:cubicBezTo>
                <a:cubicBezTo>
                  <a:pt x="29964" y="4525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5"/>
                  <a:pt x="160" y="4522"/>
                </a:cubicBezTo>
                <a:cubicBezTo>
                  <a:pt x="147" y="4519"/>
                  <a:pt x="134" y="4516"/>
                  <a:pt x="122" y="4511"/>
                </a:cubicBezTo>
                <a:cubicBezTo>
                  <a:pt x="110" y="4506"/>
                  <a:pt x="99" y="4500"/>
                  <a:pt x="88" y="4492"/>
                </a:cubicBezTo>
                <a:cubicBezTo>
                  <a:pt x="77" y="4485"/>
                  <a:pt x="67" y="4477"/>
                  <a:pt x="58" y="4468"/>
                </a:cubicBezTo>
                <a:cubicBezTo>
                  <a:pt x="49" y="4458"/>
                  <a:pt x="40" y="4448"/>
                  <a:pt x="33" y="4438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671400" y="292860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8"/>
                </a:cubicBezTo>
                <a:cubicBezTo>
                  <a:pt x="30096" y="4448"/>
                  <a:pt x="30088" y="4458"/>
                  <a:pt x="30079" y="4468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500"/>
                  <a:pt x="30026" y="4506"/>
                  <a:pt x="30014" y="4511"/>
                </a:cubicBezTo>
                <a:cubicBezTo>
                  <a:pt x="30002" y="4516"/>
                  <a:pt x="29990" y="4519"/>
                  <a:pt x="29977" y="4522"/>
                </a:cubicBezTo>
                <a:cubicBezTo>
                  <a:pt x="29964" y="4525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5"/>
                  <a:pt x="160" y="4522"/>
                </a:cubicBezTo>
                <a:cubicBezTo>
                  <a:pt x="147" y="4519"/>
                  <a:pt x="134" y="4516"/>
                  <a:pt x="122" y="4511"/>
                </a:cubicBezTo>
                <a:cubicBezTo>
                  <a:pt x="110" y="4506"/>
                  <a:pt x="99" y="4500"/>
                  <a:pt x="88" y="4492"/>
                </a:cubicBezTo>
                <a:cubicBezTo>
                  <a:pt x="77" y="4485"/>
                  <a:pt x="67" y="4477"/>
                  <a:pt x="58" y="4468"/>
                </a:cubicBezTo>
                <a:cubicBezTo>
                  <a:pt x="49" y="4458"/>
                  <a:pt x="40" y="4448"/>
                  <a:pt x="33" y="4438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666720" y="1015560"/>
            <a:ext cx="2820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Petición y respuesta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866880" y="1841760"/>
            <a:ext cx="666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GET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/esearch.fcgi?db=pubmed&amp;term=diabetes&amp;retmax=100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HTTP/1.1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866880" y="2108520"/>
            <a:ext cx="3166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Host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eutils.ncbi.nlm.nih.gov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866880" y="236556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Accept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application/json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866880" y="310860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HTTP/1.1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OK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866880" y="337536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Content-Type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application/json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866880" y="363240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X-RateLimit-Remaining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8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914040" y="4867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866880" y="415656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"esearchresult"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"count"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"912345"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"idlist"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"40112233"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...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]}}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914040" y="5267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1123920" y="4754520"/>
            <a:ext cx="5074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Petición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método + ruta + encabezados + (cuerpo)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914040" y="5667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1123920" y="5154480"/>
            <a:ext cx="4501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Respuesta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código + encabezados + cuerpo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1123920" y="5554440"/>
            <a:ext cx="6746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estado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cada petición se explica sola. El servidor no te recuerda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rma libre 1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676080" y="1638000"/>
            <a:ext cx="1429200" cy="410040"/>
          </a:xfrm>
          <a:custGeom>
            <a:avLst/>
            <a:gdLst/>
            <a:ahLst/>
            <a:cxnLst/>
            <a:rect l="0" t="0" r="r" b="b"/>
            <a:pathLst>
              <a:path w="3970" h="1139">
                <a:moveTo>
                  <a:pt x="0" y="0"/>
                </a:moveTo>
                <a:lnTo>
                  <a:pt x="3970" y="0"/>
                </a:lnTo>
                <a:lnTo>
                  <a:pt x="3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2104920" y="1638000"/>
            <a:ext cx="3219840" cy="410040"/>
          </a:xfrm>
          <a:custGeom>
            <a:avLst/>
            <a:gdLst/>
            <a:ahLst/>
            <a:cxnLst/>
            <a:rect l="0" t="0" r="r" b="b"/>
            <a:pathLst>
              <a:path w="8944" h="1139">
                <a:moveTo>
                  <a:pt x="0" y="0"/>
                </a:moveTo>
                <a:lnTo>
                  <a:pt x="8944" y="0"/>
                </a:lnTo>
                <a:lnTo>
                  <a:pt x="89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5324400" y="163800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676080" y="1638000"/>
            <a:ext cx="1429200" cy="410040"/>
          </a:xfrm>
          <a:custGeom>
            <a:avLst/>
            <a:gdLst/>
            <a:ahLst/>
            <a:cxnLst/>
            <a:rect l="0" t="0" r="r" b="b"/>
            <a:pathLst>
              <a:path w="3970" h="1139">
                <a:moveTo>
                  <a:pt x="0" y="0"/>
                </a:moveTo>
                <a:lnTo>
                  <a:pt x="3970" y="0"/>
                </a:lnTo>
                <a:lnTo>
                  <a:pt x="3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2104920" y="1638000"/>
            <a:ext cx="3219840" cy="410040"/>
          </a:xfrm>
          <a:custGeom>
            <a:avLst/>
            <a:gdLst/>
            <a:ahLst/>
            <a:cxnLst/>
            <a:rect l="0" t="0" r="r" b="b"/>
            <a:pathLst>
              <a:path w="8944" h="1139">
                <a:moveTo>
                  <a:pt x="0" y="0"/>
                </a:moveTo>
                <a:lnTo>
                  <a:pt x="8944" y="0"/>
                </a:lnTo>
                <a:lnTo>
                  <a:pt x="89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5324400" y="163800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76080" y="2047680"/>
            <a:ext cx="1429200" cy="410040"/>
          </a:xfrm>
          <a:custGeom>
            <a:avLst/>
            <a:gdLst/>
            <a:ahLst/>
            <a:cxnLst/>
            <a:rect l="0" t="0" r="r" b="b"/>
            <a:pathLst>
              <a:path w="3970" h="1139">
                <a:moveTo>
                  <a:pt x="0" y="0"/>
                </a:moveTo>
                <a:lnTo>
                  <a:pt x="3970" y="0"/>
                </a:lnTo>
                <a:lnTo>
                  <a:pt x="3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2104920" y="2047680"/>
            <a:ext cx="3219840" cy="410040"/>
          </a:xfrm>
          <a:custGeom>
            <a:avLst/>
            <a:gdLst/>
            <a:ahLst/>
            <a:cxnLst/>
            <a:rect l="0" t="0" r="r" b="b"/>
            <a:pathLst>
              <a:path w="8944" h="1139">
                <a:moveTo>
                  <a:pt x="0" y="0"/>
                </a:moveTo>
                <a:lnTo>
                  <a:pt x="8944" y="0"/>
                </a:lnTo>
                <a:lnTo>
                  <a:pt x="89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5324400" y="204768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676080" y="2457360"/>
            <a:ext cx="1429200" cy="409680"/>
          </a:xfrm>
          <a:custGeom>
            <a:avLst/>
            <a:gdLst/>
            <a:ahLst/>
            <a:cxnLst/>
            <a:rect l="0" t="0" r="r" b="b"/>
            <a:pathLst>
              <a:path w="3970" h="1138">
                <a:moveTo>
                  <a:pt x="0" y="0"/>
                </a:moveTo>
                <a:lnTo>
                  <a:pt x="3970" y="0"/>
                </a:lnTo>
                <a:lnTo>
                  <a:pt x="39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2104920" y="2457360"/>
            <a:ext cx="3219840" cy="409680"/>
          </a:xfrm>
          <a:custGeom>
            <a:avLst/>
            <a:gdLst/>
            <a:ahLst/>
            <a:cxnLst/>
            <a:rect l="0" t="0" r="r" b="b"/>
            <a:pathLst>
              <a:path w="8944" h="1138">
                <a:moveTo>
                  <a:pt x="0" y="0"/>
                </a:moveTo>
                <a:lnTo>
                  <a:pt x="8944" y="0"/>
                </a:lnTo>
                <a:lnTo>
                  <a:pt x="89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5324400" y="2457360"/>
            <a:ext cx="2267280" cy="409680"/>
          </a:xfrm>
          <a:custGeom>
            <a:avLst/>
            <a:gdLst/>
            <a:ahLst/>
            <a:cxnLst/>
            <a:rect l="0" t="0" r="r" b="b"/>
            <a:pathLst>
              <a:path w="6298" h="1138">
                <a:moveTo>
                  <a:pt x="0" y="0"/>
                </a:moveTo>
                <a:lnTo>
                  <a:pt x="6298" y="0"/>
                </a:lnTo>
                <a:lnTo>
                  <a:pt x="629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76080" y="2866680"/>
            <a:ext cx="1429200" cy="410040"/>
          </a:xfrm>
          <a:custGeom>
            <a:avLst/>
            <a:gdLst/>
            <a:ahLst/>
            <a:cxnLst/>
            <a:rect l="0" t="0" r="r" b="b"/>
            <a:pathLst>
              <a:path w="3970" h="1139">
                <a:moveTo>
                  <a:pt x="0" y="0"/>
                </a:moveTo>
                <a:lnTo>
                  <a:pt x="3970" y="0"/>
                </a:lnTo>
                <a:lnTo>
                  <a:pt x="3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2104920" y="2866680"/>
            <a:ext cx="3219840" cy="410040"/>
          </a:xfrm>
          <a:custGeom>
            <a:avLst/>
            <a:gdLst/>
            <a:ahLst/>
            <a:cxnLst/>
            <a:rect l="0" t="0" r="r" b="b"/>
            <a:pathLst>
              <a:path w="8944" h="1139">
                <a:moveTo>
                  <a:pt x="0" y="0"/>
                </a:moveTo>
                <a:lnTo>
                  <a:pt x="8944" y="0"/>
                </a:lnTo>
                <a:lnTo>
                  <a:pt x="89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5324400" y="286668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676080" y="3276360"/>
            <a:ext cx="1429200" cy="410040"/>
          </a:xfrm>
          <a:custGeom>
            <a:avLst/>
            <a:gdLst/>
            <a:ahLst/>
            <a:cxnLst/>
            <a:rect l="0" t="0" r="r" b="b"/>
            <a:pathLst>
              <a:path w="3970" h="1139">
                <a:moveTo>
                  <a:pt x="0" y="0"/>
                </a:moveTo>
                <a:lnTo>
                  <a:pt x="3970" y="0"/>
                </a:lnTo>
                <a:lnTo>
                  <a:pt x="3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2104920" y="3276360"/>
            <a:ext cx="3219840" cy="410040"/>
          </a:xfrm>
          <a:custGeom>
            <a:avLst/>
            <a:gdLst/>
            <a:ahLst/>
            <a:cxnLst/>
            <a:rect l="0" t="0" r="r" b="b"/>
            <a:pathLst>
              <a:path w="8944" h="1139">
                <a:moveTo>
                  <a:pt x="0" y="0"/>
                </a:moveTo>
                <a:lnTo>
                  <a:pt x="8944" y="0"/>
                </a:lnTo>
                <a:lnTo>
                  <a:pt x="89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5324400" y="3276360"/>
            <a:ext cx="2267280" cy="410040"/>
          </a:xfrm>
          <a:custGeom>
            <a:avLst/>
            <a:gdLst/>
            <a:ahLst/>
            <a:cxnLst/>
            <a:rect l="0" t="0" r="r" b="b"/>
            <a:pathLst>
              <a:path w="6298" h="1139">
                <a:moveTo>
                  <a:pt x="0" y="0"/>
                </a:moveTo>
                <a:lnTo>
                  <a:pt x="6298" y="0"/>
                </a:lnTo>
                <a:lnTo>
                  <a:pt x="62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666720" y="1628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666720" y="1628640"/>
            <a:ext cx="1447920" cy="9720"/>
          </a:xfrm>
          <a:custGeom>
            <a:avLst/>
            <a:gdLst/>
            <a:ahLst/>
            <a:cxnLst/>
            <a:rect l="0" t="0" r="r" b="b"/>
            <a:pathLst>
              <a:path w="4022" h="27">
                <a:moveTo>
                  <a:pt x="0" y="0"/>
                </a:moveTo>
                <a:lnTo>
                  <a:pt x="4022" y="0"/>
                </a:lnTo>
                <a:lnTo>
                  <a:pt x="40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2104920" y="1628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2114280" y="1628640"/>
            <a:ext cx="3219840" cy="9720"/>
          </a:xfrm>
          <a:custGeom>
            <a:avLst/>
            <a:gdLst/>
            <a:ahLst/>
            <a:cxn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5324400" y="1628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5333760" y="162864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7581600" y="1628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666720" y="2038320"/>
            <a:ext cx="1447920" cy="9720"/>
          </a:xfrm>
          <a:custGeom>
            <a:avLst/>
            <a:gdLst/>
            <a:ahLst/>
            <a:cxnLst/>
            <a:rect l="0" t="0" r="r" b="b"/>
            <a:pathLst>
              <a:path w="4022" h="27">
                <a:moveTo>
                  <a:pt x="0" y="0"/>
                </a:moveTo>
                <a:lnTo>
                  <a:pt x="4022" y="0"/>
                </a:lnTo>
                <a:lnTo>
                  <a:pt x="40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2114280" y="2038320"/>
            <a:ext cx="3219840" cy="9720"/>
          </a:xfrm>
          <a:custGeom>
            <a:avLst/>
            <a:gdLst/>
            <a:ahLst/>
            <a:cxn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5333760" y="203832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666720" y="2047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2104920" y="2047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5324400" y="2047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7581600" y="20476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666720" y="2457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666720" y="2447640"/>
            <a:ext cx="1447920" cy="10080"/>
          </a:xfrm>
          <a:custGeom>
            <a:avLst/>
            <a:gdLst/>
            <a:ahLst/>
            <a:cxnLst/>
            <a:rect l="0" t="0" r="r" b="b"/>
            <a:pathLst>
              <a:path w="4022" h="28">
                <a:moveTo>
                  <a:pt x="0" y="0"/>
                </a:moveTo>
                <a:lnTo>
                  <a:pt x="4022" y="0"/>
                </a:lnTo>
                <a:lnTo>
                  <a:pt x="40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2104920" y="2457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2114280" y="2447640"/>
            <a:ext cx="3219840" cy="10080"/>
          </a:xfrm>
          <a:custGeom>
            <a:avLst/>
            <a:gdLst/>
            <a:ahLst/>
            <a:cxn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5324400" y="2457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5333760" y="244764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7581600" y="24573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a libre 151"/>
          <p:cNvSpPr/>
          <p:nvPr/>
        </p:nvSpPr>
        <p:spPr>
          <a:xfrm>
            <a:off x="666720" y="2866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666720" y="2857320"/>
            <a:ext cx="1447920" cy="9720"/>
          </a:xfrm>
          <a:custGeom>
            <a:avLst/>
            <a:gdLst/>
            <a:ahLst/>
            <a:cxnLst/>
            <a:rect l="0" t="0" r="r" b="b"/>
            <a:pathLst>
              <a:path w="4022" h="27">
                <a:moveTo>
                  <a:pt x="0" y="0"/>
                </a:moveTo>
                <a:lnTo>
                  <a:pt x="4022" y="0"/>
                </a:lnTo>
                <a:lnTo>
                  <a:pt x="40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2104920" y="2866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2114280" y="2857320"/>
            <a:ext cx="3219840" cy="9720"/>
          </a:xfrm>
          <a:custGeom>
            <a:avLst/>
            <a:gdLst/>
            <a:ahLst/>
            <a:cxn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5324400" y="2866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5333760" y="285732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7581600" y="28666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6672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666720" y="3267000"/>
            <a:ext cx="1447920" cy="9720"/>
          </a:xfrm>
          <a:custGeom>
            <a:avLst/>
            <a:gdLst/>
            <a:ahLst/>
            <a:cxnLst/>
            <a:rect l="0" t="0" r="r" b="b"/>
            <a:pathLst>
              <a:path w="4022" h="27">
                <a:moveTo>
                  <a:pt x="0" y="0"/>
                </a:moveTo>
                <a:lnTo>
                  <a:pt x="4022" y="0"/>
                </a:lnTo>
                <a:lnTo>
                  <a:pt x="40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210492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2114280" y="3267000"/>
            <a:ext cx="3219840" cy="9720"/>
          </a:xfrm>
          <a:custGeom>
            <a:avLst/>
            <a:gdLst/>
            <a:ahLst/>
            <a:cxn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532440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5333760" y="326700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7581600" y="32763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666720" y="3676320"/>
            <a:ext cx="1447920" cy="10080"/>
          </a:xfrm>
          <a:custGeom>
            <a:avLst/>
            <a:gdLst/>
            <a:ahLst/>
            <a:cxnLst/>
            <a:rect l="0" t="0" r="r" b="b"/>
            <a:pathLst>
              <a:path w="4022" h="28">
                <a:moveTo>
                  <a:pt x="0" y="0"/>
                </a:moveTo>
                <a:lnTo>
                  <a:pt x="4022" y="0"/>
                </a:lnTo>
                <a:lnTo>
                  <a:pt x="40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2114280" y="3676320"/>
            <a:ext cx="3219840" cy="10080"/>
          </a:xfrm>
          <a:custGeom>
            <a:avLst/>
            <a:gdLst/>
            <a:ahLst/>
            <a:cxn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5333760" y="367632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666720" y="996480"/>
            <a:ext cx="4727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verbos y dónde va cada cosa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126080" y="1733040"/>
            <a:ext cx="537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Verbo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3310200" y="173304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799920" y="214308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0" y="2"/>
                  <a:pt x="1073" y="8"/>
                </a:cubicBezTo>
                <a:cubicBezTo>
                  <a:pt x="1086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9"/>
                  <a:pt x="1139" y="92"/>
                  <a:pt x="1139" y="106"/>
                </a:cubicBezTo>
                <a:lnTo>
                  <a:pt x="1139" y="530"/>
                </a:lnTo>
                <a:cubicBezTo>
                  <a:pt x="1139" y="544"/>
                  <a:pt x="1136" y="557"/>
                  <a:pt x="1131" y="570"/>
                </a:cubicBezTo>
                <a:cubicBezTo>
                  <a:pt x="1125" y="583"/>
                  <a:pt x="1118" y="595"/>
                  <a:pt x="1108" y="605"/>
                </a:cubicBezTo>
                <a:cubicBezTo>
                  <a:pt x="1098" y="615"/>
                  <a:pt x="1086" y="622"/>
                  <a:pt x="1073" y="628"/>
                </a:cubicBezTo>
                <a:cubicBezTo>
                  <a:pt x="1060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5956920" y="1733040"/>
            <a:ext cx="1002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¿Modiﬁca?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857160" y="2164320"/>
            <a:ext cx="292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GET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2235240" y="2133360"/>
            <a:ext cx="293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leer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799920" y="255240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4"/>
                  <a:pt x="1362" y="21"/>
                  <a:pt x="1372" y="31"/>
                </a:cubicBezTo>
                <a:cubicBezTo>
                  <a:pt x="1382" y="41"/>
                  <a:pt x="1390" y="53"/>
                  <a:pt x="1395" y="66"/>
                </a:cubicBezTo>
                <a:cubicBezTo>
                  <a:pt x="1401" y="79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5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4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5453640" y="2133360"/>
            <a:ext cx="2012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— repetirlo es inocuo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857160" y="257400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POST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2235240" y="2542680"/>
            <a:ext cx="2964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crear / enviar una consulta compleja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799920" y="296208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0" y="3"/>
                  <a:pt x="1073" y="8"/>
                </a:cubicBezTo>
                <a:cubicBezTo>
                  <a:pt x="1086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8"/>
                  <a:pt x="1139" y="92"/>
                  <a:pt x="1139" y="106"/>
                </a:cubicBezTo>
                <a:lnTo>
                  <a:pt x="1139" y="530"/>
                </a:lnTo>
                <a:cubicBezTo>
                  <a:pt x="1139" y="544"/>
                  <a:pt x="1136" y="558"/>
                  <a:pt x="1131" y="571"/>
                </a:cubicBezTo>
                <a:cubicBezTo>
                  <a:pt x="1125" y="584"/>
                  <a:pt x="1118" y="595"/>
                  <a:pt x="1108" y="605"/>
                </a:cubicBezTo>
                <a:cubicBezTo>
                  <a:pt x="1098" y="615"/>
                  <a:pt x="1086" y="623"/>
                  <a:pt x="1073" y="628"/>
                </a:cubicBezTo>
                <a:cubicBezTo>
                  <a:pt x="1060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5453640" y="25426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857160" y="2983320"/>
            <a:ext cx="292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PUT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1380960" y="296208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2" y="8"/>
                </a:cubicBezTo>
                <a:cubicBezTo>
                  <a:pt x="1615" y="13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30"/>
                </a:lnTo>
                <a:cubicBezTo>
                  <a:pt x="1668" y="544"/>
                  <a:pt x="1665" y="558"/>
                  <a:pt x="1660" y="571"/>
                </a:cubicBezTo>
                <a:cubicBezTo>
                  <a:pt x="1654" y="584"/>
                  <a:pt x="1647" y="595"/>
                  <a:pt x="1637" y="605"/>
                </a:cubicBezTo>
                <a:cubicBezTo>
                  <a:pt x="1627" y="615"/>
                  <a:pt x="1615" y="623"/>
                  <a:pt x="1602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1207080" y="29523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1433520" y="298332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PATCH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2235240" y="2952360"/>
            <a:ext cx="182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reemplazar / modiﬁcar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799920" y="337176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30" y="557"/>
                  <a:pt x="1924" y="570"/>
                </a:cubicBezTo>
                <a:cubicBezTo>
                  <a:pt x="1919" y="583"/>
                  <a:pt x="1911" y="595"/>
                  <a:pt x="1901" y="605"/>
                </a:cubicBezTo>
                <a:cubicBezTo>
                  <a:pt x="1892" y="615"/>
                  <a:pt x="1880" y="622"/>
                  <a:pt x="1867" y="628"/>
                </a:cubicBezTo>
                <a:cubicBezTo>
                  <a:pt x="1854" y="633"/>
                  <a:pt x="1841" y="636"/>
                  <a:pt x="182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5453640" y="295236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857160" y="339300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DELETE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2235240" y="3362040"/>
            <a:ext cx="495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borrar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5453640" y="33620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914040" y="4485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666720" y="3878280"/>
            <a:ext cx="2540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Dónde poner los datos: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1123920" y="4373280"/>
            <a:ext cx="57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Ruta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CuadroTexto 194"/>
          <p:cNvSpPr txBox="1"/>
          <p:nvPr/>
        </p:nvSpPr>
        <p:spPr>
          <a:xfrm>
            <a:off x="1699920" y="43840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3295440" y="4390920"/>
            <a:ext cx="2448360" cy="267120"/>
          </a:xfrm>
          <a:custGeom>
            <a:avLst/>
            <a:gdLst/>
            <a:ahLst/>
            <a:cxnLst/>
            <a:rect l="0" t="0" r="r" b="b"/>
            <a:pathLst>
              <a:path w="680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6695" y="0"/>
                </a:lnTo>
                <a:cubicBezTo>
                  <a:pt x="6709" y="0"/>
                  <a:pt x="6723" y="2"/>
                  <a:pt x="6736" y="8"/>
                </a:cubicBezTo>
                <a:cubicBezTo>
                  <a:pt x="6749" y="14"/>
                  <a:pt x="6760" y="22"/>
                  <a:pt x="6770" y="32"/>
                </a:cubicBezTo>
                <a:cubicBezTo>
                  <a:pt x="6780" y="42"/>
                  <a:pt x="6787" y="53"/>
                  <a:pt x="6793" y="66"/>
                </a:cubicBezTo>
                <a:cubicBezTo>
                  <a:pt x="6798" y="79"/>
                  <a:pt x="6801" y="93"/>
                  <a:pt x="6801" y="107"/>
                </a:cubicBezTo>
                <a:lnTo>
                  <a:pt x="6801" y="636"/>
                </a:lnTo>
                <a:cubicBezTo>
                  <a:pt x="6801" y="650"/>
                  <a:pt x="6798" y="663"/>
                  <a:pt x="6793" y="676"/>
                </a:cubicBezTo>
                <a:cubicBezTo>
                  <a:pt x="6787" y="689"/>
                  <a:pt x="6780" y="701"/>
                  <a:pt x="6770" y="711"/>
                </a:cubicBezTo>
                <a:cubicBezTo>
                  <a:pt x="6760" y="721"/>
                  <a:pt x="6749" y="728"/>
                  <a:pt x="6736" y="734"/>
                </a:cubicBezTo>
                <a:cubicBezTo>
                  <a:pt x="6723" y="739"/>
                  <a:pt x="6709" y="742"/>
                  <a:pt x="669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1928520" y="4373280"/>
            <a:ext cx="1368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qué recurso: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914040" y="4886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3349440" y="441072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/studies/NCT04280705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1895400" y="479088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8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1123920" y="4773600"/>
            <a:ext cx="771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Query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1952280" y="481068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?a=1&amp;b=2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2945160" y="47736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3063960" y="4784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914040" y="5286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3292560" y="4773600"/>
            <a:ext cx="1889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ﬁltros y paginación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1123920" y="5173560"/>
            <a:ext cx="1533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Encabezados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2656440" y="518436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914040" y="5686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CuadroTexto 209"/>
          <p:cNvSpPr txBox="1"/>
          <p:nvPr/>
        </p:nvSpPr>
        <p:spPr>
          <a:xfrm>
            <a:off x="2885040" y="5173560"/>
            <a:ext cx="2367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autenticación y formato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1123920" y="5573520"/>
            <a:ext cx="869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Cuerpo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1992240" y="558432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CuadroTexto 212"/>
          <p:cNvSpPr txBox="1"/>
          <p:nvPr/>
        </p:nvSpPr>
        <p:spPr>
          <a:xfrm>
            <a:off x="2220840" y="5573520"/>
            <a:ext cx="6048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cargas grandes o estructuradas (sólo en POST/PUT/PATCH)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orma libre 2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76080" y="1723680"/>
            <a:ext cx="1067040" cy="410040"/>
          </a:xfrm>
          <a:custGeom>
            <a:avLst/>
            <a:gdLst/>
            <a:ahLst/>
            <a:cxnLst/>
            <a:rect l="0" t="0" r="r" b="b"/>
            <a:pathLst>
              <a:path w="2964" h="1139">
                <a:moveTo>
                  <a:pt x="0" y="0"/>
                </a:moveTo>
                <a:lnTo>
                  <a:pt x="2964" y="0"/>
                </a:lnTo>
                <a:lnTo>
                  <a:pt x="29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1742760" y="1723680"/>
            <a:ext cx="2591280" cy="410040"/>
          </a:xfrm>
          <a:custGeom>
            <a:avLst/>
            <a:gdLst/>
            <a:ahLst/>
            <a:cxnLst/>
            <a:rect l="0" t="0" r="r" b="b"/>
            <a:pathLst>
              <a:path w="7198" h="1139">
                <a:moveTo>
                  <a:pt x="0" y="0"/>
                </a:moveTo>
                <a:lnTo>
                  <a:pt x="7198" y="0"/>
                </a:lnTo>
                <a:lnTo>
                  <a:pt x="71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4333680" y="1723680"/>
            <a:ext cx="2619720" cy="410040"/>
          </a:xfrm>
          <a:custGeom>
            <a:avLst/>
            <a:gdLst/>
            <a:ahLst/>
            <a:cxnLst/>
            <a:rect l="0" t="0" r="r" b="b"/>
            <a:pathLst>
              <a:path w="7277" h="1139">
                <a:moveTo>
                  <a:pt x="0" y="0"/>
                </a:moveTo>
                <a:lnTo>
                  <a:pt x="7277" y="0"/>
                </a:lnTo>
                <a:lnTo>
                  <a:pt x="72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76080" y="1723680"/>
            <a:ext cx="1067040" cy="410040"/>
          </a:xfrm>
          <a:custGeom>
            <a:avLst/>
            <a:gdLst/>
            <a:ahLst/>
            <a:cxnLst/>
            <a:rect l="0" t="0" r="r" b="b"/>
            <a:pathLst>
              <a:path w="2964" h="1139">
                <a:moveTo>
                  <a:pt x="0" y="0"/>
                </a:moveTo>
                <a:lnTo>
                  <a:pt x="2964" y="0"/>
                </a:lnTo>
                <a:lnTo>
                  <a:pt x="29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1742760" y="1723680"/>
            <a:ext cx="2591280" cy="410040"/>
          </a:xfrm>
          <a:custGeom>
            <a:avLst/>
            <a:gdLst/>
            <a:ahLst/>
            <a:cxnLst/>
            <a:rect l="0" t="0" r="r" b="b"/>
            <a:pathLst>
              <a:path w="7198" h="1139">
                <a:moveTo>
                  <a:pt x="0" y="0"/>
                </a:moveTo>
                <a:lnTo>
                  <a:pt x="7198" y="0"/>
                </a:lnTo>
                <a:lnTo>
                  <a:pt x="719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4333680" y="1723680"/>
            <a:ext cx="2619720" cy="410040"/>
          </a:xfrm>
          <a:custGeom>
            <a:avLst/>
            <a:gdLst/>
            <a:ahLst/>
            <a:cxnLst/>
            <a:rect l="0" t="0" r="r" b="b"/>
            <a:pathLst>
              <a:path w="7277" h="1139">
                <a:moveTo>
                  <a:pt x="0" y="0"/>
                </a:moveTo>
                <a:lnTo>
                  <a:pt x="7277" y="0"/>
                </a:lnTo>
                <a:lnTo>
                  <a:pt x="727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676080" y="213336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1742760" y="213336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4333680" y="213336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676080" y="255240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1742760" y="255240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4333680" y="255240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676080" y="2971440"/>
            <a:ext cx="1067040" cy="419760"/>
          </a:xfrm>
          <a:custGeom>
            <a:avLst/>
            <a:gdLst/>
            <a:ahLst/>
            <a:cxnLst/>
            <a:rect l="0" t="0" r="r" b="b"/>
            <a:pathLst>
              <a:path w="2964" h="1166">
                <a:moveTo>
                  <a:pt x="0" y="0"/>
                </a:moveTo>
                <a:lnTo>
                  <a:pt x="2964" y="0"/>
                </a:lnTo>
                <a:lnTo>
                  <a:pt x="296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1742760" y="2971440"/>
            <a:ext cx="2591280" cy="419760"/>
          </a:xfrm>
          <a:custGeom>
            <a:avLst/>
            <a:gdLst/>
            <a:ahLst/>
            <a:cxnLst/>
            <a:rect l="0" t="0" r="r" b="b"/>
            <a:pathLst>
              <a:path w="7198" h="1166">
                <a:moveTo>
                  <a:pt x="0" y="0"/>
                </a:moveTo>
                <a:lnTo>
                  <a:pt x="7198" y="0"/>
                </a:lnTo>
                <a:lnTo>
                  <a:pt x="719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4333680" y="2971440"/>
            <a:ext cx="2619720" cy="419760"/>
          </a:xfrm>
          <a:custGeom>
            <a:avLst/>
            <a:gdLst/>
            <a:ahLst/>
            <a:cxnLst/>
            <a:rect l="0" t="0" r="r" b="b"/>
            <a:pathLst>
              <a:path w="7277" h="1166">
                <a:moveTo>
                  <a:pt x="0" y="0"/>
                </a:moveTo>
                <a:lnTo>
                  <a:pt x="7277" y="0"/>
                </a:lnTo>
                <a:lnTo>
                  <a:pt x="727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76080" y="339084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1742760" y="339084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4333680" y="339084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76080" y="380988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1742760" y="380988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4333680" y="380988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676080" y="422892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1742760" y="422892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4333680" y="422892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76080" y="464796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1742760" y="4647960"/>
            <a:ext cx="2591280" cy="419400"/>
          </a:xfrm>
          <a:custGeom>
            <a:avLst/>
            <a:gdLst/>
            <a:ahLst/>
            <a:cxnLst/>
            <a:rect l="0" t="0" r="r" b="b"/>
            <a:pathLst>
              <a:path w="7198" h="1165">
                <a:moveTo>
                  <a:pt x="0" y="0"/>
                </a:moveTo>
                <a:lnTo>
                  <a:pt x="7198" y="0"/>
                </a:lnTo>
                <a:lnTo>
                  <a:pt x="719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4333680" y="4647960"/>
            <a:ext cx="2619720" cy="419400"/>
          </a:xfrm>
          <a:custGeom>
            <a:avLst/>
            <a:gdLst/>
            <a:ahLst/>
            <a:cxnLst/>
            <a:rect l="0" t="0" r="r" b="b"/>
            <a:pathLst>
              <a:path w="7277" h="1165">
                <a:moveTo>
                  <a:pt x="0" y="0"/>
                </a:moveTo>
                <a:lnTo>
                  <a:pt x="7277" y="0"/>
                </a:lnTo>
                <a:lnTo>
                  <a:pt x="72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666720" y="1714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666720" y="171432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1733400" y="1714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1742760" y="171432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4333680" y="1714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4343040" y="171432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6953040" y="1714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66720" y="212400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1742760" y="212400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4343040" y="212400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666720" y="2133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1733400" y="2133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4333680" y="2133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6953040" y="2133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666720" y="2552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666720" y="254304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1733400" y="2552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1742760" y="254304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4333680" y="2552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4343040" y="254304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953040" y="2552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66720" y="2971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666720" y="296208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1733400" y="2971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1742760" y="296208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4333680" y="2971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4343040" y="296208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6953040" y="29714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666720" y="3390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666720" y="3381120"/>
            <a:ext cx="1076400" cy="10080"/>
          </a:xfrm>
          <a:custGeom>
            <a:avLst/>
            <a:gdLst/>
            <a:ahLst/>
            <a:cxnLst/>
            <a:rect l="0" t="0" r="r" b="b"/>
            <a:pathLst>
              <a:path w="2990" h="28">
                <a:moveTo>
                  <a:pt x="0" y="0"/>
                </a:moveTo>
                <a:lnTo>
                  <a:pt x="2990" y="0"/>
                </a:lnTo>
                <a:lnTo>
                  <a:pt x="29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1733400" y="3390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1742760" y="3381120"/>
            <a:ext cx="2600640" cy="10080"/>
          </a:xfrm>
          <a:custGeom>
            <a:avLst/>
            <a:gdLst/>
            <a:ahLst/>
            <a:cxnLst/>
            <a:rect l="0" t="0" r="r" b="b"/>
            <a:pathLst>
              <a:path w="7224" h="28">
                <a:moveTo>
                  <a:pt x="0" y="0"/>
                </a:moveTo>
                <a:lnTo>
                  <a:pt x="7224" y="0"/>
                </a:lnTo>
                <a:lnTo>
                  <a:pt x="7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4333680" y="3390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4343040" y="3381120"/>
            <a:ext cx="2620080" cy="10080"/>
          </a:xfrm>
          <a:custGeom>
            <a:avLst/>
            <a:gdLst/>
            <a:ahLst/>
            <a:cxnLst/>
            <a:rect l="0" t="0" r="r" b="b"/>
            <a:pathLst>
              <a:path w="7278" h="28">
                <a:moveTo>
                  <a:pt x="0" y="0"/>
                </a:moveTo>
                <a:lnTo>
                  <a:pt x="7278" y="0"/>
                </a:lnTo>
                <a:lnTo>
                  <a:pt x="72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6953040" y="3390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66672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666720" y="3800160"/>
            <a:ext cx="1076400" cy="10080"/>
          </a:xfrm>
          <a:custGeom>
            <a:avLst/>
            <a:gdLst/>
            <a:ahLst/>
            <a:cxnLst/>
            <a:rect l="0" t="0" r="r" b="b"/>
            <a:pathLst>
              <a:path w="2990" h="28">
                <a:moveTo>
                  <a:pt x="0" y="0"/>
                </a:moveTo>
                <a:lnTo>
                  <a:pt x="2990" y="0"/>
                </a:lnTo>
                <a:lnTo>
                  <a:pt x="29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173340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1742760" y="3800160"/>
            <a:ext cx="2600640" cy="10080"/>
          </a:xfrm>
          <a:custGeom>
            <a:avLst/>
            <a:gdLst/>
            <a:ahLst/>
            <a:cxnLst/>
            <a:rect l="0" t="0" r="r" b="b"/>
            <a:pathLst>
              <a:path w="7224" h="28">
                <a:moveTo>
                  <a:pt x="0" y="0"/>
                </a:moveTo>
                <a:lnTo>
                  <a:pt x="7224" y="0"/>
                </a:lnTo>
                <a:lnTo>
                  <a:pt x="7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4333680" y="3809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4343040" y="3800160"/>
            <a:ext cx="2620080" cy="10080"/>
          </a:xfrm>
          <a:custGeom>
            <a:avLst/>
            <a:gdLst/>
            <a:ahLst/>
            <a:cxnLst/>
            <a:rect l="0" t="0" r="r" b="b"/>
            <a:pathLst>
              <a:path w="7278" h="28">
                <a:moveTo>
                  <a:pt x="0" y="0"/>
                </a:moveTo>
                <a:lnTo>
                  <a:pt x="7278" y="0"/>
                </a:lnTo>
                <a:lnTo>
                  <a:pt x="72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6953040" y="3809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666720" y="4228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66720" y="421956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1733400" y="4228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1742760" y="421956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4333680" y="4228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4343040" y="421956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6953040" y="4228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666720" y="4647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666720" y="463860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1733400" y="4647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1742760" y="463860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4333680" y="4647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4343040" y="463860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6953040" y="4647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666720" y="5057640"/>
            <a:ext cx="1076400" cy="9720"/>
          </a:xfrm>
          <a:custGeom>
            <a:avLst/>
            <a:gdLst/>
            <a:ahLst/>
            <a:cxnLst/>
            <a:rect l="0" t="0" r="r" b="b"/>
            <a:pathLst>
              <a:path w="2990" h="27">
                <a:moveTo>
                  <a:pt x="0" y="0"/>
                </a:moveTo>
                <a:lnTo>
                  <a:pt x="2990" y="0"/>
                </a:lnTo>
                <a:lnTo>
                  <a:pt x="29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1742760" y="5057640"/>
            <a:ext cx="2600640" cy="9720"/>
          </a:xfrm>
          <a:custGeom>
            <a:avLst/>
            <a:gdLst/>
            <a:ahLst/>
            <a:cxnLst/>
            <a:rect l="0" t="0" r="r" b="b"/>
            <a:pathLst>
              <a:path w="7224" h="27">
                <a:moveTo>
                  <a:pt x="0" y="0"/>
                </a:moveTo>
                <a:lnTo>
                  <a:pt x="7224" y="0"/>
                </a:lnTo>
                <a:lnTo>
                  <a:pt x="7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4343040" y="5057640"/>
            <a:ext cx="2620080" cy="9720"/>
          </a:xfrm>
          <a:custGeom>
            <a:avLst/>
            <a:gdLst/>
            <a:ahLst/>
            <a:cxnLst/>
            <a:rect l="0" t="0" r="r" b="b"/>
            <a:pathLst>
              <a:path w="7278" h="27">
                <a:moveTo>
                  <a:pt x="0" y="0"/>
                </a:moveTo>
                <a:lnTo>
                  <a:pt x="7278" y="0"/>
                </a:lnTo>
                <a:lnTo>
                  <a:pt x="72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666720" y="521964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666720" y="521964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666720" y="1082520"/>
            <a:ext cx="3668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códigos que vas a ver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878040" y="1818720"/>
            <a:ext cx="656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Código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2644200" y="1818720"/>
            <a:ext cx="786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5161320" y="1818720"/>
            <a:ext cx="96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haces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799920" y="2228400"/>
            <a:ext cx="318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1869480" y="2228400"/>
            <a:ext cx="776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bien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4462560" y="2228400"/>
            <a:ext cx="49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seguir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799920" y="2647440"/>
            <a:ext cx="812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301 / 302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4466880" y="2657160"/>
            <a:ext cx="886320" cy="228960"/>
          </a:xfrm>
          <a:custGeom>
            <a:avLst/>
            <a:gdLst/>
            <a:ahLst/>
            <a:cxnLst/>
            <a:rect l="0" t="0" r="r" b="b"/>
            <a:pathLst>
              <a:path w="246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356" y="0"/>
                </a:lnTo>
                <a:cubicBezTo>
                  <a:pt x="2370" y="0"/>
                  <a:pt x="2384" y="3"/>
                  <a:pt x="2397" y="8"/>
                </a:cubicBezTo>
                <a:cubicBezTo>
                  <a:pt x="2410" y="14"/>
                  <a:pt x="2421" y="21"/>
                  <a:pt x="2431" y="31"/>
                </a:cubicBezTo>
                <a:cubicBezTo>
                  <a:pt x="2441" y="41"/>
                  <a:pt x="2449" y="53"/>
                  <a:pt x="2454" y="66"/>
                </a:cubicBezTo>
                <a:cubicBezTo>
                  <a:pt x="2459" y="79"/>
                  <a:pt x="2462" y="92"/>
                  <a:pt x="2462" y="106"/>
                </a:cubicBezTo>
                <a:lnTo>
                  <a:pt x="2462" y="530"/>
                </a:lnTo>
                <a:cubicBezTo>
                  <a:pt x="2462" y="544"/>
                  <a:pt x="2459" y="558"/>
                  <a:pt x="2454" y="571"/>
                </a:cubicBezTo>
                <a:cubicBezTo>
                  <a:pt x="2449" y="584"/>
                  <a:pt x="2441" y="595"/>
                  <a:pt x="2431" y="605"/>
                </a:cubicBezTo>
                <a:cubicBezTo>
                  <a:pt x="2421" y="615"/>
                  <a:pt x="2410" y="623"/>
                  <a:pt x="2397" y="628"/>
                </a:cubicBezTo>
                <a:cubicBezTo>
                  <a:pt x="2384" y="634"/>
                  <a:pt x="2370" y="636"/>
                  <a:pt x="2356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2" y="595"/>
                  <a:pt x="14" y="584"/>
                  <a:pt x="9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1869480" y="2647440"/>
            <a:ext cx="738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movió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4519440" y="267876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requests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5356800" y="2647440"/>
            <a:ext cx="1073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 sigue solo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799920" y="3066840"/>
            <a:ext cx="318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400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1869480" y="3066840"/>
            <a:ext cx="2333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petición está mal formada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4462560" y="3066840"/>
            <a:ext cx="1465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revisa parámetros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799920" y="3485880"/>
            <a:ext cx="812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401 / 403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1869480" y="3485880"/>
            <a:ext cx="2336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autenticado / sin permiso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4462560" y="3485880"/>
            <a:ext cx="1069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revisa la llave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799920" y="3904920"/>
            <a:ext cx="318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404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1869480" y="3904920"/>
            <a:ext cx="73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existe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4462560" y="3904920"/>
            <a:ext cx="2368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¿el identiﬁcador es correcto?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799920" y="4323960"/>
            <a:ext cx="318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429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1869480" y="4323960"/>
            <a:ext cx="2219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 pasaste de peticiones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4462560" y="4323960"/>
            <a:ext cx="1461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espera y reintenta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799920" y="4743000"/>
            <a:ext cx="812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500 / 503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1869480" y="4743000"/>
            <a:ext cx="121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servidor falló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4462560" y="4743000"/>
            <a:ext cx="1729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reintenta con backoff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905040" y="5373720"/>
            <a:ext cx="5531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2xx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bien ·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3xx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en otro lado ·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4xx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tu culpa ·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5xx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su culpa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Forma libre 3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3661920" y="3063960"/>
            <a:ext cx="49809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Qué significa REST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CuadroTexto 3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orma libre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671400" y="22618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671400" y="22618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666720" y="1625400"/>
            <a:ext cx="3289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Recursos, no funciones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866880" y="24418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✗  /obtenerEstudioPorId?id=NCT04280705      ← pensar en funciones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914040" y="34192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866880" y="270864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✓  /studies/NCT04280705                     ← pensar en recursos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914040" y="3819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CuadroTexto 355"/>
          <p:cNvSpPr txBox="1"/>
          <p:nvPr/>
        </p:nvSpPr>
        <p:spPr>
          <a:xfrm>
            <a:off x="1123920" y="3306600"/>
            <a:ext cx="5645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recurso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tiene una URL;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verbo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dice qué le haces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914040" y="4219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1123920" y="3706560"/>
            <a:ext cx="544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Representación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JSON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(a veces XML, en APIs viejas)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4524120" y="4124160"/>
            <a:ext cx="2800800" cy="267120"/>
          </a:xfrm>
          <a:custGeom>
            <a:avLst/>
            <a:gdLst/>
            <a:ahLst/>
            <a:cxnLst/>
            <a:rect l="0" t="0" r="r" b="b"/>
            <a:pathLst>
              <a:path w="7780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674" y="0"/>
                </a:lnTo>
                <a:cubicBezTo>
                  <a:pt x="7688" y="0"/>
                  <a:pt x="7702" y="3"/>
                  <a:pt x="7715" y="8"/>
                </a:cubicBezTo>
                <a:cubicBezTo>
                  <a:pt x="7728" y="13"/>
                  <a:pt x="7739" y="22"/>
                  <a:pt x="7749" y="32"/>
                </a:cubicBezTo>
                <a:cubicBezTo>
                  <a:pt x="7759" y="42"/>
                  <a:pt x="7767" y="53"/>
                  <a:pt x="7772" y="66"/>
                </a:cubicBezTo>
                <a:cubicBezTo>
                  <a:pt x="7777" y="79"/>
                  <a:pt x="7780" y="93"/>
                  <a:pt x="7780" y="107"/>
                </a:cubicBezTo>
                <a:lnTo>
                  <a:pt x="7780" y="636"/>
                </a:lnTo>
                <a:cubicBezTo>
                  <a:pt x="7780" y="650"/>
                  <a:pt x="7777" y="663"/>
                  <a:pt x="7772" y="676"/>
                </a:cubicBezTo>
                <a:cubicBezTo>
                  <a:pt x="7767" y="689"/>
                  <a:pt x="7759" y="701"/>
                  <a:pt x="7749" y="711"/>
                </a:cubicBezTo>
                <a:cubicBezTo>
                  <a:pt x="7739" y="721"/>
                  <a:pt x="7728" y="728"/>
                  <a:pt x="7715" y="734"/>
                </a:cubicBezTo>
                <a:cubicBezTo>
                  <a:pt x="7702" y="739"/>
                  <a:pt x="7688" y="742"/>
                  <a:pt x="767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1123920" y="4106880"/>
            <a:ext cx="3401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estado, cacheable, jerárquico: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4578120" y="4143960"/>
            <a:ext cx="2701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/studies/{id}/locations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666720" y="4623840"/>
            <a:ext cx="1058760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REST no es un estándar sino un estilo: encontrarás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APIs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lo siguen a medias.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GraphQL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gRPC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son alternativas que</a:t>
            </a:r>
            <a:endParaRPr lang="es-ES" sz="16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uadroTexto 362"/>
          <p:cNvSpPr txBox="1"/>
          <p:nvPr/>
        </p:nvSpPr>
        <p:spPr>
          <a:xfrm>
            <a:off x="666720" y="4966560"/>
            <a:ext cx="16088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verás en industria.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CuadroTexto 36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CuadroTexto 36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CuadroTexto 36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Forma libre 3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3857400" y="3066840"/>
            <a:ext cx="2734200" cy="619560"/>
          </a:xfrm>
          <a:custGeom>
            <a:avLst/>
            <a:gdLst/>
            <a:ahLst/>
            <a:cxnLst/>
            <a:rect l="0" t="0" r="r" b="b"/>
            <a:pathLst>
              <a:path w="7595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489" y="0"/>
                </a:lnTo>
                <a:cubicBezTo>
                  <a:pt x="7503" y="0"/>
                  <a:pt x="7516" y="3"/>
                  <a:pt x="7529" y="8"/>
                </a:cubicBezTo>
                <a:cubicBezTo>
                  <a:pt x="7542" y="14"/>
                  <a:pt x="7554" y="21"/>
                  <a:pt x="7564" y="31"/>
                </a:cubicBezTo>
                <a:cubicBezTo>
                  <a:pt x="7574" y="41"/>
                  <a:pt x="7581" y="52"/>
                  <a:pt x="7587" y="65"/>
                </a:cubicBezTo>
                <a:cubicBezTo>
                  <a:pt x="7592" y="78"/>
                  <a:pt x="7595" y="92"/>
                  <a:pt x="7595" y="106"/>
                </a:cubicBezTo>
                <a:lnTo>
                  <a:pt x="7595" y="1615"/>
                </a:lnTo>
                <a:cubicBezTo>
                  <a:pt x="7595" y="1629"/>
                  <a:pt x="7592" y="1643"/>
                  <a:pt x="7587" y="1656"/>
                </a:cubicBezTo>
                <a:cubicBezTo>
                  <a:pt x="7581" y="1669"/>
                  <a:pt x="7574" y="1680"/>
                  <a:pt x="7564" y="1690"/>
                </a:cubicBezTo>
                <a:cubicBezTo>
                  <a:pt x="7554" y="1700"/>
                  <a:pt x="7542" y="1707"/>
                  <a:pt x="7529" y="1713"/>
                </a:cubicBezTo>
                <a:cubicBezTo>
                  <a:pt x="7516" y="1718"/>
                  <a:pt x="7503" y="1721"/>
                  <a:pt x="7489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327780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3961440" y="3067200"/>
            <a:ext cx="256968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requests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7124400" y="3066840"/>
            <a:ext cx="1791000" cy="619560"/>
          </a:xfrm>
          <a:custGeom>
            <a:avLst/>
            <a:gdLst/>
            <a:ahLst/>
            <a:cxnLst/>
            <a:rect l="0" t="0" r="r" b="b"/>
            <a:pathLst>
              <a:path w="4975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870" y="0"/>
                </a:lnTo>
                <a:cubicBezTo>
                  <a:pt x="4884" y="0"/>
                  <a:pt x="4897" y="3"/>
                  <a:pt x="4910" y="8"/>
                </a:cubicBezTo>
                <a:cubicBezTo>
                  <a:pt x="4923" y="14"/>
                  <a:pt x="4935" y="21"/>
                  <a:pt x="4944" y="31"/>
                </a:cubicBezTo>
                <a:cubicBezTo>
                  <a:pt x="4954" y="41"/>
                  <a:pt x="4962" y="52"/>
                  <a:pt x="4967" y="65"/>
                </a:cubicBezTo>
                <a:cubicBezTo>
                  <a:pt x="4973" y="78"/>
                  <a:pt x="4975" y="92"/>
                  <a:pt x="4975" y="106"/>
                </a:cubicBezTo>
                <a:lnTo>
                  <a:pt x="4975" y="1615"/>
                </a:lnTo>
                <a:cubicBezTo>
                  <a:pt x="4975" y="1629"/>
                  <a:pt x="4973" y="1643"/>
                  <a:pt x="4967" y="1656"/>
                </a:cubicBezTo>
                <a:cubicBezTo>
                  <a:pt x="4962" y="1669"/>
                  <a:pt x="4954" y="1680"/>
                  <a:pt x="4944" y="1690"/>
                </a:cubicBezTo>
                <a:cubicBezTo>
                  <a:pt x="4935" y="1700"/>
                  <a:pt x="4923" y="1707"/>
                  <a:pt x="4910" y="1713"/>
                </a:cubicBezTo>
                <a:cubicBezTo>
                  <a:pt x="4897" y="1718"/>
                  <a:pt x="4884" y="1721"/>
                  <a:pt x="4870" y="1721"/>
                </a:cubicBezTo>
                <a:lnTo>
                  <a:pt x="106" y="1721"/>
                </a:lnTo>
                <a:cubicBezTo>
                  <a:pt x="92" y="1721"/>
                  <a:pt x="79" y="1718"/>
                  <a:pt x="66" y="1713"/>
                </a:cubicBezTo>
                <a:cubicBezTo>
                  <a:pt x="53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6594480" y="3054600"/>
            <a:ext cx="544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7228440" y="3067200"/>
            <a:ext cx="160632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httpx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orma libre 3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671400" y="16333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671400" y="1633320"/>
            <a:ext cx="10849320" cy="2943720"/>
          </a:xfrm>
          <a:custGeom>
            <a:avLst/>
            <a:gdLst/>
            <a:ahLst/>
            <a:cxnLst/>
            <a:rect l="0" t="0" r="r" b="b"/>
            <a:pathLst>
              <a:path w="30137" h="8177">
                <a:moveTo>
                  <a:pt x="0" y="797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978"/>
                </a:lnTo>
                <a:cubicBezTo>
                  <a:pt x="30137" y="7991"/>
                  <a:pt x="30136" y="8004"/>
                  <a:pt x="30133" y="8017"/>
                </a:cubicBezTo>
                <a:cubicBezTo>
                  <a:pt x="30130" y="8030"/>
                  <a:pt x="30127" y="8042"/>
                  <a:pt x="30122" y="8054"/>
                </a:cubicBezTo>
                <a:cubicBezTo>
                  <a:pt x="30117" y="8066"/>
                  <a:pt x="30111" y="8078"/>
                  <a:pt x="30103" y="8089"/>
                </a:cubicBezTo>
                <a:cubicBezTo>
                  <a:pt x="30096" y="8099"/>
                  <a:pt x="30088" y="8109"/>
                  <a:pt x="30079" y="8119"/>
                </a:cubicBezTo>
                <a:cubicBezTo>
                  <a:pt x="30070" y="8128"/>
                  <a:pt x="30059" y="8136"/>
                  <a:pt x="30049" y="8143"/>
                </a:cubicBezTo>
                <a:cubicBezTo>
                  <a:pt x="30038" y="8151"/>
                  <a:pt x="30026" y="8157"/>
                  <a:pt x="30014" y="8162"/>
                </a:cubicBezTo>
                <a:cubicBezTo>
                  <a:pt x="30002" y="8167"/>
                  <a:pt x="29990" y="8170"/>
                  <a:pt x="29977" y="8173"/>
                </a:cubicBezTo>
                <a:cubicBezTo>
                  <a:pt x="29964" y="8175"/>
                  <a:pt x="29951" y="8177"/>
                  <a:pt x="29938" y="8177"/>
                </a:cubicBezTo>
                <a:lnTo>
                  <a:pt x="198" y="8177"/>
                </a:lnTo>
                <a:cubicBezTo>
                  <a:pt x="185" y="8177"/>
                  <a:pt x="172" y="8175"/>
                  <a:pt x="160" y="8173"/>
                </a:cubicBezTo>
                <a:cubicBezTo>
                  <a:pt x="147" y="8170"/>
                  <a:pt x="134" y="8167"/>
                  <a:pt x="122" y="8162"/>
                </a:cubicBezTo>
                <a:cubicBezTo>
                  <a:pt x="110" y="8157"/>
                  <a:pt x="99" y="8151"/>
                  <a:pt x="88" y="8143"/>
                </a:cubicBezTo>
                <a:cubicBezTo>
                  <a:pt x="77" y="8136"/>
                  <a:pt x="67" y="8128"/>
                  <a:pt x="58" y="8119"/>
                </a:cubicBezTo>
                <a:cubicBezTo>
                  <a:pt x="49" y="8109"/>
                  <a:pt x="40" y="8099"/>
                  <a:pt x="33" y="8089"/>
                </a:cubicBezTo>
                <a:cubicBezTo>
                  <a:pt x="26" y="8078"/>
                  <a:pt x="20" y="8066"/>
                  <a:pt x="15" y="8054"/>
                </a:cubicBezTo>
                <a:cubicBezTo>
                  <a:pt x="10" y="8042"/>
                  <a:pt x="6" y="8030"/>
                  <a:pt x="4" y="8017"/>
                </a:cubicBezTo>
                <a:cubicBezTo>
                  <a:pt x="1" y="8004"/>
                  <a:pt x="0" y="7991"/>
                  <a:pt x="0" y="79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666720" y="996480"/>
            <a:ext cx="3843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petición mínima decente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866880" y="1813320"/>
            <a:ext cx="1638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requests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866880" y="233712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 = requests.get(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866880" y="2603880"/>
            <a:ext cx="5241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"https://clinicaltrials.gov/api/v2/studies"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866880" y="2860920"/>
            <a:ext cx="6006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params={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"query.cond"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"diabetes"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"pageSize"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866880" y="312768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headers={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"Accept"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"application/json"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866880" y="3384720"/>
            <a:ext cx="6115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timeout=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← NUNCA lo omitas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866880" y="365148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866880" y="390888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r.raise_for_status()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lanza excepción si fue 4xx/5xx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914040" y="4886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1123920" y="4790880"/>
            <a:ext cx="933480" cy="267120"/>
          </a:xfrm>
          <a:custGeom>
            <a:avLst/>
            <a:gdLst/>
            <a:ahLst/>
            <a:cxnLst/>
            <a:rect l="0" t="0" r="r" b="b"/>
            <a:pathLst>
              <a:path w="259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2" y="41"/>
                  <a:pt x="2580" y="52"/>
                  <a:pt x="2585" y="65"/>
                </a:cubicBezTo>
                <a:cubicBezTo>
                  <a:pt x="2591" y="78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4"/>
                  <a:pt x="2585" y="677"/>
                </a:cubicBezTo>
                <a:cubicBezTo>
                  <a:pt x="2580" y="690"/>
                  <a:pt x="2572" y="701"/>
                  <a:pt x="2563" y="711"/>
                </a:cubicBezTo>
                <a:cubicBezTo>
                  <a:pt x="2553" y="721"/>
                  <a:pt x="2541" y="728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866880" y="417528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datos = r.json()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1181160" y="481068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params=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914040" y="5286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1123920" y="519084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5"/>
                  <a:pt x="2870" y="22"/>
                  <a:pt x="2880" y="32"/>
                </a:cubicBezTo>
                <a:cubicBezTo>
                  <a:pt x="2890" y="42"/>
                  <a:pt x="2898" y="54"/>
                  <a:pt x="2903" y="67"/>
                </a:cubicBezTo>
                <a:cubicBezTo>
                  <a:pt x="2908" y="80"/>
                  <a:pt x="2911" y="93"/>
                  <a:pt x="2911" y="107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9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2057400" y="4773600"/>
            <a:ext cx="609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construye y escapa la query por ti — no concatenes cadenas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1181160" y="52110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timeout=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914040" y="5686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1123920" y="5591160"/>
            <a:ext cx="2219400" cy="266760"/>
          </a:xfrm>
          <a:custGeom>
            <a:avLst/>
            <a:gdLst/>
            <a:ahLst/>
            <a:cxnLst/>
            <a:rect l="0" t="0" r="r" b="b"/>
            <a:pathLst>
              <a:path w="616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6059" y="0"/>
                </a:lnTo>
                <a:cubicBezTo>
                  <a:pt x="6073" y="0"/>
                  <a:pt x="6086" y="2"/>
                  <a:pt x="6099" y="8"/>
                </a:cubicBezTo>
                <a:cubicBezTo>
                  <a:pt x="6112" y="13"/>
                  <a:pt x="6123" y="21"/>
                  <a:pt x="6134" y="31"/>
                </a:cubicBezTo>
                <a:cubicBezTo>
                  <a:pt x="6144" y="40"/>
                  <a:pt x="6152" y="52"/>
                  <a:pt x="6157" y="65"/>
                </a:cubicBezTo>
                <a:cubicBezTo>
                  <a:pt x="6163" y="78"/>
                  <a:pt x="6165" y="91"/>
                  <a:pt x="6165" y="105"/>
                </a:cubicBezTo>
                <a:lnTo>
                  <a:pt x="6165" y="636"/>
                </a:lnTo>
                <a:cubicBezTo>
                  <a:pt x="6165" y="650"/>
                  <a:pt x="6163" y="663"/>
                  <a:pt x="6157" y="676"/>
                </a:cubicBezTo>
                <a:cubicBezTo>
                  <a:pt x="6152" y="689"/>
                  <a:pt x="6144" y="700"/>
                  <a:pt x="6134" y="710"/>
                </a:cubicBezTo>
                <a:cubicBezTo>
                  <a:pt x="6123" y="720"/>
                  <a:pt x="6112" y="728"/>
                  <a:pt x="6099" y="733"/>
                </a:cubicBezTo>
                <a:cubicBezTo>
                  <a:pt x="6086" y="739"/>
                  <a:pt x="6073" y="741"/>
                  <a:pt x="605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2174400" y="5173560"/>
            <a:ext cx="4860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sin él, tu script puede colgarse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siempre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1181160" y="5610960"/>
            <a:ext cx="21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raise_for_status()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3344040" y="5573520"/>
            <a:ext cx="8059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sin él, un 404 pasa como si nada y te quedas procesando una página de error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Forma libre 4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orma libre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4285800" y="3063960"/>
            <a:ext cx="3706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Autenticación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Forma libre 4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671400" y="15382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9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4"/>
                  <a:pt x="30133" y="8757"/>
                </a:cubicBezTo>
                <a:cubicBezTo>
                  <a:pt x="30130" y="8770"/>
                  <a:pt x="30127" y="8782"/>
                  <a:pt x="30122" y="8794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4"/>
                </a:cubicBezTo>
                <a:cubicBezTo>
                  <a:pt x="10" y="8782"/>
                  <a:pt x="6" y="8770"/>
                  <a:pt x="4" y="8757"/>
                </a:cubicBezTo>
                <a:cubicBezTo>
                  <a:pt x="1" y="8744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71400" y="15382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9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4"/>
                  <a:pt x="30133" y="8757"/>
                </a:cubicBezTo>
                <a:cubicBezTo>
                  <a:pt x="30130" y="8770"/>
                  <a:pt x="30127" y="8782"/>
                  <a:pt x="30122" y="8794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4"/>
                </a:cubicBezTo>
                <a:cubicBezTo>
                  <a:pt x="10" y="8782"/>
                  <a:pt x="6" y="8770"/>
                  <a:pt x="4" y="8757"/>
                </a:cubicBezTo>
                <a:cubicBezTo>
                  <a:pt x="1" y="8744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90480" y="490536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3"/>
                  <a:pt x="30065" y="61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7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66720" y="490536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666720" y="901440"/>
            <a:ext cx="4125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formas, una sola regla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866880" y="171792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1. Llave en la query (NCBI, openFDA)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866880" y="1984680"/>
            <a:ext cx="5023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params={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"api_key"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os.environ[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"NCBI_API_KEY"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866880" y="250848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2. Llave en encabezado (lo más común)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866880" y="2765880"/>
            <a:ext cx="4914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headers={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"X-API-Key"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os.environ[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"MI_LLAVE"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866880" y="328968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3. Bearer token (OAuth2)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866880" y="355644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headers={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"Authorization"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f"Bearer </a:t>
            </a:r>
            <a:r>
              <a:rPr lang="es-ES" sz="1430" b="0" u="none" strike="noStrike">
                <a:solidFill>
                  <a:srgbClr val="EDF2F7"/>
                </a:solidFill>
                <a:effectLst/>
                <a:uFillTx/>
                <a:latin typeface="Menlo"/>
                <a:ea typeface="Menlo"/>
              </a:rPr>
              <a:t>{token}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866880" y="4080240"/>
            <a:ext cx="1201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4. Básica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866880" y="4337280"/>
            <a:ext cx="3276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auth=(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"usuario"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"contraseña"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885960" y="5059080"/>
            <a:ext cx="10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llave nunca se escribe en el código.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Variable de entorno o gestor de secretos — lo mismo que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885960" y="5402160"/>
            <a:ext cx="7585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Docker (s06) y en Compose (s07). Y si se te escapó a git: rotarla, no borrarla.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Forma libre 4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3355920" y="3063960"/>
            <a:ext cx="5603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Paginación y volumen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Forma libre 4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71400" y="172872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7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7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671400" y="172872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7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6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3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3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6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7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666720" y="1091880"/>
            <a:ext cx="5545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Nadie te da 50 000 resultados de golpe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866880" y="190836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D9B3FF"/>
                </a:solidFill>
                <a:effectLst/>
                <a:uFillTx/>
                <a:latin typeface="Menlo"/>
                <a:ea typeface="Menlo"/>
              </a:rPr>
              <a:t>paginar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(url, params):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866880" y="217512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"""Generador: entrega registros sin cargar todo en memoria."""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CuadroTexto 475"/>
          <p:cNvSpPr txBox="1"/>
          <p:nvPr/>
        </p:nvSpPr>
        <p:spPr>
          <a:xfrm>
            <a:off x="866880" y="243252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token =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None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866880" y="2698920"/>
            <a:ext cx="1638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while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866880" y="2956320"/>
            <a:ext cx="873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r = requests.get(url, params={**params,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"pageToken"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token}, timeout=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866880" y="322308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r.raise_for_status()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866880" y="348012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datos = r.json()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866880" y="3746880"/>
            <a:ext cx="3821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yield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datos[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"studies"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866880" y="400392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token = datos.get(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"nextPageToken"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866880" y="4270680"/>
            <a:ext cx="229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not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token: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866880" y="452772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break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8991360" y="51526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9"/>
                </a:cubicBezTo>
                <a:cubicBezTo>
                  <a:pt x="1563" y="14"/>
                  <a:pt x="1574" y="22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3" y="742"/>
                  <a:pt x="1509" y="742"/>
                </a:cubicBezTo>
                <a:lnTo>
                  <a:pt x="107" y="742"/>
                </a:lnTo>
                <a:cubicBezTo>
                  <a:pt x="93" y="742"/>
                  <a:pt x="79" y="740"/>
                  <a:pt x="66" y="734"/>
                </a:cubicBezTo>
                <a:cubicBezTo>
                  <a:pt x="54" y="729"/>
                  <a:pt x="42" y="721"/>
                  <a:pt x="32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5135400"/>
            <a:ext cx="8351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Tres estilos que encontrarás: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oﬀset/limit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cursor o token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(como arriba),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enlaces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9049320" y="517284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next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666720" y="549576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1"/>
                  <a:pt x="1601" y="52"/>
                  <a:pt x="1606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1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9574560" y="5135400"/>
            <a:ext cx="1805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el encabezado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723960" y="55155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Link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1249200" y="54784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CuadroTexto 4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4736880" y="3063960"/>
            <a:ext cx="2777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Robustez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CuadroTexto 4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71400" y="1604880"/>
            <a:ext cx="10849320" cy="3467520"/>
          </a:xfrm>
          <a:custGeom>
            <a:avLst/>
            <a:gdLst/>
            <a:ahLst/>
            <a:cxnLst/>
            <a:rect l="0" t="0" r="r" b="b"/>
            <a:pathLst>
              <a:path w="30137" h="9632">
                <a:moveTo>
                  <a:pt x="0" y="943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9433"/>
                </a:lnTo>
                <a:cubicBezTo>
                  <a:pt x="30137" y="9446"/>
                  <a:pt x="30136" y="9459"/>
                  <a:pt x="30133" y="9472"/>
                </a:cubicBezTo>
                <a:cubicBezTo>
                  <a:pt x="30130" y="9485"/>
                  <a:pt x="30127" y="9497"/>
                  <a:pt x="30122" y="9509"/>
                </a:cubicBezTo>
                <a:cubicBezTo>
                  <a:pt x="30117" y="9521"/>
                  <a:pt x="30111" y="9533"/>
                  <a:pt x="30103" y="9543"/>
                </a:cubicBezTo>
                <a:cubicBezTo>
                  <a:pt x="30096" y="9554"/>
                  <a:pt x="30088" y="9564"/>
                  <a:pt x="30079" y="9573"/>
                </a:cubicBezTo>
                <a:cubicBezTo>
                  <a:pt x="30070" y="9583"/>
                  <a:pt x="30059" y="9591"/>
                  <a:pt x="30049" y="9598"/>
                </a:cubicBezTo>
                <a:cubicBezTo>
                  <a:pt x="30038" y="9605"/>
                  <a:pt x="30026" y="9611"/>
                  <a:pt x="30014" y="9616"/>
                </a:cubicBezTo>
                <a:cubicBezTo>
                  <a:pt x="30002" y="9621"/>
                  <a:pt x="29990" y="9625"/>
                  <a:pt x="29977" y="9628"/>
                </a:cubicBezTo>
                <a:cubicBezTo>
                  <a:pt x="29964" y="9630"/>
                  <a:pt x="29951" y="9632"/>
                  <a:pt x="29938" y="9632"/>
                </a:cubicBezTo>
                <a:lnTo>
                  <a:pt x="198" y="9632"/>
                </a:lnTo>
                <a:cubicBezTo>
                  <a:pt x="185" y="9632"/>
                  <a:pt x="172" y="9630"/>
                  <a:pt x="160" y="9628"/>
                </a:cubicBezTo>
                <a:cubicBezTo>
                  <a:pt x="147" y="9625"/>
                  <a:pt x="134" y="9621"/>
                  <a:pt x="122" y="9616"/>
                </a:cubicBezTo>
                <a:cubicBezTo>
                  <a:pt x="110" y="9611"/>
                  <a:pt x="99" y="9605"/>
                  <a:pt x="88" y="9598"/>
                </a:cubicBezTo>
                <a:cubicBezTo>
                  <a:pt x="77" y="9591"/>
                  <a:pt x="67" y="9583"/>
                  <a:pt x="58" y="9573"/>
                </a:cubicBezTo>
                <a:cubicBezTo>
                  <a:pt x="49" y="9564"/>
                  <a:pt x="40" y="9554"/>
                  <a:pt x="33" y="9543"/>
                </a:cubicBezTo>
                <a:cubicBezTo>
                  <a:pt x="26" y="9533"/>
                  <a:pt x="20" y="9521"/>
                  <a:pt x="15" y="9509"/>
                </a:cubicBezTo>
                <a:cubicBezTo>
                  <a:pt x="10" y="9497"/>
                  <a:pt x="6" y="9485"/>
                  <a:pt x="4" y="9472"/>
                </a:cubicBezTo>
                <a:cubicBezTo>
                  <a:pt x="1" y="9459"/>
                  <a:pt x="0" y="9446"/>
                  <a:pt x="0" y="9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666720" y="958680"/>
            <a:ext cx="498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Reintentos con backoff exponencial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866880" y="178452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urllib3.util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Retry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866880" y="2051280"/>
            <a:ext cx="4477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requests.adapters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HTTPAdapter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866880" y="257508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politica = Retry(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866880" y="2832480"/>
            <a:ext cx="1310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total=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866880" y="309924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backoff_factor=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1s, 2s, 4s, 8s, 16s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3356280"/>
            <a:ext cx="5133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status_forcelist=[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429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504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3623040"/>
            <a:ext cx="6988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allowed_methods=[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"GET"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],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sólo lo idempotente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3880080"/>
            <a:ext cx="8298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respect_retry_after_header=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True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obedece lo que pide el servidor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866880" y="41468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866880" y="440388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sesion = requests.Session()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866880" y="4670640"/>
            <a:ext cx="6442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sesion.mount(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"https://"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HTTPAdapter(max_retries=politica))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666720" y="5268600"/>
            <a:ext cx="10829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Backoﬀ exponencial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esperas cada vez más. Reintentar de inmediato empeora el problema — el servidor ya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666720" y="5611680"/>
            <a:ext cx="254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 estaba pidiendo calma.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Forma libre 5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671400" y="195732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671400" y="1957320"/>
            <a:ext cx="10849320" cy="847800"/>
          </a:xfrm>
          <a:custGeom>
            <a:avLst/>
            <a:gdLst/>
            <a:ahLst/>
            <a:cxnLst/>
            <a:rect l="0" t="0" r="r" b="b"/>
            <a:pathLst>
              <a:path w="30137" h="2355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5"/>
                  <a:pt x="29938" y="2355"/>
                </a:cubicBezTo>
                <a:lnTo>
                  <a:pt x="198" y="2355"/>
                </a:lnTo>
                <a:cubicBezTo>
                  <a:pt x="185" y="2355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66720" y="46386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666720" y="46386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666720" y="1320480"/>
            <a:ext cx="5165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Caché: no pidas dos veces lo mismo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866880" y="2136960"/>
            <a:ext cx="2293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requests_cache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866880" y="2403720"/>
            <a:ext cx="7315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requests_cache.install_cache(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"pubmed"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expire_after=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86400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24 h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666720" y="3001680"/>
            <a:ext cx="1015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Mientras depuras, vas a correr el mismo script veinte veces. Con caché: la primera va a la red, las otras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666720" y="3344760"/>
            <a:ext cx="2833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diecinueve son instantáneas.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666720" y="3840120"/>
            <a:ext cx="1072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Además de ser cortés, te hace reproducible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guardas el crudo en disco y el análisis deja de depender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666720" y="4182840"/>
            <a:ext cx="2558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el servicio esté arriba.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905040" y="4792680"/>
            <a:ext cx="9806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Y respeta los términos de uso. Las APIs públicas biomédicas son gratuitas porque la comunidad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905040" y="5135400"/>
            <a:ext cx="1474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abusa de ellas.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Forma libre 5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3930840" y="3063960"/>
            <a:ext cx="4426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APIs biomédicas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Forma libre 5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76080" y="2257200"/>
            <a:ext cx="2048400" cy="410040"/>
          </a:xfrm>
          <a:custGeom>
            <a:avLst/>
            <a:gdLst/>
            <a:ahLst/>
            <a:cxnLst/>
            <a:rect l="0" t="0" r="r" b="b"/>
            <a:pathLst>
              <a:path w="5690" h="1139">
                <a:moveTo>
                  <a:pt x="0" y="0"/>
                </a:moveTo>
                <a:lnTo>
                  <a:pt x="5690" y="0"/>
                </a:lnTo>
                <a:lnTo>
                  <a:pt x="569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2724120" y="225720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5895720" y="2257200"/>
            <a:ext cx="2829240" cy="410040"/>
          </a:xfrm>
          <a:custGeom>
            <a:avLst/>
            <a:gdLst/>
            <a:ahLst/>
            <a:cxnLst/>
            <a:rect l="0" t="0" r="r" b="b"/>
            <a:pathLst>
              <a:path w="7859" h="1139">
                <a:moveTo>
                  <a:pt x="0" y="0"/>
                </a:moveTo>
                <a:lnTo>
                  <a:pt x="7859" y="0"/>
                </a:lnTo>
                <a:lnTo>
                  <a:pt x="78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676080" y="2257200"/>
            <a:ext cx="2048400" cy="410040"/>
          </a:xfrm>
          <a:custGeom>
            <a:avLst/>
            <a:gdLst/>
            <a:ahLst/>
            <a:cxnLst/>
            <a:rect l="0" t="0" r="r" b="b"/>
            <a:pathLst>
              <a:path w="5690" h="1139">
                <a:moveTo>
                  <a:pt x="0" y="0"/>
                </a:moveTo>
                <a:lnTo>
                  <a:pt x="5690" y="0"/>
                </a:lnTo>
                <a:lnTo>
                  <a:pt x="569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2724120" y="225720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5895720" y="2257200"/>
            <a:ext cx="2829240" cy="410040"/>
          </a:xfrm>
          <a:custGeom>
            <a:avLst/>
            <a:gdLst/>
            <a:ahLst/>
            <a:cxnLst/>
            <a:rect l="0" t="0" r="r" b="b"/>
            <a:pathLst>
              <a:path w="7859" h="1139">
                <a:moveTo>
                  <a:pt x="0" y="0"/>
                </a:moveTo>
                <a:lnTo>
                  <a:pt x="7859" y="0"/>
                </a:lnTo>
                <a:lnTo>
                  <a:pt x="785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676080" y="2666880"/>
            <a:ext cx="2048400" cy="419400"/>
          </a:xfrm>
          <a:custGeom>
            <a:avLst/>
            <a:gdLst/>
            <a:ahLst/>
            <a:cxnLst/>
            <a:rect l="0" t="0" r="r" b="b"/>
            <a:pathLst>
              <a:path w="5690" h="1165">
                <a:moveTo>
                  <a:pt x="0" y="0"/>
                </a:moveTo>
                <a:lnTo>
                  <a:pt x="5690" y="0"/>
                </a:lnTo>
                <a:lnTo>
                  <a:pt x="5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2724120" y="2666880"/>
            <a:ext cx="3171960" cy="419400"/>
          </a:xfrm>
          <a:custGeom>
            <a:avLst/>
            <a:gdLst/>
            <a:ahLst/>
            <a:cxnLst/>
            <a:rect l="0" t="0" r="r" b="b"/>
            <a:pathLst>
              <a:path w="8811" h="1165">
                <a:moveTo>
                  <a:pt x="0" y="0"/>
                </a:moveTo>
                <a:lnTo>
                  <a:pt x="8811" y="0"/>
                </a:lnTo>
                <a:lnTo>
                  <a:pt x="8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5895720" y="2666880"/>
            <a:ext cx="2829240" cy="419400"/>
          </a:xfrm>
          <a:custGeom>
            <a:avLst/>
            <a:gdLst/>
            <a:ahLst/>
            <a:cxnLst/>
            <a:rect l="0" t="0" r="r" b="b"/>
            <a:pathLst>
              <a:path w="7859" h="1165">
                <a:moveTo>
                  <a:pt x="0" y="0"/>
                </a:moveTo>
                <a:lnTo>
                  <a:pt x="7859" y="0"/>
                </a:lnTo>
                <a:lnTo>
                  <a:pt x="785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676080" y="3085920"/>
            <a:ext cx="2048400" cy="419400"/>
          </a:xfrm>
          <a:custGeom>
            <a:avLst/>
            <a:gdLst/>
            <a:ahLst/>
            <a:cxnLst/>
            <a:rect l="0" t="0" r="r" b="b"/>
            <a:pathLst>
              <a:path w="5690" h="1165">
                <a:moveTo>
                  <a:pt x="0" y="0"/>
                </a:moveTo>
                <a:lnTo>
                  <a:pt x="5690" y="0"/>
                </a:lnTo>
                <a:lnTo>
                  <a:pt x="5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2724120" y="3085920"/>
            <a:ext cx="3171960" cy="419400"/>
          </a:xfrm>
          <a:custGeom>
            <a:avLst/>
            <a:gdLst/>
            <a:ahLst/>
            <a:cxnLst/>
            <a:rect l="0" t="0" r="r" b="b"/>
            <a:pathLst>
              <a:path w="8811" h="1165">
                <a:moveTo>
                  <a:pt x="0" y="0"/>
                </a:moveTo>
                <a:lnTo>
                  <a:pt x="8811" y="0"/>
                </a:lnTo>
                <a:lnTo>
                  <a:pt x="8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5895720" y="3085920"/>
            <a:ext cx="2829240" cy="419400"/>
          </a:xfrm>
          <a:custGeom>
            <a:avLst/>
            <a:gdLst/>
            <a:ahLst/>
            <a:cxnLst/>
            <a:rect l="0" t="0" r="r" b="b"/>
            <a:pathLst>
              <a:path w="7859" h="1165">
                <a:moveTo>
                  <a:pt x="0" y="0"/>
                </a:moveTo>
                <a:lnTo>
                  <a:pt x="7859" y="0"/>
                </a:lnTo>
                <a:lnTo>
                  <a:pt x="785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676080" y="3504960"/>
            <a:ext cx="2048400" cy="419400"/>
          </a:xfrm>
          <a:custGeom>
            <a:avLst/>
            <a:gdLst/>
            <a:ahLst/>
            <a:cxnLst/>
            <a:rect l="0" t="0" r="r" b="b"/>
            <a:pathLst>
              <a:path w="5690" h="1165">
                <a:moveTo>
                  <a:pt x="0" y="0"/>
                </a:moveTo>
                <a:lnTo>
                  <a:pt x="5690" y="0"/>
                </a:lnTo>
                <a:lnTo>
                  <a:pt x="5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2724120" y="3504960"/>
            <a:ext cx="3171960" cy="419400"/>
          </a:xfrm>
          <a:custGeom>
            <a:avLst/>
            <a:gdLst/>
            <a:ahLst/>
            <a:cxnLst/>
            <a:rect l="0" t="0" r="r" b="b"/>
            <a:pathLst>
              <a:path w="8811" h="1165">
                <a:moveTo>
                  <a:pt x="0" y="0"/>
                </a:moveTo>
                <a:lnTo>
                  <a:pt x="8811" y="0"/>
                </a:lnTo>
                <a:lnTo>
                  <a:pt x="8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5895720" y="3504960"/>
            <a:ext cx="2829240" cy="419400"/>
          </a:xfrm>
          <a:custGeom>
            <a:avLst/>
            <a:gdLst/>
            <a:ahLst/>
            <a:cxnLst/>
            <a:rect l="0" t="0" r="r" b="b"/>
            <a:pathLst>
              <a:path w="7859" h="1165">
                <a:moveTo>
                  <a:pt x="0" y="0"/>
                </a:moveTo>
                <a:lnTo>
                  <a:pt x="7859" y="0"/>
                </a:lnTo>
                <a:lnTo>
                  <a:pt x="785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676080" y="3924000"/>
            <a:ext cx="2048400" cy="419400"/>
          </a:xfrm>
          <a:custGeom>
            <a:avLst/>
            <a:gdLst/>
            <a:ahLst/>
            <a:cxnLst/>
            <a:rect l="0" t="0" r="r" b="b"/>
            <a:pathLst>
              <a:path w="5690" h="1165">
                <a:moveTo>
                  <a:pt x="0" y="0"/>
                </a:moveTo>
                <a:lnTo>
                  <a:pt x="5690" y="0"/>
                </a:lnTo>
                <a:lnTo>
                  <a:pt x="569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2724120" y="3924000"/>
            <a:ext cx="3171960" cy="419400"/>
          </a:xfrm>
          <a:custGeom>
            <a:avLst/>
            <a:gdLst/>
            <a:ahLst/>
            <a:cxnLst/>
            <a:rect l="0" t="0" r="r" b="b"/>
            <a:pathLst>
              <a:path w="8811" h="1165">
                <a:moveTo>
                  <a:pt x="0" y="0"/>
                </a:moveTo>
                <a:lnTo>
                  <a:pt x="8811" y="0"/>
                </a:lnTo>
                <a:lnTo>
                  <a:pt x="8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5895720" y="3924000"/>
            <a:ext cx="2829240" cy="419400"/>
          </a:xfrm>
          <a:custGeom>
            <a:avLst/>
            <a:gdLst/>
            <a:ahLst/>
            <a:cxnLst/>
            <a:rect l="0" t="0" r="r" b="b"/>
            <a:pathLst>
              <a:path w="7859" h="1165">
                <a:moveTo>
                  <a:pt x="0" y="0"/>
                </a:moveTo>
                <a:lnTo>
                  <a:pt x="7859" y="0"/>
                </a:lnTo>
                <a:lnTo>
                  <a:pt x="785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76080" y="4343040"/>
            <a:ext cx="2048400" cy="419760"/>
          </a:xfrm>
          <a:custGeom>
            <a:avLst/>
            <a:gdLst/>
            <a:ahLst/>
            <a:cxnLst/>
            <a:rect l="0" t="0" r="r" b="b"/>
            <a:pathLst>
              <a:path w="5690" h="1166">
                <a:moveTo>
                  <a:pt x="0" y="0"/>
                </a:moveTo>
                <a:lnTo>
                  <a:pt x="5690" y="0"/>
                </a:lnTo>
                <a:lnTo>
                  <a:pt x="569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2724120" y="4343040"/>
            <a:ext cx="3171960" cy="419760"/>
          </a:xfrm>
          <a:custGeom>
            <a:avLst/>
            <a:gdLst/>
            <a:ahLst/>
            <a:cxnLst/>
            <a:rect l="0" t="0" r="r" b="b"/>
            <a:pathLst>
              <a:path w="8811" h="1166">
                <a:moveTo>
                  <a:pt x="0" y="0"/>
                </a:moveTo>
                <a:lnTo>
                  <a:pt x="8811" y="0"/>
                </a:lnTo>
                <a:lnTo>
                  <a:pt x="881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5895720" y="4343040"/>
            <a:ext cx="2829240" cy="419760"/>
          </a:xfrm>
          <a:custGeom>
            <a:avLst/>
            <a:gdLst/>
            <a:ahLst/>
            <a:cxnLst/>
            <a:rect l="0" t="0" r="r" b="b"/>
            <a:pathLst>
              <a:path w="7859" h="1166">
                <a:moveTo>
                  <a:pt x="0" y="0"/>
                </a:moveTo>
                <a:lnTo>
                  <a:pt x="7859" y="0"/>
                </a:lnTo>
                <a:lnTo>
                  <a:pt x="785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666720" y="2247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666720" y="2247840"/>
            <a:ext cx="2057760" cy="9720"/>
          </a:xfrm>
          <a:custGeom>
            <a:avLst/>
            <a:gdLst/>
            <a:ahLst/>
            <a:cxnLst/>
            <a:rect l="0" t="0" r="r" b="b"/>
            <a:pathLst>
              <a:path w="5716" h="27">
                <a:moveTo>
                  <a:pt x="0" y="0"/>
                </a:moveTo>
                <a:lnTo>
                  <a:pt x="5716" y="0"/>
                </a:lnTo>
                <a:lnTo>
                  <a:pt x="5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2714400" y="2247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2724120" y="2247840"/>
            <a:ext cx="3171960" cy="9720"/>
          </a:xfrm>
          <a:custGeom>
            <a:avLst/>
            <a:gdLst/>
            <a:ahLst/>
            <a:cxnLst/>
            <a:rect l="0" t="0" r="r" b="b"/>
            <a:pathLst>
              <a:path w="8811" h="27">
                <a:moveTo>
                  <a:pt x="0" y="0"/>
                </a:moveTo>
                <a:lnTo>
                  <a:pt x="8811" y="0"/>
                </a:lnTo>
                <a:lnTo>
                  <a:pt x="8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5886360" y="2247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5895720" y="2247840"/>
            <a:ext cx="2838960" cy="9720"/>
          </a:xfrm>
          <a:custGeom>
            <a:avLst/>
            <a:gdLst/>
            <a:ahLst/>
            <a:cxn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Forma libre 579"/>
          <p:cNvSpPr/>
          <p:nvPr/>
        </p:nvSpPr>
        <p:spPr>
          <a:xfrm>
            <a:off x="8724600" y="2247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666720" y="2657160"/>
            <a:ext cx="2057760" cy="10080"/>
          </a:xfrm>
          <a:custGeom>
            <a:avLst/>
            <a:gdLst/>
            <a:ahLst/>
            <a:cxnLst/>
            <a:rect l="0" t="0" r="r" b="b"/>
            <a:pathLst>
              <a:path w="5716" h="28">
                <a:moveTo>
                  <a:pt x="0" y="0"/>
                </a:moveTo>
                <a:lnTo>
                  <a:pt x="5716" y="0"/>
                </a:lnTo>
                <a:lnTo>
                  <a:pt x="5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2724120" y="2657160"/>
            <a:ext cx="3171960" cy="10080"/>
          </a:xfrm>
          <a:custGeom>
            <a:avLst/>
            <a:gdLst/>
            <a:ahLst/>
            <a:cxnLst/>
            <a:rect l="0" t="0" r="r" b="b"/>
            <a:pathLst>
              <a:path w="8811" h="28">
                <a:moveTo>
                  <a:pt x="0" y="0"/>
                </a:moveTo>
                <a:lnTo>
                  <a:pt x="8811" y="0"/>
                </a:lnTo>
                <a:lnTo>
                  <a:pt x="8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5895720" y="2657160"/>
            <a:ext cx="2838960" cy="10080"/>
          </a:xfrm>
          <a:custGeom>
            <a:avLst/>
            <a:gdLst/>
            <a:ahLst/>
            <a:cxnLst/>
            <a:rect l="0" t="0" r="r" b="b"/>
            <a:pathLst>
              <a:path w="7886" h="28">
                <a:moveTo>
                  <a:pt x="0" y="0"/>
                </a:moveTo>
                <a:lnTo>
                  <a:pt x="7886" y="0"/>
                </a:lnTo>
                <a:lnTo>
                  <a:pt x="7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66672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271440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5886360" y="26668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Forma libre 586"/>
          <p:cNvSpPr/>
          <p:nvPr/>
        </p:nvSpPr>
        <p:spPr>
          <a:xfrm>
            <a:off x="8724600" y="26668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66672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666720" y="3076560"/>
            <a:ext cx="2057760" cy="9720"/>
          </a:xfrm>
          <a:custGeom>
            <a:avLst/>
            <a:gdLst/>
            <a:ahLst/>
            <a:cxnLst/>
            <a:rect l="0" t="0" r="r" b="b"/>
            <a:pathLst>
              <a:path w="5716" h="27">
                <a:moveTo>
                  <a:pt x="0" y="0"/>
                </a:moveTo>
                <a:lnTo>
                  <a:pt x="5716" y="0"/>
                </a:lnTo>
                <a:lnTo>
                  <a:pt x="5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271440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Forma libre 590"/>
          <p:cNvSpPr/>
          <p:nvPr/>
        </p:nvSpPr>
        <p:spPr>
          <a:xfrm>
            <a:off x="2724120" y="3076560"/>
            <a:ext cx="3171960" cy="9720"/>
          </a:xfrm>
          <a:custGeom>
            <a:avLst/>
            <a:gdLst/>
            <a:ahLst/>
            <a:cxnLst/>
            <a:rect l="0" t="0" r="r" b="b"/>
            <a:pathLst>
              <a:path w="8811" h="27">
                <a:moveTo>
                  <a:pt x="0" y="0"/>
                </a:moveTo>
                <a:lnTo>
                  <a:pt x="8811" y="0"/>
                </a:lnTo>
                <a:lnTo>
                  <a:pt x="8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5886360" y="30859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Forma libre 592"/>
          <p:cNvSpPr/>
          <p:nvPr/>
        </p:nvSpPr>
        <p:spPr>
          <a:xfrm>
            <a:off x="5895720" y="3076560"/>
            <a:ext cx="2838960" cy="9720"/>
          </a:xfrm>
          <a:custGeom>
            <a:avLst/>
            <a:gdLst/>
            <a:ahLst/>
            <a:cxn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8724600" y="30859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66672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666720" y="3495600"/>
            <a:ext cx="2057760" cy="9720"/>
          </a:xfrm>
          <a:custGeom>
            <a:avLst/>
            <a:gdLst/>
            <a:ahLst/>
            <a:cxnLst/>
            <a:rect l="0" t="0" r="r" b="b"/>
            <a:pathLst>
              <a:path w="5716" h="27">
                <a:moveTo>
                  <a:pt x="0" y="0"/>
                </a:moveTo>
                <a:lnTo>
                  <a:pt x="5716" y="0"/>
                </a:lnTo>
                <a:lnTo>
                  <a:pt x="5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271440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2724120" y="3495600"/>
            <a:ext cx="3171960" cy="9720"/>
          </a:xfrm>
          <a:custGeom>
            <a:avLst/>
            <a:gdLst/>
            <a:ahLst/>
            <a:cxnLst/>
            <a:rect l="0" t="0" r="r" b="b"/>
            <a:pathLst>
              <a:path w="8811" h="27">
                <a:moveTo>
                  <a:pt x="0" y="0"/>
                </a:moveTo>
                <a:lnTo>
                  <a:pt x="8811" y="0"/>
                </a:lnTo>
                <a:lnTo>
                  <a:pt x="8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Forma libre 598"/>
          <p:cNvSpPr/>
          <p:nvPr/>
        </p:nvSpPr>
        <p:spPr>
          <a:xfrm>
            <a:off x="5886360" y="35049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5895720" y="3495600"/>
            <a:ext cx="2838960" cy="9720"/>
          </a:xfrm>
          <a:custGeom>
            <a:avLst/>
            <a:gdLst/>
            <a:ahLst/>
            <a:cxn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Forma libre 600"/>
          <p:cNvSpPr/>
          <p:nvPr/>
        </p:nvSpPr>
        <p:spPr>
          <a:xfrm>
            <a:off x="8724600" y="35049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66672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666720" y="3914640"/>
            <a:ext cx="2057760" cy="9720"/>
          </a:xfrm>
          <a:custGeom>
            <a:avLst/>
            <a:gdLst/>
            <a:ahLst/>
            <a:cxnLst/>
            <a:rect l="0" t="0" r="r" b="b"/>
            <a:pathLst>
              <a:path w="5716" h="27">
                <a:moveTo>
                  <a:pt x="0" y="0"/>
                </a:moveTo>
                <a:lnTo>
                  <a:pt x="5716" y="0"/>
                </a:lnTo>
                <a:lnTo>
                  <a:pt x="5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271440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2724120" y="3914640"/>
            <a:ext cx="3171960" cy="9720"/>
          </a:xfrm>
          <a:custGeom>
            <a:avLst/>
            <a:gdLst/>
            <a:ahLst/>
            <a:cxnLst/>
            <a:rect l="0" t="0" r="r" b="b"/>
            <a:pathLst>
              <a:path w="8811" h="27">
                <a:moveTo>
                  <a:pt x="0" y="0"/>
                </a:moveTo>
                <a:lnTo>
                  <a:pt x="8811" y="0"/>
                </a:lnTo>
                <a:lnTo>
                  <a:pt x="8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5886360" y="39240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5895720" y="3914640"/>
            <a:ext cx="2838960" cy="9720"/>
          </a:xfrm>
          <a:custGeom>
            <a:avLst/>
            <a:gdLst/>
            <a:ahLst/>
            <a:cxn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8724600" y="39240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Forma libre 608"/>
          <p:cNvSpPr/>
          <p:nvPr/>
        </p:nvSpPr>
        <p:spPr>
          <a:xfrm>
            <a:off x="666720" y="43430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666720" y="4333680"/>
            <a:ext cx="2057760" cy="9720"/>
          </a:xfrm>
          <a:custGeom>
            <a:avLst/>
            <a:gdLst/>
            <a:ahLst/>
            <a:cxnLst/>
            <a:rect l="0" t="0" r="r" b="b"/>
            <a:pathLst>
              <a:path w="5716" h="27">
                <a:moveTo>
                  <a:pt x="0" y="0"/>
                </a:moveTo>
                <a:lnTo>
                  <a:pt x="5716" y="0"/>
                </a:lnTo>
                <a:lnTo>
                  <a:pt x="5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2714400" y="43430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2724120" y="4333680"/>
            <a:ext cx="3171960" cy="9720"/>
          </a:xfrm>
          <a:custGeom>
            <a:avLst/>
            <a:gdLst/>
            <a:ahLst/>
            <a:cxnLst/>
            <a:rect l="0" t="0" r="r" b="b"/>
            <a:pathLst>
              <a:path w="8811" h="27">
                <a:moveTo>
                  <a:pt x="0" y="0"/>
                </a:moveTo>
                <a:lnTo>
                  <a:pt x="8811" y="0"/>
                </a:lnTo>
                <a:lnTo>
                  <a:pt x="8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Forma libre 612"/>
          <p:cNvSpPr/>
          <p:nvPr/>
        </p:nvSpPr>
        <p:spPr>
          <a:xfrm>
            <a:off x="5886360" y="43430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5895720" y="4333680"/>
            <a:ext cx="2838960" cy="9720"/>
          </a:xfrm>
          <a:custGeom>
            <a:avLst/>
            <a:gdLst/>
            <a:ahLst/>
            <a:cxn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orma libre 614"/>
          <p:cNvSpPr/>
          <p:nvPr/>
        </p:nvSpPr>
        <p:spPr>
          <a:xfrm>
            <a:off x="8724600" y="43430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orma libre 615"/>
          <p:cNvSpPr/>
          <p:nvPr/>
        </p:nvSpPr>
        <p:spPr>
          <a:xfrm>
            <a:off x="666720" y="4752720"/>
            <a:ext cx="2057760" cy="10080"/>
          </a:xfrm>
          <a:custGeom>
            <a:avLst/>
            <a:gdLst/>
            <a:ahLst/>
            <a:cxnLst/>
            <a:rect l="0" t="0" r="r" b="b"/>
            <a:pathLst>
              <a:path w="5716" h="28">
                <a:moveTo>
                  <a:pt x="0" y="0"/>
                </a:moveTo>
                <a:lnTo>
                  <a:pt x="5716" y="0"/>
                </a:lnTo>
                <a:lnTo>
                  <a:pt x="5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Forma libre 616"/>
          <p:cNvSpPr/>
          <p:nvPr/>
        </p:nvSpPr>
        <p:spPr>
          <a:xfrm>
            <a:off x="2724120" y="4752720"/>
            <a:ext cx="3171960" cy="10080"/>
          </a:xfrm>
          <a:custGeom>
            <a:avLst/>
            <a:gdLst/>
            <a:ahLst/>
            <a:cxnLst/>
            <a:rect l="0" t="0" r="r" b="b"/>
            <a:pathLst>
              <a:path w="8811" h="28">
                <a:moveTo>
                  <a:pt x="0" y="0"/>
                </a:moveTo>
                <a:lnTo>
                  <a:pt x="8811" y="0"/>
                </a:lnTo>
                <a:lnTo>
                  <a:pt x="8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Forma libre 617"/>
          <p:cNvSpPr/>
          <p:nvPr/>
        </p:nvSpPr>
        <p:spPr>
          <a:xfrm>
            <a:off x="5895720" y="4752720"/>
            <a:ext cx="2838960" cy="10080"/>
          </a:xfrm>
          <a:custGeom>
            <a:avLst/>
            <a:gdLst/>
            <a:ahLst/>
            <a:cxnLst/>
            <a:rect l="0" t="0" r="r" b="b"/>
            <a:pathLst>
              <a:path w="7886" h="28">
                <a:moveTo>
                  <a:pt x="0" y="0"/>
                </a:moveTo>
                <a:lnTo>
                  <a:pt x="7886" y="0"/>
                </a:lnTo>
                <a:lnTo>
                  <a:pt x="7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666720" y="1615680"/>
            <a:ext cx="5143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catálogo que vale la pena conocer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1540800" y="2352240"/>
            <a:ext cx="3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API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3870360" y="2352240"/>
            <a:ext cx="879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te 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7093440" y="2352240"/>
            <a:ext cx="434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Nota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799920" y="2761920"/>
            <a:ext cx="138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NCBI E-utilities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2852280" y="2761920"/>
            <a:ext cx="2253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PubMed, GenBank, ClinVar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6024240" y="2761920"/>
            <a:ext cx="1235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llave gratuita: 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7354859" y="2750549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CuadroTexto 626"/>
          <p:cNvSpPr txBox="1"/>
          <p:nvPr/>
        </p:nvSpPr>
        <p:spPr>
          <a:xfrm>
            <a:off x="7686540" y="2750040"/>
            <a:ext cx="685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 </a:t>
            </a:r>
            <a:r>
              <a:rPr lang="es-ES" sz="15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pet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/s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799920" y="3180960"/>
            <a:ext cx="1813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ClinicalTrials.gov v2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2852280" y="3180960"/>
            <a:ext cx="1334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ensayos clínicos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6024240" y="3180960"/>
            <a:ext cx="2029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JSON moderno, sin llave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799920" y="3600000"/>
            <a:ext cx="840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openFDA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2852280" y="3600000"/>
            <a:ext cx="2918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eventos adversos, etiquetas, recalls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uadroTexto 632"/>
          <p:cNvSpPr txBox="1"/>
          <p:nvPr/>
        </p:nvSpPr>
        <p:spPr>
          <a:xfrm>
            <a:off x="6024240" y="3600000"/>
            <a:ext cx="2004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 llave para uso básico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799920" y="4019040"/>
            <a:ext cx="1182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RxNav (NLM)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2852280" y="4019040"/>
            <a:ext cx="2541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normalizar fármacos a RxNorm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6024240" y="4019040"/>
            <a:ext cx="188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insumo de la sesión 15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799920" y="4438440"/>
            <a:ext cx="861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HL7 FHIR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CuadroTexto 637"/>
          <p:cNvSpPr txBox="1"/>
          <p:nvPr/>
        </p:nvSpPr>
        <p:spPr>
          <a:xfrm>
            <a:off x="2852280" y="4438440"/>
            <a:ext cx="1655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clínicos reales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6024240" y="4438440"/>
            <a:ext cx="2576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estándar de interoperabilidad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666720" y="4976280"/>
            <a:ext cx="63158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Práctica sin credenciales: el servidor público de pruebas de HAPI FHIR.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Forma libre 6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Forma libre 6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Forma libre 6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Forma libre 674"/>
          <p:cNvSpPr/>
          <p:nvPr/>
        </p:nvSpPr>
        <p:spPr>
          <a:xfrm>
            <a:off x="4743360" y="255240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6"/>
                </a:cubicBezTo>
                <a:cubicBezTo>
                  <a:pt x="2591" y="79"/>
                  <a:pt x="2594" y="92"/>
                  <a:pt x="2594" y="106"/>
                </a:cubicBezTo>
                <a:lnTo>
                  <a:pt x="2594" y="635"/>
                </a:lnTo>
                <a:cubicBezTo>
                  <a:pt x="2594" y="649"/>
                  <a:pt x="2591" y="663"/>
                  <a:pt x="2586" y="676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CuadroTexto 675"/>
          <p:cNvSpPr txBox="1"/>
          <p:nvPr/>
        </p:nvSpPr>
        <p:spPr>
          <a:xfrm>
            <a:off x="869760" y="2535120"/>
            <a:ext cx="3903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líneas que nunca se omiten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4804920" y="25725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timeout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Forma libre 677"/>
          <p:cNvSpPr/>
          <p:nvPr/>
        </p:nvSpPr>
        <p:spPr>
          <a:xfrm>
            <a:off x="5810040" y="2552400"/>
            <a:ext cx="2219760" cy="267120"/>
          </a:xfrm>
          <a:custGeom>
            <a:avLst/>
            <a:gdLst/>
            <a:ahLst/>
            <a:cxnLst/>
            <a:rect l="0" t="0" r="r" b="b"/>
            <a:pathLst>
              <a:path w="6166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060" y="0"/>
                </a:lnTo>
                <a:cubicBezTo>
                  <a:pt x="6074" y="0"/>
                  <a:pt x="6088" y="3"/>
                  <a:pt x="6101" y="8"/>
                </a:cubicBezTo>
                <a:cubicBezTo>
                  <a:pt x="6114" y="14"/>
                  <a:pt x="6125" y="21"/>
                  <a:pt x="6135" y="31"/>
                </a:cubicBezTo>
                <a:cubicBezTo>
                  <a:pt x="6145" y="41"/>
                  <a:pt x="6152" y="53"/>
                  <a:pt x="6158" y="66"/>
                </a:cubicBezTo>
                <a:cubicBezTo>
                  <a:pt x="6163" y="79"/>
                  <a:pt x="6166" y="92"/>
                  <a:pt x="6166" y="106"/>
                </a:cubicBezTo>
                <a:lnTo>
                  <a:pt x="6166" y="635"/>
                </a:lnTo>
                <a:cubicBezTo>
                  <a:pt x="6166" y="649"/>
                  <a:pt x="6163" y="663"/>
                  <a:pt x="6158" y="676"/>
                </a:cubicBezTo>
                <a:cubicBezTo>
                  <a:pt x="6152" y="690"/>
                  <a:pt x="6145" y="701"/>
                  <a:pt x="6135" y="711"/>
                </a:cubicBezTo>
                <a:cubicBezTo>
                  <a:pt x="6125" y="721"/>
                  <a:pt x="6114" y="729"/>
                  <a:pt x="6101" y="734"/>
                </a:cubicBezTo>
                <a:cubicBezTo>
                  <a:pt x="6088" y="739"/>
                  <a:pt x="6074" y="742"/>
                  <a:pt x="606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5681160" y="25351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CuadroTexto 679"/>
          <p:cNvSpPr txBox="1"/>
          <p:nvPr/>
        </p:nvSpPr>
        <p:spPr>
          <a:xfrm>
            <a:off x="5865480" y="2572560"/>
            <a:ext cx="21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raise_for_status()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Forma libre 680"/>
          <p:cNvSpPr/>
          <p:nvPr/>
        </p:nvSpPr>
        <p:spPr>
          <a:xfrm>
            <a:off x="8258040" y="255240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6"/>
                </a:cubicBezTo>
                <a:cubicBezTo>
                  <a:pt x="2591" y="79"/>
                  <a:pt x="2594" y="92"/>
                  <a:pt x="2594" y="106"/>
                </a:cubicBezTo>
                <a:lnTo>
                  <a:pt x="2594" y="635"/>
                </a:lnTo>
                <a:cubicBezTo>
                  <a:pt x="2594" y="649"/>
                  <a:pt x="2591" y="663"/>
                  <a:pt x="2586" y="676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CuadroTexto 681"/>
          <p:cNvSpPr txBox="1"/>
          <p:nvPr/>
        </p:nvSpPr>
        <p:spPr>
          <a:xfrm>
            <a:off x="8028360" y="253512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CuadroTexto 682"/>
          <p:cNvSpPr txBox="1"/>
          <p:nvPr/>
        </p:nvSpPr>
        <p:spPr>
          <a:xfrm>
            <a:off x="8318520" y="25725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params=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CuadroTexto 683"/>
          <p:cNvSpPr txBox="1"/>
          <p:nvPr/>
        </p:nvSpPr>
        <p:spPr>
          <a:xfrm>
            <a:off x="9194760" y="2535120"/>
            <a:ext cx="1668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Los tres olvidos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CuadroTexto 684"/>
          <p:cNvSpPr txBox="1"/>
          <p:nvPr/>
        </p:nvSpPr>
        <p:spPr>
          <a:xfrm>
            <a:off x="1123920" y="2877840"/>
            <a:ext cx="2300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clásicos, los tres caros.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Forma libre 685"/>
          <p:cNvSpPr/>
          <p:nvPr/>
        </p:nvSpPr>
        <p:spPr>
          <a:xfrm>
            <a:off x="9172440" y="3390840"/>
            <a:ext cx="1400400" cy="266760"/>
          </a:xfrm>
          <a:custGeom>
            <a:avLst/>
            <a:gdLst/>
            <a:ahLst/>
            <a:cxnLst/>
            <a:rect l="0" t="0" r="r" b="b"/>
            <a:pathLst>
              <a:path w="389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784" y="0"/>
                </a:lnTo>
                <a:cubicBezTo>
                  <a:pt x="3798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8" y="78"/>
                  <a:pt x="3890" y="91"/>
                  <a:pt x="3890" y="105"/>
                </a:cubicBezTo>
                <a:lnTo>
                  <a:pt x="3890" y="636"/>
                </a:lnTo>
                <a:cubicBezTo>
                  <a:pt x="3890" y="650"/>
                  <a:pt x="3888" y="663"/>
                  <a:pt x="3882" y="676"/>
                </a:cubicBezTo>
                <a:cubicBezTo>
                  <a:pt x="3877" y="689"/>
                  <a:pt x="3869" y="701"/>
                  <a:pt x="3859" y="711"/>
                </a:cubicBezTo>
                <a:cubicBezTo>
                  <a:pt x="3849" y="720"/>
                  <a:pt x="3838" y="728"/>
                  <a:pt x="3825" y="733"/>
                </a:cubicBezTo>
                <a:cubicBezTo>
                  <a:pt x="3812" y="739"/>
                  <a:pt x="3798" y="741"/>
                  <a:pt x="3784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CuadroTexto 686"/>
          <p:cNvSpPr txBox="1"/>
          <p:nvPr/>
        </p:nvSpPr>
        <p:spPr>
          <a:xfrm>
            <a:off x="869760" y="3373200"/>
            <a:ext cx="8337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429 no es un error, es una petición de cortesía.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Backoff exponencial, respeta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CuadroTexto 687"/>
          <p:cNvSpPr txBox="1"/>
          <p:nvPr/>
        </p:nvSpPr>
        <p:spPr>
          <a:xfrm>
            <a:off x="9230760" y="341064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Retry-After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CuadroTexto 688"/>
          <p:cNvSpPr txBox="1"/>
          <p:nvPr/>
        </p:nvSpPr>
        <p:spPr>
          <a:xfrm>
            <a:off x="10575000" y="337320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CuadroTexto 689"/>
          <p:cNvSpPr txBox="1"/>
          <p:nvPr/>
        </p:nvSpPr>
        <p:spPr>
          <a:xfrm>
            <a:off x="1123920" y="3716280"/>
            <a:ext cx="418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cachea para no pedir dos veces lo mismo.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CuadroTexto 69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CuadroTexto 69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Forma libre 6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Forma libre 6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Forma libre 6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CuadroTexto 698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666720" y="2717280"/>
            <a:ext cx="4241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Cliente para APIs biomédicas públicas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CuadroTexto 700"/>
          <p:cNvSpPr txBox="1"/>
          <p:nvPr/>
        </p:nvSpPr>
        <p:spPr>
          <a:xfrm>
            <a:off x="666720" y="3230280"/>
            <a:ext cx="10240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Consultar PubMed, ClinicalTrials.gov y openFDA con un cliente propio: timeouts, reintentos con backoff,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666720" y="3573360"/>
            <a:ext cx="9387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caché en disco, validación con Pydantic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pruebas que corren sin conexión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(todo simulado).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Forma libre 702"/>
          <p:cNvSpPr/>
          <p:nvPr/>
        </p:nvSpPr>
        <p:spPr>
          <a:xfrm>
            <a:off x="2781000" y="408600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1" y="3"/>
                  <a:pt x="3164" y="8"/>
                </a:cubicBezTo>
                <a:cubicBezTo>
                  <a:pt x="3177" y="14"/>
                  <a:pt x="3188" y="21"/>
                  <a:pt x="3198" y="31"/>
                </a:cubicBezTo>
                <a:cubicBezTo>
                  <a:pt x="3208" y="41"/>
                  <a:pt x="3216" y="52"/>
                  <a:pt x="3221" y="65"/>
                </a:cubicBezTo>
                <a:cubicBezTo>
                  <a:pt x="3227" y="78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7" y="664"/>
                  <a:pt x="3221" y="677"/>
                </a:cubicBezTo>
                <a:cubicBezTo>
                  <a:pt x="3216" y="690"/>
                  <a:pt x="3208" y="701"/>
                  <a:pt x="3198" y="711"/>
                </a:cubicBezTo>
                <a:cubicBezTo>
                  <a:pt x="3188" y="721"/>
                  <a:pt x="3177" y="729"/>
                  <a:pt x="3164" y="734"/>
                </a:cubicBezTo>
                <a:cubicBezTo>
                  <a:pt x="3151" y="739"/>
                  <a:pt x="3137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CuadroTexto 703"/>
          <p:cNvSpPr txBox="1"/>
          <p:nvPr/>
        </p:nvSpPr>
        <p:spPr>
          <a:xfrm>
            <a:off x="666720" y="4068720"/>
            <a:ext cx="211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módulo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CuadroTexto 704"/>
          <p:cNvSpPr txBox="1"/>
          <p:nvPr/>
        </p:nvSpPr>
        <p:spPr>
          <a:xfrm>
            <a:off x="2836440" y="410580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clientes/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Forma libre 705"/>
          <p:cNvSpPr/>
          <p:nvPr/>
        </p:nvSpPr>
        <p:spPr>
          <a:xfrm>
            <a:off x="666720" y="4581360"/>
            <a:ext cx="4324680" cy="267120"/>
          </a:xfrm>
          <a:custGeom>
            <a:avLst/>
            <a:gdLst/>
            <a:ahLst/>
            <a:cxnLst/>
            <a:rect l="0" t="0" r="r" b="b"/>
            <a:pathLst>
              <a:path w="1201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907" y="0"/>
                </a:lnTo>
                <a:cubicBezTo>
                  <a:pt x="11921" y="0"/>
                  <a:pt x="11934" y="3"/>
                  <a:pt x="11947" y="8"/>
                </a:cubicBezTo>
                <a:cubicBezTo>
                  <a:pt x="11960" y="13"/>
                  <a:pt x="11972" y="21"/>
                  <a:pt x="11982" y="31"/>
                </a:cubicBezTo>
                <a:cubicBezTo>
                  <a:pt x="11992" y="41"/>
                  <a:pt x="11999" y="52"/>
                  <a:pt x="12005" y="65"/>
                </a:cubicBezTo>
                <a:cubicBezTo>
                  <a:pt x="12010" y="78"/>
                  <a:pt x="12013" y="92"/>
                  <a:pt x="12013" y="106"/>
                </a:cubicBezTo>
                <a:lnTo>
                  <a:pt x="12013" y="636"/>
                </a:lnTo>
                <a:cubicBezTo>
                  <a:pt x="12013" y="650"/>
                  <a:pt x="12010" y="663"/>
                  <a:pt x="12005" y="676"/>
                </a:cubicBezTo>
                <a:cubicBezTo>
                  <a:pt x="11999" y="689"/>
                  <a:pt x="11992" y="701"/>
                  <a:pt x="11982" y="711"/>
                </a:cubicBezTo>
                <a:cubicBezTo>
                  <a:pt x="11972" y="721"/>
                  <a:pt x="11960" y="728"/>
                  <a:pt x="11947" y="734"/>
                </a:cubicBezTo>
                <a:cubicBezTo>
                  <a:pt x="11934" y="739"/>
                  <a:pt x="11921" y="742"/>
                  <a:pt x="1190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3946680" y="4068720"/>
            <a:ext cx="5498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pruebas + notebook consolidando las tres fuentes.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CuadroTexto 707"/>
          <p:cNvSpPr txBox="1"/>
          <p:nvPr/>
        </p:nvSpPr>
        <p:spPr>
          <a:xfrm>
            <a:off x="723960" y="4601160"/>
            <a:ext cx="422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labs/s08-apis-rest-consumo/README.md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CuadroTexto 70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CuadroTexto 70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CuadroTexto 71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Forma libre 7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Forma libre 7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0" y="26316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CuadroTexto 714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08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CuadroTexto 7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1945</Words>
  <Application>Microsoft Macintosh PowerPoint</Application>
  <PresentationFormat>Panorámica</PresentationFormat>
  <Paragraphs>308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2</cp:revision>
  <dcterms:modified xsi:type="dcterms:W3CDTF">2026-09-04T16:10:10Z</dcterms:modified>
  <dc:language>es-ES</dc:language>
</cp:coreProperties>
</file>