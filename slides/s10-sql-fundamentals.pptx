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8" r:id="rId22"/>
    <p:sldId id="279" r:id="rId23"/>
    <p:sldId id="280" r:id="rId24"/>
    <p:sldId id="281" r:id="rId25"/>
  </p:sldIdLst>
  <p:sldSz cx="12192000" cy="6858000"/>
  <p:notesSz cx="7772400" cy="100584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a libre 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Forma libre 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Forma libre 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Forma libre 8"/>
          <p:cNvSpPr/>
          <p:nvPr/>
        </p:nvSpPr>
        <p:spPr>
          <a:xfrm>
            <a:off x="666720" y="2904840"/>
            <a:ext cx="10858680" cy="38520"/>
          </a:xfrm>
          <a:custGeom>
            <a:avLst/>
            <a:gdLst/>
            <a:ahLst/>
            <a:cxnLst/>
            <a:rect l="0" t="0" r="r" b="b"/>
            <a:pathLst>
              <a:path w="30163" h="107">
                <a:moveTo>
                  <a:pt x="0" y="0"/>
                </a:moveTo>
                <a:lnTo>
                  <a:pt x="30163" y="0"/>
                </a:lnTo>
                <a:lnTo>
                  <a:pt x="301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666720" y="2203920"/>
            <a:ext cx="2050920" cy="56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37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Sesión 10</a:t>
            </a:r>
            <a:endParaRPr lang="es-ES" sz="3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CuadroTexto 10"/>
          <p:cNvSpPr txBox="1"/>
          <p:nvPr/>
        </p:nvSpPr>
        <p:spPr>
          <a:xfrm>
            <a:off x="666720" y="3187440"/>
            <a:ext cx="708984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1B7CA8"/>
                </a:solidFill>
                <a:effectLst/>
                <a:uFillTx/>
                <a:latin typeface="HelveticaNeue"/>
                <a:ea typeface="HelveticaNeue"/>
              </a:rPr>
              <a:t>SQL Fundamentals: Queries, Joins y Agregaciones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CuadroTexto 11"/>
          <p:cNvSpPr txBox="1"/>
          <p:nvPr/>
        </p:nvSpPr>
        <p:spPr>
          <a:xfrm>
            <a:off x="666720" y="3868560"/>
            <a:ext cx="53460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Bloque III — SQL y datos clínicos estandarizados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666720" y="4363920"/>
            <a:ext cx="6235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Dr. Antonio Daniel Martínez Gutiérrez Semestre 2027-1 · 1:30 h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CuadroTexto 13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CuadroTexto 14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rma libre 1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Forma libre 1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Forma libre 1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Forma libre 18"/>
          <p:cNvSpPr/>
          <p:nvPr/>
        </p:nvSpPr>
        <p:spPr>
          <a:xfrm>
            <a:off x="690480" y="3885840"/>
            <a:ext cx="10834920" cy="1067400"/>
          </a:xfrm>
          <a:custGeom>
            <a:avLst/>
            <a:gdLst/>
            <a:ahLst/>
            <a:cxnLst/>
            <a:rect l="0" t="0" r="r" b="b"/>
            <a:pathLst>
              <a:path w="30097" h="2965">
                <a:moveTo>
                  <a:pt x="0" y="2965"/>
                </a:moveTo>
                <a:lnTo>
                  <a:pt x="0" y="0"/>
                </a:lnTo>
                <a:lnTo>
                  <a:pt x="29938" y="0"/>
                </a:lnTo>
                <a:cubicBezTo>
                  <a:pt x="29949" y="0"/>
                  <a:pt x="29959" y="2"/>
                  <a:pt x="29969" y="4"/>
                </a:cubicBezTo>
                <a:cubicBezTo>
                  <a:pt x="29980" y="6"/>
                  <a:pt x="29989" y="9"/>
                  <a:pt x="29999" y="13"/>
                </a:cubicBezTo>
                <a:cubicBezTo>
                  <a:pt x="30009" y="17"/>
                  <a:pt x="30018" y="21"/>
                  <a:pt x="30027" y="27"/>
                </a:cubicBezTo>
                <a:cubicBezTo>
                  <a:pt x="30035" y="33"/>
                  <a:pt x="30043" y="40"/>
                  <a:pt x="30051" y="47"/>
                </a:cubicBezTo>
                <a:cubicBezTo>
                  <a:pt x="30058" y="54"/>
                  <a:pt x="30065" y="62"/>
                  <a:pt x="30070" y="71"/>
                </a:cubicBezTo>
                <a:cubicBezTo>
                  <a:pt x="30076" y="80"/>
                  <a:pt x="30081" y="89"/>
                  <a:pt x="30085" y="98"/>
                </a:cubicBezTo>
                <a:cubicBezTo>
                  <a:pt x="30089" y="108"/>
                  <a:pt x="30092" y="118"/>
                  <a:pt x="30094" y="128"/>
                </a:cubicBezTo>
                <a:cubicBezTo>
                  <a:pt x="30096" y="139"/>
                  <a:pt x="30097" y="149"/>
                  <a:pt x="30097" y="159"/>
                </a:cubicBezTo>
                <a:lnTo>
                  <a:pt x="30097" y="2806"/>
                </a:lnTo>
                <a:cubicBezTo>
                  <a:pt x="30097" y="2817"/>
                  <a:pt x="30096" y="2827"/>
                  <a:pt x="30094" y="2837"/>
                </a:cubicBezTo>
                <a:cubicBezTo>
                  <a:pt x="30092" y="2847"/>
                  <a:pt x="30089" y="2857"/>
                  <a:pt x="30085" y="2867"/>
                </a:cubicBezTo>
                <a:cubicBezTo>
                  <a:pt x="30081" y="2876"/>
                  <a:pt x="30076" y="2886"/>
                  <a:pt x="30070" y="2894"/>
                </a:cubicBezTo>
                <a:cubicBezTo>
                  <a:pt x="30065" y="2903"/>
                  <a:pt x="30058" y="2911"/>
                  <a:pt x="30051" y="2918"/>
                </a:cubicBezTo>
                <a:cubicBezTo>
                  <a:pt x="30043" y="2926"/>
                  <a:pt x="30035" y="2932"/>
                  <a:pt x="30027" y="2938"/>
                </a:cubicBezTo>
                <a:cubicBezTo>
                  <a:pt x="30018" y="2944"/>
                  <a:pt x="30009" y="2949"/>
                  <a:pt x="29999" y="2953"/>
                </a:cubicBezTo>
                <a:cubicBezTo>
                  <a:pt x="29989" y="2957"/>
                  <a:pt x="29980" y="2960"/>
                  <a:pt x="29969" y="2962"/>
                </a:cubicBezTo>
                <a:cubicBezTo>
                  <a:pt x="29959" y="2964"/>
                  <a:pt x="29949" y="2965"/>
                  <a:pt x="29938" y="2965"/>
                </a:cubicBezTo>
                <a:lnTo>
                  <a:pt x="0" y="2965"/>
                </a:lnTo>
                <a:close/>
              </a:path>
            </a:pathLst>
          </a:custGeom>
          <a:solidFill>
            <a:srgbClr val="FFF6EC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Forma libre 19"/>
          <p:cNvSpPr/>
          <p:nvPr/>
        </p:nvSpPr>
        <p:spPr>
          <a:xfrm>
            <a:off x="666720" y="3885840"/>
            <a:ext cx="47880" cy="1067400"/>
          </a:xfrm>
          <a:custGeom>
            <a:avLst/>
            <a:gdLst/>
            <a:ahLst/>
            <a:cxnLst/>
            <a:rect l="0" t="0" r="r" b="b"/>
            <a:pathLst>
              <a:path w="133" h="2965">
                <a:moveTo>
                  <a:pt x="0" y="0"/>
                </a:moveTo>
                <a:lnTo>
                  <a:pt x="133" y="0"/>
                </a:lnTo>
                <a:lnTo>
                  <a:pt x="133" y="2965"/>
                </a:lnTo>
                <a:lnTo>
                  <a:pt x="0" y="2965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666720" y="1920600"/>
            <a:ext cx="286884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Empieza el bloque III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CuadroTexto 21"/>
          <p:cNvSpPr txBox="1"/>
          <p:nvPr/>
        </p:nvSpPr>
        <p:spPr>
          <a:xfrm>
            <a:off x="666720" y="2592360"/>
            <a:ext cx="771912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Los bloques I y II fueron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herramientas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Python, pruebas, contenedores, APIs.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CuadroTexto 22"/>
          <p:cNvSpPr txBox="1"/>
          <p:nvPr/>
        </p:nvSpPr>
        <p:spPr>
          <a:xfrm>
            <a:off x="666720" y="3087720"/>
            <a:ext cx="105138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A partir de hoy y hasta la sesión 18, el tema es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el dato clínico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cómo se almacena, cómo se estandariza 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CuadroTexto 23"/>
          <p:cNvSpPr txBox="1"/>
          <p:nvPr/>
        </p:nvSpPr>
        <p:spPr>
          <a:xfrm>
            <a:off x="666720" y="3430440"/>
            <a:ext cx="3900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cómo se deﬁne una cohorte defendible.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CuadroTexto 24"/>
          <p:cNvSpPr txBox="1"/>
          <p:nvPr/>
        </p:nvSpPr>
        <p:spPr>
          <a:xfrm>
            <a:off x="885960" y="4039920"/>
            <a:ext cx="9807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Este es el bloque que te diferencia. Un ingeniero aprende SQL en un mes; entender qué signiﬁca un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CuadroTexto 25"/>
          <p:cNvSpPr txBox="1"/>
          <p:nvPr/>
        </p:nvSpPr>
        <p:spPr>
          <a:xfrm>
            <a:off x="885960" y="4383000"/>
            <a:ext cx="4705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diagnóstico registrado un martes a las 3pm, no.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CuadroTexto 27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CuadroTexto 28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orma libre 2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Forma libre 3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Forma libre 3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CuadroTexto 32"/>
          <p:cNvSpPr txBox="1"/>
          <p:nvPr/>
        </p:nvSpPr>
        <p:spPr>
          <a:xfrm>
            <a:off x="666720" y="2101680"/>
            <a:ext cx="304884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Objetivos de la sesión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666720" y="2773080"/>
            <a:ext cx="3854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Al terminar esta sesión serás capaz de: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CuadroTexto 34"/>
          <p:cNvSpPr txBox="1"/>
          <p:nvPr/>
        </p:nvSpPr>
        <p:spPr>
          <a:xfrm>
            <a:off x="869760" y="3268440"/>
            <a:ext cx="595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1. Escribir consultas con ﬁltrado, agregación y ordenamiento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CuadroTexto 35"/>
          <p:cNvSpPr txBox="1"/>
          <p:nvPr/>
        </p:nvSpPr>
        <p:spPr>
          <a:xfrm>
            <a:off x="869760" y="3668400"/>
            <a:ext cx="67485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2. Combinar tablas con los cuatro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JOIN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y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predecir la cardinalidad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CuadroTexto 37"/>
          <p:cNvSpPr txBox="1"/>
          <p:nvPr/>
        </p:nvSpPr>
        <p:spPr>
          <a:xfrm>
            <a:off x="869760" y="4071600"/>
            <a:ext cx="7173439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dirty="0">
                <a:solidFill>
                  <a:srgbClr val="4A4A4A"/>
                </a:solidFill>
                <a:latin typeface="HelveticaNeue"/>
                <a:ea typeface="HelveticaNeue"/>
              </a:rPr>
              <a:t>3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. Leer un plan de ejecución y entender por qué una consulta es lenta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CuadroTexto 38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CuadroTexto 39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CuadroTexto 40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orma libre 4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Forma libre 4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Forma libre 4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Forma libre 44"/>
          <p:cNvSpPr/>
          <p:nvPr/>
        </p:nvSpPr>
        <p:spPr>
          <a:xfrm>
            <a:off x="666720" y="5114880"/>
            <a:ext cx="10858680" cy="571680"/>
          </a:xfrm>
          <a:custGeom>
            <a:avLst/>
            <a:gdLst/>
            <a:ahLst/>
            <a:cxnLst/>
            <a:rect l="0" t="0" r="r" b="b"/>
            <a:pathLst>
              <a:path w="30163" h="1588">
                <a:moveTo>
                  <a:pt x="0" y="0"/>
                </a:moveTo>
                <a:lnTo>
                  <a:pt x="30163" y="0"/>
                </a:lnTo>
                <a:lnTo>
                  <a:pt x="30163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Forma libre 45"/>
          <p:cNvSpPr/>
          <p:nvPr/>
        </p:nvSpPr>
        <p:spPr>
          <a:xfrm>
            <a:off x="666720" y="5114880"/>
            <a:ext cx="47880" cy="571680"/>
          </a:xfrm>
          <a:custGeom>
            <a:avLst/>
            <a:gdLst/>
            <a:ahLst/>
            <a:cxnLst/>
            <a:rect l="0" t="0" r="r" b="b"/>
            <a:pathLst>
              <a:path w="133" h="1588">
                <a:moveTo>
                  <a:pt x="0" y="0"/>
                </a:moveTo>
                <a:lnTo>
                  <a:pt x="133" y="0"/>
                </a:lnTo>
                <a:lnTo>
                  <a:pt x="133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66720" y="1187280"/>
            <a:ext cx="108324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Agenda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CuadroTexto 47"/>
          <p:cNvSpPr txBox="1"/>
          <p:nvPr/>
        </p:nvSpPr>
        <p:spPr>
          <a:xfrm>
            <a:off x="869760" y="1858680"/>
            <a:ext cx="4239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1. Por qué SQL sigue siendo indispensable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CuadroTexto 48"/>
          <p:cNvSpPr txBox="1"/>
          <p:nvPr/>
        </p:nvSpPr>
        <p:spPr>
          <a:xfrm>
            <a:off x="869760" y="2259000"/>
            <a:ext cx="3066545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r>
              <a:rPr lang="es-ES" dirty="0">
                <a:solidFill>
                  <a:srgbClr val="4A4A4A"/>
                </a:solidFill>
                <a:latin typeface="HelveticaNeue"/>
                <a:ea typeface="HelveticaNeue"/>
              </a:rPr>
              <a:t>Llaves primarias y </a:t>
            </a:r>
            <a:r>
              <a:rPr lang="es-ES" dirty="0" err="1">
                <a:solidFill>
                  <a:srgbClr val="4A4A4A"/>
                </a:solidFill>
                <a:latin typeface="HelveticaNeue"/>
                <a:ea typeface="HelveticaNeue"/>
              </a:rPr>
              <a:t>fóraneas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Forma libre 49"/>
          <p:cNvSpPr/>
          <p:nvPr/>
        </p:nvSpPr>
        <p:spPr>
          <a:xfrm>
            <a:off x="1123920" y="2676240"/>
            <a:ext cx="819360" cy="267120"/>
          </a:xfrm>
          <a:custGeom>
            <a:avLst/>
            <a:gdLst/>
            <a:ahLst/>
            <a:cxnLst/>
            <a:rect l="0" t="0" r="r" b="b"/>
            <a:pathLst>
              <a:path w="2276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70" y="0"/>
                </a:lnTo>
                <a:cubicBezTo>
                  <a:pt x="2184" y="0"/>
                  <a:pt x="2198" y="3"/>
                  <a:pt x="2211" y="8"/>
                </a:cubicBezTo>
                <a:cubicBezTo>
                  <a:pt x="2224" y="14"/>
                  <a:pt x="2235" y="21"/>
                  <a:pt x="2245" y="31"/>
                </a:cubicBezTo>
                <a:cubicBezTo>
                  <a:pt x="2255" y="41"/>
                  <a:pt x="2263" y="53"/>
                  <a:pt x="2268" y="66"/>
                </a:cubicBezTo>
                <a:cubicBezTo>
                  <a:pt x="2273" y="79"/>
                  <a:pt x="2276" y="92"/>
                  <a:pt x="2276" y="106"/>
                </a:cubicBezTo>
                <a:lnTo>
                  <a:pt x="2276" y="636"/>
                </a:lnTo>
                <a:cubicBezTo>
                  <a:pt x="2276" y="650"/>
                  <a:pt x="2273" y="664"/>
                  <a:pt x="2268" y="677"/>
                </a:cubicBezTo>
                <a:cubicBezTo>
                  <a:pt x="2263" y="690"/>
                  <a:pt x="2255" y="701"/>
                  <a:pt x="2245" y="711"/>
                </a:cubicBezTo>
                <a:cubicBezTo>
                  <a:pt x="2235" y="721"/>
                  <a:pt x="2224" y="729"/>
                  <a:pt x="2211" y="734"/>
                </a:cubicBezTo>
                <a:cubicBezTo>
                  <a:pt x="2198" y="739"/>
                  <a:pt x="2184" y="742"/>
                  <a:pt x="2170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869760" y="2658960"/>
            <a:ext cx="254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CuadroTexto 51"/>
          <p:cNvSpPr txBox="1"/>
          <p:nvPr/>
        </p:nvSpPr>
        <p:spPr>
          <a:xfrm>
            <a:off x="1181160" y="2696400"/>
            <a:ext cx="7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SELECT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CuadroTexto 52"/>
          <p:cNvSpPr txBox="1"/>
          <p:nvPr/>
        </p:nvSpPr>
        <p:spPr>
          <a:xfrm>
            <a:off x="1940400" y="2658960"/>
            <a:ext cx="2172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el orden que importa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869760" y="3058920"/>
            <a:ext cx="978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4. Filtrado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CuadroTexto 54"/>
          <p:cNvSpPr txBox="1"/>
          <p:nvPr/>
        </p:nvSpPr>
        <p:spPr>
          <a:xfrm>
            <a:off x="869760" y="3458880"/>
            <a:ext cx="1373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5. Agregación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CuadroTexto 55"/>
          <p:cNvSpPr txBox="1"/>
          <p:nvPr/>
        </p:nvSpPr>
        <p:spPr>
          <a:xfrm>
            <a:off x="869760" y="3859200"/>
            <a:ext cx="2283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6. JOINs y cardinalidad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CuadroTexto 57"/>
          <p:cNvSpPr txBox="1"/>
          <p:nvPr/>
        </p:nvSpPr>
        <p:spPr>
          <a:xfrm>
            <a:off x="869760" y="4286520"/>
            <a:ext cx="2306722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dirty="0">
                <a:solidFill>
                  <a:srgbClr val="4A4A4A"/>
                </a:solidFill>
                <a:latin typeface="HelveticaNeue"/>
                <a:ea typeface="HelveticaNeue"/>
              </a:rPr>
              <a:t>7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. Rendimiento básico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CuadroTexto 58"/>
          <p:cNvSpPr txBox="1"/>
          <p:nvPr/>
        </p:nvSpPr>
        <p:spPr>
          <a:xfrm>
            <a:off x="905040" y="5268600"/>
            <a:ext cx="94388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Laboratorio:</a:t>
            </a:r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 generar tus datos con Synthea, montar tu base y responder 15 preguntas clínicas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CuadroTexto 60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orma libre 6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Forma libre 6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Forma libre 6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CuadroTexto 65"/>
          <p:cNvSpPr txBox="1"/>
          <p:nvPr/>
        </p:nvSpPr>
        <p:spPr>
          <a:xfrm>
            <a:off x="4344480" y="3063960"/>
            <a:ext cx="357840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1. Por qué SQL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CuadroTexto 66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CuadroTexto 67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CuadroTexto 68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orma libre 6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Forma libre 7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Forma libre 7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Forma libre 72"/>
          <p:cNvSpPr/>
          <p:nvPr/>
        </p:nvSpPr>
        <p:spPr>
          <a:xfrm>
            <a:off x="666720" y="4143240"/>
            <a:ext cx="10858680" cy="914760"/>
          </a:xfrm>
          <a:custGeom>
            <a:avLst/>
            <a:gdLst/>
            <a:ahLst/>
            <a:cxnLst/>
            <a:rect l="0" t="0" r="r" b="b"/>
            <a:pathLst>
              <a:path w="30163" h="2541">
                <a:moveTo>
                  <a:pt x="0" y="0"/>
                </a:moveTo>
                <a:lnTo>
                  <a:pt x="30163" y="0"/>
                </a:lnTo>
                <a:lnTo>
                  <a:pt x="3016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Forma libre 73"/>
          <p:cNvSpPr/>
          <p:nvPr/>
        </p:nvSpPr>
        <p:spPr>
          <a:xfrm>
            <a:off x="666720" y="4143240"/>
            <a:ext cx="47880" cy="914760"/>
          </a:xfrm>
          <a:custGeom>
            <a:avLst/>
            <a:gdLst/>
            <a:ahLst/>
            <a:cxnLst/>
            <a:rect l="0" t="0" r="r" b="b"/>
            <a:pathLst>
              <a:path w="133" h="2541">
                <a:moveTo>
                  <a:pt x="0" y="0"/>
                </a:moveTo>
                <a:lnTo>
                  <a:pt x="133" y="0"/>
                </a:lnTo>
                <a:lnTo>
                  <a:pt x="13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Forma libre 74"/>
          <p:cNvSpPr/>
          <p:nvPr/>
        </p:nvSpPr>
        <p:spPr>
          <a:xfrm>
            <a:off x="914040" y="26002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2" y="171"/>
                  <a:pt x="14" y="160"/>
                  <a:pt x="9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7" y="0"/>
                </a:cubicBezTo>
                <a:cubicBezTo>
                  <a:pt x="121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CuadroTexto 75"/>
          <p:cNvSpPr txBox="1"/>
          <p:nvPr/>
        </p:nvSpPr>
        <p:spPr>
          <a:xfrm>
            <a:off x="666720" y="1815840"/>
            <a:ext cx="374688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Cincuenta años y sigue ahí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Forma libre 76"/>
          <p:cNvSpPr/>
          <p:nvPr/>
        </p:nvSpPr>
        <p:spPr>
          <a:xfrm>
            <a:off x="914040" y="3000240"/>
            <a:ext cx="76680" cy="77040"/>
          </a:xfrm>
          <a:custGeom>
            <a:avLst/>
            <a:gdLst/>
            <a:ahLst/>
            <a:cxnLst/>
            <a:rect l="0" t="0" r="r" b="b"/>
            <a:pathLst>
              <a:path w="213" h="214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4"/>
                  <a:pt x="107" y="214"/>
                </a:cubicBezTo>
                <a:cubicBezTo>
                  <a:pt x="92" y="214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9" y="66"/>
                </a:cubicBezTo>
                <a:cubicBezTo>
                  <a:pt x="14" y="53"/>
                  <a:pt x="22" y="42"/>
                  <a:pt x="31" y="32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4"/>
                  <a:pt x="92" y="0"/>
                  <a:pt x="107" y="0"/>
                </a:cubicBezTo>
                <a:cubicBezTo>
                  <a:pt x="121" y="0"/>
                  <a:pt x="135" y="4"/>
                  <a:pt x="148" y="9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CuadroTexto 77"/>
          <p:cNvSpPr txBox="1"/>
          <p:nvPr/>
        </p:nvSpPr>
        <p:spPr>
          <a:xfrm>
            <a:off x="1123920" y="2487600"/>
            <a:ext cx="99392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El dato clínico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vive en la base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, no en tu laptop. Bajarlo entero muchas veces ni es posible ni es legal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Forma libre 78"/>
          <p:cNvSpPr/>
          <p:nvPr/>
        </p:nvSpPr>
        <p:spPr>
          <a:xfrm>
            <a:off x="914040" y="34002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2" y="172"/>
                  <a:pt x="14" y="160"/>
                  <a:pt x="9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CuadroTexto 79"/>
          <p:cNvSpPr txBox="1"/>
          <p:nvPr/>
        </p:nvSpPr>
        <p:spPr>
          <a:xfrm>
            <a:off x="1123920" y="2887560"/>
            <a:ext cx="615312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SQL es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declarativo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dices </a:t>
            </a:r>
            <a:r>
              <a:rPr lang="es-ES" sz="1800" b="0" i="1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qué 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quieres, el motor decide </a:t>
            </a:r>
            <a:r>
              <a:rPr lang="es-ES" sz="1800" b="0" i="1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cómo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Forma libre 80"/>
          <p:cNvSpPr/>
          <p:nvPr/>
        </p:nvSpPr>
        <p:spPr>
          <a:xfrm>
            <a:off x="914040" y="380016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2" y="172"/>
                  <a:pt x="14" y="161"/>
                  <a:pt x="9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CuadroTexto 81"/>
          <p:cNvSpPr txBox="1"/>
          <p:nvPr/>
        </p:nvSpPr>
        <p:spPr>
          <a:xfrm>
            <a:off x="1123920" y="3287520"/>
            <a:ext cx="7009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Es el lenguaje común entre tú, el DBA, el analista y la herramienta de BI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CuadroTexto 82"/>
          <p:cNvSpPr txBox="1"/>
          <p:nvPr/>
        </p:nvSpPr>
        <p:spPr>
          <a:xfrm>
            <a:off x="1123920" y="3687480"/>
            <a:ext cx="66855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En entrevistas de datos, es lo que más se pregunta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(sesión 32)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CuadroTexto 83"/>
          <p:cNvSpPr txBox="1"/>
          <p:nvPr/>
        </p:nvSpPr>
        <p:spPr>
          <a:xfrm>
            <a:off x="905040" y="4297320"/>
            <a:ext cx="10350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En pandas traes los datos al código. En SQL llevas el código a los datos. Con 300 millones de pacientes,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CuadroTexto 84"/>
          <p:cNvSpPr txBox="1"/>
          <p:nvPr/>
        </p:nvSpPr>
        <p:spPr>
          <a:xfrm>
            <a:off x="905040" y="4640040"/>
            <a:ext cx="2524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sólo lo segundo funciona.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CuadroTexto 85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CuadroTexto 86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Forma libre 8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Forma libre 8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Forma libre 9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Forma libre 91"/>
          <p:cNvSpPr/>
          <p:nvPr/>
        </p:nvSpPr>
        <p:spPr>
          <a:xfrm>
            <a:off x="676080" y="250488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Forma libre 92"/>
          <p:cNvSpPr/>
          <p:nvPr/>
        </p:nvSpPr>
        <p:spPr>
          <a:xfrm>
            <a:off x="2019240" y="2504880"/>
            <a:ext cx="9420480" cy="410040"/>
          </a:xfrm>
          <a:custGeom>
            <a:avLst/>
            <a:gdLst/>
            <a:ahLst/>
            <a:cxnLst/>
            <a:rect l="0" t="0" r="r" b="b"/>
            <a:pathLst>
              <a:path w="26168" h="1139">
                <a:moveTo>
                  <a:pt x="0" y="0"/>
                </a:moveTo>
                <a:lnTo>
                  <a:pt x="26168" y="0"/>
                </a:lnTo>
                <a:lnTo>
                  <a:pt x="2616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Forma libre 93"/>
          <p:cNvSpPr/>
          <p:nvPr/>
        </p:nvSpPr>
        <p:spPr>
          <a:xfrm>
            <a:off x="676080" y="250488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Forma libre 94"/>
          <p:cNvSpPr/>
          <p:nvPr/>
        </p:nvSpPr>
        <p:spPr>
          <a:xfrm>
            <a:off x="2019240" y="2504880"/>
            <a:ext cx="9420480" cy="410040"/>
          </a:xfrm>
          <a:custGeom>
            <a:avLst/>
            <a:gdLst/>
            <a:ahLst/>
            <a:cxnLst/>
            <a:rect l="0" t="0" r="r" b="b"/>
            <a:pathLst>
              <a:path w="26168" h="1139">
                <a:moveTo>
                  <a:pt x="0" y="0"/>
                </a:moveTo>
                <a:lnTo>
                  <a:pt x="26168" y="0"/>
                </a:lnTo>
                <a:lnTo>
                  <a:pt x="2616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Forma libre 95"/>
          <p:cNvSpPr/>
          <p:nvPr/>
        </p:nvSpPr>
        <p:spPr>
          <a:xfrm>
            <a:off x="676080" y="2914560"/>
            <a:ext cx="1343520" cy="419400"/>
          </a:xfrm>
          <a:custGeom>
            <a:avLst/>
            <a:gdLst/>
            <a:ahLst/>
            <a:cxnLst/>
            <a:rect l="0" t="0" r="r" b="b"/>
            <a:pathLst>
              <a:path w="3732" h="1165">
                <a:moveTo>
                  <a:pt x="0" y="0"/>
                </a:moveTo>
                <a:lnTo>
                  <a:pt x="3732" y="0"/>
                </a:lnTo>
                <a:lnTo>
                  <a:pt x="3732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Forma libre 96"/>
          <p:cNvSpPr/>
          <p:nvPr/>
        </p:nvSpPr>
        <p:spPr>
          <a:xfrm>
            <a:off x="2019240" y="2914560"/>
            <a:ext cx="9420480" cy="419400"/>
          </a:xfrm>
          <a:custGeom>
            <a:avLst/>
            <a:gdLst/>
            <a:ahLst/>
            <a:cxnLst/>
            <a:rect l="0" t="0" r="r" b="b"/>
            <a:pathLst>
              <a:path w="26168" h="1165">
                <a:moveTo>
                  <a:pt x="0" y="0"/>
                </a:moveTo>
                <a:lnTo>
                  <a:pt x="26168" y="0"/>
                </a:lnTo>
                <a:lnTo>
                  <a:pt x="2616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Forma libre 97"/>
          <p:cNvSpPr/>
          <p:nvPr/>
        </p:nvSpPr>
        <p:spPr>
          <a:xfrm>
            <a:off x="676080" y="3333600"/>
            <a:ext cx="1343520" cy="419400"/>
          </a:xfrm>
          <a:custGeom>
            <a:avLst/>
            <a:gdLst/>
            <a:ahLst/>
            <a:cxnLst/>
            <a:rect l="0" t="0" r="r" b="b"/>
            <a:pathLst>
              <a:path w="3732" h="1165">
                <a:moveTo>
                  <a:pt x="0" y="0"/>
                </a:moveTo>
                <a:lnTo>
                  <a:pt x="3732" y="0"/>
                </a:lnTo>
                <a:lnTo>
                  <a:pt x="3732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Forma libre 98"/>
          <p:cNvSpPr/>
          <p:nvPr/>
        </p:nvSpPr>
        <p:spPr>
          <a:xfrm>
            <a:off x="2019240" y="3333600"/>
            <a:ext cx="9420480" cy="419400"/>
          </a:xfrm>
          <a:custGeom>
            <a:avLst/>
            <a:gdLst/>
            <a:ahLst/>
            <a:cxnLst/>
            <a:rect l="0" t="0" r="r" b="b"/>
            <a:pathLst>
              <a:path w="26168" h="1165">
                <a:moveTo>
                  <a:pt x="0" y="0"/>
                </a:moveTo>
                <a:lnTo>
                  <a:pt x="26168" y="0"/>
                </a:lnTo>
                <a:lnTo>
                  <a:pt x="2616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Forma libre 99"/>
          <p:cNvSpPr/>
          <p:nvPr/>
        </p:nvSpPr>
        <p:spPr>
          <a:xfrm>
            <a:off x="676080" y="3752640"/>
            <a:ext cx="1343520" cy="419400"/>
          </a:xfrm>
          <a:custGeom>
            <a:avLst/>
            <a:gdLst/>
            <a:ahLst/>
            <a:cxnLst/>
            <a:rect l="0" t="0" r="r" b="b"/>
            <a:pathLst>
              <a:path w="3732" h="1165">
                <a:moveTo>
                  <a:pt x="0" y="0"/>
                </a:moveTo>
                <a:lnTo>
                  <a:pt x="3732" y="0"/>
                </a:lnTo>
                <a:lnTo>
                  <a:pt x="3732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Forma libre 100"/>
          <p:cNvSpPr/>
          <p:nvPr/>
        </p:nvSpPr>
        <p:spPr>
          <a:xfrm>
            <a:off x="2019240" y="3752640"/>
            <a:ext cx="9420480" cy="419400"/>
          </a:xfrm>
          <a:custGeom>
            <a:avLst/>
            <a:gdLst/>
            <a:ahLst/>
            <a:cxnLst/>
            <a:rect l="0" t="0" r="r" b="b"/>
            <a:pathLst>
              <a:path w="26168" h="1165">
                <a:moveTo>
                  <a:pt x="0" y="0"/>
                </a:moveTo>
                <a:lnTo>
                  <a:pt x="26168" y="0"/>
                </a:lnTo>
                <a:lnTo>
                  <a:pt x="2616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Forma libre 101"/>
          <p:cNvSpPr/>
          <p:nvPr/>
        </p:nvSpPr>
        <p:spPr>
          <a:xfrm>
            <a:off x="666720" y="249552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Forma libre 102"/>
          <p:cNvSpPr/>
          <p:nvPr/>
        </p:nvSpPr>
        <p:spPr>
          <a:xfrm>
            <a:off x="666720" y="2495520"/>
            <a:ext cx="1362240" cy="9720"/>
          </a:xfrm>
          <a:custGeom>
            <a:avLst/>
            <a:gdLst/>
            <a:ahLst/>
            <a:cxn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Forma libre 103"/>
          <p:cNvSpPr/>
          <p:nvPr/>
        </p:nvSpPr>
        <p:spPr>
          <a:xfrm>
            <a:off x="2019240" y="249552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Forma libre 104"/>
          <p:cNvSpPr/>
          <p:nvPr/>
        </p:nvSpPr>
        <p:spPr>
          <a:xfrm>
            <a:off x="2028600" y="2495520"/>
            <a:ext cx="9411120" cy="9720"/>
          </a:xfrm>
          <a:custGeom>
            <a:avLst/>
            <a:gdLst/>
            <a:ahLst/>
            <a:cxnLst/>
            <a:rect l="0" t="0" r="r" b="b"/>
            <a:pathLst>
              <a:path w="26142" h="27">
                <a:moveTo>
                  <a:pt x="0" y="0"/>
                </a:moveTo>
                <a:lnTo>
                  <a:pt x="26142" y="0"/>
                </a:lnTo>
                <a:lnTo>
                  <a:pt x="261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Forma libre 105"/>
          <p:cNvSpPr/>
          <p:nvPr/>
        </p:nvSpPr>
        <p:spPr>
          <a:xfrm>
            <a:off x="11429640" y="249552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Forma libre 106"/>
          <p:cNvSpPr/>
          <p:nvPr/>
        </p:nvSpPr>
        <p:spPr>
          <a:xfrm>
            <a:off x="666720" y="2904840"/>
            <a:ext cx="1362240" cy="10080"/>
          </a:xfrm>
          <a:custGeom>
            <a:avLst/>
            <a:gdLst/>
            <a:ahLst/>
            <a:cxn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Forma libre 107"/>
          <p:cNvSpPr/>
          <p:nvPr/>
        </p:nvSpPr>
        <p:spPr>
          <a:xfrm>
            <a:off x="2028600" y="2904840"/>
            <a:ext cx="9411120" cy="10080"/>
          </a:xfrm>
          <a:custGeom>
            <a:avLst/>
            <a:gdLst/>
            <a:ahLst/>
            <a:cxnLst/>
            <a:rect l="0" t="0" r="r" b="b"/>
            <a:pathLst>
              <a:path w="26142" h="28">
                <a:moveTo>
                  <a:pt x="0" y="0"/>
                </a:moveTo>
                <a:lnTo>
                  <a:pt x="26142" y="0"/>
                </a:lnTo>
                <a:lnTo>
                  <a:pt x="261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Forma libre 108"/>
          <p:cNvSpPr/>
          <p:nvPr/>
        </p:nvSpPr>
        <p:spPr>
          <a:xfrm>
            <a:off x="666720" y="291456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Forma libre 109"/>
          <p:cNvSpPr/>
          <p:nvPr/>
        </p:nvSpPr>
        <p:spPr>
          <a:xfrm>
            <a:off x="2019240" y="291456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Forma libre 110"/>
          <p:cNvSpPr/>
          <p:nvPr/>
        </p:nvSpPr>
        <p:spPr>
          <a:xfrm>
            <a:off x="11429640" y="291456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Forma libre 111"/>
          <p:cNvSpPr/>
          <p:nvPr/>
        </p:nvSpPr>
        <p:spPr>
          <a:xfrm>
            <a:off x="666720" y="333360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Forma libre 112"/>
          <p:cNvSpPr/>
          <p:nvPr/>
        </p:nvSpPr>
        <p:spPr>
          <a:xfrm>
            <a:off x="666720" y="3323880"/>
            <a:ext cx="1362240" cy="10080"/>
          </a:xfrm>
          <a:custGeom>
            <a:avLst/>
            <a:gdLst/>
            <a:ahLst/>
            <a:cxn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Forma libre 113"/>
          <p:cNvSpPr/>
          <p:nvPr/>
        </p:nvSpPr>
        <p:spPr>
          <a:xfrm>
            <a:off x="2019240" y="333360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Forma libre 114"/>
          <p:cNvSpPr/>
          <p:nvPr/>
        </p:nvSpPr>
        <p:spPr>
          <a:xfrm>
            <a:off x="2028600" y="3323880"/>
            <a:ext cx="9411120" cy="10080"/>
          </a:xfrm>
          <a:custGeom>
            <a:avLst/>
            <a:gdLst/>
            <a:ahLst/>
            <a:cxnLst/>
            <a:rect l="0" t="0" r="r" b="b"/>
            <a:pathLst>
              <a:path w="26142" h="28">
                <a:moveTo>
                  <a:pt x="0" y="0"/>
                </a:moveTo>
                <a:lnTo>
                  <a:pt x="26142" y="0"/>
                </a:lnTo>
                <a:lnTo>
                  <a:pt x="261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Forma libre 115"/>
          <p:cNvSpPr/>
          <p:nvPr/>
        </p:nvSpPr>
        <p:spPr>
          <a:xfrm>
            <a:off x="11429640" y="333360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Forma libre 116"/>
          <p:cNvSpPr/>
          <p:nvPr/>
        </p:nvSpPr>
        <p:spPr>
          <a:xfrm>
            <a:off x="666720" y="375264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Forma libre 117"/>
          <p:cNvSpPr/>
          <p:nvPr/>
        </p:nvSpPr>
        <p:spPr>
          <a:xfrm>
            <a:off x="666720" y="3743280"/>
            <a:ext cx="1362240" cy="9720"/>
          </a:xfrm>
          <a:custGeom>
            <a:avLst/>
            <a:gdLst/>
            <a:ahLst/>
            <a:cxn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Forma libre 118"/>
          <p:cNvSpPr/>
          <p:nvPr/>
        </p:nvSpPr>
        <p:spPr>
          <a:xfrm>
            <a:off x="2019240" y="375264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Forma libre 119"/>
          <p:cNvSpPr/>
          <p:nvPr/>
        </p:nvSpPr>
        <p:spPr>
          <a:xfrm>
            <a:off x="2028600" y="3743280"/>
            <a:ext cx="9411120" cy="9720"/>
          </a:xfrm>
          <a:custGeom>
            <a:avLst/>
            <a:gdLst/>
            <a:ahLst/>
            <a:cxnLst/>
            <a:rect l="0" t="0" r="r" b="b"/>
            <a:pathLst>
              <a:path w="26142" h="27">
                <a:moveTo>
                  <a:pt x="0" y="0"/>
                </a:moveTo>
                <a:lnTo>
                  <a:pt x="26142" y="0"/>
                </a:lnTo>
                <a:lnTo>
                  <a:pt x="261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Forma libre 120"/>
          <p:cNvSpPr/>
          <p:nvPr/>
        </p:nvSpPr>
        <p:spPr>
          <a:xfrm>
            <a:off x="11429640" y="375264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Forma libre 121"/>
          <p:cNvSpPr/>
          <p:nvPr/>
        </p:nvSpPr>
        <p:spPr>
          <a:xfrm>
            <a:off x="666720" y="4162320"/>
            <a:ext cx="1362240" cy="9720"/>
          </a:xfrm>
          <a:custGeom>
            <a:avLst/>
            <a:gdLst/>
            <a:ahLst/>
            <a:cxn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Forma libre 122"/>
          <p:cNvSpPr/>
          <p:nvPr/>
        </p:nvSpPr>
        <p:spPr>
          <a:xfrm>
            <a:off x="2028600" y="4162320"/>
            <a:ext cx="9411120" cy="9720"/>
          </a:xfrm>
          <a:custGeom>
            <a:avLst/>
            <a:gdLst/>
            <a:ahLst/>
            <a:cxnLst/>
            <a:rect l="0" t="0" r="r" b="b"/>
            <a:pathLst>
              <a:path w="26142" h="27">
                <a:moveTo>
                  <a:pt x="0" y="0"/>
                </a:moveTo>
                <a:lnTo>
                  <a:pt x="26142" y="0"/>
                </a:lnTo>
                <a:lnTo>
                  <a:pt x="261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CuadroTexto 123"/>
          <p:cNvSpPr txBox="1"/>
          <p:nvPr/>
        </p:nvSpPr>
        <p:spPr>
          <a:xfrm>
            <a:off x="666720" y="1863360"/>
            <a:ext cx="332784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Motores: elige y justifica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CuadroTexto 124"/>
          <p:cNvSpPr txBox="1"/>
          <p:nvPr/>
        </p:nvSpPr>
        <p:spPr>
          <a:xfrm>
            <a:off x="6375240" y="2599920"/>
            <a:ext cx="7099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Cuándo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CuadroTexto 125"/>
          <p:cNvSpPr txBox="1"/>
          <p:nvPr/>
        </p:nvSpPr>
        <p:spPr>
          <a:xfrm>
            <a:off x="799920" y="3009600"/>
            <a:ext cx="74880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DuckDB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CuadroTexto 126"/>
          <p:cNvSpPr txBox="1"/>
          <p:nvPr/>
        </p:nvSpPr>
        <p:spPr>
          <a:xfrm>
            <a:off x="2151360" y="3009600"/>
            <a:ext cx="91886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corre en tu proceso, sin servidor, funciona en Colab, lee CSV y Parquet directo. </a:t>
            </a:r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Lo más simple para empezar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CuadroTexto 127"/>
          <p:cNvSpPr txBox="1"/>
          <p:nvPr/>
        </p:nvSpPr>
        <p:spPr>
          <a:xfrm>
            <a:off x="799920" y="3428640"/>
            <a:ext cx="10983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PostgreSQL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CuadroTexto 128"/>
          <p:cNvSpPr txBox="1"/>
          <p:nvPr/>
        </p:nvSpPr>
        <p:spPr>
          <a:xfrm>
            <a:off x="2151360" y="3428640"/>
            <a:ext cx="61405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lo que encontrarás en la industria y lo que usan las herramientas de OHDSI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CuadroTexto 129"/>
          <p:cNvSpPr txBox="1"/>
          <p:nvPr/>
        </p:nvSpPr>
        <p:spPr>
          <a:xfrm>
            <a:off x="799920" y="3847680"/>
            <a:ext cx="6109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SQLite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CuadroTexto 130"/>
          <p:cNvSpPr txBox="1"/>
          <p:nvPr/>
        </p:nvSpPr>
        <p:spPr>
          <a:xfrm>
            <a:off x="2151360" y="3847680"/>
            <a:ext cx="43531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ligero, embebido; Eunomia (OMOP de juguete) lo usa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Forma libre 131"/>
          <p:cNvSpPr/>
          <p:nvPr/>
        </p:nvSpPr>
        <p:spPr>
          <a:xfrm>
            <a:off x="9420120" y="4381200"/>
            <a:ext cx="933840" cy="267120"/>
          </a:xfrm>
          <a:custGeom>
            <a:avLst/>
            <a:gdLst/>
            <a:ahLst/>
            <a:cxnLst/>
            <a:rect l="0" t="0" r="r" b="b"/>
            <a:pathLst>
              <a:path w="2594" h="742">
                <a:moveTo>
                  <a:pt x="0" y="636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488" y="0"/>
                </a:lnTo>
                <a:cubicBezTo>
                  <a:pt x="2502" y="0"/>
                  <a:pt x="2515" y="3"/>
                  <a:pt x="2528" y="8"/>
                </a:cubicBezTo>
                <a:cubicBezTo>
                  <a:pt x="2541" y="14"/>
                  <a:pt x="2553" y="21"/>
                  <a:pt x="2563" y="31"/>
                </a:cubicBezTo>
                <a:cubicBezTo>
                  <a:pt x="2573" y="42"/>
                  <a:pt x="2580" y="54"/>
                  <a:pt x="2586" y="67"/>
                </a:cubicBezTo>
                <a:cubicBezTo>
                  <a:pt x="2591" y="80"/>
                  <a:pt x="2594" y="93"/>
                  <a:pt x="2594" y="107"/>
                </a:cubicBezTo>
                <a:lnTo>
                  <a:pt x="2594" y="636"/>
                </a:lnTo>
                <a:cubicBezTo>
                  <a:pt x="2594" y="650"/>
                  <a:pt x="2591" y="664"/>
                  <a:pt x="2586" y="677"/>
                </a:cubicBezTo>
                <a:cubicBezTo>
                  <a:pt x="2580" y="690"/>
                  <a:pt x="2573" y="701"/>
                  <a:pt x="2563" y="711"/>
                </a:cubicBezTo>
                <a:cubicBezTo>
                  <a:pt x="2553" y="721"/>
                  <a:pt x="2541" y="729"/>
                  <a:pt x="2528" y="734"/>
                </a:cubicBezTo>
                <a:cubicBezTo>
                  <a:pt x="2515" y="739"/>
                  <a:pt x="2502" y="742"/>
                  <a:pt x="2488" y="742"/>
                </a:cubicBezTo>
                <a:lnTo>
                  <a:pt x="106" y="742"/>
                </a:lnTo>
                <a:cubicBezTo>
                  <a:pt x="92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CuadroTexto 132"/>
          <p:cNvSpPr txBox="1"/>
          <p:nvPr/>
        </p:nvSpPr>
        <p:spPr>
          <a:xfrm>
            <a:off x="666720" y="4363920"/>
            <a:ext cx="8765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Lo que aprendas se transﬁere casi por completo. Las diferencias —índices, qué muestra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CuadroTexto 133"/>
          <p:cNvSpPr txBox="1"/>
          <p:nvPr/>
        </p:nvSpPr>
        <p:spPr>
          <a:xfrm>
            <a:off x="9476640" y="4401360"/>
            <a:ext cx="822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EXPLAIN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CuadroTexto 134"/>
          <p:cNvSpPr txBox="1"/>
          <p:nvPr/>
        </p:nvSpPr>
        <p:spPr>
          <a:xfrm>
            <a:off x="10352880" y="4363920"/>
            <a:ext cx="652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— son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CuadroTexto 135"/>
          <p:cNvSpPr txBox="1"/>
          <p:nvPr/>
        </p:nvSpPr>
        <p:spPr>
          <a:xfrm>
            <a:off x="666720" y="4706640"/>
            <a:ext cx="2668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justamente materia de hoy.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CuadroTexto 136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CuadroTexto 137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CuadroTexto 138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Forma libre 13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Forma libre 14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Forma libre 14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CuadroTexto 142"/>
          <p:cNvSpPr txBox="1"/>
          <p:nvPr/>
        </p:nvSpPr>
        <p:spPr>
          <a:xfrm>
            <a:off x="3573000" y="3063960"/>
            <a:ext cx="2133597" cy="6463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 dirty="0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2. Llaves</a:t>
            </a:r>
            <a:endParaRPr lang="es-ES" sz="4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CuadroTexto 143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CuadroTexto 144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CuadroTexto 145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Forma libre 14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Forma libre 14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Forma libre 14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Forma libre 149"/>
          <p:cNvSpPr/>
          <p:nvPr/>
        </p:nvSpPr>
        <p:spPr>
          <a:xfrm>
            <a:off x="671400" y="2004840"/>
            <a:ext cx="10849320" cy="848160"/>
          </a:xfrm>
          <a:custGeom>
            <a:avLst/>
            <a:gdLst/>
            <a:ahLst/>
            <a:cxnLst/>
            <a:rect l="0" t="0" r="r" b="b"/>
            <a:pathLst>
              <a:path w="30137" h="2356">
                <a:moveTo>
                  <a:pt x="0" y="2157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157"/>
                </a:lnTo>
                <a:cubicBezTo>
                  <a:pt x="30137" y="2170"/>
                  <a:pt x="30136" y="2183"/>
                  <a:pt x="30133" y="2196"/>
                </a:cubicBezTo>
                <a:cubicBezTo>
                  <a:pt x="30130" y="2209"/>
                  <a:pt x="30127" y="2221"/>
                  <a:pt x="30122" y="2233"/>
                </a:cubicBezTo>
                <a:cubicBezTo>
                  <a:pt x="30117" y="2245"/>
                  <a:pt x="30111" y="2257"/>
                  <a:pt x="30103" y="2268"/>
                </a:cubicBezTo>
                <a:cubicBezTo>
                  <a:pt x="30096" y="2278"/>
                  <a:pt x="30088" y="2288"/>
                  <a:pt x="30079" y="2298"/>
                </a:cubicBezTo>
                <a:cubicBezTo>
                  <a:pt x="30070" y="2307"/>
                  <a:pt x="30059" y="2315"/>
                  <a:pt x="30049" y="2322"/>
                </a:cubicBezTo>
                <a:cubicBezTo>
                  <a:pt x="30038" y="2330"/>
                  <a:pt x="30026" y="2336"/>
                  <a:pt x="30014" y="2341"/>
                </a:cubicBezTo>
                <a:cubicBezTo>
                  <a:pt x="30002" y="2346"/>
                  <a:pt x="29990" y="2349"/>
                  <a:pt x="29977" y="2352"/>
                </a:cubicBezTo>
                <a:cubicBezTo>
                  <a:pt x="29964" y="2354"/>
                  <a:pt x="29951" y="2356"/>
                  <a:pt x="29938" y="2356"/>
                </a:cubicBezTo>
                <a:lnTo>
                  <a:pt x="198" y="2356"/>
                </a:lnTo>
                <a:cubicBezTo>
                  <a:pt x="185" y="2356"/>
                  <a:pt x="172" y="2354"/>
                  <a:pt x="160" y="2352"/>
                </a:cubicBezTo>
                <a:cubicBezTo>
                  <a:pt x="147" y="2349"/>
                  <a:pt x="134" y="2346"/>
                  <a:pt x="122" y="2341"/>
                </a:cubicBezTo>
                <a:cubicBezTo>
                  <a:pt x="110" y="2336"/>
                  <a:pt x="99" y="2330"/>
                  <a:pt x="88" y="2322"/>
                </a:cubicBezTo>
                <a:cubicBezTo>
                  <a:pt x="77" y="2315"/>
                  <a:pt x="67" y="2307"/>
                  <a:pt x="58" y="2298"/>
                </a:cubicBezTo>
                <a:cubicBezTo>
                  <a:pt x="49" y="2288"/>
                  <a:pt x="40" y="2278"/>
                  <a:pt x="33" y="2268"/>
                </a:cubicBezTo>
                <a:cubicBezTo>
                  <a:pt x="26" y="2257"/>
                  <a:pt x="20" y="2245"/>
                  <a:pt x="15" y="2233"/>
                </a:cubicBezTo>
                <a:cubicBezTo>
                  <a:pt x="10" y="2221"/>
                  <a:pt x="6" y="2209"/>
                  <a:pt x="4" y="2196"/>
                </a:cubicBezTo>
                <a:cubicBezTo>
                  <a:pt x="1" y="2183"/>
                  <a:pt x="0" y="2170"/>
                  <a:pt x="0" y="2157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Forma libre 150"/>
          <p:cNvSpPr/>
          <p:nvPr/>
        </p:nvSpPr>
        <p:spPr>
          <a:xfrm>
            <a:off x="671400" y="2004840"/>
            <a:ext cx="10849320" cy="848160"/>
          </a:xfrm>
          <a:custGeom>
            <a:avLst/>
            <a:gdLst/>
            <a:ahLst/>
            <a:cxnLst/>
            <a:rect l="0" t="0" r="r" b="b"/>
            <a:pathLst>
              <a:path w="30137" h="2356">
                <a:moveTo>
                  <a:pt x="0" y="2157"/>
                </a:moveTo>
                <a:lnTo>
                  <a:pt x="0" y="198"/>
                </a:lnTo>
                <a:cubicBezTo>
                  <a:pt x="0" y="185"/>
                  <a:pt x="1" y="172"/>
                  <a:pt x="4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2157"/>
                </a:lnTo>
                <a:cubicBezTo>
                  <a:pt x="30137" y="2170"/>
                  <a:pt x="30136" y="2183"/>
                  <a:pt x="30133" y="2196"/>
                </a:cubicBezTo>
                <a:cubicBezTo>
                  <a:pt x="30130" y="2209"/>
                  <a:pt x="30127" y="2221"/>
                  <a:pt x="30122" y="2233"/>
                </a:cubicBezTo>
                <a:cubicBezTo>
                  <a:pt x="30117" y="2245"/>
                  <a:pt x="30111" y="2257"/>
                  <a:pt x="30103" y="2268"/>
                </a:cubicBezTo>
                <a:cubicBezTo>
                  <a:pt x="30096" y="2278"/>
                  <a:pt x="30088" y="2288"/>
                  <a:pt x="30079" y="2298"/>
                </a:cubicBezTo>
                <a:cubicBezTo>
                  <a:pt x="30070" y="2307"/>
                  <a:pt x="30059" y="2315"/>
                  <a:pt x="30049" y="2322"/>
                </a:cubicBezTo>
                <a:cubicBezTo>
                  <a:pt x="30038" y="2330"/>
                  <a:pt x="30026" y="2336"/>
                  <a:pt x="30014" y="2341"/>
                </a:cubicBezTo>
                <a:cubicBezTo>
                  <a:pt x="30002" y="2346"/>
                  <a:pt x="29990" y="2349"/>
                  <a:pt x="29977" y="2352"/>
                </a:cubicBezTo>
                <a:cubicBezTo>
                  <a:pt x="29964" y="2354"/>
                  <a:pt x="29951" y="2356"/>
                  <a:pt x="29938" y="2356"/>
                </a:cubicBezTo>
                <a:lnTo>
                  <a:pt x="198" y="2356"/>
                </a:lnTo>
                <a:cubicBezTo>
                  <a:pt x="185" y="2356"/>
                  <a:pt x="172" y="2354"/>
                  <a:pt x="160" y="2352"/>
                </a:cubicBezTo>
                <a:cubicBezTo>
                  <a:pt x="147" y="2349"/>
                  <a:pt x="134" y="2346"/>
                  <a:pt x="122" y="2341"/>
                </a:cubicBezTo>
                <a:cubicBezTo>
                  <a:pt x="110" y="2336"/>
                  <a:pt x="99" y="2330"/>
                  <a:pt x="88" y="2322"/>
                </a:cubicBezTo>
                <a:cubicBezTo>
                  <a:pt x="77" y="2315"/>
                  <a:pt x="67" y="2307"/>
                  <a:pt x="58" y="2298"/>
                </a:cubicBezTo>
                <a:cubicBezTo>
                  <a:pt x="49" y="2288"/>
                  <a:pt x="40" y="2278"/>
                  <a:pt x="33" y="2268"/>
                </a:cubicBezTo>
                <a:cubicBezTo>
                  <a:pt x="26" y="2257"/>
                  <a:pt x="20" y="2245"/>
                  <a:pt x="15" y="2233"/>
                </a:cubicBezTo>
                <a:cubicBezTo>
                  <a:pt x="10" y="2221"/>
                  <a:pt x="6" y="2209"/>
                  <a:pt x="4" y="2196"/>
                </a:cubicBezTo>
                <a:cubicBezTo>
                  <a:pt x="1" y="2183"/>
                  <a:pt x="0" y="2170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CuadroTexto 153"/>
          <p:cNvSpPr txBox="1"/>
          <p:nvPr/>
        </p:nvSpPr>
        <p:spPr>
          <a:xfrm>
            <a:off x="666720" y="1358640"/>
            <a:ext cx="2103717" cy="3924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Tablas</a:t>
            </a:r>
            <a:r>
              <a:rPr lang="es-ES" sz="2550" dirty="0">
                <a:solidFill>
                  <a:srgbClr val="0B3C5D"/>
                </a:solidFill>
                <a:latin typeface="HelveticaNeue"/>
                <a:ea typeface="HelveticaNeue"/>
              </a:rPr>
              <a:t> y </a:t>
            </a:r>
            <a:r>
              <a:rPr lang="es-ES" sz="2550" b="0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llaves</a:t>
            </a:r>
            <a:endParaRPr lang="es-ES" sz="25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CuadroTexto 154"/>
          <p:cNvSpPr txBox="1"/>
          <p:nvPr/>
        </p:nvSpPr>
        <p:spPr>
          <a:xfrm>
            <a:off x="866880" y="2184840"/>
            <a:ext cx="589680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person(person_id PK, gender_concept_id, year_of_birth)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Forma libre 155"/>
          <p:cNvSpPr/>
          <p:nvPr/>
        </p:nvSpPr>
        <p:spPr>
          <a:xfrm>
            <a:off x="914040" y="316224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59"/>
                  <a:pt x="192" y="170"/>
                  <a:pt x="182" y="180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0"/>
                </a:cubicBezTo>
                <a:cubicBezTo>
                  <a:pt x="22" y="170"/>
                  <a:pt x="14" y="159"/>
                  <a:pt x="9" y="146"/>
                </a:cubicBezTo>
                <a:cubicBezTo>
                  <a:pt x="3" y="133"/>
                  <a:pt x="0" y="120"/>
                  <a:pt x="0" y="105"/>
                </a:cubicBezTo>
                <a:cubicBezTo>
                  <a:pt x="0" y="91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7" y="0"/>
                </a:cubicBezTo>
                <a:cubicBezTo>
                  <a:pt x="121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CuadroTexto 156"/>
          <p:cNvSpPr txBox="1"/>
          <p:nvPr/>
        </p:nvSpPr>
        <p:spPr>
          <a:xfrm>
            <a:off x="866880" y="2451600"/>
            <a:ext cx="786204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visit_occurrence(visit_occurrence_id PK, person_id FK, visit_start_date)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Forma libre 157"/>
          <p:cNvSpPr/>
          <p:nvPr/>
        </p:nvSpPr>
        <p:spPr>
          <a:xfrm>
            <a:off x="914040" y="35622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CuadroTexto 158"/>
          <p:cNvSpPr txBox="1"/>
          <p:nvPr/>
        </p:nvSpPr>
        <p:spPr>
          <a:xfrm>
            <a:off x="1123920" y="3049560"/>
            <a:ext cx="48225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Llave primaria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identiﬁca una ﬁla de forma única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uadroTexto 160"/>
          <p:cNvSpPr txBox="1"/>
          <p:nvPr/>
        </p:nvSpPr>
        <p:spPr>
          <a:xfrm>
            <a:off x="1123920" y="3449520"/>
            <a:ext cx="81903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Llave foránea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: apunta a la primaria de otra tabla — es lo que hace posible el JOIN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CuadroTexto 166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CuadroTexto 167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CuadroTexto 168"/>
          <p:cNvSpPr txBox="1"/>
          <p:nvPr/>
        </p:nvSpPr>
        <p:spPr>
          <a:xfrm>
            <a:off x="11826720" y="6474240"/>
            <a:ext cx="14256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26" name="Picture 2" descr="Difference between Primary Key and Foreign Key">
            <a:extLst>
              <a:ext uri="{FF2B5EF4-FFF2-40B4-BE49-F238E27FC236}">
                <a16:creationId xmlns:a16="http://schemas.microsoft.com/office/drawing/2014/main" id="{BDD88618-9A91-F394-0FD2-53628833C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9450" y="3795218"/>
            <a:ext cx="4556783" cy="2990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Forma libre 16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Forma libre 17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Forma libre 17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Forma libre 172"/>
          <p:cNvSpPr/>
          <p:nvPr/>
        </p:nvSpPr>
        <p:spPr>
          <a:xfrm>
            <a:off x="5333760" y="3066840"/>
            <a:ext cx="2105280" cy="619560"/>
          </a:xfrm>
          <a:custGeom>
            <a:avLst/>
            <a:gdLst/>
            <a:ahLst/>
            <a:cxnLst/>
            <a:rect l="0" t="0" r="r" b="b"/>
            <a:pathLst>
              <a:path w="5848" h="1721">
                <a:moveTo>
                  <a:pt x="0" y="1615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743" y="0"/>
                </a:lnTo>
                <a:cubicBezTo>
                  <a:pt x="5757" y="0"/>
                  <a:pt x="5770" y="3"/>
                  <a:pt x="5783" y="8"/>
                </a:cubicBezTo>
                <a:cubicBezTo>
                  <a:pt x="5796" y="14"/>
                  <a:pt x="5808" y="21"/>
                  <a:pt x="5817" y="31"/>
                </a:cubicBezTo>
                <a:cubicBezTo>
                  <a:pt x="5827" y="41"/>
                  <a:pt x="5835" y="52"/>
                  <a:pt x="5840" y="65"/>
                </a:cubicBezTo>
                <a:cubicBezTo>
                  <a:pt x="5846" y="78"/>
                  <a:pt x="5848" y="92"/>
                  <a:pt x="5848" y="106"/>
                </a:cubicBezTo>
                <a:lnTo>
                  <a:pt x="5848" y="1615"/>
                </a:lnTo>
                <a:cubicBezTo>
                  <a:pt x="5848" y="1629"/>
                  <a:pt x="5846" y="1643"/>
                  <a:pt x="5840" y="1656"/>
                </a:cubicBezTo>
                <a:cubicBezTo>
                  <a:pt x="5835" y="1669"/>
                  <a:pt x="5827" y="1680"/>
                  <a:pt x="5817" y="1690"/>
                </a:cubicBezTo>
                <a:cubicBezTo>
                  <a:pt x="5808" y="1700"/>
                  <a:pt x="5796" y="1707"/>
                  <a:pt x="5783" y="1713"/>
                </a:cubicBezTo>
                <a:cubicBezTo>
                  <a:pt x="5770" y="1718"/>
                  <a:pt x="5757" y="1721"/>
                  <a:pt x="5743" y="1721"/>
                </a:cubicBezTo>
                <a:lnTo>
                  <a:pt x="106" y="1721"/>
                </a:lnTo>
                <a:cubicBezTo>
                  <a:pt x="92" y="1721"/>
                  <a:pt x="78" y="1718"/>
                  <a:pt x="65" y="1713"/>
                </a:cubicBezTo>
                <a:cubicBezTo>
                  <a:pt x="53" y="1707"/>
                  <a:pt x="41" y="1700"/>
                  <a:pt x="31" y="1690"/>
                </a:cubicBezTo>
                <a:cubicBezTo>
                  <a:pt x="21" y="1680"/>
                  <a:pt x="14" y="1669"/>
                  <a:pt x="8" y="1656"/>
                </a:cubicBezTo>
                <a:cubicBezTo>
                  <a:pt x="3" y="1643"/>
                  <a:pt x="0" y="1629"/>
                  <a:pt x="0" y="1615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CuadroTexto 173"/>
          <p:cNvSpPr txBox="1"/>
          <p:nvPr/>
        </p:nvSpPr>
        <p:spPr>
          <a:xfrm>
            <a:off x="4753440" y="3054600"/>
            <a:ext cx="59400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CuadroTexto 174"/>
          <p:cNvSpPr txBox="1"/>
          <p:nvPr/>
        </p:nvSpPr>
        <p:spPr>
          <a:xfrm>
            <a:off x="5437080" y="3067200"/>
            <a:ext cx="1927440" cy="622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SELECT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CuadroTexto 175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CuadroTexto 176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CuadroTexto 177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adroTexto 183"/>
          <p:cNvSpPr txBox="1"/>
          <p:nvPr/>
        </p:nvSpPr>
        <p:spPr>
          <a:xfrm>
            <a:off x="666720" y="1234800"/>
            <a:ext cx="3319820" cy="39241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La sintaxis de SELECT</a:t>
            </a:r>
            <a:endParaRPr lang="es-ES" sz="255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CuadroTexto 221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CuadroTexto 222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CuadroTexto 223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50" name="Picture 2" descr="SQL SELECT and SELECT WHERE (With Examples)">
            <a:extLst>
              <a:ext uri="{FF2B5EF4-FFF2-40B4-BE49-F238E27FC236}">
                <a16:creationId xmlns:a16="http://schemas.microsoft.com/office/drawing/2014/main" id="{F1B3C011-D97F-60D4-7C3A-F9A13DF5A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454" y="1558519"/>
            <a:ext cx="4471379" cy="507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A021AE6-FFA4-0C1B-7D17-C4C832D6A69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728"/>
          <a:stretch/>
        </p:blipFill>
        <p:spPr>
          <a:xfrm>
            <a:off x="285840" y="2181396"/>
            <a:ext cx="4342822" cy="124760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51C837F-57E0-6BBF-AAA8-284CE1236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47" y="3585084"/>
            <a:ext cx="4471379" cy="94660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BD43E37-1AE2-65D7-3962-26C476D54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47" y="4867967"/>
            <a:ext cx="5002205" cy="93611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Forma libre 22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Forma libre 22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Forma libre 22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CuadroTexto 227"/>
          <p:cNvSpPr txBox="1"/>
          <p:nvPr/>
        </p:nvSpPr>
        <p:spPr>
          <a:xfrm>
            <a:off x="3575814" y="3105294"/>
            <a:ext cx="4756110" cy="6463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 dirty="0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4. Filtrado (WHERE)</a:t>
            </a:r>
            <a:endParaRPr lang="es-ES" sz="4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CuadroTexto 228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CuadroTexto 229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CuadroTexto 230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Forma libre 23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Forma libre 23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Forma libre 233"/>
          <p:cNvSpPr/>
          <p:nvPr/>
        </p:nvSpPr>
        <p:spPr>
          <a:xfrm>
            <a:off x="0" y="29484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Forma libre 234"/>
          <p:cNvSpPr/>
          <p:nvPr/>
        </p:nvSpPr>
        <p:spPr>
          <a:xfrm>
            <a:off x="671400" y="1890360"/>
            <a:ext cx="10849320" cy="1371960"/>
          </a:xfrm>
          <a:custGeom>
            <a:avLst/>
            <a:gdLst/>
            <a:ahLst/>
            <a:cxnLst/>
            <a:rect l="0" t="0" r="r" b="b"/>
            <a:pathLst>
              <a:path w="30137" h="3811">
                <a:moveTo>
                  <a:pt x="0" y="361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1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100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3613"/>
                </a:lnTo>
                <a:cubicBezTo>
                  <a:pt x="30137" y="3626"/>
                  <a:pt x="30136" y="3639"/>
                  <a:pt x="30133" y="3652"/>
                </a:cubicBezTo>
                <a:cubicBezTo>
                  <a:pt x="30130" y="3665"/>
                  <a:pt x="30127" y="3677"/>
                  <a:pt x="30122" y="3689"/>
                </a:cubicBezTo>
                <a:cubicBezTo>
                  <a:pt x="30117" y="3701"/>
                  <a:pt x="30111" y="3712"/>
                  <a:pt x="30103" y="3723"/>
                </a:cubicBezTo>
                <a:cubicBezTo>
                  <a:pt x="30096" y="3734"/>
                  <a:pt x="30088" y="3744"/>
                  <a:pt x="30079" y="3753"/>
                </a:cubicBezTo>
                <a:cubicBezTo>
                  <a:pt x="30070" y="3763"/>
                  <a:pt x="30059" y="3771"/>
                  <a:pt x="30049" y="3778"/>
                </a:cubicBezTo>
                <a:cubicBezTo>
                  <a:pt x="30038" y="3785"/>
                  <a:pt x="30026" y="3791"/>
                  <a:pt x="30014" y="3796"/>
                </a:cubicBezTo>
                <a:cubicBezTo>
                  <a:pt x="30002" y="3801"/>
                  <a:pt x="29990" y="3805"/>
                  <a:pt x="29977" y="3808"/>
                </a:cubicBezTo>
                <a:cubicBezTo>
                  <a:pt x="29964" y="3810"/>
                  <a:pt x="29951" y="3811"/>
                  <a:pt x="29938" y="3811"/>
                </a:cubicBezTo>
                <a:lnTo>
                  <a:pt x="198" y="3811"/>
                </a:lnTo>
                <a:cubicBezTo>
                  <a:pt x="185" y="3811"/>
                  <a:pt x="172" y="3810"/>
                  <a:pt x="160" y="3808"/>
                </a:cubicBezTo>
                <a:cubicBezTo>
                  <a:pt x="147" y="3805"/>
                  <a:pt x="134" y="3801"/>
                  <a:pt x="122" y="3796"/>
                </a:cubicBezTo>
                <a:cubicBezTo>
                  <a:pt x="110" y="3791"/>
                  <a:pt x="99" y="3785"/>
                  <a:pt x="88" y="3778"/>
                </a:cubicBezTo>
                <a:cubicBezTo>
                  <a:pt x="77" y="3771"/>
                  <a:pt x="67" y="3763"/>
                  <a:pt x="58" y="3753"/>
                </a:cubicBezTo>
                <a:cubicBezTo>
                  <a:pt x="49" y="3744"/>
                  <a:pt x="40" y="3734"/>
                  <a:pt x="33" y="3723"/>
                </a:cubicBezTo>
                <a:cubicBezTo>
                  <a:pt x="26" y="3712"/>
                  <a:pt x="20" y="3701"/>
                  <a:pt x="15" y="3689"/>
                </a:cubicBezTo>
                <a:cubicBezTo>
                  <a:pt x="10" y="3677"/>
                  <a:pt x="6" y="3665"/>
                  <a:pt x="4" y="3652"/>
                </a:cubicBezTo>
                <a:cubicBezTo>
                  <a:pt x="1" y="3639"/>
                  <a:pt x="0" y="3626"/>
                  <a:pt x="0" y="3613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Forma libre 235"/>
          <p:cNvSpPr/>
          <p:nvPr/>
        </p:nvSpPr>
        <p:spPr>
          <a:xfrm>
            <a:off x="671400" y="1890360"/>
            <a:ext cx="10849320" cy="1371960"/>
          </a:xfrm>
          <a:custGeom>
            <a:avLst/>
            <a:gdLst/>
            <a:ahLst/>
            <a:cxnLst/>
            <a:rect l="0" t="0" r="r" b="b"/>
            <a:pathLst>
              <a:path w="30137" h="3811">
                <a:moveTo>
                  <a:pt x="0" y="3613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2"/>
                  <a:pt x="29977" y="4"/>
                </a:cubicBezTo>
                <a:cubicBezTo>
                  <a:pt x="29990" y="7"/>
                  <a:pt x="30002" y="11"/>
                  <a:pt x="30014" y="16"/>
                </a:cubicBezTo>
                <a:cubicBezTo>
                  <a:pt x="30026" y="21"/>
                  <a:pt x="30038" y="27"/>
                  <a:pt x="30049" y="34"/>
                </a:cubicBezTo>
                <a:cubicBezTo>
                  <a:pt x="30059" y="41"/>
                  <a:pt x="30070" y="49"/>
                  <a:pt x="30079" y="59"/>
                </a:cubicBezTo>
                <a:cubicBezTo>
                  <a:pt x="30088" y="68"/>
                  <a:pt x="30096" y="78"/>
                  <a:pt x="30103" y="89"/>
                </a:cubicBezTo>
                <a:cubicBezTo>
                  <a:pt x="30111" y="100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3613"/>
                </a:lnTo>
                <a:cubicBezTo>
                  <a:pt x="30137" y="3626"/>
                  <a:pt x="30136" y="3639"/>
                  <a:pt x="30133" y="3652"/>
                </a:cubicBezTo>
                <a:cubicBezTo>
                  <a:pt x="30130" y="3665"/>
                  <a:pt x="30127" y="3677"/>
                  <a:pt x="30122" y="3689"/>
                </a:cubicBezTo>
                <a:cubicBezTo>
                  <a:pt x="30117" y="3701"/>
                  <a:pt x="30111" y="3712"/>
                  <a:pt x="30103" y="3723"/>
                </a:cubicBezTo>
                <a:cubicBezTo>
                  <a:pt x="30096" y="3734"/>
                  <a:pt x="30088" y="3744"/>
                  <a:pt x="30079" y="3753"/>
                </a:cubicBezTo>
                <a:cubicBezTo>
                  <a:pt x="30070" y="3763"/>
                  <a:pt x="30059" y="3771"/>
                  <a:pt x="30049" y="3778"/>
                </a:cubicBezTo>
                <a:cubicBezTo>
                  <a:pt x="30038" y="3785"/>
                  <a:pt x="30026" y="3791"/>
                  <a:pt x="30014" y="3796"/>
                </a:cubicBezTo>
                <a:cubicBezTo>
                  <a:pt x="30002" y="3801"/>
                  <a:pt x="29990" y="3805"/>
                  <a:pt x="29977" y="3808"/>
                </a:cubicBezTo>
                <a:cubicBezTo>
                  <a:pt x="29964" y="3810"/>
                  <a:pt x="29951" y="3811"/>
                  <a:pt x="29938" y="3811"/>
                </a:cubicBezTo>
                <a:lnTo>
                  <a:pt x="198" y="3811"/>
                </a:lnTo>
                <a:cubicBezTo>
                  <a:pt x="185" y="3811"/>
                  <a:pt x="172" y="3810"/>
                  <a:pt x="160" y="3808"/>
                </a:cubicBezTo>
                <a:cubicBezTo>
                  <a:pt x="147" y="3805"/>
                  <a:pt x="134" y="3801"/>
                  <a:pt x="122" y="3796"/>
                </a:cubicBezTo>
                <a:cubicBezTo>
                  <a:pt x="110" y="3791"/>
                  <a:pt x="99" y="3785"/>
                  <a:pt x="88" y="3778"/>
                </a:cubicBezTo>
                <a:cubicBezTo>
                  <a:pt x="77" y="3771"/>
                  <a:pt x="67" y="3763"/>
                  <a:pt x="58" y="3753"/>
                </a:cubicBezTo>
                <a:cubicBezTo>
                  <a:pt x="49" y="3744"/>
                  <a:pt x="40" y="3734"/>
                  <a:pt x="33" y="3723"/>
                </a:cubicBezTo>
                <a:cubicBezTo>
                  <a:pt x="26" y="3712"/>
                  <a:pt x="20" y="3701"/>
                  <a:pt x="15" y="3689"/>
                </a:cubicBezTo>
                <a:cubicBezTo>
                  <a:pt x="10" y="3677"/>
                  <a:pt x="6" y="3665"/>
                  <a:pt x="4" y="3652"/>
                </a:cubicBezTo>
                <a:cubicBezTo>
                  <a:pt x="1" y="3639"/>
                  <a:pt x="0" y="3626"/>
                  <a:pt x="0" y="361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Forma libre 236"/>
          <p:cNvSpPr/>
          <p:nvPr/>
        </p:nvSpPr>
        <p:spPr>
          <a:xfrm>
            <a:off x="666720" y="4714560"/>
            <a:ext cx="10858680" cy="914760"/>
          </a:xfrm>
          <a:custGeom>
            <a:avLst/>
            <a:gdLst/>
            <a:ahLst/>
            <a:cxnLst/>
            <a:rect l="0" t="0" r="r" b="b"/>
            <a:pathLst>
              <a:path w="30163" h="2541">
                <a:moveTo>
                  <a:pt x="0" y="0"/>
                </a:moveTo>
                <a:lnTo>
                  <a:pt x="30163" y="0"/>
                </a:lnTo>
                <a:lnTo>
                  <a:pt x="3016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Forma libre 237"/>
          <p:cNvSpPr/>
          <p:nvPr/>
        </p:nvSpPr>
        <p:spPr>
          <a:xfrm>
            <a:off x="666720" y="4714560"/>
            <a:ext cx="47880" cy="914760"/>
          </a:xfrm>
          <a:custGeom>
            <a:avLst/>
            <a:gdLst/>
            <a:ahLst/>
            <a:cxnLst/>
            <a:rect l="0" t="0" r="r" b="b"/>
            <a:pathLst>
              <a:path w="133" h="2541">
                <a:moveTo>
                  <a:pt x="0" y="0"/>
                </a:moveTo>
                <a:lnTo>
                  <a:pt x="133" y="0"/>
                </a:lnTo>
                <a:lnTo>
                  <a:pt x="13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Forma libre 238"/>
          <p:cNvSpPr/>
          <p:nvPr/>
        </p:nvSpPr>
        <p:spPr>
          <a:xfrm>
            <a:off x="666720" y="1247760"/>
            <a:ext cx="1086120" cy="381240"/>
          </a:xfrm>
          <a:custGeom>
            <a:avLst/>
            <a:gdLst/>
            <a:ahLst/>
            <a:cxnLst/>
            <a:rect l="0" t="0" r="r" b="b"/>
            <a:pathLst>
              <a:path w="3017" h="1059">
                <a:moveTo>
                  <a:pt x="0" y="953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911" y="0"/>
                </a:lnTo>
                <a:cubicBezTo>
                  <a:pt x="2925" y="0"/>
                  <a:pt x="2939" y="2"/>
                  <a:pt x="2952" y="8"/>
                </a:cubicBezTo>
                <a:cubicBezTo>
                  <a:pt x="2964" y="13"/>
                  <a:pt x="2976" y="21"/>
                  <a:pt x="2986" y="31"/>
                </a:cubicBezTo>
                <a:cubicBezTo>
                  <a:pt x="2996" y="40"/>
                  <a:pt x="3003" y="52"/>
                  <a:pt x="3009" y="65"/>
                </a:cubicBezTo>
                <a:cubicBezTo>
                  <a:pt x="3014" y="78"/>
                  <a:pt x="3017" y="91"/>
                  <a:pt x="3017" y="105"/>
                </a:cubicBezTo>
                <a:lnTo>
                  <a:pt x="3017" y="953"/>
                </a:lnTo>
                <a:cubicBezTo>
                  <a:pt x="3017" y="967"/>
                  <a:pt x="3014" y="981"/>
                  <a:pt x="3009" y="994"/>
                </a:cubicBezTo>
                <a:cubicBezTo>
                  <a:pt x="3003" y="1007"/>
                  <a:pt x="2996" y="1018"/>
                  <a:pt x="2986" y="1028"/>
                </a:cubicBezTo>
                <a:cubicBezTo>
                  <a:pt x="2976" y="1038"/>
                  <a:pt x="2964" y="1045"/>
                  <a:pt x="2952" y="1051"/>
                </a:cubicBezTo>
                <a:cubicBezTo>
                  <a:pt x="2939" y="1056"/>
                  <a:pt x="2925" y="1059"/>
                  <a:pt x="2911" y="1059"/>
                </a:cubicBezTo>
                <a:lnTo>
                  <a:pt x="105" y="1059"/>
                </a:lnTo>
                <a:cubicBezTo>
                  <a:pt x="91" y="1059"/>
                  <a:pt x="78" y="1056"/>
                  <a:pt x="65" y="1051"/>
                </a:cubicBezTo>
                <a:cubicBezTo>
                  <a:pt x="52" y="1045"/>
                  <a:pt x="41" y="1038"/>
                  <a:pt x="31" y="1028"/>
                </a:cubicBezTo>
                <a:cubicBezTo>
                  <a:pt x="21" y="1018"/>
                  <a:pt x="13" y="1007"/>
                  <a:pt x="8" y="994"/>
                </a:cubicBezTo>
                <a:cubicBezTo>
                  <a:pt x="2" y="981"/>
                  <a:pt x="0" y="967"/>
                  <a:pt x="0" y="953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CuadroTexto 239"/>
          <p:cNvSpPr txBox="1"/>
          <p:nvPr/>
        </p:nvSpPr>
        <p:spPr>
          <a:xfrm>
            <a:off x="731520" y="1252080"/>
            <a:ext cx="9777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WHERE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CuadroTexto 240"/>
          <p:cNvSpPr txBox="1"/>
          <p:nvPr/>
        </p:nvSpPr>
        <p:spPr>
          <a:xfrm>
            <a:off x="1755000" y="1244160"/>
            <a:ext cx="261036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con datos clínicos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CuadroTexto 241"/>
          <p:cNvSpPr txBox="1"/>
          <p:nvPr/>
        </p:nvSpPr>
        <p:spPr>
          <a:xfrm>
            <a:off x="866880" y="2070360"/>
            <a:ext cx="535104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WHERE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co.condition_concept_id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201826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,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201820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)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CuadroTexto 242"/>
          <p:cNvSpPr txBox="1"/>
          <p:nvPr/>
        </p:nvSpPr>
        <p:spPr>
          <a:xfrm>
            <a:off x="866880" y="2337120"/>
            <a:ext cx="840780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AND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co.condition_start_date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BETWEEN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DATE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E8C07D"/>
                </a:solidFill>
                <a:effectLst/>
                <a:uFillTx/>
                <a:latin typeface="Menlo"/>
                <a:ea typeface="Menlo"/>
              </a:rPr>
              <a:t>'2020-01-01'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AND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DATE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E8C07D"/>
                </a:solidFill>
                <a:effectLst/>
                <a:uFillTx/>
                <a:latin typeface="Menlo"/>
                <a:ea typeface="Menlo"/>
              </a:rPr>
              <a:t>'2023-12-31'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CuadroTexto 243"/>
          <p:cNvSpPr txBox="1"/>
          <p:nvPr/>
        </p:nvSpPr>
        <p:spPr>
          <a:xfrm>
            <a:off x="866880" y="2594160"/>
            <a:ext cx="36039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AND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p.year_of_birth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IS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NOT NULL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Forma libre 244"/>
          <p:cNvSpPr/>
          <p:nvPr/>
        </p:nvSpPr>
        <p:spPr>
          <a:xfrm>
            <a:off x="914040" y="357156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2" y="172"/>
                  <a:pt x="14" y="161"/>
                  <a:pt x="9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Forma libre 245"/>
          <p:cNvSpPr/>
          <p:nvPr/>
        </p:nvSpPr>
        <p:spPr>
          <a:xfrm>
            <a:off x="1123920" y="3476520"/>
            <a:ext cx="352800" cy="267120"/>
          </a:xfrm>
          <a:custGeom>
            <a:avLst/>
            <a:gdLst/>
            <a:ahLst/>
            <a:cxnLst/>
            <a:rect l="0" t="0" r="r" b="b"/>
            <a:pathLst>
              <a:path w="980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874" y="0"/>
                </a:lnTo>
                <a:cubicBezTo>
                  <a:pt x="888" y="0"/>
                  <a:pt x="901" y="2"/>
                  <a:pt x="914" y="8"/>
                </a:cubicBezTo>
                <a:cubicBezTo>
                  <a:pt x="927" y="13"/>
                  <a:pt x="939" y="21"/>
                  <a:pt x="949" y="31"/>
                </a:cubicBezTo>
                <a:cubicBezTo>
                  <a:pt x="958" y="41"/>
                  <a:pt x="966" y="52"/>
                  <a:pt x="971" y="65"/>
                </a:cubicBezTo>
                <a:cubicBezTo>
                  <a:pt x="977" y="78"/>
                  <a:pt x="980" y="92"/>
                  <a:pt x="980" y="106"/>
                </a:cubicBezTo>
                <a:lnTo>
                  <a:pt x="980" y="636"/>
                </a:lnTo>
                <a:cubicBezTo>
                  <a:pt x="980" y="650"/>
                  <a:pt x="977" y="663"/>
                  <a:pt x="971" y="676"/>
                </a:cubicBezTo>
                <a:cubicBezTo>
                  <a:pt x="966" y="689"/>
                  <a:pt x="958" y="701"/>
                  <a:pt x="949" y="711"/>
                </a:cubicBezTo>
                <a:cubicBezTo>
                  <a:pt x="939" y="721"/>
                  <a:pt x="927" y="728"/>
                  <a:pt x="914" y="734"/>
                </a:cubicBezTo>
                <a:cubicBezTo>
                  <a:pt x="901" y="739"/>
                  <a:pt x="888" y="742"/>
                  <a:pt x="874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8"/>
                  <a:pt x="41" y="721"/>
                  <a:pt x="31" y="711"/>
                </a:cubicBezTo>
                <a:cubicBezTo>
                  <a:pt x="21" y="701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CuadroTexto 246"/>
          <p:cNvSpPr txBox="1"/>
          <p:nvPr/>
        </p:nvSpPr>
        <p:spPr>
          <a:xfrm>
            <a:off x="866880" y="2860920"/>
            <a:ext cx="42591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AND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c.concept_name ILIKE </a:t>
            </a:r>
            <a:r>
              <a:rPr lang="es-ES" sz="1430" b="0" u="none" strike="noStrike">
                <a:solidFill>
                  <a:srgbClr val="E8C07D"/>
                </a:solidFill>
                <a:effectLst/>
                <a:uFillTx/>
                <a:latin typeface="Menlo"/>
                <a:ea typeface="Menlo"/>
              </a:rPr>
              <a:t>'%diabetes%'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CuadroTexto 247"/>
          <p:cNvSpPr txBox="1"/>
          <p:nvPr/>
        </p:nvSpPr>
        <p:spPr>
          <a:xfrm>
            <a:off x="1181160" y="3496320"/>
            <a:ext cx="2354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IN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Forma libre 248"/>
          <p:cNvSpPr/>
          <p:nvPr/>
        </p:nvSpPr>
        <p:spPr>
          <a:xfrm>
            <a:off x="2724120" y="3476520"/>
            <a:ext cx="933480" cy="267120"/>
          </a:xfrm>
          <a:custGeom>
            <a:avLst/>
            <a:gdLst/>
            <a:ahLst/>
            <a:cxnLst/>
            <a:rect l="0" t="0" r="r" b="b"/>
            <a:pathLst>
              <a:path w="2593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488" y="0"/>
                </a:lnTo>
                <a:cubicBezTo>
                  <a:pt x="2502" y="0"/>
                  <a:pt x="2515" y="2"/>
                  <a:pt x="2528" y="8"/>
                </a:cubicBezTo>
                <a:cubicBezTo>
                  <a:pt x="2541" y="13"/>
                  <a:pt x="2553" y="21"/>
                  <a:pt x="2563" y="31"/>
                </a:cubicBezTo>
                <a:cubicBezTo>
                  <a:pt x="2572" y="41"/>
                  <a:pt x="2580" y="52"/>
                  <a:pt x="2585" y="65"/>
                </a:cubicBezTo>
                <a:cubicBezTo>
                  <a:pt x="2591" y="78"/>
                  <a:pt x="2593" y="92"/>
                  <a:pt x="2593" y="106"/>
                </a:cubicBezTo>
                <a:lnTo>
                  <a:pt x="2593" y="636"/>
                </a:lnTo>
                <a:cubicBezTo>
                  <a:pt x="2593" y="650"/>
                  <a:pt x="2591" y="663"/>
                  <a:pt x="2585" y="676"/>
                </a:cubicBezTo>
                <a:cubicBezTo>
                  <a:pt x="2580" y="689"/>
                  <a:pt x="2572" y="701"/>
                  <a:pt x="2563" y="711"/>
                </a:cubicBezTo>
                <a:cubicBezTo>
                  <a:pt x="2553" y="721"/>
                  <a:pt x="2541" y="728"/>
                  <a:pt x="2528" y="734"/>
                </a:cubicBezTo>
                <a:cubicBezTo>
                  <a:pt x="2515" y="739"/>
                  <a:pt x="2502" y="742"/>
                  <a:pt x="2488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8"/>
                  <a:pt x="41" y="721"/>
                  <a:pt x="31" y="711"/>
                </a:cubicBezTo>
                <a:cubicBezTo>
                  <a:pt x="21" y="701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CuadroTexto 249"/>
          <p:cNvSpPr txBox="1"/>
          <p:nvPr/>
        </p:nvSpPr>
        <p:spPr>
          <a:xfrm>
            <a:off x="1472400" y="3458880"/>
            <a:ext cx="1249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para listas ·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CuadroTexto 250"/>
          <p:cNvSpPr txBox="1"/>
          <p:nvPr/>
        </p:nvSpPr>
        <p:spPr>
          <a:xfrm>
            <a:off x="2778480" y="3496320"/>
            <a:ext cx="822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BETWEEN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Forma libre 251"/>
          <p:cNvSpPr/>
          <p:nvPr/>
        </p:nvSpPr>
        <p:spPr>
          <a:xfrm>
            <a:off x="914040" y="39718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2" y="171"/>
                  <a:pt x="14" y="160"/>
                  <a:pt x="9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7" y="0"/>
                </a:cubicBezTo>
                <a:cubicBezTo>
                  <a:pt x="121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Forma libre 252"/>
          <p:cNvSpPr/>
          <p:nvPr/>
        </p:nvSpPr>
        <p:spPr>
          <a:xfrm>
            <a:off x="1123920" y="3876480"/>
            <a:ext cx="695520" cy="267120"/>
          </a:xfrm>
          <a:custGeom>
            <a:avLst/>
            <a:gdLst/>
            <a:ahLst/>
            <a:cxnLst/>
            <a:rect l="0" t="0" r="r" b="b"/>
            <a:pathLst>
              <a:path w="1932" h="742">
                <a:moveTo>
                  <a:pt x="0" y="635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826" y="0"/>
                </a:lnTo>
                <a:cubicBezTo>
                  <a:pt x="1840" y="0"/>
                  <a:pt x="1854" y="3"/>
                  <a:pt x="1867" y="8"/>
                </a:cubicBezTo>
                <a:cubicBezTo>
                  <a:pt x="1880" y="13"/>
                  <a:pt x="1891" y="21"/>
                  <a:pt x="1901" y="31"/>
                </a:cubicBezTo>
                <a:cubicBezTo>
                  <a:pt x="1911" y="41"/>
                  <a:pt x="1919" y="52"/>
                  <a:pt x="1924" y="65"/>
                </a:cubicBezTo>
                <a:cubicBezTo>
                  <a:pt x="1929" y="78"/>
                  <a:pt x="1932" y="92"/>
                  <a:pt x="1932" y="106"/>
                </a:cubicBezTo>
                <a:lnTo>
                  <a:pt x="1932" y="635"/>
                </a:lnTo>
                <a:cubicBezTo>
                  <a:pt x="1932" y="649"/>
                  <a:pt x="1929" y="663"/>
                  <a:pt x="1924" y="676"/>
                </a:cubicBezTo>
                <a:cubicBezTo>
                  <a:pt x="1919" y="689"/>
                  <a:pt x="1911" y="700"/>
                  <a:pt x="1901" y="711"/>
                </a:cubicBezTo>
                <a:cubicBezTo>
                  <a:pt x="1891" y="721"/>
                  <a:pt x="1880" y="728"/>
                  <a:pt x="1867" y="734"/>
                </a:cubicBezTo>
                <a:cubicBezTo>
                  <a:pt x="1854" y="739"/>
                  <a:pt x="1840" y="742"/>
                  <a:pt x="1826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8"/>
                  <a:pt x="41" y="721"/>
                  <a:pt x="31" y="711"/>
                </a:cubicBezTo>
                <a:cubicBezTo>
                  <a:pt x="21" y="700"/>
                  <a:pt x="13" y="689"/>
                  <a:pt x="8" y="676"/>
                </a:cubicBezTo>
                <a:cubicBezTo>
                  <a:pt x="2" y="663"/>
                  <a:pt x="0" y="649"/>
                  <a:pt x="0" y="635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CuadroTexto 253"/>
          <p:cNvSpPr txBox="1"/>
          <p:nvPr/>
        </p:nvSpPr>
        <p:spPr>
          <a:xfrm>
            <a:off x="3654720" y="3458880"/>
            <a:ext cx="2922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inclusivo en ambos extremos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CuadroTexto 254"/>
          <p:cNvSpPr txBox="1"/>
          <p:nvPr/>
        </p:nvSpPr>
        <p:spPr>
          <a:xfrm>
            <a:off x="1181160" y="3896280"/>
            <a:ext cx="587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ILIKE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CuadroTexto 256"/>
          <p:cNvSpPr txBox="1"/>
          <p:nvPr/>
        </p:nvSpPr>
        <p:spPr>
          <a:xfrm>
            <a:off x="1823400" y="3859200"/>
            <a:ext cx="4307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ignora mayúsculas (en DuckDB y Postgres)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Forma libre 263"/>
          <p:cNvSpPr/>
          <p:nvPr/>
        </p:nvSpPr>
        <p:spPr>
          <a:xfrm>
            <a:off x="3314520" y="4886280"/>
            <a:ext cx="695520" cy="266760"/>
          </a:xfrm>
          <a:custGeom>
            <a:avLst/>
            <a:gdLst/>
            <a:ahLst/>
            <a:cxnLst/>
            <a:rect l="0" t="0" r="r" b="b"/>
            <a:pathLst>
              <a:path w="1932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2"/>
                  <a:pt x="1867" y="8"/>
                </a:cubicBezTo>
                <a:cubicBezTo>
                  <a:pt x="1880" y="13"/>
                  <a:pt x="1892" y="21"/>
                  <a:pt x="1901" y="31"/>
                </a:cubicBezTo>
                <a:cubicBezTo>
                  <a:pt x="1911" y="41"/>
                  <a:pt x="1919" y="52"/>
                  <a:pt x="1924" y="65"/>
                </a:cubicBezTo>
                <a:cubicBezTo>
                  <a:pt x="1930" y="78"/>
                  <a:pt x="1932" y="91"/>
                  <a:pt x="1932" y="105"/>
                </a:cubicBezTo>
                <a:lnTo>
                  <a:pt x="1932" y="636"/>
                </a:lnTo>
                <a:cubicBezTo>
                  <a:pt x="1932" y="650"/>
                  <a:pt x="1930" y="663"/>
                  <a:pt x="1924" y="676"/>
                </a:cubicBezTo>
                <a:cubicBezTo>
                  <a:pt x="1919" y="689"/>
                  <a:pt x="1911" y="701"/>
                  <a:pt x="1901" y="710"/>
                </a:cubicBezTo>
                <a:cubicBezTo>
                  <a:pt x="1892" y="720"/>
                  <a:pt x="1880" y="728"/>
                  <a:pt x="1867" y="733"/>
                </a:cubicBezTo>
                <a:cubicBezTo>
                  <a:pt x="1854" y="739"/>
                  <a:pt x="1841" y="741"/>
                  <a:pt x="1827" y="741"/>
                </a:cubicBezTo>
                <a:lnTo>
                  <a:pt x="106" y="741"/>
                </a:lnTo>
                <a:cubicBezTo>
                  <a:pt x="92" y="741"/>
                  <a:pt x="78" y="739"/>
                  <a:pt x="65" y="733"/>
                </a:cubicBezTo>
                <a:cubicBezTo>
                  <a:pt x="52" y="728"/>
                  <a:pt x="41" y="720"/>
                  <a:pt x="31" y="710"/>
                </a:cubicBezTo>
                <a:cubicBezTo>
                  <a:pt x="21" y="701"/>
                  <a:pt x="13" y="689"/>
                  <a:pt x="8" y="676"/>
                </a:cubicBezTo>
                <a:cubicBezTo>
                  <a:pt x="3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CuadroTexto 264"/>
          <p:cNvSpPr txBox="1"/>
          <p:nvPr/>
        </p:nvSpPr>
        <p:spPr>
          <a:xfrm>
            <a:off x="905040" y="4868640"/>
            <a:ext cx="2410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Buscar por nombre con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CuadroTexto 265"/>
          <p:cNvSpPr txBox="1"/>
          <p:nvPr/>
        </p:nvSpPr>
        <p:spPr>
          <a:xfrm>
            <a:off x="3367800" y="4906080"/>
            <a:ext cx="587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ILIKE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Forma libre 266"/>
          <p:cNvSpPr/>
          <p:nvPr/>
        </p:nvSpPr>
        <p:spPr>
          <a:xfrm>
            <a:off x="9229680" y="4886280"/>
            <a:ext cx="1285920" cy="266760"/>
          </a:xfrm>
          <a:custGeom>
            <a:avLst/>
            <a:gdLst/>
            <a:ahLst/>
            <a:cxnLst/>
            <a:rect l="0" t="0" r="r" b="b"/>
            <a:pathLst>
              <a:path w="3572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3467" y="0"/>
                </a:lnTo>
                <a:cubicBezTo>
                  <a:pt x="3481" y="0"/>
                  <a:pt x="3494" y="2"/>
                  <a:pt x="3507" y="8"/>
                </a:cubicBezTo>
                <a:cubicBezTo>
                  <a:pt x="3520" y="13"/>
                  <a:pt x="3532" y="21"/>
                  <a:pt x="3541" y="31"/>
                </a:cubicBezTo>
                <a:cubicBezTo>
                  <a:pt x="3551" y="41"/>
                  <a:pt x="3559" y="52"/>
                  <a:pt x="3564" y="65"/>
                </a:cubicBezTo>
                <a:cubicBezTo>
                  <a:pt x="3570" y="78"/>
                  <a:pt x="3572" y="91"/>
                  <a:pt x="3572" y="105"/>
                </a:cubicBezTo>
                <a:lnTo>
                  <a:pt x="3572" y="636"/>
                </a:lnTo>
                <a:cubicBezTo>
                  <a:pt x="3572" y="650"/>
                  <a:pt x="3570" y="663"/>
                  <a:pt x="3564" y="676"/>
                </a:cubicBezTo>
                <a:cubicBezTo>
                  <a:pt x="3559" y="689"/>
                  <a:pt x="3551" y="701"/>
                  <a:pt x="3541" y="710"/>
                </a:cubicBezTo>
                <a:cubicBezTo>
                  <a:pt x="3532" y="720"/>
                  <a:pt x="3520" y="728"/>
                  <a:pt x="3507" y="733"/>
                </a:cubicBezTo>
                <a:cubicBezTo>
                  <a:pt x="3494" y="739"/>
                  <a:pt x="3481" y="741"/>
                  <a:pt x="3467" y="741"/>
                </a:cubicBezTo>
                <a:lnTo>
                  <a:pt x="105" y="741"/>
                </a:lnTo>
                <a:cubicBezTo>
                  <a:pt x="91" y="741"/>
                  <a:pt x="78" y="739"/>
                  <a:pt x="65" y="733"/>
                </a:cubicBezTo>
                <a:cubicBezTo>
                  <a:pt x="52" y="728"/>
                  <a:pt x="41" y="720"/>
                  <a:pt x="31" y="710"/>
                </a:cubicBezTo>
                <a:cubicBezTo>
                  <a:pt x="21" y="701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CuadroTexto 267"/>
          <p:cNvSpPr txBox="1"/>
          <p:nvPr/>
        </p:nvSpPr>
        <p:spPr>
          <a:xfrm>
            <a:off x="4010040" y="4868640"/>
            <a:ext cx="5243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 sirve para explorar. Para deﬁnir una cohorte se usan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CuadroTexto 268"/>
          <p:cNvSpPr txBox="1"/>
          <p:nvPr/>
        </p:nvSpPr>
        <p:spPr>
          <a:xfrm>
            <a:off x="9446940" y="4900370"/>
            <a:ext cx="1175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 dirty="0" err="1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concept_id</a:t>
            </a:r>
            <a:endParaRPr lang="es-ES" sz="153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CuadroTexto 269"/>
          <p:cNvSpPr txBox="1"/>
          <p:nvPr/>
        </p:nvSpPr>
        <p:spPr>
          <a:xfrm>
            <a:off x="10515960" y="4868640"/>
            <a:ext cx="377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, no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CuadroTexto 270"/>
          <p:cNvSpPr txBox="1"/>
          <p:nvPr/>
        </p:nvSpPr>
        <p:spPr>
          <a:xfrm>
            <a:off x="905040" y="5211720"/>
            <a:ext cx="2795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texto — eso es la sesión 14.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CuadroTexto 271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CuadroTexto 272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CuadroTexto 273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Forma libre 27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Forma libre 27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Forma libre 27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CuadroTexto 277"/>
          <p:cNvSpPr txBox="1"/>
          <p:nvPr/>
        </p:nvSpPr>
        <p:spPr>
          <a:xfrm>
            <a:off x="4534200" y="3063960"/>
            <a:ext cx="320328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5. Agregación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CuadroTexto 278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CuadroTexto 279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CuadroTexto 280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Forma libre 28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Forma libre 28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Forma libre 28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Forma libre 284"/>
          <p:cNvSpPr/>
          <p:nvPr/>
        </p:nvSpPr>
        <p:spPr>
          <a:xfrm>
            <a:off x="671400" y="2395440"/>
            <a:ext cx="10849320" cy="1895760"/>
          </a:xfrm>
          <a:custGeom>
            <a:avLst/>
            <a:gdLst/>
            <a:ahLst/>
            <a:cxnLst/>
            <a:rect l="0" t="0" r="r" b="b"/>
            <a:pathLst>
              <a:path w="30137" h="5266">
                <a:moveTo>
                  <a:pt x="0" y="506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5068"/>
                </a:lnTo>
                <a:cubicBezTo>
                  <a:pt x="30137" y="5081"/>
                  <a:pt x="30136" y="5093"/>
                  <a:pt x="30133" y="5106"/>
                </a:cubicBezTo>
                <a:cubicBezTo>
                  <a:pt x="30130" y="5119"/>
                  <a:pt x="30127" y="5131"/>
                  <a:pt x="30122" y="5143"/>
                </a:cubicBezTo>
                <a:cubicBezTo>
                  <a:pt x="30117" y="5156"/>
                  <a:pt x="30111" y="5167"/>
                  <a:pt x="30103" y="5178"/>
                </a:cubicBezTo>
                <a:cubicBezTo>
                  <a:pt x="30096" y="5189"/>
                  <a:pt x="30088" y="5199"/>
                  <a:pt x="30079" y="5208"/>
                </a:cubicBezTo>
                <a:cubicBezTo>
                  <a:pt x="30070" y="5217"/>
                  <a:pt x="30059" y="5225"/>
                  <a:pt x="30049" y="5233"/>
                </a:cubicBezTo>
                <a:cubicBezTo>
                  <a:pt x="30038" y="5240"/>
                  <a:pt x="30026" y="5246"/>
                  <a:pt x="30014" y="5251"/>
                </a:cubicBezTo>
                <a:cubicBezTo>
                  <a:pt x="30002" y="5256"/>
                  <a:pt x="29990" y="5260"/>
                  <a:pt x="29977" y="5262"/>
                </a:cubicBezTo>
                <a:cubicBezTo>
                  <a:pt x="29964" y="5265"/>
                  <a:pt x="29951" y="5266"/>
                  <a:pt x="29938" y="5266"/>
                </a:cubicBezTo>
                <a:lnTo>
                  <a:pt x="198" y="5266"/>
                </a:lnTo>
                <a:cubicBezTo>
                  <a:pt x="185" y="5266"/>
                  <a:pt x="172" y="5265"/>
                  <a:pt x="160" y="5262"/>
                </a:cubicBezTo>
                <a:cubicBezTo>
                  <a:pt x="147" y="5260"/>
                  <a:pt x="134" y="5256"/>
                  <a:pt x="122" y="5251"/>
                </a:cubicBezTo>
                <a:cubicBezTo>
                  <a:pt x="110" y="5246"/>
                  <a:pt x="99" y="5240"/>
                  <a:pt x="88" y="5233"/>
                </a:cubicBezTo>
                <a:cubicBezTo>
                  <a:pt x="77" y="5225"/>
                  <a:pt x="67" y="5217"/>
                  <a:pt x="58" y="5208"/>
                </a:cubicBezTo>
                <a:cubicBezTo>
                  <a:pt x="49" y="5199"/>
                  <a:pt x="40" y="5189"/>
                  <a:pt x="33" y="5178"/>
                </a:cubicBezTo>
                <a:cubicBezTo>
                  <a:pt x="26" y="5167"/>
                  <a:pt x="20" y="5156"/>
                  <a:pt x="15" y="5143"/>
                </a:cubicBezTo>
                <a:cubicBezTo>
                  <a:pt x="10" y="5131"/>
                  <a:pt x="6" y="5119"/>
                  <a:pt x="4" y="5106"/>
                </a:cubicBezTo>
                <a:cubicBezTo>
                  <a:pt x="1" y="5093"/>
                  <a:pt x="0" y="5081"/>
                  <a:pt x="0" y="5068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Forma libre 285"/>
          <p:cNvSpPr/>
          <p:nvPr/>
        </p:nvSpPr>
        <p:spPr>
          <a:xfrm>
            <a:off x="671400" y="2395440"/>
            <a:ext cx="10849320" cy="1895760"/>
          </a:xfrm>
          <a:custGeom>
            <a:avLst/>
            <a:gdLst/>
            <a:ahLst/>
            <a:cxnLst/>
            <a:rect l="0" t="0" r="r" b="b"/>
            <a:pathLst>
              <a:path w="30137" h="5266">
                <a:moveTo>
                  <a:pt x="0" y="506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5068"/>
                </a:lnTo>
                <a:cubicBezTo>
                  <a:pt x="30137" y="5081"/>
                  <a:pt x="30136" y="5093"/>
                  <a:pt x="30133" y="5106"/>
                </a:cubicBezTo>
                <a:cubicBezTo>
                  <a:pt x="30130" y="5119"/>
                  <a:pt x="30127" y="5131"/>
                  <a:pt x="30122" y="5143"/>
                </a:cubicBezTo>
                <a:cubicBezTo>
                  <a:pt x="30117" y="5156"/>
                  <a:pt x="30111" y="5167"/>
                  <a:pt x="30103" y="5178"/>
                </a:cubicBezTo>
                <a:cubicBezTo>
                  <a:pt x="30096" y="5189"/>
                  <a:pt x="30088" y="5199"/>
                  <a:pt x="30079" y="5208"/>
                </a:cubicBezTo>
                <a:cubicBezTo>
                  <a:pt x="30070" y="5217"/>
                  <a:pt x="30059" y="5225"/>
                  <a:pt x="30049" y="5233"/>
                </a:cubicBezTo>
                <a:cubicBezTo>
                  <a:pt x="30038" y="5240"/>
                  <a:pt x="30026" y="5246"/>
                  <a:pt x="30014" y="5251"/>
                </a:cubicBezTo>
                <a:cubicBezTo>
                  <a:pt x="30002" y="5256"/>
                  <a:pt x="29990" y="5260"/>
                  <a:pt x="29977" y="5262"/>
                </a:cubicBezTo>
                <a:cubicBezTo>
                  <a:pt x="29964" y="5265"/>
                  <a:pt x="29951" y="5266"/>
                  <a:pt x="29938" y="5266"/>
                </a:cubicBezTo>
                <a:lnTo>
                  <a:pt x="198" y="5266"/>
                </a:lnTo>
                <a:cubicBezTo>
                  <a:pt x="185" y="5266"/>
                  <a:pt x="172" y="5265"/>
                  <a:pt x="160" y="5262"/>
                </a:cubicBezTo>
                <a:cubicBezTo>
                  <a:pt x="147" y="5260"/>
                  <a:pt x="134" y="5256"/>
                  <a:pt x="122" y="5251"/>
                </a:cubicBezTo>
                <a:cubicBezTo>
                  <a:pt x="110" y="5246"/>
                  <a:pt x="99" y="5240"/>
                  <a:pt x="88" y="5233"/>
                </a:cubicBezTo>
                <a:cubicBezTo>
                  <a:pt x="77" y="5225"/>
                  <a:pt x="67" y="5217"/>
                  <a:pt x="58" y="5208"/>
                </a:cubicBezTo>
                <a:cubicBezTo>
                  <a:pt x="49" y="5199"/>
                  <a:pt x="40" y="5189"/>
                  <a:pt x="33" y="5178"/>
                </a:cubicBezTo>
                <a:cubicBezTo>
                  <a:pt x="26" y="5167"/>
                  <a:pt x="20" y="5156"/>
                  <a:pt x="15" y="5143"/>
                </a:cubicBezTo>
                <a:cubicBezTo>
                  <a:pt x="10" y="5131"/>
                  <a:pt x="6" y="5119"/>
                  <a:pt x="4" y="5106"/>
                </a:cubicBezTo>
                <a:cubicBezTo>
                  <a:pt x="1" y="5093"/>
                  <a:pt x="0" y="5081"/>
                  <a:pt x="0" y="506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Forma libre 286"/>
          <p:cNvSpPr/>
          <p:nvPr/>
        </p:nvSpPr>
        <p:spPr>
          <a:xfrm>
            <a:off x="666720" y="1742760"/>
            <a:ext cx="1086120" cy="381600"/>
          </a:xfrm>
          <a:custGeom>
            <a:avLst/>
            <a:gdLst/>
            <a:ahLst/>
            <a:cxnLst/>
            <a:rect l="0" t="0" r="r" b="b"/>
            <a:pathLst>
              <a:path w="3017" h="1060">
                <a:moveTo>
                  <a:pt x="0" y="953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911" y="0"/>
                </a:lnTo>
                <a:cubicBezTo>
                  <a:pt x="2925" y="0"/>
                  <a:pt x="2939" y="3"/>
                  <a:pt x="2952" y="8"/>
                </a:cubicBezTo>
                <a:cubicBezTo>
                  <a:pt x="2964" y="14"/>
                  <a:pt x="2976" y="21"/>
                  <a:pt x="2986" y="31"/>
                </a:cubicBezTo>
                <a:cubicBezTo>
                  <a:pt x="2996" y="41"/>
                  <a:pt x="3003" y="53"/>
                  <a:pt x="3009" y="66"/>
                </a:cubicBezTo>
                <a:cubicBezTo>
                  <a:pt x="3014" y="79"/>
                  <a:pt x="3017" y="92"/>
                  <a:pt x="3017" y="106"/>
                </a:cubicBezTo>
                <a:lnTo>
                  <a:pt x="3017" y="953"/>
                </a:lnTo>
                <a:cubicBezTo>
                  <a:pt x="3017" y="967"/>
                  <a:pt x="3014" y="981"/>
                  <a:pt x="3009" y="994"/>
                </a:cubicBezTo>
                <a:cubicBezTo>
                  <a:pt x="3003" y="1007"/>
                  <a:pt x="2996" y="1019"/>
                  <a:pt x="2986" y="1029"/>
                </a:cubicBezTo>
                <a:cubicBezTo>
                  <a:pt x="2976" y="1039"/>
                  <a:pt x="2964" y="1046"/>
                  <a:pt x="2952" y="1052"/>
                </a:cubicBezTo>
                <a:cubicBezTo>
                  <a:pt x="2939" y="1057"/>
                  <a:pt x="2925" y="1060"/>
                  <a:pt x="2911" y="1060"/>
                </a:cubicBezTo>
                <a:lnTo>
                  <a:pt x="105" y="1060"/>
                </a:lnTo>
                <a:cubicBezTo>
                  <a:pt x="91" y="1060"/>
                  <a:pt x="78" y="1057"/>
                  <a:pt x="65" y="1052"/>
                </a:cubicBezTo>
                <a:cubicBezTo>
                  <a:pt x="52" y="1046"/>
                  <a:pt x="41" y="1039"/>
                  <a:pt x="31" y="1029"/>
                </a:cubicBezTo>
                <a:cubicBezTo>
                  <a:pt x="21" y="1019"/>
                  <a:pt x="13" y="1007"/>
                  <a:pt x="8" y="994"/>
                </a:cubicBezTo>
                <a:cubicBezTo>
                  <a:pt x="2" y="981"/>
                  <a:pt x="0" y="967"/>
                  <a:pt x="0" y="953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CuadroTexto 287"/>
          <p:cNvSpPr txBox="1"/>
          <p:nvPr/>
        </p:nvSpPr>
        <p:spPr>
          <a:xfrm>
            <a:off x="731520" y="1747440"/>
            <a:ext cx="9777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COUNT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CuadroTexto 288"/>
          <p:cNvSpPr txBox="1"/>
          <p:nvPr/>
        </p:nvSpPr>
        <p:spPr>
          <a:xfrm>
            <a:off x="1755000" y="1739520"/>
            <a:ext cx="214740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no es uno solo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CuadroTexto 289"/>
          <p:cNvSpPr txBox="1"/>
          <p:nvPr/>
        </p:nvSpPr>
        <p:spPr>
          <a:xfrm>
            <a:off x="866880" y="2575080"/>
            <a:ext cx="51321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SELECT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*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)                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filas,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CuadroTexto 290"/>
          <p:cNvSpPr txBox="1"/>
          <p:nvPr/>
        </p:nvSpPr>
        <p:spPr>
          <a:xfrm>
            <a:off x="866880" y="2841840"/>
            <a:ext cx="77529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(valor)            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con_valor,      </a:t>
            </a:r>
            <a:r>
              <a:rPr lang="es-ES" sz="1430" b="0" i="1" u="none" strike="noStrike">
                <a:solidFill>
                  <a:srgbClr val="8FA1B0"/>
                </a:solidFill>
                <a:effectLst/>
                <a:uFillTx/>
                <a:latin typeface="Menlo"/>
                <a:ea typeface="Menlo"/>
              </a:rPr>
              <a:t>-- ignora NULL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CuadroTexto 291"/>
          <p:cNvSpPr txBox="1"/>
          <p:nvPr/>
        </p:nvSpPr>
        <p:spPr>
          <a:xfrm>
            <a:off x="866880" y="3099240"/>
            <a:ext cx="94996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DISTINCT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person_id)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pacientes,      </a:t>
            </a:r>
            <a:r>
              <a:rPr lang="es-ES" sz="1430" b="0" i="1" u="none" strike="noStrike">
                <a:solidFill>
                  <a:srgbClr val="8FA1B0"/>
                </a:solidFill>
                <a:effectLst/>
                <a:uFillTx/>
                <a:latin typeface="Menlo"/>
                <a:ea typeface="Menlo"/>
              </a:rPr>
              <a:t>-- lo que casi siempre quieres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CuadroTexto 292"/>
          <p:cNvSpPr txBox="1"/>
          <p:nvPr/>
        </p:nvSpPr>
        <p:spPr>
          <a:xfrm>
            <a:off x="866880" y="3366000"/>
            <a:ext cx="862632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avg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(valor)              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media,          </a:t>
            </a:r>
            <a:r>
              <a:rPr lang="es-ES" sz="1430" b="0" i="1" u="none" strike="noStrike">
                <a:solidFill>
                  <a:srgbClr val="8FA1B0"/>
                </a:solidFill>
                <a:effectLst/>
                <a:uFillTx/>
                <a:latin typeface="Menlo"/>
                <a:ea typeface="Menlo"/>
              </a:rPr>
              <a:t>-- también ignora NULL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CuadroTexto 293"/>
          <p:cNvSpPr txBox="1"/>
          <p:nvPr/>
        </p:nvSpPr>
        <p:spPr>
          <a:xfrm>
            <a:off x="866880" y="3623040"/>
            <a:ext cx="742500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percentile_cont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0.5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WITHIN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GROUP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(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ORDER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BY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valor)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mediana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Forma libre 294"/>
          <p:cNvSpPr/>
          <p:nvPr/>
        </p:nvSpPr>
        <p:spPr>
          <a:xfrm>
            <a:off x="666720" y="4505040"/>
            <a:ext cx="1047960" cy="267120"/>
          </a:xfrm>
          <a:custGeom>
            <a:avLst/>
            <a:gdLst/>
            <a:ahLst/>
            <a:cxnLst/>
            <a:rect l="0" t="0" r="r" b="b"/>
            <a:pathLst>
              <a:path w="2911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805" y="0"/>
                </a:lnTo>
                <a:cubicBezTo>
                  <a:pt x="2819" y="0"/>
                  <a:pt x="2833" y="3"/>
                  <a:pt x="2846" y="8"/>
                </a:cubicBezTo>
                <a:cubicBezTo>
                  <a:pt x="2859" y="14"/>
                  <a:pt x="2870" y="21"/>
                  <a:pt x="2880" y="31"/>
                </a:cubicBezTo>
                <a:cubicBezTo>
                  <a:pt x="2890" y="41"/>
                  <a:pt x="2898" y="53"/>
                  <a:pt x="2903" y="66"/>
                </a:cubicBezTo>
                <a:cubicBezTo>
                  <a:pt x="2908" y="79"/>
                  <a:pt x="2911" y="92"/>
                  <a:pt x="2911" y="106"/>
                </a:cubicBezTo>
                <a:lnTo>
                  <a:pt x="2911" y="636"/>
                </a:lnTo>
                <a:cubicBezTo>
                  <a:pt x="2911" y="650"/>
                  <a:pt x="2908" y="664"/>
                  <a:pt x="2903" y="677"/>
                </a:cubicBezTo>
                <a:cubicBezTo>
                  <a:pt x="2898" y="690"/>
                  <a:pt x="2890" y="701"/>
                  <a:pt x="2880" y="711"/>
                </a:cubicBezTo>
                <a:cubicBezTo>
                  <a:pt x="2870" y="721"/>
                  <a:pt x="2859" y="729"/>
                  <a:pt x="2846" y="734"/>
                </a:cubicBezTo>
                <a:cubicBezTo>
                  <a:pt x="2833" y="739"/>
                  <a:pt x="2819" y="742"/>
                  <a:pt x="2805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CuadroTexto 295"/>
          <p:cNvSpPr txBox="1"/>
          <p:nvPr/>
        </p:nvSpPr>
        <p:spPr>
          <a:xfrm>
            <a:off x="866880" y="3889800"/>
            <a:ext cx="18568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measurement;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CuadroTexto 296"/>
          <p:cNvSpPr txBox="1"/>
          <p:nvPr/>
        </p:nvSpPr>
        <p:spPr>
          <a:xfrm>
            <a:off x="723960" y="4525200"/>
            <a:ext cx="940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count(*)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Forma libre 297"/>
          <p:cNvSpPr/>
          <p:nvPr/>
        </p:nvSpPr>
        <p:spPr>
          <a:xfrm>
            <a:off x="3171600" y="4505040"/>
            <a:ext cx="3038760" cy="267120"/>
          </a:xfrm>
          <a:custGeom>
            <a:avLst/>
            <a:gdLst/>
            <a:ahLst/>
            <a:cxnLst/>
            <a:rect l="0" t="0" r="r" b="b"/>
            <a:pathLst>
              <a:path w="8441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8335" y="0"/>
                </a:lnTo>
                <a:cubicBezTo>
                  <a:pt x="8350" y="0"/>
                  <a:pt x="8363" y="3"/>
                  <a:pt x="8376" y="8"/>
                </a:cubicBezTo>
                <a:cubicBezTo>
                  <a:pt x="8389" y="14"/>
                  <a:pt x="8400" y="21"/>
                  <a:pt x="8410" y="31"/>
                </a:cubicBezTo>
                <a:cubicBezTo>
                  <a:pt x="8420" y="41"/>
                  <a:pt x="8428" y="53"/>
                  <a:pt x="8433" y="66"/>
                </a:cubicBezTo>
                <a:cubicBezTo>
                  <a:pt x="8439" y="79"/>
                  <a:pt x="8441" y="92"/>
                  <a:pt x="8441" y="106"/>
                </a:cubicBezTo>
                <a:lnTo>
                  <a:pt x="8441" y="636"/>
                </a:lnTo>
                <a:cubicBezTo>
                  <a:pt x="8441" y="650"/>
                  <a:pt x="8439" y="664"/>
                  <a:pt x="8433" y="677"/>
                </a:cubicBezTo>
                <a:cubicBezTo>
                  <a:pt x="8428" y="690"/>
                  <a:pt x="8420" y="701"/>
                  <a:pt x="8410" y="711"/>
                </a:cubicBezTo>
                <a:cubicBezTo>
                  <a:pt x="8400" y="721"/>
                  <a:pt x="8389" y="729"/>
                  <a:pt x="8376" y="734"/>
                </a:cubicBezTo>
                <a:cubicBezTo>
                  <a:pt x="8363" y="739"/>
                  <a:pt x="8350" y="742"/>
                  <a:pt x="8335" y="742"/>
                </a:cubicBezTo>
                <a:lnTo>
                  <a:pt x="106" y="742"/>
                </a:lnTo>
                <a:cubicBezTo>
                  <a:pt x="92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4" y="690"/>
                  <a:pt x="8" y="677"/>
                </a:cubicBezTo>
                <a:cubicBezTo>
                  <a:pt x="3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CuadroTexto 298"/>
          <p:cNvSpPr txBox="1"/>
          <p:nvPr/>
        </p:nvSpPr>
        <p:spPr>
          <a:xfrm>
            <a:off x="1717200" y="4487760"/>
            <a:ext cx="14529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cuenta ﬁlas;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CuadroTexto 299"/>
          <p:cNvSpPr txBox="1"/>
          <p:nvPr/>
        </p:nvSpPr>
        <p:spPr>
          <a:xfrm>
            <a:off x="3226320" y="4525200"/>
            <a:ext cx="2936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count(DISTINCT person_id)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CuadroTexto 300"/>
          <p:cNvSpPr txBox="1"/>
          <p:nvPr/>
        </p:nvSpPr>
        <p:spPr>
          <a:xfrm>
            <a:off x="6208200" y="4487760"/>
            <a:ext cx="52722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cuenta pacientes.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En datos clínicos casi nunca son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CuadroTexto 301"/>
          <p:cNvSpPr txBox="1"/>
          <p:nvPr/>
        </p:nvSpPr>
        <p:spPr>
          <a:xfrm>
            <a:off x="666720" y="4830480"/>
            <a:ext cx="4501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lo mismo — un paciente tiene muchas visitas.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CuadroTexto 302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CuadroTexto 303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CuadroTexto 304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15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Forma libre 30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Forma libre 30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Forma libre 30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Forma libre 308"/>
          <p:cNvSpPr/>
          <p:nvPr/>
        </p:nvSpPr>
        <p:spPr>
          <a:xfrm>
            <a:off x="671400" y="2100240"/>
            <a:ext cx="10849320" cy="2419560"/>
          </a:xfrm>
          <a:custGeom>
            <a:avLst/>
            <a:gdLst/>
            <a:ahLst/>
            <a:cxnLst/>
            <a:rect l="0" t="0" r="r" b="b"/>
            <a:pathLst>
              <a:path w="30137" h="6721">
                <a:moveTo>
                  <a:pt x="0" y="6523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523"/>
                </a:lnTo>
                <a:cubicBezTo>
                  <a:pt x="30137" y="6536"/>
                  <a:pt x="30136" y="6548"/>
                  <a:pt x="30133" y="6561"/>
                </a:cubicBezTo>
                <a:cubicBezTo>
                  <a:pt x="30130" y="6574"/>
                  <a:pt x="30127" y="6586"/>
                  <a:pt x="30122" y="6598"/>
                </a:cubicBezTo>
                <a:cubicBezTo>
                  <a:pt x="30117" y="6611"/>
                  <a:pt x="30111" y="6622"/>
                  <a:pt x="30103" y="6633"/>
                </a:cubicBezTo>
                <a:cubicBezTo>
                  <a:pt x="30096" y="6644"/>
                  <a:pt x="30088" y="6654"/>
                  <a:pt x="30079" y="6663"/>
                </a:cubicBezTo>
                <a:cubicBezTo>
                  <a:pt x="30070" y="6672"/>
                  <a:pt x="30059" y="6680"/>
                  <a:pt x="30049" y="6688"/>
                </a:cubicBezTo>
                <a:cubicBezTo>
                  <a:pt x="30038" y="6695"/>
                  <a:pt x="30026" y="6701"/>
                  <a:pt x="30014" y="6706"/>
                </a:cubicBezTo>
                <a:cubicBezTo>
                  <a:pt x="30002" y="6711"/>
                  <a:pt x="29990" y="6715"/>
                  <a:pt x="29977" y="6717"/>
                </a:cubicBezTo>
                <a:cubicBezTo>
                  <a:pt x="29964" y="6720"/>
                  <a:pt x="29951" y="6721"/>
                  <a:pt x="29938" y="6721"/>
                </a:cubicBezTo>
                <a:lnTo>
                  <a:pt x="198" y="6721"/>
                </a:lnTo>
                <a:cubicBezTo>
                  <a:pt x="185" y="6721"/>
                  <a:pt x="172" y="6720"/>
                  <a:pt x="160" y="6717"/>
                </a:cubicBezTo>
                <a:cubicBezTo>
                  <a:pt x="147" y="6715"/>
                  <a:pt x="134" y="6711"/>
                  <a:pt x="122" y="6706"/>
                </a:cubicBezTo>
                <a:cubicBezTo>
                  <a:pt x="110" y="6701"/>
                  <a:pt x="99" y="6695"/>
                  <a:pt x="88" y="6688"/>
                </a:cubicBezTo>
                <a:cubicBezTo>
                  <a:pt x="77" y="6680"/>
                  <a:pt x="67" y="6672"/>
                  <a:pt x="58" y="6663"/>
                </a:cubicBezTo>
                <a:cubicBezTo>
                  <a:pt x="49" y="6654"/>
                  <a:pt x="40" y="6644"/>
                  <a:pt x="33" y="6633"/>
                </a:cubicBezTo>
                <a:cubicBezTo>
                  <a:pt x="26" y="6622"/>
                  <a:pt x="20" y="6611"/>
                  <a:pt x="15" y="6598"/>
                </a:cubicBezTo>
                <a:cubicBezTo>
                  <a:pt x="10" y="6586"/>
                  <a:pt x="6" y="6574"/>
                  <a:pt x="4" y="6561"/>
                </a:cubicBezTo>
                <a:cubicBezTo>
                  <a:pt x="1" y="6548"/>
                  <a:pt x="0" y="6536"/>
                  <a:pt x="0" y="6523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Forma libre 309"/>
          <p:cNvSpPr/>
          <p:nvPr/>
        </p:nvSpPr>
        <p:spPr>
          <a:xfrm>
            <a:off x="671400" y="2100240"/>
            <a:ext cx="10849320" cy="2419560"/>
          </a:xfrm>
          <a:custGeom>
            <a:avLst/>
            <a:gdLst/>
            <a:ahLst/>
            <a:cxnLst/>
            <a:rect l="0" t="0" r="r" b="b"/>
            <a:pathLst>
              <a:path w="30137" h="6721">
                <a:moveTo>
                  <a:pt x="0" y="6523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3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3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3"/>
                </a:cubicBezTo>
                <a:cubicBezTo>
                  <a:pt x="30059" y="40"/>
                  <a:pt x="30070" y="48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0"/>
                  <a:pt x="30122" y="122"/>
                </a:cubicBezTo>
                <a:cubicBezTo>
                  <a:pt x="30127" y="134"/>
                  <a:pt x="30130" y="147"/>
                  <a:pt x="30133" y="159"/>
                </a:cubicBezTo>
                <a:cubicBezTo>
                  <a:pt x="30136" y="172"/>
                  <a:pt x="30137" y="185"/>
                  <a:pt x="30137" y="198"/>
                </a:cubicBezTo>
                <a:lnTo>
                  <a:pt x="30137" y="6523"/>
                </a:lnTo>
                <a:cubicBezTo>
                  <a:pt x="30137" y="6536"/>
                  <a:pt x="30136" y="6548"/>
                  <a:pt x="30133" y="6561"/>
                </a:cubicBezTo>
                <a:cubicBezTo>
                  <a:pt x="30130" y="6574"/>
                  <a:pt x="30127" y="6586"/>
                  <a:pt x="30122" y="6598"/>
                </a:cubicBezTo>
                <a:cubicBezTo>
                  <a:pt x="30117" y="6611"/>
                  <a:pt x="30111" y="6622"/>
                  <a:pt x="30103" y="6633"/>
                </a:cubicBezTo>
                <a:cubicBezTo>
                  <a:pt x="30096" y="6644"/>
                  <a:pt x="30088" y="6654"/>
                  <a:pt x="30079" y="6663"/>
                </a:cubicBezTo>
                <a:cubicBezTo>
                  <a:pt x="30070" y="6672"/>
                  <a:pt x="30059" y="6680"/>
                  <a:pt x="30049" y="6688"/>
                </a:cubicBezTo>
                <a:cubicBezTo>
                  <a:pt x="30038" y="6695"/>
                  <a:pt x="30026" y="6701"/>
                  <a:pt x="30014" y="6706"/>
                </a:cubicBezTo>
                <a:cubicBezTo>
                  <a:pt x="30002" y="6711"/>
                  <a:pt x="29990" y="6715"/>
                  <a:pt x="29977" y="6717"/>
                </a:cubicBezTo>
                <a:cubicBezTo>
                  <a:pt x="29964" y="6720"/>
                  <a:pt x="29951" y="6721"/>
                  <a:pt x="29938" y="6721"/>
                </a:cubicBezTo>
                <a:lnTo>
                  <a:pt x="198" y="6721"/>
                </a:lnTo>
                <a:cubicBezTo>
                  <a:pt x="185" y="6721"/>
                  <a:pt x="172" y="6720"/>
                  <a:pt x="160" y="6717"/>
                </a:cubicBezTo>
                <a:cubicBezTo>
                  <a:pt x="147" y="6715"/>
                  <a:pt x="134" y="6711"/>
                  <a:pt x="122" y="6706"/>
                </a:cubicBezTo>
                <a:cubicBezTo>
                  <a:pt x="110" y="6701"/>
                  <a:pt x="99" y="6695"/>
                  <a:pt x="88" y="6688"/>
                </a:cubicBezTo>
                <a:cubicBezTo>
                  <a:pt x="77" y="6680"/>
                  <a:pt x="67" y="6672"/>
                  <a:pt x="58" y="6663"/>
                </a:cubicBezTo>
                <a:cubicBezTo>
                  <a:pt x="49" y="6654"/>
                  <a:pt x="40" y="6644"/>
                  <a:pt x="33" y="6633"/>
                </a:cubicBezTo>
                <a:cubicBezTo>
                  <a:pt x="26" y="6622"/>
                  <a:pt x="20" y="6611"/>
                  <a:pt x="15" y="6598"/>
                </a:cubicBezTo>
                <a:cubicBezTo>
                  <a:pt x="10" y="6586"/>
                  <a:pt x="6" y="6574"/>
                  <a:pt x="4" y="6561"/>
                </a:cubicBezTo>
                <a:cubicBezTo>
                  <a:pt x="1" y="6548"/>
                  <a:pt x="0" y="6536"/>
                  <a:pt x="0" y="652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Forma libre 310"/>
          <p:cNvSpPr/>
          <p:nvPr/>
        </p:nvSpPr>
        <p:spPr>
          <a:xfrm>
            <a:off x="666720" y="1457280"/>
            <a:ext cx="1667160" cy="381240"/>
          </a:xfrm>
          <a:custGeom>
            <a:avLst/>
            <a:gdLst/>
            <a:ahLst/>
            <a:cxnLst/>
            <a:rect l="0" t="0" r="r" b="b"/>
            <a:pathLst>
              <a:path w="4631" h="1059">
                <a:moveTo>
                  <a:pt x="0" y="953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4525" y="0"/>
                </a:lnTo>
                <a:cubicBezTo>
                  <a:pt x="4539" y="0"/>
                  <a:pt x="4552" y="2"/>
                  <a:pt x="4565" y="8"/>
                </a:cubicBezTo>
                <a:cubicBezTo>
                  <a:pt x="4578" y="13"/>
                  <a:pt x="4590" y="21"/>
                  <a:pt x="4600" y="31"/>
                </a:cubicBezTo>
                <a:cubicBezTo>
                  <a:pt x="4610" y="41"/>
                  <a:pt x="4617" y="52"/>
                  <a:pt x="4623" y="65"/>
                </a:cubicBezTo>
                <a:cubicBezTo>
                  <a:pt x="4628" y="78"/>
                  <a:pt x="4631" y="91"/>
                  <a:pt x="4631" y="105"/>
                </a:cubicBezTo>
                <a:lnTo>
                  <a:pt x="4631" y="953"/>
                </a:lnTo>
                <a:cubicBezTo>
                  <a:pt x="4631" y="967"/>
                  <a:pt x="4628" y="981"/>
                  <a:pt x="4623" y="994"/>
                </a:cubicBezTo>
                <a:cubicBezTo>
                  <a:pt x="4617" y="1007"/>
                  <a:pt x="4610" y="1018"/>
                  <a:pt x="4600" y="1028"/>
                </a:cubicBezTo>
                <a:cubicBezTo>
                  <a:pt x="4590" y="1038"/>
                  <a:pt x="4578" y="1046"/>
                  <a:pt x="4565" y="1051"/>
                </a:cubicBezTo>
                <a:cubicBezTo>
                  <a:pt x="4552" y="1056"/>
                  <a:pt x="4539" y="1059"/>
                  <a:pt x="4525" y="1059"/>
                </a:cubicBezTo>
                <a:lnTo>
                  <a:pt x="105" y="1059"/>
                </a:lnTo>
                <a:cubicBezTo>
                  <a:pt x="91" y="1059"/>
                  <a:pt x="78" y="1056"/>
                  <a:pt x="65" y="1051"/>
                </a:cubicBezTo>
                <a:cubicBezTo>
                  <a:pt x="52" y="1046"/>
                  <a:pt x="41" y="1038"/>
                  <a:pt x="31" y="1028"/>
                </a:cubicBezTo>
                <a:cubicBezTo>
                  <a:pt x="21" y="1018"/>
                  <a:pt x="13" y="1007"/>
                  <a:pt x="8" y="994"/>
                </a:cubicBezTo>
                <a:cubicBezTo>
                  <a:pt x="2" y="981"/>
                  <a:pt x="0" y="967"/>
                  <a:pt x="0" y="953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CuadroTexto 311"/>
          <p:cNvSpPr txBox="1"/>
          <p:nvPr/>
        </p:nvSpPr>
        <p:spPr>
          <a:xfrm>
            <a:off x="731520" y="1461600"/>
            <a:ext cx="156420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GROUP BY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CuadroTexto 312"/>
          <p:cNvSpPr txBox="1"/>
          <p:nvPr/>
        </p:nvSpPr>
        <p:spPr>
          <a:xfrm>
            <a:off x="2330280" y="1453680"/>
            <a:ext cx="309816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y la regla del SELECT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CuadroTexto 313"/>
          <p:cNvSpPr txBox="1"/>
          <p:nvPr/>
        </p:nvSpPr>
        <p:spPr>
          <a:xfrm>
            <a:off x="866880" y="2279880"/>
            <a:ext cx="31672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SELECT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p.gender_concept_id,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CuadroTexto 314"/>
          <p:cNvSpPr txBox="1"/>
          <p:nvPr/>
        </p:nvSpPr>
        <p:spPr>
          <a:xfrm>
            <a:off x="866880" y="2546640"/>
            <a:ext cx="54597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DISTINCT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p.person_id)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pacientes,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CuadroTexto 315"/>
          <p:cNvSpPr txBox="1"/>
          <p:nvPr/>
        </p:nvSpPr>
        <p:spPr>
          <a:xfrm>
            <a:off x="866880" y="2803680"/>
            <a:ext cx="55695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avg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(m.value_as_number)   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AS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hba1c_media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CuadroTexto 316"/>
          <p:cNvSpPr txBox="1"/>
          <p:nvPr/>
        </p:nvSpPr>
        <p:spPr>
          <a:xfrm>
            <a:off x="866880" y="3070440"/>
            <a:ext cx="18568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person p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CuadroTexto 317"/>
          <p:cNvSpPr txBox="1"/>
          <p:nvPr/>
        </p:nvSpPr>
        <p:spPr>
          <a:xfrm>
            <a:off x="866880" y="3327840"/>
            <a:ext cx="55695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JOIN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 measurement m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ON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m.person_id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=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p.person_id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CuadroTexto 318"/>
          <p:cNvSpPr txBox="1"/>
          <p:nvPr/>
        </p:nvSpPr>
        <p:spPr>
          <a:xfrm>
            <a:off x="866880" y="3594600"/>
            <a:ext cx="46954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WHERE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 m.measurement_concept_id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=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3004410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CuadroTexto 319"/>
          <p:cNvSpPr txBox="1"/>
          <p:nvPr/>
        </p:nvSpPr>
        <p:spPr>
          <a:xfrm>
            <a:off x="866880" y="3851640"/>
            <a:ext cx="305784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GROUP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BY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p.gender_concept_id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Forma libre 320"/>
          <p:cNvSpPr/>
          <p:nvPr/>
        </p:nvSpPr>
        <p:spPr>
          <a:xfrm>
            <a:off x="914040" y="48290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59"/>
                  <a:pt x="192" y="171"/>
                  <a:pt x="182" y="181"/>
                </a:cubicBezTo>
                <a:cubicBezTo>
                  <a:pt x="172" y="190"/>
                  <a:pt x="161" y="199"/>
                  <a:pt x="148" y="204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4"/>
                </a:cubicBezTo>
                <a:cubicBezTo>
                  <a:pt x="53" y="199"/>
                  <a:pt x="41" y="190"/>
                  <a:pt x="31" y="181"/>
                </a:cubicBezTo>
                <a:cubicBezTo>
                  <a:pt x="22" y="171"/>
                  <a:pt x="14" y="159"/>
                  <a:pt x="9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CuadroTexto 321"/>
          <p:cNvSpPr txBox="1"/>
          <p:nvPr/>
        </p:nvSpPr>
        <p:spPr>
          <a:xfrm>
            <a:off x="866880" y="4118400"/>
            <a:ext cx="469548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HAVING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 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DISTINCT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p.person_id)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&gt;=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50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Forma libre 322"/>
          <p:cNvSpPr/>
          <p:nvPr/>
        </p:nvSpPr>
        <p:spPr>
          <a:xfrm>
            <a:off x="2266920" y="4733640"/>
            <a:ext cx="810000" cy="267120"/>
          </a:xfrm>
          <a:custGeom>
            <a:avLst/>
            <a:gdLst/>
            <a:ahLst/>
            <a:cxnLst/>
            <a:rect l="0" t="0" r="r" b="b"/>
            <a:pathLst>
              <a:path w="2250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44" y="0"/>
                </a:lnTo>
                <a:cubicBezTo>
                  <a:pt x="2158" y="0"/>
                  <a:pt x="2171" y="3"/>
                  <a:pt x="2184" y="8"/>
                </a:cubicBezTo>
                <a:cubicBezTo>
                  <a:pt x="2197" y="14"/>
                  <a:pt x="2209" y="21"/>
                  <a:pt x="2219" y="31"/>
                </a:cubicBezTo>
                <a:cubicBezTo>
                  <a:pt x="2228" y="41"/>
                  <a:pt x="2236" y="53"/>
                  <a:pt x="2241" y="66"/>
                </a:cubicBezTo>
                <a:cubicBezTo>
                  <a:pt x="2247" y="79"/>
                  <a:pt x="2250" y="92"/>
                  <a:pt x="2250" y="106"/>
                </a:cubicBezTo>
                <a:lnTo>
                  <a:pt x="2250" y="636"/>
                </a:lnTo>
                <a:cubicBezTo>
                  <a:pt x="2250" y="650"/>
                  <a:pt x="2247" y="664"/>
                  <a:pt x="2241" y="677"/>
                </a:cubicBezTo>
                <a:cubicBezTo>
                  <a:pt x="2236" y="690"/>
                  <a:pt x="2228" y="701"/>
                  <a:pt x="2219" y="711"/>
                </a:cubicBezTo>
                <a:cubicBezTo>
                  <a:pt x="2209" y="721"/>
                  <a:pt x="2197" y="729"/>
                  <a:pt x="2184" y="734"/>
                </a:cubicBezTo>
                <a:cubicBezTo>
                  <a:pt x="2171" y="739"/>
                  <a:pt x="2158" y="742"/>
                  <a:pt x="2144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CuadroTexto 323"/>
          <p:cNvSpPr txBox="1"/>
          <p:nvPr/>
        </p:nvSpPr>
        <p:spPr>
          <a:xfrm>
            <a:off x="1123920" y="4716360"/>
            <a:ext cx="1165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Todo lo del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CuadroTexto 324"/>
          <p:cNvSpPr txBox="1"/>
          <p:nvPr/>
        </p:nvSpPr>
        <p:spPr>
          <a:xfrm>
            <a:off x="2320560" y="4753800"/>
            <a:ext cx="7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SELECT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Forma libre 325"/>
          <p:cNvSpPr/>
          <p:nvPr/>
        </p:nvSpPr>
        <p:spPr>
          <a:xfrm>
            <a:off x="5800680" y="4733640"/>
            <a:ext cx="1047960" cy="267120"/>
          </a:xfrm>
          <a:custGeom>
            <a:avLst/>
            <a:gdLst/>
            <a:ahLst/>
            <a:cxnLst/>
            <a:rect l="0" t="0" r="r" b="b"/>
            <a:pathLst>
              <a:path w="2911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805" y="0"/>
                </a:lnTo>
                <a:cubicBezTo>
                  <a:pt x="2819" y="0"/>
                  <a:pt x="2833" y="3"/>
                  <a:pt x="2846" y="8"/>
                </a:cubicBezTo>
                <a:cubicBezTo>
                  <a:pt x="2859" y="14"/>
                  <a:pt x="2870" y="21"/>
                  <a:pt x="2880" y="31"/>
                </a:cubicBezTo>
                <a:cubicBezTo>
                  <a:pt x="2890" y="41"/>
                  <a:pt x="2898" y="53"/>
                  <a:pt x="2903" y="66"/>
                </a:cubicBezTo>
                <a:cubicBezTo>
                  <a:pt x="2908" y="79"/>
                  <a:pt x="2911" y="92"/>
                  <a:pt x="2911" y="106"/>
                </a:cubicBezTo>
                <a:lnTo>
                  <a:pt x="2911" y="636"/>
                </a:lnTo>
                <a:cubicBezTo>
                  <a:pt x="2911" y="650"/>
                  <a:pt x="2908" y="664"/>
                  <a:pt x="2903" y="677"/>
                </a:cubicBezTo>
                <a:cubicBezTo>
                  <a:pt x="2898" y="690"/>
                  <a:pt x="2890" y="701"/>
                  <a:pt x="2880" y="711"/>
                </a:cubicBezTo>
                <a:cubicBezTo>
                  <a:pt x="2870" y="721"/>
                  <a:pt x="2859" y="729"/>
                  <a:pt x="2846" y="734"/>
                </a:cubicBezTo>
                <a:cubicBezTo>
                  <a:pt x="2833" y="739"/>
                  <a:pt x="2819" y="742"/>
                  <a:pt x="2805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CuadroTexto 326"/>
          <p:cNvSpPr txBox="1"/>
          <p:nvPr/>
        </p:nvSpPr>
        <p:spPr>
          <a:xfrm>
            <a:off x="3079800" y="4716360"/>
            <a:ext cx="27270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o se agrega o está en el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Forma libre 327"/>
          <p:cNvSpPr/>
          <p:nvPr/>
        </p:nvSpPr>
        <p:spPr>
          <a:xfrm>
            <a:off x="914040" y="52290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Forma libre 328"/>
          <p:cNvSpPr/>
          <p:nvPr/>
        </p:nvSpPr>
        <p:spPr>
          <a:xfrm>
            <a:off x="1123920" y="5133960"/>
            <a:ext cx="695520" cy="266760"/>
          </a:xfrm>
          <a:custGeom>
            <a:avLst/>
            <a:gdLst/>
            <a:ahLst/>
            <a:cxnLst/>
            <a:rect l="0" t="0" r="r" b="b"/>
            <a:pathLst>
              <a:path w="1932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1826" y="0"/>
                </a:lnTo>
                <a:cubicBezTo>
                  <a:pt x="1840" y="0"/>
                  <a:pt x="1854" y="2"/>
                  <a:pt x="1867" y="8"/>
                </a:cubicBezTo>
                <a:cubicBezTo>
                  <a:pt x="1880" y="13"/>
                  <a:pt x="1891" y="21"/>
                  <a:pt x="1901" y="31"/>
                </a:cubicBezTo>
                <a:cubicBezTo>
                  <a:pt x="1911" y="40"/>
                  <a:pt x="1919" y="52"/>
                  <a:pt x="1924" y="65"/>
                </a:cubicBezTo>
                <a:cubicBezTo>
                  <a:pt x="1929" y="78"/>
                  <a:pt x="1932" y="91"/>
                  <a:pt x="1932" y="105"/>
                </a:cubicBezTo>
                <a:lnTo>
                  <a:pt x="1932" y="636"/>
                </a:lnTo>
                <a:cubicBezTo>
                  <a:pt x="1932" y="650"/>
                  <a:pt x="1929" y="663"/>
                  <a:pt x="1924" y="676"/>
                </a:cubicBezTo>
                <a:cubicBezTo>
                  <a:pt x="1919" y="689"/>
                  <a:pt x="1911" y="700"/>
                  <a:pt x="1901" y="710"/>
                </a:cubicBezTo>
                <a:cubicBezTo>
                  <a:pt x="1891" y="720"/>
                  <a:pt x="1880" y="728"/>
                  <a:pt x="1867" y="733"/>
                </a:cubicBezTo>
                <a:cubicBezTo>
                  <a:pt x="1854" y="739"/>
                  <a:pt x="1840" y="741"/>
                  <a:pt x="1826" y="741"/>
                </a:cubicBezTo>
                <a:lnTo>
                  <a:pt x="105" y="741"/>
                </a:lnTo>
                <a:cubicBezTo>
                  <a:pt x="91" y="741"/>
                  <a:pt x="78" y="739"/>
                  <a:pt x="65" y="733"/>
                </a:cubicBezTo>
                <a:cubicBezTo>
                  <a:pt x="52" y="728"/>
                  <a:pt x="41" y="720"/>
                  <a:pt x="31" y="710"/>
                </a:cubicBezTo>
                <a:cubicBezTo>
                  <a:pt x="21" y="700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CuadroTexto 329"/>
          <p:cNvSpPr txBox="1"/>
          <p:nvPr/>
        </p:nvSpPr>
        <p:spPr>
          <a:xfrm>
            <a:off x="5859360" y="4753800"/>
            <a:ext cx="940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GROUP BY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CuadroTexto 330"/>
          <p:cNvSpPr txBox="1"/>
          <p:nvPr/>
        </p:nvSpPr>
        <p:spPr>
          <a:xfrm>
            <a:off x="1181160" y="5153760"/>
            <a:ext cx="587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WHERE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Forma libre 331"/>
          <p:cNvSpPr/>
          <p:nvPr/>
        </p:nvSpPr>
        <p:spPr>
          <a:xfrm>
            <a:off x="4943160" y="5133960"/>
            <a:ext cx="819720" cy="266760"/>
          </a:xfrm>
          <a:custGeom>
            <a:avLst/>
            <a:gdLst/>
            <a:ahLst/>
            <a:cxnLst/>
            <a:rect l="0" t="0" r="r" b="b"/>
            <a:pathLst>
              <a:path w="2277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0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2171" y="0"/>
                </a:lnTo>
                <a:cubicBezTo>
                  <a:pt x="2185" y="0"/>
                  <a:pt x="2198" y="2"/>
                  <a:pt x="2211" y="8"/>
                </a:cubicBezTo>
                <a:cubicBezTo>
                  <a:pt x="2224" y="13"/>
                  <a:pt x="2236" y="21"/>
                  <a:pt x="2246" y="31"/>
                </a:cubicBezTo>
                <a:cubicBezTo>
                  <a:pt x="2256" y="40"/>
                  <a:pt x="2263" y="52"/>
                  <a:pt x="2269" y="65"/>
                </a:cubicBezTo>
                <a:cubicBezTo>
                  <a:pt x="2274" y="78"/>
                  <a:pt x="2277" y="91"/>
                  <a:pt x="2277" y="105"/>
                </a:cubicBezTo>
                <a:lnTo>
                  <a:pt x="2277" y="636"/>
                </a:lnTo>
                <a:cubicBezTo>
                  <a:pt x="2277" y="650"/>
                  <a:pt x="2274" y="663"/>
                  <a:pt x="2269" y="676"/>
                </a:cubicBezTo>
                <a:cubicBezTo>
                  <a:pt x="2263" y="689"/>
                  <a:pt x="2256" y="700"/>
                  <a:pt x="2246" y="710"/>
                </a:cubicBezTo>
                <a:cubicBezTo>
                  <a:pt x="2236" y="720"/>
                  <a:pt x="2224" y="728"/>
                  <a:pt x="2211" y="733"/>
                </a:cubicBezTo>
                <a:cubicBezTo>
                  <a:pt x="2198" y="739"/>
                  <a:pt x="2185" y="741"/>
                  <a:pt x="2171" y="741"/>
                </a:cubicBezTo>
                <a:lnTo>
                  <a:pt x="106" y="741"/>
                </a:lnTo>
                <a:cubicBezTo>
                  <a:pt x="92" y="741"/>
                  <a:pt x="79" y="739"/>
                  <a:pt x="66" y="733"/>
                </a:cubicBezTo>
                <a:cubicBezTo>
                  <a:pt x="53" y="728"/>
                  <a:pt x="41" y="720"/>
                  <a:pt x="31" y="710"/>
                </a:cubicBezTo>
                <a:cubicBezTo>
                  <a:pt x="21" y="700"/>
                  <a:pt x="14" y="689"/>
                  <a:pt x="8" y="676"/>
                </a:cubicBezTo>
                <a:cubicBezTo>
                  <a:pt x="3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CuadroTexto 332"/>
          <p:cNvSpPr txBox="1"/>
          <p:nvPr/>
        </p:nvSpPr>
        <p:spPr>
          <a:xfrm>
            <a:off x="1823400" y="5116320"/>
            <a:ext cx="31212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ﬁltra ﬁlas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(antes de agrupar) ·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CuadroTexto 333"/>
          <p:cNvSpPr txBox="1"/>
          <p:nvPr/>
        </p:nvSpPr>
        <p:spPr>
          <a:xfrm>
            <a:off x="5000760" y="5153760"/>
            <a:ext cx="7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HAVING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CuadroTexto 334"/>
          <p:cNvSpPr txBox="1"/>
          <p:nvPr/>
        </p:nvSpPr>
        <p:spPr>
          <a:xfrm>
            <a:off x="5760000" y="5116320"/>
            <a:ext cx="240948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ﬁltra grupos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(después)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CuadroTexto 335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CuadroTexto 336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CuadroTexto 337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16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22428C9-8443-1991-A411-3915097E0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013" y="5501391"/>
            <a:ext cx="4960007" cy="10526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Forma libre 33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Forma libre 33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Forma libre 34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CuadroTexto 341"/>
          <p:cNvSpPr txBox="1"/>
          <p:nvPr/>
        </p:nvSpPr>
        <p:spPr>
          <a:xfrm>
            <a:off x="5114520" y="3063960"/>
            <a:ext cx="200628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6. JOINs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CuadroTexto 342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CuadroTexto 343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CuadroTexto 344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Forma libre 34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Forma libre 346"/>
          <p:cNvSpPr/>
          <p:nvPr/>
        </p:nvSpPr>
        <p:spPr>
          <a:xfrm>
            <a:off x="0" y="253034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Forma libre 348"/>
          <p:cNvSpPr/>
          <p:nvPr/>
        </p:nvSpPr>
        <p:spPr>
          <a:xfrm>
            <a:off x="676080" y="144756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Forma libre 349"/>
          <p:cNvSpPr/>
          <p:nvPr/>
        </p:nvSpPr>
        <p:spPr>
          <a:xfrm>
            <a:off x="2019240" y="1447560"/>
            <a:ext cx="4762800" cy="410040"/>
          </a:xfrm>
          <a:custGeom>
            <a:avLst/>
            <a:gdLst/>
            <a:ahLst/>
            <a:cxnLst/>
            <a:rect l="0" t="0" r="r" b="b"/>
            <a:pathLst>
              <a:path w="13230" h="1139">
                <a:moveTo>
                  <a:pt x="0" y="0"/>
                </a:moveTo>
                <a:lnTo>
                  <a:pt x="13230" y="0"/>
                </a:lnTo>
                <a:lnTo>
                  <a:pt x="1323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Forma libre 350"/>
          <p:cNvSpPr/>
          <p:nvPr/>
        </p:nvSpPr>
        <p:spPr>
          <a:xfrm>
            <a:off x="676080" y="144756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Forma libre 351"/>
          <p:cNvSpPr/>
          <p:nvPr/>
        </p:nvSpPr>
        <p:spPr>
          <a:xfrm>
            <a:off x="2019240" y="1447560"/>
            <a:ext cx="4762800" cy="410040"/>
          </a:xfrm>
          <a:custGeom>
            <a:avLst/>
            <a:gdLst/>
            <a:ahLst/>
            <a:cxnLst/>
            <a:rect l="0" t="0" r="r" b="b"/>
            <a:pathLst>
              <a:path w="13230" h="1139">
                <a:moveTo>
                  <a:pt x="0" y="0"/>
                </a:moveTo>
                <a:lnTo>
                  <a:pt x="13230" y="0"/>
                </a:lnTo>
                <a:lnTo>
                  <a:pt x="1323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Forma libre 352"/>
          <p:cNvSpPr/>
          <p:nvPr/>
        </p:nvSpPr>
        <p:spPr>
          <a:xfrm>
            <a:off x="676080" y="1857240"/>
            <a:ext cx="1343520" cy="419400"/>
          </a:xfrm>
          <a:custGeom>
            <a:avLst/>
            <a:gdLst/>
            <a:ahLst/>
            <a:cxnLst/>
            <a:rect l="0" t="0" r="r" b="b"/>
            <a:pathLst>
              <a:path w="3732" h="1165">
                <a:moveTo>
                  <a:pt x="0" y="0"/>
                </a:moveTo>
                <a:lnTo>
                  <a:pt x="3732" y="0"/>
                </a:lnTo>
                <a:lnTo>
                  <a:pt x="3732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Forma libre 353"/>
          <p:cNvSpPr/>
          <p:nvPr/>
        </p:nvSpPr>
        <p:spPr>
          <a:xfrm>
            <a:off x="2019240" y="1857240"/>
            <a:ext cx="4762800" cy="419400"/>
          </a:xfrm>
          <a:custGeom>
            <a:avLst/>
            <a:gdLst/>
            <a:ahLst/>
            <a:cxnLst/>
            <a:rect l="0" t="0" r="r" b="b"/>
            <a:pathLst>
              <a:path w="13230" h="1165">
                <a:moveTo>
                  <a:pt x="0" y="0"/>
                </a:moveTo>
                <a:lnTo>
                  <a:pt x="13230" y="0"/>
                </a:lnTo>
                <a:lnTo>
                  <a:pt x="13230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Forma libre 354"/>
          <p:cNvSpPr/>
          <p:nvPr/>
        </p:nvSpPr>
        <p:spPr>
          <a:xfrm>
            <a:off x="676080" y="2276280"/>
            <a:ext cx="1343520" cy="419400"/>
          </a:xfrm>
          <a:custGeom>
            <a:avLst/>
            <a:gdLst/>
            <a:ahLst/>
            <a:cxnLst/>
            <a:rect l="0" t="0" r="r" b="b"/>
            <a:pathLst>
              <a:path w="3732" h="1165">
                <a:moveTo>
                  <a:pt x="0" y="0"/>
                </a:moveTo>
                <a:lnTo>
                  <a:pt x="3732" y="0"/>
                </a:lnTo>
                <a:lnTo>
                  <a:pt x="3732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Forma libre 355"/>
          <p:cNvSpPr/>
          <p:nvPr/>
        </p:nvSpPr>
        <p:spPr>
          <a:xfrm>
            <a:off x="2019240" y="2276280"/>
            <a:ext cx="4762800" cy="419400"/>
          </a:xfrm>
          <a:custGeom>
            <a:avLst/>
            <a:gdLst/>
            <a:ahLst/>
            <a:cxnLst/>
            <a:rect l="0" t="0" r="r" b="b"/>
            <a:pathLst>
              <a:path w="13230" h="1165">
                <a:moveTo>
                  <a:pt x="0" y="0"/>
                </a:moveTo>
                <a:lnTo>
                  <a:pt x="13230" y="0"/>
                </a:lnTo>
                <a:lnTo>
                  <a:pt x="13230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Forma libre 356"/>
          <p:cNvSpPr/>
          <p:nvPr/>
        </p:nvSpPr>
        <p:spPr>
          <a:xfrm>
            <a:off x="676080" y="269532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Forma libre 357"/>
          <p:cNvSpPr/>
          <p:nvPr/>
        </p:nvSpPr>
        <p:spPr>
          <a:xfrm>
            <a:off x="2019240" y="2695320"/>
            <a:ext cx="4762800" cy="410040"/>
          </a:xfrm>
          <a:custGeom>
            <a:avLst/>
            <a:gdLst/>
            <a:ahLst/>
            <a:cxnLst/>
            <a:rect l="0" t="0" r="r" b="b"/>
            <a:pathLst>
              <a:path w="13230" h="1139">
                <a:moveTo>
                  <a:pt x="0" y="0"/>
                </a:moveTo>
                <a:lnTo>
                  <a:pt x="13230" y="0"/>
                </a:lnTo>
                <a:lnTo>
                  <a:pt x="1323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Forma libre 358"/>
          <p:cNvSpPr/>
          <p:nvPr/>
        </p:nvSpPr>
        <p:spPr>
          <a:xfrm>
            <a:off x="676080" y="3105000"/>
            <a:ext cx="1343520" cy="410040"/>
          </a:xfrm>
          <a:custGeom>
            <a:avLst/>
            <a:gdLst/>
            <a:ahLst/>
            <a:cxnLst/>
            <a:rect l="0" t="0" r="r" b="b"/>
            <a:pathLst>
              <a:path w="3732" h="1139">
                <a:moveTo>
                  <a:pt x="0" y="0"/>
                </a:moveTo>
                <a:lnTo>
                  <a:pt x="3732" y="0"/>
                </a:lnTo>
                <a:lnTo>
                  <a:pt x="37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Forma libre 359"/>
          <p:cNvSpPr/>
          <p:nvPr/>
        </p:nvSpPr>
        <p:spPr>
          <a:xfrm>
            <a:off x="2019240" y="3105000"/>
            <a:ext cx="4762800" cy="410040"/>
          </a:xfrm>
          <a:custGeom>
            <a:avLst/>
            <a:gdLst/>
            <a:ahLst/>
            <a:cxnLst/>
            <a:rect l="0" t="0" r="r" b="b"/>
            <a:pathLst>
              <a:path w="13230" h="1139">
                <a:moveTo>
                  <a:pt x="0" y="0"/>
                </a:moveTo>
                <a:lnTo>
                  <a:pt x="13230" y="0"/>
                </a:lnTo>
                <a:lnTo>
                  <a:pt x="1323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Forma libre 360"/>
          <p:cNvSpPr/>
          <p:nvPr/>
        </p:nvSpPr>
        <p:spPr>
          <a:xfrm>
            <a:off x="666720" y="143820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Forma libre 361"/>
          <p:cNvSpPr/>
          <p:nvPr/>
        </p:nvSpPr>
        <p:spPr>
          <a:xfrm>
            <a:off x="666720" y="1438200"/>
            <a:ext cx="1352880" cy="9720"/>
          </a:xfrm>
          <a:custGeom>
            <a:avLst/>
            <a:gdLst/>
            <a:ahLst/>
            <a:cxn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Forma libre 362"/>
          <p:cNvSpPr/>
          <p:nvPr/>
        </p:nvSpPr>
        <p:spPr>
          <a:xfrm>
            <a:off x="2009520" y="143820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Forma libre 363"/>
          <p:cNvSpPr/>
          <p:nvPr/>
        </p:nvSpPr>
        <p:spPr>
          <a:xfrm>
            <a:off x="2019240" y="1438200"/>
            <a:ext cx="4772160" cy="9720"/>
          </a:xfrm>
          <a:custGeom>
            <a:avLst/>
            <a:gdLst/>
            <a:ahLst/>
            <a:cxnLst/>
            <a:rect l="0" t="0" r="r" b="b"/>
            <a:pathLst>
              <a:path w="13256" h="27">
                <a:moveTo>
                  <a:pt x="0" y="0"/>
                </a:moveTo>
                <a:lnTo>
                  <a:pt x="13256" y="0"/>
                </a:lnTo>
                <a:lnTo>
                  <a:pt x="132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Forma libre 364"/>
          <p:cNvSpPr/>
          <p:nvPr/>
        </p:nvSpPr>
        <p:spPr>
          <a:xfrm>
            <a:off x="6781680" y="143820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Forma libre 365"/>
          <p:cNvSpPr/>
          <p:nvPr/>
        </p:nvSpPr>
        <p:spPr>
          <a:xfrm>
            <a:off x="666720" y="1847520"/>
            <a:ext cx="1352880" cy="10080"/>
          </a:xfrm>
          <a:custGeom>
            <a:avLst/>
            <a:gdLst/>
            <a:ahLst/>
            <a:cxn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Forma libre 366"/>
          <p:cNvSpPr/>
          <p:nvPr/>
        </p:nvSpPr>
        <p:spPr>
          <a:xfrm>
            <a:off x="2019240" y="1847520"/>
            <a:ext cx="4772160" cy="10080"/>
          </a:xfrm>
          <a:custGeom>
            <a:avLst/>
            <a:gdLst/>
            <a:ahLst/>
            <a:cxnLst/>
            <a:rect l="0" t="0" r="r" b="b"/>
            <a:pathLst>
              <a:path w="13256" h="28">
                <a:moveTo>
                  <a:pt x="0" y="0"/>
                </a:moveTo>
                <a:lnTo>
                  <a:pt x="13256" y="0"/>
                </a:lnTo>
                <a:lnTo>
                  <a:pt x="132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Forma libre 367"/>
          <p:cNvSpPr/>
          <p:nvPr/>
        </p:nvSpPr>
        <p:spPr>
          <a:xfrm>
            <a:off x="666720" y="185724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Forma libre 368"/>
          <p:cNvSpPr/>
          <p:nvPr/>
        </p:nvSpPr>
        <p:spPr>
          <a:xfrm>
            <a:off x="2009520" y="185724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Forma libre 369"/>
          <p:cNvSpPr/>
          <p:nvPr/>
        </p:nvSpPr>
        <p:spPr>
          <a:xfrm>
            <a:off x="6781680" y="185724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Forma libre 370"/>
          <p:cNvSpPr/>
          <p:nvPr/>
        </p:nvSpPr>
        <p:spPr>
          <a:xfrm>
            <a:off x="666720" y="22762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Forma libre 371"/>
          <p:cNvSpPr/>
          <p:nvPr/>
        </p:nvSpPr>
        <p:spPr>
          <a:xfrm>
            <a:off x="666720" y="2266920"/>
            <a:ext cx="1352880" cy="9720"/>
          </a:xfrm>
          <a:custGeom>
            <a:avLst/>
            <a:gdLst/>
            <a:ahLst/>
            <a:cxn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Forma libre 372"/>
          <p:cNvSpPr/>
          <p:nvPr/>
        </p:nvSpPr>
        <p:spPr>
          <a:xfrm>
            <a:off x="2009520" y="22762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Forma libre 373"/>
          <p:cNvSpPr/>
          <p:nvPr/>
        </p:nvSpPr>
        <p:spPr>
          <a:xfrm>
            <a:off x="2019240" y="2266920"/>
            <a:ext cx="4772160" cy="9720"/>
          </a:xfrm>
          <a:custGeom>
            <a:avLst/>
            <a:gdLst/>
            <a:ahLst/>
            <a:cxnLst/>
            <a:rect l="0" t="0" r="r" b="b"/>
            <a:pathLst>
              <a:path w="13256" h="27">
                <a:moveTo>
                  <a:pt x="0" y="0"/>
                </a:moveTo>
                <a:lnTo>
                  <a:pt x="13256" y="0"/>
                </a:lnTo>
                <a:lnTo>
                  <a:pt x="132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Forma libre 374"/>
          <p:cNvSpPr/>
          <p:nvPr/>
        </p:nvSpPr>
        <p:spPr>
          <a:xfrm>
            <a:off x="6781680" y="22762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Forma libre 375"/>
          <p:cNvSpPr/>
          <p:nvPr/>
        </p:nvSpPr>
        <p:spPr>
          <a:xfrm>
            <a:off x="666720" y="26953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Forma libre 376"/>
          <p:cNvSpPr/>
          <p:nvPr/>
        </p:nvSpPr>
        <p:spPr>
          <a:xfrm>
            <a:off x="666720" y="2685960"/>
            <a:ext cx="1352880" cy="9720"/>
          </a:xfrm>
          <a:custGeom>
            <a:avLst/>
            <a:gdLst/>
            <a:ahLst/>
            <a:cxn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Forma libre 377"/>
          <p:cNvSpPr/>
          <p:nvPr/>
        </p:nvSpPr>
        <p:spPr>
          <a:xfrm>
            <a:off x="2009520" y="26953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Forma libre 378"/>
          <p:cNvSpPr/>
          <p:nvPr/>
        </p:nvSpPr>
        <p:spPr>
          <a:xfrm>
            <a:off x="2019240" y="2685960"/>
            <a:ext cx="4772160" cy="9720"/>
          </a:xfrm>
          <a:custGeom>
            <a:avLst/>
            <a:gdLst/>
            <a:ahLst/>
            <a:cxnLst/>
            <a:rect l="0" t="0" r="r" b="b"/>
            <a:pathLst>
              <a:path w="13256" h="27">
                <a:moveTo>
                  <a:pt x="0" y="0"/>
                </a:moveTo>
                <a:lnTo>
                  <a:pt x="13256" y="0"/>
                </a:lnTo>
                <a:lnTo>
                  <a:pt x="132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Forma libre 379"/>
          <p:cNvSpPr/>
          <p:nvPr/>
        </p:nvSpPr>
        <p:spPr>
          <a:xfrm>
            <a:off x="6781680" y="26953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Forma libre 380"/>
          <p:cNvSpPr/>
          <p:nvPr/>
        </p:nvSpPr>
        <p:spPr>
          <a:xfrm>
            <a:off x="666720" y="31050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Forma libre 381"/>
          <p:cNvSpPr/>
          <p:nvPr/>
        </p:nvSpPr>
        <p:spPr>
          <a:xfrm>
            <a:off x="666720" y="3095280"/>
            <a:ext cx="1352880" cy="10080"/>
          </a:xfrm>
          <a:custGeom>
            <a:avLst/>
            <a:gdLst/>
            <a:ahLst/>
            <a:cxn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Forma libre 382"/>
          <p:cNvSpPr/>
          <p:nvPr/>
        </p:nvSpPr>
        <p:spPr>
          <a:xfrm>
            <a:off x="2009520" y="31050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Forma libre 383"/>
          <p:cNvSpPr/>
          <p:nvPr/>
        </p:nvSpPr>
        <p:spPr>
          <a:xfrm>
            <a:off x="2019240" y="3095280"/>
            <a:ext cx="4772160" cy="10080"/>
          </a:xfrm>
          <a:custGeom>
            <a:avLst/>
            <a:gdLst/>
            <a:ahLst/>
            <a:cxnLst/>
            <a:rect l="0" t="0" r="r" b="b"/>
            <a:pathLst>
              <a:path w="13256" h="28">
                <a:moveTo>
                  <a:pt x="0" y="0"/>
                </a:moveTo>
                <a:lnTo>
                  <a:pt x="13256" y="0"/>
                </a:lnTo>
                <a:lnTo>
                  <a:pt x="132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Forma libre 384"/>
          <p:cNvSpPr/>
          <p:nvPr/>
        </p:nvSpPr>
        <p:spPr>
          <a:xfrm>
            <a:off x="6781680" y="31050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Forma libre 385"/>
          <p:cNvSpPr/>
          <p:nvPr/>
        </p:nvSpPr>
        <p:spPr>
          <a:xfrm>
            <a:off x="666720" y="3504960"/>
            <a:ext cx="1352880" cy="10440"/>
          </a:xfrm>
          <a:custGeom>
            <a:avLst/>
            <a:gdLst/>
            <a:ahLst/>
            <a:cxnLst/>
            <a:rect l="0" t="0" r="r" b="b"/>
            <a:pathLst>
              <a:path w="3758" h="29">
                <a:moveTo>
                  <a:pt x="0" y="0"/>
                </a:moveTo>
                <a:lnTo>
                  <a:pt x="3758" y="0"/>
                </a:lnTo>
                <a:lnTo>
                  <a:pt x="3758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Forma libre 386"/>
          <p:cNvSpPr/>
          <p:nvPr/>
        </p:nvSpPr>
        <p:spPr>
          <a:xfrm>
            <a:off x="2019240" y="3504960"/>
            <a:ext cx="4772160" cy="10440"/>
          </a:xfrm>
          <a:custGeom>
            <a:avLst/>
            <a:gdLst/>
            <a:ahLst/>
            <a:cxnLst/>
            <a:rect l="0" t="0" r="r" b="b"/>
            <a:pathLst>
              <a:path w="13256" h="29">
                <a:moveTo>
                  <a:pt x="0" y="0"/>
                </a:moveTo>
                <a:lnTo>
                  <a:pt x="13256" y="0"/>
                </a:lnTo>
                <a:lnTo>
                  <a:pt x="1325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CuadroTexto 389"/>
          <p:cNvSpPr txBox="1"/>
          <p:nvPr/>
        </p:nvSpPr>
        <p:spPr>
          <a:xfrm>
            <a:off x="666720" y="806040"/>
            <a:ext cx="397548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Los cuatro, y qué conservan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CuadroTexto 390"/>
          <p:cNvSpPr txBox="1"/>
          <p:nvPr/>
        </p:nvSpPr>
        <p:spPr>
          <a:xfrm>
            <a:off x="1118880" y="1542600"/>
            <a:ext cx="4521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JOIN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Forma libre 391"/>
          <p:cNvSpPr/>
          <p:nvPr/>
        </p:nvSpPr>
        <p:spPr>
          <a:xfrm>
            <a:off x="799920" y="1962000"/>
            <a:ext cx="600480" cy="228960"/>
          </a:xfrm>
          <a:custGeom>
            <a:avLst/>
            <a:gdLst/>
            <a:ahLst/>
            <a:cxnLst/>
            <a:rect l="0" t="0" r="r" b="b"/>
            <a:pathLst>
              <a:path w="1668" h="636">
                <a:moveTo>
                  <a:pt x="0" y="529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562" y="0"/>
                </a:lnTo>
                <a:cubicBezTo>
                  <a:pt x="1576" y="0"/>
                  <a:pt x="1590" y="3"/>
                  <a:pt x="1603" y="8"/>
                </a:cubicBezTo>
                <a:cubicBezTo>
                  <a:pt x="1616" y="13"/>
                  <a:pt x="1627" y="21"/>
                  <a:pt x="1637" y="31"/>
                </a:cubicBezTo>
                <a:cubicBezTo>
                  <a:pt x="1647" y="41"/>
                  <a:pt x="1654" y="52"/>
                  <a:pt x="1660" y="65"/>
                </a:cubicBezTo>
                <a:cubicBezTo>
                  <a:pt x="1665" y="78"/>
                  <a:pt x="1668" y="92"/>
                  <a:pt x="1668" y="106"/>
                </a:cubicBezTo>
                <a:lnTo>
                  <a:pt x="1668" y="529"/>
                </a:lnTo>
                <a:cubicBezTo>
                  <a:pt x="1668" y="543"/>
                  <a:pt x="1665" y="557"/>
                  <a:pt x="1660" y="570"/>
                </a:cubicBezTo>
                <a:cubicBezTo>
                  <a:pt x="1654" y="584"/>
                  <a:pt x="1647" y="595"/>
                  <a:pt x="1637" y="605"/>
                </a:cubicBezTo>
                <a:cubicBezTo>
                  <a:pt x="1627" y="615"/>
                  <a:pt x="1616" y="622"/>
                  <a:pt x="1603" y="628"/>
                </a:cubicBezTo>
                <a:cubicBezTo>
                  <a:pt x="1590" y="633"/>
                  <a:pt x="1576" y="636"/>
                  <a:pt x="1562" y="636"/>
                </a:cubicBezTo>
                <a:lnTo>
                  <a:pt x="106" y="636"/>
                </a:lnTo>
                <a:cubicBezTo>
                  <a:pt x="92" y="636"/>
                  <a:pt x="78" y="633"/>
                  <a:pt x="65" y="628"/>
                </a:cubicBezTo>
                <a:cubicBezTo>
                  <a:pt x="52" y="622"/>
                  <a:pt x="41" y="615"/>
                  <a:pt x="31" y="605"/>
                </a:cubicBezTo>
                <a:cubicBezTo>
                  <a:pt x="21" y="595"/>
                  <a:pt x="13" y="584"/>
                  <a:pt x="8" y="570"/>
                </a:cubicBezTo>
                <a:cubicBezTo>
                  <a:pt x="3" y="557"/>
                  <a:pt x="0" y="543"/>
                  <a:pt x="0" y="529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CuadroTexto 392"/>
          <p:cNvSpPr txBox="1"/>
          <p:nvPr/>
        </p:nvSpPr>
        <p:spPr>
          <a:xfrm>
            <a:off x="3967560" y="1542600"/>
            <a:ext cx="8654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Conserva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CuadroTexto 393"/>
          <p:cNvSpPr txBox="1"/>
          <p:nvPr/>
        </p:nvSpPr>
        <p:spPr>
          <a:xfrm>
            <a:off x="857160" y="1983240"/>
            <a:ext cx="48708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28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INNER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Forma libre 394"/>
          <p:cNvSpPr/>
          <p:nvPr/>
        </p:nvSpPr>
        <p:spPr>
          <a:xfrm>
            <a:off x="799920" y="2381040"/>
            <a:ext cx="505080" cy="228960"/>
          </a:xfrm>
          <a:custGeom>
            <a:avLst/>
            <a:gdLst/>
            <a:ahLst/>
            <a:cxnLst/>
            <a:rect l="0" t="0" r="r" b="b"/>
            <a:pathLst>
              <a:path w="1403" h="636">
                <a:moveTo>
                  <a:pt x="0" y="530"/>
                </a:moveTo>
                <a:lnTo>
                  <a:pt x="0" y="107"/>
                </a:ln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297" y="0"/>
                </a:lnTo>
                <a:cubicBezTo>
                  <a:pt x="1311" y="0"/>
                  <a:pt x="1325" y="3"/>
                  <a:pt x="1338" y="8"/>
                </a:cubicBezTo>
                <a:cubicBezTo>
                  <a:pt x="1351" y="14"/>
                  <a:pt x="1362" y="21"/>
                  <a:pt x="1372" y="31"/>
                </a:cubicBezTo>
                <a:cubicBezTo>
                  <a:pt x="1382" y="41"/>
                  <a:pt x="1390" y="53"/>
                  <a:pt x="1395" y="66"/>
                </a:cubicBezTo>
                <a:cubicBezTo>
                  <a:pt x="1401" y="79"/>
                  <a:pt x="1403" y="93"/>
                  <a:pt x="1403" y="107"/>
                </a:cubicBezTo>
                <a:lnTo>
                  <a:pt x="1403" y="530"/>
                </a:lnTo>
                <a:cubicBezTo>
                  <a:pt x="1403" y="544"/>
                  <a:pt x="1401" y="558"/>
                  <a:pt x="1395" y="571"/>
                </a:cubicBezTo>
                <a:cubicBezTo>
                  <a:pt x="1390" y="584"/>
                  <a:pt x="1382" y="595"/>
                  <a:pt x="1372" y="605"/>
                </a:cubicBezTo>
                <a:cubicBezTo>
                  <a:pt x="1362" y="615"/>
                  <a:pt x="1351" y="623"/>
                  <a:pt x="1338" y="628"/>
                </a:cubicBezTo>
                <a:cubicBezTo>
                  <a:pt x="1325" y="633"/>
                  <a:pt x="1311" y="636"/>
                  <a:pt x="1297" y="636"/>
                </a:cubicBezTo>
                <a:lnTo>
                  <a:pt x="106" y="636"/>
                </a:lnTo>
                <a:cubicBezTo>
                  <a:pt x="92" y="636"/>
                  <a:pt x="78" y="633"/>
                  <a:pt x="65" y="628"/>
                </a:cubicBezTo>
                <a:cubicBezTo>
                  <a:pt x="52" y="623"/>
                  <a:pt x="41" y="615"/>
                  <a:pt x="31" y="605"/>
                </a:cubicBezTo>
                <a:cubicBezTo>
                  <a:pt x="21" y="595"/>
                  <a:pt x="13" y="584"/>
                  <a:pt x="8" y="571"/>
                </a:cubicBezTo>
                <a:cubicBezTo>
                  <a:pt x="3" y="558"/>
                  <a:pt x="0" y="544"/>
                  <a:pt x="0" y="530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CuadroTexto 395"/>
          <p:cNvSpPr txBox="1"/>
          <p:nvPr/>
        </p:nvSpPr>
        <p:spPr>
          <a:xfrm>
            <a:off x="2146680" y="1952280"/>
            <a:ext cx="266040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sólo lo que </a:t>
            </a:r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coincide en ambas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CuadroTexto 396"/>
          <p:cNvSpPr txBox="1"/>
          <p:nvPr/>
        </p:nvSpPr>
        <p:spPr>
          <a:xfrm>
            <a:off x="857160" y="2402280"/>
            <a:ext cx="38988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28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LEFT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Forma libre 397"/>
          <p:cNvSpPr/>
          <p:nvPr/>
        </p:nvSpPr>
        <p:spPr>
          <a:xfrm>
            <a:off x="799920" y="2790720"/>
            <a:ext cx="600480" cy="228960"/>
          </a:xfrm>
          <a:custGeom>
            <a:avLst/>
            <a:gdLst/>
            <a:ahLst/>
            <a:cxnLst/>
            <a:rect l="0" t="0" r="r" b="b"/>
            <a:pathLst>
              <a:path w="1668" h="636">
                <a:moveTo>
                  <a:pt x="0" y="530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562" y="0"/>
                </a:lnTo>
                <a:cubicBezTo>
                  <a:pt x="1576" y="0"/>
                  <a:pt x="1590" y="2"/>
                  <a:pt x="1603" y="8"/>
                </a:cubicBezTo>
                <a:cubicBezTo>
                  <a:pt x="1616" y="13"/>
                  <a:pt x="1627" y="21"/>
                  <a:pt x="1637" y="31"/>
                </a:cubicBezTo>
                <a:cubicBezTo>
                  <a:pt x="1647" y="41"/>
                  <a:pt x="1654" y="52"/>
                  <a:pt x="1660" y="65"/>
                </a:cubicBezTo>
                <a:cubicBezTo>
                  <a:pt x="1665" y="78"/>
                  <a:pt x="1668" y="92"/>
                  <a:pt x="1668" y="106"/>
                </a:cubicBezTo>
                <a:lnTo>
                  <a:pt x="1668" y="530"/>
                </a:lnTo>
                <a:cubicBezTo>
                  <a:pt x="1668" y="544"/>
                  <a:pt x="1665" y="557"/>
                  <a:pt x="1660" y="570"/>
                </a:cubicBezTo>
                <a:cubicBezTo>
                  <a:pt x="1654" y="583"/>
                  <a:pt x="1647" y="595"/>
                  <a:pt x="1637" y="605"/>
                </a:cubicBezTo>
                <a:cubicBezTo>
                  <a:pt x="1627" y="615"/>
                  <a:pt x="1616" y="622"/>
                  <a:pt x="1603" y="628"/>
                </a:cubicBezTo>
                <a:cubicBezTo>
                  <a:pt x="1590" y="633"/>
                  <a:pt x="1576" y="636"/>
                  <a:pt x="1562" y="636"/>
                </a:cubicBezTo>
                <a:lnTo>
                  <a:pt x="106" y="636"/>
                </a:lnTo>
                <a:cubicBezTo>
                  <a:pt x="92" y="636"/>
                  <a:pt x="78" y="633"/>
                  <a:pt x="65" y="628"/>
                </a:cubicBezTo>
                <a:cubicBezTo>
                  <a:pt x="52" y="622"/>
                  <a:pt x="41" y="615"/>
                  <a:pt x="31" y="605"/>
                </a:cubicBezTo>
                <a:cubicBezTo>
                  <a:pt x="21" y="595"/>
                  <a:pt x="13" y="583"/>
                  <a:pt x="8" y="570"/>
                </a:cubicBezTo>
                <a:cubicBezTo>
                  <a:pt x="3" y="557"/>
                  <a:pt x="0" y="544"/>
                  <a:pt x="0" y="530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CuadroTexto 398"/>
          <p:cNvSpPr txBox="1"/>
          <p:nvPr/>
        </p:nvSpPr>
        <p:spPr>
          <a:xfrm>
            <a:off x="2146680" y="2371320"/>
            <a:ext cx="34765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todo lo de la izquierda</a:t>
            </a:r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+ lo que coincida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CuadroTexto 399"/>
          <p:cNvSpPr txBox="1"/>
          <p:nvPr/>
        </p:nvSpPr>
        <p:spPr>
          <a:xfrm>
            <a:off x="857160" y="2811960"/>
            <a:ext cx="48708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28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RIGHT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Forma libre 400"/>
          <p:cNvSpPr/>
          <p:nvPr/>
        </p:nvSpPr>
        <p:spPr>
          <a:xfrm>
            <a:off x="799920" y="3200040"/>
            <a:ext cx="1086120" cy="228960"/>
          </a:xfrm>
          <a:custGeom>
            <a:avLst/>
            <a:gdLst/>
            <a:ahLst/>
            <a:cxnLst/>
            <a:rect l="0" t="0" r="r" b="b"/>
            <a:pathLst>
              <a:path w="3017" h="636">
                <a:moveTo>
                  <a:pt x="0" y="531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8" y="3"/>
                  <a:pt x="92" y="0"/>
                  <a:pt x="106" y="0"/>
                </a:cubicBezTo>
                <a:lnTo>
                  <a:pt x="2911" y="0"/>
                </a:lnTo>
                <a:cubicBezTo>
                  <a:pt x="2925" y="0"/>
                  <a:pt x="2939" y="3"/>
                  <a:pt x="2952" y="9"/>
                </a:cubicBezTo>
                <a:cubicBezTo>
                  <a:pt x="2965" y="14"/>
                  <a:pt x="2976" y="22"/>
                  <a:pt x="2986" y="31"/>
                </a:cubicBezTo>
                <a:cubicBezTo>
                  <a:pt x="2996" y="41"/>
                  <a:pt x="3004" y="53"/>
                  <a:pt x="3009" y="66"/>
                </a:cubicBezTo>
                <a:cubicBezTo>
                  <a:pt x="3015" y="79"/>
                  <a:pt x="3017" y="92"/>
                  <a:pt x="3017" y="106"/>
                </a:cubicBezTo>
                <a:lnTo>
                  <a:pt x="3017" y="531"/>
                </a:lnTo>
                <a:cubicBezTo>
                  <a:pt x="3017" y="545"/>
                  <a:pt x="3015" y="558"/>
                  <a:pt x="3009" y="571"/>
                </a:cubicBezTo>
                <a:cubicBezTo>
                  <a:pt x="3004" y="584"/>
                  <a:pt x="2996" y="596"/>
                  <a:pt x="2986" y="606"/>
                </a:cubicBezTo>
                <a:cubicBezTo>
                  <a:pt x="2976" y="615"/>
                  <a:pt x="2965" y="623"/>
                  <a:pt x="2952" y="628"/>
                </a:cubicBezTo>
                <a:cubicBezTo>
                  <a:pt x="2939" y="634"/>
                  <a:pt x="2925" y="636"/>
                  <a:pt x="2911" y="636"/>
                </a:cubicBezTo>
                <a:lnTo>
                  <a:pt x="106" y="636"/>
                </a:lnTo>
                <a:cubicBezTo>
                  <a:pt x="92" y="636"/>
                  <a:pt x="78" y="634"/>
                  <a:pt x="65" y="628"/>
                </a:cubicBezTo>
                <a:cubicBezTo>
                  <a:pt x="52" y="623"/>
                  <a:pt x="41" y="615"/>
                  <a:pt x="31" y="606"/>
                </a:cubicBezTo>
                <a:cubicBezTo>
                  <a:pt x="21" y="596"/>
                  <a:pt x="13" y="584"/>
                  <a:pt x="8" y="571"/>
                </a:cubicBezTo>
                <a:cubicBezTo>
                  <a:pt x="3" y="558"/>
                  <a:pt x="0" y="545"/>
                  <a:pt x="0" y="531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CuadroTexto 401"/>
          <p:cNvSpPr txBox="1"/>
          <p:nvPr/>
        </p:nvSpPr>
        <p:spPr>
          <a:xfrm>
            <a:off x="2146680" y="2781000"/>
            <a:ext cx="451116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todo lo de la derecha (poco usado: invierte y usa LEFT)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CuadroTexto 402"/>
          <p:cNvSpPr txBox="1"/>
          <p:nvPr/>
        </p:nvSpPr>
        <p:spPr>
          <a:xfrm>
            <a:off x="857160" y="3221640"/>
            <a:ext cx="973440" cy="18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28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FULL OUTER</a:t>
            </a:r>
            <a:endParaRPr lang="es-E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CuadroTexto 403"/>
          <p:cNvSpPr txBox="1"/>
          <p:nvPr/>
        </p:nvSpPr>
        <p:spPr>
          <a:xfrm>
            <a:off x="2146680" y="3190320"/>
            <a:ext cx="1249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todo de ambas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CuadroTexto 413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CuadroTexto 414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CuadroTexto 415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D25C89-D15B-1E7A-1EAA-668F19B0B1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216"/>
          <a:stretch/>
        </p:blipFill>
        <p:spPr>
          <a:xfrm>
            <a:off x="4400280" y="3504960"/>
            <a:ext cx="6097563" cy="32921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Forma libre 41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Forma libre 417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Forma libre 41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Forma libre 419"/>
          <p:cNvSpPr/>
          <p:nvPr/>
        </p:nvSpPr>
        <p:spPr>
          <a:xfrm>
            <a:off x="671400" y="1528560"/>
            <a:ext cx="10849320" cy="1105200"/>
          </a:xfrm>
          <a:custGeom>
            <a:avLst/>
            <a:gdLst/>
            <a:ahLst/>
            <a:cxnLst/>
            <a:rect l="0" t="0" r="r" b="b"/>
            <a:pathLst>
              <a:path w="30137" h="3070">
                <a:moveTo>
                  <a:pt x="0" y="2872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5"/>
                  <a:pt x="30137" y="198"/>
                </a:cubicBezTo>
                <a:lnTo>
                  <a:pt x="30137" y="2872"/>
                </a:lnTo>
                <a:cubicBezTo>
                  <a:pt x="30137" y="2885"/>
                  <a:pt x="30136" y="2898"/>
                  <a:pt x="30133" y="2911"/>
                </a:cubicBezTo>
                <a:cubicBezTo>
                  <a:pt x="30130" y="2923"/>
                  <a:pt x="30127" y="2936"/>
                  <a:pt x="30122" y="2948"/>
                </a:cubicBezTo>
                <a:cubicBezTo>
                  <a:pt x="30117" y="2960"/>
                  <a:pt x="30111" y="2971"/>
                  <a:pt x="30103" y="2982"/>
                </a:cubicBezTo>
                <a:cubicBezTo>
                  <a:pt x="30096" y="2993"/>
                  <a:pt x="30088" y="3003"/>
                  <a:pt x="30079" y="3012"/>
                </a:cubicBezTo>
                <a:cubicBezTo>
                  <a:pt x="30070" y="3021"/>
                  <a:pt x="30059" y="3030"/>
                  <a:pt x="30049" y="3037"/>
                </a:cubicBezTo>
                <a:cubicBezTo>
                  <a:pt x="30038" y="3044"/>
                  <a:pt x="30026" y="3050"/>
                  <a:pt x="30014" y="3055"/>
                </a:cubicBezTo>
                <a:cubicBezTo>
                  <a:pt x="30002" y="3060"/>
                  <a:pt x="29990" y="3064"/>
                  <a:pt x="29977" y="3066"/>
                </a:cubicBezTo>
                <a:cubicBezTo>
                  <a:pt x="29964" y="3069"/>
                  <a:pt x="29951" y="3070"/>
                  <a:pt x="29938" y="3070"/>
                </a:cubicBezTo>
                <a:lnTo>
                  <a:pt x="198" y="3070"/>
                </a:lnTo>
                <a:cubicBezTo>
                  <a:pt x="185" y="3070"/>
                  <a:pt x="172" y="3069"/>
                  <a:pt x="160" y="3066"/>
                </a:cubicBezTo>
                <a:cubicBezTo>
                  <a:pt x="147" y="3064"/>
                  <a:pt x="134" y="3060"/>
                  <a:pt x="122" y="3055"/>
                </a:cubicBezTo>
                <a:cubicBezTo>
                  <a:pt x="110" y="3050"/>
                  <a:pt x="99" y="3044"/>
                  <a:pt x="88" y="3037"/>
                </a:cubicBezTo>
                <a:cubicBezTo>
                  <a:pt x="77" y="3030"/>
                  <a:pt x="67" y="3021"/>
                  <a:pt x="58" y="3012"/>
                </a:cubicBezTo>
                <a:cubicBezTo>
                  <a:pt x="49" y="3003"/>
                  <a:pt x="40" y="2993"/>
                  <a:pt x="33" y="2982"/>
                </a:cubicBezTo>
                <a:cubicBezTo>
                  <a:pt x="26" y="2971"/>
                  <a:pt x="20" y="2960"/>
                  <a:pt x="15" y="2948"/>
                </a:cubicBezTo>
                <a:cubicBezTo>
                  <a:pt x="10" y="2936"/>
                  <a:pt x="6" y="2923"/>
                  <a:pt x="4" y="2911"/>
                </a:cubicBezTo>
                <a:cubicBezTo>
                  <a:pt x="1" y="2898"/>
                  <a:pt x="0" y="2885"/>
                  <a:pt x="0" y="2872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Forma libre 420"/>
          <p:cNvSpPr/>
          <p:nvPr/>
        </p:nvSpPr>
        <p:spPr>
          <a:xfrm>
            <a:off x="671400" y="1528560"/>
            <a:ext cx="10849320" cy="1105200"/>
          </a:xfrm>
          <a:custGeom>
            <a:avLst/>
            <a:gdLst/>
            <a:ahLst/>
            <a:cxnLst/>
            <a:rect l="0" t="0" r="r" b="b"/>
            <a:pathLst>
              <a:path w="30137" h="3070">
                <a:moveTo>
                  <a:pt x="0" y="2872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6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7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5"/>
                  <a:pt x="30137" y="198"/>
                </a:cubicBezTo>
                <a:lnTo>
                  <a:pt x="30137" y="2872"/>
                </a:lnTo>
                <a:cubicBezTo>
                  <a:pt x="30137" y="2885"/>
                  <a:pt x="30136" y="2898"/>
                  <a:pt x="30133" y="2911"/>
                </a:cubicBezTo>
                <a:cubicBezTo>
                  <a:pt x="30130" y="2923"/>
                  <a:pt x="30127" y="2936"/>
                  <a:pt x="30122" y="2948"/>
                </a:cubicBezTo>
                <a:cubicBezTo>
                  <a:pt x="30117" y="2960"/>
                  <a:pt x="30111" y="2971"/>
                  <a:pt x="30103" y="2982"/>
                </a:cubicBezTo>
                <a:cubicBezTo>
                  <a:pt x="30096" y="2993"/>
                  <a:pt x="30088" y="3003"/>
                  <a:pt x="30079" y="3012"/>
                </a:cubicBezTo>
                <a:cubicBezTo>
                  <a:pt x="30070" y="3021"/>
                  <a:pt x="30059" y="3030"/>
                  <a:pt x="30049" y="3037"/>
                </a:cubicBezTo>
                <a:cubicBezTo>
                  <a:pt x="30038" y="3044"/>
                  <a:pt x="30026" y="3050"/>
                  <a:pt x="30014" y="3055"/>
                </a:cubicBezTo>
                <a:cubicBezTo>
                  <a:pt x="30002" y="3060"/>
                  <a:pt x="29990" y="3064"/>
                  <a:pt x="29977" y="3066"/>
                </a:cubicBezTo>
                <a:cubicBezTo>
                  <a:pt x="29964" y="3069"/>
                  <a:pt x="29951" y="3070"/>
                  <a:pt x="29938" y="3070"/>
                </a:cubicBezTo>
                <a:lnTo>
                  <a:pt x="198" y="3070"/>
                </a:lnTo>
                <a:cubicBezTo>
                  <a:pt x="185" y="3070"/>
                  <a:pt x="172" y="3069"/>
                  <a:pt x="160" y="3066"/>
                </a:cubicBezTo>
                <a:cubicBezTo>
                  <a:pt x="147" y="3064"/>
                  <a:pt x="134" y="3060"/>
                  <a:pt x="122" y="3055"/>
                </a:cubicBezTo>
                <a:cubicBezTo>
                  <a:pt x="110" y="3050"/>
                  <a:pt x="99" y="3044"/>
                  <a:pt x="88" y="3037"/>
                </a:cubicBezTo>
                <a:cubicBezTo>
                  <a:pt x="77" y="3030"/>
                  <a:pt x="67" y="3021"/>
                  <a:pt x="58" y="3012"/>
                </a:cubicBezTo>
                <a:cubicBezTo>
                  <a:pt x="49" y="3003"/>
                  <a:pt x="40" y="2993"/>
                  <a:pt x="33" y="2982"/>
                </a:cubicBezTo>
                <a:cubicBezTo>
                  <a:pt x="26" y="2971"/>
                  <a:pt x="20" y="2960"/>
                  <a:pt x="15" y="2948"/>
                </a:cubicBezTo>
                <a:cubicBezTo>
                  <a:pt x="10" y="2936"/>
                  <a:pt x="6" y="2923"/>
                  <a:pt x="4" y="2911"/>
                </a:cubicBezTo>
                <a:cubicBezTo>
                  <a:pt x="1" y="2898"/>
                  <a:pt x="0" y="2885"/>
                  <a:pt x="0" y="287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Forma libre 421"/>
          <p:cNvSpPr/>
          <p:nvPr/>
        </p:nvSpPr>
        <p:spPr>
          <a:xfrm>
            <a:off x="666720" y="4086000"/>
            <a:ext cx="10858680" cy="914760"/>
          </a:xfrm>
          <a:custGeom>
            <a:avLst/>
            <a:gdLst/>
            <a:ahLst/>
            <a:cxnLst/>
            <a:rect l="0" t="0" r="r" b="b"/>
            <a:pathLst>
              <a:path w="30163" h="2541">
                <a:moveTo>
                  <a:pt x="0" y="0"/>
                </a:moveTo>
                <a:lnTo>
                  <a:pt x="30163" y="0"/>
                </a:lnTo>
                <a:lnTo>
                  <a:pt x="3016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Forma libre 422"/>
          <p:cNvSpPr/>
          <p:nvPr/>
        </p:nvSpPr>
        <p:spPr>
          <a:xfrm>
            <a:off x="666720" y="4086000"/>
            <a:ext cx="47880" cy="914760"/>
          </a:xfrm>
          <a:custGeom>
            <a:avLst/>
            <a:gdLst/>
            <a:ahLst/>
            <a:cxnLst/>
            <a:rect l="0" t="0" r="r" b="b"/>
            <a:pathLst>
              <a:path w="133" h="2541">
                <a:moveTo>
                  <a:pt x="0" y="0"/>
                </a:moveTo>
                <a:lnTo>
                  <a:pt x="133" y="0"/>
                </a:lnTo>
                <a:lnTo>
                  <a:pt x="13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CuadroTexto 423"/>
          <p:cNvSpPr txBox="1"/>
          <p:nvPr/>
        </p:nvSpPr>
        <p:spPr>
          <a:xfrm>
            <a:off x="666720" y="882360"/>
            <a:ext cx="526176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Cardinalidad: cuenta antes y después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CuadroTexto 424"/>
          <p:cNvSpPr txBox="1"/>
          <p:nvPr/>
        </p:nvSpPr>
        <p:spPr>
          <a:xfrm>
            <a:off x="866880" y="1708560"/>
            <a:ext cx="666072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SELECT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*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visit_occurrence;              </a:t>
            </a:r>
            <a:r>
              <a:rPr lang="es-ES" sz="1430" b="0" i="1" u="none" strike="noStrike">
                <a:solidFill>
                  <a:srgbClr val="8FA1B0"/>
                </a:solidFill>
                <a:effectLst/>
                <a:uFillTx/>
                <a:latin typeface="Menlo"/>
                <a:ea typeface="Menlo"/>
              </a:rPr>
              <a:t>-- 30 000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CuadroTexto 425"/>
          <p:cNvSpPr txBox="1"/>
          <p:nvPr/>
        </p:nvSpPr>
        <p:spPr>
          <a:xfrm>
            <a:off x="866880" y="1975320"/>
            <a:ext cx="425880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SELECT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count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(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*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)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visit_occurrence v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Forma libre 426"/>
          <p:cNvSpPr/>
          <p:nvPr/>
        </p:nvSpPr>
        <p:spPr>
          <a:xfrm>
            <a:off x="914040" y="294300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59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2" y="172"/>
                  <a:pt x="14" y="159"/>
                  <a:pt x="9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CuadroTexto 427"/>
          <p:cNvSpPr txBox="1"/>
          <p:nvPr/>
        </p:nvSpPr>
        <p:spPr>
          <a:xfrm>
            <a:off x="866880" y="2232360"/>
            <a:ext cx="687924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JOIN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person p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ON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p.person_id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=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v.person_id;         </a:t>
            </a:r>
            <a:r>
              <a:rPr lang="es-ES" sz="1430" b="0" i="1" u="none" strike="noStrike">
                <a:solidFill>
                  <a:srgbClr val="8FA1B0"/>
                </a:solidFill>
                <a:effectLst/>
                <a:uFillTx/>
                <a:latin typeface="Menlo"/>
                <a:ea typeface="Menlo"/>
              </a:rPr>
              <a:t>-- ¿30 000?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CuadroTexto 428"/>
          <p:cNvSpPr txBox="1"/>
          <p:nvPr/>
        </p:nvSpPr>
        <p:spPr>
          <a:xfrm>
            <a:off x="1123920" y="2830320"/>
            <a:ext cx="38232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1:1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CuadroTexto 429"/>
          <p:cNvSpPr txBox="1"/>
          <p:nvPr/>
        </p:nvSpPr>
        <p:spPr>
          <a:xfrm>
            <a:off x="1505520" y="2841120"/>
            <a:ext cx="229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Forma libre 430"/>
          <p:cNvSpPr/>
          <p:nvPr/>
        </p:nvSpPr>
        <p:spPr>
          <a:xfrm>
            <a:off x="914040" y="334296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2" y="172"/>
                  <a:pt x="14" y="161"/>
                  <a:pt x="9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CuadroTexto 431"/>
          <p:cNvSpPr txBox="1"/>
          <p:nvPr/>
        </p:nvSpPr>
        <p:spPr>
          <a:xfrm>
            <a:off x="1734120" y="2830320"/>
            <a:ext cx="2291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mismo número de ﬁlas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CuadroTexto 432"/>
          <p:cNvSpPr txBox="1"/>
          <p:nvPr/>
        </p:nvSpPr>
        <p:spPr>
          <a:xfrm>
            <a:off x="1123920" y="3230280"/>
            <a:ext cx="11394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N:1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(visitas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CuadroTexto 433"/>
          <p:cNvSpPr txBox="1"/>
          <p:nvPr/>
        </p:nvSpPr>
        <p:spPr>
          <a:xfrm>
            <a:off x="2262960" y="3241080"/>
            <a:ext cx="229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CuadroTexto 434"/>
          <p:cNvSpPr txBox="1"/>
          <p:nvPr/>
        </p:nvSpPr>
        <p:spPr>
          <a:xfrm>
            <a:off x="2491560" y="3230280"/>
            <a:ext cx="1021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paciente)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CuadroTexto 435"/>
          <p:cNvSpPr txBox="1"/>
          <p:nvPr/>
        </p:nvSpPr>
        <p:spPr>
          <a:xfrm>
            <a:off x="3512160" y="3241080"/>
            <a:ext cx="229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Forma libre 436"/>
          <p:cNvSpPr/>
          <p:nvPr/>
        </p:nvSpPr>
        <p:spPr>
          <a:xfrm>
            <a:off x="914040" y="37432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2" y="171"/>
                  <a:pt x="14" y="160"/>
                  <a:pt x="9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9" y="66"/>
                </a:cubicBezTo>
                <a:cubicBezTo>
                  <a:pt x="14" y="53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7" y="0"/>
                </a:cubicBezTo>
                <a:cubicBezTo>
                  <a:pt x="121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CuadroTexto 437"/>
          <p:cNvSpPr txBox="1"/>
          <p:nvPr/>
        </p:nvSpPr>
        <p:spPr>
          <a:xfrm>
            <a:off x="3740760" y="3230280"/>
            <a:ext cx="1249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se conserva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CuadroTexto 438"/>
          <p:cNvSpPr txBox="1"/>
          <p:nvPr/>
        </p:nvSpPr>
        <p:spPr>
          <a:xfrm>
            <a:off x="1123920" y="3630600"/>
            <a:ext cx="113148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1:N o N:M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CuadroTexto 439"/>
          <p:cNvSpPr txBox="1"/>
          <p:nvPr/>
        </p:nvSpPr>
        <p:spPr>
          <a:xfrm>
            <a:off x="2254680" y="3641040"/>
            <a:ext cx="229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CuadroTexto 440"/>
          <p:cNvSpPr txBox="1"/>
          <p:nvPr/>
        </p:nvSpPr>
        <p:spPr>
          <a:xfrm>
            <a:off x="2483280" y="3630600"/>
            <a:ext cx="14432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se multiplica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Forma libre 441"/>
          <p:cNvSpPr/>
          <p:nvPr/>
        </p:nvSpPr>
        <p:spPr>
          <a:xfrm>
            <a:off x="1152360" y="4257360"/>
            <a:ext cx="819360" cy="267120"/>
          </a:xfrm>
          <a:custGeom>
            <a:avLst/>
            <a:gdLst/>
            <a:ahLst/>
            <a:cxnLst/>
            <a:rect l="0" t="0" r="r" b="b"/>
            <a:pathLst>
              <a:path w="2276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2171" y="0"/>
                </a:lnTo>
                <a:cubicBezTo>
                  <a:pt x="2185" y="0"/>
                  <a:pt x="2198" y="3"/>
                  <a:pt x="2211" y="8"/>
                </a:cubicBezTo>
                <a:cubicBezTo>
                  <a:pt x="2224" y="14"/>
                  <a:pt x="2235" y="21"/>
                  <a:pt x="2245" y="31"/>
                </a:cubicBezTo>
                <a:cubicBezTo>
                  <a:pt x="2255" y="41"/>
                  <a:pt x="2263" y="53"/>
                  <a:pt x="2268" y="66"/>
                </a:cubicBezTo>
                <a:cubicBezTo>
                  <a:pt x="2274" y="79"/>
                  <a:pt x="2276" y="92"/>
                  <a:pt x="2276" y="106"/>
                </a:cubicBezTo>
                <a:lnTo>
                  <a:pt x="2276" y="636"/>
                </a:lnTo>
                <a:cubicBezTo>
                  <a:pt x="2276" y="650"/>
                  <a:pt x="2274" y="664"/>
                  <a:pt x="2268" y="677"/>
                </a:cubicBezTo>
                <a:cubicBezTo>
                  <a:pt x="2263" y="690"/>
                  <a:pt x="2255" y="701"/>
                  <a:pt x="2245" y="711"/>
                </a:cubicBezTo>
                <a:cubicBezTo>
                  <a:pt x="2235" y="721"/>
                  <a:pt x="2224" y="729"/>
                  <a:pt x="2211" y="734"/>
                </a:cubicBezTo>
                <a:cubicBezTo>
                  <a:pt x="2198" y="740"/>
                  <a:pt x="2185" y="742"/>
                  <a:pt x="2171" y="742"/>
                </a:cubicBezTo>
                <a:lnTo>
                  <a:pt x="106" y="742"/>
                </a:lnTo>
                <a:cubicBezTo>
                  <a:pt x="92" y="742"/>
                  <a:pt x="78" y="740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3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CuadroTexto 442"/>
          <p:cNvSpPr txBox="1"/>
          <p:nvPr/>
        </p:nvSpPr>
        <p:spPr>
          <a:xfrm>
            <a:off x="905040" y="4240080"/>
            <a:ext cx="250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Si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CuadroTexto 443"/>
          <p:cNvSpPr txBox="1"/>
          <p:nvPr/>
        </p:nvSpPr>
        <p:spPr>
          <a:xfrm>
            <a:off x="1211760" y="4277520"/>
            <a:ext cx="7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person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Forma libre 444"/>
          <p:cNvSpPr/>
          <p:nvPr/>
        </p:nvSpPr>
        <p:spPr>
          <a:xfrm>
            <a:off x="3057480" y="4257360"/>
            <a:ext cx="1162440" cy="267120"/>
          </a:xfrm>
          <a:custGeom>
            <a:avLst/>
            <a:gdLst/>
            <a:ahLst/>
            <a:cxnLst/>
            <a:rect l="0" t="0" r="r" b="b"/>
            <a:pathLst>
              <a:path w="3229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123" y="0"/>
                </a:lnTo>
                <a:cubicBezTo>
                  <a:pt x="3137" y="0"/>
                  <a:pt x="3150" y="3"/>
                  <a:pt x="3163" y="8"/>
                </a:cubicBezTo>
                <a:cubicBezTo>
                  <a:pt x="3176" y="14"/>
                  <a:pt x="3188" y="21"/>
                  <a:pt x="3198" y="31"/>
                </a:cubicBezTo>
                <a:cubicBezTo>
                  <a:pt x="3207" y="41"/>
                  <a:pt x="3215" y="53"/>
                  <a:pt x="3220" y="66"/>
                </a:cubicBezTo>
                <a:cubicBezTo>
                  <a:pt x="3226" y="79"/>
                  <a:pt x="3229" y="92"/>
                  <a:pt x="3229" y="106"/>
                </a:cubicBezTo>
                <a:lnTo>
                  <a:pt x="3229" y="636"/>
                </a:lnTo>
                <a:cubicBezTo>
                  <a:pt x="3229" y="650"/>
                  <a:pt x="3226" y="664"/>
                  <a:pt x="3220" y="677"/>
                </a:cubicBezTo>
                <a:cubicBezTo>
                  <a:pt x="3215" y="690"/>
                  <a:pt x="3207" y="701"/>
                  <a:pt x="3198" y="711"/>
                </a:cubicBezTo>
                <a:cubicBezTo>
                  <a:pt x="3188" y="721"/>
                  <a:pt x="3176" y="729"/>
                  <a:pt x="3163" y="734"/>
                </a:cubicBezTo>
                <a:cubicBezTo>
                  <a:pt x="3150" y="740"/>
                  <a:pt x="3137" y="742"/>
                  <a:pt x="3123" y="742"/>
                </a:cubicBezTo>
                <a:lnTo>
                  <a:pt x="105" y="742"/>
                </a:lnTo>
                <a:cubicBezTo>
                  <a:pt x="91" y="742"/>
                  <a:pt x="78" y="740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CuadroTexto 445"/>
          <p:cNvSpPr txBox="1"/>
          <p:nvPr/>
        </p:nvSpPr>
        <p:spPr>
          <a:xfrm>
            <a:off x="1971000" y="4240080"/>
            <a:ext cx="1084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 tuviera un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CuadroTexto 446"/>
          <p:cNvSpPr txBox="1"/>
          <p:nvPr/>
        </p:nvSpPr>
        <p:spPr>
          <a:xfrm>
            <a:off x="3112200" y="4277520"/>
            <a:ext cx="10576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person_id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CuadroTexto 447"/>
          <p:cNvSpPr txBox="1"/>
          <p:nvPr/>
        </p:nvSpPr>
        <p:spPr>
          <a:xfrm>
            <a:off x="4222440" y="4240080"/>
            <a:ext cx="691848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 duplicado, ese join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duplicaría</a:t>
            </a:r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 las visitas de ese paciente. Y todos tus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CuadroTexto 448"/>
          <p:cNvSpPr txBox="1"/>
          <p:nvPr/>
        </p:nvSpPr>
        <p:spPr>
          <a:xfrm>
            <a:off x="905040" y="4582800"/>
            <a:ext cx="4916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59636E"/>
                </a:solidFill>
                <a:effectLst/>
                <a:uFillTx/>
                <a:latin typeface="HelveticaNeue"/>
                <a:ea typeface="HelveticaNeue"/>
              </a:rPr>
              <a:t>conteos posteriores estarían mal, sin ningún error.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CuadroTexto 449"/>
          <p:cNvSpPr txBox="1"/>
          <p:nvPr/>
        </p:nvSpPr>
        <p:spPr>
          <a:xfrm>
            <a:off x="666720" y="5192640"/>
            <a:ext cx="62492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Regla: cuenta ﬁlas antes y después de cada join.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Siempre.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CuadroTexto 453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CuadroTexto 454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CuadroTexto 455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Forma libre 49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Forma libre 493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Forma libre 49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CuadroTexto 495"/>
          <p:cNvSpPr txBox="1"/>
          <p:nvPr/>
        </p:nvSpPr>
        <p:spPr>
          <a:xfrm>
            <a:off x="3583080" y="3063960"/>
            <a:ext cx="513828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8. Rendimiento básico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CuadroTexto 496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CuadroTexto 497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CuadroTexto 498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22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Forma libre 49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Forma libre 50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Forma libre 501"/>
          <p:cNvSpPr/>
          <p:nvPr/>
        </p:nvSpPr>
        <p:spPr>
          <a:xfrm>
            <a:off x="0" y="32796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Forma libre 502"/>
          <p:cNvSpPr/>
          <p:nvPr/>
        </p:nvSpPr>
        <p:spPr>
          <a:xfrm>
            <a:off x="671400" y="1738080"/>
            <a:ext cx="10849320" cy="848160"/>
          </a:xfrm>
          <a:custGeom>
            <a:avLst/>
            <a:gdLst/>
            <a:ahLst/>
            <a:cxnLst/>
            <a:rect l="0" t="0" r="r" b="b"/>
            <a:pathLst>
              <a:path w="30137" h="2356">
                <a:moveTo>
                  <a:pt x="0" y="215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8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2157"/>
                </a:lnTo>
                <a:cubicBezTo>
                  <a:pt x="30137" y="2171"/>
                  <a:pt x="30136" y="2183"/>
                  <a:pt x="30133" y="2196"/>
                </a:cubicBezTo>
                <a:cubicBezTo>
                  <a:pt x="30130" y="2209"/>
                  <a:pt x="30127" y="2221"/>
                  <a:pt x="30122" y="2233"/>
                </a:cubicBezTo>
                <a:cubicBezTo>
                  <a:pt x="30117" y="2245"/>
                  <a:pt x="30111" y="2257"/>
                  <a:pt x="30103" y="2268"/>
                </a:cubicBezTo>
                <a:cubicBezTo>
                  <a:pt x="30096" y="2279"/>
                  <a:pt x="30088" y="2289"/>
                  <a:pt x="30079" y="2298"/>
                </a:cubicBezTo>
                <a:cubicBezTo>
                  <a:pt x="30070" y="2307"/>
                  <a:pt x="30059" y="2315"/>
                  <a:pt x="30049" y="2322"/>
                </a:cubicBezTo>
                <a:cubicBezTo>
                  <a:pt x="30038" y="2330"/>
                  <a:pt x="30026" y="2336"/>
                  <a:pt x="30014" y="2341"/>
                </a:cubicBezTo>
                <a:cubicBezTo>
                  <a:pt x="30002" y="2346"/>
                  <a:pt x="29990" y="2350"/>
                  <a:pt x="29977" y="2352"/>
                </a:cubicBezTo>
                <a:cubicBezTo>
                  <a:pt x="29964" y="2355"/>
                  <a:pt x="29951" y="2356"/>
                  <a:pt x="29938" y="2356"/>
                </a:cubicBezTo>
                <a:lnTo>
                  <a:pt x="198" y="2356"/>
                </a:lnTo>
                <a:cubicBezTo>
                  <a:pt x="185" y="2356"/>
                  <a:pt x="172" y="2355"/>
                  <a:pt x="160" y="2352"/>
                </a:cubicBezTo>
                <a:cubicBezTo>
                  <a:pt x="147" y="2350"/>
                  <a:pt x="134" y="2346"/>
                  <a:pt x="122" y="2341"/>
                </a:cubicBezTo>
                <a:cubicBezTo>
                  <a:pt x="110" y="2336"/>
                  <a:pt x="99" y="2330"/>
                  <a:pt x="88" y="2322"/>
                </a:cubicBezTo>
                <a:cubicBezTo>
                  <a:pt x="77" y="2315"/>
                  <a:pt x="67" y="2307"/>
                  <a:pt x="58" y="2298"/>
                </a:cubicBezTo>
                <a:cubicBezTo>
                  <a:pt x="49" y="2289"/>
                  <a:pt x="40" y="2279"/>
                  <a:pt x="33" y="2268"/>
                </a:cubicBezTo>
                <a:cubicBezTo>
                  <a:pt x="26" y="2257"/>
                  <a:pt x="20" y="2245"/>
                  <a:pt x="15" y="2233"/>
                </a:cubicBezTo>
                <a:cubicBezTo>
                  <a:pt x="10" y="2221"/>
                  <a:pt x="6" y="2209"/>
                  <a:pt x="4" y="2196"/>
                </a:cubicBezTo>
                <a:cubicBezTo>
                  <a:pt x="1" y="2183"/>
                  <a:pt x="0" y="2171"/>
                  <a:pt x="0" y="2157"/>
                </a:cubicBezTo>
                <a:close/>
              </a:path>
            </a:pathLst>
          </a:custGeom>
          <a:solidFill>
            <a:srgbClr val="1E2A33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Forma libre 503"/>
          <p:cNvSpPr/>
          <p:nvPr/>
        </p:nvSpPr>
        <p:spPr>
          <a:xfrm>
            <a:off x="671400" y="1738080"/>
            <a:ext cx="10849320" cy="848160"/>
          </a:xfrm>
          <a:custGeom>
            <a:avLst/>
            <a:gdLst/>
            <a:ahLst/>
            <a:cxnLst/>
            <a:rect l="0" t="0" r="r" b="b"/>
            <a:pathLst>
              <a:path w="30137" h="2356">
                <a:moveTo>
                  <a:pt x="0" y="215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2" y="1"/>
                  <a:pt x="185" y="0"/>
                  <a:pt x="198" y="0"/>
                </a:cubicBezTo>
                <a:lnTo>
                  <a:pt x="29938" y="0"/>
                </a:lnTo>
                <a:cubicBezTo>
                  <a:pt x="29951" y="0"/>
                  <a:pt x="29964" y="1"/>
                  <a:pt x="29977" y="4"/>
                </a:cubicBezTo>
                <a:cubicBezTo>
                  <a:pt x="29990" y="7"/>
                  <a:pt x="30002" y="10"/>
                  <a:pt x="30014" y="15"/>
                </a:cubicBezTo>
                <a:cubicBezTo>
                  <a:pt x="30026" y="20"/>
                  <a:pt x="30038" y="26"/>
                  <a:pt x="30049" y="34"/>
                </a:cubicBezTo>
                <a:cubicBezTo>
                  <a:pt x="30059" y="41"/>
                  <a:pt x="30070" y="49"/>
                  <a:pt x="30079" y="58"/>
                </a:cubicBezTo>
                <a:cubicBezTo>
                  <a:pt x="30088" y="67"/>
                  <a:pt x="30096" y="78"/>
                  <a:pt x="30103" y="88"/>
                </a:cubicBezTo>
                <a:cubicBezTo>
                  <a:pt x="30111" y="99"/>
                  <a:pt x="30117" y="111"/>
                  <a:pt x="30122" y="123"/>
                </a:cubicBezTo>
                <a:cubicBezTo>
                  <a:pt x="30127" y="135"/>
                  <a:pt x="30130" y="147"/>
                  <a:pt x="30133" y="160"/>
                </a:cubicBezTo>
                <a:cubicBezTo>
                  <a:pt x="30136" y="173"/>
                  <a:pt x="30137" y="186"/>
                  <a:pt x="30137" y="199"/>
                </a:cubicBezTo>
                <a:lnTo>
                  <a:pt x="30137" y="2157"/>
                </a:lnTo>
                <a:cubicBezTo>
                  <a:pt x="30137" y="2171"/>
                  <a:pt x="30136" y="2183"/>
                  <a:pt x="30133" y="2196"/>
                </a:cubicBezTo>
                <a:cubicBezTo>
                  <a:pt x="30130" y="2209"/>
                  <a:pt x="30127" y="2221"/>
                  <a:pt x="30122" y="2233"/>
                </a:cubicBezTo>
                <a:cubicBezTo>
                  <a:pt x="30117" y="2245"/>
                  <a:pt x="30111" y="2257"/>
                  <a:pt x="30103" y="2268"/>
                </a:cubicBezTo>
                <a:cubicBezTo>
                  <a:pt x="30096" y="2279"/>
                  <a:pt x="30088" y="2289"/>
                  <a:pt x="30079" y="2298"/>
                </a:cubicBezTo>
                <a:cubicBezTo>
                  <a:pt x="30070" y="2307"/>
                  <a:pt x="30059" y="2315"/>
                  <a:pt x="30049" y="2322"/>
                </a:cubicBezTo>
                <a:cubicBezTo>
                  <a:pt x="30038" y="2330"/>
                  <a:pt x="30026" y="2336"/>
                  <a:pt x="30014" y="2341"/>
                </a:cubicBezTo>
                <a:cubicBezTo>
                  <a:pt x="30002" y="2346"/>
                  <a:pt x="29990" y="2350"/>
                  <a:pt x="29977" y="2352"/>
                </a:cubicBezTo>
                <a:cubicBezTo>
                  <a:pt x="29964" y="2355"/>
                  <a:pt x="29951" y="2356"/>
                  <a:pt x="29938" y="2356"/>
                </a:cubicBezTo>
                <a:lnTo>
                  <a:pt x="198" y="2356"/>
                </a:lnTo>
                <a:cubicBezTo>
                  <a:pt x="185" y="2356"/>
                  <a:pt x="172" y="2355"/>
                  <a:pt x="160" y="2352"/>
                </a:cubicBezTo>
                <a:cubicBezTo>
                  <a:pt x="147" y="2350"/>
                  <a:pt x="134" y="2346"/>
                  <a:pt x="122" y="2341"/>
                </a:cubicBezTo>
                <a:cubicBezTo>
                  <a:pt x="110" y="2336"/>
                  <a:pt x="99" y="2330"/>
                  <a:pt x="88" y="2322"/>
                </a:cubicBezTo>
                <a:cubicBezTo>
                  <a:pt x="77" y="2315"/>
                  <a:pt x="67" y="2307"/>
                  <a:pt x="58" y="2298"/>
                </a:cubicBezTo>
                <a:cubicBezTo>
                  <a:pt x="49" y="2289"/>
                  <a:pt x="40" y="2279"/>
                  <a:pt x="33" y="2268"/>
                </a:cubicBezTo>
                <a:cubicBezTo>
                  <a:pt x="26" y="2257"/>
                  <a:pt x="20" y="2245"/>
                  <a:pt x="15" y="2233"/>
                </a:cubicBezTo>
                <a:cubicBezTo>
                  <a:pt x="10" y="2221"/>
                  <a:pt x="6" y="2209"/>
                  <a:pt x="4" y="2196"/>
                </a:cubicBezTo>
                <a:cubicBezTo>
                  <a:pt x="1" y="2183"/>
                  <a:pt x="0" y="2171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Forma libre 504"/>
          <p:cNvSpPr/>
          <p:nvPr/>
        </p:nvSpPr>
        <p:spPr>
          <a:xfrm>
            <a:off x="690480" y="4381200"/>
            <a:ext cx="10834920" cy="1410120"/>
          </a:xfrm>
          <a:custGeom>
            <a:avLst/>
            <a:gdLst/>
            <a:ahLst/>
            <a:cxnLst/>
            <a:rect l="0" t="0" r="r" b="b"/>
            <a:pathLst>
              <a:path w="30097" h="3917">
                <a:moveTo>
                  <a:pt x="0" y="3917"/>
                </a:moveTo>
                <a:lnTo>
                  <a:pt x="0" y="0"/>
                </a:lnTo>
                <a:lnTo>
                  <a:pt x="29938" y="0"/>
                </a:lnTo>
                <a:cubicBezTo>
                  <a:pt x="29949" y="0"/>
                  <a:pt x="29959" y="1"/>
                  <a:pt x="29969" y="3"/>
                </a:cubicBezTo>
                <a:cubicBezTo>
                  <a:pt x="29980" y="5"/>
                  <a:pt x="29989" y="8"/>
                  <a:pt x="29999" y="12"/>
                </a:cubicBezTo>
                <a:cubicBezTo>
                  <a:pt x="30009" y="16"/>
                  <a:pt x="30018" y="21"/>
                  <a:pt x="30027" y="27"/>
                </a:cubicBezTo>
                <a:cubicBezTo>
                  <a:pt x="30035" y="33"/>
                  <a:pt x="30043" y="39"/>
                  <a:pt x="30051" y="47"/>
                </a:cubicBezTo>
                <a:cubicBezTo>
                  <a:pt x="30058" y="54"/>
                  <a:pt x="30065" y="62"/>
                  <a:pt x="30070" y="71"/>
                </a:cubicBezTo>
                <a:cubicBezTo>
                  <a:pt x="30076" y="80"/>
                  <a:pt x="30081" y="89"/>
                  <a:pt x="30085" y="98"/>
                </a:cubicBezTo>
                <a:cubicBezTo>
                  <a:pt x="30089" y="108"/>
                  <a:pt x="30092" y="118"/>
                  <a:pt x="30094" y="128"/>
                </a:cubicBezTo>
                <a:cubicBezTo>
                  <a:pt x="30096" y="138"/>
                  <a:pt x="30097" y="149"/>
                  <a:pt x="30097" y="159"/>
                </a:cubicBezTo>
                <a:lnTo>
                  <a:pt x="30097" y="3758"/>
                </a:lnTo>
                <a:cubicBezTo>
                  <a:pt x="30097" y="3769"/>
                  <a:pt x="30096" y="3779"/>
                  <a:pt x="30094" y="3789"/>
                </a:cubicBezTo>
                <a:cubicBezTo>
                  <a:pt x="30092" y="3800"/>
                  <a:pt x="30089" y="3810"/>
                  <a:pt x="30085" y="3819"/>
                </a:cubicBezTo>
                <a:cubicBezTo>
                  <a:pt x="30081" y="3829"/>
                  <a:pt x="30076" y="3838"/>
                  <a:pt x="30070" y="3847"/>
                </a:cubicBezTo>
                <a:cubicBezTo>
                  <a:pt x="30065" y="3855"/>
                  <a:pt x="30058" y="3863"/>
                  <a:pt x="30051" y="3871"/>
                </a:cubicBezTo>
                <a:cubicBezTo>
                  <a:pt x="30043" y="3878"/>
                  <a:pt x="30035" y="3885"/>
                  <a:pt x="30027" y="3890"/>
                </a:cubicBezTo>
                <a:cubicBezTo>
                  <a:pt x="30018" y="3896"/>
                  <a:pt x="30009" y="3901"/>
                  <a:pt x="29999" y="3905"/>
                </a:cubicBezTo>
                <a:cubicBezTo>
                  <a:pt x="29989" y="3909"/>
                  <a:pt x="29980" y="3912"/>
                  <a:pt x="29969" y="3914"/>
                </a:cubicBezTo>
                <a:cubicBezTo>
                  <a:pt x="29959" y="3916"/>
                  <a:pt x="29949" y="3917"/>
                  <a:pt x="29938" y="3917"/>
                </a:cubicBezTo>
                <a:lnTo>
                  <a:pt x="0" y="3917"/>
                </a:lnTo>
                <a:close/>
              </a:path>
            </a:pathLst>
          </a:custGeom>
          <a:solidFill>
            <a:srgbClr val="FFF6EC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Forma libre 505"/>
          <p:cNvSpPr/>
          <p:nvPr/>
        </p:nvSpPr>
        <p:spPr>
          <a:xfrm>
            <a:off x="666720" y="4381200"/>
            <a:ext cx="47880" cy="1410120"/>
          </a:xfrm>
          <a:custGeom>
            <a:avLst/>
            <a:gdLst/>
            <a:ahLst/>
            <a:cxnLst/>
            <a:rect l="0" t="0" r="r" b="b"/>
            <a:pathLst>
              <a:path w="133" h="3917">
                <a:moveTo>
                  <a:pt x="0" y="0"/>
                </a:moveTo>
                <a:lnTo>
                  <a:pt x="133" y="0"/>
                </a:lnTo>
                <a:lnTo>
                  <a:pt x="133" y="3917"/>
                </a:lnTo>
                <a:lnTo>
                  <a:pt x="0" y="3917"/>
                </a:lnTo>
                <a:lnTo>
                  <a:pt x="0" y="0"/>
                </a:lnTo>
                <a:close/>
              </a:path>
            </a:pathLst>
          </a:custGeom>
          <a:solidFill>
            <a:srgbClr val="D9822B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Forma libre 506"/>
          <p:cNvSpPr/>
          <p:nvPr/>
        </p:nvSpPr>
        <p:spPr>
          <a:xfrm>
            <a:off x="666720" y="1085760"/>
            <a:ext cx="1476720" cy="381240"/>
          </a:xfrm>
          <a:custGeom>
            <a:avLst/>
            <a:gdLst/>
            <a:ahLst/>
            <a:cxnLst/>
            <a:rect l="0" t="0" r="r" b="b"/>
            <a:pathLst>
              <a:path w="4102" h="1059">
                <a:moveTo>
                  <a:pt x="0" y="953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3996" y="0"/>
                </a:lnTo>
                <a:cubicBezTo>
                  <a:pt x="4010" y="0"/>
                  <a:pt x="4023" y="2"/>
                  <a:pt x="4036" y="8"/>
                </a:cubicBezTo>
                <a:cubicBezTo>
                  <a:pt x="4049" y="13"/>
                  <a:pt x="4061" y="21"/>
                  <a:pt x="4071" y="31"/>
                </a:cubicBezTo>
                <a:cubicBezTo>
                  <a:pt x="4081" y="41"/>
                  <a:pt x="4088" y="52"/>
                  <a:pt x="4094" y="65"/>
                </a:cubicBezTo>
                <a:cubicBezTo>
                  <a:pt x="4099" y="78"/>
                  <a:pt x="4102" y="92"/>
                  <a:pt x="4102" y="106"/>
                </a:cubicBezTo>
                <a:lnTo>
                  <a:pt x="4102" y="953"/>
                </a:lnTo>
                <a:cubicBezTo>
                  <a:pt x="4102" y="967"/>
                  <a:pt x="4099" y="981"/>
                  <a:pt x="4094" y="994"/>
                </a:cubicBezTo>
                <a:cubicBezTo>
                  <a:pt x="4088" y="1007"/>
                  <a:pt x="4081" y="1018"/>
                  <a:pt x="4071" y="1028"/>
                </a:cubicBezTo>
                <a:cubicBezTo>
                  <a:pt x="4061" y="1038"/>
                  <a:pt x="4049" y="1046"/>
                  <a:pt x="4036" y="1051"/>
                </a:cubicBezTo>
                <a:cubicBezTo>
                  <a:pt x="4023" y="1056"/>
                  <a:pt x="4010" y="1059"/>
                  <a:pt x="3996" y="1059"/>
                </a:cubicBezTo>
                <a:lnTo>
                  <a:pt x="105" y="1059"/>
                </a:lnTo>
                <a:cubicBezTo>
                  <a:pt x="91" y="1059"/>
                  <a:pt x="78" y="1056"/>
                  <a:pt x="65" y="1051"/>
                </a:cubicBezTo>
                <a:cubicBezTo>
                  <a:pt x="52" y="1046"/>
                  <a:pt x="41" y="1038"/>
                  <a:pt x="31" y="1028"/>
                </a:cubicBezTo>
                <a:cubicBezTo>
                  <a:pt x="21" y="1018"/>
                  <a:pt x="13" y="1007"/>
                  <a:pt x="8" y="994"/>
                </a:cubicBezTo>
                <a:cubicBezTo>
                  <a:pt x="2" y="981"/>
                  <a:pt x="0" y="967"/>
                  <a:pt x="0" y="953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CuadroTexto 507"/>
          <p:cNvSpPr txBox="1"/>
          <p:nvPr/>
        </p:nvSpPr>
        <p:spPr>
          <a:xfrm>
            <a:off x="731520" y="1090080"/>
            <a:ext cx="136872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EXPLAIN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CuadroTexto 508"/>
          <p:cNvSpPr txBox="1"/>
          <p:nvPr/>
        </p:nvSpPr>
        <p:spPr>
          <a:xfrm>
            <a:off x="2138400" y="1082520"/>
            <a:ext cx="179208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y los índices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CuadroTexto 509"/>
          <p:cNvSpPr txBox="1"/>
          <p:nvPr/>
        </p:nvSpPr>
        <p:spPr>
          <a:xfrm>
            <a:off x="866880" y="1918080"/>
            <a:ext cx="163836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EXPLAIN ANALYZE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Forma libre 510"/>
          <p:cNvSpPr/>
          <p:nvPr/>
        </p:nvSpPr>
        <p:spPr>
          <a:xfrm>
            <a:off x="914040" y="28954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CuadroTexto 511"/>
          <p:cNvSpPr txBox="1"/>
          <p:nvPr/>
        </p:nvSpPr>
        <p:spPr>
          <a:xfrm>
            <a:off x="866880" y="2184840"/>
            <a:ext cx="6332400" cy="210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SELECT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*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FROM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condition_occurrence </a:t>
            </a:r>
            <a:r>
              <a:rPr lang="es-ES" sz="1430" b="0" u="none" strike="noStrike">
                <a:solidFill>
                  <a:srgbClr val="FF8B82"/>
                </a:solidFill>
                <a:effectLst/>
                <a:uFillTx/>
                <a:latin typeface="Menlo"/>
                <a:ea typeface="Menlo"/>
              </a:rPr>
              <a:t>WHERE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person_id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=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lang="es-ES" sz="1430" b="0" u="none" strike="noStrike">
                <a:solidFill>
                  <a:srgbClr val="86CBFF"/>
                </a:solidFill>
                <a:effectLst/>
                <a:uFillTx/>
                <a:latin typeface="Menlo"/>
                <a:ea typeface="Menlo"/>
              </a:rPr>
              <a:t>4242</a:t>
            </a:r>
            <a:r>
              <a:rPr lang="es-ES" sz="1430" b="0" u="none" strike="noStrike">
                <a:solidFill>
                  <a:srgbClr val="E8EDF2"/>
                </a:solidFill>
                <a:effectLst/>
                <a:uFillTx/>
                <a:latin typeface="Menlo"/>
                <a:ea typeface="Menlo"/>
              </a:rPr>
              <a:t>;</a:t>
            </a:r>
            <a:endParaRPr lang="es-ES" sz="14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Forma libre 512"/>
          <p:cNvSpPr/>
          <p:nvPr/>
        </p:nvSpPr>
        <p:spPr>
          <a:xfrm>
            <a:off x="914040" y="3295440"/>
            <a:ext cx="76680" cy="76680"/>
          </a:xfrm>
          <a:custGeom>
            <a:avLst/>
            <a:gdLst/>
            <a:ahLst/>
            <a:cxn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1" y="213"/>
                  <a:pt x="107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9" y="66"/>
                </a:cubicBezTo>
                <a:cubicBezTo>
                  <a:pt x="14" y="53"/>
                  <a:pt x="22" y="42"/>
                  <a:pt x="31" y="32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4"/>
                  <a:pt x="172" y="21"/>
                  <a:pt x="182" y="32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CuadroTexto 513"/>
          <p:cNvSpPr txBox="1"/>
          <p:nvPr/>
        </p:nvSpPr>
        <p:spPr>
          <a:xfrm>
            <a:off x="1123920" y="2782800"/>
            <a:ext cx="55598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Seq scan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= leer la tabla entera ·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Index scan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= ir directo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CuadroTexto 514"/>
          <p:cNvSpPr txBox="1"/>
          <p:nvPr/>
        </p:nvSpPr>
        <p:spPr>
          <a:xfrm>
            <a:off x="1123920" y="3182760"/>
            <a:ext cx="1012032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Un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índice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es una estructura auxiliar que acelera búsquedas y ﬁltros, a costa de espacio y de escrituras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Forma libre 515"/>
          <p:cNvSpPr/>
          <p:nvPr/>
        </p:nvSpPr>
        <p:spPr>
          <a:xfrm>
            <a:off x="914040" y="4038480"/>
            <a:ext cx="76680" cy="76320"/>
          </a:xfrm>
          <a:custGeom>
            <a:avLst/>
            <a:gdLst/>
            <a:ahLst/>
            <a:cxn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1" y="212"/>
                  <a:pt x="107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2" y="172"/>
                  <a:pt x="14" y="160"/>
                  <a:pt x="9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7" y="0"/>
                </a:cubicBezTo>
                <a:cubicBezTo>
                  <a:pt x="121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CuadroTexto 516"/>
          <p:cNvSpPr txBox="1"/>
          <p:nvPr/>
        </p:nvSpPr>
        <p:spPr>
          <a:xfrm>
            <a:off x="1123920" y="3525840"/>
            <a:ext cx="1063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más lentas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Forma libre 517"/>
          <p:cNvSpPr/>
          <p:nvPr/>
        </p:nvSpPr>
        <p:spPr>
          <a:xfrm>
            <a:off x="5343480" y="3943080"/>
            <a:ext cx="581400" cy="267120"/>
          </a:xfrm>
          <a:custGeom>
            <a:avLst/>
            <a:gdLst/>
            <a:ahLst/>
            <a:cxnLst/>
            <a:rect l="0" t="0" r="r" b="b"/>
            <a:pathLst>
              <a:path w="1615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509" y="0"/>
                </a:lnTo>
                <a:cubicBezTo>
                  <a:pt x="1523" y="0"/>
                  <a:pt x="1536" y="3"/>
                  <a:pt x="1549" y="8"/>
                </a:cubicBezTo>
                <a:cubicBezTo>
                  <a:pt x="1562" y="14"/>
                  <a:pt x="1574" y="21"/>
                  <a:pt x="1584" y="31"/>
                </a:cubicBezTo>
                <a:cubicBezTo>
                  <a:pt x="1594" y="41"/>
                  <a:pt x="1601" y="53"/>
                  <a:pt x="1607" y="66"/>
                </a:cubicBezTo>
                <a:cubicBezTo>
                  <a:pt x="1612" y="79"/>
                  <a:pt x="1615" y="92"/>
                  <a:pt x="1615" y="106"/>
                </a:cubicBezTo>
                <a:lnTo>
                  <a:pt x="1615" y="636"/>
                </a:lnTo>
                <a:cubicBezTo>
                  <a:pt x="1615" y="650"/>
                  <a:pt x="1612" y="664"/>
                  <a:pt x="1607" y="677"/>
                </a:cubicBezTo>
                <a:cubicBezTo>
                  <a:pt x="1601" y="690"/>
                  <a:pt x="1594" y="701"/>
                  <a:pt x="1584" y="711"/>
                </a:cubicBezTo>
                <a:cubicBezTo>
                  <a:pt x="1574" y="721"/>
                  <a:pt x="1562" y="729"/>
                  <a:pt x="1549" y="734"/>
                </a:cubicBezTo>
                <a:cubicBezTo>
                  <a:pt x="1536" y="739"/>
                  <a:pt x="1523" y="742"/>
                  <a:pt x="1509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CuadroTexto 518"/>
          <p:cNvSpPr txBox="1"/>
          <p:nvPr/>
        </p:nvSpPr>
        <p:spPr>
          <a:xfrm>
            <a:off x="1123920" y="3925800"/>
            <a:ext cx="4222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Candidatos naturales: las columnas de los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CuadroTexto 519"/>
          <p:cNvSpPr txBox="1"/>
          <p:nvPr/>
        </p:nvSpPr>
        <p:spPr>
          <a:xfrm>
            <a:off x="5460120" y="3962880"/>
            <a:ext cx="4705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 dirty="0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JOIN</a:t>
            </a:r>
            <a:endParaRPr lang="es-ES" sz="153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Forma libre 520"/>
          <p:cNvSpPr/>
          <p:nvPr/>
        </p:nvSpPr>
        <p:spPr>
          <a:xfrm>
            <a:off x="6819840" y="3943080"/>
            <a:ext cx="695520" cy="267120"/>
          </a:xfrm>
          <a:custGeom>
            <a:avLst/>
            <a:gdLst/>
            <a:ahLst/>
            <a:cxnLst/>
            <a:rect l="0" t="0" r="r" b="b"/>
            <a:pathLst>
              <a:path w="1932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826" y="0"/>
                </a:lnTo>
                <a:cubicBezTo>
                  <a:pt x="1840" y="0"/>
                  <a:pt x="1854" y="3"/>
                  <a:pt x="1867" y="8"/>
                </a:cubicBezTo>
                <a:cubicBezTo>
                  <a:pt x="1880" y="14"/>
                  <a:pt x="1891" y="21"/>
                  <a:pt x="1901" y="31"/>
                </a:cubicBezTo>
                <a:cubicBezTo>
                  <a:pt x="1911" y="41"/>
                  <a:pt x="1919" y="53"/>
                  <a:pt x="1924" y="66"/>
                </a:cubicBezTo>
                <a:cubicBezTo>
                  <a:pt x="1929" y="79"/>
                  <a:pt x="1932" y="92"/>
                  <a:pt x="1932" y="106"/>
                </a:cubicBezTo>
                <a:lnTo>
                  <a:pt x="1932" y="636"/>
                </a:lnTo>
                <a:cubicBezTo>
                  <a:pt x="1932" y="650"/>
                  <a:pt x="1929" y="664"/>
                  <a:pt x="1924" y="677"/>
                </a:cubicBezTo>
                <a:cubicBezTo>
                  <a:pt x="1919" y="690"/>
                  <a:pt x="1911" y="701"/>
                  <a:pt x="1901" y="711"/>
                </a:cubicBezTo>
                <a:cubicBezTo>
                  <a:pt x="1891" y="721"/>
                  <a:pt x="1880" y="729"/>
                  <a:pt x="1867" y="734"/>
                </a:cubicBezTo>
                <a:cubicBezTo>
                  <a:pt x="1854" y="739"/>
                  <a:pt x="1840" y="742"/>
                  <a:pt x="1826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3" y="690"/>
                  <a:pt x="8" y="677"/>
                </a:cubicBezTo>
                <a:cubicBezTo>
                  <a:pt x="2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CuadroTexto 521"/>
          <p:cNvSpPr txBox="1"/>
          <p:nvPr/>
        </p:nvSpPr>
        <p:spPr>
          <a:xfrm>
            <a:off x="5927760" y="3925800"/>
            <a:ext cx="889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y de los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CuadroTexto 522"/>
          <p:cNvSpPr txBox="1"/>
          <p:nvPr/>
        </p:nvSpPr>
        <p:spPr>
          <a:xfrm>
            <a:off x="6874200" y="3962880"/>
            <a:ext cx="587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WHERE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CuadroTexto 523"/>
          <p:cNvSpPr txBox="1"/>
          <p:nvPr/>
        </p:nvSpPr>
        <p:spPr>
          <a:xfrm>
            <a:off x="7516440" y="3925800"/>
            <a:ext cx="109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frecuentes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CuadroTexto 524"/>
          <p:cNvSpPr txBox="1"/>
          <p:nvPr/>
        </p:nvSpPr>
        <p:spPr>
          <a:xfrm>
            <a:off x="885960" y="4535280"/>
            <a:ext cx="998820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En un motor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columnar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como DuckDB los índices importan mucho menos: lee sólo las columnas que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CuadroTexto 525"/>
          <p:cNvSpPr txBox="1"/>
          <p:nvPr/>
        </p:nvSpPr>
        <p:spPr>
          <a:xfrm>
            <a:off x="885960" y="4878360"/>
            <a:ext cx="10196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pides y comprime. Por eso el mismo experimento da resultados distintos según el motor — y por eso 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CuadroTexto 526"/>
          <p:cNvSpPr txBox="1"/>
          <p:nvPr/>
        </p:nvSpPr>
        <p:spPr>
          <a:xfrm>
            <a:off x="885960" y="5221080"/>
            <a:ext cx="35319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laboratorio pide </a:t>
            </a:r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medir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, no suponer.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CuadroTexto 527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CuadroTexto 528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CuadroTexto 529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Forma libre 53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Forma libre 531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Forma libre 532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CuadroTexto 533"/>
          <p:cNvSpPr txBox="1"/>
          <p:nvPr/>
        </p:nvSpPr>
        <p:spPr>
          <a:xfrm>
            <a:off x="666720" y="1863360"/>
            <a:ext cx="144432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Para llevar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Forma libre 545"/>
          <p:cNvSpPr/>
          <p:nvPr/>
        </p:nvSpPr>
        <p:spPr>
          <a:xfrm>
            <a:off x="1123920" y="3390840"/>
            <a:ext cx="1047960" cy="266760"/>
          </a:xfrm>
          <a:custGeom>
            <a:avLst/>
            <a:gdLst/>
            <a:ahLst/>
            <a:cxnLst/>
            <a:rect l="0" t="0" r="r" b="b"/>
            <a:pathLst>
              <a:path w="2911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805" y="0"/>
                </a:lnTo>
                <a:cubicBezTo>
                  <a:pt x="2819" y="0"/>
                  <a:pt x="2833" y="2"/>
                  <a:pt x="2846" y="8"/>
                </a:cubicBezTo>
                <a:cubicBezTo>
                  <a:pt x="2859" y="13"/>
                  <a:pt x="2870" y="21"/>
                  <a:pt x="2880" y="31"/>
                </a:cubicBezTo>
                <a:cubicBezTo>
                  <a:pt x="2890" y="41"/>
                  <a:pt x="2898" y="52"/>
                  <a:pt x="2903" y="65"/>
                </a:cubicBezTo>
                <a:cubicBezTo>
                  <a:pt x="2908" y="78"/>
                  <a:pt x="2911" y="91"/>
                  <a:pt x="2911" y="105"/>
                </a:cubicBezTo>
                <a:lnTo>
                  <a:pt x="2911" y="636"/>
                </a:lnTo>
                <a:cubicBezTo>
                  <a:pt x="2911" y="650"/>
                  <a:pt x="2908" y="663"/>
                  <a:pt x="2903" y="676"/>
                </a:cubicBezTo>
                <a:cubicBezTo>
                  <a:pt x="2898" y="689"/>
                  <a:pt x="2890" y="701"/>
                  <a:pt x="2880" y="711"/>
                </a:cubicBezTo>
                <a:cubicBezTo>
                  <a:pt x="2870" y="720"/>
                  <a:pt x="2859" y="728"/>
                  <a:pt x="2846" y="733"/>
                </a:cubicBezTo>
                <a:cubicBezTo>
                  <a:pt x="2833" y="739"/>
                  <a:pt x="2819" y="741"/>
                  <a:pt x="2805" y="741"/>
                </a:cubicBezTo>
                <a:lnTo>
                  <a:pt x="105" y="741"/>
                </a:lnTo>
                <a:cubicBezTo>
                  <a:pt x="91" y="741"/>
                  <a:pt x="78" y="739"/>
                  <a:pt x="65" y="733"/>
                </a:cubicBezTo>
                <a:cubicBezTo>
                  <a:pt x="52" y="728"/>
                  <a:pt x="41" y="720"/>
                  <a:pt x="31" y="711"/>
                </a:cubicBezTo>
                <a:cubicBezTo>
                  <a:pt x="21" y="701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CuadroTexto 546"/>
          <p:cNvSpPr txBox="1"/>
          <p:nvPr/>
        </p:nvSpPr>
        <p:spPr>
          <a:xfrm>
            <a:off x="869760" y="3373200"/>
            <a:ext cx="256480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dirty="0">
                <a:solidFill>
                  <a:srgbClr val="4A4A4A"/>
                </a:solidFill>
                <a:latin typeface="HelveticaNeue"/>
                <a:ea typeface="HelveticaNeue"/>
              </a:rPr>
              <a:t>1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. 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CuadroTexto 547"/>
          <p:cNvSpPr txBox="1"/>
          <p:nvPr/>
        </p:nvSpPr>
        <p:spPr>
          <a:xfrm>
            <a:off x="1181160" y="3410640"/>
            <a:ext cx="940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count(*)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Forma libre 548"/>
          <p:cNvSpPr/>
          <p:nvPr/>
        </p:nvSpPr>
        <p:spPr>
          <a:xfrm>
            <a:off x="3628800" y="3390840"/>
            <a:ext cx="3038760" cy="266760"/>
          </a:xfrm>
          <a:custGeom>
            <a:avLst/>
            <a:gdLst/>
            <a:ahLst/>
            <a:cxnLst/>
            <a:rect l="0" t="0" r="r" b="b"/>
            <a:pathLst>
              <a:path w="8441" h="741">
                <a:moveTo>
                  <a:pt x="0" y="636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8335" y="0"/>
                </a:lnTo>
                <a:cubicBezTo>
                  <a:pt x="8350" y="0"/>
                  <a:pt x="8363" y="2"/>
                  <a:pt x="8376" y="8"/>
                </a:cubicBezTo>
                <a:cubicBezTo>
                  <a:pt x="8389" y="13"/>
                  <a:pt x="8400" y="21"/>
                  <a:pt x="8410" y="31"/>
                </a:cubicBezTo>
                <a:cubicBezTo>
                  <a:pt x="8420" y="41"/>
                  <a:pt x="8428" y="52"/>
                  <a:pt x="8433" y="65"/>
                </a:cubicBezTo>
                <a:cubicBezTo>
                  <a:pt x="8439" y="78"/>
                  <a:pt x="8441" y="91"/>
                  <a:pt x="8441" y="105"/>
                </a:cubicBezTo>
                <a:lnTo>
                  <a:pt x="8441" y="636"/>
                </a:lnTo>
                <a:cubicBezTo>
                  <a:pt x="8441" y="650"/>
                  <a:pt x="8439" y="663"/>
                  <a:pt x="8433" y="676"/>
                </a:cubicBezTo>
                <a:cubicBezTo>
                  <a:pt x="8428" y="689"/>
                  <a:pt x="8420" y="701"/>
                  <a:pt x="8410" y="711"/>
                </a:cubicBezTo>
                <a:cubicBezTo>
                  <a:pt x="8400" y="720"/>
                  <a:pt x="8389" y="728"/>
                  <a:pt x="8376" y="733"/>
                </a:cubicBezTo>
                <a:cubicBezTo>
                  <a:pt x="8363" y="739"/>
                  <a:pt x="8350" y="741"/>
                  <a:pt x="8335" y="741"/>
                </a:cubicBezTo>
                <a:lnTo>
                  <a:pt x="106" y="741"/>
                </a:lnTo>
                <a:cubicBezTo>
                  <a:pt x="92" y="741"/>
                  <a:pt x="78" y="739"/>
                  <a:pt x="65" y="733"/>
                </a:cubicBezTo>
                <a:cubicBezTo>
                  <a:pt x="52" y="728"/>
                  <a:pt x="41" y="720"/>
                  <a:pt x="31" y="711"/>
                </a:cubicBezTo>
                <a:cubicBezTo>
                  <a:pt x="21" y="701"/>
                  <a:pt x="14" y="689"/>
                  <a:pt x="8" y="676"/>
                </a:cubicBezTo>
                <a:cubicBezTo>
                  <a:pt x="3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CuadroTexto 549"/>
          <p:cNvSpPr txBox="1"/>
          <p:nvPr/>
        </p:nvSpPr>
        <p:spPr>
          <a:xfrm>
            <a:off x="2174400" y="3373200"/>
            <a:ext cx="145296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cuenta ﬁlas;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CuadroTexto 550"/>
          <p:cNvSpPr txBox="1"/>
          <p:nvPr/>
        </p:nvSpPr>
        <p:spPr>
          <a:xfrm>
            <a:off x="3683520" y="3410640"/>
            <a:ext cx="29368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1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count(DISTINCT person_id)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CuadroTexto 551"/>
          <p:cNvSpPr txBox="1"/>
          <p:nvPr/>
        </p:nvSpPr>
        <p:spPr>
          <a:xfrm>
            <a:off x="6665400" y="3373200"/>
            <a:ext cx="484884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cuenta pacientes.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En datos clínicos casi nunca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CuadroTexto 552"/>
          <p:cNvSpPr txBox="1"/>
          <p:nvPr/>
        </p:nvSpPr>
        <p:spPr>
          <a:xfrm>
            <a:off x="1123920" y="3716280"/>
            <a:ext cx="1008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coinciden.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CuadroTexto 553"/>
          <p:cNvSpPr txBox="1"/>
          <p:nvPr/>
        </p:nvSpPr>
        <p:spPr>
          <a:xfrm>
            <a:off x="869760" y="4211640"/>
            <a:ext cx="10621177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dirty="0">
                <a:solidFill>
                  <a:srgbClr val="4A4A4A"/>
                </a:solidFill>
                <a:latin typeface="HelveticaNeue"/>
                <a:ea typeface="HelveticaNeue"/>
              </a:rPr>
              <a:t>2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. </a:t>
            </a:r>
            <a:r>
              <a:rPr lang="es-ES" sz="1800" b="1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Cuenta </a:t>
            </a:r>
            <a:r>
              <a:rPr lang="es-ES" sz="1800" b="1" u="none" strike="noStrike" dirty="0" err="1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ﬁlas</a:t>
            </a:r>
            <a:r>
              <a:rPr lang="es-ES" sz="1800" b="1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 antes y después de cada </a:t>
            </a:r>
            <a:r>
              <a:rPr lang="es-ES" sz="1800" b="1" u="none" strike="noStrike" dirty="0" err="1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join</a:t>
            </a:r>
            <a:r>
              <a:rPr lang="es-ES" sz="1800" b="1" u="none" strike="noStrike" dirty="0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.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Un </a:t>
            </a:r>
            <a:r>
              <a:rPr lang="es-ES" sz="1800" b="0" u="none" strike="noStrike" dirty="0" err="1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join</a:t>
            </a:r>
            <a:r>
              <a:rPr lang="es-ES" sz="1800" b="0" u="none" strike="noStrike" dirty="0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que multiplica no lanza ningún error: sólo produce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CuadroTexto 554"/>
          <p:cNvSpPr txBox="1"/>
          <p:nvPr/>
        </p:nvSpPr>
        <p:spPr>
          <a:xfrm>
            <a:off x="1123920" y="4554360"/>
            <a:ext cx="3231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números equivocados y creíbles.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CuadroTexto 555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CuadroTexto 556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CuadroTexto 557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24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Forma libre 558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Forma libre 559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Forma libre 560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CuadroTexto 561"/>
          <p:cNvSpPr txBox="1"/>
          <p:nvPr/>
        </p:nvSpPr>
        <p:spPr>
          <a:xfrm>
            <a:off x="666720" y="2006280"/>
            <a:ext cx="1600560" cy="38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550" b="0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Laboratorio</a:t>
            </a:r>
            <a:endParaRPr lang="es-E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CuadroTexto 562"/>
          <p:cNvSpPr txBox="1"/>
          <p:nvPr/>
        </p:nvSpPr>
        <p:spPr>
          <a:xfrm>
            <a:off x="666720" y="2717280"/>
            <a:ext cx="4227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2020" b="0" u="none" strike="noStrike">
                <a:solidFill>
                  <a:srgbClr val="1B7CA8"/>
                </a:solidFill>
                <a:effectLst/>
                <a:uFillTx/>
                <a:latin typeface="HelveticaNeue"/>
                <a:ea typeface="HelveticaNeue"/>
              </a:rPr>
              <a:t>Tu propia base clínica, y 15 preguntas</a:t>
            </a:r>
            <a:endParaRPr lang="es-ES" sz="20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CuadroTexto 563"/>
          <p:cNvSpPr txBox="1"/>
          <p:nvPr/>
        </p:nvSpPr>
        <p:spPr>
          <a:xfrm>
            <a:off x="666720" y="3230280"/>
            <a:ext cx="10558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Generar pacientes con Synthea, elegir motor y montar la base, responder preguntas de diﬁcultad creciente,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CuadroTexto 564"/>
          <p:cNvSpPr txBox="1"/>
          <p:nvPr/>
        </p:nvSpPr>
        <p:spPr>
          <a:xfrm>
            <a:off x="666720" y="3573360"/>
            <a:ext cx="7055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provocar y corregir un join que multiplica, y medir el efecto de un índice.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Forma libre 565"/>
          <p:cNvSpPr/>
          <p:nvPr/>
        </p:nvSpPr>
        <p:spPr>
          <a:xfrm>
            <a:off x="5000400" y="4086000"/>
            <a:ext cx="1629000" cy="267120"/>
          </a:xfrm>
          <a:custGeom>
            <a:avLst/>
            <a:gdLst/>
            <a:ahLst/>
            <a:cxnLst/>
            <a:rect l="0" t="0" r="r" b="b"/>
            <a:pathLst>
              <a:path w="4525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4420" y="0"/>
                </a:lnTo>
                <a:cubicBezTo>
                  <a:pt x="4434" y="0"/>
                  <a:pt x="4447" y="3"/>
                  <a:pt x="4460" y="8"/>
                </a:cubicBezTo>
                <a:cubicBezTo>
                  <a:pt x="4473" y="14"/>
                  <a:pt x="4485" y="21"/>
                  <a:pt x="4494" y="31"/>
                </a:cubicBezTo>
                <a:cubicBezTo>
                  <a:pt x="4504" y="41"/>
                  <a:pt x="4512" y="52"/>
                  <a:pt x="4517" y="65"/>
                </a:cubicBezTo>
                <a:cubicBezTo>
                  <a:pt x="4523" y="78"/>
                  <a:pt x="4525" y="92"/>
                  <a:pt x="4525" y="106"/>
                </a:cubicBezTo>
                <a:lnTo>
                  <a:pt x="4525" y="636"/>
                </a:lnTo>
                <a:cubicBezTo>
                  <a:pt x="4525" y="650"/>
                  <a:pt x="4523" y="664"/>
                  <a:pt x="4517" y="677"/>
                </a:cubicBezTo>
                <a:cubicBezTo>
                  <a:pt x="4512" y="690"/>
                  <a:pt x="4504" y="701"/>
                  <a:pt x="4494" y="711"/>
                </a:cubicBezTo>
                <a:cubicBezTo>
                  <a:pt x="4485" y="721"/>
                  <a:pt x="4473" y="729"/>
                  <a:pt x="4460" y="734"/>
                </a:cubicBezTo>
                <a:cubicBezTo>
                  <a:pt x="4447" y="739"/>
                  <a:pt x="4434" y="742"/>
                  <a:pt x="4420" y="742"/>
                </a:cubicBezTo>
                <a:lnTo>
                  <a:pt x="106" y="742"/>
                </a:lnTo>
                <a:cubicBezTo>
                  <a:pt x="92" y="742"/>
                  <a:pt x="78" y="739"/>
                  <a:pt x="65" y="734"/>
                </a:cubicBezTo>
                <a:cubicBezTo>
                  <a:pt x="52" y="729"/>
                  <a:pt x="41" y="721"/>
                  <a:pt x="31" y="711"/>
                </a:cubicBezTo>
                <a:cubicBezTo>
                  <a:pt x="21" y="701"/>
                  <a:pt x="14" y="690"/>
                  <a:pt x="8" y="677"/>
                </a:cubicBezTo>
                <a:cubicBezTo>
                  <a:pt x="3" y="664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CuadroTexto 566"/>
          <p:cNvSpPr txBox="1"/>
          <p:nvPr/>
        </p:nvSpPr>
        <p:spPr>
          <a:xfrm>
            <a:off x="666720" y="4068720"/>
            <a:ext cx="4342320" cy="27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1" u="none" strike="noStrike">
                <a:solidFill>
                  <a:srgbClr val="0B3C5D"/>
                </a:solidFill>
                <a:effectLst/>
                <a:uFillTx/>
                <a:latin typeface="HelveticaNeue"/>
                <a:ea typeface="HelveticaNeue"/>
              </a:rPr>
              <a:t>Entregable:</a:t>
            </a:r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script de carga reproducible +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CuadroTexto 567"/>
          <p:cNvSpPr txBox="1"/>
          <p:nvPr/>
        </p:nvSpPr>
        <p:spPr>
          <a:xfrm>
            <a:off x="5053320" y="4105800"/>
            <a:ext cx="15274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530" b="0" u="none" strike="noStrike">
                <a:solidFill>
                  <a:srgbClr val="B03A2E"/>
                </a:solidFill>
                <a:effectLst/>
                <a:uFillTx/>
                <a:latin typeface="Menlo"/>
                <a:ea typeface="Menlo"/>
              </a:rPr>
              <a:t>consultas.sql</a:t>
            </a:r>
            <a:endParaRPr lang="es-ES" sz="15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Forma libre 568"/>
          <p:cNvSpPr/>
          <p:nvPr/>
        </p:nvSpPr>
        <p:spPr>
          <a:xfrm>
            <a:off x="666720" y="4581360"/>
            <a:ext cx="4210200" cy="267120"/>
          </a:xfrm>
          <a:custGeom>
            <a:avLst/>
            <a:gdLst/>
            <a:ahLst/>
            <a:cxnLst/>
            <a:rect l="0" t="0" r="r" b="b"/>
            <a:pathLst>
              <a:path w="11695" h="742">
                <a:moveTo>
                  <a:pt x="0" y="636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1589" y="0"/>
                </a:lnTo>
                <a:cubicBezTo>
                  <a:pt x="11603" y="0"/>
                  <a:pt x="11617" y="3"/>
                  <a:pt x="11630" y="8"/>
                </a:cubicBezTo>
                <a:cubicBezTo>
                  <a:pt x="11643" y="13"/>
                  <a:pt x="11654" y="21"/>
                  <a:pt x="11664" y="31"/>
                </a:cubicBezTo>
                <a:cubicBezTo>
                  <a:pt x="11674" y="41"/>
                  <a:pt x="11682" y="52"/>
                  <a:pt x="11687" y="65"/>
                </a:cubicBezTo>
                <a:cubicBezTo>
                  <a:pt x="11692" y="78"/>
                  <a:pt x="11695" y="92"/>
                  <a:pt x="11695" y="106"/>
                </a:cubicBezTo>
                <a:lnTo>
                  <a:pt x="11695" y="636"/>
                </a:lnTo>
                <a:cubicBezTo>
                  <a:pt x="11695" y="650"/>
                  <a:pt x="11692" y="663"/>
                  <a:pt x="11687" y="676"/>
                </a:cubicBezTo>
                <a:cubicBezTo>
                  <a:pt x="11682" y="689"/>
                  <a:pt x="11674" y="701"/>
                  <a:pt x="11664" y="711"/>
                </a:cubicBezTo>
                <a:cubicBezTo>
                  <a:pt x="11654" y="721"/>
                  <a:pt x="11643" y="728"/>
                  <a:pt x="11630" y="734"/>
                </a:cubicBezTo>
                <a:cubicBezTo>
                  <a:pt x="11617" y="739"/>
                  <a:pt x="11603" y="742"/>
                  <a:pt x="11589" y="742"/>
                </a:cubicBezTo>
                <a:lnTo>
                  <a:pt x="105" y="742"/>
                </a:lnTo>
                <a:cubicBezTo>
                  <a:pt x="91" y="742"/>
                  <a:pt x="78" y="739"/>
                  <a:pt x="65" y="734"/>
                </a:cubicBezTo>
                <a:cubicBezTo>
                  <a:pt x="52" y="728"/>
                  <a:pt x="41" y="721"/>
                  <a:pt x="31" y="711"/>
                </a:cubicBezTo>
                <a:cubicBezTo>
                  <a:pt x="21" y="701"/>
                  <a:pt x="13" y="689"/>
                  <a:pt x="8" y="676"/>
                </a:cubicBezTo>
                <a:cubicBezTo>
                  <a:pt x="2" y="663"/>
                  <a:pt x="0" y="650"/>
                  <a:pt x="0" y="636"/>
                </a:cubicBezTo>
                <a:close/>
              </a:path>
            </a:pathLst>
          </a:custGeom>
          <a:solidFill>
            <a:srgbClr val="F4F6F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CuadroTexto 569"/>
          <p:cNvSpPr txBox="1"/>
          <p:nvPr/>
        </p:nvSpPr>
        <p:spPr>
          <a:xfrm>
            <a:off x="6631560" y="4068720"/>
            <a:ext cx="1249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80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 comentado.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CuadroTexto 571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CuadroTexto 572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CuadroTexto 573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25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Forma libre 574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Forma libre 575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Forma libre 576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cxn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B3C5D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E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CuadroTexto 577"/>
          <p:cNvSpPr txBox="1"/>
          <p:nvPr/>
        </p:nvSpPr>
        <p:spPr>
          <a:xfrm>
            <a:off x="4672800" y="2692440"/>
            <a:ext cx="2915280" cy="63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42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¿Preguntas?</a:t>
            </a:r>
            <a:endParaRPr lang="es-ES" sz="4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CuadroTexto 581"/>
          <p:cNvSpPr txBox="1"/>
          <p:nvPr/>
        </p:nvSpPr>
        <p:spPr>
          <a:xfrm>
            <a:off x="285840" y="227160"/>
            <a:ext cx="3988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Sesión 10 · Ciencia de Datos Aplicada en Biomedicina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CuadroTexto 582"/>
          <p:cNvSpPr txBox="1"/>
          <p:nvPr/>
        </p:nvSpPr>
        <p:spPr>
          <a:xfrm>
            <a:off x="285840" y="6428160"/>
            <a:ext cx="3388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350" b="0" u="none" strike="noStrike">
                <a:solidFill>
                  <a:srgbClr val="666666"/>
                </a:solidFill>
                <a:effectLst/>
                <a:uFillTx/>
                <a:latin typeface="HelveticaNeue"/>
                <a:ea typeface="HelveticaNeue"/>
              </a:rPr>
              <a:t>Dr. Antonio Daniel Martínez Gutiérrez · 2027-1</a:t>
            </a:r>
            <a:endParaRPr lang="es-E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CuadroTexto 583"/>
          <p:cNvSpPr txBox="1"/>
          <p:nvPr/>
        </p:nvSpPr>
        <p:spPr>
          <a:xfrm>
            <a:off x="11747160" y="6474240"/>
            <a:ext cx="16020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s-ES" sz="1130" b="0" u="none" strike="noStrike">
                <a:solidFill>
                  <a:srgbClr val="4A4A4A"/>
                </a:solidFill>
                <a:effectLst/>
                <a:uFillTx/>
                <a:latin typeface="HelveticaNeue"/>
                <a:ea typeface="HelveticaNeue"/>
              </a:rPr>
              <a:t>26</a:t>
            </a:r>
            <a:endParaRPr lang="es-E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1663</Words>
  <Application>Microsoft Macintosh PowerPoint</Application>
  <PresentationFormat>Panorámica</PresentationFormat>
  <Paragraphs>244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1" baseType="lpstr">
      <vt:lpstr>Arial</vt:lpstr>
      <vt:lpstr>HelveticaNeue</vt:lpstr>
      <vt:lpstr>Menlo</vt:lpstr>
      <vt:lpstr>Symbol</vt:lpstr>
      <vt:lpstr>Times New Roman</vt:lpstr>
      <vt:lpstr>Wingdings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dc:description/>
  <cp:lastModifiedBy>Antonio Daniel Martinez Gutierrez</cp:lastModifiedBy>
  <cp:revision>6</cp:revision>
  <dcterms:modified xsi:type="dcterms:W3CDTF">2026-09-08T14:53:15Z</dcterms:modified>
  <dc:language>es-ES</dc:language>
</cp:coreProperties>
</file>