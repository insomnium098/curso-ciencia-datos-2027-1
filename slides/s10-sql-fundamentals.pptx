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80" r:id="rId23"/>
    <p:sldId id="281" r:id="rId24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10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7089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SQL Fundamentals: Queries, Joins y Agregaciones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3268440"/>
            <a:ext cx="5950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Escribir consultas con ﬁltrado, agregación y ordenamiento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3668400"/>
            <a:ext cx="674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Combinar tablas con los cuatro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JOIN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predecir la cardinalidad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4071600"/>
            <a:ext cx="717343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3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Leer un plan de ejecución y entender por qué una consulta es lenta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rma libre 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orma libre 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Forma libre 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Forma libre 44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orma libre 45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869760" y="1858680"/>
            <a:ext cx="4239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SQL sigue siendo indispensable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869760" y="2259000"/>
            <a:ext cx="306654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Llaves primarias y </a:t>
            </a:r>
            <a:r>
              <a:rPr lang="es-ES" dirty="0" err="1">
                <a:solidFill>
                  <a:srgbClr val="4A4A4A"/>
                </a:solidFill>
                <a:latin typeface="HelveticaNeue"/>
                <a:ea typeface="HelveticaNeue"/>
              </a:rPr>
              <a:t>fóraneas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Forma libre 49"/>
          <p:cNvSpPr/>
          <p:nvPr/>
        </p:nvSpPr>
        <p:spPr>
          <a:xfrm>
            <a:off x="1123920" y="267624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70" y="0"/>
                </a:lnTo>
                <a:cubicBezTo>
                  <a:pt x="2184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3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3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4" y="742"/>
                  <a:pt x="217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869760" y="265896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1160" y="26964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SELECT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CuadroTexto 52"/>
          <p:cNvSpPr txBox="1"/>
          <p:nvPr/>
        </p:nvSpPr>
        <p:spPr>
          <a:xfrm>
            <a:off x="1940400" y="2658960"/>
            <a:ext cx="2172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el orden que importa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869760" y="3058920"/>
            <a:ext cx="978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Filtrado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869760" y="3458880"/>
            <a:ext cx="137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Agregación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869760" y="3859200"/>
            <a:ext cx="2283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JOINs y cardinalidad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CuadroTexto 57"/>
          <p:cNvSpPr txBox="1"/>
          <p:nvPr/>
        </p:nvSpPr>
        <p:spPr>
          <a:xfrm>
            <a:off x="869760" y="4286520"/>
            <a:ext cx="230672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7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Rendimiento básico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CuadroTexto 58"/>
          <p:cNvSpPr txBox="1"/>
          <p:nvPr/>
        </p:nvSpPr>
        <p:spPr>
          <a:xfrm>
            <a:off x="905040" y="5268600"/>
            <a:ext cx="9438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generar tus datos con Synthea, montar tu base y responder 15 preguntas clínicas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bre 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4344480" y="3063960"/>
            <a:ext cx="3578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SQL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orma libre 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666720" y="41432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666720" y="41432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914040" y="2600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66720" y="1815840"/>
            <a:ext cx="3746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Cincuenta años y sigue ahí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914040" y="3000240"/>
            <a:ext cx="76680" cy="77040"/>
          </a:xfrm>
          <a:custGeom>
            <a:avLst/>
            <a:gdLst/>
            <a:ahLst/>
            <a:cxn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2" y="214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23920" y="2487600"/>
            <a:ext cx="9939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dato clínico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vive en la base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en tu laptop. Bajarlo entero muchas veces ni es posible ni es legal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914040" y="3400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CuadroTexto 79"/>
          <p:cNvSpPr txBox="1"/>
          <p:nvPr/>
        </p:nvSpPr>
        <p:spPr>
          <a:xfrm>
            <a:off x="1123920" y="2887560"/>
            <a:ext cx="6153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SQL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declarativo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dices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qué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quieres, el motor decide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cómo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914040" y="3800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CuadroTexto 81"/>
          <p:cNvSpPr txBox="1"/>
          <p:nvPr/>
        </p:nvSpPr>
        <p:spPr>
          <a:xfrm>
            <a:off x="1123920" y="3287520"/>
            <a:ext cx="7009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 el lenguaje común entre tú, el DBA, el analista y la herramienta de BI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CuadroTexto 82"/>
          <p:cNvSpPr txBox="1"/>
          <p:nvPr/>
        </p:nvSpPr>
        <p:spPr>
          <a:xfrm>
            <a:off x="1123920" y="3687480"/>
            <a:ext cx="6685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 entrevistas de datos, es lo que más se pregunta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(sesión 32)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905040" y="4297320"/>
            <a:ext cx="10350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pandas traes los datos al código. En SQL llevas el código a los datos. Con 300 millones de pacientes,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905040" y="4640040"/>
            <a:ext cx="2524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sólo lo segundo funciona.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CuadroTexto 8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CuadroTexto 8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orma libre 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676080" y="250488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2019240" y="2504880"/>
            <a:ext cx="9420480" cy="410040"/>
          </a:xfrm>
          <a:custGeom>
            <a:avLst/>
            <a:gdLst/>
            <a:ahLst/>
            <a:cxnLst/>
            <a:rect l="0" t="0" r="r" b="b"/>
            <a:pathLst>
              <a:path w="26168" h="1139">
                <a:moveTo>
                  <a:pt x="0" y="0"/>
                </a:moveTo>
                <a:lnTo>
                  <a:pt x="26168" y="0"/>
                </a:lnTo>
                <a:lnTo>
                  <a:pt x="2616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676080" y="250488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2019240" y="2504880"/>
            <a:ext cx="9420480" cy="410040"/>
          </a:xfrm>
          <a:custGeom>
            <a:avLst/>
            <a:gdLst/>
            <a:ahLst/>
            <a:cxnLst/>
            <a:rect l="0" t="0" r="r" b="b"/>
            <a:pathLst>
              <a:path w="26168" h="1139">
                <a:moveTo>
                  <a:pt x="0" y="0"/>
                </a:moveTo>
                <a:lnTo>
                  <a:pt x="26168" y="0"/>
                </a:lnTo>
                <a:lnTo>
                  <a:pt x="2616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676080" y="291456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2019240" y="2914560"/>
            <a:ext cx="9420480" cy="419400"/>
          </a:xfrm>
          <a:custGeom>
            <a:avLst/>
            <a:gdLst/>
            <a:ahLst/>
            <a:cxnLst/>
            <a:rect l="0" t="0" r="r" b="b"/>
            <a:pathLst>
              <a:path w="26168" h="1165">
                <a:moveTo>
                  <a:pt x="0" y="0"/>
                </a:moveTo>
                <a:lnTo>
                  <a:pt x="26168" y="0"/>
                </a:lnTo>
                <a:lnTo>
                  <a:pt x="261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676080" y="333360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2019240" y="3333600"/>
            <a:ext cx="9420480" cy="419400"/>
          </a:xfrm>
          <a:custGeom>
            <a:avLst/>
            <a:gdLst/>
            <a:ahLst/>
            <a:cxnLst/>
            <a:rect l="0" t="0" r="r" b="b"/>
            <a:pathLst>
              <a:path w="26168" h="1165">
                <a:moveTo>
                  <a:pt x="0" y="0"/>
                </a:moveTo>
                <a:lnTo>
                  <a:pt x="26168" y="0"/>
                </a:lnTo>
                <a:lnTo>
                  <a:pt x="261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76080" y="375264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2019240" y="3752640"/>
            <a:ext cx="9420480" cy="419400"/>
          </a:xfrm>
          <a:custGeom>
            <a:avLst/>
            <a:gdLst/>
            <a:ahLst/>
            <a:cxnLst/>
            <a:rect l="0" t="0" r="r" b="b"/>
            <a:pathLst>
              <a:path w="26168" h="1165">
                <a:moveTo>
                  <a:pt x="0" y="0"/>
                </a:moveTo>
                <a:lnTo>
                  <a:pt x="26168" y="0"/>
                </a:lnTo>
                <a:lnTo>
                  <a:pt x="2616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66672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666720" y="249552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orma libre 103"/>
          <p:cNvSpPr/>
          <p:nvPr/>
        </p:nvSpPr>
        <p:spPr>
          <a:xfrm>
            <a:off x="201924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Forma libre 104"/>
          <p:cNvSpPr/>
          <p:nvPr/>
        </p:nvSpPr>
        <p:spPr>
          <a:xfrm>
            <a:off x="2028600" y="2495520"/>
            <a:ext cx="9411120" cy="9720"/>
          </a:xfrm>
          <a:custGeom>
            <a:avLst/>
            <a:gdLst/>
            <a:ahLst/>
            <a:cxnLst/>
            <a:rect l="0" t="0" r="r" b="b"/>
            <a:pathLst>
              <a:path w="26142" h="27">
                <a:moveTo>
                  <a:pt x="0" y="0"/>
                </a:moveTo>
                <a:lnTo>
                  <a:pt x="26142" y="0"/>
                </a:lnTo>
                <a:lnTo>
                  <a:pt x="261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Forma libre 105"/>
          <p:cNvSpPr/>
          <p:nvPr/>
        </p:nvSpPr>
        <p:spPr>
          <a:xfrm>
            <a:off x="1142964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666720" y="2904840"/>
            <a:ext cx="1362240" cy="10080"/>
          </a:xfrm>
          <a:custGeom>
            <a:avLst/>
            <a:gdLst/>
            <a:ahLst/>
            <a:cxn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Forma libre 107"/>
          <p:cNvSpPr/>
          <p:nvPr/>
        </p:nvSpPr>
        <p:spPr>
          <a:xfrm>
            <a:off x="2028600" y="2904840"/>
            <a:ext cx="9411120" cy="10080"/>
          </a:xfrm>
          <a:custGeom>
            <a:avLst/>
            <a:gdLst/>
            <a:ahLst/>
            <a:cxnLst/>
            <a:rect l="0" t="0" r="r" b="b"/>
            <a:pathLst>
              <a:path w="26142" h="28">
                <a:moveTo>
                  <a:pt x="0" y="0"/>
                </a:moveTo>
                <a:lnTo>
                  <a:pt x="26142" y="0"/>
                </a:lnTo>
                <a:lnTo>
                  <a:pt x="261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66672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201924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1142964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666720" y="3323880"/>
            <a:ext cx="1362240" cy="10080"/>
          </a:xfrm>
          <a:custGeom>
            <a:avLst/>
            <a:gdLst/>
            <a:ahLst/>
            <a:cxn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201924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Forma libre 114"/>
          <p:cNvSpPr/>
          <p:nvPr/>
        </p:nvSpPr>
        <p:spPr>
          <a:xfrm>
            <a:off x="2028600" y="3323880"/>
            <a:ext cx="9411120" cy="10080"/>
          </a:xfrm>
          <a:custGeom>
            <a:avLst/>
            <a:gdLst/>
            <a:ahLst/>
            <a:cxnLst/>
            <a:rect l="0" t="0" r="r" b="b"/>
            <a:pathLst>
              <a:path w="26142" h="28">
                <a:moveTo>
                  <a:pt x="0" y="0"/>
                </a:moveTo>
                <a:lnTo>
                  <a:pt x="26142" y="0"/>
                </a:lnTo>
                <a:lnTo>
                  <a:pt x="261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1142964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Forma libre 116"/>
          <p:cNvSpPr/>
          <p:nvPr/>
        </p:nvSpPr>
        <p:spPr>
          <a:xfrm>
            <a:off x="66672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666720" y="374328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201924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2028600" y="3743280"/>
            <a:ext cx="9411120" cy="9720"/>
          </a:xfrm>
          <a:custGeom>
            <a:avLst/>
            <a:gdLst/>
            <a:ahLst/>
            <a:cxnLst/>
            <a:rect l="0" t="0" r="r" b="b"/>
            <a:pathLst>
              <a:path w="26142" h="27">
                <a:moveTo>
                  <a:pt x="0" y="0"/>
                </a:moveTo>
                <a:lnTo>
                  <a:pt x="26142" y="0"/>
                </a:lnTo>
                <a:lnTo>
                  <a:pt x="261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Forma libre 120"/>
          <p:cNvSpPr/>
          <p:nvPr/>
        </p:nvSpPr>
        <p:spPr>
          <a:xfrm>
            <a:off x="1142964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666720" y="4162320"/>
            <a:ext cx="1362240" cy="9720"/>
          </a:xfrm>
          <a:custGeom>
            <a:avLst/>
            <a:gdLst/>
            <a:ahLst/>
            <a:cxn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orma libre 122"/>
          <p:cNvSpPr/>
          <p:nvPr/>
        </p:nvSpPr>
        <p:spPr>
          <a:xfrm>
            <a:off x="2028600" y="4162320"/>
            <a:ext cx="9411120" cy="9720"/>
          </a:xfrm>
          <a:custGeom>
            <a:avLst/>
            <a:gdLst/>
            <a:ahLst/>
            <a:cxnLst/>
            <a:rect l="0" t="0" r="r" b="b"/>
            <a:pathLst>
              <a:path w="26142" h="27">
                <a:moveTo>
                  <a:pt x="0" y="0"/>
                </a:moveTo>
                <a:lnTo>
                  <a:pt x="26142" y="0"/>
                </a:lnTo>
                <a:lnTo>
                  <a:pt x="261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666720" y="1863360"/>
            <a:ext cx="3327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Motores: elige y justifica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6375240" y="2599920"/>
            <a:ext cx="70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Cuándo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799920" y="3009600"/>
            <a:ext cx="748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DuckDB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2151360" y="3009600"/>
            <a:ext cx="9188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corre en tu proceso, sin servidor, funciona en Colab, lee CSV y Parquet directo.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más simple para empezar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799920" y="3428640"/>
            <a:ext cx="1098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PostgreSQL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2151360" y="3428640"/>
            <a:ext cx="6140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encontrarás en la industria y lo que usan las herramientas de OHDSI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799920" y="3847680"/>
            <a:ext cx="610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SQLite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CuadroTexto 130"/>
          <p:cNvSpPr txBox="1"/>
          <p:nvPr/>
        </p:nvSpPr>
        <p:spPr>
          <a:xfrm>
            <a:off x="2151360" y="3847680"/>
            <a:ext cx="4353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ligero, embebido; Eunomia (OMOP de juguete) lo usa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9420120" y="438120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2"/>
                  <a:pt x="2580" y="54"/>
                  <a:pt x="2586" y="67"/>
                </a:cubicBezTo>
                <a:cubicBezTo>
                  <a:pt x="2591" y="80"/>
                  <a:pt x="2594" y="93"/>
                  <a:pt x="2594" y="107"/>
                </a:cubicBezTo>
                <a:lnTo>
                  <a:pt x="2594" y="636"/>
                </a:lnTo>
                <a:cubicBezTo>
                  <a:pt x="2594" y="650"/>
                  <a:pt x="2591" y="664"/>
                  <a:pt x="2586" y="677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666720" y="4363920"/>
            <a:ext cx="876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aprendas se transﬁere casi por completo. Las diferencias —índices, qué muestra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9476640" y="44013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EXPLAIN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10352880" y="4363920"/>
            <a:ext cx="652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— son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666720" y="4706640"/>
            <a:ext cx="2668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justamente materia de hoy.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CuadroTexto 13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orma libre 1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orma libre 1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Forma libre 1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3573000" y="3063960"/>
            <a:ext cx="2133597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Llaves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CuadroTexto 14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CuadroTexto 14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Forma libre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Forma libre 1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Forma libre 149"/>
          <p:cNvSpPr/>
          <p:nvPr/>
        </p:nvSpPr>
        <p:spPr>
          <a:xfrm>
            <a:off x="671400" y="20048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671400" y="200484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666720" y="1358640"/>
            <a:ext cx="2103717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Tablas</a:t>
            </a:r>
            <a:r>
              <a:rPr lang="es-ES" sz="2550" dirty="0">
                <a:solidFill>
                  <a:srgbClr val="0B3C5D"/>
                </a:solidFill>
                <a:latin typeface="HelveticaNeue"/>
                <a:ea typeface="HelveticaNeue"/>
              </a:rPr>
              <a:t> y </a:t>
            </a:r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llaves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CuadroTexto 154"/>
          <p:cNvSpPr txBox="1"/>
          <p:nvPr/>
        </p:nvSpPr>
        <p:spPr>
          <a:xfrm>
            <a:off x="866880" y="218484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person(person_id PK, gender_concept_id, year_of_birth)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914040" y="31622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866880" y="2451600"/>
            <a:ext cx="786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visit_occurrence(visit_occurrence_id PK, person_id FK, visit_start_date)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914040" y="3562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1123920" y="3049560"/>
            <a:ext cx="482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Llave primaria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identiﬁca una ﬁla de forma única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CuadroTexto 160"/>
          <p:cNvSpPr txBox="1"/>
          <p:nvPr/>
        </p:nvSpPr>
        <p:spPr>
          <a:xfrm>
            <a:off x="1123920" y="3449520"/>
            <a:ext cx="819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Llave foránea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apunta a la primaria de otra tabla — es lo que hace posible el JOIN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CuadroTexto 16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CuadroTexto 16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CuadroTexto 16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6" name="Picture 2" descr="Difference between Primary Key and Foreign Key">
            <a:extLst>
              <a:ext uri="{FF2B5EF4-FFF2-40B4-BE49-F238E27FC236}">
                <a16:creationId xmlns:a16="http://schemas.microsoft.com/office/drawing/2014/main" id="{BDD88618-9A91-F394-0FD2-53628833C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450" y="3795218"/>
            <a:ext cx="4556783" cy="299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orma libre 1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5333760" y="3066840"/>
            <a:ext cx="2105280" cy="619560"/>
          </a:xfrm>
          <a:custGeom>
            <a:avLst/>
            <a:gdLst/>
            <a:ahLst/>
            <a:cxnLst/>
            <a:rect l="0" t="0" r="r" b="b"/>
            <a:pathLst>
              <a:path w="5848" h="1721">
                <a:moveTo>
                  <a:pt x="0" y="161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743" y="0"/>
                </a:lnTo>
                <a:cubicBezTo>
                  <a:pt x="5757" y="0"/>
                  <a:pt x="5770" y="3"/>
                  <a:pt x="5783" y="8"/>
                </a:cubicBezTo>
                <a:cubicBezTo>
                  <a:pt x="5796" y="14"/>
                  <a:pt x="5808" y="21"/>
                  <a:pt x="5817" y="31"/>
                </a:cubicBezTo>
                <a:cubicBezTo>
                  <a:pt x="5827" y="41"/>
                  <a:pt x="5835" y="52"/>
                  <a:pt x="5840" y="65"/>
                </a:cubicBezTo>
                <a:cubicBezTo>
                  <a:pt x="5846" y="78"/>
                  <a:pt x="5848" y="92"/>
                  <a:pt x="5848" y="106"/>
                </a:cubicBezTo>
                <a:lnTo>
                  <a:pt x="5848" y="1615"/>
                </a:lnTo>
                <a:cubicBezTo>
                  <a:pt x="5848" y="1629"/>
                  <a:pt x="5846" y="1643"/>
                  <a:pt x="5840" y="1656"/>
                </a:cubicBezTo>
                <a:cubicBezTo>
                  <a:pt x="5835" y="1669"/>
                  <a:pt x="5827" y="1680"/>
                  <a:pt x="5817" y="1690"/>
                </a:cubicBezTo>
                <a:cubicBezTo>
                  <a:pt x="5808" y="1700"/>
                  <a:pt x="5796" y="1707"/>
                  <a:pt x="5783" y="1713"/>
                </a:cubicBezTo>
                <a:cubicBezTo>
                  <a:pt x="5770" y="1718"/>
                  <a:pt x="5757" y="1721"/>
                  <a:pt x="5743" y="1721"/>
                </a:cubicBezTo>
                <a:lnTo>
                  <a:pt x="106" y="1721"/>
                </a:lnTo>
                <a:cubicBezTo>
                  <a:pt x="92" y="1721"/>
                  <a:pt x="78" y="1718"/>
                  <a:pt x="65" y="1713"/>
                </a:cubicBezTo>
                <a:cubicBezTo>
                  <a:pt x="53" y="1707"/>
                  <a:pt x="41" y="1700"/>
                  <a:pt x="31" y="1690"/>
                </a:cubicBezTo>
                <a:cubicBezTo>
                  <a:pt x="21" y="1680"/>
                  <a:pt x="14" y="1669"/>
                  <a:pt x="8" y="1656"/>
                </a:cubicBezTo>
                <a:cubicBezTo>
                  <a:pt x="3" y="1643"/>
                  <a:pt x="0" y="1629"/>
                  <a:pt x="0" y="161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CuadroTexto 173"/>
          <p:cNvSpPr txBox="1"/>
          <p:nvPr/>
        </p:nvSpPr>
        <p:spPr>
          <a:xfrm>
            <a:off x="4753440" y="3054600"/>
            <a:ext cx="594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CuadroTexto 174"/>
          <p:cNvSpPr txBox="1"/>
          <p:nvPr/>
        </p:nvSpPr>
        <p:spPr>
          <a:xfrm>
            <a:off x="5437080" y="3067200"/>
            <a:ext cx="192744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SELECT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CuadroTexto 1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CuadroTexto 1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CuadroTexto 17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adroTexto 183"/>
          <p:cNvSpPr txBox="1"/>
          <p:nvPr/>
        </p:nvSpPr>
        <p:spPr>
          <a:xfrm>
            <a:off x="666720" y="1234800"/>
            <a:ext cx="3319820" cy="3924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sintaxis de SELECT</a:t>
            </a:r>
            <a:endParaRPr lang="es-ES" sz="25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0" name="Picture 2" descr="SQL SELECT and SELECT WHERE (With Examples)">
            <a:extLst>
              <a:ext uri="{FF2B5EF4-FFF2-40B4-BE49-F238E27FC236}">
                <a16:creationId xmlns:a16="http://schemas.microsoft.com/office/drawing/2014/main" id="{F1B3C011-D97F-60D4-7C3A-F9A13DF5A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454" y="1558519"/>
            <a:ext cx="4471379" cy="5071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A021AE6-FFA4-0C1B-7D17-C4C832D6A6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28"/>
          <a:stretch/>
        </p:blipFill>
        <p:spPr>
          <a:xfrm>
            <a:off x="285840" y="2181396"/>
            <a:ext cx="4342822" cy="12476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51C837F-57E0-6BBF-AAA8-284CE1236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47" y="3585084"/>
            <a:ext cx="4471379" cy="9466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D43E37-1AE2-65D7-3962-26C476D548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47" y="4867967"/>
            <a:ext cx="5002205" cy="9361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Forma libre 2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CuadroTexto 227"/>
          <p:cNvSpPr txBox="1"/>
          <p:nvPr/>
        </p:nvSpPr>
        <p:spPr>
          <a:xfrm>
            <a:off x="3575814" y="3105294"/>
            <a:ext cx="4756110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Filtrado (WHERE)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CuadroTexto 22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CuadroTexto 22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orma libre 2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0" y="29484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671400" y="18903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5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3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8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8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3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5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671400" y="189036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100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5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3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8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8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3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5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666720" y="471456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66720" y="471456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666720" y="1247760"/>
            <a:ext cx="1086120" cy="381240"/>
          </a:xfrm>
          <a:custGeom>
            <a:avLst/>
            <a:gdLst/>
            <a:ahLst/>
            <a:cxnLst/>
            <a:rect l="0" t="0" r="r" b="b"/>
            <a:pathLst>
              <a:path w="3017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911" y="0"/>
                </a:lnTo>
                <a:cubicBezTo>
                  <a:pt x="2925" y="0"/>
                  <a:pt x="2939" y="2"/>
                  <a:pt x="2952" y="8"/>
                </a:cubicBezTo>
                <a:cubicBezTo>
                  <a:pt x="2964" y="13"/>
                  <a:pt x="2976" y="21"/>
                  <a:pt x="2986" y="31"/>
                </a:cubicBezTo>
                <a:cubicBezTo>
                  <a:pt x="2996" y="40"/>
                  <a:pt x="3003" y="52"/>
                  <a:pt x="3009" y="65"/>
                </a:cubicBezTo>
                <a:cubicBezTo>
                  <a:pt x="3014" y="78"/>
                  <a:pt x="3017" y="91"/>
                  <a:pt x="3017" y="105"/>
                </a:cubicBezTo>
                <a:lnTo>
                  <a:pt x="3017" y="953"/>
                </a:lnTo>
                <a:cubicBezTo>
                  <a:pt x="3017" y="967"/>
                  <a:pt x="3014" y="981"/>
                  <a:pt x="3009" y="994"/>
                </a:cubicBezTo>
                <a:cubicBezTo>
                  <a:pt x="3003" y="1007"/>
                  <a:pt x="2996" y="1018"/>
                  <a:pt x="2986" y="1028"/>
                </a:cubicBezTo>
                <a:cubicBezTo>
                  <a:pt x="2976" y="1038"/>
                  <a:pt x="2964" y="1045"/>
                  <a:pt x="2952" y="1051"/>
                </a:cubicBezTo>
                <a:cubicBezTo>
                  <a:pt x="2939" y="1056"/>
                  <a:pt x="2925" y="1059"/>
                  <a:pt x="2911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5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731520" y="1252080"/>
            <a:ext cx="9777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WHERE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1755000" y="1244160"/>
            <a:ext cx="26103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con datos clínicos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866880" y="2070360"/>
            <a:ext cx="5351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co.condition_concept_id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201826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201820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866880" y="2337120"/>
            <a:ext cx="8407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co.condition_start_date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BETWEEN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'2020-01-01'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DATE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'2023-12-31'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866880" y="2594160"/>
            <a:ext cx="3603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p.year_of_birth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NOT NULL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Forma libre 245"/>
          <p:cNvSpPr/>
          <p:nvPr/>
        </p:nvSpPr>
        <p:spPr>
          <a:xfrm>
            <a:off x="1123920" y="3476520"/>
            <a:ext cx="352800" cy="267120"/>
          </a:xfrm>
          <a:custGeom>
            <a:avLst/>
            <a:gdLst/>
            <a:ahLst/>
            <a:cxnLst/>
            <a:rect l="0" t="0" r="r" b="b"/>
            <a:pathLst>
              <a:path w="98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874" y="0"/>
                </a:lnTo>
                <a:cubicBezTo>
                  <a:pt x="888" y="0"/>
                  <a:pt x="901" y="2"/>
                  <a:pt x="914" y="8"/>
                </a:cubicBezTo>
                <a:cubicBezTo>
                  <a:pt x="927" y="13"/>
                  <a:pt x="939" y="21"/>
                  <a:pt x="949" y="31"/>
                </a:cubicBezTo>
                <a:cubicBezTo>
                  <a:pt x="958" y="41"/>
                  <a:pt x="966" y="52"/>
                  <a:pt x="971" y="65"/>
                </a:cubicBezTo>
                <a:cubicBezTo>
                  <a:pt x="977" y="78"/>
                  <a:pt x="980" y="92"/>
                  <a:pt x="980" y="106"/>
                </a:cubicBezTo>
                <a:lnTo>
                  <a:pt x="980" y="636"/>
                </a:lnTo>
                <a:cubicBezTo>
                  <a:pt x="980" y="650"/>
                  <a:pt x="977" y="663"/>
                  <a:pt x="971" y="676"/>
                </a:cubicBezTo>
                <a:cubicBezTo>
                  <a:pt x="966" y="689"/>
                  <a:pt x="958" y="701"/>
                  <a:pt x="949" y="711"/>
                </a:cubicBezTo>
                <a:cubicBezTo>
                  <a:pt x="939" y="721"/>
                  <a:pt x="927" y="728"/>
                  <a:pt x="914" y="734"/>
                </a:cubicBezTo>
                <a:cubicBezTo>
                  <a:pt x="901" y="739"/>
                  <a:pt x="888" y="742"/>
                  <a:pt x="874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CuadroTexto 246"/>
          <p:cNvSpPr txBox="1"/>
          <p:nvPr/>
        </p:nvSpPr>
        <p:spPr>
          <a:xfrm>
            <a:off x="866880" y="2860920"/>
            <a:ext cx="4259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AND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c.concept_name ILIKE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'%diabetes%'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CuadroTexto 247"/>
          <p:cNvSpPr txBox="1"/>
          <p:nvPr/>
        </p:nvSpPr>
        <p:spPr>
          <a:xfrm>
            <a:off x="1181160" y="3496320"/>
            <a:ext cx="23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2724120" y="3476520"/>
            <a:ext cx="933480" cy="267120"/>
          </a:xfrm>
          <a:custGeom>
            <a:avLst/>
            <a:gdLst/>
            <a:ahLst/>
            <a:cxnLst/>
            <a:rect l="0" t="0" r="r" b="b"/>
            <a:pathLst>
              <a:path w="259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2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2" y="41"/>
                  <a:pt x="2580" y="52"/>
                  <a:pt x="2585" y="65"/>
                </a:cubicBezTo>
                <a:cubicBezTo>
                  <a:pt x="2591" y="78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3"/>
                  <a:pt x="2585" y="676"/>
                </a:cubicBezTo>
                <a:cubicBezTo>
                  <a:pt x="2580" y="689"/>
                  <a:pt x="2572" y="701"/>
                  <a:pt x="2563" y="711"/>
                </a:cubicBezTo>
                <a:cubicBezTo>
                  <a:pt x="2553" y="721"/>
                  <a:pt x="2541" y="728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1472400" y="3458880"/>
            <a:ext cx="124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listas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2778480" y="34963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BETWEEN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Forma libre 252"/>
          <p:cNvSpPr/>
          <p:nvPr/>
        </p:nvSpPr>
        <p:spPr>
          <a:xfrm>
            <a:off x="1123920" y="387648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635"/>
                </a:lnTo>
                <a:cubicBezTo>
                  <a:pt x="1932" y="649"/>
                  <a:pt x="1929" y="663"/>
                  <a:pt x="1924" y="676"/>
                </a:cubicBezTo>
                <a:cubicBezTo>
                  <a:pt x="1919" y="689"/>
                  <a:pt x="1911" y="700"/>
                  <a:pt x="1901" y="711"/>
                </a:cubicBezTo>
                <a:cubicBezTo>
                  <a:pt x="1891" y="721"/>
                  <a:pt x="1880" y="728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3654720" y="3458880"/>
            <a:ext cx="2922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inclusivo en ambos extremos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CuadroTexto 254"/>
          <p:cNvSpPr txBox="1"/>
          <p:nvPr/>
        </p:nvSpPr>
        <p:spPr>
          <a:xfrm>
            <a:off x="1181160" y="38962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ILIKE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1823400" y="3859200"/>
            <a:ext cx="430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ignora mayúsculas (en DuckDB y Postgres)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3314520" y="4886280"/>
            <a:ext cx="695520" cy="266760"/>
          </a:xfrm>
          <a:custGeom>
            <a:avLst/>
            <a:gdLst/>
            <a:ahLst/>
            <a:cxnLst/>
            <a:rect l="0" t="0" r="r" b="b"/>
            <a:pathLst>
              <a:path w="193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1"/>
                  <a:pt x="1932" y="105"/>
                </a:cubicBezTo>
                <a:lnTo>
                  <a:pt x="1932" y="636"/>
                </a:lnTo>
                <a:cubicBezTo>
                  <a:pt x="1932" y="650"/>
                  <a:pt x="1930" y="663"/>
                  <a:pt x="1924" y="676"/>
                </a:cubicBezTo>
                <a:cubicBezTo>
                  <a:pt x="1919" y="689"/>
                  <a:pt x="1911" y="701"/>
                  <a:pt x="1901" y="710"/>
                </a:cubicBezTo>
                <a:cubicBezTo>
                  <a:pt x="1892" y="720"/>
                  <a:pt x="1880" y="728"/>
                  <a:pt x="1867" y="733"/>
                </a:cubicBezTo>
                <a:cubicBezTo>
                  <a:pt x="1854" y="739"/>
                  <a:pt x="1841" y="741"/>
                  <a:pt x="1827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CuadroTexto 264"/>
          <p:cNvSpPr txBox="1"/>
          <p:nvPr/>
        </p:nvSpPr>
        <p:spPr>
          <a:xfrm>
            <a:off x="905040" y="4868640"/>
            <a:ext cx="2410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Buscar por nombre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3367800" y="49060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ILIKE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9229680" y="4886280"/>
            <a:ext cx="1285920" cy="266760"/>
          </a:xfrm>
          <a:custGeom>
            <a:avLst/>
            <a:gdLst/>
            <a:ahLst/>
            <a:cxnLst/>
            <a:rect l="0" t="0" r="r" b="b"/>
            <a:pathLst>
              <a:path w="357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67" y="0"/>
                </a:lnTo>
                <a:cubicBezTo>
                  <a:pt x="3481" y="0"/>
                  <a:pt x="3494" y="2"/>
                  <a:pt x="3507" y="8"/>
                </a:cubicBezTo>
                <a:cubicBezTo>
                  <a:pt x="3520" y="13"/>
                  <a:pt x="3532" y="21"/>
                  <a:pt x="3541" y="31"/>
                </a:cubicBezTo>
                <a:cubicBezTo>
                  <a:pt x="3551" y="41"/>
                  <a:pt x="3559" y="52"/>
                  <a:pt x="3564" y="65"/>
                </a:cubicBezTo>
                <a:cubicBezTo>
                  <a:pt x="3570" y="78"/>
                  <a:pt x="3572" y="91"/>
                  <a:pt x="3572" y="105"/>
                </a:cubicBezTo>
                <a:lnTo>
                  <a:pt x="3572" y="636"/>
                </a:lnTo>
                <a:cubicBezTo>
                  <a:pt x="3572" y="650"/>
                  <a:pt x="3570" y="663"/>
                  <a:pt x="3564" y="676"/>
                </a:cubicBezTo>
                <a:cubicBezTo>
                  <a:pt x="3559" y="689"/>
                  <a:pt x="3551" y="701"/>
                  <a:pt x="3541" y="710"/>
                </a:cubicBezTo>
                <a:cubicBezTo>
                  <a:pt x="3532" y="720"/>
                  <a:pt x="3520" y="728"/>
                  <a:pt x="3507" y="733"/>
                </a:cubicBezTo>
                <a:cubicBezTo>
                  <a:pt x="3494" y="739"/>
                  <a:pt x="3481" y="741"/>
                  <a:pt x="3467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4010040" y="4868640"/>
            <a:ext cx="5243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sirve para explorar. Para deﬁnir una cohorte se usan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9446940" y="490037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concept_id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10515960" y="4868640"/>
            <a:ext cx="37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905040" y="5211720"/>
            <a:ext cx="279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texto — eso es la sesión 14.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orma libre 2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Forma libre 2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4534200" y="3063960"/>
            <a:ext cx="3203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Agregación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Forma libre 2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Forma libre 2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671400" y="2395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671400" y="239544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068"/>
                </a:lnTo>
                <a:cubicBezTo>
                  <a:pt x="30137" y="5081"/>
                  <a:pt x="30136" y="5093"/>
                  <a:pt x="30133" y="5106"/>
                </a:cubicBezTo>
                <a:cubicBezTo>
                  <a:pt x="30130" y="5119"/>
                  <a:pt x="30127" y="5131"/>
                  <a:pt x="30122" y="5143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7"/>
                  <a:pt x="30059" y="5225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2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2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5"/>
                  <a:pt x="67" y="5217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3"/>
                </a:cubicBezTo>
                <a:cubicBezTo>
                  <a:pt x="10" y="5131"/>
                  <a:pt x="6" y="5119"/>
                  <a:pt x="4" y="5106"/>
                </a:cubicBezTo>
                <a:cubicBezTo>
                  <a:pt x="1" y="5093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666720" y="1742760"/>
            <a:ext cx="1086120" cy="381600"/>
          </a:xfrm>
          <a:custGeom>
            <a:avLst/>
            <a:gdLst/>
            <a:ahLst/>
            <a:cxnLst/>
            <a:rect l="0" t="0" r="r" b="b"/>
            <a:pathLst>
              <a:path w="3017" h="1060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911" y="0"/>
                </a:lnTo>
                <a:cubicBezTo>
                  <a:pt x="2925" y="0"/>
                  <a:pt x="2939" y="3"/>
                  <a:pt x="2952" y="8"/>
                </a:cubicBezTo>
                <a:cubicBezTo>
                  <a:pt x="2964" y="14"/>
                  <a:pt x="2976" y="21"/>
                  <a:pt x="2986" y="31"/>
                </a:cubicBezTo>
                <a:cubicBezTo>
                  <a:pt x="2996" y="41"/>
                  <a:pt x="3003" y="53"/>
                  <a:pt x="3009" y="66"/>
                </a:cubicBezTo>
                <a:cubicBezTo>
                  <a:pt x="3014" y="79"/>
                  <a:pt x="3017" y="92"/>
                  <a:pt x="3017" y="106"/>
                </a:cubicBezTo>
                <a:lnTo>
                  <a:pt x="3017" y="953"/>
                </a:lnTo>
                <a:cubicBezTo>
                  <a:pt x="3017" y="967"/>
                  <a:pt x="3014" y="981"/>
                  <a:pt x="3009" y="994"/>
                </a:cubicBezTo>
                <a:cubicBezTo>
                  <a:pt x="3003" y="1007"/>
                  <a:pt x="2996" y="1019"/>
                  <a:pt x="2986" y="1029"/>
                </a:cubicBezTo>
                <a:cubicBezTo>
                  <a:pt x="2976" y="1039"/>
                  <a:pt x="2964" y="1046"/>
                  <a:pt x="2952" y="1052"/>
                </a:cubicBezTo>
                <a:cubicBezTo>
                  <a:pt x="2939" y="1057"/>
                  <a:pt x="2925" y="1060"/>
                  <a:pt x="2911" y="1060"/>
                </a:cubicBezTo>
                <a:lnTo>
                  <a:pt x="105" y="1060"/>
                </a:lnTo>
                <a:cubicBezTo>
                  <a:pt x="91" y="1060"/>
                  <a:pt x="78" y="1057"/>
                  <a:pt x="65" y="1052"/>
                </a:cubicBezTo>
                <a:cubicBezTo>
                  <a:pt x="52" y="1046"/>
                  <a:pt x="41" y="1039"/>
                  <a:pt x="31" y="1029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731520" y="1747440"/>
            <a:ext cx="9777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1755000" y="1739520"/>
            <a:ext cx="2147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no es uno solo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866880" y="2575080"/>
            <a:ext cx="5132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 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filas,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866880" y="2841840"/>
            <a:ext cx="7752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(valor)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con_valor,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ignora NULL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866880" y="3099240"/>
            <a:ext cx="949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person_id)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pacientes,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lo que casi siempre quieres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866880" y="3366000"/>
            <a:ext cx="8626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avg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(valor)            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media,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también ignora NULL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866880" y="3623040"/>
            <a:ext cx="742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percentile_cont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0.5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WITHIN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ORDER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valor)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mediana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666720" y="450504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4"/>
                  <a:pt x="2870" y="21"/>
                  <a:pt x="2880" y="31"/>
                </a:cubicBezTo>
                <a:cubicBezTo>
                  <a:pt x="2890" y="41"/>
                  <a:pt x="2898" y="53"/>
                  <a:pt x="2903" y="66"/>
                </a:cubicBezTo>
                <a:cubicBezTo>
                  <a:pt x="2908" y="79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9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866880" y="388980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measurement;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CuadroTexto 296"/>
          <p:cNvSpPr txBox="1"/>
          <p:nvPr/>
        </p:nvSpPr>
        <p:spPr>
          <a:xfrm>
            <a:off x="723960" y="45252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count(*)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Forma libre 297"/>
          <p:cNvSpPr/>
          <p:nvPr/>
        </p:nvSpPr>
        <p:spPr>
          <a:xfrm>
            <a:off x="3171600" y="4505040"/>
            <a:ext cx="3038760" cy="267120"/>
          </a:xfrm>
          <a:custGeom>
            <a:avLst/>
            <a:gdLst/>
            <a:ahLst/>
            <a:cxnLst/>
            <a:rect l="0" t="0" r="r" b="b"/>
            <a:pathLst>
              <a:path w="844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335" y="0"/>
                </a:lnTo>
                <a:cubicBezTo>
                  <a:pt x="8350" y="0"/>
                  <a:pt x="8363" y="3"/>
                  <a:pt x="8376" y="8"/>
                </a:cubicBezTo>
                <a:cubicBezTo>
                  <a:pt x="8389" y="14"/>
                  <a:pt x="8400" y="21"/>
                  <a:pt x="8410" y="31"/>
                </a:cubicBezTo>
                <a:cubicBezTo>
                  <a:pt x="8420" y="41"/>
                  <a:pt x="8428" y="53"/>
                  <a:pt x="8433" y="66"/>
                </a:cubicBezTo>
                <a:cubicBezTo>
                  <a:pt x="8439" y="79"/>
                  <a:pt x="8441" y="92"/>
                  <a:pt x="8441" y="106"/>
                </a:cubicBezTo>
                <a:lnTo>
                  <a:pt x="8441" y="636"/>
                </a:lnTo>
                <a:cubicBezTo>
                  <a:pt x="8441" y="650"/>
                  <a:pt x="8439" y="664"/>
                  <a:pt x="8433" y="677"/>
                </a:cubicBezTo>
                <a:cubicBezTo>
                  <a:pt x="8428" y="690"/>
                  <a:pt x="8420" y="701"/>
                  <a:pt x="8410" y="711"/>
                </a:cubicBezTo>
                <a:cubicBezTo>
                  <a:pt x="8400" y="721"/>
                  <a:pt x="8389" y="729"/>
                  <a:pt x="8376" y="734"/>
                </a:cubicBezTo>
                <a:cubicBezTo>
                  <a:pt x="8363" y="739"/>
                  <a:pt x="8350" y="742"/>
                  <a:pt x="833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1717200" y="4487760"/>
            <a:ext cx="1452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cuenta ﬁlas;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3226320" y="4525200"/>
            <a:ext cx="293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count(DISTINCT person_id)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6208200" y="4487760"/>
            <a:ext cx="5272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cuenta pacientes.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datos clínicos casi nunca son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CuadroTexto 301"/>
          <p:cNvSpPr txBox="1"/>
          <p:nvPr/>
        </p:nvSpPr>
        <p:spPr>
          <a:xfrm>
            <a:off x="666720" y="4830480"/>
            <a:ext cx="4501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mismo — un paciente tiene muchas visitas.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Forma libre 3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671400" y="210024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8"/>
                  <a:pt x="30133" y="6561"/>
                </a:cubicBezTo>
                <a:cubicBezTo>
                  <a:pt x="30130" y="6574"/>
                  <a:pt x="30127" y="6586"/>
                  <a:pt x="30122" y="6598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8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8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671400" y="210024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8"/>
                  <a:pt x="30133" y="6561"/>
                </a:cubicBezTo>
                <a:cubicBezTo>
                  <a:pt x="30130" y="6574"/>
                  <a:pt x="30127" y="6586"/>
                  <a:pt x="30122" y="6598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2"/>
                  <a:pt x="30059" y="6680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7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7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0"/>
                  <a:pt x="67" y="6672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8"/>
                </a:cubicBezTo>
                <a:cubicBezTo>
                  <a:pt x="10" y="6586"/>
                  <a:pt x="6" y="6574"/>
                  <a:pt x="4" y="6561"/>
                </a:cubicBezTo>
                <a:cubicBezTo>
                  <a:pt x="1" y="6548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66720" y="1457280"/>
            <a:ext cx="1667160" cy="381240"/>
          </a:xfrm>
          <a:custGeom>
            <a:avLst/>
            <a:gdLst/>
            <a:ahLst/>
            <a:cxnLst/>
            <a:rect l="0" t="0" r="r" b="b"/>
            <a:pathLst>
              <a:path w="4631" h="1059">
                <a:moveTo>
                  <a:pt x="0" y="953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525" y="0"/>
                </a:lnTo>
                <a:cubicBezTo>
                  <a:pt x="4539" y="0"/>
                  <a:pt x="4552" y="2"/>
                  <a:pt x="4565" y="8"/>
                </a:cubicBezTo>
                <a:cubicBezTo>
                  <a:pt x="4578" y="13"/>
                  <a:pt x="4590" y="21"/>
                  <a:pt x="4600" y="31"/>
                </a:cubicBezTo>
                <a:cubicBezTo>
                  <a:pt x="4610" y="41"/>
                  <a:pt x="4617" y="52"/>
                  <a:pt x="4623" y="65"/>
                </a:cubicBezTo>
                <a:cubicBezTo>
                  <a:pt x="4628" y="78"/>
                  <a:pt x="4631" y="91"/>
                  <a:pt x="4631" y="105"/>
                </a:cubicBezTo>
                <a:lnTo>
                  <a:pt x="4631" y="953"/>
                </a:lnTo>
                <a:cubicBezTo>
                  <a:pt x="4631" y="967"/>
                  <a:pt x="4628" y="981"/>
                  <a:pt x="4623" y="994"/>
                </a:cubicBezTo>
                <a:cubicBezTo>
                  <a:pt x="4617" y="1007"/>
                  <a:pt x="4610" y="1018"/>
                  <a:pt x="4600" y="1028"/>
                </a:cubicBezTo>
                <a:cubicBezTo>
                  <a:pt x="4590" y="1038"/>
                  <a:pt x="4578" y="1046"/>
                  <a:pt x="4565" y="1051"/>
                </a:cubicBezTo>
                <a:cubicBezTo>
                  <a:pt x="4552" y="1056"/>
                  <a:pt x="4539" y="1059"/>
                  <a:pt x="4525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CuadroTexto 311"/>
          <p:cNvSpPr txBox="1"/>
          <p:nvPr/>
        </p:nvSpPr>
        <p:spPr>
          <a:xfrm>
            <a:off x="731520" y="1461600"/>
            <a:ext cx="156420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GROUP BY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2330280" y="1453680"/>
            <a:ext cx="3098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la regla del SELECT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866880" y="2279880"/>
            <a:ext cx="3167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p.gender_concept_id,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866880" y="2546640"/>
            <a:ext cx="5459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pacientes,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866880" y="2803680"/>
            <a:ext cx="5569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avg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(m.value_as_number)   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hba1c_media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CuadroTexto 316"/>
          <p:cNvSpPr txBox="1"/>
          <p:nvPr/>
        </p:nvSpPr>
        <p:spPr>
          <a:xfrm>
            <a:off x="866880" y="307044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person 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CuadroTexto 317"/>
          <p:cNvSpPr txBox="1"/>
          <p:nvPr/>
        </p:nvSpPr>
        <p:spPr>
          <a:xfrm>
            <a:off x="866880" y="3327840"/>
            <a:ext cx="5569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measurement m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m.person_id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CuadroTexto 318"/>
          <p:cNvSpPr txBox="1"/>
          <p:nvPr/>
        </p:nvSpPr>
        <p:spPr>
          <a:xfrm>
            <a:off x="866880" y="3594600"/>
            <a:ext cx="4695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m.measurement_concept_id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3004410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CuadroTexto 319"/>
          <p:cNvSpPr txBox="1"/>
          <p:nvPr/>
        </p:nvSpPr>
        <p:spPr>
          <a:xfrm>
            <a:off x="866880" y="385164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GROUP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BY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p.gender_concept_id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914040" y="4829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9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866880" y="4118400"/>
            <a:ext cx="4695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HAVING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DISTINCT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p.person_id)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&gt;=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50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2266920" y="4733640"/>
            <a:ext cx="810000" cy="267120"/>
          </a:xfrm>
          <a:custGeom>
            <a:avLst/>
            <a:gdLst/>
            <a:ahLst/>
            <a:cxnLst/>
            <a:rect l="0" t="0" r="r" b="b"/>
            <a:pathLst>
              <a:path w="225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44" y="0"/>
                </a:lnTo>
                <a:cubicBezTo>
                  <a:pt x="2158" y="0"/>
                  <a:pt x="2171" y="3"/>
                  <a:pt x="2184" y="8"/>
                </a:cubicBezTo>
                <a:cubicBezTo>
                  <a:pt x="2197" y="14"/>
                  <a:pt x="2209" y="21"/>
                  <a:pt x="2219" y="31"/>
                </a:cubicBezTo>
                <a:cubicBezTo>
                  <a:pt x="2228" y="41"/>
                  <a:pt x="2236" y="53"/>
                  <a:pt x="2241" y="66"/>
                </a:cubicBezTo>
                <a:cubicBezTo>
                  <a:pt x="2247" y="79"/>
                  <a:pt x="2250" y="92"/>
                  <a:pt x="2250" y="106"/>
                </a:cubicBezTo>
                <a:lnTo>
                  <a:pt x="2250" y="636"/>
                </a:lnTo>
                <a:cubicBezTo>
                  <a:pt x="2250" y="650"/>
                  <a:pt x="2247" y="664"/>
                  <a:pt x="2241" y="677"/>
                </a:cubicBezTo>
                <a:cubicBezTo>
                  <a:pt x="2236" y="690"/>
                  <a:pt x="2228" y="701"/>
                  <a:pt x="2219" y="711"/>
                </a:cubicBezTo>
                <a:cubicBezTo>
                  <a:pt x="2209" y="721"/>
                  <a:pt x="2197" y="729"/>
                  <a:pt x="2184" y="734"/>
                </a:cubicBezTo>
                <a:cubicBezTo>
                  <a:pt x="2171" y="739"/>
                  <a:pt x="2158" y="742"/>
                  <a:pt x="2144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1123920" y="4716360"/>
            <a:ext cx="1165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lo del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2320560" y="47538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SELECT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5800680" y="473364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4"/>
                  <a:pt x="2870" y="21"/>
                  <a:pt x="2880" y="31"/>
                </a:cubicBezTo>
                <a:cubicBezTo>
                  <a:pt x="2890" y="41"/>
                  <a:pt x="2898" y="53"/>
                  <a:pt x="2903" y="66"/>
                </a:cubicBezTo>
                <a:cubicBezTo>
                  <a:pt x="2908" y="79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4"/>
                  <a:pt x="2903" y="677"/>
                </a:cubicBezTo>
                <a:cubicBezTo>
                  <a:pt x="2898" y="690"/>
                  <a:pt x="2890" y="701"/>
                  <a:pt x="2880" y="711"/>
                </a:cubicBezTo>
                <a:cubicBezTo>
                  <a:pt x="2870" y="721"/>
                  <a:pt x="2859" y="729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CuadroTexto 326"/>
          <p:cNvSpPr txBox="1"/>
          <p:nvPr/>
        </p:nvSpPr>
        <p:spPr>
          <a:xfrm>
            <a:off x="3079800" y="4716360"/>
            <a:ext cx="2727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 se agrega o está en el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914040" y="5229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1123920" y="5133960"/>
            <a:ext cx="695520" cy="266760"/>
          </a:xfrm>
          <a:custGeom>
            <a:avLst/>
            <a:gdLst/>
            <a:ahLst/>
            <a:cxnLst/>
            <a:rect l="0" t="0" r="r" b="b"/>
            <a:pathLst>
              <a:path w="1932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2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0"/>
                  <a:pt x="1919" y="52"/>
                  <a:pt x="1924" y="65"/>
                </a:cubicBezTo>
                <a:cubicBezTo>
                  <a:pt x="1929" y="78"/>
                  <a:pt x="1932" y="91"/>
                  <a:pt x="1932" y="105"/>
                </a:cubicBezTo>
                <a:lnTo>
                  <a:pt x="1932" y="636"/>
                </a:lnTo>
                <a:cubicBezTo>
                  <a:pt x="1932" y="650"/>
                  <a:pt x="1929" y="663"/>
                  <a:pt x="1924" y="676"/>
                </a:cubicBezTo>
                <a:cubicBezTo>
                  <a:pt x="1919" y="689"/>
                  <a:pt x="1911" y="700"/>
                  <a:pt x="1901" y="710"/>
                </a:cubicBezTo>
                <a:cubicBezTo>
                  <a:pt x="1891" y="720"/>
                  <a:pt x="1880" y="728"/>
                  <a:pt x="1867" y="733"/>
                </a:cubicBezTo>
                <a:cubicBezTo>
                  <a:pt x="1854" y="739"/>
                  <a:pt x="1840" y="741"/>
                  <a:pt x="1826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5859360" y="47538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GROUP BY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CuadroTexto 330"/>
          <p:cNvSpPr txBox="1"/>
          <p:nvPr/>
        </p:nvSpPr>
        <p:spPr>
          <a:xfrm>
            <a:off x="1181160" y="51537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WHERE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4943160" y="5133960"/>
            <a:ext cx="819720" cy="266760"/>
          </a:xfrm>
          <a:custGeom>
            <a:avLst/>
            <a:gdLst/>
            <a:ahLst/>
            <a:cxnLst/>
            <a:rect l="0" t="0" r="r" b="b"/>
            <a:pathLst>
              <a:path w="2277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2"/>
                  <a:pt x="2211" y="8"/>
                </a:cubicBezTo>
                <a:cubicBezTo>
                  <a:pt x="2224" y="13"/>
                  <a:pt x="2236" y="21"/>
                  <a:pt x="2246" y="31"/>
                </a:cubicBezTo>
                <a:cubicBezTo>
                  <a:pt x="2256" y="40"/>
                  <a:pt x="2263" y="52"/>
                  <a:pt x="2269" y="65"/>
                </a:cubicBezTo>
                <a:cubicBezTo>
                  <a:pt x="2274" y="78"/>
                  <a:pt x="2277" y="91"/>
                  <a:pt x="2277" y="105"/>
                </a:cubicBezTo>
                <a:lnTo>
                  <a:pt x="2277" y="636"/>
                </a:lnTo>
                <a:cubicBezTo>
                  <a:pt x="2277" y="650"/>
                  <a:pt x="2274" y="663"/>
                  <a:pt x="2269" y="676"/>
                </a:cubicBezTo>
                <a:cubicBezTo>
                  <a:pt x="2263" y="689"/>
                  <a:pt x="2256" y="700"/>
                  <a:pt x="2246" y="710"/>
                </a:cubicBezTo>
                <a:cubicBezTo>
                  <a:pt x="2236" y="720"/>
                  <a:pt x="2224" y="728"/>
                  <a:pt x="2211" y="733"/>
                </a:cubicBezTo>
                <a:cubicBezTo>
                  <a:pt x="2198" y="739"/>
                  <a:pt x="2185" y="741"/>
                  <a:pt x="2171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1823400" y="5116320"/>
            <a:ext cx="3121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ﬁltra ﬁlas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(antes de agrupar) ·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CuadroTexto 333"/>
          <p:cNvSpPr txBox="1"/>
          <p:nvPr/>
        </p:nvSpPr>
        <p:spPr>
          <a:xfrm>
            <a:off x="5000760" y="515376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HAVING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5760000" y="5116320"/>
            <a:ext cx="2409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ﬁltra grupos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(después)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CuadroTexto 33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2428C9-8443-1991-A411-3915097E0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013" y="5501391"/>
            <a:ext cx="4960007" cy="10526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Forma libre 3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5114520" y="3063960"/>
            <a:ext cx="2006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JOINs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CuadroTexto 3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CuadroTexto 34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orma libre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0" y="253034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676080" y="144756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2019240" y="144756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676080" y="144756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2019240" y="144756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76080" y="185724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2019240" y="1857240"/>
            <a:ext cx="4762800" cy="419400"/>
          </a:xfrm>
          <a:custGeom>
            <a:avLst/>
            <a:gdLst/>
            <a:ahLst/>
            <a:cxnLst/>
            <a:rect l="0" t="0" r="r" b="b"/>
            <a:pathLst>
              <a:path w="13230" h="1165">
                <a:moveTo>
                  <a:pt x="0" y="0"/>
                </a:moveTo>
                <a:lnTo>
                  <a:pt x="13230" y="0"/>
                </a:lnTo>
                <a:lnTo>
                  <a:pt x="132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76080" y="2276280"/>
            <a:ext cx="1343520" cy="419400"/>
          </a:xfrm>
          <a:custGeom>
            <a:avLst/>
            <a:gdLst/>
            <a:ahLst/>
            <a:cxnLst/>
            <a:rect l="0" t="0" r="r" b="b"/>
            <a:pathLst>
              <a:path w="3732" h="1165">
                <a:moveTo>
                  <a:pt x="0" y="0"/>
                </a:moveTo>
                <a:lnTo>
                  <a:pt x="3732" y="0"/>
                </a:lnTo>
                <a:lnTo>
                  <a:pt x="373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2019240" y="2276280"/>
            <a:ext cx="4762800" cy="419400"/>
          </a:xfrm>
          <a:custGeom>
            <a:avLst/>
            <a:gdLst/>
            <a:ahLst/>
            <a:cxnLst/>
            <a:rect l="0" t="0" r="r" b="b"/>
            <a:pathLst>
              <a:path w="13230" h="1165">
                <a:moveTo>
                  <a:pt x="0" y="0"/>
                </a:moveTo>
                <a:lnTo>
                  <a:pt x="13230" y="0"/>
                </a:lnTo>
                <a:lnTo>
                  <a:pt x="1323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676080" y="269532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2019240" y="269532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76080" y="3105000"/>
            <a:ext cx="1343520" cy="410040"/>
          </a:xfrm>
          <a:custGeom>
            <a:avLst/>
            <a:gdLst/>
            <a:ahLst/>
            <a:cxnLst/>
            <a:rect l="0" t="0" r="r" b="b"/>
            <a:pathLst>
              <a:path w="3732" h="1139">
                <a:moveTo>
                  <a:pt x="0" y="0"/>
                </a:moveTo>
                <a:lnTo>
                  <a:pt x="3732" y="0"/>
                </a:lnTo>
                <a:lnTo>
                  <a:pt x="373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2019240" y="3105000"/>
            <a:ext cx="4762800" cy="410040"/>
          </a:xfrm>
          <a:custGeom>
            <a:avLst/>
            <a:gdLst/>
            <a:ahLst/>
            <a:cxnLst/>
            <a:rect l="0" t="0" r="r" b="b"/>
            <a:pathLst>
              <a:path w="13230" h="1139">
                <a:moveTo>
                  <a:pt x="0" y="0"/>
                </a:moveTo>
                <a:lnTo>
                  <a:pt x="13230" y="0"/>
                </a:lnTo>
                <a:lnTo>
                  <a:pt x="1323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666720" y="1438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666720" y="143820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2009520" y="1438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2019240" y="143820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6781680" y="1438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666720" y="1847520"/>
            <a:ext cx="1352880" cy="10080"/>
          </a:xfrm>
          <a:custGeom>
            <a:avLst/>
            <a:gdLst/>
            <a:ahLst/>
            <a:cxn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2019240" y="1847520"/>
            <a:ext cx="4772160" cy="10080"/>
          </a:xfrm>
          <a:custGeom>
            <a:avLst/>
            <a:gdLst/>
            <a:ahLst/>
            <a:cxn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666720" y="18572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2009520" y="18572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6781680" y="18572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666720" y="2276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666720" y="226692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2009520" y="22762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2019240" y="226692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6781680" y="2276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66672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666720" y="268596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2009520" y="26953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2019240" y="2685960"/>
            <a:ext cx="4772160" cy="9720"/>
          </a:xfrm>
          <a:custGeom>
            <a:avLst/>
            <a:gdLst/>
            <a:ahLst/>
            <a:cxnLst/>
            <a:rect l="0" t="0" r="r" b="b"/>
            <a:pathLst>
              <a:path w="13256" h="27">
                <a:moveTo>
                  <a:pt x="0" y="0"/>
                </a:moveTo>
                <a:lnTo>
                  <a:pt x="13256" y="0"/>
                </a:lnTo>
                <a:lnTo>
                  <a:pt x="13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6781680" y="26953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66672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666720" y="3095280"/>
            <a:ext cx="1352880" cy="10080"/>
          </a:xfrm>
          <a:custGeom>
            <a:avLst/>
            <a:gdLst/>
            <a:ahLst/>
            <a:cxn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2009520" y="310500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2019240" y="3095280"/>
            <a:ext cx="4772160" cy="10080"/>
          </a:xfrm>
          <a:custGeom>
            <a:avLst/>
            <a:gdLst/>
            <a:ahLst/>
            <a:cxnLst/>
            <a:rect l="0" t="0" r="r" b="b"/>
            <a:pathLst>
              <a:path w="13256" h="28">
                <a:moveTo>
                  <a:pt x="0" y="0"/>
                </a:moveTo>
                <a:lnTo>
                  <a:pt x="13256" y="0"/>
                </a:lnTo>
                <a:lnTo>
                  <a:pt x="13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6781680" y="310500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666720" y="3504960"/>
            <a:ext cx="1352880" cy="10440"/>
          </a:xfrm>
          <a:custGeom>
            <a:avLst/>
            <a:gdLst/>
            <a:ahLst/>
            <a:cxnLst/>
            <a:rect l="0" t="0" r="r" b="b"/>
            <a:pathLst>
              <a:path w="3758" h="29">
                <a:moveTo>
                  <a:pt x="0" y="0"/>
                </a:moveTo>
                <a:lnTo>
                  <a:pt x="3758" y="0"/>
                </a:lnTo>
                <a:lnTo>
                  <a:pt x="375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2019240" y="3504960"/>
            <a:ext cx="4772160" cy="10440"/>
          </a:xfrm>
          <a:custGeom>
            <a:avLst/>
            <a:gdLst/>
            <a:ahLst/>
            <a:cxnLst/>
            <a:rect l="0" t="0" r="r" b="b"/>
            <a:pathLst>
              <a:path w="13256" h="29">
                <a:moveTo>
                  <a:pt x="0" y="0"/>
                </a:moveTo>
                <a:lnTo>
                  <a:pt x="13256" y="0"/>
                </a:lnTo>
                <a:lnTo>
                  <a:pt x="1325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666720" y="806040"/>
            <a:ext cx="3975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cuatro, y qué conservan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1118880" y="1542600"/>
            <a:ext cx="45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JOIN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799920" y="196200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29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3"/>
                  <a:pt x="1603" y="8"/>
                </a:cubicBezTo>
                <a:cubicBezTo>
                  <a:pt x="1616" y="13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29"/>
                </a:lnTo>
                <a:cubicBezTo>
                  <a:pt x="1668" y="543"/>
                  <a:pt x="1665" y="557"/>
                  <a:pt x="1660" y="570"/>
                </a:cubicBezTo>
                <a:cubicBezTo>
                  <a:pt x="1654" y="584"/>
                  <a:pt x="1647" y="595"/>
                  <a:pt x="1637" y="605"/>
                </a:cubicBezTo>
                <a:cubicBezTo>
                  <a:pt x="1627" y="615"/>
                  <a:pt x="1616" y="622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4"/>
                  <a:pt x="8" y="570"/>
                </a:cubicBezTo>
                <a:cubicBezTo>
                  <a:pt x="3" y="557"/>
                  <a:pt x="0" y="543"/>
                  <a:pt x="0" y="529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3967560" y="1542600"/>
            <a:ext cx="86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Conserva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CuadroTexto 393"/>
          <p:cNvSpPr txBox="1"/>
          <p:nvPr/>
        </p:nvSpPr>
        <p:spPr>
          <a:xfrm>
            <a:off x="857160" y="198324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INNER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799920" y="238104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4"/>
                  <a:pt x="1362" y="21"/>
                  <a:pt x="1372" y="31"/>
                </a:cubicBezTo>
                <a:cubicBezTo>
                  <a:pt x="1382" y="41"/>
                  <a:pt x="1390" y="53"/>
                  <a:pt x="1395" y="66"/>
                </a:cubicBezTo>
                <a:cubicBezTo>
                  <a:pt x="1401" y="79"/>
                  <a:pt x="1403" y="93"/>
                  <a:pt x="1403" y="107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2146680" y="1952280"/>
            <a:ext cx="2660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sólo lo que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coincide en ambas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857160" y="240228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LEFT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799920" y="2790720"/>
            <a:ext cx="600480" cy="228960"/>
          </a:xfrm>
          <a:custGeom>
            <a:avLst/>
            <a:gdLst/>
            <a:ahLst/>
            <a:cxnLst/>
            <a:rect l="0" t="0" r="r" b="b"/>
            <a:pathLst>
              <a:path w="166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562" y="0"/>
                </a:lnTo>
                <a:cubicBezTo>
                  <a:pt x="1576" y="0"/>
                  <a:pt x="1590" y="2"/>
                  <a:pt x="1603" y="8"/>
                </a:cubicBezTo>
                <a:cubicBezTo>
                  <a:pt x="1616" y="13"/>
                  <a:pt x="1627" y="21"/>
                  <a:pt x="1637" y="31"/>
                </a:cubicBezTo>
                <a:cubicBezTo>
                  <a:pt x="1647" y="41"/>
                  <a:pt x="1654" y="52"/>
                  <a:pt x="1660" y="65"/>
                </a:cubicBezTo>
                <a:cubicBezTo>
                  <a:pt x="1665" y="78"/>
                  <a:pt x="1668" y="92"/>
                  <a:pt x="1668" y="106"/>
                </a:cubicBezTo>
                <a:lnTo>
                  <a:pt x="1668" y="530"/>
                </a:lnTo>
                <a:cubicBezTo>
                  <a:pt x="1668" y="544"/>
                  <a:pt x="1665" y="557"/>
                  <a:pt x="1660" y="570"/>
                </a:cubicBezTo>
                <a:cubicBezTo>
                  <a:pt x="1654" y="583"/>
                  <a:pt x="1647" y="595"/>
                  <a:pt x="1637" y="605"/>
                </a:cubicBezTo>
                <a:cubicBezTo>
                  <a:pt x="1627" y="615"/>
                  <a:pt x="1616" y="622"/>
                  <a:pt x="1603" y="628"/>
                </a:cubicBezTo>
                <a:cubicBezTo>
                  <a:pt x="1590" y="633"/>
                  <a:pt x="1576" y="636"/>
                  <a:pt x="156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2146680" y="2371320"/>
            <a:ext cx="3476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todo lo de la izquierda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lo que coincida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CuadroTexto 399"/>
          <p:cNvSpPr txBox="1"/>
          <p:nvPr/>
        </p:nvSpPr>
        <p:spPr>
          <a:xfrm>
            <a:off x="857160" y="2811960"/>
            <a:ext cx="487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RIGHT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799920" y="3200040"/>
            <a:ext cx="1086120" cy="228960"/>
          </a:xfrm>
          <a:custGeom>
            <a:avLst/>
            <a:gdLst/>
            <a:ahLst/>
            <a:cxnLst/>
            <a:rect l="0" t="0" r="r" b="b"/>
            <a:pathLst>
              <a:path w="3017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2911" y="0"/>
                </a:lnTo>
                <a:cubicBezTo>
                  <a:pt x="2925" y="0"/>
                  <a:pt x="2939" y="3"/>
                  <a:pt x="2952" y="9"/>
                </a:cubicBezTo>
                <a:cubicBezTo>
                  <a:pt x="2965" y="14"/>
                  <a:pt x="2976" y="22"/>
                  <a:pt x="2986" y="31"/>
                </a:cubicBezTo>
                <a:cubicBezTo>
                  <a:pt x="2996" y="41"/>
                  <a:pt x="3004" y="53"/>
                  <a:pt x="3009" y="66"/>
                </a:cubicBezTo>
                <a:cubicBezTo>
                  <a:pt x="3015" y="79"/>
                  <a:pt x="3017" y="92"/>
                  <a:pt x="3017" y="106"/>
                </a:cubicBezTo>
                <a:lnTo>
                  <a:pt x="3017" y="531"/>
                </a:lnTo>
                <a:cubicBezTo>
                  <a:pt x="3017" y="545"/>
                  <a:pt x="3015" y="558"/>
                  <a:pt x="3009" y="571"/>
                </a:cubicBezTo>
                <a:cubicBezTo>
                  <a:pt x="3004" y="584"/>
                  <a:pt x="2996" y="596"/>
                  <a:pt x="2986" y="606"/>
                </a:cubicBezTo>
                <a:cubicBezTo>
                  <a:pt x="2976" y="615"/>
                  <a:pt x="2965" y="623"/>
                  <a:pt x="2952" y="628"/>
                </a:cubicBezTo>
                <a:cubicBezTo>
                  <a:pt x="2939" y="634"/>
                  <a:pt x="2925" y="636"/>
                  <a:pt x="2911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6"/>
                </a:cubicBezTo>
                <a:cubicBezTo>
                  <a:pt x="21" y="596"/>
                  <a:pt x="13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2146680" y="2781000"/>
            <a:ext cx="451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lo de la derecha (poco usado: invierte y usa LEFT)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857160" y="3221640"/>
            <a:ext cx="973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FULL OUTER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CuadroTexto 403"/>
          <p:cNvSpPr txBox="1"/>
          <p:nvPr/>
        </p:nvSpPr>
        <p:spPr>
          <a:xfrm>
            <a:off x="2146680" y="3190320"/>
            <a:ext cx="1249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 de ambas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CuadroTexto 4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D25C89-D15B-1E7A-1EAA-668F19B0B1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16"/>
          <a:stretch/>
        </p:blipFill>
        <p:spPr>
          <a:xfrm>
            <a:off x="4400280" y="3504960"/>
            <a:ext cx="6097563" cy="3292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Forma libre 4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Forma libre 4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Forma libre 419"/>
          <p:cNvSpPr/>
          <p:nvPr/>
        </p:nvSpPr>
        <p:spPr>
          <a:xfrm>
            <a:off x="671400" y="15285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Forma libre 420"/>
          <p:cNvSpPr/>
          <p:nvPr/>
        </p:nvSpPr>
        <p:spPr>
          <a:xfrm>
            <a:off x="671400" y="15285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666720" y="40860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666720" y="40860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666720" y="882360"/>
            <a:ext cx="5261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Cardinalidad: cuenta antes y después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866880" y="1708560"/>
            <a:ext cx="6660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visit_occurrence;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-- 30 000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866880" y="197532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count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(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visit_occurrence v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Forma libre 426"/>
          <p:cNvSpPr/>
          <p:nvPr/>
        </p:nvSpPr>
        <p:spPr>
          <a:xfrm>
            <a:off x="914040" y="2943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866880" y="2232360"/>
            <a:ext cx="6879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JOIN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 p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p.person_id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v.person_id;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¿30 000?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1123920" y="2830320"/>
            <a:ext cx="382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1:1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1505520" y="284112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Forma libre 430"/>
          <p:cNvSpPr/>
          <p:nvPr/>
        </p:nvSpPr>
        <p:spPr>
          <a:xfrm>
            <a:off x="914040" y="3342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1734120" y="2830320"/>
            <a:ext cx="2291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mismo número de ﬁlas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1123920" y="3230280"/>
            <a:ext cx="1139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N:1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(visitas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2262960" y="32410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2491560" y="3230280"/>
            <a:ext cx="1021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paciente)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3512160" y="32410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914040" y="3743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3740760" y="3230280"/>
            <a:ext cx="124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conserva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1123920" y="3630600"/>
            <a:ext cx="1131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1:N o N:M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254680" y="3641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2483280" y="3630600"/>
            <a:ext cx="1443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multiplica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1152360" y="425736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4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4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40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CuadroTexto 442"/>
          <p:cNvSpPr txBox="1"/>
          <p:nvPr/>
        </p:nvSpPr>
        <p:spPr>
          <a:xfrm>
            <a:off x="905040" y="4240080"/>
            <a:ext cx="250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CuadroTexto 443"/>
          <p:cNvSpPr txBox="1"/>
          <p:nvPr/>
        </p:nvSpPr>
        <p:spPr>
          <a:xfrm>
            <a:off x="1211760" y="42775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3057480" y="425736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23" y="0"/>
                </a:lnTo>
                <a:cubicBezTo>
                  <a:pt x="3137" y="0"/>
                  <a:pt x="3150" y="3"/>
                  <a:pt x="3163" y="8"/>
                </a:cubicBezTo>
                <a:cubicBezTo>
                  <a:pt x="3176" y="14"/>
                  <a:pt x="3188" y="21"/>
                  <a:pt x="3198" y="31"/>
                </a:cubicBezTo>
                <a:cubicBezTo>
                  <a:pt x="3207" y="41"/>
                  <a:pt x="3215" y="53"/>
                  <a:pt x="3220" y="66"/>
                </a:cubicBezTo>
                <a:cubicBezTo>
                  <a:pt x="3226" y="79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6" y="664"/>
                  <a:pt x="3220" y="677"/>
                </a:cubicBezTo>
                <a:cubicBezTo>
                  <a:pt x="3215" y="690"/>
                  <a:pt x="3207" y="701"/>
                  <a:pt x="3198" y="711"/>
                </a:cubicBezTo>
                <a:cubicBezTo>
                  <a:pt x="3188" y="721"/>
                  <a:pt x="3176" y="729"/>
                  <a:pt x="3163" y="734"/>
                </a:cubicBezTo>
                <a:cubicBezTo>
                  <a:pt x="3150" y="740"/>
                  <a:pt x="3137" y="742"/>
                  <a:pt x="3123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1971000" y="4240080"/>
            <a:ext cx="1084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tuviera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CuadroTexto 446"/>
          <p:cNvSpPr txBox="1"/>
          <p:nvPr/>
        </p:nvSpPr>
        <p:spPr>
          <a:xfrm>
            <a:off x="3112200" y="42775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person_id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4222440" y="4240080"/>
            <a:ext cx="6918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duplicado, ese join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duplicaría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las visitas de ese paciente. Y todos tus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905040" y="4582800"/>
            <a:ext cx="4916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conteos posteriores estarían mal, sin ningún error.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666720" y="5192640"/>
            <a:ext cx="6249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Regla: cuenta ﬁlas antes y después de cada join.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Siempre.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orma libre 4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CuadroTexto 495"/>
          <p:cNvSpPr txBox="1"/>
          <p:nvPr/>
        </p:nvSpPr>
        <p:spPr>
          <a:xfrm>
            <a:off x="3583080" y="3063960"/>
            <a:ext cx="5138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Rendimiento básico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Forma libre 4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0" y="32796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671400" y="17380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71400" y="17380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7"/>
                </a:lnTo>
                <a:cubicBezTo>
                  <a:pt x="30137" y="2171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1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90480" y="4381200"/>
            <a:ext cx="10834920" cy="1410120"/>
          </a:xfrm>
          <a:custGeom>
            <a:avLst/>
            <a:gdLst/>
            <a:ahLst/>
            <a:cxnLst/>
            <a:rect l="0" t="0" r="r" b="b"/>
            <a:pathLst>
              <a:path w="30097" h="3917">
                <a:moveTo>
                  <a:pt x="0" y="3917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3"/>
                  <a:pt x="30043" y="39"/>
                  <a:pt x="30051" y="47"/>
                </a:cubicBezTo>
                <a:cubicBezTo>
                  <a:pt x="30058" y="54"/>
                  <a:pt x="30065" y="62"/>
                  <a:pt x="30070" y="71"/>
                </a:cubicBezTo>
                <a:cubicBezTo>
                  <a:pt x="30076" y="80"/>
                  <a:pt x="30081" y="89"/>
                  <a:pt x="30085" y="98"/>
                </a:cubicBezTo>
                <a:cubicBezTo>
                  <a:pt x="30089" y="108"/>
                  <a:pt x="30092" y="118"/>
                  <a:pt x="30094" y="128"/>
                </a:cubicBezTo>
                <a:cubicBezTo>
                  <a:pt x="30096" y="138"/>
                  <a:pt x="30097" y="149"/>
                  <a:pt x="30097" y="159"/>
                </a:cubicBezTo>
                <a:lnTo>
                  <a:pt x="30097" y="3758"/>
                </a:lnTo>
                <a:cubicBezTo>
                  <a:pt x="30097" y="3769"/>
                  <a:pt x="30096" y="3779"/>
                  <a:pt x="30094" y="3789"/>
                </a:cubicBezTo>
                <a:cubicBezTo>
                  <a:pt x="30092" y="3800"/>
                  <a:pt x="30089" y="3810"/>
                  <a:pt x="30085" y="3819"/>
                </a:cubicBezTo>
                <a:cubicBezTo>
                  <a:pt x="30081" y="3829"/>
                  <a:pt x="30076" y="3838"/>
                  <a:pt x="30070" y="3847"/>
                </a:cubicBezTo>
                <a:cubicBezTo>
                  <a:pt x="30065" y="3855"/>
                  <a:pt x="30058" y="3863"/>
                  <a:pt x="30051" y="3871"/>
                </a:cubicBezTo>
                <a:cubicBezTo>
                  <a:pt x="30043" y="3878"/>
                  <a:pt x="30035" y="3885"/>
                  <a:pt x="30027" y="3890"/>
                </a:cubicBezTo>
                <a:cubicBezTo>
                  <a:pt x="30018" y="3896"/>
                  <a:pt x="30009" y="3901"/>
                  <a:pt x="29999" y="3905"/>
                </a:cubicBezTo>
                <a:cubicBezTo>
                  <a:pt x="29989" y="3909"/>
                  <a:pt x="29980" y="3912"/>
                  <a:pt x="29969" y="3914"/>
                </a:cubicBezTo>
                <a:cubicBezTo>
                  <a:pt x="29959" y="3916"/>
                  <a:pt x="29949" y="3917"/>
                  <a:pt x="29938" y="3917"/>
                </a:cubicBezTo>
                <a:lnTo>
                  <a:pt x="0" y="3917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66720" y="4381200"/>
            <a:ext cx="47880" cy="1410120"/>
          </a:xfrm>
          <a:custGeom>
            <a:avLst/>
            <a:gdLst/>
            <a:ahLst/>
            <a:cxnLst/>
            <a:rect l="0" t="0" r="r" b="b"/>
            <a:pathLst>
              <a:path w="133" h="3917">
                <a:moveTo>
                  <a:pt x="0" y="0"/>
                </a:moveTo>
                <a:lnTo>
                  <a:pt x="133" y="0"/>
                </a:lnTo>
                <a:lnTo>
                  <a:pt x="133" y="3917"/>
                </a:lnTo>
                <a:lnTo>
                  <a:pt x="0" y="391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666720" y="1085760"/>
            <a:ext cx="1476720" cy="381240"/>
          </a:xfrm>
          <a:custGeom>
            <a:avLst/>
            <a:gdLst/>
            <a:ahLst/>
            <a:cxnLst/>
            <a:rect l="0" t="0" r="r" b="b"/>
            <a:pathLst>
              <a:path w="4102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996" y="0"/>
                </a:lnTo>
                <a:cubicBezTo>
                  <a:pt x="4010" y="0"/>
                  <a:pt x="4023" y="2"/>
                  <a:pt x="4036" y="8"/>
                </a:cubicBezTo>
                <a:cubicBezTo>
                  <a:pt x="4049" y="13"/>
                  <a:pt x="4061" y="21"/>
                  <a:pt x="4071" y="31"/>
                </a:cubicBezTo>
                <a:cubicBezTo>
                  <a:pt x="4081" y="41"/>
                  <a:pt x="4088" y="52"/>
                  <a:pt x="4094" y="65"/>
                </a:cubicBezTo>
                <a:cubicBezTo>
                  <a:pt x="4099" y="78"/>
                  <a:pt x="4102" y="92"/>
                  <a:pt x="4102" y="106"/>
                </a:cubicBezTo>
                <a:lnTo>
                  <a:pt x="4102" y="953"/>
                </a:lnTo>
                <a:cubicBezTo>
                  <a:pt x="4102" y="967"/>
                  <a:pt x="4099" y="981"/>
                  <a:pt x="4094" y="994"/>
                </a:cubicBezTo>
                <a:cubicBezTo>
                  <a:pt x="4088" y="1007"/>
                  <a:pt x="4081" y="1018"/>
                  <a:pt x="4071" y="1028"/>
                </a:cubicBezTo>
                <a:cubicBezTo>
                  <a:pt x="4061" y="1038"/>
                  <a:pt x="4049" y="1046"/>
                  <a:pt x="4036" y="1051"/>
                </a:cubicBezTo>
                <a:cubicBezTo>
                  <a:pt x="4023" y="1056"/>
                  <a:pt x="4010" y="1059"/>
                  <a:pt x="3996" y="1059"/>
                </a:cubicBezTo>
                <a:lnTo>
                  <a:pt x="105" y="1059"/>
                </a:lnTo>
                <a:cubicBezTo>
                  <a:pt x="91" y="1059"/>
                  <a:pt x="78" y="1056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8"/>
                  <a:pt x="13" y="1007"/>
                  <a:pt x="8" y="994"/>
                </a:cubicBezTo>
                <a:cubicBezTo>
                  <a:pt x="2" y="981"/>
                  <a:pt x="0" y="967"/>
                  <a:pt x="0" y="953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CuadroTexto 507"/>
          <p:cNvSpPr txBox="1"/>
          <p:nvPr/>
        </p:nvSpPr>
        <p:spPr>
          <a:xfrm>
            <a:off x="731520" y="1090080"/>
            <a:ext cx="13687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EXPLAIN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2138400" y="1082520"/>
            <a:ext cx="1792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y los índices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866880" y="1918080"/>
            <a:ext cx="1638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EXPLAIN ANALYZE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914040" y="2895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866880" y="2184840"/>
            <a:ext cx="6332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*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condition_occurrence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WHERE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person_id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=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4242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;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Forma libre 512"/>
          <p:cNvSpPr/>
          <p:nvPr/>
        </p:nvSpPr>
        <p:spPr>
          <a:xfrm>
            <a:off x="914040" y="3295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1123920" y="2782800"/>
            <a:ext cx="5559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Seq scan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leer la tabla entera ·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Index scan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= ir directo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1123920" y="3182760"/>
            <a:ext cx="10120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índice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una estructura auxiliar que acelera búsquedas y ﬁltros, a costa de espacio y de escrituras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914040" y="40384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1123920" y="3525840"/>
            <a:ext cx="106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más lentas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5343480" y="394308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4" y="41"/>
                  <a:pt x="1601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2" y="729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1123920" y="3925800"/>
            <a:ext cx="4222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Candidatos naturales: las columnas de los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CuadroTexto 519"/>
          <p:cNvSpPr txBox="1"/>
          <p:nvPr/>
        </p:nvSpPr>
        <p:spPr>
          <a:xfrm>
            <a:off x="5460120" y="39628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JOIN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6819840" y="394308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4"/>
                  <a:pt x="1891" y="21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29" y="79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0"/>
                  <a:pt x="1929" y="664"/>
                  <a:pt x="1924" y="677"/>
                </a:cubicBezTo>
                <a:cubicBezTo>
                  <a:pt x="1919" y="690"/>
                  <a:pt x="1911" y="701"/>
                  <a:pt x="1901" y="711"/>
                </a:cubicBezTo>
                <a:cubicBezTo>
                  <a:pt x="1891" y="721"/>
                  <a:pt x="1880" y="729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5927760" y="3925800"/>
            <a:ext cx="88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de los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CuadroTexto 522"/>
          <p:cNvSpPr txBox="1"/>
          <p:nvPr/>
        </p:nvSpPr>
        <p:spPr>
          <a:xfrm>
            <a:off x="6874200" y="39628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WHERE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7516440" y="3925800"/>
            <a:ext cx="109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frecuentes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885960" y="4535280"/>
            <a:ext cx="9988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un motor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columnar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como DuckDB los índices importan mucho menos: lee sólo las columnas 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885960" y="4878360"/>
            <a:ext cx="10196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pides y comprime. Por eso el mismo experimento da resultados distintos según el motor — y por eso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885960" y="5221080"/>
            <a:ext cx="3531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laboratorio pide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medir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suponer.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CuadroTexto 5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Forma libre 5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1123920" y="3390840"/>
            <a:ext cx="1047960" cy="266760"/>
          </a:xfrm>
          <a:custGeom>
            <a:avLst/>
            <a:gdLst/>
            <a:ahLst/>
            <a:cxnLst/>
            <a:rect l="0" t="0" r="r" b="b"/>
            <a:pathLst>
              <a:path w="2911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1"/>
                  <a:pt x="2911" y="105"/>
                </a:cubicBezTo>
                <a:lnTo>
                  <a:pt x="2911" y="636"/>
                </a:lnTo>
                <a:cubicBezTo>
                  <a:pt x="2911" y="650"/>
                  <a:pt x="2908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0"/>
                  <a:pt x="2859" y="728"/>
                  <a:pt x="2846" y="733"/>
                </a:cubicBezTo>
                <a:cubicBezTo>
                  <a:pt x="2833" y="739"/>
                  <a:pt x="2819" y="741"/>
                  <a:pt x="2805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CuadroTexto 546"/>
          <p:cNvSpPr txBox="1"/>
          <p:nvPr/>
        </p:nvSpPr>
        <p:spPr>
          <a:xfrm>
            <a:off x="869760" y="3373200"/>
            <a:ext cx="256480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1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CuadroTexto 547"/>
          <p:cNvSpPr txBox="1"/>
          <p:nvPr/>
        </p:nvSpPr>
        <p:spPr>
          <a:xfrm>
            <a:off x="1181160" y="341064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count(*)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3628800" y="3390840"/>
            <a:ext cx="3038760" cy="266760"/>
          </a:xfrm>
          <a:custGeom>
            <a:avLst/>
            <a:gdLst/>
            <a:ahLst/>
            <a:cxnLst/>
            <a:rect l="0" t="0" r="r" b="b"/>
            <a:pathLst>
              <a:path w="8441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335" y="0"/>
                </a:lnTo>
                <a:cubicBezTo>
                  <a:pt x="8350" y="0"/>
                  <a:pt x="8363" y="2"/>
                  <a:pt x="8376" y="8"/>
                </a:cubicBezTo>
                <a:cubicBezTo>
                  <a:pt x="8389" y="13"/>
                  <a:pt x="8400" y="21"/>
                  <a:pt x="8410" y="31"/>
                </a:cubicBezTo>
                <a:cubicBezTo>
                  <a:pt x="8420" y="41"/>
                  <a:pt x="8428" y="52"/>
                  <a:pt x="8433" y="65"/>
                </a:cubicBezTo>
                <a:cubicBezTo>
                  <a:pt x="8439" y="78"/>
                  <a:pt x="8441" y="91"/>
                  <a:pt x="8441" y="105"/>
                </a:cubicBezTo>
                <a:lnTo>
                  <a:pt x="8441" y="636"/>
                </a:lnTo>
                <a:cubicBezTo>
                  <a:pt x="8441" y="650"/>
                  <a:pt x="8439" y="663"/>
                  <a:pt x="8433" y="676"/>
                </a:cubicBezTo>
                <a:cubicBezTo>
                  <a:pt x="8428" y="689"/>
                  <a:pt x="8420" y="701"/>
                  <a:pt x="8410" y="711"/>
                </a:cubicBezTo>
                <a:cubicBezTo>
                  <a:pt x="8400" y="720"/>
                  <a:pt x="8389" y="728"/>
                  <a:pt x="8376" y="733"/>
                </a:cubicBezTo>
                <a:cubicBezTo>
                  <a:pt x="8363" y="739"/>
                  <a:pt x="8350" y="741"/>
                  <a:pt x="8335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CuadroTexto 549"/>
          <p:cNvSpPr txBox="1"/>
          <p:nvPr/>
        </p:nvSpPr>
        <p:spPr>
          <a:xfrm>
            <a:off x="2174400" y="3373200"/>
            <a:ext cx="1452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cuenta ﬁlas;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CuadroTexto 550"/>
          <p:cNvSpPr txBox="1"/>
          <p:nvPr/>
        </p:nvSpPr>
        <p:spPr>
          <a:xfrm>
            <a:off x="3683520" y="3410640"/>
            <a:ext cx="293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count(DISTINCT person_id)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CuadroTexto 551"/>
          <p:cNvSpPr txBox="1"/>
          <p:nvPr/>
        </p:nvSpPr>
        <p:spPr>
          <a:xfrm>
            <a:off x="6665400" y="3373200"/>
            <a:ext cx="4848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cuenta pacientes.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datos clínicos casi nunca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CuadroTexto 552"/>
          <p:cNvSpPr txBox="1"/>
          <p:nvPr/>
        </p:nvSpPr>
        <p:spPr>
          <a:xfrm>
            <a:off x="1123920" y="3716280"/>
            <a:ext cx="1008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coinciden.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CuadroTexto 553"/>
          <p:cNvSpPr txBox="1"/>
          <p:nvPr/>
        </p:nvSpPr>
        <p:spPr>
          <a:xfrm>
            <a:off x="869760" y="4211640"/>
            <a:ext cx="1062117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dirty="0">
                <a:solidFill>
                  <a:srgbClr val="4A4A4A"/>
                </a:solidFill>
                <a:latin typeface="HelveticaNeue"/>
                <a:ea typeface="HelveticaNeue"/>
              </a:rPr>
              <a:t>2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Cuenta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ﬁlas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antes y después de cada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join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join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multiplica no lanza ningún error: sólo produce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CuadroTexto 554"/>
          <p:cNvSpPr txBox="1"/>
          <p:nvPr/>
        </p:nvSpPr>
        <p:spPr>
          <a:xfrm>
            <a:off x="1123920" y="4554360"/>
            <a:ext cx="323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números equivocados y creíbles.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CuadroTexto 55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CuadroTexto 55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CuadroTexto 557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Forma libre 5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CuadroTexto 561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CuadroTexto 562"/>
          <p:cNvSpPr txBox="1"/>
          <p:nvPr/>
        </p:nvSpPr>
        <p:spPr>
          <a:xfrm>
            <a:off x="666720" y="2717280"/>
            <a:ext cx="42278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Tu propia base clínica, y 15 preguntas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CuadroTexto 563"/>
          <p:cNvSpPr txBox="1"/>
          <p:nvPr/>
        </p:nvSpPr>
        <p:spPr>
          <a:xfrm>
            <a:off x="666720" y="3230280"/>
            <a:ext cx="1055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Generar pacientes con Synthea, elegir motor y montar la base, responder preguntas de diﬁcultad creciente,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CuadroTexto 564"/>
          <p:cNvSpPr txBox="1"/>
          <p:nvPr/>
        </p:nvSpPr>
        <p:spPr>
          <a:xfrm>
            <a:off x="666720" y="3573360"/>
            <a:ext cx="705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provocar y corregir un join que multiplica, y medir el efecto de un índice.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5000400" y="4086000"/>
            <a:ext cx="1629000" cy="267120"/>
          </a:xfrm>
          <a:custGeom>
            <a:avLst/>
            <a:gdLst/>
            <a:ahLst/>
            <a:cxnLst/>
            <a:rect l="0" t="0" r="r" b="b"/>
            <a:pathLst>
              <a:path w="452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420" y="0"/>
                </a:lnTo>
                <a:cubicBezTo>
                  <a:pt x="4434" y="0"/>
                  <a:pt x="4447" y="3"/>
                  <a:pt x="4460" y="8"/>
                </a:cubicBezTo>
                <a:cubicBezTo>
                  <a:pt x="4473" y="14"/>
                  <a:pt x="4485" y="21"/>
                  <a:pt x="4494" y="31"/>
                </a:cubicBezTo>
                <a:cubicBezTo>
                  <a:pt x="4504" y="41"/>
                  <a:pt x="4512" y="52"/>
                  <a:pt x="4517" y="65"/>
                </a:cubicBezTo>
                <a:cubicBezTo>
                  <a:pt x="4523" y="78"/>
                  <a:pt x="4525" y="92"/>
                  <a:pt x="4525" y="106"/>
                </a:cubicBezTo>
                <a:lnTo>
                  <a:pt x="4525" y="636"/>
                </a:lnTo>
                <a:cubicBezTo>
                  <a:pt x="4525" y="650"/>
                  <a:pt x="4523" y="664"/>
                  <a:pt x="4517" y="677"/>
                </a:cubicBezTo>
                <a:cubicBezTo>
                  <a:pt x="4512" y="690"/>
                  <a:pt x="4504" y="701"/>
                  <a:pt x="4494" y="711"/>
                </a:cubicBezTo>
                <a:cubicBezTo>
                  <a:pt x="4485" y="721"/>
                  <a:pt x="4473" y="729"/>
                  <a:pt x="4460" y="734"/>
                </a:cubicBezTo>
                <a:cubicBezTo>
                  <a:pt x="4447" y="739"/>
                  <a:pt x="4434" y="742"/>
                  <a:pt x="4420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CuadroTexto 566"/>
          <p:cNvSpPr txBox="1"/>
          <p:nvPr/>
        </p:nvSpPr>
        <p:spPr>
          <a:xfrm>
            <a:off x="666720" y="4068720"/>
            <a:ext cx="4342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script de carga reproducible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CuadroTexto 567"/>
          <p:cNvSpPr txBox="1"/>
          <p:nvPr/>
        </p:nvSpPr>
        <p:spPr>
          <a:xfrm>
            <a:off x="5053320" y="41058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consultas.sql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666720" y="4581360"/>
            <a:ext cx="4210200" cy="267120"/>
          </a:xfrm>
          <a:custGeom>
            <a:avLst/>
            <a:gdLst/>
            <a:ahLst/>
            <a:cxnLst/>
            <a:rect l="0" t="0" r="r" b="b"/>
            <a:pathLst>
              <a:path w="1169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1589" y="0"/>
                </a:lnTo>
                <a:cubicBezTo>
                  <a:pt x="11603" y="0"/>
                  <a:pt x="11617" y="3"/>
                  <a:pt x="11630" y="8"/>
                </a:cubicBezTo>
                <a:cubicBezTo>
                  <a:pt x="11643" y="13"/>
                  <a:pt x="11654" y="21"/>
                  <a:pt x="11664" y="31"/>
                </a:cubicBezTo>
                <a:cubicBezTo>
                  <a:pt x="11674" y="41"/>
                  <a:pt x="11682" y="52"/>
                  <a:pt x="11687" y="65"/>
                </a:cubicBezTo>
                <a:cubicBezTo>
                  <a:pt x="11692" y="78"/>
                  <a:pt x="11695" y="92"/>
                  <a:pt x="11695" y="106"/>
                </a:cubicBezTo>
                <a:lnTo>
                  <a:pt x="11695" y="636"/>
                </a:lnTo>
                <a:cubicBezTo>
                  <a:pt x="11695" y="650"/>
                  <a:pt x="11692" y="663"/>
                  <a:pt x="11687" y="676"/>
                </a:cubicBezTo>
                <a:cubicBezTo>
                  <a:pt x="11682" y="689"/>
                  <a:pt x="11674" y="701"/>
                  <a:pt x="11664" y="711"/>
                </a:cubicBezTo>
                <a:cubicBezTo>
                  <a:pt x="11654" y="721"/>
                  <a:pt x="11643" y="728"/>
                  <a:pt x="11630" y="734"/>
                </a:cubicBezTo>
                <a:cubicBezTo>
                  <a:pt x="11617" y="739"/>
                  <a:pt x="11603" y="742"/>
                  <a:pt x="1158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CuadroTexto 569"/>
          <p:cNvSpPr txBox="1"/>
          <p:nvPr/>
        </p:nvSpPr>
        <p:spPr>
          <a:xfrm>
            <a:off x="6631560" y="4068720"/>
            <a:ext cx="1249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comentado.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CuadroTexto 5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CuadroTexto 5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CuadroTexto 5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Forma libre 5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1563</Words>
  <Application>Microsoft Macintosh PowerPoint</Application>
  <PresentationFormat>Panorámica</PresentationFormat>
  <Paragraphs>235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7</cp:revision>
  <dcterms:modified xsi:type="dcterms:W3CDTF">2026-09-08T15:00:27Z</dcterms:modified>
  <dc:language>es-ES</dc:language>
</cp:coreProperties>
</file>