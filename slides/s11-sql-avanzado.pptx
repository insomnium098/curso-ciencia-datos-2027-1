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</p:sldIdLst>
  <p:sldSz cx="12192000" cy="6858000"/>
  <p:notesSz cx="7772400" cy="100584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bre 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Forma libre 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Forma libre 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Forma libre 8"/>
          <p:cNvSpPr/>
          <p:nvPr/>
        </p:nvSpPr>
        <p:spPr>
          <a:xfrm>
            <a:off x="666720" y="2904840"/>
            <a:ext cx="10858680" cy="38520"/>
          </a:xfrm>
          <a:custGeom>
            <a:avLst/>
            <a:gdLst/>
            <a:ahLst/>
            <a:cxnLst/>
            <a:rect l="0" t="0" r="r" b="b"/>
            <a:pathLst>
              <a:path w="30163" h="107">
                <a:moveTo>
                  <a:pt x="0" y="0"/>
                </a:moveTo>
                <a:lnTo>
                  <a:pt x="30163" y="0"/>
                </a:lnTo>
                <a:lnTo>
                  <a:pt x="30163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666720" y="2203920"/>
            <a:ext cx="2050920" cy="56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37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Sesión 11</a:t>
            </a:r>
            <a:endParaRPr lang="es-ES" sz="3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666720" y="3187440"/>
            <a:ext cx="77090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SQL Avanzado: CTEs, Window Functions y Subqueries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666720" y="3868560"/>
            <a:ext cx="53460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Bloque III — SQL y datos clínicos estandarizados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666720" y="4363920"/>
            <a:ext cx="6235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Dr. Antonio Daniel Martínez Gutiérrez Semestre 2027-1 · 1:30 h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orma libre 1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Forma libre 1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Forma libre 1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666720" y="2101680"/>
            <a:ext cx="30488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Objetivos de la sesión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666720" y="2773080"/>
            <a:ext cx="3854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Al terminar esta sesión serás capaz de: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869760" y="3268440"/>
            <a:ext cx="72741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Descomponer consultas complejas en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CTEs legibles y encadenadas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CuadroTexto 21"/>
          <p:cNvSpPr txBox="1"/>
          <p:nvPr/>
        </p:nvSpPr>
        <p:spPr>
          <a:xfrm>
            <a:off x="869760" y="3668400"/>
            <a:ext cx="73252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Resolver problemas de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secuencia temporal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con funciones de ventana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CuadroTexto 22"/>
          <p:cNvSpPr txBox="1"/>
          <p:nvPr/>
        </p:nvSpPr>
        <p:spPr>
          <a:xfrm>
            <a:off x="869760" y="4068720"/>
            <a:ext cx="5510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Elegir entre subquery, CTE, join y ventana con criterio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CuadroTexto 23"/>
          <p:cNvSpPr txBox="1"/>
          <p:nvPr/>
        </p:nvSpPr>
        <p:spPr>
          <a:xfrm>
            <a:off x="869760" y="4468680"/>
            <a:ext cx="58057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Construir episodios de tratamiento con </a:t>
            </a:r>
            <a:r>
              <a:rPr lang="es-ES" sz="1800" b="0" i="1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gaps and islands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CuadroTexto 2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CuadroTexto 26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orma libre 2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Forma libre 2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Forma libre 29"/>
          <p:cNvSpPr/>
          <p:nvPr/>
        </p:nvSpPr>
        <p:spPr>
          <a:xfrm>
            <a:off x="0" y="306879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Forma libre 30"/>
          <p:cNvSpPr/>
          <p:nvPr/>
        </p:nvSpPr>
        <p:spPr>
          <a:xfrm>
            <a:off x="666720" y="5114880"/>
            <a:ext cx="10858680" cy="571680"/>
          </a:xfrm>
          <a:custGeom>
            <a:avLst/>
            <a:gdLst/>
            <a:ahLst/>
            <a:cxnLst/>
            <a:rect l="0" t="0" r="r" b="b"/>
            <a:pathLst>
              <a:path w="30163" h="1588">
                <a:moveTo>
                  <a:pt x="0" y="0"/>
                </a:moveTo>
                <a:lnTo>
                  <a:pt x="30163" y="0"/>
                </a:lnTo>
                <a:lnTo>
                  <a:pt x="3016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Forma libre 31"/>
          <p:cNvSpPr/>
          <p:nvPr/>
        </p:nvSpPr>
        <p:spPr>
          <a:xfrm>
            <a:off x="666720" y="5114880"/>
            <a:ext cx="47880" cy="571680"/>
          </a:xfrm>
          <a:custGeom>
            <a:avLst/>
            <a:gdLst/>
            <a:ahLst/>
            <a:cxnLst/>
            <a:rect l="0" t="0" r="r" b="b"/>
            <a:pathLst>
              <a:path w="133" h="1588">
                <a:moveTo>
                  <a:pt x="0" y="0"/>
                </a:moveTo>
                <a:lnTo>
                  <a:pt x="133" y="0"/>
                </a:lnTo>
                <a:lnTo>
                  <a:pt x="13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CuadroTexto 32"/>
          <p:cNvSpPr txBox="1"/>
          <p:nvPr/>
        </p:nvSpPr>
        <p:spPr>
          <a:xfrm>
            <a:off x="666720" y="1187280"/>
            <a:ext cx="10832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Agenda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869760" y="1858680"/>
            <a:ext cx="4629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El problema: consultas que nadie puede leer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CuadroTexto 34"/>
          <p:cNvSpPr txBox="1"/>
          <p:nvPr/>
        </p:nvSpPr>
        <p:spPr>
          <a:xfrm>
            <a:off x="869760" y="2259000"/>
            <a:ext cx="2752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CTEs: nombrar los pasos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Forma libre 35"/>
          <p:cNvSpPr/>
          <p:nvPr/>
        </p:nvSpPr>
        <p:spPr>
          <a:xfrm>
            <a:off x="2466720" y="2676240"/>
            <a:ext cx="819720" cy="267120"/>
          </a:xfrm>
          <a:custGeom>
            <a:avLst/>
            <a:gdLst/>
            <a:ahLst/>
            <a:cxnLst/>
            <a:rect l="0" t="0" r="r" b="b"/>
            <a:pathLst>
              <a:path w="2277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2171" y="0"/>
                </a:lnTo>
                <a:cubicBezTo>
                  <a:pt x="2185" y="0"/>
                  <a:pt x="2198" y="3"/>
                  <a:pt x="2211" y="8"/>
                </a:cubicBezTo>
                <a:cubicBezTo>
                  <a:pt x="2224" y="14"/>
                  <a:pt x="2236" y="21"/>
                  <a:pt x="2246" y="31"/>
                </a:cubicBezTo>
                <a:cubicBezTo>
                  <a:pt x="2256" y="41"/>
                  <a:pt x="2263" y="53"/>
                  <a:pt x="2269" y="66"/>
                </a:cubicBezTo>
                <a:cubicBezTo>
                  <a:pt x="2274" y="79"/>
                  <a:pt x="2277" y="92"/>
                  <a:pt x="2277" y="106"/>
                </a:cubicBezTo>
                <a:lnTo>
                  <a:pt x="2277" y="636"/>
                </a:lnTo>
                <a:cubicBezTo>
                  <a:pt x="2277" y="650"/>
                  <a:pt x="2274" y="664"/>
                  <a:pt x="2269" y="677"/>
                </a:cubicBezTo>
                <a:cubicBezTo>
                  <a:pt x="2263" y="690"/>
                  <a:pt x="2256" y="701"/>
                  <a:pt x="2246" y="711"/>
                </a:cubicBezTo>
                <a:cubicBezTo>
                  <a:pt x="2236" y="721"/>
                  <a:pt x="2224" y="729"/>
                  <a:pt x="2211" y="734"/>
                </a:cubicBezTo>
                <a:cubicBezTo>
                  <a:pt x="2198" y="739"/>
                  <a:pt x="2185" y="742"/>
                  <a:pt x="2171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CuadroTexto 36"/>
          <p:cNvSpPr txBox="1"/>
          <p:nvPr/>
        </p:nvSpPr>
        <p:spPr>
          <a:xfrm>
            <a:off x="869760" y="2658960"/>
            <a:ext cx="16012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Subqueries y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CuadroTexto 37"/>
          <p:cNvSpPr txBox="1"/>
          <p:nvPr/>
        </p:nvSpPr>
        <p:spPr>
          <a:xfrm>
            <a:off x="2527560" y="2696400"/>
            <a:ext cx="7052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EXISTS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CuadroTexto 38"/>
          <p:cNvSpPr txBox="1"/>
          <p:nvPr/>
        </p:nvSpPr>
        <p:spPr>
          <a:xfrm>
            <a:off x="869760" y="3058920"/>
            <a:ext cx="3697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Funciones de ventana: el concepto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CuadroTexto 39"/>
          <p:cNvSpPr txBox="1"/>
          <p:nvPr/>
        </p:nvSpPr>
        <p:spPr>
          <a:xfrm>
            <a:off x="869760" y="3458880"/>
            <a:ext cx="2627322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5. Funciones más usadas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CuadroTexto 41"/>
          <p:cNvSpPr txBox="1"/>
          <p:nvPr/>
        </p:nvSpPr>
        <p:spPr>
          <a:xfrm>
            <a:off x="869760" y="3861215"/>
            <a:ext cx="3079048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6. Patrones clínicos resueltos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CuadroTexto 42"/>
          <p:cNvSpPr txBox="1"/>
          <p:nvPr/>
        </p:nvSpPr>
        <p:spPr>
          <a:xfrm>
            <a:off x="899841" y="4227955"/>
            <a:ext cx="2686569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dirty="0">
                <a:solidFill>
                  <a:srgbClr val="4A4A4A"/>
                </a:solidFill>
                <a:latin typeface="HelveticaNeue"/>
                <a:ea typeface="HelveticaNeue"/>
              </a:rPr>
              <a:t>7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 Organizar SQL analítico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CuadroTexto 43"/>
          <p:cNvSpPr txBox="1"/>
          <p:nvPr/>
        </p:nvSpPr>
        <p:spPr>
          <a:xfrm>
            <a:off x="905040" y="5268600"/>
            <a:ext cx="63345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Laboratorio: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analítica longitudinal sobre tu base de la sesión 10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CuadroTexto 4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CuadroTexto 4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CuadroTexto 46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Forma libre 4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Forma libre 4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Forma libre 4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2251440" y="3063960"/>
            <a:ext cx="786564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1. Consultas que nadie puede leer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CuadroTexto 5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CuadroTexto 5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CuadroTexto 53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Forma libre 5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Forma libre 5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Forma libre 5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Forma libre 57"/>
          <p:cNvSpPr/>
          <p:nvPr/>
        </p:nvSpPr>
        <p:spPr>
          <a:xfrm>
            <a:off x="671400" y="1766880"/>
            <a:ext cx="10849320" cy="2419560"/>
          </a:xfrm>
          <a:custGeom>
            <a:avLst/>
            <a:gdLst/>
            <a:ahLst/>
            <a:cxnLst/>
            <a:rect l="0" t="0" r="r" b="b"/>
            <a:pathLst>
              <a:path w="30137" h="6721">
                <a:moveTo>
                  <a:pt x="0" y="6522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6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8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6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6522"/>
                </a:lnTo>
                <a:cubicBezTo>
                  <a:pt x="30137" y="6536"/>
                  <a:pt x="30136" y="6548"/>
                  <a:pt x="30133" y="6561"/>
                </a:cubicBezTo>
                <a:cubicBezTo>
                  <a:pt x="30130" y="6574"/>
                  <a:pt x="30127" y="6586"/>
                  <a:pt x="30122" y="6598"/>
                </a:cubicBezTo>
                <a:cubicBezTo>
                  <a:pt x="30117" y="6610"/>
                  <a:pt x="30111" y="6622"/>
                  <a:pt x="30103" y="6633"/>
                </a:cubicBezTo>
                <a:cubicBezTo>
                  <a:pt x="30096" y="6644"/>
                  <a:pt x="30088" y="6654"/>
                  <a:pt x="30079" y="6663"/>
                </a:cubicBezTo>
                <a:cubicBezTo>
                  <a:pt x="30070" y="6672"/>
                  <a:pt x="30059" y="6680"/>
                  <a:pt x="30049" y="6687"/>
                </a:cubicBezTo>
                <a:cubicBezTo>
                  <a:pt x="30038" y="6695"/>
                  <a:pt x="30026" y="6701"/>
                  <a:pt x="30014" y="6706"/>
                </a:cubicBezTo>
                <a:cubicBezTo>
                  <a:pt x="30002" y="6711"/>
                  <a:pt x="29990" y="6715"/>
                  <a:pt x="29977" y="6717"/>
                </a:cubicBezTo>
                <a:cubicBezTo>
                  <a:pt x="29964" y="6720"/>
                  <a:pt x="29951" y="6721"/>
                  <a:pt x="29938" y="6721"/>
                </a:cubicBezTo>
                <a:lnTo>
                  <a:pt x="198" y="6721"/>
                </a:lnTo>
                <a:cubicBezTo>
                  <a:pt x="185" y="6721"/>
                  <a:pt x="172" y="6720"/>
                  <a:pt x="160" y="6717"/>
                </a:cubicBezTo>
                <a:cubicBezTo>
                  <a:pt x="147" y="6715"/>
                  <a:pt x="134" y="6711"/>
                  <a:pt x="122" y="6706"/>
                </a:cubicBezTo>
                <a:cubicBezTo>
                  <a:pt x="110" y="6701"/>
                  <a:pt x="99" y="6695"/>
                  <a:pt x="88" y="6687"/>
                </a:cubicBezTo>
                <a:cubicBezTo>
                  <a:pt x="77" y="6680"/>
                  <a:pt x="67" y="6672"/>
                  <a:pt x="58" y="6663"/>
                </a:cubicBezTo>
                <a:cubicBezTo>
                  <a:pt x="49" y="6654"/>
                  <a:pt x="40" y="6644"/>
                  <a:pt x="33" y="6633"/>
                </a:cubicBezTo>
                <a:cubicBezTo>
                  <a:pt x="26" y="6622"/>
                  <a:pt x="20" y="6610"/>
                  <a:pt x="15" y="6598"/>
                </a:cubicBezTo>
                <a:cubicBezTo>
                  <a:pt x="10" y="6586"/>
                  <a:pt x="6" y="6574"/>
                  <a:pt x="4" y="6561"/>
                </a:cubicBezTo>
                <a:cubicBezTo>
                  <a:pt x="1" y="6548"/>
                  <a:pt x="0" y="6536"/>
                  <a:pt x="0" y="652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Forma libre 58"/>
          <p:cNvSpPr/>
          <p:nvPr/>
        </p:nvSpPr>
        <p:spPr>
          <a:xfrm>
            <a:off x="671400" y="1766880"/>
            <a:ext cx="10849320" cy="2419560"/>
          </a:xfrm>
          <a:custGeom>
            <a:avLst/>
            <a:gdLst/>
            <a:ahLst/>
            <a:cxnLst/>
            <a:rect l="0" t="0" r="r" b="b"/>
            <a:pathLst>
              <a:path w="30137" h="6721">
                <a:moveTo>
                  <a:pt x="0" y="6522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6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8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6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6522"/>
                </a:lnTo>
                <a:cubicBezTo>
                  <a:pt x="30137" y="6536"/>
                  <a:pt x="30136" y="6548"/>
                  <a:pt x="30133" y="6561"/>
                </a:cubicBezTo>
                <a:cubicBezTo>
                  <a:pt x="30130" y="6574"/>
                  <a:pt x="30127" y="6586"/>
                  <a:pt x="30122" y="6598"/>
                </a:cubicBezTo>
                <a:cubicBezTo>
                  <a:pt x="30117" y="6610"/>
                  <a:pt x="30111" y="6622"/>
                  <a:pt x="30103" y="6633"/>
                </a:cubicBezTo>
                <a:cubicBezTo>
                  <a:pt x="30096" y="6644"/>
                  <a:pt x="30088" y="6654"/>
                  <a:pt x="30079" y="6663"/>
                </a:cubicBezTo>
                <a:cubicBezTo>
                  <a:pt x="30070" y="6672"/>
                  <a:pt x="30059" y="6680"/>
                  <a:pt x="30049" y="6687"/>
                </a:cubicBezTo>
                <a:cubicBezTo>
                  <a:pt x="30038" y="6695"/>
                  <a:pt x="30026" y="6701"/>
                  <a:pt x="30014" y="6706"/>
                </a:cubicBezTo>
                <a:cubicBezTo>
                  <a:pt x="30002" y="6711"/>
                  <a:pt x="29990" y="6715"/>
                  <a:pt x="29977" y="6717"/>
                </a:cubicBezTo>
                <a:cubicBezTo>
                  <a:pt x="29964" y="6720"/>
                  <a:pt x="29951" y="6721"/>
                  <a:pt x="29938" y="6721"/>
                </a:cubicBezTo>
                <a:lnTo>
                  <a:pt x="198" y="6721"/>
                </a:lnTo>
                <a:cubicBezTo>
                  <a:pt x="185" y="6721"/>
                  <a:pt x="172" y="6720"/>
                  <a:pt x="160" y="6717"/>
                </a:cubicBezTo>
                <a:cubicBezTo>
                  <a:pt x="147" y="6715"/>
                  <a:pt x="134" y="6711"/>
                  <a:pt x="122" y="6706"/>
                </a:cubicBezTo>
                <a:cubicBezTo>
                  <a:pt x="110" y="6701"/>
                  <a:pt x="99" y="6695"/>
                  <a:pt x="88" y="6687"/>
                </a:cubicBezTo>
                <a:cubicBezTo>
                  <a:pt x="77" y="6680"/>
                  <a:pt x="67" y="6672"/>
                  <a:pt x="58" y="6663"/>
                </a:cubicBezTo>
                <a:cubicBezTo>
                  <a:pt x="49" y="6654"/>
                  <a:pt x="40" y="6644"/>
                  <a:pt x="33" y="6633"/>
                </a:cubicBezTo>
                <a:cubicBezTo>
                  <a:pt x="26" y="6622"/>
                  <a:pt x="20" y="6610"/>
                  <a:pt x="15" y="6598"/>
                </a:cubicBezTo>
                <a:cubicBezTo>
                  <a:pt x="10" y="6586"/>
                  <a:pt x="6" y="6574"/>
                  <a:pt x="4" y="6561"/>
                </a:cubicBezTo>
                <a:cubicBezTo>
                  <a:pt x="1" y="6548"/>
                  <a:pt x="0" y="6536"/>
                  <a:pt x="0" y="652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Forma libre 59"/>
          <p:cNvSpPr/>
          <p:nvPr/>
        </p:nvSpPr>
        <p:spPr>
          <a:xfrm>
            <a:off x="666720" y="483840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Forma libre 60"/>
          <p:cNvSpPr/>
          <p:nvPr/>
        </p:nvSpPr>
        <p:spPr>
          <a:xfrm>
            <a:off x="666720" y="483840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CuadroTexto 61"/>
          <p:cNvSpPr txBox="1"/>
          <p:nvPr/>
        </p:nvSpPr>
        <p:spPr>
          <a:xfrm>
            <a:off x="666720" y="1120320"/>
            <a:ext cx="27968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SQL que heredas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CuadroTexto 62"/>
          <p:cNvSpPr txBox="1"/>
          <p:nvPr/>
        </p:nvSpPr>
        <p:spPr>
          <a:xfrm>
            <a:off x="866880" y="1946520"/>
            <a:ext cx="16383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SELECT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*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(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CuadroTexto 63"/>
          <p:cNvSpPr txBox="1"/>
          <p:nvPr/>
        </p:nvSpPr>
        <p:spPr>
          <a:xfrm>
            <a:off x="866880" y="2213280"/>
            <a:ext cx="43686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SELECT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person_id,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count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*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n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(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CuadroTexto 64"/>
          <p:cNvSpPr txBox="1"/>
          <p:nvPr/>
        </p:nvSpPr>
        <p:spPr>
          <a:xfrm>
            <a:off x="866880" y="2470320"/>
            <a:ext cx="8407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SELECT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co.person_id, co.condition_start_date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condition_occurrence co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CuadroTexto 65"/>
          <p:cNvSpPr txBox="1"/>
          <p:nvPr/>
        </p:nvSpPr>
        <p:spPr>
          <a:xfrm>
            <a:off x="866880" y="2737080"/>
            <a:ext cx="4149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WHERE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co.condition_concept_id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IN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(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CuadroTexto 66"/>
          <p:cNvSpPr txBox="1"/>
          <p:nvPr/>
        </p:nvSpPr>
        <p:spPr>
          <a:xfrm>
            <a:off x="866880" y="2994480"/>
            <a:ext cx="61153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SELECT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descendant_concept_id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concept_ancestor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CuadroTexto 67"/>
          <p:cNvSpPr txBox="1"/>
          <p:nvPr/>
        </p:nvSpPr>
        <p:spPr>
          <a:xfrm>
            <a:off x="866880" y="3260880"/>
            <a:ext cx="44769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WHERE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ancestor_concept_id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201826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CuadroTexto 68"/>
          <p:cNvSpPr txBox="1"/>
          <p:nvPr/>
        </p:nvSpPr>
        <p:spPr>
          <a:xfrm>
            <a:off x="866880" y="3518280"/>
            <a:ext cx="29487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)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t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GROUP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BY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person_id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CuadroTexto 69"/>
          <p:cNvSpPr txBox="1"/>
          <p:nvPr/>
        </p:nvSpPr>
        <p:spPr>
          <a:xfrm>
            <a:off x="866880" y="3785040"/>
            <a:ext cx="20750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u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WHERE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n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&gt;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2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;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CuadroTexto 70"/>
          <p:cNvSpPr txBox="1"/>
          <p:nvPr/>
        </p:nvSpPr>
        <p:spPr>
          <a:xfrm>
            <a:off x="666720" y="4383000"/>
            <a:ext cx="29088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Correcto. Funcional.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Ilegible.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CuadroTexto 71"/>
          <p:cNvSpPr txBox="1"/>
          <p:nvPr/>
        </p:nvSpPr>
        <p:spPr>
          <a:xfrm>
            <a:off x="905040" y="4992480"/>
            <a:ext cx="10019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El SQL de producción se lee, se revisa en un PR y se hereda. Si necesitas seis niveles de indentación,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CuadroTexto 72"/>
          <p:cNvSpPr txBox="1"/>
          <p:nvPr/>
        </p:nvSpPr>
        <p:spPr>
          <a:xfrm>
            <a:off x="905040" y="5335560"/>
            <a:ext cx="1588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necesitas CTEs.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CuadroTexto 7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CuadroTexto 7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CuadroTexto 75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Forma libre 7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Forma libre 7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Forma libre 7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CuadroTexto 79"/>
          <p:cNvSpPr txBox="1"/>
          <p:nvPr/>
        </p:nvSpPr>
        <p:spPr>
          <a:xfrm>
            <a:off x="5195520" y="3063960"/>
            <a:ext cx="18388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2. CTEs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CuadroTexto 8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CuadroTexto 8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CuadroTexto 82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Forma libre 8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Forma libre 8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Forma libre 8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Forma libre 86"/>
          <p:cNvSpPr/>
          <p:nvPr/>
        </p:nvSpPr>
        <p:spPr>
          <a:xfrm>
            <a:off x="671400" y="1338120"/>
            <a:ext cx="10849320" cy="3991320"/>
          </a:xfrm>
          <a:custGeom>
            <a:avLst/>
            <a:gdLst/>
            <a:ahLst/>
            <a:cxnLst/>
            <a:rect l="0" t="0" r="r" b="b"/>
            <a:pathLst>
              <a:path w="30137" h="11087">
                <a:moveTo>
                  <a:pt x="0" y="10888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10888"/>
                </a:lnTo>
                <a:cubicBezTo>
                  <a:pt x="30137" y="10902"/>
                  <a:pt x="30136" y="10914"/>
                  <a:pt x="30133" y="10927"/>
                </a:cubicBezTo>
                <a:cubicBezTo>
                  <a:pt x="30130" y="10940"/>
                  <a:pt x="30127" y="10952"/>
                  <a:pt x="30122" y="10964"/>
                </a:cubicBezTo>
                <a:cubicBezTo>
                  <a:pt x="30117" y="10976"/>
                  <a:pt x="30111" y="10988"/>
                  <a:pt x="30103" y="10999"/>
                </a:cubicBezTo>
                <a:cubicBezTo>
                  <a:pt x="30096" y="11010"/>
                  <a:pt x="30088" y="11020"/>
                  <a:pt x="30079" y="11029"/>
                </a:cubicBezTo>
                <a:cubicBezTo>
                  <a:pt x="30070" y="11038"/>
                  <a:pt x="30059" y="11046"/>
                  <a:pt x="30049" y="11053"/>
                </a:cubicBezTo>
                <a:cubicBezTo>
                  <a:pt x="30038" y="11061"/>
                  <a:pt x="30026" y="11067"/>
                  <a:pt x="30014" y="11072"/>
                </a:cubicBezTo>
                <a:cubicBezTo>
                  <a:pt x="30002" y="11077"/>
                  <a:pt x="29990" y="11081"/>
                  <a:pt x="29977" y="11083"/>
                </a:cubicBezTo>
                <a:cubicBezTo>
                  <a:pt x="29964" y="11086"/>
                  <a:pt x="29951" y="11087"/>
                  <a:pt x="29938" y="11087"/>
                </a:cubicBezTo>
                <a:lnTo>
                  <a:pt x="198" y="11087"/>
                </a:lnTo>
                <a:cubicBezTo>
                  <a:pt x="185" y="11087"/>
                  <a:pt x="172" y="11086"/>
                  <a:pt x="160" y="11083"/>
                </a:cubicBezTo>
                <a:cubicBezTo>
                  <a:pt x="147" y="11081"/>
                  <a:pt x="134" y="11077"/>
                  <a:pt x="122" y="11072"/>
                </a:cubicBezTo>
                <a:cubicBezTo>
                  <a:pt x="110" y="11067"/>
                  <a:pt x="99" y="11061"/>
                  <a:pt x="88" y="11053"/>
                </a:cubicBezTo>
                <a:cubicBezTo>
                  <a:pt x="77" y="11046"/>
                  <a:pt x="67" y="11038"/>
                  <a:pt x="58" y="11029"/>
                </a:cubicBezTo>
                <a:cubicBezTo>
                  <a:pt x="49" y="11020"/>
                  <a:pt x="40" y="11010"/>
                  <a:pt x="33" y="10999"/>
                </a:cubicBezTo>
                <a:cubicBezTo>
                  <a:pt x="26" y="10988"/>
                  <a:pt x="20" y="10976"/>
                  <a:pt x="15" y="10964"/>
                </a:cubicBezTo>
                <a:cubicBezTo>
                  <a:pt x="10" y="10952"/>
                  <a:pt x="6" y="10940"/>
                  <a:pt x="4" y="10927"/>
                </a:cubicBezTo>
                <a:cubicBezTo>
                  <a:pt x="1" y="10914"/>
                  <a:pt x="0" y="10902"/>
                  <a:pt x="0" y="10888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Forma libre 87"/>
          <p:cNvSpPr/>
          <p:nvPr/>
        </p:nvSpPr>
        <p:spPr>
          <a:xfrm>
            <a:off x="671400" y="1338120"/>
            <a:ext cx="10849320" cy="3991320"/>
          </a:xfrm>
          <a:custGeom>
            <a:avLst/>
            <a:gdLst/>
            <a:ahLst/>
            <a:cxnLst/>
            <a:rect l="0" t="0" r="r" b="b"/>
            <a:pathLst>
              <a:path w="30137" h="11087">
                <a:moveTo>
                  <a:pt x="0" y="10888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10888"/>
                </a:lnTo>
                <a:cubicBezTo>
                  <a:pt x="30137" y="10902"/>
                  <a:pt x="30136" y="10914"/>
                  <a:pt x="30133" y="10927"/>
                </a:cubicBezTo>
                <a:cubicBezTo>
                  <a:pt x="30130" y="10940"/>
                  <a:pt x="30127" y="10952"/>
                  <a:pt x="30122" y="10964"/>
                </a:cubicBezTo>
                <a:cubicBezTo>
                  <a:pt x="30117" y="10976"/>
                  <a:pt x="30111" y="10988"/>
                  <a:pt x="30103" y="10999"/>
                </a:cubicBezTo>
                <a:cubicBezTo>
                  <a:pt x="30096" y="11010"/>
                  <a:pt x="30088" y="11020"/>
                  <a:pt x="30079" y="11029"/>
                </a:cubicBezTo>
                <a:cubicBezTo>
                  <a:pt x="30070" y="11038"/>
                  <a:pt x="30059" y="11046"/>
                  <a:pt x="30049" y="11053"/>
                </a:cubicBezTo>
                <a:cubicBezTo>
                  <a:pt x="30038" y="11061"/>
                  <a:pt x="30026" y="11067"/>
                  <a:pt x="30014" y="11072"/>
                </a:cubicBezTo>
                <a:cubicBezTo>
                  <a:pt x="30002" y="11077"/>
                  <a:pt x="29990" y="11081"/>
                  <a:pt x="29977" y="11083"/>
                </a:cubicBezTo>
                <a:cubicBezTo>
                  <a:pt x="29964" y="11086"/>
                  <a:pt x="29951" y="11087"/>
                  <a:pt x="29938" y="11087"/>
                </a:cubicBezTo>
                <a:lnTo>
                  <a:pt x="198" y="11087"/>
                </a:lnTo>
                <a:cubicBezTo>
                  <a:pt x="185" y="11087"/>
                  <a:pt x="172" y="11086"/>
                  <a:pt x="160" y="11083"/>
                </a:cubicBezTo>
                <a:cubicBezTo>
                  <a:pt x="147" y="11081"/>
                  <a:pt x="134" y="11077"/>
                  <a:pt x="122" y="11072"/>
                </a:cubicBezTo>
                <a:cubicBezTo>
                  <a:pt x="110" y="11067"/>
                  <a:pt x="99" y="11061"/>
                  <a:pt x="88" y="11053"/>
                </a:cubicBezTo>
                <a:cubicBezTo>
                  <a:pt x="77" y="11046"/>
                  <a:pt x="67" y="11038"/>
                  <a:pt x="58" y="11029"/>
                </a:cubicBezTo>
                <a:cubicBezTo>
                  <a:pt x="49" y="11020"/>
                  <a:pt x="40" y="11010"/>
                  <a:pt x="33" y="10999"/>
                </a:cubicBezTo>
                <a:cubicBezTo>
                  <a:pt x="26" y="10988"/>
                  <a:pt x="20" y="10976"/>
                  <a:pt x="15" y="10964"/>
                </a:cubicBezTo>
                <a:cubicBezTo>
                  <a:pt x="10" y="10952"/>
                  <a:pt x="6" y="10940"/>
                  <a:pt x="4" y="10927"/>
                </a:cubicBezTo>
                <a:cubicBezTo>
                  <a:pt x="1" y="10914"/>
                  <a:pt x="0" y="10902"/>
                  <a:pt x="0" y="1088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CuadroTexto 88"/>
          <p:cNvSpPr txBox="1"/>
          <p:nvPr/>
        </p:nvSpPr>
        <p:spPr>
          <a:xfrm>
            <a:off x="666720" y="701280"/>
            <a:ext cx="36921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 misma consulta, legible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CuadroTexto 89"/>
          <p:cNvSpPr txBox="1"/>
          <p:nvPr/>
        </p:nvSpPr>
        <p:spPr>
          <a:xfrm>
            <a:off x="866880" y="1518120"/>
            <a:ext cx="30582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WITH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conceptos_diabetes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(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CuadroTexto 90"/>
          <p:cNvSpPr txBox="1"/>
          <p:nvPr/>
        </p:nvSpPr>
        <p:spPr>
          <a:xfrm>
            <a:off x="866880" y="1784520"/>
            <a:ext cx="50234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SELECT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descendant_concept_id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concept_id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CuadroTexto 91"/>
          <p:cNvSpPr txBox="1"/>
          <p:nvPr/>
        </p:nvSpPr>
        <p:spPr>
          <a:xfrm>
            <a:off x="866880" y="2041920"/>
            <a:ext cx="29487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concept_ancestor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CuadroTexto 92"/>
          <p:cNvSpPr txBox="1"/>
          <p:nvPr/>
        </p:nvSpPr>
        <p:spPr>
          <a:xfrm>
            <a:off x="866880" y="2308680"/>
            <a:ext cx="42584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WHERE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ancestor_concept_id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201826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CuadroTexto 93"/>
          <p:cNvSpPr txBox="1"/>
          <p:nvPr/>
        </p:nvSpPr>
        <p:spPr>
          <a:xfrm>
            <a:off x="866880" y="2565720"/>
            <a:ext cx="2192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),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CuadroTexto 94"/>
          <p:cNvSpPr txBox="1"/>
          <p:nvPr/>
        </p:nvSpPr>
        <p:spPr>
          <a:xfrm>
            <a:off x="866880" y="2832480"/>
            <a:ext cx="18572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diagnosticos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(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CuadroTexto 95"/>
          <p:cNvSpPr txBox="1"/>
          <p:nvPr/>
        </p:nvSpPr>
        <p:spPr>
          <a:xfrm>
            <a:off x="866880" y="3089520"/>
            <a:ext cx="45864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SELECT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person_id, condition_start_date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CuadroTexto 96"/>
          <p:cNvSpPr txBox="1"/>
          <p:nvPr/>
        </p:nvSpPr>
        <p:spPr>
          <a:xfrm>
            <a:off x="866880" y="3356280"/>
            <a:ext cx="33854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condition_occurrence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CuadroTexto 97"/>
          <p:cNvSpPr txBox="1"/>
          <p:nvPr/>
        </p:nvSpPr>
        <p:spPr>
          <a:xfrm>
            <a:off x="866880" y="3613320"/>
            <a:ext cx="85176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WHERE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condition_concept_id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IN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(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SELECT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concept_id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conceptos_diabetes)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CuadroTexto 98"/>
          <p:cNvSpPr txBox="1"/>
          <p:nvPr/>
        </p:nvSpPr>
        <p:spPr>
          <a:xfrm>
            <a:off x="866880" y="3880080"/>
            <a:ext cx="2192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),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CuadroTexto 99"/>
          <p:cNvSpPr txBox="1"/>
          <p:nvPr/>
        </p:nvSpPr>
        <p:spPr>
          <a:xfrm>
            <a:off x="866880" y="4137480"/>
            <a:ext cx="12020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conteo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(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CuadroTexto 100"/>
          <p:cNvSpPr txBox="1"/>
          <p:nvPr/>
        </p:nvSpPr>
        <p:spPr>
          <a:xfrm>
            <a:off x="866880" y="4403880"/>
            <a:ext cx="78620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SELECT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person_id,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count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*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n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diagnosticos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GROUP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BY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person_id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CuadroTexto 101"/>
          <p:cNvSpPr txBox="1"/>
          <p:nvPr/>
        </p:nvSpPr>
        <p:spPr>
          <a:xfrm>
            <a:off x="866880" y="4670640"/>
            <a:ext cx="180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CuadroTexto 102"/>
          <p:cNvSpPr txBox="1"/>
          <p:nvPr/>
        </p:nvSpPr>
        <p:spPr>
          <a:xfrm>
            <a:off x="866880" y="4928040"/>
            <a:ext cx="36028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SELECT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*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conteo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WHERE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n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&gt;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2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;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CuadroTexto 104"/>
          <p:cNvSpPr txBox="1"/>
          <p:nvPr/>
        </p:nvSpPr>
        <p:spPr>
          <a:xfrm>
            <a:off x="666720" y="5526000"/>
            <a:ext cx="8494954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Cada CTE hace una cosa y tiene nombre.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Se lee de arriba abajo, como un pipeline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CuadroTexto 10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CuadroTexto 10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CuadroTexto 109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Forma libre 11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Forma libre 11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Forma libre 11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Forma libre 113"/>
          <p:cNvSpPr/>
          <p:nvPr/>
        </p:nvSpPr>
        <p:spPr>
          <a:xfrm>
            <a:off x="671400" y="1538280"/>
            <a:ext cx="10849320" cy="3210120"/>
          </a:xfrm>
          <a:custGeom>
            <a:avLst/>
            <a:gdLst/>
            <a:ahLst/>
            <a:cxnLst/>
            <a:rect l="0" t="0" r="r" b="b"/>
            <a:pathLst>
              <a:path w="30137" h="8917">
                <a:moveTo>
                  <a:pt x="0" y="8719"/>
                </a:moveTo>
                <a:lnTo>
                  <a:pt x="0" y="199"/>
                </a:lnTo>
                <a:cubicBezTo>
                  <a:pt x="0" y="185"/>
                  <a:pt x="1" y="172"/>
                  <a:pt x="4" y="159"/>
                </a:cubicBezTo>
                <a:cubicBezTo>
                  <a:pt x="6" y="146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8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6"/>
                  <a:pt x="30133" y="159"/>
                </a:cubicBezTo>
                <a:cubicBezTo>
                  <a:pt x="30136" y="172"/>
                  <a:pt x="30137" y="185"/>
                  <a:pt x="30137" y="199"/>
                </a:cubicBezTo>
                <a:lnTo>
                  <a:pt x="30137" y="8719"/>
                </a:lnTo>
                <a:cubicBezTo>
                  <a:pt x="30137" y="8732"/>
                  <a:pt x="30136" y="8744"/>
                  <a:pt x="30133" y="8757"/>
                </a:cubicBezTo>
                <a:cubicBezTo>
                  <a:pt x="30130" y="8770"/>
                  <a:pt x="30127" y="8782"/>
                  <a:pt x="30122" y="8794"/>
                </a:cubicBezTo>
                <a:cubicBezTo>
                  <a:pt x="30117" y="8807"/>
                  <a:pt x="30111" y="8818"/>
                  <a:pt x="30103" y="8829"/>
                </a:cubicBezTo>
                <a:cubicBezTo>
                  <a:pt x="30096" y="8840"/>
                  <a:pt x="30088" y="8850"/>
                  <a:pt x="30079" y="8859"/>
                </a:cubicBezTo>
                <a:cubicBezTo>
                  <a:pt x="30070" y="8868"/>
                  <a:pt x="30059" y="8876"/>
                  <a:pt x="30049" y="8884"/>
                </a:cubicBezTo>
                <a:cubicBezTo>
                  <a:pt x="30038" y="8891"/>
                  <a:pt x="30026" y="8897"/>
                  <a:pt x="30014" y="8902"/>
                </a:cubicBezTo>
                <a:cubicBezTo>
                  <a:pt x="30002" y="8907"/>
                  <a:pt x="29990" y="8911"/>
                  <a:pt x="29977" y="8913"/>
                </a:cubicBezTo>
                <a:cubicBezTo>
                  <a:pt x="29964" y="8916"/>
                  <a:pt x="29951" y="8917"/>
                  <a:pt x="29938" y="8917"/>
                </a:cubicBezTo>
                <a:lnTo>
                  <a:pt x="198" y="8917"/>
                </a:lnTo>
                <a:cubicBezTo>
                  <a:pt x="185" y="8917"/>
                  <a:pt x="172" y="8916"/>
                  <a:pt x="160" y="8913"/>
                </a:cubicBezTo>
                <a:cubicBezTo>
                  <a:pt x="147" y="8911"/>
                  <a:pt x="134" y="8907"/>
                  <a:pt x="122" y="8902"/>
                </a:cubicBezTo>
                <a:cubicBezTo>
                  <a:pt x="110" y="8897"/>
                  <a:pt x="99" y="8891"/>
                  <a:pt x="88" y="8884"/>
                </a:cubicBezTo>
                <a:cubicBezTo>
                  <a:pt x="77" y="8876"/>
                  <a:pt x="67" y="8868"/>
                  <a:pt x="58" y="8859"/>
                </a:cubicBezTo>
                <a:cubicBezTo>
                  <a:pt x="49" y="8850"/>
                  <a:pt x="40" y="8840"/>
                  <a:pt x="33" y="8829"/>
                </a:cubicBezTo>
                <a:cubicBezTo>
                  <a:pt x="26" y="8818"/>
                  <a:pt x="20" y="8807"/>
                  <a:pt x="15" y="8794"/>
                </a:cubicBezTo>
                <a:cubicBezTo>
                  <a:pt x="10" y="8782"/>
                  <a:pt x="6" y="8770"/>
                  <a:pt x="4" y="8757"/>
                </a:cubicBezTo>
                <a:cubicBezTo>
                  <a:pt x="1" y="8744"/>
                  <a:pt x="0" y="8732"/>
                  <a:pt x="0" y="8719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Forma libre 114"/>
          <p:cNvSpPr/>
          <p:nvPr/>
        </p:nvSpPr>
        <p:spPr>
          <a:xfrm>
            <a:off x="671400" y="1538280"/>
            <a:ext cx="10849320" cy="3210120"/>
          </a:xfrm>
          <a:custGeom>
            <a:avLst/>
            <a:gdLst/>
            <a:ahLst/>
            <a:cxnLst/>
            <a:rect l="0" t="0" r="r" b="b"/>
            <a:pathLst>
              <a:path w="30137" h="8917">
                <a:moveTo>
                  <a:pt x="0" y="8719"/>
                </a:moveTo>
                <a:lnTo>
                  <a:pt x="0" y="199"/>
                </a:lnTo>
                <a:cubicBezTo>
                  <a:pt x="0" y="185"/>
                  <a:pt x="1" y="172"/>
                  <a:pt x="4" y="159"/>
                </a:cubicBezTo>
                <a:cubicBezTo>
                  <a:pt x="6" y="146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8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6"/>
                  <a:pt x="30133" y="159"/>
                </a:cubicBezTo>
                <a:cubicBezTo>
                  <a:pt x="30136" y="172"/>
                  <a:pt x="30137" y="185"/>
                  <a:pt x="30137" y="199"/>
                </a:cubicBezTo>
                <a:lnTo>
                  <a:pt x="30137" y="8719"/>
                </a:lnTo>
                <a:cubicBezTo>
                  <a:pt x="30137" y="8732"/>
                  <a:pt x="30136" y="8744"/>
                  <a:pt x="30133" y="8757"/>
                </a:cubicBezTo>
                <a:cubicBezTo>
                  <a:pt x="30130" y="8770"/>
                  <a:pt x="30127" y="8782"/>
                  <a:pt x="30122" y="8794"/>
                </a:cubicBezTo>
                <a:cubicBezTo>
                  <a:pt x="30117" y="8807"/>
                  <a:pt x="30111" y="8818"/>
                  <a:pt x="30103" y="8829"/>
                </a:cubicBezTo>
                <a:cubicBezTo>
                  <a:pt x="30096" y="8840"/>
                  <a:pt x="30088" y="8850"/>
                  <a:pt x="30079" y="8859"/>
                </a:cubicBezTo>
                <a:cubicBezTo>
                  <a:pt x="30070" y="8868"/>
                  <a:pt x="30059" y="8876"/>
                  <a:pt x="30049" y="8884"/>
                </a:cubicBezTo>
                <a:cubicBezTo>
                  <a:pt x="30038" y="8891"/>
                  <a:pt x="30026" y="8897"/>
                  <a:pt x="30014" y="8902"/>
                </a:cubicBezTo>
                <a:cubicBezTo>
                  <a:pt x="30002" y="8907"/>
                  <a:pt x="29990" y="8911"/>
                  <a:pt x="29977" y="8913"/>
                </a:cubicBezTo>
                <a:cubicBezTo>
                  <a:pt x="29964" y="8916"/>
                  <a:pt x="29951" y="8917"/>
                  <a:pt x="29938" y="8917"/>
                </a:cubicBezTo>
                <a:lnTo>
                  <a:pt x="198" y="8917"/>
                </a:lnTo>
                <a:cubicBezTo>
                  <a:pt x="185" y="8917"/>
                  <a:pt x="172" y="8916"/>
                  <a:pt x="160" y="8913"/>
                </a:cubicBezTo>
                <a:cubicBezTo>
                  <a:pt x="147" y="8911"/>
                  <a:pt x="134" y="8907"/>
                  <a:pt x="122" y="8902"/>
                </a:cubicBezTo>
                <a:cubicBezTo>
                  <a:pt x="110" y="8897"/>
                  <a:pt x="99" y="8891"/>
                  <a:pt x="88" y="8884"/>
                </a:cubicBezTo>
                <a:cubicBezTo>
                  <a:pt x="77" y="8876"/>
                  <a:pt x="67" y="8868"/>
                  <a:pt x="58" y="8859"/>
                </a:cubicBezTo>
                <a:cubicBezTo>
                  <a:pt x="49" y="8850"/>
                  <a:pt x="40" y="8840"/>
                  <a:pt x="33" y="8829"/>
                </a:cubicBezTo>
                <a:cubicBezTo>
                  <a:pt x="26" y="8818"/>
                  <a:pt x="20" y="8807"/>
                  <a:pt x="15" y="8794"/>
                </a:cubicBezTo>
                <a:cubicBezTo>
                  <a:pt x="10" y="8782"/>
                  <a:pt x="6" y="8770"/>
                  <a:pt x="4" y="8757"/>
                </a:cubicBezTo>
                <a:cubicBezTo>
                  <a:pt x="1" y="8744"/>
                  <a:pt x="0" y="8732"/>
                  <a:pt x="0" y="8719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Forma libre 115"/>
          <p:cNvSpPr/>
          <p:nvPr/>
        </p:nvSpPr>
        <p:spPr>
          <a:xfrm>
            <a:off x="666720" y="5400360"/>
            <a:ext cx="10858680" cy="572040"/>
          </a:xfrm>
          <a:custGeom>
            <a:avLst/>
            <a:gdLst/>
            <a:ahLst/>
            <a:cxnLst/>
            <a:rect l="0" t="0" r="r" b="b"/>
            <a:pathLst>
              <a:path w="30163" h="1589">
                <a:moveTo>
                  <a:pt x="0" y="0"/>
                </a:moveTo>
                <a:lnTo>
                  <a:pt x="30163" y="0"/>
                </a:lnTo>
                <a:lnTo>
                  <a:pt x="3016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Forma libre 116"/>
          <p:cNvSpPr/>
          <p:nvPr/>
        </p:nvSpPr>
        <p:spPr>
          <a:xfrm>
            <a:off x="666720" y="5400360"/>
            <a:ext cx="47880" cy="572040"/>
          </a:xfrm>
          <a:custGeom>
            <a:avLst/>
            <a:gdLst/>
            <a:ahLst/>
            <a:cxnLst/>
            <a:rect l="0" t="0" r="r" b="b"/>
            <a:pathLst>
              <a:path w="133" h="1589">
                <a:moveTo>
                  <a:pt x="0" y="0"/>
                </a:moveTo>
                <a:lnTo>
                  <a:pt x="133" y="0"/>
                </a:lnTo>
                <a:lnTo>
                  <a:pt x="13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CuadroTexto 117"/>
          <p:cNvSpPr txBox="1"/>
          <p:nvPr/>
        </p:nvSpPr>
        <p:spPr>
          <a:xfrm>
            <a:off x="666720" y="901440"/>
            <a:ext cx="22676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CTEs recursivos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CuadroTexto 118"/>
          <p:cNvSpPr txBox="1"/>
          <p:nvPr/>
        </p:nvSpPr>
        <p:spPr>
          <a:xfrm>
            <a:off x="866880" y="1717920"/>
            <a:ext cx="52419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WITH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RECURSIVE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ancestros(concept_id, nivel)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(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CuadroTexto 119"/>
          <p:cNvSpPr txBox="1"/>
          <p:nvPr/>
        </p:nvSpPr>
        <p:spPr>
          <a:xfrm>
            <a:off x="866880" y="1984680"/>
            <a:ext cx="74253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SELECT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40163924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0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             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caso base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CuadroTexto 120"/>
          <p:cNvSpPr txBox="1"/>
          <p:nvPr/>
        </p:nvSpPr>
        <p:spPr>
          <a:xfrm>
            <a:off x="866880" y="2241720"/>
            <a:ext cx="12016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UNION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ALL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CuadroTexto 121"/>
          <p:cNvSpPr txBox="1"/>
          <p:nvPr/>
        </p:nvSpPr>
        <p:spPr>
          <a:xfrm>
            <a:off x="866880" y="2508480"/>
            <a:ext cx="79711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SELECT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cr.concept_id_2, a.nivel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+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1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paso recursivo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CuadroTexto 122"/>
          <p:cNvSpPr txBox="1"/>
          <p:nvPr/>
        </p:nvSpPr>
        <p:spPr>
          <a:xfrm>
            <a:off x="866880" y="2765880"/>
            <a:ext cx="24026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ancestros a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CuadroTexto 123"/>
          <p:cNvSpPr txBox="1"/>
          <p:nvPr/>
        </p:nvSpPr>
        <p:spPr>
          <a:xfrm>
            <a:off x="866880" y="3032280"/>
            <a:ext cx="37130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JOIN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concept_relationship cr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CuadroTexto 124"/>
          <p:cNvSpPr txBox="1"/>
          <p:nvPr/>
        </p:nvSpPr>
        <p:spPr>
          <a:xfrm>
            <a:off x="866880" y="3289680"/>
            <a:ext cx="48049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ON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cr.concept_id_1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a.concept_id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CuadroTexto 125"/>
          <p:cNvSpPr txBox="1"/>
          <p:nvPr/>
        </p:nvSpPr>
        <p:spPr>
          <a:xfrm>
            <a:off x="866880" y="3556440"/>
            <a:ext cx="44773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AND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cr.relationship_id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'Is a'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CuadroTexto 126"/>
          <p:cNvSpPr txBox="1"/>
          <p:nvPr/>
        </p:nvSpPr>
        <p:spPr>
          <a:xfrm>
            <a:off x="866880" y="3813480"/>
            <a:ext cx="8407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WHERE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a.nivel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&lt;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10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            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corta la recursión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CuadroTexto 127"/>
          <p:cNvSpPr txBox="1"/>
          <p:nvPr/>
        </p:nvSpPr>
        <p:spPr>
          <a:xfrm>
            <a:off x="866880" y="4080240"/>
            <a:ext cx="180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CuadroTexto 128"/>
          <p:cNvSpPr txBox="1"/>
          <p:nvPr/>
        </p:nvSpPr>
        <p:spPr>
          <a:xfrm>
            <a:off x="866880" y="4337280"/>
            <a:ext cx="2620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SELECT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*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ancestros;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CuadroTexto 129"/>
          <p:cNvSpPr txBox="1"/>
          <p:nvPr/>
        </p:nvSpPr>
        <p:spPr>
          <a:xfrm>
            <a:off x="666720" y="4944960"/>
            <a:ext cx="99565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Recorrer jerarquías: de un medicamento concreto hasta su clase. Lo usarás a fondo en la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sesión 16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CuadroTexto 130"/>
          <p:cNvSpPr txBox="1"/>
          <p:nvPr/>
        </p:nvSpPr>
        <p:spPr>
          <a:xfrm>
            <a:off x="905040" y="5554440"/>
            <a:ext cx="90957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Pon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siempre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un corte de profundidad. Un ciclo en los datos y la consulta no termina nunca.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CuadroTexto 13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CuadroTexto 13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CuadroTexto 133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Forma libre 13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Forma libre 13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Forma libre 13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Forma libre 137"/>
          <p:cNvSpPr/>
          <p:nvPr/>
        </p:nvSpPr>
        <p:spPr>
          <a:xfrm>
            <a:off x="7235222" y="3065040"/>
            <a:ext cx="2105280" cy="619560"/>
          </a:xfrm>
          <a:custGeom>
            <a:avLst/>
            <a:gdLst/>
            <a:ahLst/>
            <a:cxnLst/>
            <a:rect l="0" t="0" r="r" b="b"/>
            <a:pathLst>
              <a:path w="5848" h="1721">
                <a:moveTo>
                  <a:pt x="0" y="1615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742" y="0"/>
                </a:lnTo>
                <a:cubicBezTo>
                  <a:pt x="5756" y="0"/>
                  <a:pt x="5770" y="3"/>
                  <a:pt x="5783" y="8"/>
                </a:cubicBezTo>
                <a:cubicBezTo>
                  <a:pt x="5796" y="14"/>
                  <a:pt x="5807" y="21"/>
                  <a:pt x="5817" y="31"/>
                </a:cubicBezTo>
                <a:cubicBezTo>
                  <a:pt x="5827" y="41"/>
                  <a:pt x="5835" y="52"/>
                  <a:pt x="5840" y="65"/>
                </a:cubicBezTo>
                <a:cubicBezTo>
                  <a:pt x="5846" y="78"/>
                  <a:pt x="5848" y="92"/>
                  <a:pt x="5848" y="106"/>
                </a:cubicBezTo>
                <a:lnTo>
                  <a:pt x="5848" y="1615"/>
                </a:lnTo>
                <a:cubicBezTo>
                  <a:pt x="5848" y="1629"/>
                  <a:pt x="5846" y="1643"/>
                  <a:pt x="5840" y="1656"/>
                </a:cubicBezTo>
                <a:cubicBezTo>
                  <a:pt x="5835" y="1669"/>
                  <a:pt x="5827" y="1680"/>
                  <a:pt x="5817" y="1690"/>
                </a:cubicBezTo>
                <a:cubicBezTo>
                  <a:pt x="5807" y="1700"/>
                  <a:pt x="5796" y="1707"/>
                  <a:pt x="5783" y="1713"/>
                </a:cubicBezTo>
                <a:cubicBezTo>
                  <a:pt x="5770" y="1718"/>
                  <a:pt x="5756" y="1721"/>
                  <a:pt x="5742" y="1721"/>
                </a:cubicBezTo>
                <a:lnTo>
                  <a:pt x="106" y="1721"/>
                </a:lnTo>
                <a:cubicBezTo>
                  <a:pt x="92" y="1721"/>
                  <a:pt x="78" y="1718"/>
                  <a:pt x="65" y="1713"/>
                </a:cubicBezTo>
                <a:cubicBezTo>
                  <a:pt x="52" y="1707"/>
                  <a:pt x="41" y="1700"/>
                  <a:pt x="31" y="1690"/>
                </a:cubicBezTo>
                <a:cubicBezTo>
                  <a:pt x="21" y="1680"/>
                  <a:pt x="13" y="1669"/>
                  <a:pt x="8" y="1656"/>
                </a:cubicBezTo>
                <a:cubicBezTo>
                  <a:pt x="3" y="1643"/>
                  <a:pt x="0" y="1629"/>
                  <a:pt x="0" y="161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CuadroTexto 138"/>
          <p:cNvSpPr txBox="1"/>
          <p:nvPr/>
        </p:nvSpPr>
        <p:spPr>
          <a:xfrm>
            <a:off x="3217320" y="3054600"/>
            <a:ext cx="373572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3. Subqueries y 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CuadroTexto 139"/>
          <p:cNvSpPr txBox="1"/>
          <p:nvPr/>
        </p:nvSpPr>
        <p:spPr>
          <a:xfrm>
            <a:off x="7413062" y="3054600"/>
            <a:ext cx="1927440" cy="622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 dirty="0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EXISTS</a:t>
            </a:r>
            <a:endParaRPr lang="es-ES" sz="42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CuadroTexto 14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CuadroTexto 14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CuadroTexto 142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Forma libre 14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Forma libre 14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Forma libre 145"/>
          <p:cNvSpPr/>
          <p:nvPr/>
        </p:nvSpPr>
        <p:spPr>
          <a:xfrm>
            <a:off x="0" y="22716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Forma libre 146"/>
          <p:cNvSpPr/>
          <p:nvPr/>
        </p:nvSpPr>
        <p:spPr>
          <a:xfrm>
            <a:off x="671400" y="1776240"/>
            <a:ext cx="10849320" cy="2676960"/>
          </a:xfrm>
          <a:custGeom>
            <a:avLst/>
            <a:gdLst/>
            <a:ahLst/>
            <a:cxnLst/>
            <a:rect l="0" t="0" r="r" b="b"/>
            <a:pathLst>
              <a:path w="30137" h="7436">
                <a:moveTo>
                  <a:pt x="0" y="7237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5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7237"/>
                </a:lnTo>
                <a:cubicBezTo>
                  <a:pt x="30137" y="7250"/>
                  <a:pt x="30136" y="7263"/>
                  <a:pt x="30133" y="7276"/>
                </a:cubicBezTo>
                <a:cubicBezTo>
                  <a:pt x="30130" y="7289"/>
                  <a:pt x="30127" y="7301"/>
                  <a:pt x="30122" y="7313"/>
                </a:cubicBezTo>
                <a:cubicBezTo>
                  <a:pt x="30117" y="7325"/>
                  <a:pt x="30111" y="7337"/>
                  <a:pt x="30103" y="7348"/>
                </a:cubicBezTo>
                <a:cubicBezTo>
                  <a:pt x="30096" y="7358"/>
                  <a:pt x="30088" y="7368"/>
                  <a:pt x="30079" y="7378"/>
                </a:cubicBezTo>
                <a:cubicBezTo>
                  <a:pt x="30070" y="7387"/>
                  <a:pt x="30059" y="7395"/>
                  <a:pt x="30049" y="7402"/>
                </a:cubicBezTo>
                <a:cubicBezTo>
                  <a:pt x="30038" y="7410"/>
                  <a:pt x="30026" y="7416"/>
                  <a:pt x="30014" y="7421"/>
                </a:cubicBezTo>
                <a:cubicBezTo>
                  <a:pt x="30002" y="7426"/>
                  <a:pt x="29990" y="7429"/>
                  <a:pt x="29977" y="7432"/>
                </a:cubicBezTo>
                <a:cubicBezTo>
                  <a:pt x="29964" y="7434"/>
                  <a:pt x="29951" y="7436"/>
                  <a:pt x="29938" y="7436"/>
                </a:cubicBezTo>
                <a:lnTo>
                  <a:pt x="198" y="7436"/>
                </a:lnTo>
                <a:cubicBezTo>
                  <a:pt x="185" y="7436"/>
                  <a:pt x="172" y="7434"/>
                  <a:pt x="160" y="7432"/>
                </a:cubicBezTo>
                <a:cubicBezTo>
                  <a:pt x="147" y="7429"/>
                  <a:pt x="134" y="7426"/>
                  <a:pt x="122" y="7421"/>
                </a:cubicBezTo>
                <a:cubicBezTo>
                  <a:pt x="110" y="7416"/>
                  <a:pt x="99" y="7410"/>
                  <a:pt x="88" y="7402"/>
                </a:cubicBezTo>
                <a:cubicBezTo>
                  <a:pt x="77" y="7395"/>
                  <a:pt x="67" y="7387"/>
                  <a:pt x="58" y="7378"/>
                </a:cubicBezTo>
                <a:cubicBezTo>
                  <a:pt x="49" y="7368"/>
                  <a:pt x="40" y="7358"/>
                  <a:pt x="33" y="7348"/>
                </a:cubicBezTo>
                <a:cubicBezTo>
                  <a:pt x="26" y="7337"/>
                  <a:pt x="20" y="7325"/>
                  <a:pt x="15" y="7313"/>
                </a:cubicBezTo>
                <a:cubicBezTo>
                  <a:pt x="10" y="7301"/>
                  <a:pt x="6" y="7289"/>
                  <a:pt x="4" y="7276"/>
                </a:cubicBezTo>
                <a:cubicBezTo>
                  <a:pt x="1" y="7263"/>
                  <a:pt x="0" y="7250"/>
                  <a:pt x="0" y="723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Forma libre 147"/>
          <p:cNvSpPr/>
          <p:nvPr/>
        </p:nvSpPr>
        <p:spPr>
          <a:xfrm>
            <a:off x="671400" y="1776240"/>
            <a:ext cx="10849320" cy="2676960"/>
          </a:xfrm>
          <a:custGeom>
            <a:avLst/>
            <a:gdLst/>
            <a:ahLst/>
            <a:cxnLst/>
            <a:rect l="0" t="0" r="r" b="b"/>
            <a:pathLst>
              <a:path w="30137" h="7436">
                <a:moveTo>
                  <a:pt x="0" y="7237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5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7237"/>
                </a:lnTo>
                <a:cubicBezTo>
                  <a:pt x="30137" y="7250"/>
                  <a:pt x="30136" y="7263"/>
                  <a:pt x="30133" y="7276"/>
                </a:cubicBezTo>
                <a:cubicBezTo>
                  <a:pt x="30130" y="7289"/>
                  <a:pt x="30127" y="7301"/>
                  <a:pt x="30122" y="7313"/>
                </a:cubicBezTo>
                <a:cubicBezTo>
                  <a:pt x="30117" y="7325"/>
                  <a:pt x="30111" y="7337"/>
                  <a:pt x="30103" y="7348"/>
                </a:cubicBezTo>
                <a:cubicBezTo>
                  <a:pt x="30096" y="7358"/>
                  <a:pt x="30088" y="7368"/>
                  <a:pt x="30079" y="7378"/>
                </a:cubicBezTo>
                <a:cubicBezTo>
                  <a:pt x="30070" y="7387"/>
                  <a:pt x="30059" y="7395"/>
                  <a:pt x="30049" y="7402"/>
                </a:cubicBezTo>
                <a:cubicBezTo>
                  <a:pt x="30038" y="7410"/>
                  <a:pt x="30026" y="7416"/>
                  <a:pt x="30014" y="7421"/>
                </a:cubicBezTo>
                <a:cubicBezTo>
                  <a:pt x="30002" y="7426"/>
                  <a:pt x="29990" y="7429"/>
                  <a:pt x="29977" y="7432"/>
                </a:cubicBezTo>
                <a:cubicBezTo>
                  <a:pt x="29964" y="7434"/>
                  <a:pt x="29951" y="7436"/>
                  <a:pt x="29938" y="7436"/>
                </a:cubicBezTo>
                <a:lnTo>
                  <a:pt x="198" y="7436"/>
                </a:lnTo>
                <a:cubicBezTo>
                  <a:pt x="185" y="7436"/>
                  <a:pt x="172" y="7434"/>
                  <a:pt x="160" y="7432"/>
                </a:cubicBezTo>
                <a:cubicBezTo>
                  <a:pt x="147" y="7429"/>
                  <a:pt x="134" y="7426"/>
                  <a:pt x="122" y="7421"/>
                </a:cubicBezTo>
                <a:cubicBezTo>
                  <a:pt x="110" y="7416"/>
                  <a:pt x="99" y="7410"/>
                  <a:pt x="88" y="7402"/>
                </a:cubicBezTo>
                <a:cubicBezTo>
                  <a:pt x="77" y="7395"/>
                  <a:pt x="67" y="7387"/>
                  <a:pt x="58" y="7378"/>
                </a:cubicBezTo>
                <a:cubicBezTo>
                  <a:pt x="49" y="7368"/>
                  <a:pt x="40" y="7358"/>
                  <a:pt x="33" y="7348"/>
                </a:cubicBezTo>
                <a:cubicBezTo>
                  <a:pt x="26" y="7337"/>
                  <a:pt x="20" y="7325"/>
                  <a:pt x="15" y="7313"/>
                </a:cubicBezTo>
                <a:cubicBezTo>
                  <a:pt x="10" y="7301"/>
                  <a:pt x="6" y="7289"/>
                  <a:pt x="4" y="7276"/>
                </a:cubicBezTo>
                <a:cubicBezTo>
                  <a:pt x="1" y="7263"/>
                  <a:pt x="0" y="7250"/>
                  <a:pt x="0" y="723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Forma libre 148"/>
          <p:cNvSpPr/>
          <p:nvPr/>
        </p:nvSpPr>
        <p:spPr>
          <a:xfrm>
            <a:off x="666720" y="1123920"/>
            <a:ext cx="1276560" cy="381240"/>
          </a:xfrm>
          <a:custGeom>
            <a:avLst/>
            <a:gdLst/>
            <a:ahLst/>
            <a:cxnLst/>
            <a:rect l="0" t="0" r="r" b="b"/>
            <a:pathLst>
              <a:path w="3546" h="1059">
                <a:moveTo>
                  <a:pt x="0" y="953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3439" y="0"/>
                </a:lnTo>
                <a:cubicBezTo>
                  <a:pt x="3453" y="0"/>
                  <a:pt x="3468" y="2"/>
                  <a:pt x="3481" y="8"/>
                </a:cubicBezTo>
                <a:cubicBezTo>
                  <a:pt x="3494" y="13"/>
                  <a:pt x="3505" y="21"/>
                  <a:pt x="3515" y="31"/>
                </a:cubicBezTo>
                <a:cubicBezTo>
                  <a:pt x="3525" y="41"/>
                  <a:pt x="3533" y="52"/>
                  <a:pt x="3538" y="65"/>
                </a:cubicBezTo>
                <a:cubicBezTo>
                  <a:pt x="3543" y="78"/>
                  <a:pt x="3546" y="91"/>
                  <a:pt x="3546" y="105"/>
                </a:cubicBezTo>
                <a:lnTo>
                  <a:pt x="3546" y="953"/>
                </a:lnTo>
                <a:cubicBezTo>
                  <a:pt x="3546" y="967"/>
                  <a:pt x="3543" y="981"/>
                  <a:pt x="3538" y="994"/>
                </a:cubicBezTo>
                <a:cubicBezTo>
                  <a:pt x="3533" y="1007"/>
                  <a:pt x="3525" y="1018"/>
                  <a:pt x="3515" y="1028"/>
                </a:cubicBezTo>
                <a:cubicBezTo>
                  <a:pt x="3505" y="1038"/>
                  <a:pt x="3494" y="1045"/>
                  <a:pt x="3481" y="1051"/>
                </a:cubicBezTo>
                <a:cubicBezTo>
                  <a:pt x="3468" y="1056"/>
                  <a:pt x="3453" y="1059"/>
                  <a:pt x="3439" y="1059"/>
                </a:cubicBezTo>
                <a:lnTo>
                  <a:pt x="105" y="1059"/>
                </a:lnTo>
                <a:cubicBezTo>
                  <a:pt x="91" y="1059"/>
                  <a:pt x="78" y="1056"/>
                  <a:pt x="65" y="1051"/>
                </a:cubicBezTo>
                <a:cubicBezTo>
                  <a:pt x="52" y="1045"/>
                  <a:pt x="41" y="1038"/>
                  <a:pt x="31" y="1028"/>
                </a:cubicBezTo>
                <a:cubicBezTo>
                  <a:pt x="21" y="1018"/>
                  <a:pt x="13" y="1007"/>
                  <a:pt x="8" y="994"/>
                </a:cubicBezTo>
                <a:cubicBezTo>
                  <a:pt x="2" y="981"/>
                  <a:pt x="0" y="967"/>
                  <a:pt x="0" y="953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CuadroTexto 149"/>
          <p:cNvSpPr txBox="1"/>
          <p:nvPr/>
        </p:nvSpPr>
        <p:spPr>
          <a:xfrm>
            <a:off x="731520" y="1128240"/>
            <a:ext cx="117324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EXISTS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Forma libre 150"/>
          <p:cNvSpPr/>
          <p:nvPr/>
        </p:nvSpPr>
        <p:spPr>
          <a:xfrm>
            <a:off x="2990520" y="1123920"/>
            <a:ext cx="514800" cy="381240"/>
          </a:xfrm>
          <a:custGeom>
            <a:avLst/>
            <a:gdLst/>
            <a:ahLst/>
            <a:cxnLst/>
            <a:rect l="0" t="0" r="r" b="b"/>
            <a:pathLst>
              <a:path w="1430" h="1059">
                <a:moveTo>
                  <a:pt x="0" y="953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1324" y="0"/>
                </a:lnTo>
                <a:cubicBezTo>
                  <a:pt x="1338" y="0"/>
                  <a:pt x="1352" y="2"/>
                  <a:pt x="1365" y="8"/>
                </a:cubicBezTo>
                <a:cubicBezTo>
                  <a:pt x="1378" y="13"/>
                  <a:pt x="1389" y="21"/>
                  <a:pt x="1399" y="31"/>
                </a:cubicBezTo>
                <a:cubicBezTo>
                  <a:pt x="1409" y="41"/>
                  <a:pt x="1417" y="52"/>
                  <a:pt x="1422" y="65"/>
                </a:cubicBezTo>
                <a:cubicBezTo>
                  <a:pt x="1427" y="78"/>
                  <a:pt x="1430" y="91"/>
                  <a:pt x="1430" y="105"/>
                </a:cubicBezTo>
                <a:lnTo>
                  <a:pt x="1430" y="953"/>
                </a:lnTo>
                <a:cubicBezTo>
                  <a:pt x="1430" y="967"/>
                  <a:pt x="1427" y="981"/>
                  <a:pt x="1422" y="994"/>
                </a:cubicBezTo>
                <a:cubicBezTo>
                  <a:pt x="1417" y="1007"/>
                  <a:pt x="1409" y="1018"/>
                  <a:pt x="1399" y="1028"/>
                </a:cubicBezTo>
                <a:cubicBezTo>
                  <a:pt x="1389" y="1038"/>
                  <a:pt x="1378" y="1045"/>
                  <a:pt x="1365" y="1051"/>
                </a:cubicBezTo>
                <a:cubicBezTo>
                  <a:pt x="1352" y="1056"/>
                  <a:pt x="1338" y="1059"/>
                  <a:pt x="1324" y="1059"/>
                </a:cubicBezTo>
                <a:lnTo>
                  <a:pt x="106" y="1059"/>
                </a:lnTo>
                <a:cubicBezTo>
                  <a:pt x="92" y="1059"/>
                  <a:pt x="79" y="1056"/>
                  <a:pt x="66" y="1051"/>
                </a:cubicBezTo>
                <a:cubicBezTo>
                  <a:pt x="53" y="1045"/>
                  <a:pt x="41" y="1038"/>
                  <a:pt x="31" y="1028"/>
                </a:cubicBezTo>
                <a:cubicBezTo>
                  <a:pt x="21" y="1018"/>
                  <a:pt x="14" y="1007"/>
                  <a:pt x="8" y="994"/>
                </a:cubicBezTo>
                <a:cubicBezTo>
                  <a:pt x="3" y="981"/>
                  <a:pt x="0" y="967"/>
                  <a:pt x="0" y="953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CuadroTexto 151"/>
          <p:cNvSpPr txBox="1"/>
          <p:nvPr/>
        </p:nvSpPr>
        <p:spPr>
          <a:xfrm>
            <a:off x="1946520" y="1120320"/>
            <a:ext cx="10713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 contra 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CuadroTexto 152"/>
          <p:cNvSpPr txBox="1"/>
          <p:nvPr/>
        </p:nvSpPr>
        <p:spPr>
          <a:xfrm>
            <a:off x="3053520" y="1128240"/>
            <a:ext cx="39168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IN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CuadroTexto 153"/>
          <p:cNvSpPr txBox="1"/>
          <p:nvPr/>
        </p:nvSpPr>
        <p:spPr>
          <a:xfrm>
            <a:off x="866880" y="1956240"/>
            <a:ext cx="51325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Pacientes CON al menos una medición de HbA1c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CuadroTexto 154"/>
          <p:cNvSpPr txBox="1"/>
          <p:nvPr/>
        </p:nvSpPr>
        <p:spPr>
          <a:xfrm>
            <a:off x="866880" y="2223000"/>
            <a:ext cx="19663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SELECT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p.person_id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CuadroTexto 155"/>
          <p:cNvSpPr txBox="1"/>
          <p:nvPr/>
        </p:nvSpPr>
        <p:spPr>
          <a:xfrm>
            <a:off x="866880" y="2480040"/>
            <a:ext cx="16383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person p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CuadroTexto 156"/>
          <p:cNvSpPr txBox="1"/>
          <p:nvPr/>
        </p:nvSpPr>
        <p:spPr>
          <a:xfrm>
            <a:off x="866880" y="2746800"/>
            <a:ext cx="45864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WHERE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EXISTS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(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SELECT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1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measurement m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CuadroTexto 157"/>
          <p:cNvSpPr txBox="1"/>
          <p:nvPr/>
        </p:nvSpPr>
        <p:spPr>
          <a:xfrm>
            <a:off x="866880" y="3003840"/>
            <a:ext cx="50230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WHERE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m.person_id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p.person_id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CuadroTexto 158"/>
          <p:cNvSpPr txBox="1"/>
          <p:nvPr/>
        </p:nvSpPr>
        <p:spPr>
          <a:xfrm>
            <a:off x="866880" y="3270600"/>
            <a:ext cx="62244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AND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m.measurement_concept_id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3004410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);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CuadroTexto 159"/>
          <p:cNvSpPr txBox="1"/>
          <p:nvPr/>
        </p:nvSpPr>
        <p:spPr>
          <a:xfrm>
            <a:off x="866880" y="3794400"/>
            <a:ext cx="26211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Pacientes SIN ninguna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Forma libre 160"/>
          <p:cNvSpPr/>
          <p:nvPr/>
        </p:nvSpPr>
        <p:spPr>
          <a:xfrm>
            <a:off x="914040" y="476244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59"/>
                  <a:pt x="9" y="146"/>
                </a:cubicBezTo>
                <a:cubicBezTo>
                  <a:pt x="3" y="133"/>
                  <a:pt x="0" y="120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Forma libre 161"/>
          <p:cNvSpPr/>
          <p:nvPr/>
        </p:nvSpPr>
        <p:spPr>
          <a:xfrm>
            <a:off x="1123920" y="4667040"/>
            <a:ext cx="819360" cy="267120"/>
          </a:xfrm>
          <a:custGeom>
            <a:avLst/>
            <a:gdLst/>
            <a:ahLst/>
            <a:cxnLst/>
            <a:rect l="0" t="0" r="r" b="b"/>
            <a:pathLst>
              <a:path w="2276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2170" y="0"/>
                </a:lnTo>
                <a:cubicBezTo>
                  <a:pt x="2184" y="0"/>
                  <a:pt x="2198" y="3"/>
                  <a:pt x="2211" y="8"/>
                </a:cubicBezTo>
                <a:cubicBezTo>
                  <a:pt x="2224" y="14"/>
                  <a:pt x="2235" y="21"/>
                  <a:pt x="2245" y="31"/>
                </a:cubicBezTo>
                <a:cubicBezTo>
                  <a:pt x="2255" y="41"/>
                  <a:pt x="2263" y="52"/>
                  <a:pt x="2268" y="65"/>
                </a:cubicBezTo>
                <a:cubicBezTo>
                  <a:pt x="2273" y="78"/>
                  <a:pt x="2276" y="92"/>
                  <a:pt x="2276" y="106"/>
                </a:cubicBezTo>
                <a:lnTo>
                  <a:pt x="2276" y="635"/>
                </a:lnTo>
                <a:cubicBezTo>
                  <a:pt x="2276" y="649"/>
                  <a:pt x="2273" y="663"/>
                  <a:pt x="2268" y="676"/>
                </a:cubicBezTo>
                <a:cubicBezTo>
                  <a:pt x="2263" y="689"/>
                  <a:pt x="2255" y="700"/>
                  <a:pt x="2245" y="710"/>
                </a:cubicBezTo>
                <a:cubicBezTo>
                  <a:pt x="2235" y="720"/>
                  <a:pt x="2224" y="728"/>
                  <a:pt x="2211" y="734"/>
                </a:cubicBezTo>
                <a:cubicBezTo>
                  <a:pt x="2198" y="739"/>
                  <a:pt x="2184" y="742"/>
                  <a:pt x="2170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0"/>
                  <a:pt x="31" y="710"/>
                </a:cubicBezTo>
                <a:cubicBezTo>
                  <a:pt x="21" y="700"/>
                  <a:pt x="13" y="689"/>
                  <a:pt x="8" y="676"/>
                </a:cubicBezTo>
                <a:cubicBezTo>
                  <a:pt x="2" y="663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CuadroTexto 162"/>
          <p:cNvSpPr txBox="1"/>
          <p:nvPr/>
        </p:nvSpPr>
        <p:spPr>
          <a:xfrm>
            <a:off x="866880" y="4051800"/>
            <a:ext cx="24026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WHERE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NOT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EXISTS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(...)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CuadroTexto 163"/>
          <p:cNvSpPr txBox="1"/>
          <p:nvPr/>
        </p:nvSpPr>
        <p:spPr>
          <a:xfrm>
            <a:off x="1181160" y="4686840"/>
            <a:ext cx="7052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EXISTS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Forma libre 164"/>
          <p:cNvSpPr/>
          <p:nvPr/>
        </p:nvSpPr>
        <p:spPr>
          <a:xfrm>
            <a:off x="914040" y="51624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Forma libre 165"/>
          <p:cNvSpPr/>
          <p:nvPr/>
        </p:nvSpPr>
        <p:spPr>
          <a:xfrm>
            <a:off x="1123920" y="5067000"/>
            <a:ext cx="819360" cy="267120"/>
          </a:xfrm>
          <a:custGeom>
            <a:avLst/>
            <a:gdLst/>
            <a:ahLst/>
            <a:cxnLst/>
            <a:rect l="0" t="0" r="r" b="b"/>
            <a:pathLst>
              <a:path w="2276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2170" y="0"/>
                </a:lnTo>
                <a:cubicBezTo>
                  <a:pt x="2184" y="0"/>
                  <a:pt x="2198" y="3"/>
                  <a:pt x="2211" y="8"/>
                </a:cubicBezTo>
                <a:cubicBezTo>
                  <a:pt x="2224" y="14"/>
                  <a:pt x="2235" y="21"/>
                  <a:pt x="2245" y="31"/>
                </a:cubicBezTo>
                <a:cubicBezTo>
                  <a:pt x="2255" y="41"/>
                  <a:pt x="2263" y="53"/>
                  <a:pt x="2268" y="66"/>
                </a:cubicBezTo>
                <a:cubicBezTo>
                  <a:pt x="2273" y="79"/>
                  <a:pt x="2276" y="92"/>
                  <a:pt x="2276" y="106"/>
                </a:cubicBezTo>
                <a:lnTo>
                  <a:pt x="2276" y="636"/>
                </a:lnTo>
                <a:cubicBezTo>
                  <a:pt x="2276" y="650"/>
                  <a:pt x="2273" y="664"/>
                  <a:pt x="2268" y="677"/>
                </a:cubicBezTo>
                <a:cubicBezTo>
                  <a:pt x="2263" y="690"/>
                  <a:pt x="2255" y="701"/>
                  <a:pt x="2245" y="711"/>
                </a:cubicBezTo>
                <a:cubicBezTo>
                  <a:pt x="2235" y="721"/>
                  <a:pt x="2224" y="729"/>
                  <a:pt x="2211" y="734"/>
                </a:cubicBezTo>
                <a:cubicBezTo>
                  <a:pt x="2198" y="739"/>
                  <a:pt x="2184" y="742"/>
                  <a:pt x="2170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CuadroTexto 166"/>
          <p:cNvSpPr txBox="1"/>
          <p:nvPr/>
        </p:nvSpPr>
        <p:spPr>
          <a:xfrm>
            <a:off x="1940400" y="4649760"/>
            <a:ext cx="65152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 detiene en la primera coincidencia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no cuenta, sólo veriﬁca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CuadroTexto 167"/>
          <p:cNvSpPr txBox="1"/>
          <p:nvPr/>
        </p:nvSpPr>
        <p:spPr>
          <a:xfrm>
            <a:off x="1181160" y="5087160"/>
            <a:ext cx="7052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NOT IN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Forma libre 168"/>
          <p:cNvSpPr/>
          <p:nvPr/>
        </p:nvSpPr>
        <p:spPr>
          <a:xfrm>
            <a:off x="2742840" y="5067000"/>
            <a:ext cx="581400" cy="267120"/>
          </a:xfrm>
          <a:custGeom>
            <a:avLst/>
            <a:gdLst/>
            <a:ahLst/>
            <a:cxnLst/>
            <a:rect l="0" t="0" r="r" b="b"/>
            <a:pathLst>
              <a:path w="1615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1510" y="0"/>
                </a:lnTo>
                <a:cubicBezTo>
                  <a:pt x="1524" y="0"/>
                  <a:pt x="1537" y="3"/>
                  <a:pt x="1550" y="8"/>
                </a:cubicBezTo>
                <a:cubicBezTo>
                  <a:pt x="1563" y="14"/>
                  <a:pt x="1575" y="21"/>
                  <a:pt x="1584" y="31"/>
                </a:cubicBezTo>
                <a:cubicBezTo>
                  <a:pt x="1594" y="41"/>
                  <a:pt x="1602" y="53"/>
                  <a:pt x="1607" y="66"/>
                </a:cubicBezTo>
                <a:cubicBezTo>
                  <a:pt x="1613" y="79"/>
                  <a:pt x="1615" y="92"/>
                  <a:pt x="1615" y="106"/>
                </a:cubicBezTo>
                <a:lnTo>
                  <a:pt x="1615" y="636"/>
                </a:lnTo>
                <a:cubicBezTo>
                  <a:pt x="1615" y="650"/>
                  <a:pt x="1613" y="664"/>
                  <a:pt x="1607" y="677"/>
                </a:cubicBezTo>
                <a:cubicBezTo>
                  <a:pt x="1602" y="690"/>
                  <a:pt x="1594" y="701"/>
                  <a:pt x="1584" y="711"/>
                </a:cubicBezTo>
                <a:cubicBezTo>
                  <a:pt x="1575" y="721"/>
                  <a:pt x="1563" y="729"/>
                  <a:pt x="1550" y="734"/>
                </a:cubicBezTo>
                <a:cubicBezTo>
                  <a:pt x="1537" y="739"/>
                  <a:pt x="1524" y="742"/>
                  <a:pt x="1510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2" y="701"/>
                  <a:pt x="14" y="690"/>
                  <a:pt x="9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CuadroTexto 169"/>
          <p:cNvSpPr txBox="1"/>
          <p:nvPr/>
        </p:nvSpPr>
        <p:spPr>
          <a:xfrm>
            <a:off x="1940400" y="5049720"/>
            <a:ext cx="805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con un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CuadroTexto 170"/>
          <p:cNvSpPr txBox="1"/>
          <p:nvPr/>
        </p:nvSpPr>
        <p:spPr>
          <a:xfrm>
            <a:off x="2802240" y="5087160"/>
            <a:ext cx="470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NULL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Forma libre 171"/>
          <p:cNvSpPr/>
          <p:nvPr/>
        </p:nvSpPr>
        <p:spPr>
          <a:xfrm>
            <a:off x="6933960" y="5067000"/>
            <a:ext cx="1286280" cy="267120"/>
          </a:xfrm>
          <a:custGeom>
            <a:avLst/>
            <a:gdLst/>
            <a:ahLst/>
            <a:cxnLst/>
            <a:rect l="0" t="0" r="r" b="b"/>
            <a:pathLst>
              <a:path w="3573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3467" y="0"/>
                </a:lnTo>
                <a:cubicBezTo>
                  <a:pt x="3481" y="0"/>
                  <a:pt x="3495" y="3"/>
                  <a:pt x="3508" y="8"/>
                </a:cubicBezTo>
                <a:cubicBezTo>
                  <a:pt x="3521" y="14"/>
                  <a:pt x="3532" y="21"/>
                  <a:pt x="3542" y="31"/>
                </a:cubicBezTo>
                <a:cubicBezTo>
                  <a:pt x="3552" y="41"/>
                  <a:pt x="3560" y="53"/>
                  <a:pt x="3565" y="66"/>
                </a:cubicBezTo>
                <a:cubicBezTo>
                  <a:pt x="3570" y="79"/>
                  <a:pt x="3573" y="92"/>
                  <a:pt x="3573" y="106"/>
                </a:cubicBezTo>
                <a:lnTo>
                  <a:pt x="3573" y="636"/>
                </a:lnTo>
                <a:cubicBezTo>
                  <a:pt x="3573" y="650"/>
                  <a:pt x="3570" y="664"/>
                  <a:pt x="3565" y="677"/>
                </a:cubicBezTo>
                <a:cubicBezTo>
                  <a:pt x="3560" y="690"/>
                  <a:pt x="3552" y="701"/>
                  <a:pt x="3542" y="711"/>
                </a:cubicBezTo>
                <a:cubicBezTo>
                  <a:pt x="3532" y="721"/>
                  <a:pt x="3521" y="729"/>
                  <a:pt x="3508" y="734"/>
                </a:cubicBezTo>
                <a:cubicBezTo>
                  <a:pt x="3495" y="739"/>
                  <a:pt x="3481" y="742"/>
                  <a:pt x="3467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CuadroTexto 172"/>
          <p:cNvSpPr txBox="1"/>
          <p:nvPr/>
        </p:nvSpPr>
        <p:spPr>
          <a:xfrm>
            <a:off x="3327480" y="5049720"/>
            <a:ext cx="3109826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en la lista </a:t>
            </a:r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no devuelve nada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 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CuadroTexto 173"/>
          <p:cNvSpPr txBox="1"/>
          <p:nvPr/>
        </p:nvSpPr>
        <p:spPr>
          <a:xfrm>
            <a:off x="6993000" y="5087160"/>
            <a:ext cx="11750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NOT EXISTS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Forma libre 174"/>
          <p:cNvSpPr/>
          <p:nvPr/>
        </p:nvSpPr>
        <p:spPr>
          <a:xfrm>
            <a:off x="914040" y="556236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CuadroTexto 175"/>
          <p:cNvSpPr txBox="1"/>
          <p:nvPr/>
        </p:nvSpPr>
        <p:spPr>
          <a:xfrm>
            <a:off x="8219880" y="5049720"/>
            <a:ext cx="2253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no tiene ese problema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Forma libre 176"/>
          <p:cNvSpPr/>
          <p:nvPr/>
        </p:nvSpPr>
        <p:spPr>
          <a:xfrm>
            <a:off x="6459668" y="5467320"/>
            <a:ext cx="819360" cy="266760"/>
          </a:xfrm>
          <a:custGeom>
            <a:avLst/>
            <a:gdLst/>
            <a:ahLst/>
            <a:cxnLst/>
            <a:rect l="0" t="0" r="r" b="b"/>
            <a:pathLst>
              <a:path w="2276" h="741">
                <a:moveTo>
                  <a:pt x="0" y="635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2169" y="0"/>
                </a:lnTo>
                <a:cubicBezTo>
                  <a:pt x="2183" y="0"/>
                  <a:pt x="2197" y="2"/>
                  <a:pt x="2210" y="8"/>
                </a:cubicBezTo>
                <a:cubicBezTo>
                  <a:pt x="2223" y="13"/>
                  <a:pt x="2234" y="21"/>
                  <a:pt x="2244" y="31"/>
                </a:cubicBezTo>
                <a:cubicBezTo>
                  <a:pt x="2255" y="41"/>
                  <a:pt x="2263" y="52"/>
                  <a:pt x="2268" y="65"/>
                </a:cubicBezTo>
                <a:cubicBezTo>
                  <a:pt x="2273" y="78"/>
                  <a:pt x="2276" y="91"/>
                  <a:pt x="2276" y="105"/>
                </a:cubicBezTo>
                <a:lnTo>
                  <a:pt x="2276" y="635"/>
                </a:lnTo>
                <a:cubicBezTo>
                  <a:pt x="2276" y="649"/>
                  <a:pt x="2273" y="662"/>
                  <a:pt x="2268" y="675"/>
                </a:cubicBezTo>
                <a:cubicBezTo>
                  <a:pt x="2263" y="688"/>
                  <a:pt x="2255" y="699"/>
                  <a:pt x="2244" y="709"/>
                </a:cubicBezTo>
                <a:cubicBezTo>
                  <a:pt x="2234" y="719"/>
                  <a:pt x="2223" y="728"/>
                  <a:pt x="2210" y="733"/>
                </a:cubicBezTo>
                <a:cubicBezTo>
                  <a:pt x="2197" y="739"/>
                  <a:pt x="2183" y="741"/>
                  <a:pt x="2169" y="741"/>
                </a:cubicBezTo>
                <a:lnTo>
                  <a:pt x="105" y="741"/>
                </a:lnTo>
                <a:cubicBezTo>
                  <a:pt x="91" y="741"/>
                  <a:pt x="78" y="739"/>
                  <a:pt x="65" y="733"/>
                </a:cubicBezTo>
                <a:cubicBezTo>
                  <a:pt x="52" y="728"/>
                  <a:pt x="41" y="719"/>
                  <a:pt x="31" y="709"/>
                </a:cubicBezTo>
                <a:cubicBezTo>
                  <a:pt x="21" y="699"/>
                  <a:pt x="13" y="688"/>
                  <a:pt x="8" y="675"/>
                </a:cubicBezTo>
                <a:cubicBezTo>
                  <a:pt x="2" y="662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CuadroTexto 177"/>
          <p:cNvSpPr txBox="1"/>
          <p:nvPr/>
        </p:nvSpPr>
        <p:spPr>
          <a:xfrm>
            <a:off x="1123920" y="5449680"/>
            <a:ext cx="5031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Para criterios de inclusión y exclusión de cohortes, 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CuadroTexto 178"/>
          <p:cNvSpPr txBox="1"/>
          <p:nvPr/>
        </p:nvSpPr>
        <p:spPr>
          <a:xfrm>
            <a:off x="6569550" y="5487120"/>
            <a:ext cx="7052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 dirty="0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EXISTS</a:t>
            </a:r>
            <a:endParaRPr lang="es-ES" sz="15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CuadroTexto 179"/>
          <p:cNvSpPr txBox="1"/>
          <p:nvPr/>
        </p:nvSpPr>
        <p:spPr>
          <a:xfrm>
            <a:off x="7343100" y="5457232"/>
            <a:ext cx="1220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es el patrón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CuadroTexto 18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CuadroTexto 18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CuadroTexto 182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10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Forma libre 18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Forma libre 18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Forma libre 18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CuadroTexto 186"/>
          <p:cNvSpPr txBox="1"/>
          <p:nvPr/>
        </p:nvSpPr>
        <p:spPr>
          <a:xfrm>
            <a:off x="3341160" y="3063960"/>
            <a:ext cx="563292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4. Funciones de ventana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CuadroTexto 18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CuadroTexto 18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CuadroTexto 189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11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Forma libre 19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Forma libre 19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Forma libre 192"/>
          <p:cNvSpPr/>
          <p:nvPr/>
        </p:nvSpPr>
        <p:spPr>
          <a:xfrm>
            <a:off x="-11706" y="31428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Forma libre 193"/>
          <p:cNvSpPr/>
          <p:nvPr/>
        </p:nvSpPr>
        <p:spPr>
          <a:xfrm>
            <a:off x="671400" y="1547640"/>
            <a:ext cx="10849320" cy="1629000"/>
          </a:xfrm>
          <a:custGeom>
            <a:avLst/>
            <a:gdLst/>
            <a:ahLst/>
            <a:cxnLst/>
            <a:rect l="0" t="0" r="r" b="b"/>
            <a:pathLst>
              <a:path w="30137" h="4525">
                <a:moveTo>
                  <a:pt x="0" y="4327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5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4327"/>
                </a:lnTo>
                <a:cubicBezTo>
                  <a:pt x="30137" y="4340"/>
                  <a:pt x="30136" y="4353"/>
                  <a:pt x="30133" y="4366"/>
                </a:cubicBezTo>
                <a:cubicBezTo>
                  <a:pt x="30130" y="4378"/>
                  <a:pt x="30127" y="4391"/>
                  <a:pt x="30122" y="4403"/>
                </a:cubicBezTo>
                <a:cubicBezTo>
                  <a:pt x="30117" y="4415"/>
                  <a:pt x="30111" y="4426"/>
                  <a:pt x="30103" y="4437"/>
                </a:cubicBezTo>
                <a:cubicBezTo>
                  <a:pt x="30096" y="4448"/>
                  <a:pt x="30088" y="4458"/>
                  <a:pt x="30079" y="4467"/>
                </a:cubicBezTo>
                <a:cubicBezTo>
                  <a:pt x="30070" y="4476"/>
                  <a:pt x="30059" y="4485"/>
                  <a:pt x="30049" y="4492"/>
                </a:cubicBezTo>
                <a:cubicBezTo>
                  <a:pt x="30038" y="4499"/>
                  <a:pt x="30026" y="4505"/>
                  <a:pt x="30014" y="4510"/>
                </a:cubicBezTo>
                <a:cubicBezTo>
                  <a:pt x="30002" y="4515"/>
                  <a:pt x="29990" y="4519"/>
                  <a:pt x="29977" y="4522"/>
                </a:cubicBezTo>
                <a:cubicBezTo>
                  <a:pt x="29964" y="4524"/>
                  <a:pt x="29951" y="4525"/>
                  <a:pt x="29938" y="4525"/>
                </a:cubicBezTo>
                <a:lnTo>
                  <a:pt x="198" y="4525"/>
                </a:lnTo>
                <a:cubicBezTo>
                  <a:pt x="185" y="4525"/>
                  <a:pt x="172" y="4524"/>
                  <a:pt x="160" y="4522"/>
                </a:cubicBezTo>
                <a:cubicBezTo>
                  <a:pt x="147" y="4519"/>
                  <a:pt x="134" y="4515"/>
                  <a:pt x="122" y="4510"/>
                </a:cubicBezTo>
                <a:cubicBezTo>
                  <a:pt x="110" y="4505"/>
                  <a:pt x="99" y="4499"/>
                  <a:pt x="88" y="4492"/>
                </a:cubicBezTo>
                <a:cubicBezTo>
                  <a:pt x="77" y="4485"/>
                  <a:pt x="67" y="4476"/>
                  <a:pt x="58" y="4467"/>
                </a:cubicBezTo>
                <a:cubicBezTo>
                  <a:pt x="49" y="4458"/>
                  <a:pt x="40" y="4448"/>
                  <a:pt x="33" y="4437"/>
                </a:cubicBezTo>
                <a:cubicBezTo>
                  <a:pt x="26" y="4426"/>
                  <a:pt x="20" y="4415"/>
                  <a:pt x="15" y="4403"/>
                </a:cubicBezTo>
                <a:cubicBezTo>
                  <a:pt x="10" y="4391"/>
                  <a:pt x="6" y="4378"/>
                  <a:pt x="4" y="4366"/>
                </a:cubicBezTo>
                <a:cubicBezTo>
                  <a:pt x="1" y="4353"/>
                  <a:pt x="0" y="4340"/>
                  <a:pt x="0" y="432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Forma libre 194"/>
          <p:cNvSpPr/>
          <p:nvPr/>
        </p:nvSpPr>
        <p:spPr>
          <a:xfrm>
            <a:off x="671400" y="1547640"/>
            <a:ext cx="10849320" cy="1629000"/>
          </a:xfrm>
          <a:custGeom>
            <a:avLst/>
            <a:gdLst/>
            <a:ahLst/>
            <a:cxnLst/>
            <a:rect l="0" t="0" r="r" b="b"/>
            <a:pathLst>
              <a:path w="30137" h="4525">
                <a:moveTo>
                  <a:pt x="0" y="4327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5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4327"/>
                </a:lnTo>
                <a:cubicBezTo>
                  <a:pt x="30137" y="4340"/>
                  <a:pt x="30136" y="4353"/>
                  <a:pt x="30133" y="4366"/>
                </a:cubicBezTo>
                <a:cubicBezTo>
                  <a:pt x="30130" y="4378"/>
                  <a:pt x="30127" y="4391"/>
                  <a:pt x="30122" y="4403"/>
                </a:cubicBezTo>
                <a:cubicBezTo>
                  <a:pt x="30117" y="4415"/>
                  <a:pt x="30111" y="4426"/>
                  <a:pt x="30103" y="4437"/>
                </a:cubicBezTo>
                <a:cubicBezTo>
                  <a:pt x="30096" y="4448"/>
                  <a:pt x="30088" y="4458"/>
                  <a:pt x="30079" y="4467"/>
                </a:cubicBezTo>
                <a:cubicBezTo>
                  <a:pt x="30070" y="4476"/>
                  <a:pt x="30059" y="4485"/>
                  <a:pt x="30049" y="4492"/>
                </a:cubicBezTo>
                <a:cubicBezTo>
                  <a:pt x="30038" y="4499"/>
                  <a:pt x="30026" y="4505"/>
                  <a:pt x="30014" y="4510"/>
                </a:cubicBezTo>
                <a:cubicBezTo>
                  <a:pt x="30002" y="4515"/>
                  <a:pt x="29990" y="4519"/>
                  <a:pt x="29977" y="4522"/>
                </a:cubicBezTo>
                <a:cubicBezTo>
                  <a:pt x="29964" y="4524"/>
                  <a:pt x="29951" y="4525"/>
                  <a:pt x="29938" y="4525"/>
                </a:cubicBezTo>
                <a:lnTo>
                  <a:pt x="198" y="4525"/>
                </a:lnTo>
                <a:cubicBezTo>
                  <a:pt x="185" y="4525"/>
                  <a:pt x="172" y="4524"/>
                  <a:pt x="160" y="4522"/>
                </a:cubicBezTo>
                <a:cubicBezTo>
                  <a:pt x="147" y="4519"/>
                  <a:pt x="134" y="4515"/>
                  <a:pt x="122" y="4510"/>
                </a:cubicBezTo>
                <a:cubicBezTo>
                  <a:pt x="110" y="4505"/>
                  <a:pt x="99" y="4499"/>
                  <a:pt x="88" y="4492"/>
                </a:cubicBezTo>
                <a:cubicBezTo>
                  <a:pt x="77" y="4485"/>
                  <a:pt x="67" y="4476"/>
                  <a:pt x="58" y="4467"/>
                </a:cubicBezTo>
                <a:cubicBezTo>
                  <a:pt x="49" y="4458"/>
                  <a:pt x="40" y="4448"/>
                  <a:pt x="33" y="4437"/>
                </a:cubicBezTo>
                <a:cubicBezTo>
                  <a:pt x="26" y="4426"/>
                  <a:pt x="20" y="4415"/>
                  <a:pt x="15" y="4403"/>
                </a:cubicBezTo>
                <a:cubicBezTo>
                  <a:pt x="10" y="4391"/>
                  <a:pt x="6" y="4378"/>
                  <a:pt x="4" y="4366"/>
                </a:cubicBezTo>
                <a:cubicBezTo>
                  <a:pt x="1" y="4353"/>
                  <a:pt x="0" y="4340"/>
                  <a:pt x="0" y="432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Forma libre 195"/>
          <p:cNvSpPr/>
          <p:nvPr/>
        </p:nvSpPr>
        <p:spPr>
          <a:xfrm>
            <a:off x="676080" y="3333600"/>
            <a:ext cx="1143360" cy="410040"/>
          </a:xfrm>
          <a:custGeom>
            <a:avLst/>
            <a:gdLst/>
            <a:ahLst/>
            <a:cxnLst/>
            <a:rect l="0" t="0" r="r" b="b"/>
            <a:pathLst>
              <a:path w="3176" h="1139">
                <a:moveTo>
                  <a:pt x="0" y="0"/>
                </a:moveTo>
                <a:lnTo>
                  <a:pt x="3176" y="0"/>
                </a:lnTo>
                <a:lnTo>
                  <a:pt x="317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Forma libre 196"/>
          <p:cNvSpPr/>
          <p:nvPr/>
        </p:nvSpPr>
        <p:spPr>
          <a:xfrm>
            <a:off x="1819080" y="3333600"/>
            <a:ext cx="962280" cy="410040"/>
          </a:xfrm>
          <a:custGeom>
            <a:avLst/>
            <a:gdLst/>
            <a:ahLst/>
            <a:cxnLst/>
            <a:rect l="0" t="0" r="r" b="b"/>
            <a:pathLst>
              <a:path w="2673" h="1139">
                <a:moveTo>
                  <a:pt x="0" y="0"/>
                </a:moveTo>
                <a:lnTo>
                  <a:pt x="2673" y="0"/>
                </a:lnTo>
                <a:lnTo>
                  <a:pt x="2673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Forma libre 197"/>
          <p:cNvSpPr/>
          <p:nvPr/>
        </p:nvSpPr>
        <p:spPr>
          <a:xfrm>
            <a:off x="2781000" y="3333600"/>
            <a:ext cx="705240" cy="410040"/>
          </a:xfrm>
          <a:custGeom>
            <a:avLst/>
            <a:gdLst/>
            <a:ahLst/>
            <a:cxnLst/>
            <a:rect l="0" t="0" r="r" b="b"/>
            <a:pathLst>
              <a:path w="1959" h="1139">
                <a:moveTo>
                  <a:pt x="0" y="0"/>
                </a:moveTo>
                <a:lnTo>
                  <a:pt x="1959" y="0"/>
                </a:lnTo>
                <a:lnTo>
                  <a:pt x="1959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Forma libre 198"/>
          <p:cNvSpPr/>
          <p:nvPr/>
        </p:nvSpPr>
        <p:spPr>
          <a:xfrm>
            <a:off x="3485880" y="3333600"/>
            <a:ext cx="1695960" cy="410040"/>
          </a:xfrm>
          <a:custGeom>
            <a:avLst/>
            <a:gdLst/>
            <a:ahLst/>
            <a:cxnLst/>
            <a:rect l="0" t="0" r="r" b="b"/>
            <a:pathLst>
              <a:path w="4711" h="1139">
                <a:moveTo>
                  <a:pt x="0" y="0"/>
                </a:moveTo>
                <a:lnTo>
                  <a:pt x="4711" y="0"/>
                </a:lnTo>
                <a:lnTo>
                  <a:pt x="471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Forma libre 199"/>
          <p:cNvSpPr/>
          <p:nvPr/>
        </p:nvSpPr>
        <p:spPr>
          <a:xfrm>
            <a:off x="676080" y="3333600"/>
            <a:ext cx="1143360" cy="410040"/>
          </a:xfrm>
          <a:custGeom>
            <a:avLst/>
            <a:gdLst/>
            <a:ahLst/>
            <a:cxnLst/>
            <a:rect l="0" t="0" r="r" b="b"/>
            <a:pathLst>
              <a:path w="3176" h="1139">
                <a:moveTo>
                  <a:pt x="0" y="0"/>
                </a:moveTo>
                <a:lnTo>
                  <a:pt x="3176" y="0"/>
                </a:lnTo>
                <a:lnTo>
                  <a:pt x="317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Forma libre 200"/>
          <p:cNvSpPr/>
          <p:nvPr/>
        </p:nvSpPr>
        <p:spPr>
          <a:xfrm>
            <a:off x="1819080" y="3333600"/>
            <a:ext cx="962280" cy="410040"/>
          </a:xfrm>
          <a:custGeom>
            <a:avLst/>
            <a:gdLst/>
            <a:ahLst/>
            <a:cxnLst/>
            <a:rect l="0" t="0" r="r" b="b"/>
            <a:pathLst>
              <a:path w="2673" h="1139">
                <a:moveTo>
                  <a:pt x="0" y="0"/>
                </a:moveTo>
                <a:lnTo>
                  <a:pt x="2673" y="0"/>
                </a:lnTo>
                <a:lnTo>
                  <a:pt x="2673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Forma libre 201"/>
          <p:cNvSpPr/>
          <p:nvPr/>
        </p:nvSpPr>
        <p:spPr>
          <a:xfrm>
            <a:off x="2781000" y="3333600"/>
            <a:ext cx="705240" cy="410040"/>
          </a:xfrm>
          <a:custGeom>
            <a:avLst/>
            <a:gdLst/>
            <a:ahLst/>
            <a:cxnLst/>
            <a:rect l="0" t="0" r="r" b="b"/>
            <a:pathLst>
              <a:path w="1959" h="1139">
                <a:moveTo>
                  <a:pt x="0" y="0"/>
                </a:moveTo>
                <a:lnTo>
                  <a:pt x="1959" y="0"/>
                </a:lnTo>
                <a:lnTo>
                  <a:pt x="1959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Forma libre 202"/>
          <p:cNvSpPr/>
          <p:nvPr/>
        </p:nvSpPr>
        <p:spPr>
          <a:xfrm>
            <a:off x="3485880" y="3333600"/>
            <a:ext cx="1695960" cy="410040"/>
          </a:xfrm>
          <a:custGeom>
            <a:avLst/>
            <a:gdLst/>
            <a:ahLst/>
            <a:cxnLst/>
            <a:rect l="0" t="0" r="r" b="b"/>
            <a:pathLst>
              <a:path w="4711" h="1139">
                <a:moveTo>
                  <a:pt x="0" y="0"/>
                </a:moveTo>
                <a:lnTo>
                  <a:pt x="4711" y="0"/>
                </a:lnTo>
                <a:lnTo>
                  <a:pt x="471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Forma libre 203"/>
          <p:cNvSpPr/>
          <p:nvPr/>
        </p:nvSpPr>
        <p:spPr>
          <a:xfrm>
            <a:off x="676080" y="3743280"/>
            <a:ext cx="1143360" cy="409680"/>
          </a:xfrm>
          <a:custGeom>
            <a:avLst/>
            <a:gdLst/>
            <a:ahLst/>
            <a:cxnLst/>
            <a:rect l="0" t="0" r="r" b="b"/>
            <a:pathLst>
              <a:path w="3176" h="1138">
                <a:moveTo>
                  <a:pt x="0" y="0"/>
                </a:moveTo>
                <a:lnTo>
                  <a:pt x="3176" y="0"/>
                </a:lnTo>
                <a:lnTo>
                  <a:pt x="3176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Forma libre 204"/>
          <p:cNvSpPr/>
          <p:nvPr/>
        </p:nvSpPr>
        <p:spPr>
          <a:xfrm>
            <a:off x="1819080" y="3743280"/>
            <a:ext cx="962280" cy="409680"/>
          </a:xfrm>
          <a:custGeom>
            <a:avLst/>
            <a:gdLst/>
            <a:ahLst/>
            <a:cxnLst/>
            <a:rect l="0" t="0" r="r" b="b"/>
            <a:pathLst>
              <a:path w="2673" h="1138">
                <a:moveTo>
                  <a:pt x="0" y="0"/>
                </a:moveTo>
                <a:lnTo>
                  <a:pt x="2673" y="0"/>
                </a:lnTo>
                <a:lnTo>
                  <a:pt x="2673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Forma libre 205"/>
          <p:cNvSpPr/>
          <p:nvPr/>
        </p:nvSpPr>
        <p:spPr>
          <a:xfrm>
            <a:off x="2781000" y="3743280"/>
            <a:ext cx="705240" cy="409680"/>
          </a:xfrm>
          <a:custGeom>
            <a:avLst/>
            <a:gdLst/>
            <a:ahLst/>
            <a:cxnLst/>
            <a:rect l="0" t="0" r="r" b="b"/>
            <a:pathLst>
              <a:path w="1959" h="1138">
                <a:moveTo>
                  <a:pt x="0" y="0"/>
                </a:moveTo>
                <a:lnTo>
                  <a:pt x="1959" y="0"/>
                </a:lnTo>
                <a:lnTo>
                  <a:pt x="1959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Forma libre 206"/>
          <p:cNvSpPr/>
          <p:nvPr/>
        </p:nvSpPr>
        <p:spPr>
          <a:xfrm>
            <a:off x="3485880" y="3743280"/>
            <a:ext cx="1695960" cy="409680"/>
          </a:xfrm>
          <a:custGeom>
            <a:avLst/>
            <a:gdLst/>
            <a:ahLst/>
            <a:cxnLst/>
            <a:rect l="0" t="0" r="r" b="b"/>
            <a:pathLst>
              <a:path w="4711" h="1138">
                <a:moveTo>
                  <a:pt x="0" y="0"/>
                </a:moveTo>
                <a:lnTo>
                  <a:pt x="4711" y="0"/>
                </a:lnTo>
                <a:lnTo>
                  <a:pt x="4711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Forma libre 207"/>
          <p:cNvSpPr/>
          <p:nvPr/>
        </p:nvSpPr>
        <p:spPr>
          <a:xfrm>
            <a:off x="676080" y="4152600"/>
            <a:ext cx="1143360" cy="410040"/>
          </a:xfrm>
          <a:custGeom>
            <a:avLst/>
            <a:gdLst/>
            <a:ahLst/>
            <a:cxnLst/>
            <a:rect l="0" t="0" r="r" b="b"/>
            <a:pathLst>
              <a:path w="3176" h="1139">
                <a:moveTo>
                  <a:pt x="0" y="0"/>
                </a:moveTo>
                <a:lnTo>
                  <a:pt x="3176" y="0"/>
                </a:lnTo>
                <a:lnTo>
                  <a:pt x="317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Forma libre 208"/>
          <p:cNvSpPr/>
          <p:nvPr/>
        </p:nvSpPr>
        <p:spPr>
          <a:xfrm>
            <a:off x="1819080" y="4152600"/>
            <a:ext cx="962280" cy="410040"/>
          </a:xfrm>
          <a:custGeom>
            <a:avLst/>
            <a:gdLst/>
            <a:ahLst/>
            <a:cxnLst/>
            <a:rect l="0" t="0" r="r" b="b"/>
            <a:pathLst>
              <a:path w="2673" h="1139">
                <a:moveTo>
                  <a:pt x="0" y="0"/>
                </a:moveTo>
                <a:lnTo>
                  <a:pt x="2673" y="0"/>
                </a:lnTo>
                <a:lnTo>
                  <a:pt x="2673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Forma libre 209"/>
          <p:cNvSpPr/>
          <p:nvPr/>
        </p:nvSpPr>
        <p:spPr>
          <a:xfrm>
            <a:off x="2781000" y="4152600"/>
            <a:ext cx="705240" cy="410040"/>
          </a:xfrm>
          <a:custGeom>
            <a:avLst/>
            <a:gdLst/>
            <a:ahLst/>
            <a:cxnLst/>
            <a:rect l="0" t="0" r="r" b="b"/>
            <a:pathLst>
              <a:path w="1959" h="1139">
                <a:moveTo>
                  <a:pt x="0" y="0"/>
                </a:moveTo>
                <a:lnTo>
                  <a:pt x="1959" y="0"/>
                </a:lnTo>
                <a:lnTo>
                  <a:pt x="1959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Forma libre 210"/>
          <p:cNvSpPr/>
          <p:nvPr/>
        </p:nvSpPr>
        <p:spPr>
          <a:xfrm>
            <a:off x="3485880" y="4152600"/>
            <a:ext cx="1695960" cy="410040"/>
          </a:xfrm>
          <a:custGeom>
            <a:avLst/>
            <a:gdLst/>
            <a:ahLst/>
            <a:cxnLst/>
            <a:rect l="0" t="0" r="r" b="b"/>
            <a:pathLst>
              <a:path w="4711" h="1139">
                <a:moveTo>
                  <a:pt x="0" y="0"/>
                </a:moveTo>
                <a:lnTo>
                  <a:pt x="4711" y="0"/>
                </a:lnTo>
                <a:lnTo>
                  <a:pt x="471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Forma libre 211"/>
          <p:cNvSpPr/>
          <p:nvPr/>
        </p:nvSpPr>
        <p:spPr>
          <a:xfrm>
            <a:off x="676080" y="4562280"/>
            <a:ext cx="1143360" cy="410040"/>
          </a:xfrm>
          <a:custGeom>
            <a:avLst/>
            <a:gdLst/>
            <a:ahLst/>
            <a:cxnLst/>
            <a:rect l="0" t="0" r="r" b="b"/>
            <a:pathLst>
              <a:path w="3176" h="1139">
                <a:moveTo>
                  <a:pt x="0" y="0"/>
                </a:moveTo>
                <a:lnTo>
                  <a:pt x="3176" y="0"/>
                </a:lnTo>
                <a:lnTo>
                  <a:pt x="317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Forma libre 212"/>
          <p:cNvSpPr/>
          <p:nvPr/>
        </p:nvSpPr>
        <p:spPr>
          <a:xfrm>
            <a:off x="1819080" y="4562280"/>
            <a:ext cx="962280" cy="410040"/>
          </a:xfrm>
          <a:custGeom>
            <a:avLst/>
            <a:gdLst/>
            <a:ahLst/>
            <a:cxnLst/>
            <a:rect l="0" t="0" r="r" b="b"/>
            <a:pathLst>
              <a:path w="2673" h="1139">
                <a:moveTo>
                  <a:pt x="0" y="0"/>
                </a:moveTo>
                <a:lnTo>
                  <a:pt x="2673" y="0"/>
                </a:lnTo>
                <a:lnTo>
                  <a:pt x="2673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Forma libre 213"/>
          <p:cNvSpPr/>
          <p:nvPr/>
        </p:nvSpPr>
        <p:spPr>
          <a:xfrm>
            <a:off x="2781000" y="4562280"/>
            <a:ext cx="705240" cy="410040"/>
          </a:xfrm>
          <a:custGeom>
            <a:avLst/>
            <a:gdLst/>
            <a:ahLst/>
            <a:cxnLst/>
            <a:rect l="0" t="0" r="r" b="b"/>
            <a:pathLst>
              <a:path w="1959" h="1139">
                <a:moveTo>
                  <a:pt x="0" y="0"/>
                </a:moveTo>
                <a:lnTo>
                  <a:pt x="1959" y="0"/>
                </a:lnTo>
                <a:lnTo>
                  <a:pt x="1959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Forma libre 214"/>
          <p:cNvSpPr/>
          <p:nvPr/>
        </p:nvSpPr>
        <p:spPr>
          <a:xfrm>
            <a:off x="3485880" y="4562280"/>
            <a:ext cx="1695960" cy="410040"/>
          </a:xfrm>
          <a:custGeom>
            <a:avLst/>
            <a:gdLst/>
            <a:ahLst/>
            <a:cxnLst/>
            <a:rect l="0" t="0" r="r" b="b"/>
            <a:pathLst>
              <a:path w="4711" h="1139">
                <a:moveTo>
                  <a:pt x="0" y="0"/>
                </a:moveTo>
                <a:lnTo>
                  <a:pt x="4711" y="0"/>
                </a:lnTo>
                <a:lnTo>
                  <a:pt x="471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Forma libre 215"/>
          <p:cNvSpPr/>
          <p:nvPr/>
        </p:nvSpPr>
        <p:spPr>
          <a:xfrm>
            <a:off x="666720" y="33336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Forma libre 216"/>
          <p:cNvSpPr/>
          <p:nvPr/>
        </p:nvSpPr>
        <p:spPr>
          <a:xfrm>
            <a:off x="666720" y="3333600"/>
            <a:ext cx="1162080" cy="9720"/>
          </a:xfrm>
          <a:custGeom>
            <a:avLst/>
            <a:gdLst/>
            <a:ahLst/>
            <a:cxnLst/>
            <a:rect l="0" t="0" r="r" b="b"/>
            <a:pathLst>
              <a:path w="3228" h="27">
                <a:moveTo>
                  <a:pt x="0" y="0"/>
                </a:moveTo>
                <a:lnTo>
                  <a:pt x="3228" y="0"/>
                </a:lnTo>
                <a:lnTo>
                  <a:pt x="32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Forma libre 217"/>
          <p:cNvSpPr/>
          <p:nvPr/>
        </p:nvSpPr>
        <p:spPr>
          <a:xfrm>
            <a:off x="1819080" y="33336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Forma libre 218"/>
          <p:cNvSpPr/>
          <p:nvPr/>
        </p:nvSpPr>
        <p:spPr>
          <a:xfrm>
            <a:off x="1828440" y="3333600"/>
            <a:ext cx="962640" cy="9720"/>
          </a:xfrm>
          <a:custGeom>
            <a:avLst/>
            <a:gdLst/>
            <a:ahLst/>
            <a:cxnLst/>
            <a:rect l="0" t="0" r="r" b="b"/>
            <a:pathLst>
              <a:path w="2674" h="27">
                <a:moveTo>
                  <a:pt x="0" y="0"/>
                </a:moveTo>
                <a:lnTo>
                  <a:pt x="2674" y="0"/>
                </a:lnTo>
                <a:lnTo>
                  <a:pt x="267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Forma libre 219"/>
          <p:cNvSpPr/>
          <p:nvPr/>
        </p:nvSpPr>
        <p:spPr>
          <a:xfrm>
            <a:off x="2781000" y="33336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Forma libre 220"/>
          <p:cNvSpPr/>
          <p:nvPr/>
        </p:nvSpPr>
        <p:spPr>
          <a:xfrm>
            <a:off x="2790720" y="3333600"/>
            <a:ext cx="705240" cy="9720"/>
          </a:xfrm>
          <a:custGeom>
            <a:avLst/>
            <a:gdLst/>
            <a:ahLst/>
            <a:cxnLst/>
            <a:rect l="0" t="0" r="r" b="b"/>
            <a:pathLst>
              <a:path w="1959" h="27">
                <a:moveTo>
                  <a:pt x="0" y="0"/>
                </a:moveTo>
                <a:lnTo>
                  <a:pt x="1959" y="0"/>
                </a:lnTo>
                <a:lnTo>
                  <a:pt x="195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Forma libre 221"/>
          <p:cNvSpPr/>
          <p:nvPr/>
        </p:nvSpPr>
        <p:spPr>
          <a:xfrm>
            <a:off x="3485880" y="33336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Forma libre 222"/>
          <p:cNvSpPr/>
          <p:nvPr/>
        </p:nvSpPr>
        <p:spPr>
          <a:xfrm>
            <a:off x="3495600" y="3333600"/>
            <a:ext cx="1695600" cy="9720"/>
          </a:xfrm>
          <a:custGeom>
            <a:avLst/>
            <a:gdLst/>
            <a:ahLst/>
            <a:cxnLst/>
            <a:rect l="0" t="0" r="r" b="b"/>
            <a:pathLst>
              <a:path w="4710" h="27">
                <a:moveTo>
                  <a:pt x="0" y="0"/>
                </a:moveTo>
                <a:lnTo>
                  <a:pt x="4710" y="0"/>
                </a:lnTo>
                <a:lnTo>
                  <a:pt x="471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Forma libre 223"/>
          <p:cNvSpPr/>
          <p:nvPr/>
        </p:nvSpPr>
        <p:spPr>
          <a:xfrm>
            <a:off x="5181480" y="33336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Forma libre 224"/>
          <p:cNvSpPr/>
          <p:nvPr/>
        </p:nvSpPr>
        <p:spPr>
          <a:xfrm>
            <a:off x="666720" y="3743280"/>
            <a:ext cx="1162080" cy="9720"/>
          </a:xfrm>
          <a:custGeom>
            <a:avLst/>
            <a:gdLst/>
            <a:ahLst/>
            <a:cxnLst/>
            <a:rect l="0" t="0" r="r" b="b"/>
            <a:pathLst>
              <a:path w="3228" h="27">
                <a:moveTo>
                  <a:pt x="0" y="0"/>
                </a:moveTo>
                <a:lnTo>
                  <a:pt x="3228" y="0"/>
                </a:lnTo>
                <a:lnTo>
                  <a:pt x="32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Forma libre 225"/>
          <p:cNvSpPr/>
          <p:nvPr/>
        </p:nvSpPr>
        <p:spPr>
          <a:xfrm>
            <a:off x="1828440" y="3743280"/>
            <a:ext cx="962640" cy="9720"/>
          </a:xfrm>
          <a:custGeom>
            <a:avLst/>
            <a:gdLst/>
            <a:ahLst/>
            <a:cxnLst/>
            <a:rect l="0" t="0" r="r" b="b"/>
            <a:pathLst>
              <a:path w="2674" h="27">
                <a:moveTo>
                  <a:pt x="0" y="0"/>
                </a:moveTo>
                <a:lnTo>
                  <a:pt x="2674" y="0"/>
                </a:lnTo>
                <a:lnTo>
                  <a:pt x="267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Forma libre 226"/>
          <p:cNvSpPr/>
          <p:nvPr/>
        </p:nvSpPr>
        <p:spPr>
          <a:xfrm>
            <a:off x="2790720" y="3743280"/>
            <a:ext cx="705240" cy="9720"/>
          </a:xfrm>
          <a:custGeom>
            <a:avLst/>
            <a:gdLst/>
            <a:ahLst/>
            <a:cxnLst/>
            <a:rect l="0" t="0" r="r" b="b"/>
            <a:pathLst>
              <a:path w="1959" h="27">
                <a:moveTo>
                  <a:pt x="0" y="0"/>
                </a:moveTo>
                <a:lnTo>
                  <a:pt x="1959" y="0"/>
                </a:lnTo>
                <a:lnTo>
                  <a:pt x="195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Forma libre 227"/>
          <p:cNvSpPr/>
          <p:nvPr/>
        </p:nvSpPr>
        <p:spPr>
          <a:xfrm>
            <a:off x="3495600" y="3743280"/>
            <a:ext cx="1695600" cy="9720"/>
          </a:xfrm>
          <a:custGeom>
            <a:avLst/>
            <a:gdLst/>
            <a:ahLst/>
            <a:cxnLst/>
            <a:rect l="0" t="0" r="r" b="b"/>
            <a:pathLst>
              <a:path w="4710" h="27">
                <a:moveTo>
                  <a:pt x="0" y="0"/>
                </a:moveTo>
                <a:lnTo>
                  <a:pt x="4710" y="0"/>
                </a:lnTo>
                <a:lnTo>
                  <a:pt x="471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Forma libre 228"/>
          <p:cNvSpPr/>
          <p:nvPr/>
        </p:nvSpPr>
        <p:spPr>
          <a:xfrm>
            <a:off x="666720" y="375264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Forma libre 229"/>
          <p:cNvSpPr/>
          <p:nvPr/>
        </p:nvSpPr>
        <p:spPr>
          <a:xfrm>
            <a:off x="1819080" y="375264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Forma libre 230"/>
          <p:cNvSpPr/>
          <p:nvPr/>
        </p:nvSpPr>
        <p:spPr>
          <a:xfrm>
            <a:off x="2781000" y="375264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Forma libre 231"/>
          <p:cNvSpPr/>
          <p:nvPr/>
        </p:nvSpPr>
        <p:spPr>
          <a:xfrm>
            <a:off x="3485880" y="375264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Forma libre 232"/>
          <p:cNvSpPr/>
          <p:nvPr/>
        </p:nvSpPr>
        <p:spPr>
          <a:xfrm>
            <a:off x="5181480" y="375264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Forma libre 233"/>
          <p:cNvSpPr/>
          <p:nvPr/>
        </p:nvSpPr>
        <p:spPr>
          <a:xfrm>
            <a:off x="666720" y="416232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Forma libre 234"/>
          <p:cNvSpPr/>
          <p:nvPr/>
        </p:nvSpPr>
        <p:spPr>
          <a:xfrm>
            <a:off x="666720" y="4152600"/>
            <a:ext cx="1162080" cy="10080"/>
          </a:xfrm>
          <a:custGeom>
            <a:avLst/>
            <a:gdLst/>
            <a:ahLst/>
            <a:cxnLst/>
            <a:rect l="0" t="0" r="r" b="b"/>
            <a:pathLst>
              <a:path w="3228" h="28">
                <a:moveTo>
                  <a:pt x="0" y="0"/>
                </a:moveTo>
                <a:lnTo>
                  <a:pt x="3228" y="0"/>
                </a:lnTo>
                <a:lnTo>
                  <a:pt x="32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Forma libre 235"/>
          <p:cNvSpPr/>
          <p:nvPr/>
        </p:nvSpPr>
        <p:spPr>
          <a:xfrm>
            <a:off x="1819080" y="416232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Forma libre 236"/>
          <p:cNvSpPr/>
          <p:nvPr/>
        </p:nvSpPr>
        <p:spPr>
          <a:xfrm>
            <a:off x="1828440" y="4152600"/>
            <a:ext cx="962640" cy="10080"/>
          </a:xfrm>
          <a:custGeom>
            <a:avLst/>
            <a:gdLst/>
            <a:ahLst/>
            <a:cxnLst/>
            <a:rect l="0" t="0" r="r" b="b"/>
            <a:pathLst>
              <a:path w="2674" h="28">
                <a:moveTo>
                  <a:pt x="0" y="0"/>
                </a:moveTo>
                <a:lnTo>
                  <a:pt x="2674" y="0"/>
                </a:lnTo>
                <a:lnTo>
                  <a:pt x="267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Forma libre 237"/>
          <p:cNvSpPr/>
          <p:nvPr/>
        </p:nvSpPr>
        <p:spPr>
          <a:xfrm>
            <a:off x="2781000" y="4162320"/>
            <a:ext cx="10080" cy="409680"/>
          </a:xfrm>
          <a:custGeom>
            <a:avLst/>
            <a:gdLst/>
            <a:ahLst/>
            <a:cxnLst/>
            <a:rect l="0" t="0" r="r" b="b"/>
            <a:pathLst>
              <a:path w="28" h="1138">
                <a:moveTo>
                  <a:pt x="0" y="0"/>
                </a:moveTo>
                <a:lnTo>
                  <a:pt x="28" y="0"/>
                </a:lnTo>
                <a:lnTo>
                  <a:pt x="2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Forma libre 238"/>
          <p:cNvSpPr/>
          <p:nvPr/>
        </p:nvSpPr>
        <p:spPr>
          <a:xfrm>
            <a:off x="2790720" y="4152600"/>
            <a:ext cx="705240" cy="10080"/>
          </a:xfrm>
          <a:custGeom>
            <a:avLst/>
            <a:gdLst/>
            <a:ahLst/>
            <a:cxnLst/>
            <a:rect l="0" t="0" r="r" b="b"/>
            <a:pathLst>
              <a:path w="1959" h="28">
                <a:moveTo>
                  <a:pt x="0" y="0"/>
                </a:moveTo>
                <a:lnTo>
                  <a:pt x="1959" y="0"/>
                </a:lnTo>
                <a:lnTo>
                  <a:pt x="195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Forma libre 239"/>
          <p:cNvSpPr/>
          <p:nvPr/>
        </p:nvSpPr>
        <p:spPr>
          <a:xfrm>
            <a:off x="3485880" y="4162320"/>
            <a:ext cx="10080" cy="409680"/>
          </a:xfrm>
          <a:custGeom>
            <a:avLst/>
            <a:gdLst/>
            <a:ahLst/>
            <a:cxnLst/>
            <a:rect l="0" t="0" r="r" b="b"/>
            <a:pathLst>
              <a:path w="28" h="1138">
                <a:moveTo>
                  <a:pt x="0" y="0"/>
                </a:moveTo>
                <a:lnTo>
                  <a:pt x="28" y="0"/>
                </a:lnTo>
                <a:lnTo>
                  <a:pt x="2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Forma libre 240"/>
          <p:cNvSpPr/>
          <p:nvPr/>
        </p:nvSpPr>
        <p:spPr>
          <a:xfrm>
            <a:off x="3495600" y="4152600"/>
            <a:ext cx="1695600" cy="10080"/>
          </a:xfrm>
          <a:custGeom>
            <a:avLst/>
            <a:gdLst/>
            <a:ahLst/>
            <a:cxnLst/>
            <a:rect l="0" t="0" r="r" b="b"/>
            <a:pathLst>
              <a:path w="4710" h="28">
                <a:moveTo>
                  <a:pt x="0" y="0"/>
                </a:moveTo>
                <a:lnTo>
                  <a:pt x="4710" y="0"/>
                </a:lnTo>
                <a:lnTo>
                  <a:pt x="471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Forma libre 241"/>
          <p:cNvSpPr/>
          <p:nvPr/>
        </p:nvSpPr>
        <p:spPr>
          <a:xfrm>
            <a:off x="5181480" y="416232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Forma libre 242"/>
          <p:cNvSpPr/>
          <p:nvPr/>
        </p:nvSpPr>
        <p:spPr>
          <a:xfrm>
            <a:off x="666720" y="457164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Forma libre 243"/>
          <p:cNvSpPr/>
          <p:nvPr/>
        </p:nvSpPr>
        <p:spPr>
          <a:xfrm>
            <a:off x="666720" y="4562280"/>
            <a:ext cx="1162080" cy="9720"/>
          </a:xfrm>
          <a:custGeom>
            <a:avLst/>
            <a:gdLst/>
            <a:ahLst/>
            <a:cxnLst/>
            <a:rect l="0" t="0" r="r" b="b"/>
            <a:pathLst>
              <a:path w="3228" h="27">
                <a:moveTo>
                  <a:pt x="0" y="0"/>
                </a:moveTo>
                <a:lnTo>
                  <a:pt x="3228" y="0"/>
                </a:lnTo>
                <a:lnTo>
                  <a:pt x="32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Forma libre 244"/>
          <p:cNvSpPr/>
          <p:nvPr/>
        </p:nvSpPr>
        <p:spPr>
          <a:xfrm>
            <a:off x="1819080" y="457164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Forma libre 245"/>
          <p:cNvSpPr/>
          <p:nvPr/>
        </p:nvSpPr>
        <p:spPr>
          <a:xfrm>
            <a:off x="1828440" y="4562280"/>
            <a:ext cx="962640" cy="9720"/>
          </a:xfrm>
          <a:custGeom>
            <a:avLst/>
            <a:gdLst/>
            <a:ahLst/>
            <a:cxnLst/>
            <a:rect l="0" t="0" r="r" b="b"/>
            <a:pathLst>
              <a:path w="2674" h="27">
                <a:moveTo>
                  <a:pt x="0" y="0"/>
                </a:moveTo>
                <a:lnTo>
                  <a:pt x="2674" y="0"/>
                </a:lnTo>
                <a:lnTo>
                  <a:pt x="267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Forma libre 246"/>
          <p:cNvSpPr/>
          <p:nvPr/>
        </p:nvSpPr>
        <p:spPr>
          <a:xfrm>
            <a:off x="2781000" y="457164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Forma libre 247"/>
          <p:cNvSpPr/>
          <p:nvPr/>
        </p:nvSpPr>
        <p:spPr>
          <a:xfrm>
            <a:off x="2790720" y="4562280"/>
            <a:ext cx="705240" cy="9720"/>
          </a:xfrm>
          <a:custGeom>
            <a:avLst/>
            <a:gdLst/>
            <a:ahLst/>
            <a:cxnLst/>
            <a:rect l="0" t="0" r="r" b="b"/>
            <a:pathLst>
              <a:path w="1959" h="27">
                <a:moveTo>
                  <a:pt x="0" y="0"/>
                </a:moveTo>
                <a:lnTo>
                  <a:pt x="1959" y="0"/>
                </a:lnTo>
                <a:lnTo>
                  <a:pt x="195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Forma libre 248"/>
          <p:cNvSpPr/>
          <p:nvPr/>
        </p:nvSpPr>
        <p:spPr>
          <a:xfrm>
            <a:off x="3485880" y="457164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Forma libre 249"/>
          <p:cNvSpPr/>
          <p:nvPr/>
        </p:nvSpPr>
        <p:spPr>
          <a:xfrm>
            <a:off x="3495600" y="4562280"/>
            <a:ext cx="1695600" cy="9720"/>
          </a:xfrm>
          <a:custGeom>
            <a:avLst/>
            <a:gdLst/>
            <a:ahLst/>
            <a:cxnLst/>
            <a:rect l="0" t="0" r="r" b="b"/>
            <a:pathLst>
              <a:path w="4710" h="27">
                <a:moveTo>
                  <a:pt x="0" y="0"/>
                </a:moveTo>
                <a:lnTo>
                  <a:pt x="4710" y="0"/>
                </a:lnTo>
                <a:lnTo>
                  <a:pt x="471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Forma libre 250"/>
          <p:cNvSpPr/>
          <p:nvPr/>
        </p:nvSpPr>
        <p:spPr>
          <a:xfrm>
            <a:off x="5181480" y="457164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Forma libre 251"/>
          <p:cNvSpPr/>
          <p:nvPr/>
        </p:nvSpPr>
        <p:spPr>
          <a:xfrm>
            <a:off x="666720" y="4971960"/>
            <a:ext cx="1162080" cy="9720"/>
          </a:xfrm>
          <a:custGeom>
            <a:avLst/>
            <a:gdLst/>
            <a:ahLst/>
            <a:cxnLst/>
            <a:rect l="0" t="0" r="r" b="b"/>
            <a:pathLst>
              <a:path w="3228" h="27">
                <a:moveTo>
                  <a:pt x="0" y="0"/>
                </a:moveTo>
                <a:lnTo>
                  <a:pt x="3228" y="0"/>
                </a:lnTo>
                <a:lnTo>
                  <a:pt x="32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Forma libre 252"/>
          <p:cNvSpPr/>
          <p:nvPr/>
        </p:nvSpPr>
        <p:spPr>
          <a:xfrm>
            <a:off x="1828440" y="4971960"/>
            <a:ext cx="962640" cy="9720"/>
          </a:xfrm>
          <a:custGeom>
            <a:avLst/>
            <a:gdLst/>
            <a:ahLst/>
            <a:cxnLst/>
            <a:rect l="0" t="0" r="r" b="b"/>
            <a:pathLst>
              <a:path w="2674" h="27">
                <a:moveTo>
                  <a:pt x="0" y="0"/>
                </a:moveTo>
                <a:lnTo>
                  <a:pt x="2674" y="0"/>
                </a:lnTo>
                <a:lnTo>
                  <a:pt x="267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Forma libre 253"/>
          <p:cNvSpPr/>
          <p:nvPr/>
        </p:nvSpPr>
        <p:spPr>
          <a:xfrm>
            <a:off x="2790720" y="4971960"/>
            <a:ext cx="705240" cy="9720"/>
          </a:xfrm>
          <a:custGeom>
            <a:avLst/>
            <a:gdLst/>
            <a:ahLst/>
            <a:cxnLst/>
            <a:rect l="0" t="0" r="r" b="b"/>
            <a:pathLst>
              <a:path w="1959" h="27">
                <a:moveTo>
                  <a:pt x="0" y="0"/>
                </a:moveTo>
                <a:lnTo>
                  <a:pt x="1959" y="0"/>
                </a:lnTo>
                <a:lnTo>
                  <a:pt x="195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Forma libre 254"/>
          <p:cNvSpPr/>
          <p:nvPr/>
        </p:nvSpPr>
        <p:spPr>
          <a:xfrm>
            <a:off x="3495600" y="4971960"/>
            <a:ext cx="1695600" cy="9720"/>
          </a:xfrm>
          <a:custGeom>
            <a:avLst/>
            <a:gdLst/>
            <a:ahLst/>
            <a:cxnLst/>
            <a:rect l="0" t="0" r="r" b="b"/>
            <a:pathLst>
              <a:path w="4710" h="27">
                <a:moveTo>
                  <a:pt x="0" y="0"/>
                </a:moveTo>
                <a:lnTo>
                  <a:pt x="4710" y="0"/>
                </a:lnTo>
                <a:lnTo>
                  <a:pt x="471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CuadroTexto 255"/>
          <p:cNvSpPr txBox="1"/>
          <p:nvPr/>
        </p:nvSpPr>
        <p:spPr>
          <a:xfrm>
            <a:off x="666720" y="901440"/>
            <a:ext cx="29415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Agregan sin colapsar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CuadroTexto 256"/>
          <p:cNvSpPr txBox="1"/>
          <p:nvPr/>
        </p:nvSpPr>
        <p:spPr>
          <a:xfrm>
            <a:off x="866880" y="1727640"/>
            <a:ext cx="18568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SELECT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person_id,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CuadroTexto 257"/>
          <p:cNvSpPr txBox="1"/>
          <p:nvPr/>
        </p:nvSpPr>
        <p:spPr>
          <a:xfrm>
            <a:off x="866880" y="1994400"/>
            <a:ext cx="26211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measurement_date,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CuadroTexto 258"/>
          <p:cNvSpPr txBox="1"/>
          <p:nvPr/>
        </p:nvSpPr>
        <p:spPr>
          <a:xfrm>
            <a:off x="866880" y="2251440"/>
            <a:ext cx="25120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value_as_number,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CuadroTexto 259"/>
          <p:cNvSpPr txBox="1"/>
          <p:nvPr/>
        </p:nvSpPr>
        <p:spPr>
          <a:xfrm>
            <a:off x="866880" y="2518200"/>
            <a:ext cx="81900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avg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(value_as_number)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OVER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(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PARTITION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BY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person_id)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media_paciente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CuadroTexto 260"/>
          <p:cNvSpPr txBox="1"/>
          <p:nvPr/>
        </p:nvSpPr>
        <p:spPr>
          <a:xfrm>
            <a:off x="866880" y="2775240"/>
            <a:ext cx="20750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measurement;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CuadroTexto 261"/>
          <p:cNvSpPr txBox="1"/>
          <p:nvPr/>
        </p:nvSpPr>
        <p:spPr>
          <a:xfrm>
            <a:off x="799920" y="3438000"/>
            <a:ext cx="8931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person_id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CuadroTexto 262"/>
          <p:cNvSpPr txBox="1"/>
          <p:nvPr/>
        </p:nvSpPr>
        <p:spPr>
          <a:xfrm>
            <a:off x="2050560" y="3438000"/>
            <a:ext cx="5050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fecha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CuadroTexto 263"/>
          <p:cNvSpPr txBox="1"/>
          <p:nvPr/>
        </p:nvSpPr>
        <p:spPr>
          <a:xfrm>
            <a:off x="2912760" y="3438000"/>
            <a:ext cx="4489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valor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CuadroTexto 264"/>
          <p:cNvSpPr txBox="1"/>
          <p:nvPr/>
        </p:nvSpPr>
        <p:spPr>
          <a:xfrm>
            <a:off x="3618000" y="3438000"/>
            <a:ext cx="1435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media_paciente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CuadroTexto 265"/>
          <p:cNvSpPr txBox="1"/>
          <p:nvPr/>
        </p:nvSpPr>
        <p:spPr>
          <a:xfrm>
            <a:off x="799920" y="3838320"/>
            <a:ext cx="4384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P001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CuadroTexto 266"/>
          <p:cNvSpPr txBox="1"/>
          <p:nvPr/>
        </p:nvSpPr>
        <p:spPr>
          <a:xfrm>
            <a:off x="1949760" y="3838320"/>
            <a:ext cx="7066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2022-01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CuadroTexto 267"/>
          <p:cNvSpPr txBox="1"/>
          <p:nvPr/>
        </p:nvSpPr>
        <p:spPr>
          <a:xfrm>
            <a:off x="2912760" y="3838320"/>
            <a:ext cx="2656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8.1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CuadroTexto 268"/>
          <p:cNvSpPr txBox="1"/>
          <p:nvPr/>
        </p:nvSpPr>
        <p:spPr>
          <a:xfrm>
            <a:off x="3618000" y="3838320"/>
            <a:ext cx="2656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7.8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CuadroTexto 269"/>
          <p:cNvSpPr txBox="1"/>
          <p:nvPr/>
        </p:nvSpPr>
        <p:spPr>
          <a:xfrm>
            <a:off x="799920" y="4247640"/>
            <a:ext cx="4384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P001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CuadroTexto 270"/>
          <p:cNvSpPr txBox="1"/>
          <p:nvPr/>
        </p:nvSpPr>
        <p:spPr>
          <a:xfrm>
            <a:off x="1949760" y="4247640"/>
            <a:ext cx="7066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2022-07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CuadroTexto 271"/>
          <p:cNvSpPr txBox="1"/>
          <p:nvPr/>
        </p:nvSpPr>
        <p:spPr>
          <a:xfrm>
            <a:off x="2912760" y="4247640"/>
            <a:ext cx="2656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7.5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CuadroTexto 272"/>
          <p:cNvSpPr txBox="1"/>
          <p:nvPr/>
        </p:nvSpPr>
        <p:spPr>
          <a:xfrm>
            <a:off x="3618000" y="4247640"/>
            <a:ext cx="2656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7.8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CuadroTexto 273"/>
          <p:cNvSpPr txBox="1"/>
          <p:nvPr/>
        </p:nvSpPr>
        <p:spPr>
          <a:xfrm>
            <a:off x="799920" y="4657320"/>
            <a:ext cx="4384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P002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CuadroTexto 274"/>
          <p:cNvSpPr txBox="1"/>
          <p:nvPr/>
        </p:nvSpPr>
        <p:spPr>
          <a:xfrm>
            <a:off x="1949760" y="4657320"/>
            <a:ext cx="7066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2022-03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CuadroTexto 275"/>
          <p:cNvSpPr txBox="1"/>
          <p:nvPr/>
        </p:nvSpPr>
        <p:spPr>
          <a:xfrm>
            <a:off x="2912760" y="4657320"/>
            <a:ext cx="2656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6.9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CuadroTexto 277"/>
          <p:cNvSpPr txBox="1"/>
          <p:nvPr/>
        </p:nvSpPr>
        <p:spPr>
          <a:xfrm>
            <a:off x="3618000" y="4657320"/>
            <a:ext cx="2656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6.9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CuadroTexto 281"/>
          <p:cNvSpPr txBox="1"/>
          <p:nvPr/>
        </p:nvSpPr>
        <p:spPr>
          <a:xfrm>
            <a:off x="4676297" y="5977303"/>
            <a:ext cx="470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 dirty="0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OVER</a:t>
            </a:r>
            <a:endParaRPr lang="es-ES" sz="15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47FE9735-5544-51B7-9448-AB8CA08DB923}"/>
              </a:ext>
            </a:extLst>
          </p:cNvPr>
          <p:cNvGrpSpPr/>
          <p:nvPr/>
        </p:nvGrpSpPr>
        <p:grpSpPr>
          <a:xfrm>
            <a:off x="676080" y="5942520"/>
            <a:ext cx="9730024" cy="285163"/>
            <a:chOff x="723960" y="5173560"/>
            <a:chExt cx="9730024" cy="285163"/>
          </a:xfrm>
        </p:grpSpPr>
        <p:sp>
          <p:nvSpPr>
            <p:cNvPr id="279" name="CuadroTexto 278"/>
            <p:cNvSpPr txBox="1"/>
            <p:nvPr/>
          </p:nvSpPr>
          <p:spPr>
            <a:xfrm>
              <a:off x="723960" y="5211000"/>
              <a:ext cx="940320" cy="227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s-ES" sz="1530" b="1" u="none" strike="noStrike" dirty="0">
                  <a:solidFill>
                    <a:srgbClr val="B03A2E"/>
                  </a:solidFill>
                  <a:effectLst/>
                  <a:uFillTx/>
                  <a:latin typeface="Menlo"/>
                  <a:ea typeface="Menlo"/>
                </a:rPr>
                <a:t>GROUP BY</a:t>
              </a:r>
              <a:endParaRPr lang="es-ES" sz="153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1" name="CuadroTexto 280"/>
            <p:cNvSpPr txBox="1"/>
            <p:nvPr/>
          </p:nvSpPr>
          <p:spPr>
            <a:xfrm>
              <a:off x="1717200" y="5173560"/>
              <a:ext cx="3142080" cy="2732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s-ES" sz="1800" b="1" u="none" strike="noStrike" dirty="0">
                  <a:solidFill>
                    <a:srgbClr val="0B3C5D"/>
                  </a:solidFill>
                  <a:effectLst/>
                  <a:uFillTx/>
                  <a:latin typeface="HelveticaNeue"/>
                  <a:ea typeface="HelveticaNeue"/>
                </a:rPr>
                <a:t> reduce a una </a:t>
              </a:r>
              <a:r>
                <a:rPr lang="es-ES" sz="1800" b="1" u="none" strike="noStrike" dirty="0" err="1">
                  <a:solidFill>
                    <a:srgbClr val="0B3C5D"/>
                  </a:solidFill>
                  <a:effectLst/>
                  <a:uFillTx/>
                  <a:latin typeface="HelveticaNeue"/>
                  <a:ea typeface="HelveticaNeue"/>
                </a:rPr>
                <a:t>ﬁla</a:t>
              </a:r>
              <a:r>
                <a:rPr lang="es-ES" sz="1800" b="1" u="none" strike="noStrike" dirty="0">
                  <a:solidFill>
                    <a:srgbClr val="0B3C5D"/>
                  </a:solidFill>
                  <a:effectLst/>
                  <a:uFillTx/>
                  <a:latin typeface="HelveticaNeue"/>
                  <a:ea typeface="HelveticaNeue"/>
                </a:rPr>
                <a:t> por grupo. </a:t>
              </a:r>
              <a:endParaRPr lang="es-ES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3" name="CuadroTexto 282"/>
            <p:cNvSpPr txBox="1"/>
            <p:nvPr/>
          </p:nvSpPr>
          <p:spPr>
            <a:xfrm>
              <a:off x="5228224" y="5185483"/>
              <a:ext cx="5225760" cy="2732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s-ES" sz="1800" b="1" u="none" strike="noStrike" dirty="0">
                  <a:solidFill>
                    <a:srgbClr val="0B3C5D"/>
                  </a:solidFill>
                  <a:effectLst/>
                  <a:uFillTx/>
                  <a:latin typeface="HelveticaNeue"/>
                  <a:ea typeface="HelveticaNeue"/>
                </a:rPr>
                <a:t> conserva todas las </a:t>
              </a:r>
              <a:r>
                <a:rPr lang="es-ES" sz="1800" b="1" u="none" strike="noStrike" dirty="0" err="1">
                  <a:solidFill>
                    <a:srgbClr val="0B3C5D"/>
                  </a:solidFill>
                  <a:effectLst/>
                  <a:uFillTx/>
                  <a:latin typeface="HelveticaNeue"/>
                  <a:ea typeface="HelveticaNeue"/>
                </a:rPr>
                <a:t>ﬁlas</a:t>
              </a:r>
              <a:r>
                <a:rPr lang="es-ES" sz="1800" b="0" u="none" strike="noStrike" dirty="0">
                  <a:solidFill>
                    <a:srgbClr val="4A4A4A"/>
                  </a:solidFill>
                  <a:effectLst/>
                  <a:uFillTx/>
                  <a:latin typeface="HelveticaNeue"/>
                  <a:ea typeface="HelveticaNeue"/>
                </a:rPr>
                <a:t> y añade el cálculo al lado.</a:t>
              </a:r>
              <a:endParaRPr lang="es-ES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87" name="CuadroTexto 28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CuadroTexto 28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CuadroTexto 288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F4B9052-6E9F-BA18-38A4-8C0481A811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8929" y="3409440"/>
            <a:ext cx="3221101" cy="183646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5205BD1-F360-9D54-18BD-C87026081C48}"/>
              </a:ext>
            </a:extLst>
          </p:cNvPr>
          <p:cNvSpPr txBox="1"/>
          <p:nvPr/>
        </p:nvSpPr>
        <p:spPr>
          <a:xfrm>
            <a:off x="6739200" y="3324240"/>
            <a:ext cx="948978" cy="2354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 dirty="0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GROUP BY</a:t>
            </a:r>
            <a:endParaRPr lang="es-ES" sz="15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1BDB203-0B6A-A398-E39B-CB2620BC07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169" y="3534234"/>
            <a:ext cx="2756706" cy="1972105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FC1C2BAD-A9B9-5AB6-4366-089900DE3DCB}"/>
              </a:ext>
            </a:extLst>
          </p:cNvPr>
          <p:cNvSpPr txBox="1"/>
          <p:nvPr/>
        </p:nvSpPr>
        <p:spPr>
          <a:xfrm>
            <a:off x="9692588" y="3298785"/>
            <a:ext cx="1897955" cy="2354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dirty="0">
                <a:solidFill>
                  <a:srgbClr val="B03A2E"/>
                </a:solidFill>
                <a:latin typeface="Menlo"/>
                <a:ea typeface="Menlo"/>
              </a:rPr>
              <a:t>Datos originales</a:t>
            </a:r>
            <a:endParaRPr lang="es-ES" sz="15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Forma libre 28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Forma libre 29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Forma libre 29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CuadroTexto 292"/>
          <p:cNvSpPr txBox="1"/>
          <p:nvPr/>
        </p:nvSpPr>
        <p:spPr>
          <a:xfrm>
            <a:off x="3294848" y="3105294"/>
            <a:ext cx="6133089" cy="6463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 dirty="0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5. </a:t>
            </a:r>
            <a:r>
              <a:rPr lang="es-ES" sz="4200" dirty="0">
                <a:solidFill>
                  <a:srgbClr val="FFFFFF"/>
                </a:solidFill>
                <a:latin typeface="HelveticaNeue"/>
                <a:ea typeface="HelveticaNeue"/>
              </a:rPr>
              <a:t>Funciones más usadas</a:t>
            </a:r>
            <a:endParaRPr lang="es-ES" sz="42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CuadroTexto 29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CuadroTexto 29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CuadroTexto 295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Forma libre 29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Forma libre 29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Forma libre 29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Forma libre 299"/>
          <p:cNvSpPr/>
          <p:nvPr/>
        </p:nvSpPr>
        <p:spPr>
          <a:xfrm>
            <a:off x="676080" y="1695240"/>
            <a:ext cx="3296160" cy="410040"/>
          </a:xfrm>
          <a:custGeom>
            <a:avLst/>
            <a:gdLst/>
            <a:ahLst/>
            <a:cxnLst/>
            <a:rect l="0" t="0" r="r" b="b"/>
            <a:pathLst>
              <a:path w="9156" h="1139">
                <a:moveTo>
                  <a:pt x="0" y="0"/>
                </a:moveTo>
                <a:lnTo>
                  <a:pt x="9156" y="0"/>
                </a:lnTo>
                <a:lnTo>
                  <a:pt x="915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Forma libre 300"/>
          <p:cNvSpPr/>
          <p:nvPr/>
        </p:nvSpPr>
        <p:spPr>
          <a:xfrm>
            <a:off x="3971880" y="1695240"/>
            <a:ext cx="3610080" cy="410040"/>
          </a:xfrm>
          <a:custGeom>
            <a:avLst/>
            <a:gdLst/>
            <a:ahLst/>
            <a:cxnLst/>
            <a:rect l="0" t="0" r="r" b="b"/>
            <a:pathLst>
              <a:path w="10028" h="1139">
                <a:moveTo>
                  <a:pt x="0" y="0"/>
                </a:moveTo>
                <a:lnTo>
                  <a:pt x="10028" y="0"/>
                </a:lnTo>
                <a:lnTo>
                  <a:pt x="100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Forma libre 301"/>
          <p:cNvSpPr/>
          <p:nvPr/>
        </p:nvSpPr>
        <p:spPr>
          <a:xfrm>
            <a:off x="676080" y="1695240"/>
            <a:ext cx="3296160" cy="410040"/>
          </a:xfrm>
          <a:custGeom>
            <a:avLst/>
            <a:gdLst/>
            <a:ahLst/>
            <a:cxnLst/>
            <a:rect l="0" t="0" r="r" b="b"/>
            <a:pathLst>
              <a:path w="9156" h="1139">
                <a:moveTo>
                  <a:pt x="0" y="0"/>
                </a:moveTo>
                <a:lnTo>
                  <a:pt x="9156" y="0"/>
                </a:lnTo>
                <a:lnTo>
                  <a:pt x="915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Forma libre 302"/>
          <p:cNvSpPr/>
          <p:nvPr/>
        </p:nvSpPr>
        <p:spPr>
          <a:xfrm>
            <a:off x="3971880" y="1695240"/>
            <a:ext cx="3610080" cy="410040"/>
          </a:xfrm>
          <a:custGeom>
            <a:avLst/>
            <a:gdLst/>
            <a:ahLst/>
            <a:cxnLst/>
            <a:rect l="0" t="0" r="r" b="b"/>
            <a:pathLst>
              <a:path w="10028" h="1139">
                <a:moveTo>
                  <a:pt x="0" y="0"/>
                </a:moveTo>
                <a:lnTo>
                  <a:pt x="10028" y="0"/>
                </a:lnTo>
                <a:lnTo>
                  <a:pt x="100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Forma libre 303"/>
          <p:cNvSpPr/>
          <p:nvPr/>
        </p:nvSpPr>
        <p:spPr>
          <a:xfrm>
            <a:off x="676080" y="2104920"/>
            <a:ext cx="3296160" cy="419400"/>
          </a:xfrm>
          <a:custGeom>
            <a:avLst/>
            <a:gdLst/>
            <a:ahLst/>
            <a:cxnLst/>
            <a:rect l="0" t="0" r="r" b="b"/>
            <a:pathLst>
              <a:path w="9156" h="1165">
                <a:moveTo>
                  <a:pt x="0" y="0"/>
                </a:moveTo>
                <a:lnTo>
                  <a:pt x="9156" y="0"/>
                </a:lnTo>
                <a:lnTo>
                  <a:pt x="915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Forma libre 304"/>
          <p:cNvSpPr/>
          <p:nvPr/>
        </p:nvSpPr>
        <p:spPr>
          <a:xfrm>
            <a:off x="3971880" y="2104920"/>
            <a:ext cx="3610080" cy="419400"/>
          </a:xfrm>
          <a:custGeom>
            <a:avLst/>
            <a:gdLst/>
            <a:ahLst/>
            <a:cxnLst/>
            <a:rect l="0" t="0" r="r" b="b"/>
            <a:pathLst>
              <a:path w="10028" h="1165">
                <a:moveTo>
                  <a:pt x="0" y="0"/>
                </a:moveTo>
                <a:lnTo>
                  <a:pt x="10028" y="0"/>
                </a:lnTo>
                <a:lnTo>
                  <a:pt x="100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Forma libre 305"/>
          <p:cNvSpPr/>
          <p:nvPr/>
        </p:nvSpPr>
        <p:spPr>
          <a:xfrm>
            <a:off x="676080" y="2523960"/>
            <a:ext cx="3296160" cy="410040"/>
          </a:xfrm>
          <a:custGeom>
            <a:avLst/>
            <a:gdLst/>
            <a:ahLst/>
            <a:cxnLst/>
            <a:rect l="0" t="0" r="r" b="b"/>
            <a:pathLst>
              <a:path w="9156" h="1139">
                <a:moveTo>
                  <a:pt x="0" y="0"/>
                </a:moveTo>
                <a:lnTo>
                  <a:pt x="9156" y="0"/>
                </a:lnTo>
                <a:lnTo>
                  <a:pt x="915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Forma libre 306"/>
          <p:cNvSpPr/>
          <p:nvPr/>
        </p:nvSpPr>
        <p:spPr>
          <a:xfrm>
            <a:off x="3971880" y="2523960"/>
            <a:ext cx="3610080" cy="410040"/>
          </a:xfrm>
          <a:custGeom>
            <a:avLst/>
            <a:gdLst/>
            <a:ahLst/>
            <a:cxnLst/>
            <a:rect l="0" t="0" r="r" b="b"/>
            <a:pathLst>
              <a:path w="10028" h="1139">
                <a:moveTo>
                  <a:pt x="0" y="0"/>
                </a:moveTo>
                <a:lnTo>
                  <a:pt x="10028" y="0"/>
                </a:lnTo>
                <a:lnTo>
                  <a:pt x="100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Forma libre 307"/>
          <p:cNvSpPr/>
          <p:nvPr/>
        </p:nvSpPr>
        <p:spPr>
          <a:xfrm>
            <a:off x="676080" y="2933640"/>
            <a:ext cx="3296160" cy="419400"/>
          </a:xfrm>
          <a:custGeom>
            <a:avLst/>
            <a:gdLst/>
            <a:ahLst/>
            <a:cxnLst/>
            <a:rect l="0" t="0" r="r" b="b"/>
            <a:pathLst>
              <a:path w="9156" h="1165">
                <a:moveTo>
                  <a:pt x="0" y="0"/>
                </a:moveTo>
                <a:lnTo>
                  <a:pt x="9156" y="0"/>
                </a:lnTo>
                <a:lnTo>
                  <a:pt x="915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Forma libre 308"/>
          <p:cNvSpPr/>
          <p:nvPr/>
        </p:nvSpPr>
        <p:spPr>
          <a:xfrm>
            <a:off x="3971880" y="2933640"/>
            <a:ext cx="3610080" cy="419400"/>
          </a:xfrm>
          <a:custGeom>
            <a:avLst/>
            <a:gdLst/>
            <a:ahLst/>
            <a:cxnLst/>
            <a:rect l="0" t="0" r="r" b="b"/>
            <a:pathLst>
              <a:path w="10028" h="1165">
                <a:moveTo>
                  <a:pt x="0" y="0"/>
                </a:moveTo>
                <a:lnTo>
                  <a:pt x="10028" y="0"/>
                </a:lnTo>
                <a:lnTo>
                  <a:pt x="100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Forma libre 309"/>
          <p:cNvSpPr/>
          <p:nvPr/>
        </p:nvSpPr>
        <p:spPr>
          <a:xfrm>
            <a:off x="676080" y="3352680"/>
            <a:ext cx="3296160" cy="410040"/>
          </a:xfrm>
          <a:custGeom>
            <a:avLst/>
            <a:gdLst/>
            <a:ahLst/>
            <a:cxnLst/>
            <a:rect l="0" t="0" r="r" b="b"/>
            <a:pathLst>
              <a:path w="9156" h="1139">
                <a:moveTo>
                  <a:pt x="0" y="0"/>
                </a:moveTo>
                <a:lnTo>
                  <a:pt x="9156" y="0"/>
                </a:lnTo>
                <a:lnTo>
                  <a:pt x="915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Forma libre 310"/>
          <p:cNvSpPr/>
          <p:nvPr/>
        </p:nvSpPr>
        <p:spPr>
          <a:xfrm>
            <a:off x="3971880" y="3352680"/>
            <a:ext cx="3610080" cy="410040"/>
          </a:xfrm>
          <a:custGeom>
            <a:avLst/>
            <a:gdLst/>
            <a:ahLst/>
            <a:cxnLst/>
            <a:rect l="0" t="0" r="r" b="b"/>
            <a:pathLst>
              <a:path w="10028" h="1139">
                <a:moveTo>
                  <a:pt x="0" y="0"/>
                </a:moveTo>
                <a:lnTo>
                  <a:pt x="10028" y="0"/>
                </a:lnTo>
                <a:lnTo>
                  <a:pt x="100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Forma libre 311"/>
          <p:cNvSpPr/>
          <p:nvPr/>
        </p:nvSpPr>
        <p:spPr>
          <a:xfrm>
            <a:off x="676080" y="3762360"/>
            <a:ext cx="3296160" cy="409680"/>
          </a:xfrm>
          <a:custGeom>
            <a:avLst/>
            <a:gdLst/>
            <a:ahLst/>
            <a:cxnLst/>
            <a:rect l="0" t="0" r="r" b="b"/>
            <a:pathLst>
              <a:path w="9156" h="1138">
                <a:moveTo>
                  <a:pt x="0" y="0"/>
                </a:moveTo>
                <a:lnTo>
                  <a:pt x="9156" y="0"/>
                </a:lnTo>
                <a:lnTo>
                  <a:pt x="9156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Forma libre 312"/>
          <p:cNvSpPr/>
          <p:nvPr/>
        </p:nvSpPr>
        <p:spPr>
          <a:xfrm>
            <a:off x="3971880" y="3762360"/>
            <a:ext cx="3610080" cy="409680"/>
          </a:xfrm>
          <a:custGeom>
            <a:avLst/>
            <a:gdLst/>
            <a:ahLst/>
            <a:cxnLst/>
            <a:rect l="0" t="0" r="r" b="b"/>
            <a:pathLst>
              <a:path w="10028" h="1138">
                <a:moveTo>
                  <a:pt x="0" y="0"/>
                </a:moveTo>
                <a:lnTo>
                  <a:pt x="10028" y="0"/>
                </a:lnTo>
                <a:lnTo>
                  <a:pt x="1002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Forma libre 313"/>
          <p:cNvSpPr/>
          <p:nvPr/>
        </p:nvSpPr>
        <p:spPr>
          <a:xfrm>
            <a:off x="676080" y="4171680"/>
            <a:ext cx="3296160" cy="410040"/>
          </a:xfrm>
          <a:custGeom>
            <a:avLst/>
            <a:gdLst/>
            <a:ahLst/>
            <a:cxnLst/>
            <a:rect l="0" t="0" r="r" b="b"/>
            <a:pathLst>
              <a:path w="9156" h="1139">
                <a:moveTo>
                  <a:pt x="0" y="0"/>
                </a:moveTo>
                <a:lnTo>
                  <a:pt x="9156" y="0"/>
                </a:lnTo>
                <a:lnTo>
                  <a:pt x="915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Forma libre 314"/>
          <p:cNvSpPr/>
          <p:nvPr/>
        </p:nvSpPr>
        <p:spPr>
          <a:xfrm>
            <a:off x="3971880" y="4171680"/>
            <a:ext cx="3610080" cy="410040"/>
          </a:xfrm>
          <a:custGeom>
            <a:avLst/>
            <a:gdLst/>
            <a:ahLst/>
            <a:cxnLst/>
            <a:rect l="0" t="0" r="r" b="b"/>
            <a:pathLst>
              <a:path w="10028" h="1139">
                <a:moveTo>
                  <a:pt x="0" y="0"/>
                </a:moveTo>
                <a:lnTo>
                  <a:pt x="10028" y="0"/>
                </a:lnTo>
                <a:lnTo>
                  <a:pt x="100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Forma libre 315"/>
          <p:cNvSpPr/>
          <p:nvPr/>
        </p:nvSpPr>
        <p:spPr>
          <a:xfrm>
            <a:off x="666720" y="16858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Forma libre 316"/>
          <p:cNvSpPr/>
          <p:nvPr/>
        </p:nvSpPr>
        <p:spPr>
          <a:xfrm>
            <a:off x="666720" y="1685880"/>
            <a:ext cx="3305520" cy="9720"/>
          </a:xfrm>
          <a:custGeom>
            <a:avLst/>
            <a:gdLst/>
            <a:ahLst/>
            <a:cxnLst/>
            <a:rect l="0" t="0" r="r" b="b"/>
            <a:pathLst>
              <a:path w="9182" h="27">
                <a:moveTo>
                  <a:pt x="0" y="0"/>
                </a:moveTo>
                <a:lnTo>
                  <a:pt x="9182" y="0"/>
                </a:lnTo>
                <a:lnTo>
                  <a:pt x="91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Forma libre 317"/>
          <p:cNvSpPr/>
          <p:nvPr/>
        </p:nvSpPr>
        <p:spPr>
          <a:xfrm>
            <a:off x="3962160" y="16858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Forma libre 318"/>
          <p:cNvSpPr/>
          <p:nvPr/>
        </p:nvSpPr>
        <p:spPr>
          <a:xfrm>
            <a:off x="3971880" y="1685880"/>
            <a:ext cx="3610080" cy="9720"/>
          </a:xfrm>
          <a:custGeom>
            <a:avLst/>
            <a:gdLst/>
            <a:ahLst/>
            <a:cxnLst/>
            <a:rect l="0" t="0" r="r" b="b"/>
            <a:pathLst>
              <a:path w="10028" h="27">
                <a:moveTo>
                  <a:pt x="0" y="0"/>
                </a:moveTo>
                <a:lnTo>
                  <a:pt x="10028" y="0"/>
                </a:lnTo>
                <a:lnTo>
                  <a:pt x="100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Forma libre 319"/>
          <p:cNvSpPr/>
          <p:nvPr/>
        </p:nvSpPr>
        <p:spPr>
          <a:xfrm>
            <a:off x="7572240" y="16858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Forma libre 320"/>
          <p:cNvSpPr/>
          <p:nvPr/>
        </p:nvSpPr>
        <p:spPr>
          <a:xfrm>
            <a:off x="666720" y="2095200"/>
            <a:ext cx="3305520" cy="10080"/>
          </a:xfrm>
          <a:custGeom>
            <a:avLst/>
            <a:gdLst/>
            <a:ahLst/>
            <a:cxnLst/>
            <a:rect l="0" t="0" r="r" b="b"/>
            <a:pathLst>
              <a:path w="9182" h="28">
                <a:moveTo>
                  <a:pt x="0" y="0"/>
                </a:moveTo>
                <a:lnTo>
                  <a:pt x="9182" y="0"/>
                </a:lnTo>
                <a:lnTo>
                  <a:pt x="91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Forma libre 321"/>
          <p:cNvSpPr/>
          <p:nvPr/>
        </p:nvSpPr>
        <p:spPr>
          <a:xfrm>
            <a:off x="3971880" y="2095200"/>
            <a:ext cx="3610080" cy="10080"/>
          </a:xfrm>
          <a:custGeom>
            <a:avLst/>
            <a:gdLst/>
            <a:ahLst/>
            <a:cxnLst/>
            <a:rect l="0" t="0" r="r" b="b"/>
            <a:pathLst>
              <a:path w="10028" h="28">
                <a:moveTo>
                  <a:pt x="0" y="0"/>
                </a:moveTo>
                <a:lnTo>
                  <a:pt x="10028" y="0"/>
                </a:lnTo>
                <a:lnTo>
                  <a:pt x="100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Forma libre 322"/>
          <p:cNvSpPr/>
          <p:nvPr/>
        </p:nvSpPr>
        <p:spPr>
          <a:xfrm>
            <a:off x="666720" y="21049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Forma libre 323"/>
          <p:cNvSpPr/>
          <p:nvPr/>
        </p:nvSpPr>
        <p:spPr>
          <a:xfrm>
            <a:off x="3962160" y="21049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Forma libre 324"/>
          <p:cNvSpPr/>
          <p:nvPr/>
        </p:nvSpPr>
        <p:spPr>
          <a:xfrm>
            <a:off x="7572240" y="21049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Forma libre 325"/>
          <p:cNvSpPr/>
          <p:nvPr/>
        </p:nvSpPr>
        <p:spPr>
          <a:xfrm>
            <a:off x="666720" y="252396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Forma libre 326"/>
          <p:cNvSpPr/>
          <p:nvPr/>
        </p:nvSpPr>
        <p:spPr>
          <a:xfrm>
            <a:off x="666720" y="2514240"/>
            <a:ext cx="3305520" cy="10080"/>
          </a:xfrm>
          <a:custGeom>
            <a:avLst/>
            <a:gdLst/>
            <a:ahLst/>
            <a:cxnLst/>
            <a:rect l="0" t="0" r="r" b="b"/>
            <a:pathLst>
              <a:path w="9182" h="28">
                <a:moveTo>
                  <a:pt x="0" y="0"/>
                </a:moveTo>
                <a:lnTo>
                  <a:pt x="9182" y="0"/>
                </a:lnTo>
                <a:lnTo>
                  <a:pt x="91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Forma libre 327"/>
          <p:cNvSpPr/>
          <p:nvPr/>
        </p:nvSpPr>
        <p:spPr>
          <a:xfrm>
            <a:off x="3962160" y="252396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Forma libre 328"/>
          <p:cNvSpPr/>
          <p:nvPr/>
        </p:nvSpPr>
        <p:spPr>
          <a:xfrm>
            <a:off x="3971880" y="2514240"/>
            <a:ext cx="3610080" cy="10080"/>
          </a:xfrm>
          <a:custGeom>
            <a:avLst/>
            <a:gdLst/>
            <a:ahLst/>
            <a:cxnLst/>
            <a:rect l="0" t="0" r="r" b="b"/>
            <a:pathLst>
              <a:path w="10028" h="28">
                <a:moveTo>
                  <a:pt x="0" y="0"/>
                </a:moveTo>
                <a:lnTo>
                  <a:pt x="10028" y="0"/>
                </a:lnTo>
                <a:lnTo>
                  <a:pt x="100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Forma libre 329"/>
          <p:cNvSpPr/>
          <p:nvPr/>
        </p:nvSpPr>
        <p:spPr>
          <a:xfrm>
            <a:off x="7572240" y="252396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Forma libre 330"/>
          <p:cNvSpPr/>
          <p:nvPr/>
        </p:nvSpPr>
        <p:spPr>
          <a:xfrm>
            <a:off x="666720" y="29336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Forma libre 331"/>
          <p:cNvSpPr/>
          <p:nvPr/>
        </p:nvSpPr>
        <p:spPr>
          <a:xfrm>
            <a:off x="666720" y="2923920"/>
            <a:ext cx="3305520" cy="10080"/>
          </a:xfrm>
          <a:custGeom>
            <a:avLst/>
            <a:gdLst/>
            <a:ahLst/>
            <a:cxnLst/>
            <a:rect l="0" t="0" r="r" b="b"/>
            <a:pathLst>
              <a:path w="9182" h="28">
                <a:moveTo>
                  <a:pt x="0" y="0"/>
                </a:moveTo>
                <a:lnTo>
                  <a:pt x="9182" y="0"/>
                </a:lnTo>
                <a:lnTo>
                  <a:pt x="91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Forma libre 332"/>
          <p:cNvSpPr/>
          <p:nvPr/>
        </p:nvSpPr>
        <p:spPr>
          <a:xfrm>
            <a:off x="3962160" y="29336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Forma libre 333"/>
          <p:cNvSpPr/>
          <p:nvPr/>
        </p:nvSpPr>
        <p:spPr>
          <a:xfrm>
            <a:off x="3971880" y="2923920"/>
            <a:ext cx="3610080" cy="10080"/>
          </a:xfrm>
          <a:custGeom>
            <a:avLst/>
            <a:gdLst/>
            <a:ahLst/>
            <a:cxnLst/>
            <a:rect l="0" t="0" r="r" b="b"/>
            <a:pathLst>
              <a:path w="10028" h="28">
                <a:moveTo>
                  <a:pt x="0" y="0"/>
                </a:moveTo>
                <a:lnTo>
                  <a:pt x="10028" y="0"/>
                </a:lnTo>
                <a:lnTo>
                  <a:pt x="100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Forma libre 334"/>
          <p:cNvSpPr/>
          <p:nvPr/>
        </p:nvSpPr>
        <p:spPr>
          <a:xfrm>
            <a:off x="7572240" y="29336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Forma libre 335"/>
          <p:cNvSpPr/>
          <p:nvPr/>
        </p:nvSpPr>
        <p:spPr>
          <a:xfrm>
            <a:off x="666720" y="33526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Forma libre 336"/>
          <p:cNvSpPr/>
          <p:nvPr/>
        </p:nvSpPr>
        <p:spPr>
          <a:xfrm>
            <a:off x="666720" y="3342960"/>
            <a:ext cx="3305520" cy="10080"/>
          </a:xfrm>
          <a:custGeom>
            <a:avLst/>
            <a:gdLst/>
            <a:ahLst/>
            <a:cxnLst/>
            <a:rect l="0" t="0" r="r" b="b"/>
            <a:pathLst>
              <a:path w="9182" h="28">
                <a:moveTo>
                  <a:pt x="0" y="0"/>
                </a:moveTo>
                <a:lnTo>
                  <a:pt x="9182" y="0"/>
                </a:lnTo>
                <a:lnTo>
                  <a:pt x="91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Forma libre 337"/>
          <p:cNvSpPr/>
          <p:nvPr/>
        </p:nvSpPr>
        <p:spPr>
          <a:xfrm>
            <a:off x="3962160" y="335268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Forma libre 338"/>
          <p:cNvSpPr/>
          <p:nvPr/>
        </p:nvSpPr>
        <p:spPr>
          <a:xfrm>
            <a:off x="3971880" y="3342960"/>
            <a:ext cx="3610080" cy="10080"/>
          </a:xfrm>
          <a:custGeom>
            <a:avLst/>
            <a:gdLst/>
            <a:ahLst/>
            <a:cxnLst/>
            <a:rect l="0" t="0" r="r" b="b"/>
            <a:pathLst>
              <a:path w="10028" h="28">
                <a:moveTo>
                  <a:pt x="0" y="0"/>
                </a:moveTo>
                <a:lnTo>
                  <a:pt x="10028" y="0"/>
                </a:lnTo>
                <a:lnTo>
                  <a:pt x="100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Forma libre 339"/>
          <p:cNvSpPr/>
          <p:nvPr/>
        </p:nvSpPr>
        <p:spPr>
          <a:xfrm>
            <a:off x="7572240" y="33526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Forma libre 340"/>
          <p:cNvSpPr/>
          <p:nvPr/>
        </p:nvSpPr>
        <p:spPr>
          <a:xfrm>
            <a:off x="666720" y="37623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Forma libre 341"/>
          <p:cNvSpPr/>
          <p:nvPr/>
        </p:nvSpPr>
        <p:spPr>
          <a:xfrm>
            <a:off x="666720" y="3752640"/>
            <a:ext cx="3305520" cy="10080"/>
          </a:xfrm>
          <a:custGeom>
            <a:avLst/>
            <a:gdLst/>
            <a:ahLst/>
            <a:cxnLst/>
            <a:rect l="0" t="0" r="r" b="b"/>
            <a:pathLst>
              <a:path w="9182" h="28">
                <a:moveTo>
                  <a:pt x="0" y="0"/>
                </a:moveTo>
                <a:lnTo>
                  <a:pt x="9182" y="0"/>
                </a:lnTo>
                <a:lnTo>
                  <a:pt x="91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Forma libre 342"/>
          <p:cNvSpPr/>
          <p:nvPr/>
        </p:nvSpPr>
        <p:spPr>
          <a:xfrm>
            <a:off x="3962160" y="3762360"/>
            <a:ext cx="10080" cy="409680"/>
          </a:xfrm>
          <a:custGeom>
            <a:avLst/>
            <a:gdLst/>
            <a:ahLst/>
            <a:cxnLst/>
            <a:rect l="0" t="0" r="r" b="b"/>
            <a:pathLst>
              <a:path w="28" h="1138">
                <a:moveTo>
                  <a:pt x="0" y="0"/>
                </a:moveTo>
                <a:lnTo>
                  <a:pt x="28" y="0"/>
                </a:lnTo>
                <a:lnTo>
                  <a:pt x="2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Forma libre 343"/>
          <p:cNvSpPr/>
          <p:nvPr/>
        </p:nvSpPr>
        <p:spPr>
          <a:xfrm>
            <a:off x="3971880" y="3752640"/>
            <a:ext cx="3610080" cy="10080"/>
          </a:xfrm>
          <a:custGeom>
            <a:avLst/>
            <a:gdLst/>
            <a:ahLst/>
            <a:cxnLst/>
            <a:rect l="0" t="0" r="r" b="b"/>
            <a:pathLst>
              <a:path w="10028" h="28">
                <a:moveTo>
                  <a:pt x="0" y="0"/>
                </a:moveTo>
                <a:lnTo>
                  <a:pt x="10028" y="0"/>
                </a:lnTo>
                <a:lnTo>
                  <a:pt x="100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Forma libre 344"/>
          <p:cNvSpPr/>
          <p:nvPr/>
        </p:nvSpPr>
        <p:spPr>
          <a:xfrm>
            <a:off x="7572240" y="37623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Forma libre 345"/>
          <p:cNvSpPr/>
          <p:nvPr/>
        </p:nvSpPr>
        <p:spPr>
          <a:xfrm>
            <a:off x="666720" y="41716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Forma libre 346"/>
          <p:cNvSpPr/>
          <p:nvPr/>
        </p:nvSpPr>
        <p:spPr>
          <a:xfrm>
            <a:off x="666720" y="4162320"/>
            <a:ext cx="3305520" cy="9720"/>
          </a:xfrm>
          <a:custGeom>
            <a:avLst/>
            <a:gdLst/>
            <a:ahLst/>
            <a:cxnLst/>
            <a:rect l="0" t="0" r="r" b="b"/>
            <a:pathLst>
              <a:path w="9182" h="27">
                <a:moveTo>
                  <a:pt x="0" y="0"/>
                </a:moveTo>
                <a:lnTo>
                  <a:pt x="9182" y="0"/>
                </a:lnTo>
                <a:lnTo>
                  <a:pt x="91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Forma libre 347"/>
          <p:cNvSpPr/>
          <p:nvPr/>
        </p:nvSpPr>
        <p:spPr>
          <a:xfrm>
            <a:off x="3962160" y="417168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Forma libre 348"/>
          <p:cNvSpPr/>
          <p:nvPr/>
        </p:nvSpPr>
        <p:spPr>
          <a:xfrm>
            <a:off x="3971880" y="4162320"/>
            <a:ext cx="3610080" cy="9720"/>
          </a:xfrm>
          <a:custGeom>
            <a:avLst/>
            <a:gdLst/>
            <a:ahLst/>
            <a:cxnLst/>
            <a:rect l="0" t="0" r="r" b="b"/>
            <a:pathLst>
              <a:path w="10028" h="27">
                <a:moveTo>
                  <a:pt x="0" y="0"/>
                </a:moveTo>
                <a:lnTo>
                  <a:pt x="10028" y="0"/>
                </a:lnTo>
                <a:lnTo>
                  <a:pt x="100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Forma libre 349"/>
          <p:cNvSpPr/>
          <p:nvPr/>
        </p:nvSpPr>
        <p:spPr>
          <a:xfrm>
            <a:off x="7572240" y="41716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Forma libre 350"/>
          <p:cNvSpPr/>
          <p:nvPr/>
        </p:nvSpPr>
        <p:spPr>
          <a:xfrm>
            <a:off x="666720" y="4571640"/>
            <a:ext cx="3305520" cy="10080"/>
          </a:xfrm>
          <a:custGeom>
            <a:avLst/>
            <a:gdLst/>
            <a:ahLst/>
            <a:cxnLst/>
            <a:rect l="0" t="0" r="r" b="b"/>
            <a:pathLst>
              <a:path w="9182" h="28">
                <a:moveTo>
                  <a:pt x="0" y="0"/>
                </a:moveTo>
                <a:lnTo>
                  <a:pt x="9182" y="0"/>
                </a:lnTo>
                <a:lnTo>
                  <a:pt x="91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Forma libre 351"/>
          <p:cNvSpPr/>
          <p:nvPr/>
        </p:nvSpPr>
        <p:spPr>
          <a:xfrm>
            <a:off x="3971880" y="4571640"/>
            <a:ext cx="3610080" cy="10080"/>
          </a:xfrm>
          <a:custGeom>
            <a:avLst/>
            <a:gdLst/>
            <a:ahLst/>
            <a:cxnLst/>
            <a:rect l="0" t="0" r="r" b="b"/>
            <a:pathLst>
              <a:path w="10028" h="28">
                <a:moveTo>
                  <a:pt x="0" y="0"/>
                </a:moveTo>
                <a:lnTo>
                  <a:pt x="10028" y="0"/>
                </a:lnTo>
                <a:lnTo>
                  <a:pt x="100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Forma libre 352"/>
          <p:cNvSpPr/>
          <p:nvPr/>
        </p:nvSpPr>
        <p:spPr>
          <a:xfrm>
            <a:off x="671400" y="4738680"/>
            <a:ext cx="10849320" cy="581040"/>
          </a:xfrm>
          <a:custGeom>
            <a:avLst/>
            <a:gdLst/>
            <a:ahLst/>
            <a:cxnLst/>
            <a:rect l="0" t="0" r="r" b="b"/>
            <a:pathLst>
              <a:path w="30137" h="1614">
                <a:moveTo>
                  <a:pt x="0" y="1416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6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8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6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1416"/>
                </a:lnTo>
                <a:cubicBezTo>
                  <a:pt x="30137" y="1429"/>
                  <a:pt x="30136" y="1442"/>
                  <a:pt x="30133" y="1455"/>
                </a:cubicBezTo>
                <a:cubicBezTo>
                  <a:pt x="30130" y="1468"/>
                  <a:pt x="30127" y="1480"/>
                  <a:pt x="30122" y="1492"/>
                </a:cubicBezTo>
                <a:cubicBezTo>
                  <a:pt x="30117" y="1504"/>
                  <a:pt x="30111" y="1515"/>
                  <a:pt x="30103" y="1526"/>
                </a:cubicBezTo>
                <a:cubicBezTo>
                  <a:pt x="30096" y="1537"/>
                  <a:pt x="30088" y="1547"/>
                  <a:pt x="30079" y="1556"/>
                </a:cubicBezTo>
                <a:cubicBezTo>
                  <a:pt x="30070" y="1566"/>
                  <a:pt x="30059" y="1574"/>
                  <a:pt x="30049" y="1581"/>
                </a:cubicBezTo>
                <a:cubicBezTo>
                  <a:pt x="30038" y="1588"/>
                  <a:pt x="30026" y="1594"/>
                  <a:pt x="30014" y="1599"/>
                </a:cubicBezTo>
                <a:cubicBezTo>
                  <a:pt x="30002" y="1604"/>
                  <a:pt x="29990" y="1608"/>
                  <a:pt x="29977" y="1611"/>
                </a:cubicBezTo>
                <a:cubicBezTo>
                  <a:pt x="29964" y="1613"/>
                  <a:pt x="29951" y="1614"/>
                  <a:pt x="29938" y="1614"/>
                </a:cubicBezTo>
                <a:lnTo>
                  <a:pt x="198" y="1614"/>
                </a:lnTo>
                <a:cubicBezTo>
                  <a:pt x="185" y="1614"/>
                  <a:pt x="172" y="1613"/>
                  <a:pt x="160" y="1611"/>
                </a:cubicBezTo>
                <a:cubicBezTo>
                  <a:pt x="147" y="1608"/>
                  <a:pt x="134" y="1604"/>
                  <a:pt x="122" y="1599"/>
                </a:cubicBezTo>
                <a:cubicBezTo>
                  <a:pt x="110" y="1594"/>
                  <a:pt x="99" y="1588"/>
                  <a:pt x="88" y="1581"/>
                </a:cubicBezTo>
                <a:cubicBezTo>
                  <a:pt x="77" y="1574"/>
                  <a:pt x="67" y="1566"/>
                  <a:pt x="58" y="1556"/>
                </a:cubicBezTo>
                <a:cubicBezTo>
                  <a:pt x="49" y="1547"/>
                  <a:pt x="40" y="1537"/>
                  <a:pt x="33" y="1526"/>
                </a:cubicBezTo>
                <a:cubicBezTo>
                  <a:pt x="26" y="1515"/>
                  <a:pt x="20" y="1504"/>
                  <a:pt x="15" y="1492"/>
                </a:cubicBezTo>
                <a:cubicBezTo>
                  <a:pt x="10" y="1480"/>
                  <a:pt x="6" y="1468"/>
                  <a:pt x="4" y="1455"/>
                </a:cubicBezTo>
                <a:cubicBezTo>
                  <a:pt x="1" y="1442"/>
                  <a:pt x="0" y="1429"/>
                  <a:pt x="0" y="1416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Forma libre 353"/>
          <p:cNvSpPr/>
          <p:nvPr/>
        </p:nvSpPr>
        <p:spPr>
          <a:xfrm>
            <a:off x="671400" y="4738680"/>
            <a:ext cx="10849320" cy="581040"/>
          </a:xfrm>
          <a:custGeom>
            <a:avLst/>
            <a:gdLst/>
            <a:ahLst/>
            <a:cxnLst/>
            <a:rect l="0" t="0" r="r" b="b"/>
            <a:pathLst>
              <a:path w="30137" h="1614">
                <a:moveTo>
                  <a:pt x="0" y="1416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6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8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6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1416"/>
                </a:lnTo>
                <a:cubicBezTo>
                  <a:pt x="30137" y="1429"/>
                  <a:pt x="30136" y="1442"/>
                  <a:pt x="30133" y="1455"/>
                </a:cubicBezTo>
                <a:cubicBezTo>
                  <a:pt x="30130" y="1468"/>
                  <a:pt x="30127" y="1480"/>
                  <a:pt x="30122" y="1492"/>
                </a:cubicBezTo>
                <a:cubicBezTo>
                  <a:pt x="30117" y="1504"/>
                  <a:pt x="30111" y="1515"/>
                  <a:pt x="30103" y="1526"/>
                </a:cubicBezTo>
                <a:cubicBezTo>
                  <a:pt x="30096" y="1537"/>
                  <a:pt x="30088" y="1547"/>
                  <a:pt x="30079" y="1556"/>
                </a:cubicBezTo>
                <a:cubicBezTo>
                  <a:pt x="30070" y="1566"/>
                  <a:pt x="30059" y="1574"/>
                  <a:pt x="30049" y="1581"/>
                </a:cubicBezTo>
                <a:cubicBezTo>
                  <a:pt x="30038" y="1588"/>
                  <a:pt x="30026" y="1594"/>
                  <a:pt x="30014" y="1599"/>
                </a:cubicBezTo>
                <a:cubicBezTo>
                  <a:pt x="30002" y="1604"/>
                  <a:pt x="29990" y="1608"/>
                  <a:pt x="29977" y="1611"/>
                </a:cubicBezTo>
                <a:cubicBezTo>
                  <a:pt x="29964" y="1613"/>
                  <a:pt x="29951" y="1614"/>
                  <a:pt x="29938" y="1614"/>
                </a:cubicBezTo>
                <a:lnTo>
                  <a:pt x="198" y="1614"/>
                </a:lnTo>
                <a:cubicBezTo>
                  <a:pt x="185" y="1614"/>
                  <a:pt x="172" y="1613"/>
                  <a:pt x="160" y="1611"/>
                </a:cubicBezTo>
                <a:cubicBezTo>
                  <a:pt x="147" y="1608"/>
                  <a:pt x="134" y="1604"/>
                  <a:pt x="122" y="1599"/>
                </a:cubicBezTo>
                <a:cubicBezTo>
                  <a:pt x="110" y="1594"/>
                  <a:pt x="99" y="1588"/>
                  <a:pt x="88" y="1581"/>
                </a:cubicBezTo>
                <a:cubicBezTo>
                  <a:pt x="77" y="1574"/>
                  <a:pt x="67" y="1566"/>
                  <a:pt x="58" y="1556"/>
                </a:cubicBezTo>
                <a:cubicBezTo>
                  <a:pt x="49" y="1547"/>
                  <a:pt x="40" y="1537"/>
                  <a:pt x="33" y="1526"/>
                </a:cubicBezTo>
                <a:cubicBezTo>
                  <a:pt x="26" y="1515"/>
                  <a:pt x="20" y="1504"/>
                  <a:pt x="15" y="1492"/>
                </a:cubicBezTo>
                <a:cubicBezTo>
                  <a:pt x="10" y="1480"/>
                  <a:pt x="6" y="1468"/>
                  <a:pt x="4" y="1455"/>
                </a:cubicBezTo>
                <a:cubicBezTo>
                  <a:pt x="1" y="1442"/>
                  <a:pt x="0" y="1429"/>
                  <a:pt x="0" y="141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CuadroTexto 354"/>
          <p:cNvSpPr txBox="1"/>
          <p:nvPr/>
        </p:nvSpPr>
        <p:spPr>
          <a:xfrm>
            <a:off x="666720" y="1053720"/>
            <a:ext cx="41317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Las que de verdad vas a usar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CuadroTexto 355"/>
          <p:cNvSpPr txBox="1"/>
          <p:nvPr/>
        </p:nvSpPr>
        <p:spPr>
          <a:xfrm>
            <a:off x="1955880" y="1790280"/>
            <a:ext cx="7275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Función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Forma libre 356"/>
          <p:cNvSpPr/>
          <p:nvPr/>
        </p:nvSpPr>
        <p:spPr>
          <a:xfrm>
            <a:off x="799920" y="2209680"/>
            <a:ext cx="1286280" cy="228960"/>
          </a:xfrm>
          <a:custGeom>
            <a:avLst/>
            <a:gdLst/>
            <a:ahLst/>
            <a:cxnLst/>
            <a:rect l="0" t="0" r="r" b="b"/>
            <a:pathLst>
              <a:path w="3573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3467" y="0"/>
                </a:lnTo>
                <a:cubicBezTo>
                  <a:pt x="3481" y="0"/>
                  <a:pt x="3495" y="3"/>
                  <a:pt x="3508" y="8"/>
                </a:cubicBezTo>
                <a:cubicBezTo>
                  <a:pt x="3521" y="13"/>
                  <a:pt x="3532" y="21"/>
                  <a:pt x="3542" y="31"/>
                </a:cubicBezTo>
                <a:cubicBezTo>
                  <a:pt x="3552" y="41"/>
                  <a:pt x="3559" y="52"/>
                  <a:pt x="3565" y="65"/>
                </a:cubicBezTo>
                <a:cubicBezTo>
                  <a:pt x="3570" y="78"/>
                  <a:pt x="3573" y="92"/>
                  <a:pt x="3573" y="106"/>
                </a:cubicBezTo>
                <a:lnTo>
                  <a:pt x="3573" y="530"/>
                </a:lnTo>
                <a:cubicBezTo>
                  <a:pt x="3573" y="544"/>
                  <a:pt x="3570" y="558"/>
                  <a:pt x="3565" y="571"/>
                </a:cubicBezTo>
                <a:cubicBezTo>
                  <a:pt x="3559" y="583"/>
                  <a:pt x="3552" y="595"/>
                  <a:pt x="3542" y="605"/>
                </a:cubicBezTo>
                <a:cubicBezTo>
                  <a:pt x="3532" y="615"/>
                  <a:pt x="3521" y="622"/>
                  <a:pt x="3508" y="628"/>
                </a:cubicBezTo>
                <a:cubicBezTo>
                  <a:pt x="3495" y="633"/>
                  <a:pt x="3481" y="636"/>
                  <a:pt x="3467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2"/>
                  <a:pt x="41" y="615"/>
                  <a:pt x="31" y="605"/>
                </a:cubicBezTo>
                <a:cubicBezTo>
                  <a:pt x="21" y="595"/>
                  <a:pt x="13" y="583"/>
                  <a:pt x="8" y="570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CuadroTexto 357"/>
          <p:cNvSpPr txBox="1"/>
          <p:nvPr/>
        </p:nvSpPr>
        <p:spPr>
          <a:xfrm>
            <a:off x="5367960" y="1790280"/>
            <a:ext cx="8121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Para qué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CuadroTexto 358"/>
          <p:cNvSpPr txBox="1"/>
          <p:nvPr/>
        </p:nvSpPr>
        <p:spPr>
          <a:xfrm>
            <a:off x="857160" y="2230920"/>
            <a:ext cx="11678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ROW_NUMBER()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Forma libre 359"/>
          <p:cNvSpPr/>
          <p:nvPr/>
        </p:nvSpPr>
        <p:spPr>
          <a:xfrm>
            <a:off x="799920" y="2619360"/>
            <a:ext cx="695520" cy="228960"/>
          </a:xfrm>
          <a:custGeom>
            <a:avLst/>
            <a:gdLst/>
            <a:ahLst/>
            <a:cxnLst/>
            <a:rect l="0" t="0" r="r" b="b"/>
            <a:pathLst>
              <a:path w="1932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2"/>
                </a:cubicBezTo>
                <a:cubicBezTo>
                  <a:pt x="41" y="22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1827" y="0"/>
                </a:lnTo>
                <a:cubicBezTo>
                  <a:pt x="1841" y="0"/>
                  <a:pt x="1854" y="2"/>
                  <a:pt x="1867" y="8"/>
                </a:cubicBezTo>
                <a:cubicBezTo>
                  <a:pt x="1880" y="13"/>
                  <a:pt x="1892" y="22"/>
                  <a:pt x="1901" y="32"/>
                </a:cubicBezTo>
                <a:cubicBezTo>
                  <a:pt x="1911" y="41"/>
                  <a:pt x="1919" y="53"/>
                  <a:pt x="1924" y="66"/>
                </a:cubicBezTo>
                <a:cubicBezTo>
                  <a:pt x="1930" y="79"/>
                  <a:pt x="1932" y="92"/>
                  <a:pt x="1932" y="106"/>
                </a:cubicBezTo>
                <a:lnTo>
                  <a:pt x="1932" y="530"/>
                </a:lnTo>
                <a:cubicBezTo>
                  <a:pt x="1932" y="544"/>
                  <a:pt x="1930" y="557"/>
                  <a:pt x="1924" y="570"/>
                </a:cubicBezTo>
                <a:cubicBezTo>
                  <a:pt x="1919" y="583"/>
                  <a:pt x="1911" y="595"/>
                  <a:pt x="1901" y="605"/>
                </a:cubicBezTo>
                <a:cubicBezTo>
                  <a:pt x="1892" y="614"/>
                  <a:pt x="1880" y="622"/>
                  <a:pt x="1867" y="627"/>
                </a:cubicBezTo>
                <a:cubicBezTo>
                  <a:pt x="1854" y="633"/>
                  <a:pt x="1841" y="636"/>
                  <a:pt x="1827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7"/>
                </a:cubicBezTo>
                <a:cubicBezTo>
                  <a:pt x="52" y="622"/>
                  <a:pt x="41" y="614"/>
                  <a:pt x="31" y="605"/>
                </a:cubicBezTo>
                <a:cubicBezTo>
                  <a:pt x="21" y="595"/>
                  <a:pt x="13" y="583"/>
                  <a:pt x="8" y="570"/>
                </a:cubicBezTo>
                <a:cubicBezTo>
                  <a:pt x="3" y="557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CuadroTexto 360"/>
          <p:cNvSpPr txBox="1"/>
          <p:nvPr/>
        </p:nvSpPr>
        <p:spPr>
          <a:xfrm>
            <a:off x="4096080" y="2199960"/>
            <a:ext cx="3359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numerar dentro del grupo — </a:t>
            </a:r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deduplicar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CuadroTexto 361"/>
          <p:cNvSpPr txBox="1"/>
          <p:nvPr/>
        </p:nvSpPr>
        <p:spPr>
          <a:xfrm>
            <a:off x="857160" y="2640600"/>
            <a:ext cx="5842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RANK()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Forma libre 362"/>
          <p:cNvSpPr/>
          <p:nvPr/>
        </p:nvSpPr>
        <p:spPr>
          <a:xfrm>
            <a:off x="1666800" y="2619360"/>
            <a:ext cx="1286280" cy="228960"/>
          </a:xfrm>
          <a:custGeom>
            <a:avLst/>
            <a:gdLst/>
            <a:ahLst/>
            <a:cxnLst/>
            <a:rect l="0" t="0" r="r" b="b"/>
            <a:pathLst>
              <a:path w="3573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2"/>
                </a:cubicBezTo>
                <a:cubicBezTo>
                  <a:pt x="41" y="22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3467" y="0"/>
                </a:lnTo>
                <a:cubicBezTo>
                  <a:pt x="3481" y="0"/>
                  <a:pt x="3494" y="2"/>
                  <a:pt x="3507" y="8"/>
                </a:cubicBezTo>
                <a:cubicBezTo>
                  <a:pt x="3520" y="13"/>
                  <a:pt x="3532" y="22"/>
                  <a:pt x="3542" y="32"/>
                </a:cubicBezTo>
                <a:cubicBezTo>
                  <a:pt x="3552" y="41"/>
                  <a:pt x="3559" y="53"/>
                  <a:pt x="3565" y="66"/>
                </a:cubicBezTo>
                <a:cubicBezTo>
                  <a:pt x="3570" y="79"/>
                  <a:pt x="3573" y="92"/>
                  <a:pt x="3573" y="106"/>
                </a:cubicBezTo>
                <a:lnTo>
                  <a:pt x="3573" y="530"/>
                </a:lnTo>
                <a:cubicBezTo>
                  <a:pt x="3573" y="544"/>
                  <a:pt x="3570" y="557"/>
                  <a:pt x="3565" y="570"/>
                </a:cubicBezTo>
                <a:cubicBezTo>
                  <a:pt x="3559" y="583"/>
                  <a:pt x="3552" y="595"/>
                  <a:pt x="3542" y="605"/>
                </a:cubicBezTo>
                <a:cubicBezTo>
                  <a:pt x="3532" y="614"/>
                  <a:pt x="3520" y="622"/>
                  <a:pt x="3507" y="627"/>
                </a:cubicBezTo>
                <a:cubicBezTo>
                  <a:pt x="3494" y="633"/>
                  <a:pt x="3481" y="636"/>
                  <a:pt x="3467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7"/>
                </a:cubicBezTo>
                <a:cubicBezTo>
                  <a:pt x="52" y="622"/>
                  <a:pt x="41" y="614"/>
                  <a:pt x="31" y="605"/>
                </a:cubicBezTo>
                <a:cubicBezTo>
                  <a:pt x="21" y="595"/>
                  <a:pt x="13" y="583"/>
                  <a:pt x="8" y="570"/>
                </a:cubicBezTo>
                <a:cubicBezTo>
                  <a:pt x="2" y="557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CuadroTexto 363"/>
          <p:cNvSpPr txBox="1"/>
          <p:nvPr/>
        </p:nvSpPr>
        <p:spPr>
          <a:xfrm>
            <a:off x="1499400" y="2609640"/>
            <a:ext cx="190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/ 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CuadroTexto 364"/>
          <p:cNvSpPr txBox="1"/>
          <p:nvPr/>
        </p:nvSpPr>
        <p:spPr>
          <a:xfrm>
            <a:off x="1725840" y="2640600"/>
            <a:ext cx="11678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DENSE_RANK()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Forma libre 365"/>
          <p:cNvSpPr/>
          <p:nvPr/>
        </p:nvSpPr>
        <p:spPr>
          <a:xfrm>
            <a:off x="799920" y="3038400"/>
            <a:ext cx="600480" cy="228960"/>
          </a:xfrm>
          <a:custGeom>
            <a:avLst/>
            <a:gdLst/>
            <a:ahLst/>
            <a:cxnLst/>
            <a:rect l="0" t="0" r="r" b="b"/>
            <a:pathLst>
              <a:path w="1668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1562" y="0"/>
                </a:lnTo>
                <a:cubicBezTo>
                  <a:pt x="1576" y="0"/>
                  <a:pt x="1590" y="2"/>
                  <a:pt x="1603" y="8"/>
                </a:cubicBezTo>
                <a:cubicBezTo>
                  <a:pt x="1616" y="13"/>
                  <a:pt x="1627" y="21"/>
                  <a:pt x="1637" y="31"/>
                </a:cubicBezTo>
                <a:cubicBezTo>
                  <a:pt x="1647" y="41"/>
                  <a:pt x="1654" y="52"/>
                  <a:pt x="1660" y="65"/>
                </a:cubicBezTo>
                <a:cubicBezTo>
                  <a:pt x="1665" y="78"/>
                  <a:pt x="1668" y="92"/>
                  <a:pt x="1668" y="106"/>
                </a:cubicBezTo>
                <a:lnTo>
                  <a:pt x="1668" y="530"/>
                </a:lnTo>
                <a:cubicBezTo>
                  <a:pt x="1668" y="544"/>
                  <a:pt x="1665" y="557"/>
                  <a:pt x="1660" y="570"/>
                </a:cubicBezTo>
                <a:cubicBezTo>
                  <a:pt x="1654" y="583"/>
                  <a:pt x="1647" y="595"/>
                  <a:pt x="1637" y="605"/>
                </a:cubicBezTo>
                <a:cubicBezTo>
                  <a:pt x="1627" y="615"/>
                  <a:pt x="1616" y="622"/>
                  <a:pt x="1603" y="628"/>
                </a:cubicBezTo>
                <a:cubicBezTo>
                  <a:pt x="1590" y="633"/>
                  <a:pt x="1576" y="636"/>
                  <a:pt x="1562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2"/>
                  <a:pt x="41" y="615"/>
                  <a:pt x="31" y="605"/>
                </a:cubicBezTo>
                <a:cubicBezTo>
                  <a:pt x="21" y="595"/>
                  <a:pt x="13" y="583"/>
                  <a:pt x="8" y="570"/>
                </a:cubicBezTo>
                <a:cubicBezTo>
                  <a:pt x="3" y="557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CuadroTexto 366"/>
          <p:cNvSpPr txBox="1"/>
          <p:nvPr/>
        </p:nvSpPr>
        <p:spPr>
          <a:xfrm>
            <a:off x="4096080" y="2609640"/>
            <a:ext cx="17406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rankear con empates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CuadroTexto 367"/>
          <p:cNvSpPr txBox="1"/>
          <p:nvPr/>
        </p:nvSpPr>
        <p:spPr>
          <a:xfrm>
            <a:off x="857160" y="3059640"/>
            <a:ext cx="4870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LAG()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Forma libre 368"/>
          <p:cNvSpPr/>
          <p:nvPr/>
        </p:nvSpPr>
        <p:spPr>
          <a:xfrm>
            <a:off x="1571400" y="3038400"/>
            <a:ext cx="695880" cy="228960"/>
          </a:xfrm>
          <a:custGeom>
            <a:avLst/>
            <a:gdLst/>
            <a:ahLst/>
            <a:cxnLst/>
            <a:rect l="0" t="0" r="r" b="b"/>
            <a:pathLst>
              <a:path w="1933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1827" y="0"/>
                </a:lnTo>
                <a:cubicBezTo>
                  <a:pt x="1841" y="0"/>
                  <a:pt x="1854" y="2"/>
                  <a:pt x="1867" y="8"/>
                </a:cubicBezTo>
                <a:cubicBezTo>
                  <a:pt x="1880" y="13"/>
                  <a:pt x="1892" y="21"/>
                  <a:pt x="1902" y="31"/>
                </a:cubicBezTo>
                <a:cubicBezTo>
                  <a:pt x="1912" y="41"/>
                  <a:pt x="1919" y="52"/>
                  <a:pt x="1925" y="65"/>
                </a:cubicBezTo>
                <a:cubicBezTo>
                  <a:pt x="1930" y="78"/>
                  <a:pt x="1933" y="92"/>
                  <a:pt x="1933" y="106"/>
                </a:cubicBezTo>
                <a:lnTo>
                  <a:pt x="1933" y="530"/>
                </a:lnTo>
                <a:cubicBezTo>
                  <a:pt x="1933" y="544"/>
                  <a:pt x="1930" y="557"/>
                  <a:pt x="1925" y="570"/>
                </a:cubicBezTo>
                <a:cubicBezTo>
                  <a:pt x="1919" y="583"/>
                  <a:pt x="1912" y="595"/>
                  <a:pt x="1902" y="605"/>
                </a:cubicBezTo>
                <a:cubicBezTo>
                  <a:pt x="1892" y="615"/>
                  <a:pt x="1880" y="622"/>
                  <a:pt x="1867" y="628"/>
                </a:cubicBezTo>
                <a:cubicBezTo>
                  <a:pt x="1854" y="633"/>
                  <a:pt x="1841" y="636"/>
                  <a:pt x="1827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2"/>
                  <a:pt x="41" y="615"/>
                  <a:pt x="31" y="605"/>
                </a:cubicBezTo>
                <a:cubicBezTo>
                  <a:pt x="21" y="595"/>
                  <a:pt x="14" y="583"/>
                  <a:pt x="8" y="570"/>
                </a:cubicBezTo>
                <a:cubicBezTo>
                  <a:pt x="3" y="557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CuadroTexto 369"/>
          <p:cNvSpPr txBox="1"/>
          <p:nvPr/>
        </p:nvSpPr>
        <p:spPr>
          <a:xfrm>
            <a:off x="1401840" y="3028680"/>
            <a:ext cx="190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/ 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CuadroTexto 370"/>
          <p:cNvSpPr txBox="1"/>
          <p:nvPr/>
        </p:nvSpPr>
        <p:spPr>
          <a:xfrm>
            <a:off x="1628640" y="3059640"/>
            <a:ext cx="5842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LEAD()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Forma libre 371"/>
          <p:cNvSpPr/>
          <p:nvPr/>
        </p:nvSpPr>
        <p:spPr>
          <a:xfrm>
            <a:off x="799920" y="3447720"/>
            <a:ext cx="1381320" cy="228960"/>
          </a:xfrm>
          <a:custGeom>
            <a:avLst/>
            <a:gdLst/>
            <a:ahLst/>
            <a:cxnLst/>
            <a:rect l="0" t="0" r="r" b="b"/>
            <a:pathLst>
              <a:path w="3837" h="636">
                <a:moveTo>
                  <a:pt x="0" y="531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3732" y="0"/>
                </a:lnTo>
                <a:cubicBezTo>
                  <a:pt x="3746" y="0"/>
                  <a:pt x="3759" y="3"/>
                  <a:pt x="3772" y="8"/>
                </a:cubicBezTo>
                <a:cubicBezTo>
                  <a:pt x="3785" y="14"/>
                  <a:pt x="3797" y="21"/>
                  <a:pt x="3806" y="31"/>
                </a:cubicBezTo>
                <a:cubicBezTo>
                  <a:pt x="3816" y="41"/>
                  <a:pt x="3824" y="53"/>
                  <a:pt x="3829" y="66"/>
                </a:cubicBezTo>
                <a:cubicBezTo>
                  <a:pt x="3835" y="79"/>
                  <a:pt x="3837" y="92"/>
                  <a:pt x="3837" y="106"/>
                </a:cubicBezTo>
                <a:lnTo>
                  <a:pt x="3837" y="531"/>
                </a:lnTo>
                <a:cubicBezTo>
                  <a:pt x="3837" y="545"/>
                  <a:pt x="3835" y="558"/>
                  <a:pt x="3829" y="571"/>
                </a:cubicBezTo>
                <a:cubicBezTo>
                  <a:pt x="3824" y="584"/>
                  <a:pt x="3816" y="595"/>
                  <a:pt x="3806" y="605"/>
                </a:cubicBezTo>
                <a:cubicBezTo>
                  <a:pt x="3797" y="615"/>
                  <a:pt x="3785" y="623"/>
                  <a:pt x="3772" y="628"/>
                </a:cubicBezTo>
                <a:cubicBezTo>
                  <a:pt x="3759" y="634"/>
                  <a:pt x="3746" y="636"/>
                  <a:pt x="3732" y="636"/>
                </a:cubicBezTo>
                <a:lnTo>
                  <a:pt x="106" y="636"/>
                </a:lnTo>
                <a:cubicBezTo>
                  <a:pt x="92" y="636"/>
                  <a:pt x="78" y="634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3" y="558"/>
                  <a:pt x="0" y="545"/>
                  <a:pt x="0" y="531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CuadroTexto 372"/>
          <p:cNvSpPr txBox="1"/>
          <p:nvPr/>
        </p:nvSpPr>
        <p:spPr>
          <a:xfrm>
            <a:off x="4096080" y="3028680"/>
            <a:ext cx="21697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la ﬁla </a:t>
            </a:r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anterior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/ </a:t>
            </a:r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siguiente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CuadroTexto 373"/>
          <p:cNvSpPr txBox="1"/>
          <p:nvPr/>
        </p:nvSpPr>
        <p:spPr>
          <a:xfrm>
            <a:off x="857160" y="3469320"/>
            <a:ext cx="12650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FIRST_VALUE()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Forma libre 374"/>
          <p:cNvSpPr/>
          <p:nvPr/>
        </p:nvSpPr>
        <p:spPr>
          <a:xfrm>
            <a:off x="2352600" y="3447720"/>
            <a:ext cx="1286280" cy="228960"/>
          </a:xfrm>
          <a:custGeom>
            <a:avLst/>
            <a:gdLst/>
            <a:ahLst/>
            <a:cxnLst/>
            <a:rect l="0" t="0" r="r" b="b"/>
            <a:pathLst>
              <a:path w="3573" h="636">
                <a:moveTo>
                  <a:pt x="0" y="531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3467" y="0"/>
                </a:lnTo>
                <a:cubicBezTo>
                  <a:pt x="3481" y="0"/>
                  <a:pt x="3494" y="3"/>
                  <a:pt x="3507" y="8"/>
                </a:cubicBezTo>
                <a:cubicBezTo>
                  <a:pt x="3520" y="14"/>
                  <a:pt x="3532" y="21"/>
                  <a:pt x="3542" y="31"/>
                </a:cubicBezTo>
                <a:cubicBezTo>
                  <a:pt x="3552" y="41"/>
                  <a:pt x="3559" y="53"/>
                  <a:pt x="3565" y="66"/>
                </a:cubicBezTo>
                <a:cubicBezTo>
                  <a:pt x="3570" y="79"/>
                  <a:pt x="3573" y="92"/>
                  <a:pt x="3573" y="106"/>
                </a:cubicBezTo>
                <a:lnTo>
                  <a:pt x="3573" y="531"/>
                </a:lnTo>
                <a:cubicBezTo>
                  <a:pt x="3573" y="545"/>
                  <a:pt x="3570" y="558"/>
                  <a:pt x="3565" y="571"/>
                </a:cubicBezTo>
                <a:cubicBezTo>
                  <a:pt x="3559" y="584"/>
                  <a:pt x="3552" y="595"/>
                  <a:pt x="3542" y="605"/>
                </a:cubicBezTo>
                <a:cubicBezTo>
                  <a:pt x="3532" y="615"/>
                  <a:pt x="3520" y="623"/>
                  <a:pt x="3507" y="628"/>
                </a:cubicBezTo>
                <a:cubicBezTo>
                  <a:pt x="3494" y="634"/>
                  <a:pt x="3481" y="636"/>
                  <a:pt x="3467" y="636"/>
                </a:cubicBezTo>
                <a:lnTo>
                  <a:pt x="106" y="636"/>
                </a:lnTo>
                <a:cubicBezTo>
                  <a:pt x="92" y="636"/>
                  <a:pt x="78" y="634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2" y="558"/>
                  <a:pt x="0" y="545"/>
                  <a:pt x="0" y="531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CuadroTexto 375"/>
          <p:cNvSpPr txBox="1"/>
          <p:nvPr/>
        </p:nvSpPr>
        <p:spPr>
          <a:xfrm>
            <a:off x="2181960" y="3438000"/>
            <a:ext cx="190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/ 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CuadroTexto 376"/>
          <p:cNvSpPr txBox="1"/>
          <p:nvPr/>
        </p:nvSpPr>
        <p:spPr>
          <a:xfrm>
            <a:off x="2408400" y="3469320"/>
            <a:ext cx="11678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LAST_VALUE()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Forma libre 377"/>
          <p:cNvSpPr/>
          <p:nvPr/>
        </p:nvSpPr>
        <p:spPr>
          <a:xfrm>
            <a:off x="799920" y="3857400"/>
            <a:ext cx="2352960" cy="228960"/>
          </a:xfrm>
          <a:custGeom>
            <a:avLst/>
            <a:gdLst/>
            <a:ahLst/>
            <a:cxnLst/>
            <a:rect l="0" t="0" r="r" b="b"/>
            <a:pathLst>
              <a:path w="6536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6430" y="0"/>
                </a:lnTo>
                <a:cubicBezTo>
                  <a:pt x="6444" y="0"/>
                  <a:pt x="6458" y="3"/>
                  <a:pt x="6471" y="8"/>
                </a:cubicBezTo>
                <a:cubicBezTo>
                  <a:pt x="6484" y="14"/>
                  <a:pt x="6495" y="21"/>
                  <a:pt x="6505" y="31"/>
                </a:cubicBezTo>
                <a:cubicBezTo>
                  <a:pt x="6515" y="41"/>
                  <a:pt x="6523" y="52"/>
                  <a:pt x="6528" y="65"/>
                </a:cubicBezTo>
                <a:cubicBezTo>
                  <a:pt x="6534" y="78"/>
                  <a:pt x="6536" y="92"/>
                  <a:pt x="6536" y="106"/>
                </a:cubicBezTo>
                <a:lnTo>
                  <a:pt x="6536" y="530"/>
                </a:lnTo>
                <a:cubicBezTo>
                  <a:pt x="6536" y="544"/>
                  <a:pt x="6534" y="558"/>
                  <a:pt x="6528" y="571"/>
                </a:cubicBezTo>
                <a:cubicBezTo>
                  <a:pt x="6523" y="584"/>
                  <a:pt x="6515" y="595"/>
                  <a:pt x="6505" y="605"/>
                </a:cubicBezTo>
                <a:cubicBezTo>
                  <a:pt x="6495" y="615"/>
                  <a:pt x="6484" y="623"/>
                  <a:pt x="6471" y="628"/>
                </a:cubicBezTo>
                <a:cubicBezTo>
                  <a:pt x="6458" y="633"/>
                  <a:pt x="6444" y="636"/>
                  <a:pt x="6430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CuadroTexto 378"/>
          <p:cNvSpPr txBox="1"/>
          <p:nvPr/>
        </p:nvSpPr>
        <p:spPr>
          <a:xfrm>
            <a:off x="4096080" y="3438000"/>
            <a:ext cx="21106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primera / última del grupo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CuadroTexto 379"/>
          <p:cNvSpPr txBox="1"/>
          <p:nvPr/>
        </p:nvSpPr>
        <p:spPr>
          <a:xfrm>
            <a:off x="857160" y="3878640"/>
            <a:ext cx="223776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SUM() OVER (ORDER BY …)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Forma libre 380"/>
          <p:cNvSpPr/>
          <p:nvPr/>
        </p:nvSpPr>
        <p:spPr>
          <a:xfrm>
            <a:off x="799920" y="4267080"/>
            <a:ext cx="3038760" cy="228960"/>
          </a:xfrm>
          <a:custGeom>
            <a:avLst/>
            <a:gdLst/>
            <a:ahLst/>
            <a:cxnLst/>
            <a:rect l="0" t="0" r="r" b="b"/>
            <a:pathLst>
              <a:path w="8441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8335" y="0"/>
                </a:lnTo>
                <a:cubicBezTo>
                  <a:pt x="8349" y="0"/>
                  <a:pt x="8363" y="3"/>
                  <a:pt x="8376" y="8"/>
                </a:cubicBezTo>
                <a:cubicBezTo>
                  <a:pt x="8389" y="13"/>
                  <a:pt x="8400" y="21"/>
                  <a:pt x="8410" y="31"/>
                </a:cubicBezTo>
                <a:cubicBezTo>
                  <a:pt x="8420" y="41"/>
                  <a:pt x="8428" y="52"/>
                  <a:pt x="8433" y="65"/>
                </a:cubicBezTo>
                <a:cubicBezTo>
                  <a:pt x="8439" y="78"/>
                  <a:pt x="8441" y="92"/>
                  <a:pt x="8441" y="106"/>
                </a:cubicBezTo>
                <a:lnTo>
                  <a:pt x="8441" y="530"/>
                </a:lnTo>
                <a:cubicBezTo>
                  <a:pt x="8441" y="544"/>
                  <a:pt x="8439" y="558"/>
                  <a:pt x="8433" y="570"/>
                </a:cubicBezTo>
                <a:cubicBezTo>
                  <a:pt x="8428" y="583"/>
                  <a:pt x="8420" y="595"/>
                  <a:pt x="8410" y="605"/>
                </a:cubicBezTo>
                <a:cubicBezTo>
                  <a:pt x="8400" y="615"/>
                  <a:pt x="8389" y="622"/>
                  <a:pt x="8376" y="628"/>
                </a:cubicBezTo>
                <a:cubicBezTo>
                  <a:pt x="8363" y="633"/>
                  <a:pt x="8349" y="636"/>
                  <a:pt x="8335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2"/>
                  <a:pt x="41" y="615"/>
                  <a:pt x="31" y="605"/>
                </a:cubicBezTo>
                <a:cubicBezTo>
                  <a:pt x="21" y="595"/>
                  <a:pt x="13" y="583"/>
                  <a:pt x="8" y="570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CuadroTexto 381"/>
          <p:cNvSpPr txBox="1"/>
          <p:nvPr/>
        </p:nvSpPr>
        <p:spPr>
          <a:xfrm>
            <a:off x="4096080" y="3847680"/>
            <a:ext cx="24562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acumulados y medias móviles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CuadroTexto 382"/>
          <p:cNvSpPr txBox="1"/>
          <p:nvPr/>
        </p:nvSpPr>
        <p:spPr>
          <a:xfrm>
            <a:off x="857160" y="4288320"/>
            <a:ext cx="29185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COUNT(*) OVER (PARTITION BY …)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CuadroTexto 383"/>
          <p:cNvSpPr txBox="1"/>
          <p:nvPr/>
        </p:nvSpPr>
        <p:spPr>
          <a:xfrm>
            <a:off x="4096080" y="4257360"/>
            <a:ext cx="24778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tamaño del grupo, sin agrupar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CuadroTexto 384"/>
          <p:cNvSpPr txBox="1"/>
          <p:nvPr/>
        </p:nvSpPr>
        <p:spPr>
          <a:xfrm>
            <a:off x="866880" y="4918320"/>
            <a:ext cx="79711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ROW_NUMBER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()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OVER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(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PARTITION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BY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person_id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ORDER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BY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measurement_date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DESC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CuadroTexto 385"/>
          <p:cNvSpPr txBox="1"/>
          <p:nvPr/>
        </p:nvSpPr>
        <p:spPr>
          <a:xfrm>
            <a:off x="666720" y="5516280"/>
            <a:ext cx="9118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Traducción: «numera las mediciones de cada paciente, de la más reciente a la más antigua».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CuadroTexto 38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CuadroTexto 38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CuadroTexto 388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Forma libre 42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Forma libre 42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Forma libre 42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CuadroTexto 428"/>
          <p:cNvSpPr txBox="1"/>
          <p:nvPr/>
        </p:nvSpPr>
        <p:spPr>
          <a:xfrm>
            <a:off x="2831400" y="3063960"/>
            <a:ext cx="670932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7. Patrones clínicos resueltos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CuadroTexto 42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CuadroTexto 43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CuadroTexto 431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Forma libre 43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Forma libre 43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Forma libre 43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Forma libre 435"/>
          <p:cNvSpPr/>
          <p:nvPr/>
        </p:nvSpPr>
        <p:spPr>
          <a:xfrm>
            <a:off x="671400" y="2261880"/>
            <a:ext cx="10849320" cy="2153160"/>
          </a:xfrm>
          <a:custGeom>
            <a:avLst/>
            <a:gdLst/>
            <a:ahLst/>
            <a:cxnLst/>
            <a:rect l="0" t="0" r="r" b="b"/>
            <a:pathLst>
              <a:path w="30137" h="5981">
                <a:moveTo>
                  <a:pt x="0" y="5782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5782"/>
                </a:lnTo>
                <a:cubicBezTo>
                  <a:pt x="30137" y="5796"/>
                  <a:pt x="30136" y="5808"/>
                  <a:pt x="30133" y="5821"/>
                </a:cubicBezTo>
                <a:cubicBezTo>
                  <a:pt x="30130" y="5834"/>
                  <a:pt x="30127" y="5846"/>
                  <a:pt x="30122" y="5858"/>
                </a:cubicBezTo>
                <a:cubicBezTo>
                  <a:pt x="30117" y="5870"/>
                  <a:pt x="30111" y="5882"/>
                  <a:pt x="30103" y="5893"/>
                </a:cubicBezTo>
                <a:cubicBezTo>
                  <a:pt x="30096" y="5904"/>
                  <a:pt x="30088" y="5914"/>
                  <a:pt x="30079" y="5923"/>
                </a:cubicBezTo>
                <a:cubicBezTo>
                  <a:pt x="30070" y="5932"/>
                  <a:pt x="30059" y="5940"/>
                  <a:pt x="30049" y="5947"/>
                </a:cubicBezTo>
                <a:cubicBezTo>
                  <a:pt x="30038" y="5955"/>
                  <a:pt x="30026" y="5961"/>
                  <a:pt x="30014" y="5966"/>
                </a:cubicBezTo>
                <a:cubicBezTo>
                  <a:pt x="30002" y="5971"/>
                  <a:pt x="29990" y="5975"/>
                  <a:pt x="29977" y="5977"/>
                </a:cubicBezTo>
                <a:cubicBezTo>
                  <a:pt x="29964" y="5980"/>
                  <a:pt x="29951" y="5981"/>
                  <a:pt x="29938" y="5981"/>
                </a:cubicBezTo>
                <a:lnTo>
                  <a:pt x="198" y="5981"/>
                </a:lnTo>
                <a:cubicBezTo>
                  <a:pt x="185" y="5981"/>
                  <a:pt x="172" y="5980"/>
                  <a:pt x="160" y="5977"/>
                </a:cubicBezTo>
                <a:cubicBezTo>
                  <a:pt x="147" y="5975"/>
                  <a:pt x="134" y="5971"/>
                  <a:pt x="122" y="5966"/>
                </a:cubicBezTo>
                <a:cubicBezTo>
                  <a:pt x="110" y="5961"/>
                  <a:pt x="99" y="5955"/>
                  <a:pt x="88" y="5947"/>
                </a:cubicBezTo>
                <a:cubicBezTo>
                  <a:pt x="77" y="5940"/>
                  <a:pt x="67" y="5932"/>
                  <a:pt x="58" y="5923"/>
                </a:cubicBezTo>
                <a:cubicBezTo>
                  <a:pt x="49" y="5914"/>
                  <a:pt x="40" y="5904"/>
                  <a:pt x="33" y="5893"/>
                </a:cubicBezTo>
                <a:cubicBezTo>
                  <a:pt x="26" y="5882"/>
                  <a:pt x="20" y="5870"/>
                  <a:pt x="15" y="5858"/>
                </a:cubicBezTo>
                <a:cubicBezTo>
                  <a:pt x="10" y="5846"/>
                  <a:pt x="6" y="5834"/>
                  <a:pt x="4" y="5821"/>
                </a:cubicBezTo>
                <a:cubicBezTo>
                  <a:pt x="1" y="5808"/>
                  <a:pt x="0" y="5796"/>
                  <a:pt x="0" y="578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Forma libre 436"/>
          <p:cNvSpPr/>
          <p:nvPr/>
        </p:nvSpPr>
        <p:spPr>
          <a:xfrm>
            <a:off x="671400" y="2261880"/>
            <a:ext cx="10849320" cy="2153160"/>
          </a:xfrm>
          <a:custGeom>
            <a:avLst/>
            <a:gdLst/>
            <a:ahLst/>
            <a:cxnLst/>
            <a:rect l="0" t="0" r="r" b="b"/>
            <a:pathLst>
              <a:path w="30137" h="5981">
                <a:moveTo>
                  <a:pt x="0" y="5782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5782"/>
                </a:lnTo>
                <a:cubicBezTo>
                  <a:pt x="30137" y="5796"/>
                  <a:pt x="30136" y="5808"/>
                  <a:pt x="30133" y="5821"/>
                </a:cubicBezTo>
                <a:cubicBezTo>
                  <a:pt x="30130" y="5834"/>
                  <a:pt x="30127" y="5846"/>
                  <a:pt x="30122" y="5858"/>
                </a:cubicBezTo>
                <a:cubicBezTo>
                  <a:pt x="30117" y="5870"/>
                  <a:pt x="30111" y="5882"/>
                  <a:pt x="30103" y="5893"/>
                </a:cubicBezTo>
                <a:cubicBezTo>
                  <a:pt x="30096" y="5904"/>
                  <a:pt x="30088" y="5914"/>
                  <a:pt x="30079" y="5923"/>
                </a:cubicBezTo>
                <a:cubicBezTo>
                  <a:pt x="30070" y="5932"/>
                  <a:pt x="30059" y="5940"/>
                  <a:pt x="30049" y="5947"/>
                </a:cubicBezTo>
                <a:cubicBezTo>
                  <a:pt x="30038" y="5955"/>
                  <a:pt x="30026" y="5961"/>
                  <a:pt x="30014" y="5966"/>
                </a:cubicBezTo>
                <a:cubicBezTo>
                  <a:pt x="30002" y="5971"/>
                  <a:pt x="29990" y="5975"/>
                  <a:pt x="29977" y="5977"/>
                </a:cubicBezTo>
                <a:cubicBezTo>
                  <a:pt x="29964" y="5980"/>
                  <a:pt x="29951" y="5981"/>
                  <a:pt x="29938" y="5981"/>
                </a:cubicBezTo>
                <a:lnTo>
                  <a:pt x="198" y="5981"/>
                </a:lnTo>
                <a:cubicBezTo>
                  <a:pt x="185" y="5981"/>
                  <a:pt x="172" y="5980"/>
                  <a:pt x="160" y="5977"/>
                </a:cubicBezTo>
                <a:cubicBezTo>
                  <a:pt x="147" y="5975"/>
                  <a:pt x="134" y="5971"/>
                  <a:pt x="122" y="5966"/>
                </a:cubicBezTo>
                <a:cubicBezTo>
                  <a:pt x="110" y="5961"/>
                  <a:pt x="99" y="5955"/>
                  <a:pt x="88" y="5947"/>
                </a:cubicBezTo>
                <a:cubicBezTo>
                  <a:pt x="77" y="5940"/>
                  <a:pt x="67" y="5932"/>
                  <a:pt x="58" y="5923"/>
                </a:cubicBezTo>
                <a:cubicBezTo>
                  <a:pt x="49" y="5914"/>
                  <a:pt x="40" y="5904"/>
                  <a:pt x="33" y="5893"/>
                </a:cubicBezTo>
                <a:cubicBezTo>
                  <a:pt x="26" y="5882"/>
                  <a:pt x="20" y="5870"/>
                  <a:pt x="15" y="5858"/>
                </a:cubicBezTo>
                <a:cubicBezTo>
                  <a:pt x="10" y="5846"/>
                  <a:pt x="6" y="5834"/>
                  <a:pt x="4" y="5821"/>
                </a:cubicBezTo>
                <a:cubicBezTo>
                  <a:pt x="1" y="5808"/>
                  <a:pt x="0" y="5796"/>
                  <a:pt x="0" y="578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CuadroTexto 437"/>
          <p:cNvSpPr txBox="1"/>
          <p:nvPr/>
        </p:nvSpPr>
        <p:spPr>
          <a:xfrm>
            <a:off x="666720" y="1615680"/>
            <a:ext cx="58154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Deduplicar: quedarse con lo más reciente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CuadroTexto 438"/>
          <p:cNvSpPr txBox="1"/>
          <p:nvPr/>
        </p:nvSpPr>
        <p:spPr>
          <a:xfrm>
            <a:off x="866880" y="2441880"/>
            <a:ext cx="20754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WITH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numeradas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(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CuadroTexto 439"/>
          <p:cNvSpPr txBox="1"/>
          <p:nvPr/>
        </p:nvSpPr>
        <p:spPr>
          <a:xfrm>
            <a:off x="866880" y="2708640"/>
            <a:ext cx="16383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SELECT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m.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*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CuadroTexto 440"/>
          <p:cNvSpPr txBox="1"/>
          <p:nvPr/>
        </p:nvSpPr>
        <p:spPr>
          <a:xfrm>
            <a:off x="866880" y="2965680"/>
            <a:ext cx="82990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ROW_NUMBER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()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OVER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(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PARTITION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BY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person_id, measurement_concept_id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CuadroTexto 441"/>
          <p:cNvSpPr txBox="1"/>
          <p:nvPr/>
        </p:nvSpPr>
        <p:spPr>
          <a:xfrm>
            <a:off x="866880" y="3232440"/>
            <a:ext cx="73162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             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ORDER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BY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measurement_date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DESC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rn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CuadroTexto 442"/>
          <p:cNvSpPr txBox="1"/>
          <p:nvPr/>
        </p:nvSpPr>
        <p:spPr>
          <a:xfrm>
            <a:off x="866880" y="3489480"/>
            <a:ext cx="26211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measurement m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CuadroTexto 443"/>
          <p:cNvSpPr txBox="1"/>
          <p:nvPr/>
        </p:nvSpPr>
        <p:spPr>
          <a:xfrm>
            <a:off x="866880" y="3756240"/>
            <a:ext cx="180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CuadroTexto 444"/>
          <p:cNvSpPr txBox="1"/>
          <p:nvPr/>
        </p:nvSpPr>
        <p:spPr>
          <a:xfrm>
            <a:off x="866880" y="4013640"/>
            <a:ext cx="40395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SELECT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*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numeradas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WHERE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rn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1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;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Forma libre 445"/>
          <p:cNvSpPr/>
          <p:nvPr/>
        </p:nvSpPr>
        <p:spPr>
          <a:xfrm>
            <a:off x="1609560" y="4628880"/>
            <a:ext cx="3277080" cy="267120"/>
          </a:xfrm>
          <a:custGeom>
            <a:avLst/>
            <a:gdLst/>
            <a:ahLst/>
            <a:cxnLst/>
            <a:rect l="0" t="0" r="r" b="b"/>
            <a:pathLst>
              <a:path w="9103" h="742">
                <a:moveTo>
                  <a:pt x="0" y="636"/>
                </a:moveTo>
                <a:lnTo>
                  <a:pt x="0" y="107"/>
                </a:lnTo>
                <a:cubicBezTo>
                  <a:pt x="0" y="93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3" y="0"/>
                  <a:pt x="107" y="0"/>
                </a:cubicBezTo>
                <a:lnTo>
                  <a:pt x="8997" y="0"/>
                </a:lnTo>
                <a:cubicBezTo>
                  <a:pt x="9011" y="0"/>
                  <a:pt x="9024" y="3"/>
                  <a:pt x="9037" y="8"/>
                </a:cubicBezTo>
                <a:cubicBezTo>
                  <a:pt x="9050" y="14"/>
                  <a:pt x="9062" y="21"/>
                  <a:pt x="9072" y="31"/>
                </a:cubicBezTo>
                <a:cubicBezTo>
                  <a:pt x="9082" y="41"/>
                  <a:pt x="9089" y="53"/>
                  <a:pt x="9095" y="66"/>
                </a:cubicBezTo>
                <a:cubicBezTo>
                  <a:pt x="9100" y="79"/>
                  <a:pt x="9103" y="93"/>
                  <a:pt x="9103" y="107"/>
                </a:cubicBezTo>
                <a:lnTo>
                  <a:pt x="9103" y="636"/>
                </a:lnTo>
                <a:cubicBezTo>
                  <a:pt x="9103" y="650"/>
                  <a:pt x="9100" y="664"/>
                  <a:pt x="9095" y="677"/>
                </a:cubicBezTo>
                <a:cubicBezTo>
                  <a:pt x="9089" y="690"/>
                  <a:pt x="9082" y="701"/>
                  <a:pt x="9072" y="711"/>
                </a:cubicBezTo>
                <a:cubicBezTo>
                  <a:pt x="9062" y="721"/>
                  <a:pt x="9050" y="729"/>
                  <a:pt x="9037" y="734"/>
                </a:cubicBezTo>
                <a:cubicBezTo>
                  <a:pt x="9024" y="739"/>
                  <a:pt x="9011" y="742"/>
                  <a:pt x="8997" y="742"/>
                </a:cubicBezTo>
                <a:lnTo>
                  <a:pt x="107" y="742"/>
                </a:lnTo>
                <a:cubicBezTo>
                  <a:pt x="93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CuadroTexto 446"/>
          <p:cNvSpPr txBox="1"/>
          <p:nvPr/>
        </p:nvSpPr>
        <p:spPr>
          <a:xfrm>
            <a:off x="666720" y="4611600"/>
            <a:ext cx="9450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patrón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CuadroTexto 447"/>
          <p:cNvSpPr txBox="1"/>
          <p:nvPr/>
        </p:nvSpPr>
        <p:spPr>
          <a:xfrm>
            <a:off x="1668240" y="4648680"/>
            <a:ext cx="31716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ROW_NUMBER() … WHERE rn = 1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CuadroTexto 448"/>
          <p:cNvSpPr txBox="1"/>
          <p:nvPr/>
        </p:nvSpPr>
        <p:spPr>
          <a:xfrm>
            <a:off x="4884120" y="4611600"/>
            <a:ext cx="60811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resuelve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toda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una familia de preguntas: la última medición, la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CuadroTexto 449"/>
          <p:cNvSpPr txBox="1"/>
          <p:nvPr/>
        </p:nvSpPr>
        <p:spPr>
          <a:xfrm>
            <a:off x="666720" y="4954320"/>
            <a:ext cx="4171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primera visita, el diagnóstico más reciente.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CuadroTexto 45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CuadroTexto 45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CuadroTexto 452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Forma libre 45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Forma libre 45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Forma libre 45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Forma libre 456"/>
          <p:cNvSpPr/>
          <p:nvPr/>
        </p:nvSpPr>
        <p:spPr>
          <a:xfrm>
            <a:off x="671400" y="2128680"/>
            <a:ext cx="10849320" cy="2419560"/>
          </a:xfrm>
          <a:custGeom>
            <a:avLst/>
            <a:gdLst/>
            <a:ahLst/>
            <a:cxnLst/>
            <a:rect l="0" t="0" r="r" b="b"/>
            <a:pathLst>
              <a:path w="30137" h="6721">
                <a:moveTo>
                  <a:pt x="0" y="6523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6523"/>
                </a:lnTo>
                <a:cubicBezTo>
                  <a:pt x="30137" y="6536"/>
                  <a:pt x="30136" y="6549"/>
                  <a:pt x="30133" y="6562"/>
                </a:cubicBezTo>
                <a:cubicBezTo>
                  <a:pt x="30130" y="6574"/>
                  <a:pt x="30127" y="6587"/>
                  <a:pt x="30122" y="6599"/>
                </a:cubicBezTo>
                <a:cubicBezTo>
                  <a:pt x="30117" y="6611"/>
                  <a:pt x="30111" y="6622"/>
                  <a:pt x="30103" y="6633"/>
                </a:cubicBezTo>
                <a:cubicBezTo>
                  <a:pt x="30096" y="6644"/>
                  <a:pt x="30088" y="6654"/>
                  <a:pt x="30079" y="6663"/>
                </a:cubicBezTo>
                <a:cubicBezTo>
                  <a:pt x="30070" y="6672"/>
                  <a:pt x="30059" y="6681"/>
                  <a:pt x="30049" y="6688"/>
                </a:cubicBezTo>
                <a:cubicBezTo>
                  <a:pt x="30038" y="6695"/>
                  <a:pt x="30026" y="6701"/>
                  <a:pt x="30014" y="6706"/>
                </a:cubicBezTo>
                <a:cubicBezTo>
                  <a:pt x="30002" y="6711"/>
                  <a:pt x="29990" y="6715"/>
                  <a:pt x="29977" y="6718"/>
                </a:cubicBezTo>
                <a:cubicBezTo>
                  <a:pt x="29964" y="6720"/>
                  <a:pt x="29951" y="6721"/>
                  <a:pt x="29938" y="6721"/>
                </a:cubicBezTo>
                <a:lnTo>
                  <a:pt x="198" y="6721"/>
                </a:lnTo>
                <a:cubicBezTo>
                  <a:pt x="185" y="6721"/>
                  <a:pt x="172" y="6720"/>
                  <a:pt x="160" y="6718"/>
                </a:cubicBezTo>
                <a:cubicBezTo>
                  <a:pt x="147" y="6715"/>
                  <a:pt x="134" y="6711"/>
                  <a:pt x="122" y="6706"/>
                </a:cubicBezTo>
                <a:cubicBezTo>
                  <a:pt x="110" y="6701"/>
                  <a:pt x="99" y="6695"/>
                  <a:pt x="88" y="6688"/>
                </a:cubicBezTo>
                <a:cubicBezTo>
                  <a:pt x="77" y="6681"/>
                  <a:pt x="67" y="6672"/>
                  <a:pt x="58" y="6663"/>
                </a:cubicBezTo>
                <a:cubicBezTo>
                  <a:pt x="49" y="6654"/>
                  <a:pt x="40" y="6644"/>
                  <a:pt x="33" y="6633"/>
                </a:cubicBezTo>
                <a:cubicBezTo>
                  <a:pt x="26" y="6622"/>
                  <a:pt x="20" y="6611"/>
                  <a:pt x="15" y="6599"/>
                </a:cubicBezTo>
                <a:cubicBezTo>
                  <a:pt x="10" y="6587"/>
                  <a:pt x="6" y="6574"/>
                  <a:pt x="4" y="6562"/>
                </a:cubicBezTo>
                <a:cubicBezTo>
                  <a:pt x="1" y="6549"/>
                  <a:pt x="0" y="6536"/>
                  <a:pt x="0" y="6523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Forma libre 457"/>
          <p:cNvSpPr/>
          <p:nvPr/>
        </p:nvSpPr>
        <p:spPr>
          <a:xfrm>
            <a:off x="671400" y="2128680"/>
            <a:ext cx="10849320" cy="2419560"/>
          </a:xfrm>
          <a:custGeom>
            <a:avLst/>
            <a:gdLst/>
            <a:ahLst/>
            <a:cxnLst/>
            <a:rect l="0" t="0" r="r" b="b"/>
            <a:pathLst>
              <a:path w="30137" h="6721">
                <a:moveTo>
                  <a:pt x="0" y="6523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6523"/>
                </a:lnTo>
                <a:cubicBezTo>
                  <a:pt x="30137" y="6536"/>
                  <a:pt x="30136" y="6549"/>
                  <a:pt x="30133" y="6562"/>
                </a:cubicBezTo>
                <a:cubicBezTo>
                  <a:pt x="30130" y="6574"/>
                  <a:pt x="30127" y="6587"/>
                  <a:pt x="30122" y="6599"/>
                </a:cubicBezTo>
                <a:cubicBezTo>
                  <a:pt x="30117" y="6611"/>
                  <a:pt x="30111" y="6622"/>
                  <a:pt x="30103" y="6633"/>
                </a:cubicBezTo>
                <a:cubicBezTo>
                  <a:pt x="30096" y="6644"/>
                  <a:pt x="30088" y="6654"/>
                  <a:pt x="30079" y="6663"/>
                </a:cubicBezTo>
                <a:cubicBezTo>
                  <a:pt x="30070" y="6672"/>
                  <a:pt x="30059" y="6681"/>
                  <a:pt x="30049" y="6688"/>
                </a:cubicBezTo>
                <a:cubicBezTo>
                  <a:pt x="30038" y="6695"/>
                  <a:pt x="30026" y="6701"/>
                  <a:pt x="30014" y="6706"/>
                </a:cubicBezTo>
                <a:cubicBezTo>
                  <a:pt x="30002" y="6711"/>
                  <a:pt x="29990" y="6715"/>
                  <a:pt x="29977" y="6718"/>
                </a:cubicBezTo>
                <a:cubicBezTo>
                  <a:pt x="29964" y="6720"/>
                  <a:pt x="29951" y="6721"/>
                  <a:pt x="29938" y="6721"/>
                </a:cubicBezTo>
                <a:lnTo>
                  <a:pt x="198" y="6721"/>
                </a:lnTo>
                <a:cubicBezTo>
                  <a:pt x="185" y="6721"/>
                  <a:pt x="172" y="6720"/>
                  <a:pt x="160" y="6718"/>
                </a:cubicBezTo>
                <a:cubicBezTo>
                  <a:pt x="147" y="6715"/>
                  <a:pt x="134" y="6711"/>
                  <a:pt x="122" y="6706"/>
                </a:cubicBezTo>
                <a:cubicBezTo>
                  <a:pt x="110" y="6701"/>
                  <a:pt x="99" y="6695"/>
                  <a:pt x="88" y="6688"/>
                </a:cubicBezTo>
                <a:cubicBezTo>
                  <a:pt x="77" y="6681"/>
                  <a:pt x="67" y="6672"/>
                  <a:pt x="58" y="6663"/>
                </a:cubicBezTo>
                <a:cubicBezTo>
                  <a:pt x="49" y="6654"/>
                  <a:pt x="40" y="6644"/>
                  <a:pt x="33" y="6633"/>
                </a:cubicBezTo>
                <a:cubicBezTo>
                  <a:pt x="26" y="6622"/>
                  <a:pt x="20" y="6611"/>
                  <a:pt x="15" y="6599"/>
                </a:cubicBezTo>
                <a:cubicBezTo>
                  <a:pt x="10" y="6587"/>
                  <a:pt x="6" y="6574"/>
                  <a:pt x="4" y="6562"/>
                </a:cubicBezTo>
                <a:cubicBezTo>
                  <a:pt x="1" y="6549"/>
                  <a:pt x="0" y="6536"/>
                  <a:pt x="0" y="652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CuadroTexto 458"/>
          <p:cNvSpPr txBox="1"/>
          <p:nvPr/>
        </p:nvSpPr>
        <p:spPr>
          <a:xfrm>
            <a:off x="666720" y="1482480"/>
            <a:ext cx="45162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Días entre eventos consecutivos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CuadroTexto 459"/>
          <p:cNvSpPr txBox="1"/>
          <p:nvPr/>
        </p:nvSpPr>
        <p:spPr>
          <a:xfrm>
            <a:off x="866880" y="2308680"/>
            <a:ext cx="18568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SELECT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person_id,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CuadroTexto 460"/>
          <p:cNvSpPr txBox="1"/>
          <p:nvPr/>
        </p:nvSpPr>
        <p:spPr>
          <a:xfrm>
            <a:off x="866880" y="2575080"/>
            <a:ext cx="26211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visit_start_date,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CuadroTexto 461"/>
          <p:cNvSpPr txBox="1"/>
          <p:nvPr/>
        </p:nvSpPr>
        <p:spPr>
          <a:xfrm>
            <a:off x="866880" y="2832480"/>
            <a:ext cx="62247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LAG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(visit_start_date)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OVER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(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PARTITION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BY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person_id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CuadroTexto 462"/>
          <p:cNvSpPr txBox="1"/>
          <p:nvPr/>
        </p:nvSpPr>
        <p:spPr>
          <a:xfrm>
            <a:off x="866880" y="3099240"/>
            <a:ext cx="86263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                  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ORDER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BY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visit_start_date)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visita_previa,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CuadroTexto 463"/>
          <p:cNvSpPr txBox="1"/>
          <p:nvPr/>
        </p:nvSpPr>
        <p:spPr>
          <a:xfrm>
            <a:off x="866880" y="3356280"/>
            <a:ext cx="25120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visit_start_date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CuadroTexto 464"/>
          <p:cNvSpPr txBox="1"/>
          <p:nvPr/>
        </p:nvSpPr>
        <p:spPr>
          <a:xfrm>
            <a:off x="866880" y="3623040"/>
            <a:ext cx="66614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-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LAG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(visit_start_date)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OVER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(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PARTITION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BY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person_id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CuadroTexto 465"/>
          <p:cNvSpPr txBox="1"/>
          <p:nvPr/>
        </p:nvSpPr>
        <p:spPr>
          <a:xfrm>
            <a:off x="866880" y="3880080"/>
            <a:ext cx="79711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                      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ORDER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BY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visit_start_date)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dias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CuadroTexto 466"/>
          <p:cNvSpPr txBox="1"/>
          <p:nvPr/>
        </p:nvSpPr>
        <p:spPr>
          <a:xfrm>
            <a:off x="866880" y="4146840"/>
            <a:ext cx="26211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visit_occurrence;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CuadroTexto 467"/>
          <p:cNvSpPr txBox="1"/>
          <p:nvPr/>
        </p:nvSpPr>
        <p:spPr>
          <a:xfrm>
            <a:off x="666720" y="4744800"/>
            <a:ext cx="10709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Con esto respondes readmisión a 30 días, intervalos entre mediciones, adherencia entre surtidos. La primera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Forma libre 468"/>
          <p:cNvSpPr/>
          <p:nvPr/>
        </p:nvSpPr>
        <p:spPr>
          <a:xfrm>
            <a:off x="3076560" y="5105160"/>
            <a:ext cx="581040" cy="267120"/>
          </a:xfrm>
          <a:custGeom>
            <a:avLst/>
            <a:gdLst/>
            <a:ahLst/>
            <a:cxnLst/>
            <a:rect l="0" t="0" r="r" b="b"/>
            <a:pathLst>
              <a:path w="1614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3"/>
                  <a:pt x="21" y="41"/>
                  <a:pt x="31" y="31"/>
                </a:cubicBezTo>
                <a:cubicBezTo>
                  <a:pt x="40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509" y="0"/>
                </a:lnTo>
                <a:cubicBezTo>
                  <a:pt x="1523" y="0"/>
                  <a:pt x="1536" y="3"/>
                  <a:pt x="1549" y="8"/>
                </a:cubicBezTo>
                <a:cubicBezTo>
                  <a:pt x="1562" y="14"/>
                  <a:pt x="1574" y="21"/>
                  <a:pt x="1584" y="31"/>
                </a:cubicBezTo>
                <a:cubicBezTo>
                  <a:pt x="1593" y="41"/>
                  <a:pt x="1601" y="53"/>
                  <a:pt x="1606" y="65"/>
                </a:cubicBezTo>
                <a:cubicBezTo>
                  <a:pt x="1612" y="78"/>
                  <a:pt x="1614" y="92"/>
                  <a:pt x="1614" y="106"/>
                </a:cubicBezTo>
                <a:lnTo>
                  <a:pt x="1614" y="636"/>
                </a:lnTo>
                <a:cubicBezTo>
                  <a:pt x="1614" y="650"/>
                  <a:pt x="1612" y="664"/>
                  <a:pt x="1606" y="677"/>
                </a:cubicBezTo>
                <a:cubicBezTo>
                  <a:pt x="1601" y="690"/>
                  <a:pt x="1593" y="701"/>
                  <a:pt x="1584" y="711"/>
                </a:cubicBezTo>
                <a:cubicBezTo>
                  <a:pt x="1574" y="721"/>
                  <a:pt x="1562" y="729"/>
                  <a:pt x="1549" y="734"/>
                </a:cubicBezTo>
                <a:cubicBezTo>
                  <a:pt x="1536" y="739"/>
                  <a:pt x="1523" y="742"/>
                  <a:pt x="1509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9"/>
                  <a:pt x="40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CuadroTexto 469"/>
          <p:cNvSpPr txBox="1"/>
          <p:nvPr/>
        </p:nvSpPr>
        <p:spPr>
          <a:xfrm>
            <a:off x="666720" y="5087880"/>
            <a:ext cx="2406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ﬁla de cada paciente da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CuadroTexto 470"/>
          <p:cNvSpPr txBox="1"/>
          <p:nvPr/>
        </p:nvSpPr>
        <p:spPr>
          <a:xfrm>
            <a:off x="3129480" y="5124960"/>
            <a:ext cx="470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NULL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CuadroTexto 471"/>
          <p:cNvSpPr txBox="1"/>
          <p:nvPr/>
        </p:nvSpPr>
        <p:spPr>
          <a:xfrm>
            <a:off x="3654720" y="5087880"/>
            <a:ext cx="36090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no tiene anterior, y eso es correcto.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CuadroTexto 47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CuadroTexto 47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CuadroTexto 474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Forma libre 47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Forma libre 47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Forma libre 47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Forma libre 478"/>
          <p:cNvSpPr/>
          <p:nvPr/>
        </p:nvSpPr>
        <p:spPr>
          <a:xfrm>
            <a:off x="671400" y="2081160"/>
            <a:ext cx="10849320" cy="3991320"/>
          </a:xfrm>
          <a:custGeom>
            <a:avLst/>
            <a:gdLst/>
            <a:ahLst/>
            <a:cxnLst/>
            <a:rect l="0" t="0" r="r" b="b"/>
            <a:pathLst>
              <a:path w="30137" h="11087">
                <a:moveTo>
                  <a:pt x="0" y="10888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10888"/>
                </a:lnTo>
                <a:cubicBezTo>
                  <a:pt x="30137" y="10901"/>
                  <a:pt x="30136" y="10914"/>
                  <a:pt x="30133" y="10927"/>
                </a:cubicBezTo>
                <a:cubicBezTo>
                  <a:pt x="30130" y="10940"/>
                  <a:pt x="30127" y="10952"/>
                  <a:pt x="30122" y="10964"/>
                </a:cubicBezTo>
                <a:cubicBezTo>
                  <a:pt x="30117" y="10976"/>
                  <a:pt x="30111" y="10988"/>
                  <a:pt x="30103" y="10998"/>
                </a:cubicBezTo>
                <a:cubicBezTo>
                  <a:pt x="30096" y="11009"/>
                  <a:pt x="30088" y="11019"/>
                  <a:pt x="30079" y="11029"/>
                </a:cubicBezTo>
                <a:cubicBezTo>
                  <a:pt x="30070" y="11038"/>
                  <a:pt x="30059" y="11046"/>
                  <a:pt x="30049" y="11053"/>
                </a:cubicBezTo>
                <a:cubicBezTo>
                  <a:pt x="30038" y="11060"/>
                  <a:pt x="30026" y="11067"/>
                  <a:pt x="30014" y="11072"/>
                </a:cubicBezTo>
                <a:cubicBezTo>
                  <a:pt x="30002" y="11077"/>
                  <a:pt x="29990" y="11080"/>
                  <a:pt x="29977" y="11083"/>
                </a:cubicBezTo>
                <a:cubicBezTo>
                  <a:pt x="29964" y="11085"/>
                  <a:pt x="29951" y="11087"/>
                  <a:pt x="29938" y="11087"/>
                </a:cubicBezTo>
                <a:lnTo>
                  <a:pt x="198" y="11087"/>
                </a:lnTo>
                <a:cubicBezTo>
                  <a:pt x="185" y="11087"/>
                  <a:pt x="172" y="11085"/>
                  <a:pt x="160" y="11083"/>
                </a:cubicBezTo>
                <a:cubicBezTo>
                  <a:pt x="147" y="11080"/>
                  <a:pt x="134" y="11077"/>
                  <a:pt x="122" y="11072"/>
                </a:cubicBezTo>
                <a:cubicBezTo>
                  <a:pt x="110" y="11067"/>
                  <a:pt x="99" y="11060"/>
                  <a:pt x="88" y="11053"/>
                </a:cubicBezTo>
                <a:cubicBezTo>
                  <a:pt x="77" y="11046"/>
                  <a:pt x="67" y="11038"/>
                  <a:pt x="58" y="11029"/>
                </a:cubicBezTo>
                <a:cubicBezTo>
                  <a:pt x="49" y="11019"/>
                  <a:pt x="40" y="11009"/>
                  <a:pt x="33" y="10998"/>
                </a:cubicBezTo>
                <a:cubicBezTo>
                  <a:pt x="26" y="10988"/>
                  <a:pt x="20" y="10976"/>
                  <a:pt x="15" y="10964"/>
                </a:cubicBezTo>
                <a:cubicBezTo>
                  <a:pt x="10" y="10952"/>
                  <a:pt x="6" y="10940"/>
                  <a:pt x="4" y="10927"/>
                </a:cubicBezTo>
                <a:cubicBezTo>
                  <a:pt x="1" y="10914"/>
                  <a:pt x="0" y="10901"/>
                  <a:pt x="0" y="10888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Forma libre 479"/>
          <p:cNvSpPr/>
          <p:nvPr/>
        </p:nvSpPr>
        <p:spPr>
          <a:xfrm>
            <a:off x="671400" y="2081160"/>
            <a:ext cx="10849320" cy="3991320"/>
          </a:xfrm>
          <a:custGeom>
            <a:avLst/>
            <a:gdLst/>
            <a:ahLst/>
            <a:cxnLst/>
            <a:rect l="0" t="0" r="r" b="b"/>
            <a:pathLst>
              <a:path w="30137" h="11087">
                <a:moveTo>
                  <a:pt x="0" y="10888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10888"/>
                </a:lnTo>
                <a:cubicBezTo>
                  <a:pt x="30137" y="10901"/>
                  <a:pt x="30136" y="10914"/>
                  <a:pt x="30133" y="10927"/>
                </a:cubicBezTo>
                <a:cubicBezTo>
                  <a:pt x="30130" y="10940"/>
                  <a:pt x="30127" y="10952"/>
                  <a:pt x="30122" y="10964"/>
                </a:cubicBezTo>
                <a:cubicBezTo>
                  <a:pt x="30117" y="10976"/>
                  <a:pt x="30111" y="10988"/>
                  <a:pt x="30103" y="10998"/>
                </a:cubicBezTo>
                <a:cubicBezTo>
                  <a:pt x="30096" y="11009"/>
                  <a:pt x="30088" y="11019"/>
                  <a:pt x="30079" y="11029"/>
                </a:cubicBezTo>
                <a:cubicBezTo>
                  <a:pt x="30070" y="11038"/>
                  <a:pt x="30059" y="11046"/>
                  <a:pt x="30049" y="11053"/>
                </a:cubicBezTo>
                <a:cubicBezTo>
                  <a:pt x="30038" y="11060"/>
                  <a:pt x="30026" y="11067"/>
                  <a:pt x="30014" y="11072"/>
                </a:cubicBezTo>
                <a:cubicBezTo>
                  <a:pt x="30002" y="11077"/>
                  <a:pt x="29990" y="11080"/>
                  <a:pt x="29977" y="11083"/>
                </a:cubicBezTo>
                <a:cubicBezTo>
                  <a:pt x="29964" y="11085"/>
                  <a:pt x="29951" y="11087"/>
                  <a:pt x="29938" y="11087"/>
                </a:cubicBezTo>
                <a:lnTo>
                  <a:pt x="198" y="11087"/>
                </a:lnTo>
                <a:cubicBezTo>
                  <a:pt x="185" y="11087"/>
                  <a:pt x="172" y="11085"/>
                  <a:pt x="160" y="11083"/>
                </a:cubicBezTo>
                <a:cubicBezTo>
                  <a:pt x="147" y="11080"/>
                  <a:pt x="134" y="11077"/>
                  <a:pt x="122" y="11072"/>
                </a:cubicBezTo>
                <a:cubicBezTo>
                  <a:pt x="110" y="11067"/>
                  <a:pt x="99" y="11060"/>
                  <a:pt x="88" y="11053"/>
                </a:cubicBezTo>
                <a:cubicBezTo>
                  <a:pt x="77" y="11046"/>
                  <a:pt x="67" y="11038"/>
                  <a:pt x="58" y="11029"/>
                </a:cubicBezTo>
                <a:cubicBezTo>
                  <a:pt x="49" y="11019"/>
                  <a:pt x="40" y="11009"/>
                  <a:pt x="33" y="10998"/>
                </a:cubicBezTo>
                <a:cubicBezTo>
                  <a:pt x="26" y="10988"/>
                  <a:pt x="20" y="10976"/>
                  <a:pt x="15" y="10964"/>
                </a:cubicBezTo>
                <a:cubicBezTo>
                  <a:pt x="10" y="10952"/>
                  <a:pt x="6" y="10940"/>
                  <a:pt x="4" y="10927"/>
                </a:cubicBezTo>
                <a:cubicBezTo>
                  <a:pt x="1" y="10914"/>
                  <a:pt x="0" y="10901"/>
                  <a:pt x="0" y="1088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CuadroTexto 480"/>
          <p:cNvSpPr txBox="1"/>
          <p:nvPr/>
        </p:nvSpPr>
        <p:spPr>
          <a:xfrm>
            <a:off x="666720" y="587160"/>
            <a:ext cx="60188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Episodios de tratamiento: </a:t>
            </a:r>
            <a:r>
              <a:rPr lang="es-ES" sz="2550" b="0" i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gaps and islands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CuadroTexto 481"/>
          <p:cNvSpPr txBox="1"/>
          <p:nvPr/>
        </p:nvSpPr>
        <p:spPr>
          <a:xfrm>
            <a:off x="666720" y="1277640"/>
            <a:ext cx="106200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Problema: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un paciente surte metformina en enero, febrero, marzo… luego nada por seis meses… y vuelve.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CuadroTexto 482"/>
          <p:cNvSpPr txBox="1"/>
          <p:nvPr/>
        </p:nvSpPr>
        <p:spPr>
          <a:xfrm>
            <a:off x="666720" y="1620720"/>
            <a:ext cx="26002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¿Es un tratamiento o dos?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CuadroTexto 483"/>
          <p:cNvSpPr txBox="1"/>
          <p:nvPr/>
        </p:nvSpPr>
        <p:spPr>
          <a:xfrm>
            <a:off x="866880" y="2260800"/>
            <a:ext cx="19663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WITH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marcados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(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CuadroTexto 484"/>
          <p:cNvSpPr txBox="1"/>
          <p:nvPr/>
        </p:nvSpPr>
        <p:spPr>
          <a:xfrm>
            <a:off x="866880" y="2527560"/>
            <a:ext cx="30578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SELECT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person_id, fecha,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CuadroTexto 485"/>
          <p:cNvSpPr txBox="1"/>
          <p:nvPr/>
        </p:nvSpPr>
        <p:spPr>
          <a:xfrm>
            <a:off x="866880" y="2784960"/>
            <a:ext cx="74250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CASE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WHEN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fecha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-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LAG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(fecha)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OVER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(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PARTITION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BY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person_id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CuadroTexto 486"/>
          <p:cNvSpPr txBox="1"/>
          <p:nvPr/>
        </p:nvSpPr>
        <p:spPr>
          <a:xfrm>
            <a:off x="866880" y="3051360"/>
            <a:ext cx="72064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                             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ORDER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BY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fecha)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&gt;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30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CuadroTexto 487"/>
          <p:cNvSpPr txBox="1"/>
          <p:nvPr/>
        </p:nvSpPr>
        <p:spPr>
          <a:xfrm>
            <a:off x="866880" y="3308760"/>
            <a:ext cx="55684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THEN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1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ELSE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0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END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nuevo_episodio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CuadroTexto 488"/>
          <p:cNvSpPr txBox="1"/>
          <p:nvPr/>
        </p:nvSpPr>
        <p:spPr>
          <a:xfrm>
            <a:off x="866880" y="3575520"/>
            <a:ext cx="22935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exposiciones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CuadroTexto 489"/>
          <p:cNvSpPr txBox="1"/>
          <p:nvPr/>
        </p:nvSpPr>
        <p:spPr>
          <a:xfrm>
            <a:off x="866880" y="3832560"/>
            <a:ext cx="2192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),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CuadroTexto 490"/>
          <p:cNvSpPr txBox="1"/>
          <p:nvPr/>
        </p:nvSpPr>
        <p:spPr>
          <a:xfrm>
            <a:off x="866880" y="4099320"/>
            <a:ext cx="15296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numerados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(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CuadroTexto 491"/>
          <p:cNvSpPr txBox="1"/>
          <p:nvPr/>
        </p:nvSpPr>
        <p:spPr>
          <a:xfrm>
            <a:off x="866880" y="4356360"/>
            <a:ext cx="67705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SELECT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*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SUM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(nuevo_episodio)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OVER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(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PARTITION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BY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person_id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CuadroTexto 492"/>
          <p:cNvSpPr txBox="1"/>
          <p:nvPr/>
        </p:nvSpPr>
        <p:spPr>
          <a:xfrm>
            <a:off x="866880" y="4623120"/>
            <a:ext cx="73162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                       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ORDER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BY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fecha)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episodio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CuadroTexto 493"/>
          <p:cNvSpPr txBox="1"/>
          <p:nvPr/>
        </p:nvSpPr>
        <p:spPr>
          <a:xfrm>
            <a:off x="866880" y="4880160"/>
            <a:ext cx="18568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marcados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CuadroTexto 494"/>
          <p:cNvSpPr txBox="1"/>
          <p:nvPr/>
        </p:nvSpPr>
        <p:spPr>
          <a:xfrm>
            <a:off x="866880" y="5146920"/>
            <a:ext cx="180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CuadroTexto 495"/>
          <p:cNvSpPr txBox="1"/>
          <p:nvPr/>
        </p:nvSpPr>
        <p:spPr>
          <a:xfrm>
            <a:off x="866880" y="5413680"/>
            <a:ext cx="70977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SELECT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person_id, episodio,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min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(fecha),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max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(fecha)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numerados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CuadroTexto 496"/>
          <p:cNvSpPr txBox="1"/>
          <p:nvPr/>
        </p:nvSpPr>
        <p:spPr>
          <a:xfrm>
            <a:off x="866880" y="5670720"/>
            <a:ext cx="31669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GROUP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BY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person_id, episodio;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CuadroTexto 50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CuadroTexto 50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CuadroTexto 502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20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Forma libre 50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Forma libre 50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Forma libre 50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Forma libre 506"/>
          <p:cNvSpPr/>
          <p:nvPr/>
        </p:nvSpPr>
        <p:spPr>
          <a:xfrm>
            <a:off x="671400" y="1604880"/>
            <a:ext cx="10849320" cy="3467520"/>
          </a:xfrm>
          <a:custGeom>
            <a:avLst/>
            <a:gdLst/>
            <a:ahLst/>
            <a:cxnLst/>
            <a:rect l="0" t="0" r="r" b="b"/>
            <a:pathLst>
              <a:path w="30137" h="9632">
                <a:moveTo>
                  <a:pt x="0" y="9433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9433"/>
                </a:lnTo>
                <a:cubicBezTo>
                  <a:pt x="30137" y="9446"/>
                  <a:pt x="30136" y="9459"/>
                  <a:pt x="30133" y="9472"/>
                </a:cubicBezTo>
                <a:cubicBezTo>
                  <a:pt x="30130" y="9485"/>
                  <a:pt x="30127" y="9497"/>
                  <a:pt x="30122" y="9509"/>
                </a:cubicBezTo>
                <a:cubicBezTo>
                  <a:pt x="30117" y="9521"/>
                  <a:pt x="30111" y="9533"/>
                  <a:pt x="30103" y="9543"/>
                </a:cubicBezTo>
                <a:cubicBezTo>
                  <a:pt x="30096" y="9554"/>
                  <a:pt x="30088" y="9564"/>
                  <a:pt x="30079" y="9573"/>
                </a:cubicBezTo>
                <a:cubicBezTo>
                  <a:pt x="30070" y="9583"/>
                  <a:pt x="30059" y="9591"/>
                  <a:pt x="30049" y="9598"/>
                </a:cubicBezTo>
                <a:cubicBezTo>
                  <a:pt x="30038" y="9605"/>
                  <a:pt x="30026" y="9611"/>
                  <a:pt x="30014" y="9616"/>
                </a:cubicBezTo>
                <a:cubicBezTo>
                  <a:pt x="30002" y="9621"/>
                  <a:pt x="29990" y="9625"/>
                  <a:pt x="29977" y="9628"/>
                </a:cubicBezTo>
                <a:cubicBezTo>
                  <a:pt x="29964" y="9630"/>
                  <a:pt x="29951" y="9632"/>
                  <a:pt x="29938" y="9632"/>
                </a:cubicBezTo>
                <a:lnTo>
                  <a:pt x="198" y="9632"/>
                </a:lnTo>
                <a:cubicBezTo>
                  <a:pt x="185" y="9632"/>
                  <a:pt x="172" y="9630"/>
                  <a:pt x="160" y="9628"/>
                </a:cubicBezTo>
                <a:cubicBezTo>
                  <a:pt x="147" y="9625"/>
                  <a:pt x="134" y="9621"/>
                  <a:pt x="122" y="9616"/>
                </a:cubicBezTo>
                <a:cubicBezTo>
                  <a:pt x="110" y="9611"/>
                  <a:pt x="99" y="9605"/>
                  <a:pt x="88" y="9598"/>
                </a:cubicBezTo>
                <a:cubicBezTo>
                  <a:pt x="77" y="9591"/>
                  <a:pt x="67" y="9583"/>
                  <a:pt x="58" y="9573"/>
                </a:cubicBezTo>
                <a:cubicBezTo>
                  <a:pt x="49" y="9564"/>
                  <a:pt x="40" y="9554"/>
                  <a:pt x="33" y="9543"/>
                </a:cubicBezTo>
                <a:cubicBezTo>
                  <a:pt x="26" y="9533"/>
                  <a:pt x="20" y="9521"/>
                  <a:pt x="15" y="9509"/>
                </a:cubicBezTo>
                <a:cubicBezTo>
                  <a:pt x="10" y="9497"/>
                  <a:pt x="6" y="9485"/>
                  <a:pt x="4" y="9472"/>
                </a:cubicBezTo>
                <a:cubicBezTo>
                  <a:pt x="1" y="9459"/>
                  <a:pt x="0" y="9446"/>
                  <a:pt x="0" y="9433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Forma libre 507"/>
          <p:cNvSpPr/>
          <p:nvPr/>
        </p:nvSpPr>
        <p:spPr>
          <a:xfrm>
            <a:off x="671400" y="1604880"/>
            <a:ext cx="10849320" cy="3467520"/>
          </a:xfrm>
          <a:custGeom>
            <a:avLst/>
            <a:gdLst/>
            <a:ahLst/>
            <a:cxnLst/>
            <a:rect l="0" t="0" r="r" b="b"/>
            <a:pathLst>
              <a:path w="30137" h="9632">
                <a:moveTo>
                  <a:pt x="0" y="9433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9433"/>
                </a:lnTo>
                <a:cubicBezTo>
                  <a:pt x="30137" y="9446"/>
                  <a:pt x="30136" y="9459"/>
                  <a:pt x="30133" y="9472"/>
                </a:cubicBezTo>
                <a:cubicBezTo>
                  <a:pt x="30130" y="9485"/>
                  <a:pt x="30127" y="9497"/>
                  <a:pt x="30122" y="9509"/>
                </a:cubicBezTo>
                <a:cubicBezTo>
                  <a:pt x="30117" y="9521"/>
                  <a:pt x="30111" y="9533"/>
                  <a:pt x="30103" y="9543"/>
                </a:cubicBezTo>
                <a:cubicBezTo>
                  <a:pt x="30096" y="9554"/>
                  <a:pt x="30088" y="9564"/>
                  <a:pt x="30079" y="9573"/>
                </a:cubicBezTo>
                <a:cubicBezTo>
                  <a:pt x="30070" y="9583"/>
                  <a:pt x="30059" y="9591"/>
                  <a:pt x="30049" y="9598"/>
                </a:cubicBezTo>
                <a:cubicBezTo>
                  <a:pt x="30038" y="9605"/>
                  <a:pt x="30026" y="9611"/>
                  <a:pt x="30014" y="9616"/>
                </a:cubicBezTo>
                <a:cubicBezTo>
                  <a:pt x="30002" y="9621"/>
                  <a:pt x="29990" y="9625"/>
                  <a:pt x="29977" y="9628"/>
                </a:cubicBezTo>
                <a:cubicBezTo>
                  <a:pt x="29964" y="9630"/>
                  <a:pt x="29951" y="9632"/>
                  <a:pt x="29938" y="9632"/>
                </a:cubicBezTo>
                <a:lnTo>
                  <a:pt x="198" y="9632"/>
                </a:lnTo>
                <a:cubicBezTo>
                  <a:pt x="185" y="9632"/>
                  <a:pt x="172" y="9630"/>
                  <a:pt x="160" y="9628"/>
                </a:cubicBezTo>
                <a:cubicBezTo>
                  <a:pt x="147" y="9625"/>
                  <a:pt x="134" y="9621"/>
                  <a:pt x="122" y="9616"/>
                </a:cubicBezTo>
                <a:cubicBezTo>
                  <a:pt x="110" y="9611"/>
                  <a:pt x="99" y="9605"/>
                  <a:pt x="88" y="9598"/>
                </a:cubicBezTo>
                <a:cubicBezTo>
                  <a:pt x="77" y="9591"/>
                  <a:pt x="67" y="9583"/>
                  <a:pt x="58" y="9573"/>
                </a:cubicBezTo>
                <a:cubicBezTo>
                  <a:pt x="49" y="9564"/>
                  <a:pt x="40" y="9554"/>
                  <a:pt x="33" y="9543"/>
                </a:cubicBezTo>
                <a:cubicBezTo>
                  <a:pt x="26" y="9533"/>
                  <a:pt x="20" y="9521"/>
                  <a:pt x="15" y="9509"/>
                </a:cubicBezTo>
                <a:cubicBezTo>
                  <a:pt x="10" y="9497"/>
                  <a:pt x="6" y="9485"/>
                  <a:pt x="4" y="9472"/>
                </a:cubicBezTo>
                <a:cubicBezTo>
                  <a:pt x="1" y="9459"/>
                  <a:pt x="0" y="9446"/>
                  <a:pt x="0" y="943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CuadroTexto 508"/>
          <p:cNvSpPr txBox="1"/>
          <p:nvPr/>
        </p:nvSpPr>
        <p:spPr>
          <a:xfrm>
            <a:off x="666720" y="958680"/>
            <a:ext cx="52509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valor más cercano a la fecha índice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CuadroTexto 509"/>
          <p:cNvSpPr txBox="1"/>
          <p:nvPr/>
        </p:nvSpPr>
        <p:spPr>
          <a:xfrm>
            <a:off x="866880" y="1784520"/>
            <a:ext cx="21848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WITH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candidatos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(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CuadroTexto 510"/>
          <p:cNvSpPr txBox="1"/>
          <p:nvPr/>
        </p:nvSpPr>
        <p:spPr>
          <a:xfrm>
            <a:off x="866880" y="2051280"/>
            <a:ext cx="67701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SELECT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c.person_id, m.value_as_number, m.measurement_date,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CuadroTexto 511"/>
          <p:cNvSpPr txBox="1"/>
          <p:nvPr/>
        </p:nvSpPr>
        <p:spPr>
          <a:xfrm>
            <a:off x="866880" y="2308680"/>
            <a:ext cx="32763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ROW_NUMBER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()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OVER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(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CuadroTexto 512"/>
          <p:cNvSpPr txBox="1"/>
          <p:nvPr/>
        </p:nvSpPr>
        <p:spPr>
          <a:xfrm>
            <a:off x="866880" y="2575080"/>
            <a:ext cx="42591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PARTITION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BY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c.person_id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CuadroTexto 513"/>
          <p:cNvSpPr txBox="1"/>
          <p:nvPr/>
        </p:nvSpPr>
        <p:spPr>
          <a:xfrm>
            <a:off x="866880" y="2832480"/>
            <a:ext cx="8407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ORDER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BY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abs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(m.measurement_date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-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c.fecha_indice))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cercania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CuadroTexto 514"/>
          <p:cNvSpPr txBox="1"/>
          <p:nvPr/>
        </p:nvSpPr>
        <p:spPr>
          <a:xfrm>
            <a:off x="866880" y="3099240"/>
            <a:ext cx="21844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cohorte c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CuadroTexto 515"/>
          <p:cNvSpPr txBox="1"/>
          <p:nvPr/>
        </p:nvSpPr>
        <p:spPr>
          <a:xfrm>
            <a:off x="866880" y="3356280"/>
            <a:ext cx="5787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JOIN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measurement m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ON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m.person_id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c.person_id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CuadroTexto 516"/>
          <p:cNvSpPr txBox="1"/>
          <p:nvPr/>
        </p:nvSpPr>
        <p:spPr>
          <a:xfrm>
            <a:off x="866880" y="3623040"/>
            <a:ext cx="49136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WHERE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m.measurement_concept_id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3004410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CuadroTexto 517"/>
          <p:cNvSpPr txBox="1"/>
          <p:nvPr/>
        </p:nvSpPr>
        <p:spPr>
          <a:xfrm>
            <a:off x="866880" y="3880080"/>
            <a:ext cx="62244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AND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m.measurement_date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BETWEEN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c.fecha_indice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-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90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CuadroTexto 518"/>
          <p:cNvSpPr txBox="1"/>
          <p:nvPr/>
        </p:nvSpPr>
        <p:spPr>
          <a:xfrm>
            <a:off x="866880" y="4146840"/>
            <a:ext cx="62244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                 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AND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c.fecha_indice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+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90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CuadroTexto 519"/>
          <p:cNvSpPr txBox="1"/>
          <p:nvPr/>
        </p:nvSpPr>
        <p:spPr>
          <a:xfrm>
            <a:off x="866880" y="4403880"/>
            <a:ext cx="180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CuadroTexto 520"/>
          <p:cNvSpPr txBox="1"/>
          <p:nvPr/>
        </p:nvSpPr>
        <p:spPr>
          <a:xfrm>
            <a:off x="866880" y="4670640"/>
            <a:ext cx="75340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SELECT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person_id, value_as_number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candidatos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WHERE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cercania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1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;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CuadroTexto 521"/>
          <p:cNvSpPr txBox="1"/>
          <p:nvPr/>
        </p:nvSpPr>
        <p:spPr>
          <a:xfrm>
            <a:off x="666720" y="5268600"/>
            <a:ext cx="8898077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Valor basal de laboratorio: el más cercano al índice, </a:t>
            </a:r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dentro de una ventana declarada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CuadroTexto 52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CuadroTexto 52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CuadroTexto 525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21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Forma libre 52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Forma libre 52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Forma libre 52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CuadroTexto 529"/>
          <p:cNvSpPr txBox="1"/>
          <p:nvPr/>
        </p:nvSpPr>
        <p:spPr>
          <a:xfrm>
            <a:off x="3171240" y="3063960"/>
            <a:ext cx="598932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8. Organizar SQL analítico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CuadroTexto 53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CuadroTexto 53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CuadroTexto 532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Forma libre 53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Forma libre 53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Forma libre 53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Forma libre 536"/>
          <p:cNvSpPr/>
          <p:nvPr/>
        </p:nvSpPr>
        <p:spPr>
          <a:xfrm>
            <a:off x="671400" y="1976400"/>
            <a:ext cx="10849320" cy="847800"/>
          </a:xfrm>
          <a:custGeom>
            <a:avLst/>
            <a:gdLst/>
            <a:ahLst/>
            <a:cxnLst/>
            <a:rect l="0" t="0" r="r" b="b"/>
            <a:pathLst>
              <a:path w="30137" h="2355">
                <a:moveTo>
                  <a:pt x="0" y="2157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157"/>
                </a:lnTo>
                <a:cubicBezTo>
                  <a:pt x="30137" y="2170"/>
                  <a:pt x="30136" y="2183"/>
                  <a:pt x="30133" y="2196"/>
                </a:cubicBezTo>
                <a:cubicBezTo>
                  <a:pt x="30130" y="2208"/>
                  <a:pt x="30127" y="2221"/>
                  <a:pt x="30122" y="2233"/>
                </a:cubicBezTo>
                <a:cubicBezTo>
                  <a:pt x="30117" y="2245"/>
                  <a:pt x="30111" y="2256"/>
                  <a:pt x="30103" y="2267"/>
                </a:cubicBezTo>
                <a:cubicBezTo>
                  <a:pt x="30096" y="2278"/>
                  <a:pt x="30088" y="2288"/>
                  <a:pt x="30079" y="2297"/>
                </a:cubicBezTo>
                <a:cubicBezTo>
                  <a:pt x="30070" y="2306"/>
                  <a:pt x="30059" y="2315"/>
                  <a:pt x="30049" y="2322"/>
                </a:cubicBezTo>
                <a:cubicBezTo>
                  <a:pt x="30038" y="2329"/>
                  <a:pt x="30026" y="2335"/>
                  <a:pt x="30014" y="2340"/>
                </a:cubicBezTo>
                <a:cubicBezTo>
                  <a:pt x="30002" y="2345"/>
                  <a:pt x="29990" y="2349"/>
                  <a:pt x="29977" y="2352"/>
                </a:cubicBezTo>
                <a:cubicBezTo>
                  <a:pt x="29964" y="2354"/>
                  <a:pt x="29951" y="2355"/>
                  <a:pt x="29938" y="2355"/>
                </a:cubicBezTo>
                <a:lnTo>
                  <a:pt x="198" y="2355"/>
                </a:lnTo>
                <a:cubicBezTo>
                  <a:pt x="185" y="2355"/>
                  <a:pt x="172" y="2354"/>
                  <a:pt x="160" y="2352"/>
                </a:cubicBezTo>
                <a:cubicBezTo>
                  <a:pt x="147" y="2349"/>
                  <a:pt x="134" y="2345"/>
                  <a:pt x="122" y="2340"/>
                </a:cubicBezTo>
                <a:cubicBezTo>
                  <a:pt x="110" y="2335"/>
                  <a:pt x="99" y="2329"/>
                  <a:pt x="88" y="2322"/>
                </a:cubicBezTo>
                <a:cubicBezTo>
                  <a:pt x="77" y="2315"/>
                  <a:pt x="67" y="2306"/>
                  <a:pt x="58" y="2297"/>
                </a:cubicBezTo>
                <a:cubicBezTo>
                  <a:pt x="49" y="2288"/>
                  <a:pt x="40" y="2278"/>
                  <a:pt x="33" y="2267"/>
                </a:cubicBezTo>
                <a:cubicBezTo>
                  <a:pt x="26" y="2256"/>
                  <a:pt x="20" y="2245"/>
                  <a:pt x="15" y="2233"/>
                </a:cubicBezTo>
                <a:cubicBezTo>
                  <a:pt x="10" y="2221"/>
                  <a:pt x="6" y="2208"/>
                  <a:pt x="4" y="2196"/>
                </a:cubicBezTo>
                <a:cubicBezTo>
                  <a:pt x="1" y="2183"/>
                  <a:pt x="0" y="2170"/>
                  <a:pt x="0" y="215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Forma libre 537"/>
          <p:cNvSpPr/>
          <p:nvPr/>
        </p:nvSpPr>
        <p:spPr>
          <a:xfrm>
            <a:off x="671400" y="1976400"/>
            <a:ext cx="10849320" cy="847800"/>
          </a:xfrm>
          <a:custGeom>
            <a:avLst/>
            <a:gdLst/>
            <a:ahLst/>
            <a:cxnLst/>
            <a:rect l="0" t="0" r="r" b="b"/>
            <a:pathLst>
              <a:path w="30137" h="2355">
                <a:moveTo>
                  <a:pt x="0" y="2157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157"/>
                </a:lnTo>
                <a:cubicBezTo>
                  <a:pt x="30137" y="2170"/>
                  <a:pt x="30136" y="2183"/>
                  <a:pt x="30133" y="2196"/>
                </a:cubicBezTo>
                <a:cubicBezTo>
                  <a:pt x="30130" y="2208"/>
                  <a:pt x="30127" y="2221"/>
                  <a:pt x="30122" y="2233"/>
                </a:cubicBezTo>
                <a:cubicBezTo>
                  <a:pt x="30117" y="2245"/>
                  <a:pt x="30111" y="2256"/>
                  <a:pt x="30103" y="2267"/>
                </a:cubicBezTo>
                <a:cubicBezTo>
                  <a:pt x="30096" y="2278"/>
                  <a:pt x="30088" y="2288"/>
                  <a:pt x="30079" y="2297"/>
                </a:cubicBezTo>
                <a:cubicBezTo>
                  <a:pt x="30070" y="2306"/>
                  <a:pt x="30059" y="2315"/>
                  <a:pt x="30049" y="2322"/>
                </a:cubicBezTo>
                <a:cubicBezTo>
                  <a:pt x="30038" y="2329"/>
                  <a:pt x="30026" y="2335"/>
                  <a:pt x="30014" y="2340"/>
                </a:cubicBezTo>
                <a:cubicBezTo>
                  <a:pt x="30002" y="2345"/>
                  <a:pt x="29990" y="2349"/>
                  <a:pt x="29977" y="2352"/>
                </a:cubicBezTo>
                <a:cubicBezTo>
                  <a:pt x="29964" y="2354"/>
                  <a:pt x="29951" y="2355"/>
                  <a:pt x="29938" y="2355"/>
                </a:cubicBezTo>
                <a:lnTo>
                  <a:pt x="198" y="2355"/>
                </a:lnTo>
                <a:cubicBezTo>
                  <a:pt x="185" y="2355"/>
                  <a:pt x="172" y="2354"/>
                  <a:pt x="160" y="2352"/>
                </a:cubicBezTo>
                <a:cubicBezTo>
                  <a:pt x="147" y="2349"/>
                  <a:pt x="134" y="2345"/>
                  <a:pt x="122" y="2340"/>
                </a:cubicBezTo>
                <a:cubicBezTo>
                  <a:pt x="110" y="2335"/>
                  <a:pt x="99" y="2329"/>
                  <a:pt x="88" y="2322"/>
                </a:cubicBezTo>
                <a:cubicBezTo>
                  <a:pt x="77" y="2315"/>
                  <a:pt x="67" y="2306"/>
                  <a:pt x="58" y="2297"/>
                </a:cubicBezTo>
                <a:cubicBezTo>
                  <a:pt x="49" y="2288"/>
                  <a:pt x="40" y="2278"/>
                  <a:pt x="33" y="2267"/>
                </a:cubicBezTo>
                <a:cubicBezTo>
                  <a:pt x="26" y="2256"/>
                  <a:pt x="20" y="2245"/>
                  <a:pt x="15" y="2233"/>
                </a:cubicBezTo>
                <a:cubicBezTo>
                  <a:pt x="10" y="2221"/>
                  <a:pt x="6" y="2208"/>
                  <a:pt x="4" y="2196"/>
                </a:cubicBezTo>
                <a:cubicBezTo>
                  <a:pt x="1" y="2183"/>
                  <a:pt x="0" y="2170"/>
                  <a:pt x="0" y="215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Forma libre 538"/>
          <p:cNvSpPr/>
          <p:nvPr/>
        </p:nvSpPr>
        <p:spPr>
          <a:xfrm>
            <a:off x="666720" y="4962240"/>
            <a:ext cx="10858680" cy="572040"/>
          </a:xfrm>
          <a:custGeom>
            <a:avLst/>
            <a:gdLst/>
            <a:ahLst/>
            <a:cxnLst/>
            <a:rect l="0" t="0" r="r" b="b"/>
            <a:pathLst>
              <a:path w="30163" h="1589">
                <a:moveTo>
                  <a:pt x="0" y="0"/>
                </a:moveTo>
                <a:lnTo>
                  <a:pt x="30163" y="0"/>
                </a:lnTo>
                <a:lnTo>
                  <a:pt x="3016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Forma libre 539"/>
          <p:cNvSpPr/>
          <p:nvPr/>
        </p:nvSpPr>
        <p:spPr>
          <a:xfrm>
            <a:off x="666720" y="4962240"/>
            <a:ext cx="47880" cy="572040"/>
          </a:xfrm>
          <a:custGeom>
            <a:avLst/>
            <a:gdLst/>
            <a:ahLst/>
            <a:cxnLst/>
            <a:rect l="0" t="0" r="r" b="b"/>
            <a:pathLst>
              <a:path w="133" h="1589">
                <a:moveTo>
                  <a:pt x="0" y="0"/>
                </a:moveTo>
                <a:lnTo>
                  <a:pt x="133" y="0"/>
                </a:lnTo>
                <a:lnTo>
                  <a:pt x="13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CuadroTexto 540"/>
          <p:cNvSpPr txBox="1"/>
          <p:nvPr/>
        </p:nvSpPr>
        <p:spPr>
          <a:xfrm>
            <a:off x="666720" y="1339560"/>
            <a:ext cx="50274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Vistas, dbt y cuándo bajar a pandas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CuadroTexto 541"/>
          <p:cNvSpPr txBox="1"/>
          <p:nvPr/>
        </p:nvSpPr>
        <p:spPr>
          <a:xfrm>
            <a:off x="866880" y="2156040"/>
            <a:ext cx="8407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CREATE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VIEW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cohorte_diabetes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...    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se recalcula al consultar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Forma libre 542"/>
          <p:cNvSpPr/>
          <p:nvPr/>
        </p:nvSpPr>
        <p:spPr>
          <a:xfrm>
            <a:off x="914040" y="31334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7"/>
                </a:cubicBezTo>
                <a:cubicBezTo>
                  <a:pt x="14" y="54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CuadroTexto 543"/>
          <p:cNvSpPr txBox="1"/>
          <p:nvPr/>
        </p:nvSpPr>
        <p:spPr>
          <a:xfrm>
            <a:off x="866880" y="2422800"/>
            <a:ext cx="87354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CREATE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MATERIALIZED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VIEW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cohorte_diabetes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...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se guarda; hay que refrescar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Forma libre 544"/>
          <p:cNvSpPr/>
          <p:nvPr/>
        </p:nvSpPr>
        <p:spPr>
          <a:xfrm>
            <a:off x="914040" y="353376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6"/>
                </a:cubicBezTo>
                <a:cubicBezTo>
                  <a:pt x="200" y="159"/>
                  <a:pt x="192" y="170"/>
                  <a:pt x="182" y="180"/>
                </a:cubicBezTo>
                <a:cubicBezTo>
                  <a:pt x="172" y="190"/>
                  <a:pt x="161" y="198"/>
                  <a:pt x="148" y="203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3"/>
                </a:cubicBezTo>
                <a:cubicBezTo>
                  <a:pt x="53" y="198"/>
                  <a:pt x="41" y="190"/>
                  <a:pt x="31" y="180"/>
                </a:cubicBezTo>
                <a:cubicBezTo>
                  <a:pt x="22" y="170"/>
                  <a:pt x="14" y="159"/>
                  <a:pt x="9" y="146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0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CuadroTexto 545"/>
          <p:cNvSpPr txBox="1"/>
          <p:nvPr/>
        </p:nvSpPr>
        <p:spPr>
          <a:xfrm>
            <a:off x="1123920" y="3020760"/>
            <a:ext cx="42260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Vistas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para nombrar consultas que repites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CuadroTexto 546"/>
          <p:cNvSpPr txBox="1"/>
          <p:nvPr/>
        </p:nvSpPr>
        <p:spPr>
          <a:xfrm>
            <a:off x="1123920" y="3421080"/>
            <a:ext cx="101127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dbt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SQL versionado, probado y documentado, con dependencias entre modelos. Es el estándar de la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Forma libre 547"/>
          <p:cNvSpPr/>
          <p:nvPr/>
        </p:nvSpPr>
        <p:spPr>
          <a:xfrm>
            <a:off x="914040" y="42764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7"/>
                </a:cubicBezTo>
                <a:cubicBezTo>
                  <a:pt x="14" y="54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CuadroTexto 548"/>
          <p:cNvSpPr txBox="1"/>
          <p:nvPr/>
        </p:nvSpPr>
        <p:spPr>
          <a:xfrm>
            <a:off x="1123920" y="3763800"/>
            <a:ext cx="2728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ingeniería analítica moderna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CuadroTexto 549"/>
          <p:cNvSpPr txBox="1"/>
          <p:nvPr/>
        </p:nvSpPr>
        <p:spPr>
          <a:xfrm>
            <a:off x="1123920" y="4163760"/>
            <a:ext cx="92998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¿Cuándo bajar a pandas?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Cuando necesites algo que SQL no hace bien: gráﬁcas, modelos,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CuadroTexto 550"/>
          <p:cNvSpPr txBox="1"/>
          <p:nvPr/>
        </p:nvSpPr>
        <p:spPr>
          <a:xfrm>
            <a:off x="1123920" y="4506840"/>
            <a:ext cx="2075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bibliotecas cientíﬁcas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CuadroTexto 551"/>
          <p:cNvSpPr txBox="1"/>
          <p:nvPr/>
        </p:nvSpPr>
        <p:spPr>
          <a:xfrm>
            <a:off x="905040" y="5116320"/>
            <a:ext cx="91252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Regla: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agrega en la base, analiza en Python.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No bajes 10 millones de ﬁlas para contarlas.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CuadroTexto 55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CuadroTexto 55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CuadroTexto 554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Forma libre 55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Forma libre 55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Forma libre 55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CuadroTexto 558"/>
          <p:cNvSpPr txBox="1"/>
          <p:nvPr/>
        </p:nvSpPr>
        <p:spPr>
          <a:xfrm>
            <a:off x="666720" y="1863360"/>
            <a:ext cx="14443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Para llevar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CuadroTexto 559"/>
          <p:cNvSpPr txBox="1"/>
          <p:nvPr/>
        </p:nvSpPr>
        <p:spPr>
          <a:xfrm>
            <a:off x="869760" y="2535120"/>
            <a:ext cx="105681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Si necesitas seis niveles de indentación, necesitas CTEs.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Cada una hace una cosa, tiene nombre y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CuadroTexto 560"/>
          <p:cNvSpPr txBox="1"/>
          <p:nvPr/>
        </p:nvSpPr>
        <p:spPr>
          <a:xfrm>
            <a:off x="1123920" y="2877840"/>
            <a:ext cx="24357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se depura por separado.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Forma libre 561"/>
          <p:cNvSpPr/>
          <p:nvPr/>
        </p:nvSpPr>
        <p:spPr>
          <a:xfrm>
            <a:off x="1123920" y="3390840"/>
            <a:ext cx="1047960" cy="266760"/>
          </a:xfrm>
          <a:custGeom>
            <a:avLst/>
            <a:gdLst/>
            <a:ahLst/>
            <a:cxnLst/>
            <a:rect l="0" t="0" r="r" b="b"/>
            <a:pathLst>
              <a:path w="2911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2805" y="0"/>
                </a:lnTo>
                <a:cubicBezTo>
                  <a:pt x="2819" y="0"/>
                  <a:pt x="2833" y="2"/>
                  <a:pt x="2846" y="8"/>
                </a:cubicBezTo>
                <a:cubicBezTo>
                  <a:pt x="2859" y="13"/>
                  <a:pt x="2870" y="21"/>
                  <a:pt x="2880" y="31"/>
                </a:cubicBezTo>
                <a:cubicBezTo>
                  <a:pt x="2890" y="41"/>
                  <a:pt x="2898" y="52"/>
                  <a:pt x="2903" y="65"/>
                </a:cubicBezTo>
                <a:cubicBezTo>
                  <a:pt x="2908" y="78"/>
                  <a:pt x="2911" y="91"/>
                  <a:pt x="2911" y="105"/>
                </a:cubicBezTo>
                <a:lnTo>
                  <a:pt x="2911" y="636"/>
                </a:lnTo>
                <a:cubicBezTo>
                  <a:pt x="2911" y="650"/>
                  <a:pt x="2908" y="663"/>
                  <a:pt x="2903" y="676"/>
                </a:cubicBezTo>
                <a:cubicBezTo>
                  <a:pt x="2898" y="689"/>
                  <a:pt x="2890" y="701"/>
                  <a:pt x="2880" y="711"/>
                </a:cubicBezTo>
                <a:cubicBezTo>
                  <a:pt x="2870" y="720"/>
                  <a:pt x="2859" y="728"/>
                  <a:pt x="2846" y="733"/>
                </a:cubicBezTo>
                <a:cubicBezTo>
                  <a:pt x="2833" y="739"/>
                  <a:pt x="2819" y="741"/>
                  <a:pt x="2805" y="741"/>
                </a:cubicBezTo>
                <a:lnTo>
                  <a:pt x="105" y="741"/>
                </a:lnTo>
                <a:cubicBezTo>
                  <a:pt x="91" y="741"/>
                  <a:pt x="78" y="739"/>
                  <a:pt x="65" y="733"/>
                </a:cubicBezTo>
                <a:cubicBezTo>
                  <a:pt x="52" y="728"/>
                  <a:pt x="41" y="720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CuadroTexto 562"/>
          <p:cNvSpPr txBox="1"/>
          <p:nvPr/>
        </p:nvSpPr>
        <p:spPr>
          <a:xfrm>
            <a:off x="869760" y="3373200"/>
            <a:ext cx="254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CuadroTexto 563"/>
          <p:cNvSpPr txBox="1"/>
          <p:nvPr/>
        </p:nvSpPr>
        <p:spPr>
          <a:xfrm>
            <a:off x="1181160" y="3410640"/>
            <a:ext cx="940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GROUP BY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Forma libre 564"/>
          <p:cNvSpPr/>
          <p:nvPr/>
        </p:nvSpPr>
        <p:spPr>
          <a:xfrm>
            <a:off x="3219120" y="3390840"/>
            <a:ext cx="581400" cy="266760"/>
          </a:xfrm>
          <a:custGeom>
            <a:avLst/>
            <a:gdLst/>
            <a:ahLst/>
            <a:cxnLst/>
            <a:rect l="0" t="0" r="r" b="b"/>
            <a:pathLst>
              <a:path w="1615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1509" y="0"/>
                </a:lnTo>
                <a:cubicBezTo>
                  <a:pt x="1523" y="0"/>
                  <a:pt x="1536" y="2"/>
                  <a:pt x="1550" y="8"/>
                </a:cubicBezTo>
                <a:cubicBezTo>
                  <a:pt x="1563" y="13"/>
                  <a:pt x="1574" y="21"/>
                  <a:pt x="1584" y="31"/>
                </a:cubicBezTo>
                <a:cubicBezTo>
                  <a:pt x="1594" y="41"/>
                  <a:pt x="1602" y="52"/>
                  <a:pt x="1607" y="65"/>
                </a:cubicBezTo>
                <a:cubicBezTo>
                  <a:pt x="1613" y="78"/>
                  <a:pt x="1615" y="91"/>
                  <a:pt x="1615" y="105"/>
                </a:cubicBezTo>
                <a:lnTo>
                  <a:pt x="1615" y="636"/>
                </a:lnTo>
                <a:cubicBezTo>
                  <a:pt x="1615" y="650"/>
                  <a:pt x="1613" y="663"/>
                  <a:pt x="1607" y="676"/>
                </a:cubicBezTo>
                <a:cubicBezTo>
                  <a:pt x="1602" y="689"/>
                  <a:pt x="1594" y="701"/>
                  <a:pt x="1584" y="711"/>
                </a:cubicBezTo>
                <a:cubicBezTo>
                  <a:pt x="1574" y="720"/>
                  <a:pt x="1563" y="728"/>
                  <a:pt x="1550" y="733"/>
                </a:cubicBezTo>
                <a:cubicBezTo>
                  <a:pt x="1536" y="739"/>
                  <a:pt x="1523" y="741"/>
                  <a:pt x="1509" y="741"/>
                </a:cubicBezTo>
                <a:lnTo>
                  <a:pt x="106" y="741"/>
                </a:lnTo>
                <a:cubicBezTo>
                  <a:pt x="92" y="741"/>
                  <a:pt x="79" y="739"/>
                  <a:pt x="66" y="733"/>
                </a:cubicBezTo>
                <a:cubicBezTo>
                  <a:pt x="53" y="728"/>
                  <a:pt x="41" y="720"/>
                  <a:pt x="31" y="711"/>
                </a:cubicBezTo>
                <a:cubicBezTo>
                  <a:pt x="21" y="701"/>
                  <a:pt x="14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CuadroTexto 565"/>
          <p:cNvSpPr txBox="1"/>
          <p:nvPr/>
        </p:nvSpPr>
        <p:spPr>
          <a:xfrm>
            <a:off x="2174400" y="3373200"/>
            <a:ext cx="10461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 colapsa;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CuadroTexto 566"/>
          <p:cNvSpPr txBox="1"/>
          <p:nvPr/>
        </p:nvSpPr>
        <p:spPr>
          <a:xfrm>
            <a:off x="3276720" y="3410640"/>
            <a:ext cx="470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OVER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Forma libre 567"/>
          <p:cNvSpPr/>
          <p:nvPr/>
        </p:nvSpPr>
        <p:spPr>
          <a:xfrm>
            <a:off x="6086160" y="3390840"/>
            <a:ext cx="1048320" cy="266760"/>
          </a:xfrm>
          <a:custGeom>
            <a:avLst/>
            <a:gdLst/>
            <a:ahLst/>
            <a:cxnLst/>
            <a:rect l="0" t="0" r="r" b="b"/>
            <a:pathLst>
              <a:path w="2912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2806" y="0"/>
                </a:lnTo>
                <a:cubicBezTo>
                  <a:pt x="2820" y="0"/>
                  <a:pt x="2833" y="2"/>
                  <a:pt x="2846" y="8"/>
                </a:cubicBezTo>
                <a:cubicBezTo>
                  <a:pt x="2859" y="13"/>
                  <a:pt x="2871" y="21"/>
                  <a:pt x="2881" y="31"/>
                </a:cubicBezTo>
                <a:cubicBezTo>
                  <a:pt x="2891" y="41"/>
                  <a:pt x="2898" y="52"/>
                  <a:pt x="2904" y="65"/>
                </a:cubicBezTo>
                <a:cubicBezTo>
                  <a:pt x="2909" y="78"/>
                  <a:pt x="2912" y="91"/>
                  <a:pt x="2912" y="105"/>
                </a:cubicBezTo>
                <a:lnTo>
                  <a:pt x="2912" y="636"/>
                </a:lnTo>
                <a:cubicBezTo>
                  <a:pt x="2912" y="650"/>
                  <a:pt x="2909" y="663"/>
                  <a:pt x="2904" y="676"/>
                </a:cubicBezTo>
                <a:cubicBezTo>
                  <a:pt x="2898" y="689"/>
                  <a:pt x="2891" y="701"/>
                  <a:pt x="2881" y="711"/>
                </a:cubicBezTo>
                <a:cubicBezTo>
                  <a:pt x="2871" y="720"/>
                  <a:pt x="2859" y="728"/>
                  <a:pt x="2846" y="733"/>
                </a:cubicBezTo>
                <a:cubicBezTo>
                  <a:pt x="2833" y="739"/>
                  <a:pt x="2820" y="741"/>
                  <a:pt x="2806" y="741"/>
                </a:cubicBezTo>
                <a:lnTo>
                  <a:pt x="106" y="741"/>
                </a:lnTo>
                <a:cubicBezTo>
                  <a:pt x="92" y="741"/>
                  <a:pt x="79" y="739"/>
                  <a:pt x="66" y="733"/>
                </a:cubicBezTo>
                <a:cubicBezTo>
                  <a:pt x="53" y="728"/>
                  <a:pt x="41" y="720"/>
                  <a:pt x="31" y="711"/>
                </a:cubicBezTo>
                <a:cubicBezTo>
                  <a:pt x="21" y="701"/>
                  <a:pt x="14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CuadroTexto 568"/>
          <p:cNvSpPr txBox="1"/>
          <p:nvPr/>
        </p:nvSpPr>
        <p:spPr>
          <a:xfrm>
            <a:off x="3801960" y="3373200"/>
            <a:ext cx="1131720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 conserva.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Forma libre 570"/>
          <p:cNvSpPr/>
          <p:nvPr/>
        </p:nvSpPr>
        <p:spPr>
          <a:xfrm>
            <a:off x="8210520" y="3390840"/>
            <a:ext cx="581400" cy="266760"/>
          </a:xfrm>
          <a:custGeom>
            <a:avLst/>
            <a:gdLst/>
            <a:ahLst/>
            <a:cxnLst/>
            <a:rect l="0" t="0" r="r" b="b"/>
            <a:pathLst>
              <a:path w="1615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1509" y="0"/>
                </a:lnTo>
                <a:cubicBezTo>
                  <a:pt x="1523" y="0"/>
                  <a:pt x="1536" y="2"/>
                  <a:pt x="1549" y="8"/>
                </a:cubicBezTo>
                <a:cubicBezTo>
                  <a:pt x="1562" y="13"/>
                  <a:pt x="1574" y="21"/>
                  <a:pt x="1584" y="31"/>
                </a:cubicBezTo>
                <a:cubicBezTo>
                  <a:pt x="1593" y="41"/>
                  <a:pt x="1601" y="52"/>
                  <a:pt x="1606" y="65"/>
                </a:cubicBezTo>
                <a:cubicBezTo>
                  <a:pt x="1612" y="78"/>
                  <a:pt x="1615" y="91"/>
                  <a:pt x="1615" y="105"/>
                </a:cubicBezTo>
                <a:lnTo>
                  <a:pt x="1615" y="636"/>
                </a:lnTo>
                <a:cubicBezTo>
                  <a:pt x="1615" y="650"/>
                  <a:pt x="1612" y="663"/>
                  <a:pt x="1606" y="676"/>
                </a:cubicBezTo>
                <a:cubicBezTo>
                  <a:pt x="1601" y="689"/>
                  <a:pt x="1593" y="701"/>
                  <a:pt x="1584" y="711"/>
                </a:cubicBezTo>
                <a:cubicBezTo>
                  <a:pt x="1574" y="720"/>
                  <a:pt x="1562" y="728"/>
                  <a:pt x="1549" y="733"/>
                </a:cubicBezTo>
                <a:cubicBezTo>
                  <a:pt x="1536" y="739"/>
                  <a:pt x="1523" y="741"/>
                  <a:pt x="1509" y="741"/>
                </a:cubicBezTo>
                <a:lnTo>
                  <a:pt x="105" y="741"/>
                </a:lnTo>
                <a:cubicBezTo>
                  <a:pt x="91" y="741"/>
                  <a:pt x="78" y="739"/>
                  <a:pt x="65" y="733"/>
                </a:cubicBezTo>
                <a:cubicBezTo>
                  <a:pt x="52" y="728"/>
                  <a:pt x="41" y="720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Forma libre 575"/>
          <p:cNvSpPr/>
          <p:nvPr/>
        </p:nvSpPr>
        <p:spPr>
          <a:xfrm>
            <a:off x="1123920" y="4228920"/>
            <a:ext cx="3276720" cy="267120"/>
          </a:xfrm>
          <a:custGeom>
            <a:avLst/>
            <a:gdLst/>
            <a:ahLst/>
            <a:cxnLst/>
            <a:rect l="0" t="0" r="r" b="b"/>
            <a:pathLst>
              <a:path w="9102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8996" y="0"/>
                </a:lnTo>
                <a:cubicBezTo>
                  <a:pt x="9010" y="0"/>
                  <a:pt x="9024" y="3"/>
                  <a:pt x="9037" y="8"/>
                </a:cubicBezTo>
                <a:cubicBezTo>
                  <a:pt x="9050" y="13"/>
                  <a:pt x="9061" y="21"/>
                  <a:pt x="9071" y="31"/>
                </a:cubicBezTo>
                <a:cubicBezTo>
                  <a:pt x="9081" y="41"/>
                  <a:pt x="9089" y="52"/>
                  <a:pt x="9094" y="65"/>
                </a:cubicBezTo>
                <a:cubicBezTo>
                  <a:pt x="9100" y="78"/>
                  <a:pt x="9102" y="92"/>
                  <a:pt x="9102" y="106"/>
                </a:cubicBezTo>
                <a:lnTo>
                  <a:pt x="9102" y="636"/>
                </a:lnTo>
                <a:cubicBezTo>
                  <a:pt x="9102" y="650"/>
                  <a:pt x="9100" y="664"/>
                  <a:pt x="9094" y="676"/>
                </a:cubicBezTo>
                <a:cubicBezTo>
                  <a:pt x="9089" y="689"/>
                  <a:pt x="9081" y="701"/>
                  <a:pt x="9071" y="711"/>
                </a:cubicBezTo>
                <a:cubicBezTo>
                  <a:pt x="9061" y="721"/>
                  <a:pt x="9050" y="728"/>
                  <a:pt x="9037" y="734"/>
                </a:cubicBezTo>
                <a:cubicBezTo>
                  <a:pt x="9024" y="739"/>
                  <a:pt x="9010" y="742"/>
                  <a:pt x="8996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CuadroTexto 576"/>
          <p:cNvSpPr txBox="1"/>
          <p:nvPr/>
        </p:nvSpPr>
        <p:spPr>
          <a:xfrm>
            <a:off x="869760" y="4211640"/>
            <a:ext cx="254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CuadroTexto 577"/>
          <p:cNvSpPr txBox="1"/>
          <p:nvPr/>
        </p:nvSpPr>
        <p:spPr>
          <a:xfrm>
            <a:off x="1181160" y="4248720"/>
            <a:ext cx="31716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ROW_NUMBER() … WHERE rn = 1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CuadroTexto 578"/>
          <p:cNvSpPr txBox="1"/>
          <p:nvPr/>
        </p:nvSpPr>
        <p:spPr>
          <a:xfrm>
            <a:off x="4397040" y="4211640"/>
            <a:ext cx="66657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resuelve media docena de preguntas clínicas: la última medición, la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CuadroTexto 579"/>
          <p:cNvSpPr txBox="1"/>
          <p:nvPr/>
        </p:nvSpPr>
        <p:spPr>
          <a:xfrm>
            <a:off x="1123920" y="4554360"/>
            <a:ext cx="27615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primera visita, el valor basal.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CuadroTexto 58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CuadroTexto 58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CuadroTexto 582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Forma libre 58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Forma libre 58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Forma libre 58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CuadroTexto 586"/>
          <p:cNvSpPr txBox="1"/>
          <p:nvPr/>
        </p:nvSpPr>
        <p:spPr>
          <a:xfrm>
            <a:off x="666720" y="2006280"/>
            <a:ext cx="16005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Laboratorio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CuadroTexto 587"/>
          <p:cNvSpPr txBox="1"/>
          <p:nvPr/>
        </p:nvSpPr>
        <p:spPr>
          <a:xfrm>
            <a:off x="666720" y="2717280"/>
            <a:ext cx="224280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020" b="0" u="none" strike="noStrike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Analítica longitudinal</a:t>
            </a:r>
            <a:endParaRPr lang="es-ES" sz="20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CuadroTexto 588"/>
          <p:cNvSpPr txBox="1"/>
          <p:nvPr/>
        </p:nvSpPr>
        <p:spPr>
          <a:xfrm>
            <a:off x="666720" y="3230280"/>
            <a:ext cx="10464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Sobre tu base de la sesión 10: reescribir consultas anidadas con CTEs, calcular días entre visitas, detectar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CuadroTexto 589"/>
          <p:cNvSpPr txBox="1"/>
          <p:nvPr/>
        </p:nvSpPr>
        <p:spPr>
          <a:xfrm>
            <a:off x="666720" y="3573360"/>
            <a:ext cx="8257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readmisiones a 30 días, construir episodios de tratamiento y deduplicar mediciones.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Forma libre 590"/>
          <p:cNvSpPr/>
          <p:nvPr/>
        </p:nvSpPr>
        <p:spPr>
          <a:xfrm>
            <a:off x="1971360" y="4086000"/>
            <a:ext cx="3162960" cy="267120"/>
          </a:xfrm>
          <a:custGeom>
            <a:avLst/>
            <a:gdLst/>
            <a:ahLst/>
            <a:cxnLst/>
            <a:rect l="0" t="0" r="r" b="b"/>
            <a:pathLst>
              <a:path w="8786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8680" y="0"/>
                </a:lnTo>
                <a:cubicBezTo>
                  <a:pt x="8694" y="0"/>
                  <a:pt x="8707" y="3"/>
                  <a:pt x="8720" y="8"/>
                </a:cubicBezTo>
                <a:cubicBezTo>
                  <a:pt x="8733" y="14"/>
                  <a:pt x="8745" y="21"/>
                  <a:pt x="8755" y="31"/>
                </a:cubicBezTo>
                <a:cubicBezTo>
                  <a:pt x="8764" y="41"/>
                  <a:pt x="8772" y="52"/>
                  <a:pt x="8777" y="65"/>
                </a:cubicBezTo>
                <a:cubicBezTo>
                  <a:pt x="8783" y="78"/>
                  <a:pt x="8786" y="92"/>
                  <a:pt x="8786" y="106"/>
                </a:cubicBezTo>
                <a:lnTo>
                  <a:pt x="8786" y="636"/>
                </a:lnTo>
                <a:cubicBezTo>
                  <a:pt x="8786" y="650"/>
                  <a:pt x="8783" y="664"/>
                  <a:pt x="8777" y="677"/>
                </a:cubicBezTo>
                <a:cubicBezTo>
                  <a:pt x="8772" y="690"/>
                  <a:pt x="8764" y="701"/>
                  <a:pt x="8755" y="711"/>
                </a:cubicBezTo>
                <a:cubicBezTo>
                  <a:pt x="8745" y="721"/>
                  <a:pt x="8733" y="729"/>
                  <a:pt x="8720" y="734"/>
                </a:cubicBezTo>
                <a:cubicBezTo>
                  <a:pt x="8707" y="739"/>
                  <a:pt x="8694" y="742"/>
                  <a:pt x="8680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CuadroTexto 591"/>
          <p:cNvSpPr txBox="1"/>
          <p:nvPr/>
        </p:nvSpPr>
        <p:spPr>
          <a:xfrm>
            <a:off x="666720" y="4068720"/>
            <a:ext cx="13129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Entregable: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CuadroTexto 592"/>
          <p:cNvSpPr txBox="1"/>
          <p:nvPr/>
        </p:nvSpPr>
        <p:spPr>
          <a:xfrm>
            <a:off x="2032200" y="4105800"/>
            <a:ext cx="30542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analitica_longitudinal.sql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Forma libre 593"/>
          <p:cNvSpPr/>
          <p:nvPr/>
        </p:nvSpPr>
        <p:spPr>
          <a:xfrm>
            <a:off x="666720" y="4581360"/>
            <a:ext cx="3743640" cy="267120"/>
          </a:xfrm>
          <a:custGeom>
            <a:avLst/>
            <a:gdLst/>
            <a:ahLst/>
            <a:cxnLst/>
            <a:rect l="0" t="0" r="r" b="b"/>
            <a:pathLst>
              <a:path w="10399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0293" y="0"/>
                </a:lnTo>
                <a:cubicBezTo>
                  <a:pt x="10307" y="0"/>
                  <a:pt x="10320" y="3"/>
                  <a:pt x="10333" y="8"/>
                </a:cubicBezTo>
                <a:cubicBezTo>
                  <a:pt x="10346" y="13"/>
                  <a:pt x="10358" y="21"/>
                  <a:pt x="10368" y="31"/>
                </a:cubicBezTo>
                <a:cubicBezTo>
                  <a:pt x="10378" y="41"/>
                  <a:pt x="10385" y="52"/>
                  <a:pt x="10391" y="65"/>
                </a:cubicBezTo>
                <a:cubicBezTo>
                  <a:pt x="10396" y="78"/>
                  <a:pt x="10399" y="92"/>
                  <a:pt x="10399" y="106"/>
                </a:cubicBezTo>
                <a:lnTo>
                  <a:pt x="10399" y="636"/>
                </a:lnTo>
                <a:cubicBezTo>
                  <a:pt x="10399" y="650"/>
                  <a:pt x="10396" y="663"/>
                  <a:pt x="10391" y="676"/>
                </a:cubicBezTo>
                <a:cubicBezTo>
                  <a:pt x="10385" y="689"/>
                  <a:pt x="10378" y="701"/>
                  <a:pt x="10368" y="711"/>
                </a:cubicBezTo>
                <a:cubicBezTo>
                  <a:pt x="10358" y="721"/>
                  <a:pt x="10346" y="728"/>
                  <a:pt x="10333" y="734"/>
                </a:cubicBezTo>
                <a:cubicBezTo>
                  <a:pt x="10320" y="739"/>
                  <a:pt x="10307" y="742"/>
                  <a:pt x="10293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CuadroTexto 594"/>
          <p:cNvSpPr txBox="1"/>
          <p:nvPr/>
        </p:nvSpPr>
        <p:spPr>
          <a:xfrm>
            <a:off x="5130720" y="4068720"/>
            <a:ext cx="29775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con 7 consultas comentadas.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CuadroTexto 59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CuadroTexto 59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CuadroTexto 598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Forma libre 59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Forma libre 60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Forma libre 60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CuadroTexto 602"/>
          <p:cNvSpPr txBox="1"/>
          <p:nvPr/>
        </p:nvSpPr>
        <p:spPr>
          <a:xfrm>
            <a:off x="4672800" y="2692440"/>
            <a:ext cx="29152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¿Preguntas?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CuadroTexto 60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CuadroTexto 60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CuadroTexto 608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702</TotalTime>
  <Words>2040</Words>
  <Application>Microsoft Macintosh PowerPoint</Application>
  <PresentationFormat>Panorámica</PresentationFormat>
  <Paragraphs>299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1" baseType="lpstr">
      <vt:lpstr>Arial</vt:lpstr>
      <vt:lpstr>HelveticaNeue</vt:lpstr>
      <vt:lpstr>Menlo</vt:lpstr>
      <vt:lpstr>Symbol</vt:lpstr>
      <vt:lpstr>Times New Roman</vt:lpstr>
      <vt:lpstr>Wingdings</vt:lpstr>
      <vt:lpstr>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dc:description/>
  <cp:lastModifiedBy>Antonio Daniel Martinez Gutierrez</cp:lastModifiedBy>
  <cp:revision>3</cp:revision>
  <dcterms:modified xsi:type="dcterms:W3CDTF">2026-09-11T14:45:31Z</dcterms:modified>
  <dc:language>es-ES</dc:language>
</cp:coreProperties>
</file>