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68" r:id="rId15"/>
    <p:sldId id="269" r:id="rId16"/>
    <p:sldId id="270" r:id="rId17"/>
    <p:sldId id="271" r:id="rId18"/>
    <p:sldId id="283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12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8206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Introducción al OMOP CDM: Arquitectura y Tablas Clínicas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34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III — SQL y datos clínicos estandarizados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9133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Explicar qué problema resuelve 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Common Data Model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por qué la industria lo adoptó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6989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Navegar las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tablas centrales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del OMOP CDM v5.4 y sus relaciones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Forma libre 22"/>
          <p:cNvSpPr/>
          <p:nvPr/>
        </p:nvSpPr>
        <p:spPr>
          <a:xfrm>
            <a:off x="2133360" y="4086000"/>
            <a:ext cx="819720" cy="267120"/>
          </a:xfrm>
          <a:custGeom>
            <a:avLst/>
            <a:gdLst/>
            <a:ahLst/>
            <a:cxnLst/>
            <a:rect l="0" t="0" r="r" b="b"/>
            <a:pathLst>
              <a:path w="227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3"/>
                  <a:pt x="2211" y="8"/>
                </a:cubicBezTo>
                <a:cubicBezTo>
                  <a:pt x="2224" y="14"/>
                  <a:pt x="2236" y="21"/>
                  <a:pt x="2246" y="31"/>
                </a:cubicBezTo>
                <a:cubicBezTo>
                  <a:pt x="2256" y="41"/>
                  <a:pt x="2263" y="52"/>
                  <a:pt x="2269" y="65"/>
                </a:cubicBezTo>
                <a:cubicBezTo>
                  <a:pt x="2274" y="78"/>
                  <a:pt x="2277" y="92"/>
                  <a:pt x="2277" y="106"/>
                </a:cubicBezTo>
                <a:lnTo>
                  <a:pt x="2277" y="636"/>
                </a:lnTo>
                <a:cubicBezTo>
                  <a:pt x="2277" y="650"/>
                  <a:pt x="2274" y="664"/>
                  <a:pt x="2269" y="677"/>
                </a:cubicBezTo>
                <a:cubicBezTo>
                  <a:pt x="2263" y="690"/>
                  <a:pt x="2256" y="701"/>
                  <a:pt x="2246" y="711"/>
                </a:cubicBezTo>
                <a:cubicBezTo>
                  <a:pt x="2236" y="721"/>
                  <a:pt x="2224" y="729"/>
                  <a:pt x="2211" y="734"/>
                </a:cubicBezTo>
                <a:cubicBezTo>
                  <a:pt x="2198" y="739"/>
                  <a:pt x="2185" y="742"/>
                  <a:pt x="217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068720"/>
            <a:ext cx="1262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Consultar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188800" y="41058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PERSON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Forma libre 25"/>
          <p:cNvSpPr/>
          <p:nvPr/>
        </p:nvSpPr>
        <p:spPr>
          <a:xfrm>
            <a:off x="3076560" y="4086000"/>
            <a:ext cx="1981440" cy="267120"/>
          </a:xfrm>
          <a:custGeom>
            <a:avLst/>
            <a:gdLst/>
            <a:ahLst/>
            <a:cxnLst/>
            <a:rect l="0" t="0" r="r" b="b"/>
            <a:pathLst>
              <a:path w="550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398" y="0"/>
                </a:lnTo>
                <a:cubicBezTo>
                  <a:pt x="5412" y="0"/>
                  <a:pt x="5426" y="3"/>
                  <a:pt x="5439" y="8"/>
                </a:cubicBezTo>
                <a:cubicBezTo>
                  <a:pt x="5452" y="14"/>
                  <a:pt x="5463" y="21"/>
                  <a:pt x="5473" y="31"/>
                </a:cubicBezTo>
                <a:cubicBezTo>
                  <a:pt x="5483" y="41"/>
                  <a:pt x="5490" y="52"/>
                  <a:pt x="5496" y="65"/>
                </a:cubicBezTo>
                <a:cubicBezTo>
                  <a:pt x="5501" y="78"/>
                  <a:pt x="5504" y="92"/>
                  <a:pt x="5504" y="106"/>
                </a:cubicBezTo>
                <a:lnTo>
                  <a:pt x="5504" y="636"/>
                </a:lnTo>
                <a:cubicBezTo>
                  <a:pt x="5504" y="650"/>
                  <a:pt x="5501" y="664"/>
                  <a:pt x="5496" y="677"/>
                </a:cubicBezTo>
                <a:cubicBezTo>
                  <a:pt x="5490" y="690"/>
                  <a:pt x="5483" y="701"/>
                  <a:pt x="5473" y="711"/>
                </a:cubicBezTo>
                <a:cubicBezTo>
                  <a:pt x="5463" y="721"/>
                  <a:pt x="5452" y="729"/>
                  <a:pt x="5439" y="734"/>
                </a:cubicBezTo>
                <a:cubicBezTo>
                  <a:pt x="5426" y="739"/>
                  <a:pt x="5412" y="742"/>
                  <a:pt x="5398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0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2948040" y="40687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3132360" y="410580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VISIT_OCCURRENCE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5295600" y="4086000"/>
            <a:ext cx="2448360" cy="267120"/>
          </a:xfrm>
          <a:custGeom>
            <a:avLst/>
            <a:gdLst/>
            <a:ahLst/>
            <a:cxnLst/>
            <a:rect l="0" t="0" r="r" b="b"/>
            <a:pathLst>
              <a:path w="680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6695" y="0"/>
                </a:lnTo>
                <a:cubicBezTo>
                  <a:pt x="6709" y="0"/>
                  <a:pt x="6723" y="3"/>
                  <a:pt x="6736" y="8"/>
                </a:cubicBezTo>
                <a:cubicBezTo>
                  <a:pt x="6749" y="14"/>
                  <a:pt x="6760" y="21"/>
                  <a:pt x="6770" y="31"/>
                </a:cubicBezTo>
                <a:cubicBezTo>
                  <a:pt x="6780" y="41"/>
                  <a:pt x="6788" y="52"/>
                  <a:pt x="6793" y="65"/>
                </a:cubicBezTo>
                <a:cubicBezTo>
                  <a:pt x="6798" y="78"/>
                  <a:pt x="6801" y="92"/>
                  <a:pt x="6801" y="106"/>
                </a:cubicBezTo>
                <a:lnTo>
                  <a:pt x="6801" y="636"/>
                </a:lnTo>
                <a:cubicBezTo>
                  <a:pt x="6801" y="650"/>
                  <a:pt x="6798" y="664"/>
                  <a:pt x="6793" y="677"/>
                </a:cubicBezTo>
                <a:cubicBezTo>
                  <a:pt x="6788" y="690"/>
                  <a:pt x="6780" y="701"/>
                  <a:pt x="6770" y="711"/>
                </a:cubicBezTo>
                <a:cubicBezTo>
                  <a:pt x="6760" y="721"/>
                  <a:pt x="6749" y="729"/>
                  <a:pt x="6736" y="734"/>
                </a:cubicBezTo>
                <a:cubicBezTo>
                  <a:pt x="6723" y="739"/>
                  <a:pt x="6709" y="742"/>
                  <a:pt x="6695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5061240" y="406872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5351400" y="410580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CONDITION_OCCURRENCE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869760" y="4468680"/>
            <a:ext cx="5284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Distinguir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concepto estándar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valor de origen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orma libre 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Forma libre 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Forma libre 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Forma libre 38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Forma libre 39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869760" y="1858680"/>
            <a:ext cx="3566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El problema de la heterogeneidad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869760" y="2259000"/>
            <a:ext cx="2260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Qué es OMOP CDM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869760" y="2658960"/>
            <a:ext cx="2075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Filosofía de diseño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869760" y="3058920"/>
            <a:ext cx="2990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Las tablas clínicas centrales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Forma libre 45"/>
          <p:cNvSpPr/>
          <p:nvPr/>
        </p:nvSpPr>
        <p:spPr>
          <a:xfrm>
            <a:off x="1971360" y="347652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2"/>
                  <a:pt x="2529" y="8"/>
                </a:cubicBezTo>
                <a:cubicBezTo>
                  <a:pt x="2542" y="13"/>
                  <a:pt x="2553" y="21"/>
                  <a:pt x="2563" y="31"/>
                </a:cubicBezTo>
                <a:cubicBezTo>
                  <a:pt x="2573" y="41"/>
                  <a:pt x="2581" y="52"/>
                  <a:pt x="2586" y="65"/>
                </a:cubicBezTo>
                <a:cubicBezTo>
                  <a:pt x="2592" y="78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2" y="663"/>
                  <a:pt x="2586" y="676"/>
                </a:cubicBezTo>
                <a:cubicBezTo>
                  <a:pt x="2581" y="689"/>
                  <a:pt x="2573" y="701"/>
                  <a:pt x="2563" y="711"/>
                </a:cubicBezTo>
                <a:cubicBezTo>
                  <a:pt x="2553" y="721"/>
                  <a:pt x="2542" y="728"/>
                  <a:pt x="2529" y="734"/>
                </a:cubicBezTo>
                <a:cubicBezTo>
                  <a:pt x="2516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869760" y="3458880"/>
            <a:ext cx="1101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La tabla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028240" y="349632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869760" y="3859200"/>
            <a:ext cx="3246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Del dato crudo al CDM: el ETL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869760" y="4259160"/>
            <a:ext cx="199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Consultar el CDM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869760" y="4659120"/>
            <a:ext cx="2363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El ecosistema OHDSI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905040" y="5268600"/>
            <a:ext cx="6628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convertir tus datos de Synthea a OMOP y explorarlos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orma libre 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2038680" y="3063960"/>
            <a:ext cx="83214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El problema de la heterogeneidad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bre 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orma libre 65"/>
          <p:cNvSpPr/>
          <p:nvPr/>
        </p:nvSpPr>
        <p:spPr>
          <a:xfrm>
            <a:off x="671400" y="18144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671400" y="18144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a libre 67"/>
          <p:cNvSpPr/>
          <p:nvPr/>
        </p:nvSpPr>
        <p:spPr>
          <a:xfrm>
            <a:off x="666720" y="513396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666720" y="513396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666720" y="1168200"/>
            <a:ext cx="6117572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problema de la falta de estandarización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866880" y="199440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Hospital A            -- Hospital B           -- Hospital C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866880" y="2260800"/>
            <a:ext cx="6224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'E11.9'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'DM2'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'250.00'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866880" y="251820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ICD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-10-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CM                texto libre             ICD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-9-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CM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866880" y="278496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tabla: diagnosticos      tabla: padecimientos    tabla: conditions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914040" y="39909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666720" y="3382920"/>
            <a:ext cx="1860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Multiplica esto por: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914040" y="43909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1123920" y="3878280"/>
            <a:ext cx="3662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200 hospitales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un estudio de red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914040" y="4790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1123920" y="4278240"/>
            <a:ext cx="6812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6 dominios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(diagnósticos, fármacos, procedimientos, laboratorios…)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CuadroTexto 80"/>
          <p:cNvSpPr txBox="1"/>
          <p:nvPr/>
        </p:nvSpPr>
        <p:spPr>
          <a:xfrm>
            <a:off x="1123920" y="4678200"/>
            <a:ext cx="49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20 años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cambios de sistema y de codiﬁcación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905040" y="5287680"/>
            <a:ext cx="8862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Sin estandarización, un estudio multicéntrico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 estudios distintos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pegados con cinta.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CuadroTexto 8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CuadroTexto 8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CuadroTexto 8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orma libre 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690480" y="3885840"/>
            <a:ext cx="10834920" cy="1410120"/>
          </a:xfrm>
          <a:custGeom>
            <a:avLst/>
            <a:gdLst/>
            <a:ahLst/>
            <a:cxnLst/>
            <a:rect l="0" t="0" r="r" b="b"/>
            <a:pathLst>
              <a:path w="30097" h="3917">
                <a:moveTo>
                  <a:pt x="0" y="3917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2"/>
                  <a:pt x="29969" y="4"/>
                </a:cubicBezTo>
                <a:cubicBezTo>
                  <a:pt x="29980" y="6"/>
                  <a:pt x="29989" y="9"/>
                  <a:pt x="29999" y="13"/>
                </a:cubicBezTo>
                <a:cubicBezTo>
                  <a:pt x="30009" y="17"/>
                  <a:pt x="30018" y="21"/>
                  <a:pt x="30027" y="27"/>
                </a:cubicBezTo>
                <a:cubicBezTo>
                  <a:pt x="30035" y="33"/>
                  <a:pt x="30043" y="40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80"/>
                  <a:pt x="30081" y="89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9"/>
                  <a:pt x="30097" y="149"/>
                  <a:pt x="30097" y="159"/>
                </a:cubicBezTo>
                <a:lnTo>
                  <a:pt x="30097" y="3759"/>
                </a:lnTo>
                <a:cubicBezTo>
                  <a:pt x="30097" y="3769"/>
                  <a:pt x="30096" y="3779"/>
                  <a:pt x="30094" y="3790"/>
                </a:cubicBezTo>
                <a:cubicBezTo>
                  <a:pt x="30092" y="3800"/>
                  <a:pt x="30089" y="3810"/>
                  <a:pt x="30085" y="3819"/>
                </a:cubicBezTo>
                <a:cubicBezTo>
                  <a:pt x="30081" y="3829"/>
                  <a:pt x="30076" y="3838"/>
                  <a:pt x="30070" y="3847"/>
                </a:cubicBezTo>
                <a:cubicBezTo>
                  <a:pt x="30065" y="3855"/>
                  <a:pt x="30058" y="3863"/>
                  <a:pt x="30051" y="3871"/>
                </a:cubicBezTo>
                <a:cubicBezTo>
                  <a:pt x="30043" y="3878"/>
                  <a:pt x="30035" y="3885"/>
                  <a:pt x="30027" y="3891"/>
                </a:cubicBezTo>
                <a:cubicBezTo>
                  <a:pt x="30018" y="3896"/>
                  <a:pt x="30009" y="3901"/>
                  <a:pt x="29999" y="3905"/>
                </a:cubicBezTo>
                <a:cubicBezTo>
                  <a:pt x="29989" y="3909"/>
                  <a:pt x="29980" y="3912"/>
                  <a:pt x="29969" y="3914"/>
                </a:cubicBezTo>
                <a:cubicBezTo>
                  <a:pt x="29959" y="3916"/>
                  <a:pt x="29949" y="3917"/>
                  <a:pt x="29938" y="3917"/>
                </a:cubicBezTo>
                <a:lnTo>
                  <a:pt x="0" y="3917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666720" y="3885840"/>
            <a:ext cx="47880" cy="1410120"/>
          </a:xfrm>
          <a:custGeom>
            <a:avLst/>
            <a:gdLst/>
            <a:ahLst/>
            <a:cxnLst/>
            <a:rect l="0" t="0" r="r" b="b"/>
            <a:pathLst>
              <a:path w="133" h="3917">
                <a:moveTo>
                  <a:pt x="0" y="0"/>
                </a:moveTo>
                <a:lnTo>
                  <a:pt x="133" y="0"/>
                </a:lnTo>
                <a:lnTo>
                  <a:pt x="133" y="3917"/>
                </a:lnTo>
                <a:lnTo>
                  <a:pt x="0" y="391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CuadroTexto 90"/>
          <p:cNvSpPr txBox="1"/>
          <p:nvPr/>
        </p:nvSpPr>
        <p:spPr>
          <a:xfrm>
            <a:off x="666720" y="1577520"/>
            <a:ext cx="3476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formas de resolverlo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CuadroTexto 91"/>
          <p:cNvSpPr txBox="1"/>
          <p:nvPr/>
        </p:nvSpPr>
        <p:spPr>
          <a:xfrm>
            <a:off x="666720" y="2249280"/>
            <a:ext cx="10601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Armonizar en el análisis: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cada sitio manda sus datos crudos, alguien los traduce al ﬁnal. No escala, no 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CuadroTexto 92"/>
          <p:cNvSpPr txBox="1"/>
          <p:nvPr/>
        </p:nvSpPr>
        <p:spPr>
          <a:xfrm>
            <a:off x="666720" y="2592360"/>
            <a:ext cx="5579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reproducible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datos tienen que salir del hospital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666720" y="3087720"/>
            <a:ext cx="10274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Armonizar en el origen: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cada sitio convierte una vez a un modelo común. Después,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mismo código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666720" y="3430440"/>
            <a:ext cx="2409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corre en todas partes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885960" y="4039920"/>
            <a:ext cx="9745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esto habilita lo importante: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análisis viaja, los datos no.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Cada sitio ejecuta el mismo estudio 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885960" y="4383000"/>
            <a:ext cx="10362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comparte sólo resultados agregados. Es la arquitectura de los estudios de red de OHDSI — y la razón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885960" y="4725720"/>
            <a:ext cx="5784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 existan estudios con cientos de millones de pacientes.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CuadroTexto 10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rma libre 1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3507120" y="3063960"/>
            <a:ext cx="5274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Qué es OMOP CDM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orma libre 1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676080" y="2104920"/>
            <a:ext cx="1543320" cy="409680"/>
          </a:xfrm>
          <a:custGeom>
            <a:avLst/>
            <a:gdLst/>
            <a:ahLst/>
            <a:cxnLst/>
            <a:rect l="0" t="0" r="r" b="b"/>
            <a:pathLst>
              <a:path w="4287" h="1138">
                <a:moveTo>
                  <a:pt x="0" y="0"/>
                </a:moveTo>
                <a:lnTo>
                  <a:pt x="4287" y="0"/>
                </a:lnTo>
                <a:lnTo>
                  <a:pt x="428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2219040" y="2104920"/>
            <a:ext cx="5610600" cy="409680"/>
          </a:xfrm>
          <a:custGeom>
            <a:avLst/>
            <a:gdLst/>
            <a:ahLst/>
            <a:cxnLst/>
            <a:rect l="0" t="0" r="r" b="b"/>
            <a:pathLst>
              <a:path w="15585" h="1138">
                <a:moveTo>
                  <a:pt x="0" y="0"/>
                </a:moveTo>
                <a:lnTo>
                  <a:pt x="15585" y="0"/>
                </a:lnTo>
                <a:lnTo>
                  <a:pt x="1558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676080" y="2104920"/>
            <a:ext cx="1543320" cy="409680"/>
          </a:xfrm>
          <a:custGeom>
            <a:avLst/>
            <a:gdLst/>
            <a:ahLst/>
            <a:cxnLst/>
            <a:rect l="0" t="0" r="r" b="b"/>
            <a:pathLst>
              <a:path w="4287" h="1138">
                <a:moveTo>
                  <a:pt x="0" y="0"/>
                </a:moveTo>
                <a:lnTo>
                  <a:pt x="4287" y="0"/>
                </a:lnTo>
                <a:lnTo>
                  <a:pt x="428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2219040" y="2104920"/>
            <a:ext cx="5610600" cy="409680"/>
          </a:xfrm>
          <a:custGeom>
            <a:avLst/>
            <a:gdLst/>
            <a:ahLst/>
            <a:cxnLst/>
            <a:rect l="0" t="0" r="r" b="b"/>
            <a:pathLst>
              <a:path w="15585" h="1138">
                <a:moveTo>
                  <a:pt x="0" y="0"/>
                </a:moveTo>
                <a:lnTo>
                  <a:pt x="15585" y="0"/>
                </a:lnTo>
                <a:lnTo>
                  <a:pt x="1558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676080" y="2514240"/>
            <a:ext cx="1543320" cy="419760"/>
          </a:xfrm>
          <a:custGeom>
            <a:avLst/>
            <a:gdLst/>
            <a:ahLst/>
            <a:cxnLst/>
            <a:rect l="0" t="0" r="r" b="b"/>
            <a:pathLst>
              <a:path w="4287" h="1166">
                <a:moveTo>
                  <a:pt x="0" y="0"/>
                </a:moveTo>
                <a:lnTo>
                  <a:pt x="4287" y="0"/>
                </a:lnTo>
                <a:lnTo>
                  <a:pt x="428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2219040" y="2514240"/>
            <a:ext cx="5610600" cy="419760"/>
          </a:xfrm>
          <a:custGeom>
            <a:avLst/>
            <a:gdLst/>
            <a:ahLst/>
            <a:cxnLst/>
            <a:rect l="0" t="0" r="r" b="b"/>
            <a:pathLst>
              <a:path w="15585" h="1166">
                <a:moveTo>
                  <a:pt x="0" y="0"/>
                </a:moveTo>
                <a:lnTo>
                  <a:pt x="15585" y="0"/>
                </a:lnTo>
                <a:lnTo>
                  <a:pt x="15585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676080" y="2933640"/>
            <a:ext cx="1543320" cy="419400"/>
          </a:xfrm>
          <a:custGeom>
            <a:avLst/>
            <a:gdLst/>
            <a:ahLst/>
            <a:cxnLst/>
            <a:rect l="0" t="0" r="r" b="b"/>
            <a:pathLst>
              <a:path w="4287" h="1165">
                <a:moveTo>
                  <a:pt x="0" y="0"/>
                </a:moveTo>
                <a:lnTo>
                  <a:pt x="4287" y="0"/>
                </a:lnTo>
                <a:lnTo>
                  <a:pt x="42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2219040" y="2933640"/>
            <a:ext cx="5610600" cy="419400"/>
          </a:xfrm>
          <a:custGeom>
            <a:avLst/>
            <a:gdLst/>
            <a:ahLst/>
            <a:cxnLst/>
            <a:rect l="0" t="0" r="r" b="b"/>
            <a:pathLst>
              <a:path w="15585" h="1165">
                <a:moveTo>
                  <a:pt x="0" y="0"/>
                </a:moveTo>
                <a:lnTo>
                  <a:pt x="15585" y="0"/>
                </a:lnTo>
                <a:lnTo>
                  <a:pt x="1558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676080" y="3352680"/>
            <a:ext cx="1543320" cy="419400"/>
          </a:xfrm>
          <a:custGeom>
            <a:avLst/>
            <a:gdLst/>
            <a:ahLst/>
            <a:cxnLst/>
            <a:rect l="0" t="0" r="r" b="b"/>
            <a:pathLst>
              <a:path w="4287" h="1165">
                <a:moveTo>
                  <a:pt x="0" y="0"/>
                </a:moveTo>
                <a:lnTo>
                  <a:pt x="4287" y="0"/>
                </a:lnTo>
                <a:lnTo>
                  <a:pt x="42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2219040" y="3352680"/>
            <a:ext cx="5610600" cy="419400"/>
          </a:xfrm>
          <a:custGeom>
            <a:avLst/>
            <a:gdLst/>
            <a:ahLst/>
            <a:cxnLst/>
            <a:rect l="0" t="0" r="r" b="b"/>
            <a:pathLst>
              <a:path w="15585" h="1165">
                <a:moveTo>
                  <a:pt x="0" y="0"/>
                </a:moveTo>
                <a:lnTo>
                  <a:pt x="15585" y="0"/>
                </a:lnTo>
                <a:lnTo>
                  <a:pt x="1558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666720" y="2095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666720" y="2095200"/>
            <a:ext cx="1562400" cy="10080"/>
          </a:xfrm>
          <a:custGeom>
            <a:avLst/>
            <a:gdLst/>
            <a:ahLst/>
            <a:cxn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2219040" y="20952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2228760" y="2095200"/>
            <a:ext cx="5610600" cy="10080"/>
          </a:xfrm>
          <a:custGeom>
            <a:avLst/>
            <a:gdLst/>
            <a:ahLst/>
            <a:cxnLst/>
            <a:rect l="0" t="0" r="r" b="b"/>
            <a:pathLst>
              <a:path w="15585" h="28">
                <a:moveTo>
                  <a:pt x="0" y="0"/>
                </a:moveTo>
                <a:lnTo>
                  <a:pt x="15585" y="0"/>
                </a:lnTo>
                <a:lnTo>
                  <a:pt x="155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7829280" y="2095200"/>
            <a:ext cx="10440" cy="419400"/>
          </a:xfrm>
          <a:custGeom>
            <a:avLst/>
            <a:gdLst/>
            <a:ahLst/>
            <a:cxnLst/>
            <a:rect l="0" t="0" r="r" b="b"/>
            <a:pathLst>
              <a:path w="29" h="1165">
                <a:moveTo>
                  <a:pt x="0" y="0"/>
                </a:moveTo>
                <a:lnTo>
                  <a:pt x="29" y="0"/>
                </a:lnTo>
                <a:lnTo>
                  <a:pt x="2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666720" y="2504880"/>
            <a:ext cx="1562400" cy="9720"/>
          </a:xfrm>
          <a:custGeom>
            <a:avLst/>
            <a:gdLst/>
            <a:ahLst/>
            <a:cxn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orma libre 127"/>
          <p:cNvSpPr/>
          <p:nvPr/>
        </p:nvSpPr>
        <p:spPr>
          <a:xfrm>
            <a:off x="2228760" y="2504880"/>
            <a:ext cx="5610600" cy="9720"/>
          </a:xfrm>
          <a:custGeom>
            <a:avLst/>
            <a:gdLst/>
            <a:ahLst/>
            <a:cxnLst/>
            <a:rect l="0" t="0" r="r" b="b"/>
            <a:pathLst>
              <a:path w="15585" h="27">
                <a:moveTo>
                  <a:pt x="0" y="0"/>
                </a:moveTo>
                <a:lnTo>
                  <a:pt x="15585" y="0"/>
                </a:lnTo>
                <a:lnTo>
                  <a:pt x="155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Forma libre 128"/>
          <p:cNvSpPr/>
          <p:nvPr/>
        </p:nvSpPr>
        <p:spPr>
          <a:xfrm>
            <a:off x="666720" y="25142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rma libre 129"/>
          <p:cNvSpPr/>
          <p:nvPr/>
        </p:nvSpPr>
        <p:spPr>
          <a:xfrm>
            <a:off x="2219040" y="25142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7829280" y="2514240"/>
            <a:ext cx="10440" cy="419760"/>
          </a:xfrm>
          <a:custGeom>
            <a:avLst/>
            <a:gdLst/>
            <a:ahLst/>
            <a:cxnLst/>
            <a:rect l="0" t="0" r="r" b="b"/>
            <a:pathLst>
              <a:path w="29" h="1166">
                <a:moveTo>
                  <a:pt x="0" y="0"/>
                </a:moveTo>
                <a:lnTo>
                  <a:pt x="29" y="0"/>
                </a:lnTo>
                <a:lnTo>
                  <a:pt x="29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66672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Forma libre 132"/>
          <p:cNvSpPr/>
          <p:nvPr/>
        </p:nvSpPr>
        <p:spPr>
          <a:xfrm>
            <a:off x="666720" y="2923920"/>
            <a:ext cx="1562400" cy="10080"/>
          </a:xfrm>
          <a:custGeom>
            <a:avLst/>
            <a:gdLst/>
            <a:ahLst/>
            <a:cxn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2219040" y="2933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2228760" y="2923920"/>
            <a:ext cx="5610600" cy="10080"/>
          </a:xfrm>
          <a:custGeom>
            <a:avLst/>
            <a:gdLst/>
            <a:ahLst/>
            <a:cxnLst/>
            <a:rect l="0" t="0" r="r" b="b"/>
            <a:pathLst>
              <a:path w="15585" h="28">
                <a:moveTo>
                  <a:pt x="0" y="0"/>
                </a:moveTo>
                <a:lnTo>
                  <a:pt x="15585" y="0"/>
                </a:lnTo>
                <a:lnTo>
                  <a:pt x="155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7829280" y="2933640"/>
            <a:ext cx="10440" cy="419400"/>
          </a:xfrm>
          <a:custGeom>
            <a:avLst/>
            <a:gdLst/>
            <a:ahLst/>
            <a:cxnLst/>
            <a:rect l="0" t="0" r="r" b="b"/>
            <a:pathLst>
              <a:path w="29" h="1165">
                <a:moveTo>
                  <a:pt x="0" y="0"/>
                </a:moveTo>
                <a:lnTo>
                  <a:pt x="29" y="0"/>
                </a:lnTo>
                <a:lnTo>
                  <a:pt x="2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666720" y="3352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a libre 137"/>
          <p:cNvSpPr/>
          <p:nvPr/>
        </p:nvSpPr>
        <p:spPr>
          <a:xfrm>
            <a:off x="666720" y="3342960"/>
            <a:ext cx="1562400" cy="10080"/>
          </a:xfrm>
          <a:custGeom>
            <a:avLst/>
            <a:gdLst/>
            <a:ahLst/>
            <a:cxn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orma libre 138"/>
          <p:cNvSpPr/>
          <p:nvPr/>
        </p:nvSpPr>
        <p:spPr>
          <a:xfrm>
            <a:off x="2219040" y="3352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a libre 139"/>
          <p:cNvSpPr/>
          <p:nvPr/>
        </p:nvSpPr>
        <p:spPr>
          <a:xfrm>
            <a:off x="2228760" y="3342960"/>
            <a:ext cx="5610600" cy="10080"/>
          </a:xfrm>
          <a:custGeom>
            <a:avLst/>
            <a:gdLst/>
            <a:ahLst/>
            <a:cxnLst/>
            <a:rect l="0" t="0" r="r" b="b"/>
            <a:pathLst>
              <a:path w="15585" h="28">
                <a:moveTo>
                  <a:pt x="0" y="0"/>
                </a:moveTo>
                <a:lnTo>
                  <a:pt x="15585" y="0"/>
                </a:lnTo>
                <a:lnTo>
                  <a:pt x="155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rma libre 140"/>
          <p:cNvSpPr/>
          <p:nvPr/>
        </p:nvSpPr>
        <p:spPr>
          <a:xfrm>
            <a:off x="7829280" y="3352680"/>
            <a:ext cx="10440" cy="419400"/>
          </a:xfrm>
          <a:custGeom>
            <a:avLst/>
            <a:gdLst/>
            <a:ahLst/>
            <a:cxnLst/>
            <a:rect l="0" t="0" r="r" b="b"/>
            <a:pathLst>
              <a:path w="29" h="1165">
                <a:moveTo>
                  <a:pt x="0" y="0"/>
                </a:moveTo>
                <a:lnTo>
                  <a:pt x="29" y="0"/>
                </a:lnTo>
                <a:lnTo>
                  <a:pt x="2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orma libre 141"/>
          <p:cNvSpPr/>
          <p:nvPr/>
        </p:nvSpPr>
        <p:spPr>
          <a:xfrm>
            <a:off x="666720" y="3762360"/>
            <a:ext cx="1562400" cy="9720"/>
          </a:xfrm>
          <a:custGeom>
            <a:avLst/>
            <a:gdLst/>
            <a:ahLst/>
            <a:cxn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2228760" y="3762360"/>
            <a:ext cx="5610600" cy="9720"/>
          </a:xfrm>
          <a:custGeom>
            <a:avLst/>
            <a:gdLst/>
            <a:ahLst/>
            <a:cxnLst/>
            <a:rect l="0" t="0" r="r" b="b"/>
            <a:pathLst>
              <a:path w="15585" h="27">
                <a:moveTo>
                  <a:pt x="0" y="0"/>
                </a:moveTo>
                <a:lnTo>
                  <a:pt x="15585" y="0"/>
                </a:lnTo>
                <a:lnTo>
                  <a:pt x="155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666720" y="1463400"/>
            <a:ext cx="2820580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</a:t>
            </a:r>
            <a:r>
              <a:rPr lang="es-ES" sz="2550" dirty="0" err="1">
                <a:solidFill>
                  <a:srgbClr val="0B3C5D"/>
                </a:solidFill>
                <a:latin typeface="HelveticaNeue"/>
                <a:ea typeface="HelveticaNeue"/>
              </a:rPr>
              <a:t>caracteristicas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4518000" y="2199960"/>
            <a:ext cx="1017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aporta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799920" y="2609640"/>
            <a:ext cx="847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Esquema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CuadroTexto 146"/>
          <p:cNvSpPr txBox="1"/>
          <p:nvPr/>
        </p:nvSpPr>
        <p:spPr>
          <a:xfrm>
            <a:off x="2348640" y="2609640"/>
            <a:ext cx="5355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mismas tablas, mismas columnas, mismos tipos, en todas partes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799920" y="3028680"/>
            <a:ext cx="1185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Vocabularios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2348640" y="3028680"/>
            <a:ext cx="4462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SNOMED, RxNorm, LOINC… y los mapeos entre ellos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799920" y="3447720"/>
            <a:ext cx="1292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Convenciones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914040" y="40766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0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2348640" y="3447720"/>
            <a:ext cx="4694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reglas acordadas de qué va dónde y cómo se representa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Forma libre 152"/>
          <p:cNvSpPr/>
          <p:nvPr/>
        </p:nvSpPr>
        <p:spPr>
          <a:xfrm>
            <a:off x="914040" y="4476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1123920" y="3963960"/>
            <a:ext cx="7145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Mantenido por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OHDSI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comunidad abierta con más de 200 instituciones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orma libre 154"/>
          <p:cNvSpPr/>
          <p:nvPr/>
        </p:nvSpPr>
        <p:spPr>
          <a:xfrm>
            <a:off x="914040" y="4876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CuadroTexto 155"/>
          <p:cNvSpPr txBox="1"/>
          <p:nvPr/>
        </p:nvSpPr>
        <p:spPr>
          <a:xfrm>
            <a:off x="1123920" y="4363920"/>
            <a:ext cx="1940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Versión vigente: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5.4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CuadroTexto 156"/>
          <p:cNvSpPr txBox="1"/>
          <p:nvPr/>
        </p:nvSpPr>
        <p:spPr>
          <a:xfrm>
            <a:off x="1123920" y="4763880"/>
            <a:ext cx="10163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Alternativas: Sentinel CDM, PCORnet CDM, i2b2 — OMOP ganó tracción por los vocabularios y por las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CuadroTexto 157"/>
          <p:cNvSpPr txBox="1"/>
          <p:nvPr/>
        </p:nvSpPr>
        <p:spPr>
          <a:xfrm>
            <a:off x="1123920" y="5106960"/>
            <a:ext cx="1275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herramientas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CuadroTexto 15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CuadroTexto 16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orma libre 1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orma libre 1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3733920" y="3063960"/>
            <a:ext cx="4842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Filosofía de diseño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orma libre 1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orma libre 1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671400" y="419544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orma libre 172"/>
          <p:cNvSpPr/>
          <p:nvPr/>
        </p:nvSpPr>
        <p:spPr>
          <a:xfrm>
            <a:off x="671400" y="419544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666720" y="1568160"/>
            <a:ext cx="5105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Cuatro decisiones que explican todo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6657840" y="2266920"/>
            <a:ext cx="1171800" cy="266760"/>
          </a:xfrm>
          <a:custGeom>
            <a:avLst/>
            <a:gdLst/>
            <a:ahLst/>
            <a:cxnLst/>
            <a:rect l="0" t="0" r="r" b="b"/>
            <a:pathLst>
              <a:path w="3255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149" y="0"/>
                </a:lnTo>
                <a:cubicBezTo>
                  <a:pt x="3163" y="0"/>
                  <a:pt x="3177" y="2"/>
                  <a:pt x="3190" y="8"/>
                </a:cubicBezTo>
                <a:cubicBezTo>
                  <a:pt x="3203" y="13"/>
                  <a:pt x="3214" y="21"/>
                  <a:pt x="3224" y="31"/>
                </a:cubicBezTo>
                <a:cubicBezTo>
                  <a:pt x="3234" y="41"/>
                  <a:pt x="3242" y="52"/>
                  <a:pt x="3247" y="65"/>
                </a:cubicBezTo>
                <a:cubicBezTo>
                  <a:pt x="3253" y="78"/>
                  <a:pt x="3255" y="91"/>
                  <a:pt x="3255" y="105"/>
                </a:cubicBezTo>
                <a:lnTo>
                  <a:pt x="3255" y="635"/>
                </a:lnTo>
                <a:cubicBezTo>
                  <a:pt x="3255" y="649"/>
                  <a:pt x="3253" y="662"/>
                  <a:pt x="3247" y="675"/>
                </a:cubicBezTo>
                <a:cubicBezTo>
                  <a:pt x="3242" y="688"/>
                  <a:pt x="3234" y="699"/>
                  <a:pt x="3224" y="709"/>
                </a:cubicBezTo>
                <a:cubicBezTo>
                  <a:pt x="3214" y="719"/>
                  <a:pt x="3203" y="727"/>
                  <a:pt x="3190" y="732"/>
                </a:cubicBezTo>
                <a:cubicBezTo>
                  <a:pt x="3177" y="739"/>
                  <a:pt x="3163" y="741"/>
                  <a:pt x="3149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2"/>
                </a:cubicBezTo>
                <a:cubicBezTo>
                  <a:pt x="52" y="727"/>
                  <a:pt x="41" y="719"/>
                  <a:pt x="31" y="709"/>
                </a:cubicBezTo>
                <a:cubicBezTo>
                  <a:pt x="21" y="699"/>
                  <a:pt x="13" y="688"/>
                  <a:pt x="8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666720" y="2249280"/>
            <a:ext cx="5996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1. Centrado en la persona.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Ninguna tabla clínica existe sin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6719400" y="228672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person_id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7829280" y="22492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666720" y="2744640"/>
            <a:ext cx="8694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2. Orientado a eventos con fecha.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Cada hecho clínico es una ﬁla con cuándo ocurrió.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orma libre 179"/>
          <p:cNvSpPr/>
          <p:nvPr/>
        </p:nvSpPr>
        <p:spPr>
          <a:xfrm>
            <a:off x="7115040" y="325728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3" y="31"/>
                </a:cubicBezTo>
                <a:cubicBezTo>
                  <a:pt x="2573" y="41"/>
                  <a:pt x="2580" y="53"/>
                  <a:pt x="2586" y="66"/>
                </a:cubicBezTo>
                <a:cubicBezTo>
                  <a:pt x="2591" y="79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1" y="664"/>
                  <a:pt x="2586" y="677"/>
                </a:cubicBezTo>
                <a:cubicBezTo>
                  <a:pt x="2580" y="690"/>
                  <a:pt x="2573" y="701"/>
                  <a:pt x="2563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666720" y="3240000"/>
            <a:ext cx="6491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3. Todo apunta a un concepto estándar.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signiﬁcado vive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7168680" y="327708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8044920" y="3240000"/>
            <a:ext cx="2181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en la tabla clínica.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Forma libre 183"/>
          <p:cNvSpPr/>
          <p:nvPr/>
        </p:nvSpPr>
        <p:spPr>
          <a:xfrm>
            <a:off x="4667040" y="375264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4"/>
                  <a:pt x="3532" y="21"/>
                  <a:pt x="3542" y="31"/>
                </a:cubicBezTo>
                <a:cubicBezTo>
                  <a:pt x="3552" y="41"/>
                  <a:pt x="3560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4"/>
                  <a:pt x="3565" y="677"/>
                </a:cubicBezTo>
                <a:cubicBezTo>
                  <a:pt x="3560" y="690"/>
                  <a:pt x="3552" y="701"/>
                  <a:pt x="3542" y="711"/>
                </a:cubicBezTo>
                <a:cubicBezTo>
                  <a:pt x="3532" y="721"/>
                  <a:pt x="3521" y="728"/>
                  <a:pt x="3508" y="734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CuadroTexto 184"/>
          <p:cNvSpPr txBox="1"/>
          <p:nvPr/>
        </p:nvSpPr>
        <p:spPr>
          <a:xfrm>
            <a:off x="666720" y="3735360"/>
            <a:ext cx="4009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4. Nunca se pierde el origen.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Junto al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CuadroTexto 185"/>
          <p:cNvSpPr txBox="1"/>
          <p:nvPr/>
        </p:nvSpPr>
        <p:spPr>
          <a:xfrm>
            <a:off x="4728960" y="377244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8210520" y="3752640"/>
            <a:ext cx="1514520" cy="267120"/>
          </a:xfrm>
          <a:custGeom>
            <a:avLst/>
            <a:gdLst/>
            <a:ahLst/>
            <a:cxnLst/>
            <a:rect l="0" t="0" r="r" b="b"/>
            <a:pathLst>
              <a:path w="420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102" y="0"/>
                </a:lnTo>
                <a:cubicBezTo>
                  <a:pt x="4116" y="0"/>
                  <a:pt x="4129" y="3"/>
                  <a:pt x="4142" y="8"/>
                </a:cubicBezTo>
                <a:cubicBezTo>
                  <a:pt x="4155" y="14"/>
                  <a:pt x="4167" y="21"/>
                  <a:pt x="4176" y="31"/>
                </a:cubicBezTo>
                <a:cubicBezTo>
                  <a:pt x="4186" y="41"/>
                  <a:pt x="4194" y="52"/>
                  <a:pt x="4199" y="65"/>
                </a:cubicBezTo>
                <a:cubicBezTo>
                  <a:pt x="4205" y="78"/>
                  <a:pt x="4207" y="92"/>
                  <a:pt x="4207" y="106"/>
                </a:cubicBezTo>
                <a:lnTo>
                  <a:pt x="4207" y="636"/>
                </a:lnTo>
                <a:cubicBezTo>
                  <a:pt x="4207" y="650"/>
                  <a:pt x="4205" y="664"/>
                  <a:pt x="4199" y="677"/>
                </a:cubicBezTo>
                <a:cubicBezTo>
                  <a:pt x="4194" y="690"/>
                  <a:pt x="4186" y="701"/>
                  <a:pt x="4176" y="711"/>
                </a:cubicBezTo>
                <a:cubicBezTo>
                  <a:pt x="4167" y="721"/>
                  <a:pt x="4155" y="728"/>
                  <a:pt x="4142" y="734"/>
                </a:cubicBezTo>
                <a:cubicBezTo>
                  <a:pt x="4129" y="739"/>
                  <a:pt x="4116" y="742"/>
                  <a:pt x="4102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5955840" y="3735360"/>
            <a:ext cx="2257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estándar se guarda 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CuadroTexto 188"/>
          <p:cNvSpPr txBox="1"/>
          <p:nvPr/>
        </p:nvSpPr>
        <p:spPr>
          <a:xfrm>
            <a:off x="8266320" y="3772440"/>
            <a:ext cx="1410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source_value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9727200" y="3735360"/>
            <a:ext cx="1554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tal como venía.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866880" y="437544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condition_concept_id    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201826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SNOMED, estándar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CuadroTexto 191"/>
          <p:cNvSpPr txBox="1"/>
          <p:nvPr/>
        </p:nvSpPr>
        <p:spPr>
          <a:xfrm>
            <a:off x="866880" y="464220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condition_source_value  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'E11.9'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lo que dijo el hospital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CuadroTexto 192"/>
          <p:cNvSpPr txBox="1"/>
          <p:nvPr/>
        </p:nvSpPr>
        <p:spPr>
          <a:xfrm>
            <a:off x="866880" y="4899240"/>
            <a:ext cx="7752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condition_source_concept_id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45542738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ese ICD-10, como concepto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CuadroTexto 19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CuadroTexto 19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CuadroTexto 19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Forma libre 1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orma libre 1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CuadroTexto 199"/>
          <p:cNvSpPr txBox="1"/>
          <p:nvPr/>
        </p:nvSpPr>
        <p:spPr>
          <a:xfrm>
            <a:off x="2693520" y="3063960"/>
            <a:ext cx="69760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Las tablas clínicas centrales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CuadroTexto 20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CuadroTexto 20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CuadroTexto 20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Forma libre 2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orma libre 2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676080" y="1628640"/>
            <a:ext cx="2943720" cy="410040"/>
          </a:xfrm>
          <a:custGeom>
            <a:avLst/>
            <a:gdLst/>
            <a:ahLst/>
            <a:cxnLst/>
            <a:rect l="0" t="0" r="r" b="b"/>
            <a:pathLst>
              <a:path w="8177" h="1139">
                <a:moveTo>
                  <a:pt x="0" y="0"/>
                </a:moveTo>
                <a:lnTo>
                  <a:pt x="8177" y="0"/>
                </a:lnTo>
                <a:lnTo>
                  <a:pt x="817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3619440" y="1628640"/>
            <a:ext cx="3848400" cy="410040"/>
          </a:xfrm>
          <a:custGeom>
            <a:avLst/>
            <a:gdLst/>
            <a:ahLst/>
            <a:cxnLst/>
            <a:rect l="0" t="0" r="r" b="b"/>
            <a:pathLst>
              <a:path w="10690" h="1139">
                <a:moveTo>
                  <a:pt x="0" y="0"/>
                </a:moveTo>
                <a:lnTo>
                  <a:pt x="10690" y="0"/>
                </a:lnTo>
                <a:lnTo>
                  <a:pt x="1069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676080" y="1628640"/>
            <a:ext cx="2943720" cy="410040"/>
          </a:xfrm>
          <a:custGeom>
            <a:avLst/>
            <a:gdLst/>
            <a:ahLst/>
            <a:cxnLst/>
            <a:rect l="0" t="0" r="r" b="b"/>
            <a:pathLst>
              <a:path w="8177" h="1139">
                <a:moveTo>
                  <a:pt x="0" y="0"/>
                </a:moveTo>
                <a:lnTo>
                  <a:pt x="8177" y="0"/>
                </a:lnTo>
                <a:lnTo>
                  <a:pt x="817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3619440" y="1628640"/>
            <a:ext cx="3848400" cy="410040"/>
          </a:xfrm>
          <a:custGeom>
            <a:avLst/>
            <a:gdLst/>
            <a:ahLst/>
            <a:cxnLst/>
            <a:rect l="0" t="0" r="r" b="b"/>
            <a:pathLst>
              <a:path w="10690" h="1139">
                <a:moveTo>
                  <a:pt x="0" y="0"/>
                </a:moveTo>
                <a:lnTo>
                  <a:pt x="10690" y="0"/>
                </a:lnTo>
                <a:lnTo>
                  <a:pt x="1069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676080" y="2038320"/>
            <a:ext cx="2943720" cy="419400"/>
          </a:xfrm>
          <a:custGeom>
            <a:avLst/>
            <a:gdLst/>
            <a:ahLst/>
            <a:cxnLst/>
            <a:rect l="0" t="0" r="r" b="b"/>
            <a:pathLst>
              <a:path w="8177" h="1165">
                <a:moveTo>
                  <a:pt x="0" y="0"/>
                </a:moveTo>
                <a:lnTo>
                  <a:pt x="8177" y="0"/>
                </a:lnTo>
                <a:lnTo>
                  <a:pt x="81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3619440" y="2038320"/>
            <a:ext cx="3848400" cy="419400"/>
          </a:xfrm>
          <a:custGeom>
            <a:avLst/>
            <a:gdLst/>
            <a:ahLst/>
            <a:cxnLst/>
            <a:rect l="0" t="0" r="r" b="b"/>
            <a:pathLst>
              <a:path w="10690" h="1165">
                <a:moveTo>
                  <a:pt x="0" y="0"/>
                </a:moveTo>
                <a:lnTo>
                  <a:pt x="10690" y="0"/>
                </a:lnTo>
                <a:lnTo>
                  <a:pt x="10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676080" y="2457360"/>
            <a:ext cx="2943720" cy="419400"/>
          </a:xfrm>
          <a:custGeom>
            <a:avLst/>
            <a:gdLst/>
            <a:ahLst/>
            <a:cxnLst/>
            <a:rect l="0" t="0" r="r" b="b"/>
            <a:pathLst>
              <a:path w="8177" h="1165">
                <a:moveTo>
                  <a:pt x="0" y="0"/>
                </a:moveTo>
                <a:lnTo>
                  <a:pt x="8177" y="0"/>
                </a:lnTo>
                <a:lnTo>
                  <a:pt x="81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orma libre 213"/>
          <p:cNvSpPr/>
          <p:nvPr/>
        </p:nvSpPr>
        <p:spPr>
          <a:xfrm>
            <a:off x="3619440" y="2457360"/>
            <a:ext cx="3848400" cy="419400"/>
          </a:xfrm>
          <a:custGeom>
            <a:avLst/>
            <a:gdLst/>
            <a:ahLst/>
            <a:cxnLst/>
            <a:rect l="0" t="0" r="r" b="b"/>
            <a:pathLst>
              <a:path w="10690" h="1165">
                <a:moveTo>
                  <a:pt x="0" y="0"/>
                </a:moveTo>
                <a:lnTo>
                  <a:pt x="10690" y="0"/>
                </a:lnTo>
                <a:lnTo>
                  <a:pt x="10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a libre 214"/>
          <p:cNvSpPr/>
          <p:nvPr/>
        </p:nvSpPr>
        <p:spPr>
          <a:xfrm>
            <a:off x="676080" y="2876400"/>
            <a:ext cx="2943720" cy="419400"/>
          </a:xfrm>
          <a:custGeom>
            <a:avLst/>
            <a:gdLst/>
            <a:ahLst/>
            <a:cxnLst/>
            <a:rect l="0" t="0" r="r" b="b"/>
            <a:pathLst>
              <a:path w="8177" h="1165">
                <a:moveTo>
                  <a:pt x="0" y="0"/>
                </a:moveTo>
                <a:lnTo>
                  <a:pt x="8177" y="0"/>
                </a:lnTo>
                <a:lnTo>
                  <a:pt x="81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3619440" y="2876400"/>
            <a:ext cx="3848400" cy="419400"/>
          </a:xfrm>
          <a:custGeom>
            <a:avLst/>
            <a:gdLst/>
            <a:ahLst/>
            <a:cxnLst/>
            <a:rect l="0" t="0" r="r" b="b"/>
            <a:pathLst>
              <a:path w="10690" h="1165">
                <a:moveTo>
                  <a:pt x="0" y="0"/>
                </a:moveTo>
                <a:lnTo>
                  <a:pt x="10690" y="0"/>
                </a:lnTo>
                <a:lnTo>
                  <a:pt x="10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676080" y="3295440"/>
            <a:ext cx="2943720" cy="419400"/>
          </a:xfrm>
          <a:custGeom>
            <a:avLst/>
            <a:gdLst/>
            <a:ahLst/>
            <a:cxnLst/>
            <a:rect l="0" t="0" r="r" b="b"/>
            <a:pathLst>
              <a:path w="8177" h="1165">
                <a:moveTo>
                  <a:pt x="0" y="0"/>
                </a:moveTo>
                <a:lnTo>
                  <a:pt x="8177" y="0"/>
                </a:lnTo>
                <a:lnTo>
                  <a:pt x="81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3619440" y="3295440"/>
            <a:ext cx="3848400" cy="419400"/>
          </a:xfrm>
          <a:custGeom>
            <a:avLst/>
            <a:gdLst/>
            <a:ahLst/>
            <a:cxnLst/>
            <a:rect l="0" t="0" r="r" b="b"/>
            <a:pathLst>
              <a:path w="10690" h="1165">
                <a:moveTo>
                  <a:pt x="0" y="0"/>
                </a:moveTo>
                <a:lnTo>
                  <a:pt x="10690" y="0"/>
                </a:lnTo>
                <a:lnTo>
                  <a:pt x="10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676080" y="3714480"/>
            <a:ext cx="2943720" cy="419400"/>
          </a:xfrm>
          <a:custGeom>
            <a:avLst/>
            <a:gdLst/>
            <a:ahLst/>
            <a:cxnLst/>
            <a:rect l="0" t="0" r="r" b="b"/>
            <a:pathLst>
              <a:path w="8177" h="1165">
                <a:moveTo>
                  <a:pt x="0" y="0"/>
                </a:moveTo>
                <a:lnTo>
                  <a:pt x="8177" y="0"/>
                </a:lnTo>
                <a:lnTo>
                  <a:pt x="81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3619440" y="3714480"/>
            <a:ext cx="3848400" cy="419400"/>
          </a:xfrm>
          <a:custGeom>
            <a:avLst/>
            <a:gdLst/>
            <a:ahLst/>
            <a:cxnLst/>
            <a:rect l="0" t="0" r="r" b="b"/>
            <a:pathLst>
              <a:path w="10690" h="1165">
                <a:moveTo>
                  <a:pt x="0" y="0"/>
                </a:moveTo>
                <a:lnTo>
                  <a:pt x="10690" y="0"/>
                </a:lnTo>
                <a:lnTo>
                  <a:pt x="10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676080" y="4133520"/>
            <a:ext cx="2943720" cy="419760"/>
          </a:xfrm>
          <a:custGeom>
            <a:avLst/>
            <a:gdLst/>
            <a:ahLst/>
            <a:cxnLst/>
            <a:rect l="0" t="0" r="r" b="b"/>
            <a:pathLst>
              <a:path w="8177" h="1166">
                <a:moveTo>
                  <a:pt x="0" y="0"/>
                </a:moveTo>
                <a:lnTo>
                  <a:pt x="8177" y="0"/>
                </a:lnTo>
                <a:lnTo>
                  <a:pt x="817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3619440" y="4133520"/>
            <a:ext cx="3848400" cy="419760"/>
          </a:xfrm>
          <a:custGeom>
            <a:avLst/>
            <a:gdLst/>
            <a:ahLst/>
            <a:cxnLst/>
            <a:rect l="0" t="0" r="r" b="b"/>
            <a:pathLst>
              <a:path w="10690" h="1166">
                <a:moveTo>
                  <a:pt x="0" y="0"/>
                </a:moveTo>
                <a:lnTo>
                  <a:pt x="10690" y="0"/>
                </a:lnTo>
                <a:lnTo>
                  <a:pt x="1069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676080" y="4552920"/>
            <a:ext cx="2943720" cy="419400"/>
          </a:xfrm>
          <a:custGeom>
            <a:avLst/>
            <a:gdLst/>
            <a:ahLst/>
            <a:cxnLst/>
            <a:rect l="0" t="0" r="r" b="b"/>
            <a:pathLst>
              <a:path w="8177" h="1165">
                <a:moveTo>
                  <a:pt x="0" y="0"/>
                </a:moveTo>
                <a:lnTo>
                  <a:pt x="8177" y="0"/>
                </a:lnTo>
                <a:lnTo>
                  <a:pt x="81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3619440" y="4552920"/>
            <a:ext cx="3848400" cy="419400"/>
          </a:xfrm>
          <a:custGeom>
            <a:avLst/>
            <a:gdLst/>
            <a:ahLst/>
            <a:cxnLst/>
            <a:rect l="0" t="0" r="r" b="b"/>
            <a:pathLst>
              <a:path w="10690" h="1165">
                <a:moveTo>
                  <a:pt x="0" y="0"/>
                </a:moveTo>
                <a:lnTo>
                  <a:pt x="10690" y="0"/>
                </a:lnTo>
                <a:lnTo>
                  <a:pt x="10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676080" y="4971960"/>
            <a:ext cx="2943720" cy="419400"/>
          </a:xfrm>
          <a:custGeom>
            <a:avLst/>
            <a:gdLst/>
            <a:ahLst/>
            <a:cxnLst/>
            <a:rect l="0" t="0" r="r" b="b"/>
            <a:pathLst>
              <a:path w="8177" h="1165">
                <a:moveTo>
                  <a:pt x="0" y="0"/>
                </a:moveTo>
                <a:lnTo>
                  <a:pt x="8177" y="0"/>
                </a:lnTo>
                <a:lnTo>
                  <a:pt x="81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3619440" y="4971960"/>
            <a:ext cx="3848400" cy="419400"/>
          </a:xfrm>
          <a:custGeom>
            <a:avLst/>
            <a:gdLst/>
            <a:ahLst/>
            <a:cxnLst/>
            <a:rect l="0" t="0" r="r" b="b"/>
            <a:pathLst>
              <a:path w="10690" h="1165">
                <a:moveTo>
                  <a:pt x="0" y="0"/>
                </a:moveTo>
                <a:lnTo>
                  <a:pt x="10690" y="0"/>
                </a:lnTo>
                <a:lnTo>
                  <a:pt x="10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666720" y="16189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666720" y="1618920"/>
            <a:ext cx="2962440" cy="10080"/>
          </a:xfrm>
          <a:custGeom>
            <a:avLst/>
            <a:gdLst/>
            <a:ahLst/>
            <a:cxnLst/>
            <a:rect l="0" t="0" r="r" b="b"/>
            <a:pathLst>
              <a:path w="8229" h="28">
                <a:moveTo>
                  <a:pt x="0" y="0"/>
                </a:moveTo>
                <a:lnTo>
                  <a:pt x="8229" y="0"/>
                </a:lnTo>
                <a:lnTo>
                  <a:pt x="8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3619440" y="16189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3628800" y="1618920"/>
            <a:ext cx="3839040" cy="10080"/>
          </a:xfrm>
          <a:custGeom>
            <a:avLst/>
            <a:gdLst/>
            <a:ahLst/>
            <a:cxnLst/>
            <a:rect l="0" t="0" r="r" b="b"/>
            <a:pathLst>
              <a:path w="10664" h="28">
                <a:moveTo>
                  <a:pt x="0" y="0"/>
                </a:moveTo>
                <a:lnTo>
                  <a:pt x="10664" y="0"/>
                </a:lnTo>
                <a:lnTo>
                  <a:pt x="10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7457760" y="16189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666720" y="2028600"/>
            <a:ext cx="2962440" cy="10080"/>
          </a:xfrm>
          <a:custGeom>
            <a:avLst/>
            <a:gdLst/>
            <a:ahLst/>
            <a:cxnLst/>
            <a:rect l="0" t="0" r="r" b="b"/>
            <a:pathLst>
              <a:path w="8229" h="28">
                <a:moveTo>
                  <a:pt x="0" y="0"/>
                </a:moveTo>
                <a:lnTo>
                  <a:pt x="8229" y="0"/>
                </a:lnTo>
                <a:lnTo>
                  <a:pt x="8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3628800" y="2028600"/>
            <a:ext cx="3839040" cy="10080"/>
          </a:xfrm>
          <a:custGeom>
            <a:avLst/>
            <a:gdLst/>
            <a:ahLst/>
            <a:cxnLst/>
            <a:rect l="0" t="0" r="r" b="b"/>
            <a:pathLst>
              <a:path w="10664" h="28">
                <a:moveTo>
                  <a:pt x="0" y="0"/>
                </a:moveTo>
                <a:lnTo>
                  <a:pt x="10664" y="0"/>
                </a:lnTo>
                <a:lnTo>
                  <a:pt x="10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666720" y="2038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3619440" y="2038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7457760" y="2038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66672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666720" y="2447640"/>
            <a:ext cx="2962440" cy="10080"/>
          </a:xfrm>
          <a:custGeom>
            <a:avLst/>
            <a:gdLst/>
            <a:ahLst/>
            <a:cxnLst/>
            <a:rect l="0" t="0" r="r" b="b"/>
            <a:pathLst>
              <a:path w="8229" h="28">
                <a:moveTo>
                  <a:pt x="0" y="0"/>
                </a:moveTo>
                <a:lnTo>
                  <a:pt x="8229" y="0"/>
                </a:lnTo>
                <a:lnTo>
                  <a:pt x="8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361944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3628800" y="2447640"/>
            <a:ext cx="3839040" cy="10080"/>
          </a:xfrm>
          <a:custGeom>
            <a:avLst/>
            <a:gdLst/>
            <a:ahLst/>
            <a:cxnLst/>
            <a:rect l="0" t="0" r="r" b="b"/>
            <a:pathLst>
              <a:path w="10664" h="28">
                <a:moveTo>
                  <a:pt x="0" y="0"/>
                </a:moveTo>
                <a:lnTo>
                  <a:pt x="10664" y="0"/>
                </a:lnTo>
                <a:lnTo>
                  <a:pt x="10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a libre 240"/>
          <p:cNvSpPr/>
          <p:nvPr/>
        </p:nvSpPr>
        <p:spPr>
          <a:xfrm>
            <a:off x="7457760" y="2457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66672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666720" y="2866680"/>
            <a:ext cx="2962440" cy="10080"/>
          </a:xfrm>
          <a:custGeom>
            <a:avLst/>
            <a:gdLst/>
            <a:ahLst/>
            <a:cxnLst/>
            <a:rect l="0" t="0" r="r" b="b"/>
            <a:pathLst>
              <a:path w="8229" h="28">
                <a:moveTo>
                  <a:pt x="0" y="0"/>
                </a:moveTo>
                <a:lnTo>
                  <a:pt x="8229" y="0"/>
                </a:lnTo>
                <a:lnTo>
                  <a:pt x="8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361944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3628800" y="2866680"/>
            <a:ext cx="3839040" cy="10080"/>
          </a:xfrm>
          <a:custGeom>
            <a:avLst/>
            <a:gdLst/>
            <a:ahLst/>
            <a:cxnLst/>
            <a:rect l="0" t="0" r="r" b="b"/>
            <a:pathLst>
              <a:path w="10664" h="28">
                <a:moveTo>
                  <a:pt x="0" y="0"/>
                </a:moveTo>
                <a:lnTo>
                  <a:pt x="10664" y="0"/>
                </a:lnTo>
                <a:lnTo>
                  <a:pt x="10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7457760" y="2876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66672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666720" y="3286080"/>
            <a:ext cx="2962440" cy="9720"/>
          </a:xfrm>
          <a:custGeom>
            <a:avLst/>
            <a:gdLst/>
            <a:ahLst/>
            <a:cxnLst/>
            <a:rect l="0" t="0" r="r" b="b"/>
            <a:pathLst>
              <a:path w="8229" h="27">
                <a:moveTo>
                  <a:pt x="0" y="0"/>
                </a:moveTo>
                <a:lnTo>
                  <a:pt x="8229" y="0"/>
                </a:lnTo>
                <a:lnTo>
                  <a:pt x="8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361944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3628800" y="3286080"/>
            <a:ext cx="3839040" cy="9720"/>
          </a:xfrm>
          <a:custGeom>
            <a:avLst/>
            <a:gdLst/>
            <a:ahLst/>
            <a:cxnLst/>
            <a:rect l="0" t="0" r="r" b="b"/>
            <a:pathLst>
              <a:path w="10664" h="27">
                <a:moveTo>
                  <a:pt x="0" y="0"/>
                </a:moveTo>
                <a:lnTo>
                  <a:pt x="10664" y="0"/>
                </a:lnTo>
                <a:lnTo>
                  <a:pt x="10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7457760" y="32954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6667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666720" y="3705120"/>
            <a:ext cx="2962440" cy="9720"/>
          </a:xfrm>
          <a:custGeom>
            <a:avLst/>
            <a:gdLst/>
            <a:ahLst/>
            <a:cxnLst/>
            <a:rect l="0" t="0" r="r" b="b"/>
            <a:pathLst>
              <a:path w="8229" h="27">
                <a:moveTo>
                  <a:pt x="0" y="0"/>
                </a:moveTo>
                <a:lnTo>
                  <a:pt x="8229" y="0"/>
                </a:lnTo>
                <a:lnTo>
                  <a:pt x="8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361944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3628800" y="3705120"/>
            <a:ext cx="3839040" cy="9720"/>
          </a:xfrm>
          <a:custGeom>
            <a:avLst/>
            <a:gdLst/>
            <a:ahLst/>
            <a:cxnLst/>
            <a:rect l="0" t="0" r="r" b="b"/>
            <a:pathLst>
              <a:path w="10664" h="27">
                <a:moveTo>
                  <a:pt x="0" y="0"/>
                </a:moveTo>
                <a:lnTo>
                  <a:pt x="10664" y="0"/>
                </a:lnTo>
                <a:lnTo>
                  <a:pt x="10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745776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66672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666720" y="4124160"/>
            <a:ext cx="2962440" cy="9720"/>
          </a:xfrm>
          <a:custGeom>
            <a:avLst/>
            <a:gdLst/>
            <a:ahLst/>
            <a:cxnLst/>
            <a:rect l="0" t="0" r="r" b="b"/>
            <a:pathLst>
              <a:path w="8229" h="27">
                <a:moveTo>
                  <a:pt x="0" y="0"/>
                </a:moveTo>
                <a:lnTo>
                  <a:pt x="8229" y="0"/>
                </a:lnTo>
                <a:lnTo>
                  <a:pt x="8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361944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3628800" y="4124160"/>
            <a:ext cx="3839040" cy="9720"/>
          </a:xfrm>
          <a:custGeom>
            <a:avLst/>
            <a:gdLst/>
            <a:ahLst/>
            <a:cxnLst/>
            <a:rect l="0" t="0" r="r" b="b"/>
            <a:pathLst>
              <a:path w="10664" h="27">
                <a:moveTo>
                  <a:pt x="0" y="0"/>
                </a:moveTo>
                <a:lnTo>
                  <a:pt x="10664" y="0"/>
                </a:lnTo>
                <a:lnTo>
                  <a:pt x="10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7457760" y="41335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666720" y="4552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666720" y="4543200"/>
            <a:ext cx="2962440" cy="10080"/>
          </a:xfrm>
          <a:custGeom>
            <a:avLst/>
            <a:gdLst/>
            <a:ahLst/>
            <a:cxnLst/>
            <a:rect l="0" t="0" r="r" b="b"/>
            <a:pathLst>
              <a:path w="8229" h="28">
                <a:moveTo>
                  <a:pt x="0" y="0"/>
                </a:moveTo>
                <a:lnTo>
                  <a:pt x="8229" y="0"/>
                </a:lnTo>
                <a:lnTo>
                  <a:pt x="8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3619440" y="4552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3628800" y="4543200"/>
            <a:ext cx="3839040" cy="10080"/>
          </a:xfrm>
          <a:custGeom>
            <a:avLst/>
            <a:gdLst/>
            <a:ahLst/>
            <a:cxnLst/>
            <a:rect l="0" t="0" r="r" b="b"/>
            <a:pathLst>
              <a:path w="10664" h="28">
                <a:moveTo>
                  <a:pt x="0" y="0"/>
                </a:moveTo>
                <a:lnTo>
                  <a:pt x="10664" y="0"/>
                </a:lnTo>
                <a:lnTo>
                  <a:pt x="10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7457760" y="4552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666720" y="4971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666720" y="4962240"/>
            <a:ext cx="2962440" cy="10080"/>
          </a:xfrm>
          <a:custGeom>
            <a:avLst/>
            <a:gdLst/>
            <a:ahLst/>
            <a:cxnLst/>
            <a:rect l="0" t="0" r="r" b="b"/>
            <a:pathLst>
              <a:path w="8229" h="28">
                <a:moveTo>
                  <a:pt x="0" y="0"/>
                </a:moveTo>
                <a:lnTo>
                  <a:pt x="8229" y="0"/>
                </a:lnTo>
                <a:lnTo>
                  <a:pt x="8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3619440" y="4971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3628800" y="4962240"/>
            <a:ext cx="3839040" cy="10080"/>
          </a:xfrm>
          <a:custGeom>
            <a:avLst/>
            <a:gdLst/>
            <a:ahLst/>
            <a:cxnLst/>
            <a:rect l="0" t="0" r="r" b="b"/>
            <a:pathLst>
              <a:path w="10664" h="28">
                <a:moveTo>
                  <a:pt x="0" y="0"/>
                </a:moveTo>
                <a:lnTo>
                  <a:pt x="10664" y="0"/>
                </a:lnTo>
                <a:lnTo>
                  <a:pt x="10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orma libre 270"/>
          <p:cNvSpPr/>
          <p:nvPr/>
        </p:nvSpPr>
        <p:spPr>
          <a:xfrm>
            <a:off x="7457760" y="49719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666720" y="5381280"/>
            <a:ext cx="2962440" cy="10080"/>
          </a:xfrm>
          <a:custGeom>
            <a:avLst/>
            <a:gdLst/>
            <a:ahLst/>
            <a:cxnLst/>
            <a:rect l="0" t="0" r="r" b="b"/>
            <a:pathLst>
              <a:path w="8229" h="28">
                <a:moveTo>
                  <a:pt x="0" y="0"/>
                </a:moveTo>
                <a:lnTo>
                  <a:pt x="8229" y="0"/>
                </a:lnTo>
                <a:lnTo>
                  <a:pt x="8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a libre 272"/>
          <p:cNvSpPr/>
          <p:nvPr/>
        </p:nvSpPr>
        <p:spPr>
          <a:xfrm>
            <a:off x="3628800" y="5381280"/>
            <a:ext cx="3839040" cy="10080"/>
          </a:xfrm>
          <a:custGeom>
            <a:avLst/>
            <a:gdLst/>
            <a:ahLst/>
            <a:cxnLst/>
            <a:rect l="0" t="0" r="r" b="b"/>
            <a:pathLst>
              <a:path w="10664" h="28">
                <a:moveTo>
                  <a:pt x="0" y="0"/>
                </a:moveTo>
                <a:lnTo>
                  <a:pt x="10664" y="0"/>
                </a:lnTo>
                <a:lnTo>
                  <a:pt x="10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666720" y="987120"/>
            <a:ext cx="2243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mapa mínimo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CuadroTexto 274"/>
          <p:cNvSpPr txBox="1"/>
          <p:nvPr/>
        </p:nvSpPr>
        <p:spPr>
          <a:xfrm>
            <a:off x="1906200" y="1723680"/>
            <a:ext cx="501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Tabla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CuadroTexto 275"/>
          <p:cNvSpPr txBox="1"/>
          <p:nvPr/>
        </p:nvSpPr>
        <p:spPr>
          <a:xfrm>
            <a:off x="4922640" y="1723680"/>
            <a:ext cx="1242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Una ﬁla por…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CuadroTexto 276"/>
          <p:cNvSpPr txBox="1"/>
          <p:nvPr/>
        </p:nvSpPr>
        <p:spPr>
          <a:xfrm>
            <a:off x="799920" y="2133360"/>
            <a:ext cx="801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PERSON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3749400" y="2133360"/>
            <a:ext cx="1765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paciente (demografía)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CuadroTexto 278"/>
          <p:cNvSpPr txBox="1"/>
          <p:nvPr/>
        </p:nvSpPr>
        <p:spPr>
          <a:xfrm>
            <a:off x="799920" y="2552400"/>
            <a:ext cx="2208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OBSERVATION_PERIOD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CuadroTexto 279"/>
          <p:cNvSpPr txBox="1"/>
          <p:nvPr/>
        </p:nvSpPr>
        <p:spPr>
          <a:xfrm>
            <a:off x="3749400" y="2552400"/>
            <a:ext cx="3522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ventana en que el paciente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 observable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CuadroTexto 280"/>
          <p:cNvSpPr txBox="1"/>
          <p:nvPr/>
        </p:nvSpPr>
        <p:spPr>
          <a:xfrm>
            <a:off x="799920" y="2971440"/>
            <a:ext cx="1944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VISIT_OCCURRENCE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CuadroTexto 281"/>
          <p:cNvSpPr txBox="1"/>
          <p:nvPr/>
        </p:nvSpPr>
        <p:spPr>
          <a:xfrm>
            <a:off x="3749400" y="2971440"/>
            <a:ext cx="2809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encuentro con el sistema de salud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CuadroTexto 282"/>
          <p:cNvSpPr txBox="1"/>
          <p:nvPr/>
        </p:nvSpPr>
        <p:spPr>
          <a:xfrm>
            <a:off x="799920" y="3390480"/>
            <a:ext cx="2561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CONDITION_OCCURRENCE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3749400" y="3390480"/>
            <a:ext cx="1821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diagnóstico registrado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CuadroTexto 284"/>
          <p:cNvSpPr txBox="1"/>
          <p:nvPr/>
        </p:nvSpPr>
        <p:spPr>
          <a:xfrm>
            <a:off x="799920" y="3809520"/>
            <a:ext cx="171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DRUG_EXPOSURE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3749400" y="3809520"/>
            <a:ext cx="3592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prescripción, dispensación o administración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CuadroTexto 286"/>
          <p:cNvSpPr txBox="1"/>
          <p:nvPr/>
        </p:nvSpPr>
        <p:spPr>
          <a:xfrm>
            <a:off x="799920" y="4228560"/>
            <a:ext cx="1506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MEASUREMENT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3749400" y="4228560"/>
            <a:ext cx="3490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resultado con valor (laboratorio, signo vital)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799920" y="4647960"/>
            <a:ext cx="2692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PROCEDURE_OCCURRENCE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CuadroTexto 289"/>
          <p:cNvSpPr txBox="1"/>
          <p:nvPr/>
        </p:nvSpPr>
        <p:spPr>
          <a:xfrm>
            <a:off x="3749400" y="4647960"/>
            <a:ext cx="1175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procedimiento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CuadroTexto 290"/>
          <p:cNvSpPr txBox="1"/>
          <p:nvPr/>
        </p:nvSpPr>
        <p:spPr>
          <a:xfrm>
            <a:off x="799920" y="5067000"/>
            <a:ext cx="653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DEATH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CuadroTexto 291"/>
          <p:cNvSpPr txBox="1"/>
          <p:nvPr/>
        </p:nvSpPr>
        <p:spPr>
          <a:xfrm>
            <a:off x="3749400" y="5067000"/>
            <a:ext cx="805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defunción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AC543DE-D4EF-C96F-A5D4-715B0DA6D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13" y="791122"/>
            <a:ext cx="10483173" cy="527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97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Forma libre 2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orma libre 2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671400" y="3090600"/>
            <a:ext cx="10849320" cy="2676960"/>
          </a:xfrm>
          <a:custGeom>
            <a:avLst/>
            <a:gdLst/>
            <a:ahLst/>
            <a:cxnLst/>
            <a:rect l="0" t="0" r="r" b="b"/>
            <a:pathLst>
              <a:path w="30137" h="7436">
                <a:moveTo>
                  <a:pt x="0" y="723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238"/>
                </a:lnTo>
                <a:cubicBezTo>
                  <a:pt x="30137" y="7251"/>
                  <a:pt x="30136" y="7264"/>
                  <a:pt x="30133" y="7276"/>
                </a:cubicBezTo>
                <a:cubicBezTo>
                  <a:pt x="30130" y="7289"/>
                  <a:pt x="30127" y="7301"/>
                  <a:pt x="30122" y="7314"/>
                </a:cubicBezTo>
                <a:cubicBezTo>
                  <a:pt x="30117" y="7326"/>
                  <a:pt x="30111" y="7337"/>
                  <a:pt x="30103" y="7348"/>
                </a:cubicBezTo>
                <a:cubicBezTo>
                  <a:pt x="30096" y="7359"/>
                  <a:pt x="30088" y="7369"/>
                  <a:pt x="30079" y="7378"/>
                </a:cubicBezTo>
                <a:cubicBezTo>
                  <a:pt x="30070" y="7387"/>
                  <a:pt x="30059" y="7395"/>
                  <a:pt x="30049" y="7403"/>
                </a:cubicBezTo>
                <a:cubicBezTo>
                  <a:pt x="30038" y="7410"/>
                  <a:pt x="30026" y="7416"/>
                  <a:pt x="30014" y="7421"/>
                </a:cubicBezTo>
                <a:cubicBezTo>
                  <a:pt x="30002" y="7426"/>
                  <a:pt x="29990" y="7430"/>
                  <a:pt x="29977" y="7432"/>
                </a:cubicBezTo>
                <a:cubicBezTo>
                  <a:pt x="29964" y="7435"/>
                  <a:pt x="29951" y="7436"/>
                  <a:pt x="29938" y="7436"/>
                </a:cubicBezTo>
                <a:lnTo>
                  <a:pt x="198" y="7436"/>
                </a:lnTo>
                <a:cubicBezTo>
                  <a:pt x="185" y="7436"/>
                  <a:pt x="172" y="7435"/>
                  <a:pt x="160" y="7432"/>
                </a:cubicBezTo>
                <a:cubicBezTo>
                  <a:pt x="147" y="7430"/>
                  <a:pt x="134" y="7426"/>
                  <a:pt x="122" y="7421"/>
                </a:cubicBezTo>
                <a:cubicBezTo>
                  <a:pt x="110" y="7416"/>
                  <a:pt x="99" y="7410"/>
                  <a:pt x="88" y="7403"/>
                </a:cubicBezTo>
                <a:cubicBezTo>
                  <a:pt x="77" y="7395"/>
                  <a:pt x="67" y="7387"/>
                  <a:pt x="58" y="7378"/>
                </a:cubicBezTo>
                <a:cubicBezTo>
                  <a:pt x="49" y="7369"/>
                  <a:pt x="40" y="7359"/>
                  <a:pt x="33" y="7348"/>
                </a:cubicBezTo>
                <a:cubicBezTo>
                  <a:pt x="26" y="7337"/>
                  <a:pt x="20" y="7326"/>
                  <a:pt x="15" y="7314"/>
                </a:cubicBezTo>
                <a:cubicBezTo>
                  <a:pt x="10" y="7301"/>
                  <a:pt x="6" y="7289"/>
                  <a:pt x="4" y="7276"/>
                </a:cubicBezTo>
                <a:cubicBezTo>
                  <a:pt x="1" y="7264"/>
                  <a:pt x="0" y="7251"/>
                  <a:pt x="0" y="723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671400" y="3090600"/>
            <a:ext cx="10849320" cy="2676960"/>
          </a:xfrm>
          <a:custGeom>
            <a:avLst/>
            <a:gdLst/>
            <a:ahLst/>
            <a:cxnLst/>
            <a:rect l="0" t="0" r="r" b="b"/>
            <a:pathLst>
              <a:path w="30137" h="7436">
                <a:moveTo>
                  <a:pt x="0" y="723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238"/>
                </a:lnTo>
                <a:cubicBezTo>
                  <a:pt x="30137" y="7251"/>
                  <a:pt x="30136" y="7264"/>
                  <a:pt x="30133" y="7276"/>
                </a:cubicBezTo>
                <a:cubicBezTo>
                  <a:pt x="30130" y="7289"/>
                  <a:pt x="30127" y="7301"/>
                  <a:pt x="30122" y="7314"/>
                </a:cubicBezTo>
                <a:cubicBezTo>
                  <a:pt x="30117" y="7326"/>
                  <a:pt x="30111" y="7337"/>
                  <a:pt x="30103" y="7348"/>
                </a:cubicBezTo>
                <a:cubicBezTo>
                  <a:pt x="30096" y="7359"/>
                  <a:pt x="30088" y="7369"/>
                  <a:pt x="30079" y="7378"/>
                </a:cubicBezTo>
                <a:cubicBezTo>
                  <a:pt x="30070" y="7387"/>
                  <a:pt x="30059" y="7395"/>
                  <a:pt x="30049" y="7403"/>
                </a:cubicBezTo>
                <a:cubicBezTo>
                  <a:pt x="30038" y="7410"/>
                  <a:pt x="30026" y="7416"/>
                  <a:pt x="30014" y="7421"/>
                </a:cubicBezTo>
                <a:cubicBezTo>
                  <a:pt x="30002" y="7426"/>
                  <a:pt x="29990" y="7430"/>
                  <a:pt x="29977" y="7432"/>
                </a:cubicBezTo>
                <a:cubicBezTo>
                  <a:pt x="29964" y="7435"/>
                  <a:pt x="29951" y="7436"/>
                  <a:pt x="29938" y="7436"/>
                </a:cubicBezTo>
                <a:lnTo>
                  <a:pt x="198" y="7436"/>
                </a:lnTo>
                <a:cubicBezTo>
                  <a:pt x="185" y="7436"/>
                  <a:pt x="172" y="7435"/>
                  <a:pt x="160" y="7432"/>
                </a:cubicBezTo>
                <a:cubicBezTo>
                  <a:pt x="147" y="7430"/>
                  <a:pt x="134" y="7426"/>
                  <a:pt x="122" y="7421"/>
                </a:cubicBezTo>
                <a:cubicBezTo>
                  <a:pt x="110" y="7416"/>
                  <a:pt x="99" y="7410"/>
                  <a:pt x="88" y="7403"/>
                </a:cubicBezTo>
                <a:cubicBezTo>
                  <a:pt x="77" y="7395"/>
                  <a:pt x="67" y="7387"/>
                  <a:pt x="58" y="7378"/>
                </a:cubicBezTo>
                <a:cubicBezTo>
                  <a:pt x="49" y="7369"/>
                  <a:pt x="40" y="7359"/>
                  <a:pt x="33" y="7348"/>
                </a:cubicBezTo>
                <a:cubicBezTo>
                  <a:pt x="26" y="7337"/>
                  <a:pt x="20" y="7326"/>
                  <a:pt x="15" y="7314"/>
                </a:cubicBezTo>
                <a:cubicBezTo>
                  <a:pt x="10" y="7301"/>
                  <a:pt x="6" y="7289"/>
                  <a:pt x="4" y="7276"/>
                </a:cubicBezTo>
                <a:cubicBezTo>
                  <a:pt x="1" y="7264"/>
                  <a:pt x="0" y="7251"/>
                  <a:pt x="0" y="723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666720" y="1104840"/>
            <a:ext cx="3581640" cy="381240"/>
          </a:xfrm>
          <a:custGeom>
            <a:avLst/>
            <a:gdLst/>
            <a:ahLst/>
            <a:cxnLst/>
            <a:rect l="0" t="0" r="r" b="b"/>
            <a:pathLst>
              <a:path w="9949" h="1059">
                <a:moveTo>
                  <a:pt x="0" y="953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9843" y="0"/>
                </a:lnTo>
                <a:cubicBezTo>
                  <a:pt x="9857" y="0"/>
                  <a:pt x="9871" y="2"/>
                  <a:pt x="9884" y="8"/>
                </a:cubicBezTo>
                <a:cubicBezTo>
                  <a:pt x="9897" y="13"/>
                  <a:pt x="9908" y="21"/>
                  <a:pt x="9918" y="31"/>
                </a:cubicBezTo>
                <a:cubicBezTo>
                  <a:pt x="9928" y="41"/>
                  <a:pt x="9935" y="52"/>
                  <a:pt x="9941" y="65"/>
                </a:cubicBezTo>
                <a:cubicBezTo>
                  <a:pt x="9946" y="78"/>
                  <a:pt x="9949" y="91"/>
                  <a:pt x="9949" y="105"/>
                </a:cubicBezTo>
                <a:lnTo>
                  <a:pt x="9949" y="953"/>
                </a:lnTo>
                <a:cubicBezTo>
                  <a:pt x="9949" y="967"/>
                  <a:pt x="9946" y="981"/>
                  <a:pt x="9941" y="994"/>
                </a:cubicBezTo>
                <a:cubicBezTo>
                  <a:pt x="9935" y="1007"/>
                  <a:pt x="9928" y="1018"/>
                  <a:pt x="9918" y="1028"/>
                </a:cubicBezTo>
                <a:cubicBezTo>
                  <a:pt x="9908" y="1038"/>
                  <a:pt x="9897" y="1046"/>
                  <a:pt x="9884" y="1051"/>
                </a:cubicBezTo>
                <a:cubicBezTo>
                  <a:pt x="9871" y="1056"/>
                  <a:pt x="9857" y="1059"/>
                  <a:pt x="9843" y="1059"/>
                </a:cubicBezTo>
                <a:lnTo>
                  <a:pt x="105" y="1059"/>
                </a:lnTo>
                <a:cubicBezTo>
                  <a:pt x="91" y="1059"/>
                  <a:pt x="78" y="1056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CuadroTexto 304"/>
          <p:cNvSpPr txBox="1"/>
          <p:nvPr/>
        </p:nvSpPr>
        <p:spPr>
          <a:xfrm>
            <a:off x="731520" y="1109160"/>
            <a:ext cx="35186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OBSERVATION_PERIOD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CuadroTexto 306"/>
          <p:cNvSpPr txBox="1"/>
          <p:nvPr/>
        </p:nvSpPr>
        <p:spPr>
          <a:xfrm>
            <a:off x="666720" y="1792080"/>
            <a:ext cx="6684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Deﬁne cuándo el paciente era «visible» para la base de datos.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CuadroTexto 307"/>
          <p:cNvSpPr txBox="1"/>
          <p:nvPr/>
        </p:nvSpPr>
        <p:spPr>
          <a:xfrm>
            <a:off x="666720" y="2287440"/>
            <a:ext cx="10650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paciente con un seguro de 2019 a 2022: fuera de esa ventana, la ausencia de diagnósticos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signiﬁca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CuadroTexto 308"/>
          <p:cNvSpPr txBox="1"/>
          <p:nvPr/>
        </p:nvSpPr>
        <p:spPr>
          <a:xfrm>
            <a:off x="666720" y="2630520"/>
            <a:ext cx="5797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que estuviera sano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signiﬁca que no lo estabas viendo.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866880" y="327060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Mal: cuenta eventos que quizá no eran observables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866880" y="3537360"/>
            <a:ext cx="4586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condition_occurrence;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866880" y="406116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Bien: sólo lo que ocurrió dentro de la ventana de observación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866880" y="4318200"/>
            <a:ext cx="1638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866880" y="458496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condition_occurrence co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866880" y="484236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observation_period op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op.person_id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CuadroTexto 315"/>
          <p:cNvSpPr txBox="1"/>
          <p:nvPr/>
        </p:nvSpPr>
        <p:spPr>
          <a:xfrm>
            <a:off x="866880" y="5108760"/>
            <a:ext cx="7752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co.condition_start_date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BETWEEN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op.observation_period_start_date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CuadroTexto 316"/>
          <p:cNvSpPr txBox="1"/>
          <p:nvPr/>
        </p:nvSpPr>
        <p:spPr>
          <a:xfrm>
            <a:off x="866880" y="5366160"/>
            <a:ext cx="764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op.observation_period_end_date;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Forma libre 3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orma libre 3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a libre 323"/>
          <p:cNvSpPr/>
          <p:nvPr/>
        </p:nvSpPr>
        <p:spPr>
          <a:xfrm>
            <a:off x="671400" y="172872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7"/>
                </a:cubicBezTo>
                <a:cubicBezTo>
                  <a:pt x="30130" y="8770"/>
                  <a:pt x="30127" y="8783"/>
                  <a:pt x="30122" y="8795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6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3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3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6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5"/>
                </a:cubicBezTo>
                <a:cubicBezTo>
                  <a:pt x="10" y="8783"/>
                  <a:pt x="6" y="8770"/>
                  <a:pt x="4" y="8757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671400" y="172872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7"/>
                </a:cubicBezTo>
                <a:cubicBezTo>
                  <a:pt x="30130" y="8770"/>
                  <a:pt x="30127" y="8783"/>
                  <a:pt x="30122" y="8795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6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3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3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6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5"/>
                </a:cubicBezTo>
                <a:cubicBezTo>
                  <a:pt x="10" y="8783"/>
                  <a:pt x="6" y="8770"/>
                  <a:pt x="4" y="8757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666720" y="1091880"/>
            <a:ext cx="7065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Todas las tablas de eventos tienen la misma forma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866880" y="1908360"/>
            <a:ext cx="3822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CREATE TABLE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condition_occurrence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CuadroTexto 327"/>
          <p:cNvSpPr txBox="1"/>
          <p:nvPr/>
        </p:nvSpPr>
        <p:spPr>
          <a:xfrm>
            <a:off x="866880" y="2175120"/>
            <a:ext cx="6770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condition_occurrence_id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BIGINT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llave primaria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866880" y="2432520"/>
            <a:ext cx="6115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person_id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BIGINT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de quién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866880" y="2698920"/>
            <a:ext cx="6770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condition_concept_id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BIGINT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QUÉ (estándar)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CuadroTexto 330"/>
          <p:cNvSpPr txBox="1"/>
          <p:nvPr/>
        </p:nvSpPr>
        <p:spPr>
          <a:xfrm>
            <a:off x="866880" y="295632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condition_start_date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DATE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cuándo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CuadroTexto 331"/>
          <p:cNvSpPr txBox="1"/>
          <p:nvPr/>
        </p:nvSpPr>
        <p:spPr>
          <a:xfrm>
            <a:off x="866880" y="322308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condition_end_date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DATE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866880" y="3480120"/>
            <a:ext cx="7643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condition_type_concept_id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BIGINT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de dónde salió el dato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CuadroTexto 333"/>
          <p:cNvSpPr txBox="1"/>
          <p:nvPr/>
        </p:nvSpPr>
        <p:spPr>
          <a:xfrm>
            <a:off x="866880" y="374688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condition_source_value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VARCHAR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el original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CuadroTexto 334"/>
          <p:cNvSpPr txBox="1"/>
          <p:nvPr/>
        </p:nvSpPr>
        <p:spPr>
          <a:xfrm>
            <a:off x="866880" y="4003920"/>
            <a:ext cx="4368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condition_source_concept_id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BIGINT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CuadroTexto 335"/>
          <p:cNvSpPr txBox="1"/>
          <p:nvPr/>
        </p:nvSpPr>
        <p:spPr>
          <a:xfrm>
            <a:off x="866880" y="4270680"/>
            <a:ext cx="6989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visit_occurrence_id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BIGINT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en qué encuentro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866880" y="4527720"/>
            <a:ext cx="21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a libre 337"/>
          <p:cNvSpPr/>
          <p:nvPr/>
        </p:nvSpPr>
        <p:spPr>
          <a:xfrm>
            <a:off x="4086000" y="5152680"/>
            <a:ext cx="1638720" cy="267120"/>
          </a:xfrm>
          <a:custGeom>
            <a:avLst/>
            <a:gdLst/>
            <a:ahLst/>
            <a:cxnLst/>
            <a:rect l="0" t="0" r="r" b="b"/>
            <a:pathLst>
              <a:path w="455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lnTo>
                  <a:pt x="4446" y="0"/>
                </a:lnTo>
                <a:cubicBezTo>
                  <a:pt x="4460" y="0"/>
                  <a:pt x="4474" y="3"/>
                  <a:pt x="4487" y="9"/>
                </a:cubicBezTo>
                <a:cubicBezTo>
                  <a:pt x="4500" y="14"/>
                  <a:pt x="4511" y="22"/>
                  <a:pt x="4521" y="31"/>
                </a:cubicBezTo>
                <a:cubicBezTo>
                  <a:pt x="4531" y="41"/>
                  <a:pt x="4539" y="53"/>
                  <a:pt x="4544" y="66"/>
                </a:cubicBezTo>
                <a:cubicBezTo>
                  <a:pt x="4549" y="79"/>
                  <a:pt x="4552" y="92"/>
                  <a:pt x="4552" y="106"/>
                </a:cubicBezTo>
                <a:lnTo>
                  <a:pt x="4552" y="636"/>
                </a:lnTo>
                <a:cubicBezTo>
                  <a:pt x="4552" y="650"/>
                  <a:pt x="4549" y="664"/>
                  <a:pt x="4544" y="677"/>
                </a:cubicBezTo>
                <a:cubicBezTo>
                  <a:pt x="4539" y="690"/>
                  <a:pt x="4531" y="701"/>
                  <a:pt x="4521" y="711"/>
                </a:cubicBezTo>
                <a:cubicBezTo>
                  <a:pt x="4511" y="721"/>
                  <a:pt x="4500" y="729"/>
                  <a:pt x="4487" y="734"/>
                </a:cubicBezTo>
                <a:cubicBezTo>
                  <a:pt x="4474" y="740"/>
                  <a:pt x="4460" y="742"/>
                  <a:pt x="4446" y="742"/>
                </a:cubicBezTo>
                <a:lnTo>
                  <a:pt x="107" y="742"/>
                </a:lnTo>
                <a:cubicBezTo>
                  <a:pt x="93" y="742"/>
                  <a:pt x="79" y="740"/>
                  <a:pt x="66" y="734"/>
                </a:cubicBezTo>
                <a:cubicBezTo>
                  <a:pt x="53" y="729"/>
                  <a:pt x="42" y="721"/>
                  <a:pt x="32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666720" y="5135400"/>
            <a:ext cx="3426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Aprendes una, las conoces todas: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CuadroTexto 339"/>
          <p:cNvSpPr txBox="1"/>
          <p:nvPr/>
        </p:nvSpPr>
        <p:spPr>
          <a:xfrm>
            <a:off x="4145760" y="517284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drug_exposure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5848200" y="5152680"/>
            <a:ext cx="1400400" cy="267120"/>
          </a:xfrm>
          <a:custGeom>
            <a:avLst/>
            <a:gdLst/>
            <a:ahLst/>
            <a:cxnLst/>
            <a:rect l="0" t="0" r="r" b="b"/>
            <a:pathLst>
              <a:path w="389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3784" y="0"/>
                </a:lnTo>
                <a:cubicBezTo>
                  <a:pt x="3798" y="0"/>
                  <a:pt x="3812" y="3"/>
                  <a:pt x="3825" y="9"/>
                </a:cubicBezTo>
                <a:cubicBezTo>
                  <a:pt x="3838" y="14"/>
                  <a:pt x="3849" y="22"/>
                  <a:pt x="3859" y="31"/>
                </a:cubicBezTo>
                <a:cubicBezTo>
                  <a:pt x="3869" y="41"/>
                  <a:pt x="3877" y="53"/>
                  <a:pt x="3882" y="66"/>
                </a:cubicBezTo>
                <a:cubicBezTo>
                  <a:pt x="3888" y="79"/>
                  <a:pt x="3890" y="92"/>
                  <a:pt x="3890" y="106"/>
                </a:cubicBezTo>
                <a:lnTo>
                  <a:pt x="3890" y="636"/>
                </a:lnTo>
                <a:cubicBezTo>
                  <a:pt x="3890" y="650"/>
                  <a:pt x="3888" y="664"/>
                  <a:pt x="3882" y="677"/>
                </a:cubicBezTo>
                <a:cubicBezTo>
                  <a:pt x="3877" y="690"/>
                  <a:pt x="3869" y="701"/>
                  <a:pt x="3859" y="711"/>
                </a:cubicBezTo>
                <a:cubicBezTo>
                  <a:pt x="3849" y="721"/>
                  <a:pt x="3838" y="729"/>
                  <a:pt x="3825" y="734"/>
                </a:cubicBezTo>
                <a:cubicBezTo>
                  <a:pt x="3812" y="740"/>
                  <a:pt x="3798" y="742"/>
                  <a:pt x="3784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CuadroTexto 341"/>
          <p:cNvSpPr txBox="1"/>
          <p:nvPr/>
        </p:nvSpPr>
        <p:spPr>
          <a:xfrm>
            <a:off x="5723640" y="51354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CuadroTexto 342"/>
          <p:cNvSpPr txBox="1"/>
          <p:nvPr/>
        </p:nvSpPr>
        <p:spPr>
          <a:xfrm>
            <a:off x="5907960" y="517284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measurement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7486560" y="5152680"/>
            <a:ext cx="2448360" cy="267120"/>
          </a:xfrm>
          <a:custGeom>
            <a:avLst/>
            <a:gdLst/>
            <a:ahLst/>
            <a:cxnLst/>
            <a:rect l="0" t="0" r="r" b="b"/>
            <a:pathLst>
              <a:path w="680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6695" y="0"/>
                </a:lnTo>
                <a:cubicBezTo>
                  <a:pt x="6709" y="0"/>
                  <a:pt x="6722" y="3"/>
                  <a:pt x="6735" y="9"/>
                </a:cubicBezTo>
                <a:cubicBezTo>
                  <a:pt x="6748" y="14"/>
                  <a:pt x="6760" y="22"/>
                  <a:pt x="6770" y="31"/>
                </a:cubicBezTo>
                <a:cubicBezTo>
                  <a:pt x="6779" y="41"/>
                  <a:pt x="6787" y="53"/>
                  <a:pt x="6792" y="66"/>
                </a:cubicBezTo>
                <a:cubicBezTo>
                  <a:pt x="6798" y="79"/>
                  <a:pt x="6801" y="92"/>
                  <a:pt x="6801" y="106"/>
                </a:cubicBezTo>
                <a:lnTo>
                  <a:pt x="6801" y="636"/>
                </a:lnTo>
                <a:cubicBezTo>
                  <a:pt x="6801" y="650"/>
                  <a:pt x="6798" y="664"/>
                  <a:pt x="6792" y="677"/>
                </a:cubicBezTo>
                <a:cubicBezTo>
                  <a:pt x="6787" y="690"/>
                  <a:pt x="6779" y="701"/>
                  <a:pt x="6770" y="711"/>
                </a:cubicBezTo>
                <a:cubicBezTo>
                  <a:pt x="6760" y="721"/>
                  <a:pt x="6748" y="729"/>
                  <a:pt x="6735" y="734"/>
                </a:cubicBezTo>
                <a:cubicBezTo>
                  <a:pt x="6722" y="740"/>
                  <a:pt x="6709" y="742"/>
                  <a:pt x="6695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CuadroTexto 344"/>
          <p:cNvSpPr txBox="1"/>
          <p:nvPr/>
        </p:nvSpPr>
        <p:spPr>
          <a:xfrm>
            <a:off x="7252200" y="513540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CuadroTexto 345"/>
          <p:cNvSpPr txBox="1"/>
          <p:nvPr/>
        </p:nvSpPr>
        <p:spPr>
          <a:xfrm>
            <a:off x="7542360" y="517284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procedure_occurrence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CuadroTexto 346"/>
          <p:cNvSpPr txBox="1"/>
          <p:nvPr/>
        </p:nvSpPr>
        <p:spPr>
          <a:xfrm>
            <a:off x="9939240" y="5135400"/>
            <a:ext cx="932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siguen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CuadroTexto 347"/>
          <p:cNvSpPr txBox="1"/>
          <p:nvPr/>
        </p:nvSpPr>
        <p:spPr>
          <a:xfrm>
            <a:off x="666720" y="5478480"/>
            <a:ext cx="2811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mismo patrón con su preﬁjo.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CuadroTexto 34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CuadroTexto 34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Forma libre 3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6848744" y="3082150"/>
            <a:ext cx="2429280" cy="619560"/>
          </a:xfrm>
          <a:custGeom>
            <a:avLst/>
            <a:gdLst/>
            <a:ahLst/>
            <a:cxnLst/>
            <a:rect l="0" t="0" r="r" b="b"/>
            <a:pathLst>
              <a:path w="6748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642" y="0"/>
                </a:lnTo>
                <a:cubicBezTo>
                  <a:pt x="6656" y="0"/>
                  <a:pt x="6669" y="3"/>
                  <a:pt x="6682" y="8"/>
                </a:cubicBezTo>
                <a:cubicBezTo>
                  <a:pt x="6695" y="14"/>
                  <a:pt x="6707" y="21"/>
                  <a:pt x="6717" y="31"/>
                </a:cubicBezTo>
                <a:cubicBezTo>
                  <a:pt x="6726" y="41"/>
                  <a:pt x="6734" y="52"/>
                  <a:pt x="6739" y="65"/>
                </a:cubicBezTo>
                <a:cubicBezTo>
                  <a:pt x="6745" y="78"/>
                  <a:pt x="6748" y="92"/>
                  <a:pt x="6748" y="106"/>
                </a:cubicBezTo>
                <a:lnTo>
                  <a:pt x="6748" y="1615"/>
                </a:lnTo>
                <a:cubicBezTo>
                  <a:pt x="6748" y="1629"/>
                  <a:pt x="6745" y="1643"/>
                  <a:pt x="6739" y="1656"/>
                </a:cubicBezTo>
                <a:cubicBezTo>
                  <a:pt x="6734" y="1669"/>
                  <a:pt x="6726" y="1680"/>
                  <a:pt x="6717" y="1690"/>
                </a:cubicBezTo>
                <a:cubicBezTo>
                  <a:pt x="6707" y="1700"/>
                  <a:pt x="6695" y="1707"/>
                  <a:pt x="6682" y="1713"/>
                </a:cubicBezTo>
                <a:cubicBezTo>
                  <a:pt x="6669" y="1718"/>
                  <a:pt x="6656" y="1721"/>
                  <a:pt x="6642" y="1721"/>
                </a:cubicBezTo>
                <a:lnTo>
                  <a:pt x="105" y="1721"/>
                </a:lnTo>
                <a:cubicBezTo>
                  <a:pt x="91" y="1721"/>
                  <a:pt x="78" y="1718"/>
                  <a:pt x="65" y="1713"/>
                </a:cubicBezTo>
                <a:cubicBezTo>
                  <a:pt x="52" y="1707"/>
                  <a:pt x="41" y="1700"/>
                  <a:pt x="31" y="1690"/>
                </a:cubicBezTo>
                <a:cubicBezTo>
                  <a:pt x="21" y="1680"/>
                  <a:pt x="13" y="1669"/>
                  <a:pt x="8" y="1656"/>
                </a:cubicBezTo>
                <a:cubicBezTo>
                  <a:pt x="2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CuadroTexto 355"/>
          <p:cNvSpPr txBox="1"/>
          <p:nvPr/>
        </p:nvSpPr>
        <p:spPr>
          <a:xfrm>
            <a:off x="3631320" y="3054600"/>
            <a:ext cx="25700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La tabla 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CuadroTexto 356"/>
          <p:cNvSpPr txBox="1"/>
          <p:nvPr/>
        </p:nvSpPr>
        <p:spPr>
          <a:xfrm>
            <a:off x="7029464" y="3079630"/>
            <a:ext cx="224856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CuadroTexto 35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CuadroTexto 35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CuadroTexto 35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Forma libre 3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671400" y="13762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671400" y="13762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676080" y="2381040"/>
            <a:ext cx="1257840" cy="410040"/>
          </a:xfrm>
          <a:custGeom>
            <a:avLst/>
            <a:gdLst/>
            <a:ahLst/>
            <a:cxnLst/>
            <a:rect l="0" t="0" r="r" b="b"/>
            <a:pathLst>
              <a:path w="3494" h="1139">
                <a:moveTo>
                  <a:pt x="0" y="0"/>
                </a:moveTo>
                <a:lnTo>
                  <a:pt x="3494" y="0"/>
                </a:lnTo>
                <a:lnTo>
                  <a:pt x="34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1933560" y="2381040"/>
            <a:ext cx="3057840" cy="410040"/>
          </a:xfrm>
          <a:custGeom>
            <a:avLst/>
            <a:gdLst/>
            <a:ahLst/>
            <a:cxnLst/>
            <a:rect l="0" t="0" r="r" b="b"/>
            <a:pathLst>
              <a:path w="8494" h="1139">
                <a:moveTo>
                  <a:pt x="0" y="0"/>
                </a:moveTo>
                <a:lnTo>
                  <a:pt x="8494" y="0"/>
                </a:lnTo>
                <a:lnTo>
                  <a:pt x="84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4991040" y="2381040"/>
            <a:ext cx="1038600" cy="410040"/>
          </a:xfrm>
          <a:custGeom>
            <a:avLst/>
            <a:gdLst/>
            <a:ahLst/>
            <a:cxnLst/>
            <a:rect l="0" t="0" r="r" b="b"/>
            <a:pathLst>
              <a:path w="2885" h="1139">
                <a:moveTo>
                  <a:pt x="0" y="0"/>
                </a:moveTo>
                <a:lnTo>
                  <a:pt x="2885" y="0"/>
                </a:lnTo>
                <a:lnTo>
                  <a:pt x="288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6029280" y="2381040"/>
            <a:ext cx="1257480" cy="410040"/>
          </a:xfrm>
          <a:custGeom>
            <a:avLst/>
            <a:gdLst/>
            <a:ahLst/>
            <a:cxnLst/>
            <a:rect l="0" t="0" r="r" b="b"/>
            <a:pathLst>
              <a:path w="3493" h="1139">
                <a:moveTo>
                  <a:pt x="0" y="0"/>
                </a:moveTo>
                <a:lnTo>
                  <a:pt x="3493" y="0"/>
                </a:lnTo>
                <a:lnTo>
                  <a:pt x="349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7286400" y="2381040"/>
            <a:ext cx="1057680" cy="410040"/>
          </a:xfrm>
          <a:custGeom>
            <a:avLst/>
            <a:gdLst/>
            <a:ahLst/>
            <a:cxnLst/>
            <a:rect l="0" t="0" r="r" b="b"/>
            <a:pathLst>
              <a:path w="2938" h="1139">
                <a:moveTo>
                  <a:pt x="0" y="0"/>
                </a:moveTo>
                <a:lnTo>
                  <a:pt x="2938" y="0"/>
                </a:lnTo>
                <a:lnTo>
                  <a:pt x="293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676080" y="2381040"/>
            <a:ext cx="1257840" cy="410040"/>
          </a:xfrm>
          <a:custGeom>
            <a:avLst/>
            <a:gdLst/>
            <a:ahLst/>
            <a:cxnLst/>
            <a:rect l="0" t="0" r="r" b="b"/>
            <a:pathLst>
              <a:path w="3494" h="1139">
                <a:moveTo>
                  <a:pt x="0" y="0"/>
                </a:moveTo>
                <a:lnTo>
                  <a:pt x="3494" y="0"/>
                </a:lnTo>
                <a:lnTo>
                  <a:pt x="34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1933560" y="2381040"/>
            <a:ext cx="3057840" cy="410040"/>
          </a:xfrm>
          <a:custGeom>
            <a:avLst/>
            <a:gdLst/>
            <a:ahLst/>
            <a:cxnLst/>
            <a:rect l="0" t="0" r="r" b="b"/>
            <a:pathLst>
              <a:path w="8494" h="1139">
                <a:moveTo>
                  <a:pt x="0" y="0"/>
                </a:moveTo>
                <a:lnTo>
                  <a:pt x="8494" y="0"/>
                </a:lnTo>
                <a:lnTo>
                  <a:pt x="84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4991040" y="2381040"/>
            <a:ext cx="1038600" cy="410040"/>
          </a:xfrm>
          <a:custGeom>
            <a:avLst/>
            <a:gdLst/>
            <a:ahLst/>
            <a:cxnLst/>
            <a:rect l="0" t="0" r="r" b="b"/>
            <a:pathLst>
              <a:path w="2885" h="1139">
                <a:moveTo>
                  <a:pt x="0" y="0"/>
                </a:moveTo>
                <a:lnTo>
                  <a:pt x="2885" y="0"/>
                </a:lnTo>
                <a:lnTo>
                  <a:pt x="288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6029280" y="2381040"/>
            <a:ext cx="1257480" cy="410040"/>
          </a:xfrm>
          <a:custGeom>
            <a:avLst/>
            <a:gdLst/>
            <a:ahLst/>
            <a:cxnLst/>
            <a:rect l="0" t="0" r="r" b="b"/>
            <a:pathLst>
              <a:path w="3493" h="1139">
                <a:moveTo>
                  <a:pt x="0" y="0"/>
                </a:moveTo>
                <a:lnTo>
                  <a:pt x="3493" y="0"/>
                </a:lnTo>
                <a:lnTo>
                  <a:pt x="349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7286400" y="2381040"/>
            <a:ext cx="1057680" cy="410040"/>
          </a:xfrm>
          <a:custGeom>
            <a:avLst/>
            <a:gdLst/>
            <a:ahLst/>
            <a:cxnLst/>
            <a:rect l="0" t="0" r="r" b="b"/>
            <a:pathLst>
              <a:path w="2938" h="1139">
                <a:moveTo>
                  <a:pt x="0" y="0"/>
                </a:moveTo>
                <a:lnTo>
                  <a:pt x="2938" y="0"/>
                </a:lnTo>
                <a:lnTo>
                  <a:pt x="293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orma libre 375"/>
          <p:cNvSpPr/>
          <p:nvPr/>
        </p:nvSpPr>
        <p:spPr>
          <a:xfrm>
            <a:off x="676080" y="2790720"/>
            <a:ext cx="1257840" cy="419400"/>
          </a:xfrm>
          <a:custGeom>
            <a:avLst/>
            <a:gdLst/>
            <a:ahLst/>
            <a:cxnLst/>
            <a:rect l="0" t="0" r="r" b="b"/>
            <a:pathLst>
              <a:path w="3494" h="1165">
                <a:moveTo>
                  <a:pt x="0" y="0"/>
                </a:moveTo>
                <a:lnTo>
                  <a:pt x="3494" y="0"/>
                </a:lnTo>
                <a:lnTo>
                  <a:pt x="349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1933560" y="2790720"/>
            <a:ext cx="3057840" cy="419400"/>
          </a:xfrm>
          <a:custGeom>
            <a:avLst/>
            <a:gdLst/>
            <a:ahLst/>
            <a:cxnLst/>
            <a:rect l="0" t="0" r="r" b="b"/>
            <a:pathLst>
              <a:path w="8494" h="1165">
                <a:moveTo>
                  <a:pt x="0" y="0"/>
                </a:moveTo>
                <a:lnTo>
                  <a:pt x="8494" y="0"/>
                </a:lnTo>
                <a:lnTo>
                  <a:pt x="849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4991040" y="2790720"/>
            <a:ext cx="1038600" cy="419400"/>
          </a:xfrm>
          <a:custGeom>
            <a:avLst/>
            <a:gdLst/>
            <a:ahLst/>
            <a:cxnLst/>
            <a:rect l="0" t="0" r="r" b="b"/>
            <a:pathLst>
              <a:path w="2885" h="1165">
                <a:moveTo>
                  <a:pt x="0" y="0"/>
                </a:moveTo>
                <a:lnTo>
                  <a:pt x="2885" y="0"/>
                </a:lnTo>
                <a:lnTo>
                  <a:pt x="288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6029280" y="2790720"/>
            <a:ext cx="1257480" cy="419400"/>
          </a:xfrm>
          <a:custGeom>
            <a:avLst/>
            <a:gdLst/>
            <a:ahLst/>
            <a:cxnLst/>
            <a:rect l="0" t="0" r="r" b="b"/>
            <a:pathLst>
              <a:path w="3493" h="1165">
                <a:moveTo>
                  <a:pt x="0" y="0"/>
                </a:moveTo>
                <a:lnTo>
                  <a:pt x="3493" y="0"/>
                </a:lnTo>
                <a:lnTo>
                  <a:pt x="349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7286400" y="2790720"/>
            <a:ext cx="1057680" cy="419400"/>
          </a:xfrm>
          <a:custGeom>
            <a:avLst/>
            <a:gdLst/>
            <a:ahLst/>
            <a:cxnLst/>
            <a:rect l="0" t="0" r="r" b="b"/>
            <a:pathLst>
              <a:path w="2938" h="1165">
                <a:moveTo>
                  <a:pt x="0" y="0"/>
                </a:moveTo>
                <a:lnTo>
                  <a:pt x="2938" y="0"/>
                </a:lnTo>
                <a:lnTo>
                  <a:pt x="293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676080" y="3209760"/>
            <a:ext cx="1257840" cy="410040"/>
          </a:xfrm>
          <a:custGeom>
            <a:avLst/>
            <a:gdLst/>
            <a:ahLst/>
            <a:cxnLst/>
            <a:rect l="0" t="0" r="r" b="b"/>
            <a:pathLst>
              <a:path w="3494" h="1139">
                <a:moveTo>
                  <a:pt x="0" y="0"/>
                </a:moveTo>
                <a:lnTo>
                  <a:pt x="3494" y="0"/>
                </a:lnTo>
                <a:lnTo>
                  <a:pt x="34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Forma libre 381"/>
          <p:cNvSpPr/>
          <p:nvPr/>
        </p:nvSpPr>
        <p:spPr>
          <a:xfrm>
            <a:off x="1933560" y="3209760"/>
            <a:ext cx="3057840" cy="410040"/>
          </a:xfrm>
          <a:custGeom>
            <a:avLst/>
            <a:gdLst/>
            <a:ahLst/>
            <a:cxnLst/>
            <a:rect l="0" t="0" r="r" b="b"/>
            <a:pathLst>
              <a:path w="8494" h="1139">
                <a:moveTo>
                  <a:pt x="0" y="0"/>
                </a:moveTo>
                <a:lnTo>
                  <a:pt x="8494" y="0"/>
                </a:lnTo>
                <a:lnTo>
                  <a:pt x="84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orma libre 382"/>
          <p:cNvSpPr/>
          <p:nvPr/>
        </p:nvSpPr>
        <p:spPr>
          <a:xfrm>
            <a:off x="4991040" y="3209760"/>
            <a:ext cx="1038600" cy="410040"/>
          </a:xfrm>
          <a:custGeom>
            <a:avLst/>
            <a:gdLst/>
            <a:ahLst/>
            <a:cxnLst/>
            <a:rect l="0" t="0" r="r" b="b"/>
            <a:pathLst>
              <a:path w="2885" h="1139">
                <a:moveTo>
                  <a:pt x="0" y="0"/>
                </a:moveTo>
                <a:lnTo>
                  <a:pt x="2885" y="0"/>
                </a:lnTo>
                <a:lnTo>
                  <a:pt x="288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6029280" y="3209760"/>
            <a:ext cx="1257480" cy="410040"/>
          </a:xfrm>
          <a:custGeom>
            <a:avLst/>
            <a:gdLst/>
            <a:ahLst/>
            <a:cxnLst/>
            <a:rect l="0" t="0" r="r" b="b"/>
            <a:pathLst>
              <a:path w="3493" h="1139">
                <a:moveTo>
                  <a:pt x="0" y="0"/>
                </a:moveTo>
                <a:lnTo>
                  <a:pt x="3493" y="0"/>
                </a:lnTo>
                <a:lnTo>
                  <a:pt x="349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orma libre 384"/>
          <p:cNvSpPr/>
          <p:nvPr/>
        </p:nvSpPr>
        <p:spPr>
          <a:xfrm>
            <a:off x="7286400" y="3209760"/>
            <a:ext cx="1057680" cy="410040"/>
          </a:xfrm>
          <a:custGeom>
            <a:avLst/>
            <a:gdLst/>
            <a:ahLst/>
            <a:cxnLst/>
            <a:rect l="0" t="0" r="r" b="b"/>
            <a:pathLst>
              <a:path w="2938" h="1139">
                <a:moveTo>
                  <a:pt x="0" y="0"/>
                </a:moveTo>
                <a:lnTo>
                  <a:pt x="2938" y="0"/>
                </a:lnTo>
                <a:lnTo>
                  <a:pt x="293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6667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orma libre 386"/>
          <p:cNvSpPr/>
          <p:nvPr/>
        </p:nvSpPr>
        <p:spPr>
          <a:xfrm>
            <a:off x="666720" y="2381040"/>
            <a:ext cx="1267200" cy="10080"/>
          </a:xfrm>
          <a:custGeom>
            <a:avLst/>
            <a:gdLst/>
            <a:ahLst/>
            <a:cxnLst/>
            <a:rect l="0" t="0" r="r" b="b"/>
            <a:pathLst>
              <a:path w="3520" h="28">
                <a:moveTo>
                  <a:pt x="0" y="0"/>
                </a:moveTo>
                <a:lnTo>
                  <a:pt x="3520" y="0"/>
                </a:lnTo>
                <a:lnTo>
                  <a:pt x="35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Forma libre 387"/>
          <p:cNvSpPr/>
          <p:nvPr/>
        </p:nvSpPr>
        <p:spPr>
          <a:xfrm>
            <a:off x="1923840" y="2381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Forma libre 388"/>
          <p:cNvSpPr/>
          <p:nvPr/>
        </p:nvSpPr>
        <p:spPr>
          <a:xfrm>
            <a:off x="1933560" y="2381040"/>
            <a:ext cx="3057840" cy="10080"/>
          </a:xfrm>
          <a:custGeom>
            <a:avLst/>
            <a:gdLst/>
            <a:ahLst/>
            <a:cxn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Forma libre 389"/>
          <p:cNvSpPr/>
          <p:nvPr/>
        </p:nvSpPr>
        <p:spPr>
          <a:xfrm>
            <a:off x="4981320" y="2381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Forma libre 390"/>
          <p:cNvSpPr/>
          <p:nvPr/>
        </p:nvSpPr>
        <p:spPr>
          <a:xfrm>
            <a:off x="4991040" y="2381040"/>
            <a:ext cx="1047960" cy="10080"/>
          </a:xfrm>
          <a:custGeom>
            <a:avLst/>
            <a:gdLst/>
            <a:ahLst/>
            <a:cxn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602928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6038640" y="2381040"/>
            <a:ext cx="1248120" cy="10080"/>
          </a:xfrm>
          <a:custGeom>
            <a:avLst/>
            <a:gdLst/>
            <a:ahLst/>
            <a:cxnLst/>
            <a:rect l="0" t="0" r="r" b="b"/>
            <a:pathLst>
              <a:path w="3467" h="28">
                <a:moveTo>
                  <a:pt x="0" y="0"/>
                </a:moveTo>
                <a:lnTo>
                  <a:pt x="3467" y="0"/>
                </a:lnTo>
                <a:lnTo>
                  <a:pt x="34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727704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orma libre 394"/>
          <p:cNvSpPr/>
          <p:nvPr/>
        </p:nvSpPr>
        <p:spPr>
          <a:xfrm>
            <a:off x="7286400" y="2381040"/>
            <a:ext cx="1067040" cy="10080"/>
          </a:xfrm>
          <a:custGeom>
            <a:avLst/>
            <a:gdLst/>
            <a:ahLst/>
            <a:cxn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orma libre 395"/>
          <p:cNvSpPr/>
          <p:nvPr/>
        </p:nvSpPr>
        <p:spPr>
          <a:xfrm>
            <a:off x="83437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Forma libre 396"/>
          <p:cNvSpPr/>
          <p:nvPr/>
        </p:nvSpPr>
        <p:spPr>
          <a:xfrm>
            <a:off x="666720" y="2790720"/>
            <a:ext cx="1267200" cy="9720"/>
          </a:xfrm>
          <a:custGeom>
            <a:avLst/>
            <a:gdLst/>
            <a:ahLst/>
            <a:cxnLst/>
            <a:rect l="0" t="0" r="r" b="b"/>
            <a:pathLst>
              <a:path w="3520" h="27">
                <a:moveTo>
                  <a:pt x="0" y="0"/>
                </a:moveTo>
                <a:lnTo>
                  <a:pt x="3520" y="0"/>
                </a:lnTo>
                <a:lnTo>
                  <a:pt x="3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orma libre 397"/>
          <p:cNvSpPr/>
          <p:nvPr/>
        </p:nvSpPr>
        <p:spPr>
          <a:xfrm>
            <a:off x="1933560" y="2790720"/>
            <a:ext cx="3057840" cy="9720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Forma libre 398"/>
          <p:cNvSpPr/>
          <p:nvPr/>
        </p:nvSpPr>
        <p:spPr>
          <a:xfrm>
            <a:off x="4991040" y="2790720"/>
            <a:ext cx="1047960" cy="9720"/>
          </a:xfrm>
          <a:custGeom>
            <a:avLst/>
            <a:gdLst/>
            <a:ahLst/>
            <a:cxn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orma libre 399"/>
          <p:cNvSpPr/>
          <p:nvPr/>
        </p:nvSpPr>
        <p:spPr>
          <a:xfrm>
            <a:off x="6038640" y="2790720"/>
            <a:ext cx="1248120" cy="9720"/>
          </a:xfrm>
          <a:custGeom>
            <a:avLst/>
            <a:gdLst/>
            <a:ahLst/>
            <a:cxnLst/>
            <a:rect l="0" t="0" r="r" b="b"/>
            <a:pathLst>
              <a:path w="3467" h="27">
                <a:moveTo>
                  <a:pt x="0" y="0"/>
                </a:moveTo>
                <a:lnTo>
                  <a:pt x="3467" y="0"/>
                </a:lnTo>
                <a:lnTo>
                  <a:pt x="3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Forma libre 400"/>
          <p:cNvSpPr/>
          <p:nvPr/>
        </p:nvSpPr>
        <p:spPr>
          <a:xfrm>
            <a:off x="7286400" y="2790720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orma libre 401"/>
          <p:cNvSpPr/>
          <p:nvPr/>
        </p:nvSpPr>
        <p:spPr>
          <a:xfrm>
            <a:off x="6667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Forma libre 402"/>
          <p:cNvSpPr/>
          <p:nvPr/>
        </p:nvSpPr>
        <p:spPr>
          <a:xfrm>
            <a:off x="1923840" y="2800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4981320" y="2800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Forma libre 404"/>
          <p:cNvSpPr/>
          <p:nvPr/>
        </p:nvSpPr>
        <p:spPr>
          <a:xfrm>
            <a:off x="602928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Forma libre 405"/>
          <p:cNvSpPr/>
          <p:nvPr/>
        </p:nvSpPr>
        <p:spPr>
          <a:xfrm>
            <a:off x="727704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orma libre 406"/>
          <p:cNvSpPr/>
          <p:nvPr/>
        </p:nvSpPr>
        <p:spPr>
          <a:xfrm>
            <a:off x="83437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Forma libre 407"/>
          <p:cNvSpPr/>
          <p:nvPr/>
        </p:nvSpPr>
        <p:spPr>
          <a:xfrm>
            <a:off x="666720" y="32191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Forma libre 408"/>
          <p:cNvSpPr/>
          <p:nvPr/>
        </p:nvSpPr>
        <p:spPr>
          <a:xfrm>
            <a:off x="666720" y="3209760"/>
            <a:ext cx="1267200" cy="9720"/>
          </a:xfrm>
          <a:custGeom>
            <a:avLst/>
            <a:gdLst/>
            <a:ahLst/>
            <a:cxnLst/>
            <a:rect l="0" t="0" r="r" b="b"/>
            <a:pathLst>
              <a:path w="3520" h="27">
                <a:moveTo>
                  <a:pt x="0" y="0"/>
                </a:moveTo>
                <a:lnTo>
                  <a:pt x="3520" y="0"/>
                </a:lnTo>
                <a:lnTo>
                  <a:pt x="3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Forma libre 409"/>
          <p:cNvSpPr/>
          <p:nvPr/>
        </p:nvSpPr>
        <p:spPr>
          <a:xfrm>
            <a:off x="1923840" y="32191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Forma libre 410"/>
          <p:cNvSpPr/>
          <p:nvPr/>
        </p:nvSpPr>
        <p:spPr>
          <a:xfrm>
            <a:off x="1933560" y="3209760"/>
            <a:ext cx="3057840" cy="9720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Forma libre 411"/>
          <p:cNvSpPr/>
          <p:nvPr/>
        </p:nvSpPr>
        <p:spPr>
          <a:xfrm>
            <a:off x="4981320" y="32191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Forma libre 412"/>
          <p:cNvSpPr/>
          <p:nvPr/>
        </p:nvSpPr>
        <p:spPr>
          <a:xfrm>
            <a:off x="4991040" y="3209760"/>
            <a:ext cx="1047960" cy="9720"/>
          </a:xfrm>
          <a:custGeom>
            <a:avLst/>
            <a:gdLst/>
            <a:ahLst/>
            <a:cxn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Forma libre 413"/>
          <p:cNvSpPr/>
          <p:nvPr/>
        </p:nvSpPr>
        <p:spPr>
          <a:xfrm>
            <a:off x="6029280" y="32191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6038640" y="3209760"/>
            <a:ext cx="1248120" cy="9720"/>
          </a:xfrm>
          <a:custGeom>
            <a:avLst/>
            <a:gdLst/>
            <a:ahLst/>
            <a:cxnLst/>
            <a:rect l="0" t="0" r="r" b="b"/>
            <a:pathLst>
              <a:path w="3467" h="27">
                <a:moveTo>
                  <a:pt x="0" y="0"/>
                </a:moveTo>
                <a:lnTo>
                  <a:pt x="3467" y="0"/>
                </a:lnTo>
                <a:lnTo>
                  <a:pt x="3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Forma libre 415"/>
          <p:cNvSpPr/>
          <p:nvPr/>
        </p:nvSpPr>
        <p:spPr>
          <a:xfrm>
            <a:off x="7277040" y="32191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Forma libre 416"/>
          <p:cNvSpPr/>
          <p:nvPr/>
        </p:nvSpPr>
        <p:spPr>
          <a:xfrm>
            <a:off x="7286400" y="3209760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Forma libre 417"/>
          <p:cNvSpPr/>
          <p:nvPr/>
        </p:nvSpPr>
        <p:spPr>
          <a:xfrm>
            <a:off x="8343720" y="32191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666720" y="3619440"/>
            <a:ext cx="1267200" cy="9720"/>
          </a:xfrm>
          <a:custGeom>
            <a:avLst/>
            <a:gdLst/>
            <a:ahLst/>
            <a:cxnLst/>
            <a:rect l="0" t="0" r="r" b="b"/>
            <a:pathLst>
              <a:path w="3520" h="27">
                <a:moveTo>
                  <a:pt x="0" y="0"/>
                </a:moveTo>
                <a:lnTo>
                  <a:pt x="3520" y="0"/>
                </a:lnTo>
                <a:lnTo>
                  <a:pt x="3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Forma libre 419"/>
          <p:cNvSpPr/>
          <p:nvPr/>
        </p:nvSpPr>
        <p:spPr>
          <a:xfrm>
            <a:off x="1933560" y="3619440"/>
            <a:ext cx="3057840" cy="9720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Forma libre 420"/>
          <p:cNvSpPr/>
          <p:nvPr/>
        </p:nvSpPr>
        <p:spPr>
          <a:xfrm>
            <a:off x="4991040" y="3619440"/>
            <a:ext cx="1047960" cy="9720"/>
          </a:xfrm>
          <a:custGeom>
            <a:avLst/>
            <a:gdLst/>
            <a:ahLst/>
            <a:cxn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orma libre 421"/>
          <p:cNvSpPr/>
          <p:nvPr/>
        </p:nvSpPr>
        <p:spPr>
          <a:xfrm>
            <a:off x="6038640" y="3619440"/>
            <a:ext cx="1248120" cy="9720"/>
          </a:xfrm>
          <a:custGeom>
            <a:avLst/>
            <a:gdLst/>
            <a:ahLst/>
            <a:cxnLst/>
            <a:rect l="0" t="0" r="r" b="b"/>
            <a:pathLst>
              <a:path w="3467" h="27">
                <a:moveTo>
                  <a:pt x="0" y="0"/>
                </a:moveTo>
                <a:lnTo>
                  <a:pt x="3467" y="0"/>
                </a:lnTo>
                <a:lnTo>
                  <a:pt x="3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Forma libre 422"/>
          <p:cNvSpPr/>
          <p:nvPr/>
        </p:nvSpPr>
        <p:spPr>
          <a:xfrm>
            <a:off x="7286400" y="3619440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Forma libre 423"/>
          <p:cNvSpPr/>
          <p:nvPr/>
        </p:nvSpPr>
        <p:spPr>
          <a:xfrm>
            <a:off x="666720" y="507672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Forma libre 424"/>
          <p:cNvSpPr/>
          <p:nvPr/>
        </p:nvSpPr>
        <p:spPr>
          <a:xfrm>
            <a:off x="666720" y="507672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666720" y="730080"/>
            <a:ext cx="3109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corazón del modelo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866880" y="1555920"/>
            <a:ext cx="8189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concept_id, concept_name, domain_id, vocabulary_id, standard_concept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866880" y="1822680"/>
            <a:ext cx="5897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concept_id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201826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45542738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799920" y="2485800"/>
            <a:ext cx="1002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concept_id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2789640" y="2485800"/>
            <a:ext cx="1341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concept_name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5172480" y="2485800"/>
            <a:ext cx="677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domain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6161760" y="2485800"/>
            <a:ext cx="995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vocabulary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7413840" y="2485800"/>
            <a:ext cx="80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standard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799920" y="2885760"/>
            <a:ext cx="636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201826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CuadroTexto 434"/>
          <p:cNvSpPr txBox="1"/>
          <p:nvPr/>
        </p:nvSpPr>
        <p:spPr>
          <a:xfrm>
            <a:off x="2059200" y="2885760"/>
            <a:ext cx="1980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Type 2 diabetes mellitus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CuadroTexto 435"/>
          <p:cNvSpPr txBox="1"/>
          <p:nvPr/>
        </p:nvSpPr>
        <p:spPr>
          <a:xfrm>
            <a:off x="5117760" y="2885760"/>
            <a:ext cx="787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Condition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CuadroTexto 436"/>
          <p:cNvSpPr txBox="1"/>
          <p:nvPr/>
        </p:nvSpPr>
        <p:spPr>
          <a:xfrm>
            <a:off x="6161760" y="2885760"/>
            <a:ext cx="795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SNOMED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7413840" y="2895120"/>
            <a:ext cx="190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799920" y="3304800"/>
            <a:ext cx="848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45542738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2059200" y="3304800"/>
            <a:ext cx="2823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Type 2 diabetes mellitus without…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5117760" y="3304800"/>
            <a:ext cx="787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Condition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CuadroTexto 441"/>
          <p:cNvSpPr txBox="1"/>
          <p:nvPr/>
        </p:nvSpPr>
        <p:spPr>
          <a:xfrm>
            <a:off x="6161760" y="3304800"/>
            <a:ext cx="810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ICD10CM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914040" y="39337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1123920" y="3838320"/>
            <a:ext cx="2686320" cy="267120"/>
          </a:xfrm>
          <a:custGeom>
            <a:avLst/>
            <a:gdLst/>
            <a:ahLst/>
            <a:cxnLst/>
            <a:rect l="0" t="0" r="r" b="b"/>
            <a:pathLst>
              <a:path w="7462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2" y="80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7356" y="0"/>
                </a:lnTo>
                <a:cubicBezTo>
                  <a:pt x="7370" y="0"/>
                  <a:pt x="7384" y="3"/>
                  <a:pt x="7396" y="8"/>
                </a:cubicBezTo>
                <a:cubicBezTo>
                  <a:pt x="7409" y="14"/>
                  <a:pt x="7421" y="21"/>
                  <a:pt x="7431" y="31"/>
                </a:cubicBezTo>
                <a:cubicBezTo>
                  <a:pt x="7441" y="41"/>
                  <a:pt x="7448" y="53"/>
                  <a:pt x="7454" y="66"/>
                </a:cubicBezTo>
                <a:cubicBezTo>
                  <a:pt x="7459" y="80"/>
                  <a:pt x="7462" y="93"/>
                  <a:pt x="7462" y="107"/>
                </a:cubicBezTo>
                <a:lnTo>
                  <a:pt x="7462" y="636"/>
                </a:lnTo>
                <a:cubicBezTo>
                  <a:pt x="7462" y="650"/>
                  <a:pt x="7459" y="664"/>
                  <a:pt x="7454" y="677"/>
                </a:cubicBezTo>
                <a:cubicBezTo>
                  <a:pt x="7448" y="690"/>
                  <a:pt x="7441" y="701"/>
                  <a:pt x="7431" y="711"/>
                </a:cubicBezTo>
                <a:cubicBezTo>
                  <a:pt x="7421" y="721"/>
                  <a:pt x="7409" y="729"/>
                  <a:pt x="7396" y="734"/>
                </a:cubicBezTo>
                <a:cubicBezTo>
                  <a:pt x="7384" y="739"/>
                  <a:pt x="7370" y="742"/>
                  <a:pt x="735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CuadroTexto 444"/>
          <p:cNvSpPr txBox="1"/>
          <p:nvPr/>
        </p:nvSpPr>
        <p:spPr>
          <a:xfrm>
            <a:off x="7413840" y="3304800"/>
            <a:ext cx="374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(null)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CuadroTexto 445"/>
          <p:cNvSpPr txBox="1"/>
          <p:nvPr/>
        </p:nvSpPr>
        <p:spPr>
          <a:xfrm>
            <a:off x="1181160" y="3858120"/>
            <a:ext cx="2584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standard_concept = 'S'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CuadroTexto 446"/>
          <p:cNvSpPr txBox="1"/>
          <p:nvPr/>
        </p:nvSpPr>
        <p:spPr>
          <a:xfrm>
            <a:off x="3812040" y="38210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3875400" y="38318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914040" y="4333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Forma libre 449"/>
          <p:cNvSpPr/>
          <p:nvPr/>
        </p:nvSpPr>
        <p:spPr>
          <a:xfrm>
            <a:off x="1123920" y="4238280"/>
            <a:ext cx="466920" cy="267120"/>
          </a:xfrm>
          <a:custGeom>
            <a:avLst/>
            <a:gdLst/>
            <a:ahLst/>
            <a:cxnLst/>
            <a:rect l="0" t="0" r="r" b="b"/>
            <a:pathLst>
              <a:path w="129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1191" y="0"/>
                </a:lnTo>
                <a:cubicBezTo>
                  <a:pt x="1205" y="0"/>
                  <a:pt x="1219" y="3"/>
                  <a:pt x="1232" y="9"/>
                </a:cubicBezTo>
                <a:cubicBezTo>
                  <a:pt x="1245" y="14"/>
                  <a:pt x="1256" y="22"/>
                  <a:pt x="1266" y="31"/>
                </a:cubicBezTo>
                <a:cubicBezTo>
                  <a:pt x="1276" y="41"/>
                  <a:pt x="1284" y="53"/>
                  <a:pt x="1289" y="66"/>
                </a:cubicBezTo>
                <a:cubicBezTo>
                  <a:pt x="1294" y="79"/>
                  <a:pt x="1297" y="92"/>
                  <a:pt x="1297" y="106"/>
                </a:cubicBezTo>
                <a:lnTo>
                  <a:pt x="1297" y="636"/>
                </a:lnTo>
                <a:cubicBezTo>
                  <a:pt x="1297" y="650"/>
                  <a:pt x="1294" y="664"/>
                  <a:pt x="1289" y="677"/>
                </a:cubicBezTo>
                <a:cubicBezTo>
                  <a:pt x="1284" y="690"/>
                  <a:pt x="1276" y="701"/>
                  <a:pt x="1266" y="711"/>
                </a:cubicBezTo>
                <a:cubicBezTo>
                  <a:pt x="1256" y="721"/>
                  <a:pt x="1245" y="729"/>
                  <a:pt x="1232" y="734"/>
                </a:cubicBezTo>
                <a:cubicBezTo>
                  <a:pt x="1219" y="740"/>
                  <a:pt x="1205" y="742"/>
                  <a:pt x="1191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4104000" y="3821040"/>
            <a:ext cx="2130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 usa para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analizar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1181160" y="425844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'C'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1589400" y="42210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CuadroTexto 453"/>
          <p:cNvSpPr txBox="1"/>
          <p:nvPr/>
        </p:nvSpPr>
        <p:spPr>
          <a:xfrm>
            <a:off x="1652760" y="423180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914040" y="4733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orma libre 455"/>
          <p:cNvSpPr/>
          <p:nvPr/>
        </p:nvSpPr>
        <p:spPr>
          <a:xfrm>
            <a:off x="1123920" y="463860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2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3" y="41"/>
                  <a:pt x="1601" y="52"/>
                  <a:pt x="1606" y="66"/>
                </a:cubicBezTo>
                <a:cubicBezTo>
                  <a:pt x="1612" y="79"/>
                  <a:pt x="1615" y="93"/>
                  <a:pt x="1615" y="107"/>
                </a:cubicBezTo>
                <a:lnTo>
                  <a:pt x="1615" y="636"/>
                </a:lnTo>
                <a:cubicBezTo>
                  <a:pt x="1615" y="650"/>
                  <a:pt x="1612" y="663"/>
                  <a:pt x="1606" y="676"/>
                </a:cubicBezTo>
                <a:cubicBezTo>
                  <a:pt x="1601" y="689"/>
                  <a:pt x="1593" y="701"/>
                  <a:pt x="1584" y="711"/>
                </a:cubicBezTo>
                <a:cubicBezTo>
                  <a:pt x="1574" y="720"/>
                  <a:pt x="1562" y="728"/>
                  <a:pt x="1549" y="733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1881360" y="4221000"/>
            <a:ext cx="4874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clasiﬁcación: agrupa, no se registra directamente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1181160" y="46584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NULL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1706400" y="46209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1769760" y="463176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Forma libre 460"/>
          <p:cNvSpPr/>
          <p:nvPr/>
        </p:nvSpPr>
        <p:spPr>
          <a:xfrm>
            <a:off x="5314680" y="4638600"/>
            <a:ext cx="2105640" cy="267120"/>
          </a:xfrm>
          <a:custGeom>
            <a:avLst/>
            <a:gdLst/>
            <a:ahLst/>
            <a:cxnLst/>
            <a:rect l="0" t="0" r="r" b="b"/>
            <a:pathLst>
              <a:path w="5849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5743" y="0"/>
                </a:lnTo>
                <a:cubicBezTo>
                  <a:pt x="5757" y="0"/>
                  <a:pt x="5770" y="2"/>
                  <a:pt x="5783" y="8"/>
                </a:cubicBezTo>
                <a:cubicBezTo>
                  <a:pt x="5796" y="13"/>
                  <a:pt x="5808" y="21"/>
                  <a:pt x="5818" y="31"/>
                </a:cubicBezTo>
                <a:cubicBezTo>
                  <a:pt x="5827" y="41"/>
                  <a:pt x="5835" y="52"/>
                  <a:pt x="5840" y="66"/>
                </a:cubicBezTo>
                <a:cubicBezTo>
                  <a:pt x="5846" y="79"/>
                  <a:pt x="5849" y="93"/>
                  <a:pt x="5849" y="107"/>
                </a:cubicBezTo>
                <a:lnTo>
                  <a:pt x="5849" y="636"/>
                </a:lnTo>
                <a:cubicBezTo>
                  <a:pt x="5849" y="650"/>
                  <a:pt x="5846" y="663"/>
                  <a:pt x="5840" y="676"/>
                </a:cubicBezTo>
                <a:cubicBezTo>
                  <a:pt x="5835" y="689"/>
                  <a:pt x="5827" y="701"/>
                  <a:pt x="5818" y="711"/>
                </a:cubicBezTo>
                <a:cubicBezTo>
                  <a:pt x="5808" y="720"/>
                  <a:pt x="5796" y="728"/>
                  <a:pt x="5783" y="733"/>
                </a:cubicBezTo>
                <a:cubicBezTo>
                  <a:pt x="5770" y="739"/>
                  <a:pt x="5757" y="742"/>
                  <a:pt x="5743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1998360" y="4620960"/>
            <a:ext cx="3321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estándar: sólo aparece como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CuadroTexto 462"/>
          <p:cNvSpPr txBox="1"/>
          <p:nvPr/>
        </p:nvSpPr>
        <p:spPr>
          <a:xfrm>
            <a:off x="5371920" y="465840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source_concept_id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905040" y="5230800"/>
            <a:ext cx="700313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Regla práctica: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analizas con estándar, auditas con el </a:t>
            </a:r>
            <a:r>
              <a:rPr lang="es-ES" b="1" dirty="0">
                <a:solidFill>
                  <a:srgbClr val="0B3C5D"/>
                </a:solidFill>
                <a:latin typeface="HelveticaNeue"/>
                <a:ea typeface="HelveticaNeue"/>
              </a:rPr>
              <a:t>valor de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origen.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CuadroTexto 46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CuadroTexto 46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CuadroTexto 46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E385CDE-640A-9EC4-F366-AEB4D98FE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59" y="828784"/>
            <a:ext cx="11430481" cy="520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19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Forma libre 4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Forma libre 4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orma libre 473"/>
          <p:cNvSpPr/>
          <p:nvPr/>
        </p:nvSpPr>
        <p:spPr>
          <a:xfrm>
            <a:off x="671400" y="277632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7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orma libre 474"/>
          <p:cNvSpPr/>
          <p:nvPr/>
        </p:nvSpPr>
        <p:spPr>
          <a:xfrm>
            <a:off x="671400" y="277632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7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666720" y="1628640"/>
            <a:ext cx="2810160" cy="381240"/>
          </a:xfrm>
          <a:custGeom>
            <a:avLst/>
            <a:gdLst/>
            <a:ahLst/>
            <a:cxnLst/>
            <a:rect l="0" t="0" r="r" b="b"/>
            <a:pathLst>
              <a:path w="7806" h="1059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7700" y="0"/>
                </a:lnTo>
                <a:cubicBezTo>
                  <a:pt x="7714" y="0"/>
                  <a:pt x="7727" y="3"/>
                  <a:pt x="7740" y="8"/>
                </a:cubicBezTo>
                <a:cubicBezTo>
                  <a:pt x="7753" y="13"/>
                  <a:pt x="7765" y="21"/>
                  <a:pt x="7775" y="31"/>
                </a:cubicBezTo>
                <a:cubicBezTo>
                  <a:pt x="7785" y="41"/>
                  <a:pt x="7792" y="52"/>
                  <a:pt x="7798" y="65"/>
                </a:cubicBezTo>
                <a:cubicBezTo>
                  <a:pt x="7803" y="78"/>
                  <a:pt x="7806" y="92"/>
                  <a:pt x="7806" y="106"/>
                </a:cubicBezTo>
                <a:lnTo>
                  <a:pt x="7806" y="953"/>
                </a:lnTo>
                <a:cubicBezTo>
                  <a:pt x="7806" y="967"/>
                  <a:pt x="7803" y="981"/>
                  <a:pt x="7798" y="994"/>
                </a:cubicBezTo>
                <a:cubicBezTo>
                  <a:pt x="7792" y="1007"/>
                  <a:pt x="7785" y="1018"/>
                  <a:pt x="7775" y="1028"/>
                </a:cubicBezTo>
                <a:cubicBezTo>
                  <a:pt x="7765" y="1038"/>
                  <a:pt x="7753" y="1046"/>
                  <a:pt x="7740" y="1051"/>
                </a:cubicBezTo>
                <a:cubicBezTo>
                  <a:pt x="7727" y="1057"/>
                  <a:pt x="7714" y="1059"/>
                  <a:pt x="7700" y="1059"/>
                </a:cubicBezTo>
                <a:lnTo>
                  <a:pt x="105" y="1059"/>
                </a:lnTo>
                <a:cubicBezTo>
                  <a:pt x="91" y="1059"/>
                  <a:pt x="78" y="1057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CuadroTexto 476"/>
          <p:cNvSpPr txBox="1"/>
          <p:nvPr/>
        </p:nvSpPr>
        <p:spPr>
          <a:xfrm>
            <a:off x="731520" y="1632960"/>
            <a:ext cx="273672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concept_id = 0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CuadroTexto 477"/>
          <p:cNvSpPr txBox="1"/>
          <p:nvPr/>
        </p:nvSpPr>
        <p:spPr>
          <a:xfrm>
            <a:off x="3480480" y="1625400"/>
            <a:ext cx="3225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: el centinela de OMOP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CuadroTexto 478"/>
          <p:cNvSpPr txBox="1"/>
          <p:nvPr/>
        </p:nvSpPr>
        <p:spPr>
          <a:xfrm>
            <a:off x="666720" y="2315880"/>
            <a:ext cx="325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Signiﬁca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«no se pudo mapear»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CuadroTexto 479"/>
          <p:cNvSpPr txBox="1"/>
          <p:nvPr/>
        </p:nvSpPr>
        <p:spPr>
          <a:xfrm>
            <a:off x="866880" y="295632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Primera métrica de calidad de cualquier base OMOP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866880" y="3223080"/>
            <a:ext cx="655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866880" y="3480120"/>
            <a:ext cx="8514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100.0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sum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CASE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condition_concept_id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THEN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ELSE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END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/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CuadroTexto 482"/>
          <p:cNvSpPr txBox="1"/>
          <p:nvPr/>
        </p:nvSpPr>
        <p:spPr>
          <a:xfrm>
            <a:off x="866880" y="3746880"/>
            <a:ext cx="2075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pct_sin_mapear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866880" y="4003920"/>
            <a:ext cx="2839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condition_occurrence;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CuadroTexto 484"/>
          <p:cNvSpPr txBox="1"/>
          <p:nvPr/>
        </p:nvSpPr>
        <p:spPr>
          <a:xfrm>
            <a:off x="666720" y="4601880"/>
            <a:ext cx="10369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2% de ceros es tolerable. Un 40% signiﬁca que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ETL está incompleto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que cualquier cohorte 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666720" y="4944960"/>
            <a:ext cx="4048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deﬁnas va a perder pacientes en silencio.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CuadroTexto 48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Forma libre 4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Forma libre 4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Forma libre 4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CuadroTexto 492"/>
          <p:cNvSpPr txBox="1"/>
          <p:nvPr/>
        </p:nvSpPr>
        <p:spPr>
          <a:xfrm>
            <a:off x="3233520" y="3063960"/>
            <a:ext cx="58536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Del dato crudo al CDM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CuadroTexto 49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CuadroTexto 49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CuadroTexto 49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Forma libre 4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Forma libre 4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orma libre 4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orma libre 499"/>
          <p:cNvSpPr/>
          <p:nvPr/>
        </p:nvSpPr>
        <p:spPr>
          <a:xfrm>
            <a:off x="690480" y="4066920"/>
            <a:ext cx="10834920" cy="1067400"/>
          </a:xfrm>
          <a:custGeom>
            <a:avLst/>
            <a:gdLst/>
            <a:ahLst/>
            <a:cxnLst/>
            <a:rect l="0" t="0" r="r" b="b"/>
            <a:pathLst>
              <a:path w="30097" h="2965">
                <a:moveTo>
                  <a:pt x="0" y="2965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3"/>
                  <a:pt x="30043" y="39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79"/>
                  <a:pt x="30081" y="89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8"/>
                  <a:pt x="30097" y="149"/>
                  <a:pt x="30097" y="159"/>
                </a:cubicBezTo>
                <a:lnTo>
                  <a:pt x="30097" y="2806"/>
                </a:lnTo>
                <a:cubicBezTo>
                  <a:pt x="30097" y="2816"/>
                  <a:pt x="30096" y="2827"/>
                  <a:pt x="30094" y="2837"/>
                </a:cubicBezTo>
                <a:cubicBezTo>
                  <a:pt x="30092" y="2847"/>
                  <a:pt x="30089" y="2857"/>
                  <a:pt x="30085" y="2867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3"/>
                  <a:pt x="30058" y="2911"/>
                  <a:pt x="30051" y="2918"/>
                </a:cubicBezTo>
                <a:cubicBezTo>
                  <a:pt x="30043" y="2925"/>
                  <a:pt x="30035" y="2932"/>
                  <a:pt x="30027" y="2938"/>
                </a:cubicBezTo>
                <a:cubicBezTo>
                  <a:pt x="30018" y="2944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4"/>
                  <a:pt x="29949" y="2965"/>
                  <a:pt x="29938" y="2965"/>
                </a:cubicBezTo>
                <a:lnTo>
                  <a:pt x="0" y="2965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Forma libre 500"/>
          <p:cNvSpPr/>
          <p:nvPr/>
        </p:nvSpPr>
        <p:spPr>
          <a:xfrm>
            <a:off x="666720" y="4066920"/>
            <a:ext cx="47880" cy="1067400"/>
          </a:xfrm>
          <a:custGeom>
            <a:avLst/>
            <a:gdLst/>
            <a:ahLst/>
            <a:cxnLst/>
            <a:rect l="0" t="0" r="r" b="b"/>
            <a:pathLst>
              <a:path w="133" h="2965">
                <a:moveTo>
                  <a:pt x="0" y="0"/>
                </a:moveTo>
                <a:lnTo>
                  <a:pt x="133" y="0"/>
                </a:lnTo>
                <a:lnTo>
                  <a:pt x="133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CuadroTexto 501"/>
          <p:cNvSpPr txBox="1"/>
          <p:nvPr/>
        </p:nvSpPr>
        <p:spPr>
          <a:xfrm>
            <a:off x="666720" y="1739520"/>
            <a:ext cx="3332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ETL, en cuatro pasos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CuadroTexto 502"/>
          <p:cNvSpPr txBox="1"/>
          <p:nvPr/>
        </p:nvSpPr>
        <p:spPr>
          <a:xfrm>
            <a:off x="869760" y="2411280"/>
            <a:ext cx="7038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Perﬁlado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qué tablas, qué códigos, qué vocabularios, cuánto falta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CuadroTexto 503"/>
          <p:cNvSpPr txBox="1"/>
          <p:nvPr/>
        </p:nvSpPr>
        <p:spPr>
          <a:xfrm>
            <a:off x="869760" y="2811240"/>
            <a:ext cx="3160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Mapeo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cada código local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CuadroTexto 504"/>
          <p:cNvSpPr txBox="1"/>
          <p:nvPr/>
        </p:nvSpPr>
        <p:spPr>
          <a:xfrm>
            <a:off x="4029120" y="28220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CuadroTexto 505"/>
          <p:cNvSpPr txBox="1"/>
          <p:nvPr/>
        </p:nvSpPr>
        <p:spPr>
          <a:xfrm>
            <a:off x="4257720" y="2811240"/>
            <a:ext cx="6861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concepto estándar. Lo automático no basta: hace falta criterio clínico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869760" y="3211200"/>
            <a:ext cx="7147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Transformación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escribir el ETL (SQL, dbt, la herramienta que sea)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CuadroTexto 507"/>
          <p:cNvSpPr txBox="1"/>
          <p:nvPr/>
        </p:nvSpPr>
        <p:spPr>
          <a:xfrm>
            <a:off x="869760" y="3611520"/>
            <a:ext cx="6698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Validación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Data Quality Dashboard y Achilles antes de conﬁar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885960" y="4221000"/>
            <a:ext cx="1040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ETL de un hospital real toma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meses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días. La parte lenta nunca es escribir el SQL: es decidir a qué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885960" y="4564080"/>
            <a:ext cx="865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concepto corresponde cada uno de los 4 000 códigos locales del catálogo de farmacia.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Forma libre 5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Forma libre 5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Forma libre 5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3823200" y="3063960"/>
            <a:ext cx="46476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Consultar el CDM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Forma libre 5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Forma libre 5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Forma libre 523"/>
          <p:cNvSpPr/>
          <p:nvPr/>
        </p:nvSpPr>
        <p:spPr>
          <a:xfrm>
            <a:off x="671400" y="1604880"/>
            <a:ext cx="10849320" cy="3467520"/>
          </a:xfrm>
          <a:custGeom>
            <a:avLst/>
            <a:gdLst/>
            <a:ahLst/>
            <a:cxnLst/>
            <a:rect l="0" t="0" r="r" b="b"/>
            <a:pathLst>
              <a:path w="30137" h="9632">
                <a:moveTo>
                  <a:pt x="0" y="943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9433"/>
                </a:lnTo>
                <a:cubicBezTo>
                  <a:pt x="30137" y="9446"/>
                  <a:pt x="30136" y="9459"/>
                  <a:pt x="30133" y="9472"/>
                </a:cubicBezTo>
                <a:cubicBezTo>
                  <a:pt x="30130" y="9485"/>
                  <a:pt x="30127" y="9497"/>
                  <a:pt x="30122" y="9509"/>
                </a:cubicBezTo>
                <a:cubicBezTo>
                  <a:pt x="30117" y="9521"/>
                  <a:pt x="30111" y="9533"/>
                  <a:pt x="30103" y="9543"/>
                </a:cubicBezTo>
                <a:cubicBezTo>
                  <a:pt x="30096" y="9554"/>
                  <a:pt x="30088" y="9564"/>
                  <a:pt x="30079" y="9573"/>
                </a:cubicBezTo>
                <a:cubicBezTo>
                  <a:pt x="30070" y="9583"/>
                  <a:pt x="30059" y="9591"/>
                  <a:pt x="30049" y="9598"/>
                </a:cubicBezTo>
                <a:cubicBezTo>
                  <a:pt x="30038" y="9605"/>
                  <a:pt x="30026" y="9611"/>
                  <a:pt x="30014" y="9616"/>
                </a:cubicBezTo>
                <a:cubicBezTo>
                  <a:pt x="30002" y="9621"/>
                  <a:pt x="29990" y="9625"/>
                  <a:pt x="29977" y="9628"/>
                </a:cubicBezTo>
                <a:cubicBezTo>
                  <a:pt x="29964" y="9630"/>
                  <a:pt x="29951" y="9632"/>
                  <a:pt x="29938" y="9632"/>
                </a:cubicBezTo>
                <a:lnTo>
                  <a:pt x="198" y="9632"/>
                </a:lnTo>
                <a:cubicBezTo>
                  <a:pt x="185" y="9632"/>
                  <a:pt x="172" y="9630"/>
                  <a:pt x="160" y="9628"/>
                </a:cubicBezTo>
                <a:cubicBezTo>
                  <a:pt x="147" y="9625"/>
                  <a:pt x="134" y="9621"/>
                  <a:pt x="122" y="9616"/>
                </a:cubicBezTo>
                <a:cubicBezTo>
                  <a:pt x="110" y="9611"/>
                  <a:pt x="99" y="9605"/>
                  <a:pt x="88" y="9598"/>
                </a:cubicBezTo>
                <a:cubicBezTo>
                  <a:pt x="77" y="9591"/>
                  <a:pt x="67" y="9583"/>
                  <a:pt x="58" y="9573"/>
                </a:cubicBezTo>
                <a:cubicBezTo>
                  <a:pt x="49" y="9564"/>
                  <a:pt x="40" y="9554"/>
                  <a:pt x="33" y="9543"/>
                </a:cubicBezTo>
                <a:cubicBezTo>
                  <a:pt x="26" y="9533"/>
                  <a:pt x="20" y="9521"/>
                  <a:pt x="15" y="9509"/>
                </a:cubicBezTo>
                <a:cubicBezTo>
                  <a:pt x="10" y="9497"/>
                  <a:pt x="6" y="9485"/>
                  <a:pt x="4" y="9472"/>
                </a:cubicBezTo>
                <a:cubicBezTo>
                  <a:pt x="1" y="9459"/>
                  <a:pt x="0" y="9446"/>
                  <a:pt x="0" y="943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Forma libre 524"/>
          <p:cNvSpPr/>
          <p:nvPr/>
        </p:nvSpPr>
        <p:spPr>
          <a:xfrm>
            <a:off x="671400" y="1604880"/>
            <a:ext cx="10849320" cy="3467520"/>
          </a:xfrm>
          <a:custGeom>
            <a:avLst/>
            <a:gdLst/>
            <a:ahLst/>
            <a:cxnLst/>
            <a:rect l="0" t="0" r="r" b="b"/>
            <a:pathLst>
              <a:path w="30137" h="9632">
                <a:moveTo>
                  <a:pt x="0" y="943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9433"/>
                </a:lnTo>
                <a:cubicBezTo>
                  <a:pt x="30137" y="9446"/>
                  <a:pt x="30136" y="9459"/>
                  <a:pt x="30133" y="9472"/>
                </a:cubicBezTo>
                <a:cubicBezTo>
                  <a:pt x="30130" y="9485"/>
                  <a:pt x="30127" y="9497"/>
                  <a:pt x="30122" y="9509"/>
                </a:cubicBezTo>
                <a:cubicBezTo>
                  <a:pt x="30117" y="9521"/>
                  <a:pt x="30111" y="9533"/>
                  <a:pt x="30103" y="9543"/>
                </a:cubicBezTo>
                <a:cubicBezTo>
                  <a:pt x="30096" y="9554"/>
                  <a:pt x="30088" y="9564"/>
                  <a:pt x="30079" y="9573"/>
                </a:cubicBezTo>
                <a:cubicBezTo>
                  <a:pt x="30070" y="9583"/>
                  <a:pt x="30059" y="9591"/>
                  <a:pt x="30049" y="9598"/>
                </a:cubicBezTo>
                <a:cubicBezTo>
                  <a:pt x="30038" y="9605"/>
                  <a:pt x="30026" y="9611"/>
                  <a:pt x="30014" y="9616"/>
                </a:cubicBezTo>
                <a:cubicBezTo>
                  <a:pt x="30002" y="9621"/>
                  <a:pt x="29990" y="9625"/>
                  <a:pt x="29977" y="9628"/>
                </a:cubicBezTo>
                <a:cubicBezTo>
                  <a:pt x="29964" y="9630"/>
                  <a:pt x="29951" y="9632"/>
                  <a:pt x="29938" y="9632"/>
                </a:cubicBezTo>
                <a:lnTo>
                  <a:pt x="198" y="9632"/>
                </a:lnTo>
                <a:cubicBezTo>
                  <a:pt x="185" y="9632"/>
                  <a:pt x="172" y="9630"/>
                  <a:pt x="160" y="9628"/>
                </a:cubicBezTo>
                <a:cubicBezTo>
                  <a:pt x="147" y="9625"/>
                  <a:pt x="134" y="9621"/>
                  <a:pt x="122" y="9616"/>
                </a:cubicBezTo>
                <a:cubicBezTo>
                  <a:pt x="110" y="9611"/>
                  <a:pt x="99" y="9605"/>
                  <a:pt x="88" y="9598"/>
                </a:cubicBezTo>
                <a:cubicBezTo>
                  <a:pt x="77" y="9591"/>
                  <a:pt x="67" y="9583"/>
                  <a:pt x="58" y="9573"/>
                </a:cubicBezTo>
                <a:cubicBezTo>
                  <a:pt x="49" y="9564"/>
                  <a:pt x="40" y="9554"/>
                  <a:pt x="33" y="9543"/>
                </a:cubicBezTo>
                <a:cubicBezTo>
                  <a:pt x="26" y="9533"/>
                  <a:pt x="20" y="9521"/>
                  <a:pt x="15" y="9509"/>
                </a:cubicBezTo>
                <a:cubicBezTo>
                  <a:pt x="10" y="9497"/>
                  <a:pt x="6" y="9485"/>
                  <a:pt x="4" y="9472"/>
                </a:cubicBezTo>
                <a:cubicBezTo>
                  <a:pt x="1" y="9459"/>
                  <a:pt x="0" y="9446"/>
                  <a:pt x="0" y="943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6276600" y="971640"/>
            <a:ext cx="1467360" cy="381240"/>
          </a:xfrm>
          <a:custGeom>
            <a:avLst/>
            <a:gdLst/>
            <a:ahLst/>
            <a:cxnLst/>
            <a:rect l="0" t="0" r="r" b="b"/>
            <a:pathLst>
              <a:path w="4076" h="1059">
                <a:moveTo>
                  <a:pt x="0" y="952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970" y="0"/>
                </a:lnTo>
                <a:cubicBezTo>
                  <a:pt x="3984" y="0"/>
                  <a:pt x="3998" y="2"/>
                  <a:pt x="4011" y="8"/>
                </a:cubicBezTo>
                <a:cubicBezTo>
                  <a:pt x="4024" y="13"/>
                  <a:pt x="4035" y="21"/>
                  <a:pt x="4045" y="31"/>
                </a:cubicBezTo>
                <a:cubicBezTo>
                  <a:pt x="4055" y="41"/>
                  <a:pt x="4063" y="52"/>
                  <a:pt x="4068" y="65"/>
                </a:cubicBezTo>
                <a:cubicBezTo>
                  <a:pt x="4073" y="78"/>
                  <a:pt x="4076" y="92"/>
                  <a:pt x="4076" y="106"/>
                </a:cubicBezTo>
                <a:lnTo>
                  <a:pt x="4076" y="952"/>
                </a:lnTo>
                <a:cubicBezTo>
                  <a:pt x="4076" y="966"/>
                  <a:pt x="4073" y="980"/>
                  <a:pt x="4068" y="993"/>
                </a:cubicBezTo>
                <a:cubicBezTo>
                  <a:pt x="4063" y="1006"/>
                  <a:pt x="4055" y="1017"/>
                  <a:pt x="4045" y="1027"/>
                </a:cubicBezTo>
                <a:cubicBezTo>
                  <a:pt x="4035" y="1038"/>
                  <a:pt x="4024" y="1046"/>
                  <a:pt x="4011" y="1051"/>
                </a:cubicBezTo>
                <a:cubicBezTo>
                  <a:pt x="3998" y="1056"/>
                  <a:pt x="3984" y="1059"/>
                  <a:pt x="3970" y="1059"/>
                </a:cubicBezTo>
                <a:lnTo>
                  <a:pt x="106" y="1059"/>
                </a:lnTo>
                <a:cubicBezTo>
                  <a:pt x="92" y="1059"/>
                  <a:pt x="79" y="1056"/>
                  <a:pt x="66" y="1051"/>
                </a:cubicBezTo>
                <a:cubicBezTo>
                  <a:pt x="53" y="1046"/>
                  <a:pt x="41" y="1038"/>
                  <a:pt x="31" y="1027"/>
                </a:cubicBezTo>
                <a:cubicBezTo>
                  <a:pt x="22" y="1017"/>
                  <a:pt x="14" y="1006"/>
                  <a:pt x="9" y="993"/>
                </a:cubicBezTo>
                <a:cubicBezTo>
                  <a:pt x="3" y="980"/>
                  <a:pt x="0" y="966"/>
                  <a:pt x="0" y="952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CuadroTexto 526"/>
          <p:cNvSpPr txBox="1"/>
          <p:nvPr/>
        </p:nvSpPr>
        <p:spPr>
          <a:xfrm>
            <a:off x="666720" y="958680"/>
            <a:ext cx="4943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Casi toda consulta tiene un JOIN a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CuadroTexto 527"/>
          <p:cNvSpPr txBox="1"/>
          <p:nvPr/>
        </p:nvSpPr>
        <p:spPr>
          <a:xfrm>
            <a:off x="6325920" y="974520"/>
            <a:ext cx="136872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CuadroTexto 528"/>
          <p:cNvSpPr txBox="1"/>
          <p:nvPr/>
        </p:nvSpPr>
        <p:spPr>
          <a:xfrm>
            <a:off x="866880" y="1784520"/>
            <a:ext cx="2403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c.concept_name,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CuadroTexto 529"/>
          <p:cNvSpPr txBox="1"/>
          <p:nvPr/>
        </p:nvSpPr>
        <p:spPr>
          <a:xfrm>
            <a:off x="866880" y="2051280"/>
            <a:ext cx="5241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DISTINCT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co.person_id)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pacientes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CuadroTexto 530"/>
          <p:cNvSpPr txBox="1"/>
          <p:nvPr/>
        </p:nvSpPr>
        <p:spPr>
          <a:xfrm>
            <a:off x="866880" y="230868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condition_occurrence co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CuadroTexto 531"/>
          <p:cNvSpPr txBox="1"/>
          <p:nvPr/>
        </p:nvSpPr>
        <p:spPr>
          <a:xfrm>
            <a:off x="866880" y="257508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 c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co.condition_concept_id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CuadroTexto 532"/>
          <p:cNvSpPr txBox="1"/>
          <p:nvPr/>
        </p:nvSpPr>
        <p:spPr>
          <a:xfrm>
            <a:off x="866880" y="283248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observation_period op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CuadroTexto 533"/>
          <p:cNvSpPr txBox="1"/>
          <p:nvPr/>
        </p:nvSpPr>
        <p:spPr>
          <a:xfrm>
            <a:off x="866880" y="3099240"/>
            <a:ext cx="4040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op.person_id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CuadroTexto 534"/>
          <p:cNvSpPr txBox="1"/>
          <p:nvPr/>
        </p:nvSpPr>
        <p:spPr>
          <a:xfrm>
            <a:off x="866880" y="3356280"/>
            <a:ext cx="8080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co.condition_start_date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BETWEEN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op.observation_period_start_date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CuadroTexto 535"/>
          <p:cNvSpPr txBox="1"/>
          <p:nvPr/>
        </p:nvSpPr>
        <p:spPr>
          <a:xfrm>
            <a:off x="866880" y="3623040"/>
            <a:ext cx="7862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op.observation_period_end_date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CuadroTexto 536"/>
          <p:cNvSpPr txBox="1"/>
          <p:nvPr/>
        </p:nvSpPr>
        <p:spPr>
          <a:xfrm>
            <a:off x="866880" y="3880080"/>
            <a:ext cx="3385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c.standard_concept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'S'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CuadroTexto 537"/>
          <p:cNvSpPr txBox="1"/>
          <p:nvPr/>
        </p:nvSpPr>
        <p:spPr>
          <a:xfrm>
            <a:off x="866880" y="4146840"/>
            <a:ext cx="2511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GROUP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c.concept_name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CuadroTexto 538"/>
          <p:cNvSpPr txBox="1"/>
          <p:nvPr/>
        </p:nvSpPr>
        <p:spPr>
          <a:xfrm>
            <a:off x="866880" y="4403880"/>
            <a:ext cx="2511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ORDER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pacientes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DESC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CuadroTexto 539"/>
          <p:cNvSpPr txBox="1"/>
          <p:nvPr/>
        </p:nvSpPr>
        <p:spPr>
          <a:xfrm>
            <a:off x="866880" y="467064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LIMIT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CuadroTexto 54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CuadroTexto 54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CuadroTexto 54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Forma libre 5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CuadroTexto 553"/>
          <p:cNvSpPr txBox="1"/>
          <p:nvPr/>
        </p:nvSpPr>
        <p:spPr>
          <a:xfrm>
            <a:off x="3398040" y="3063960"/>
            <a:ext cx="55141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El ecosistema OHDSI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CuadroTexto 55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CuadroTexto 55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CuadroTexto 55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Forma libre 5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676080" y="2047680"/>
            <a:ext cx="1572120" cy="410040"/>
          </a:xfrm>
          <a:custGeom>
            <a:avLst/>
            <a:gdLst/>
            <a:ahLst/>
            <a:cxnLst/>
            <a:rect l="0" t="0" r="r" b="b"/>
            <a:pathLst>
              <a:path w="4367" h="1139">
                <a:moveTo>
                  <a:pt x="0" y="0"/>
                </a:moveTo>
                <a:lnTo>
                  <a:pt x="4367" y="0"/>
                </a:lnTo>
                <a:lnTo>
                  <a:pt x="436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2247840" y="2047680"/>
            <a:ext cx="4248360" cy="410040"/>
          </a:xfrm>
          <a:custGeom>
            <a:avLst/>
            <a:gdLst/>
            <a:ahLst/>
            <a:cxnLst/>
            <a:rect l="0" t="0" r="r" b="b"/>
            <a:pathLst>
              <a:path w="11801" h="1139">
                <a:moveTo>
                  <a:pt x="0" y="0"/>
                </a:moveTo>
                <a:lnTo>
                  <a:pt x="11801" y="0"/>
                </a:lnTo>
                <a:lnTo>
                  <a:pt x="1180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676080" y="2047680"/>
            <a:ext cx="1572120" cy="410040"/>
          </a:xfrm>
          <a:custGeom>
            <a:avLst/>
            <a:gdLst/>
            <a:ahLst/>
            <a:cxnLst/>
            <a:rect l="0" t="0" r="r" b="b"/>
            <a:pathLst>
              <a:path w="4367" h="1139">
                <a:moveTo>
                  <a:pt x="0" y="0"/>
                </a:moveTo>
                <a:lnTo>
                  <a:pt x="4367" y="0"/>
                </a:lnTo>
                <a:lnTo>
                  <a:pt x="436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Forma libre 563"/>
          <p:cNvSpPr/>
          <p:nvPr/>
        </p:nvSpPr>
        <p:spPr>
          <a:xfrm>
            <a:off x="2247840" y="2047680"/>
            <a:ext cx="4248360" cy="410040"/>
          </a:xfrm>
          <a:custGeom>
            <a:avLst/>
            <a:gdLst/>
            <a:ahLst/>
            <a:cxnLst/>
            <a:rect l="0" t="0" r="r" b="b"/>
            <a:pathLst>
              <a:path w="11801" h="1139">
                <a:moveTo>
                  <a:pt x="0" y="0"/>
                </a:moveTo>
                <a:lnTo>
                  <a:pt x="11801" y="0"/>
                </a:lnTo>
                <a:lnTo>
                  <a:pt x="1180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676080" y="2457360"/>
            <a:ext cx="1572120" cy="419400"/>
          </a:xfrm>
          <a:custGeom>
            <a:avLst/>
            <a:gdLst/>
            <a:ahLst/>
            <a:cxnLst/>
            <a:rect l="0" t="0" r="r" b="b"/>
            <a:pathLst>
              <a:path w="4367" h="1165">
                <a:moveTo>
                  <a:pt x="0" y="0"/>
                </a:moveTo>
                <a:lnTo>
                  <a:pt x="4367" y="0"/>
                </a:lnTo>
                <a:lnTo>
                  <a:pt x="43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2247840" y="2457360"/>
            <a:ext cx="4248360" cy="419400"/>
          </a:xfrm>
          <a:custGeom>
            <a:avLst/>
            <a:gdLst/>
            <a:ahLst/>
            <a:cxnLst/>
            <a:rect l="0" t="0" r="r" b="b"/>
            <a:pathLst>
              <a:path w="11801" h="1165">
                <a:moveTo>
                  <a:pt x="0" y="0"/>
                </a:moveTo>
                <a:lnTo>
                  <a:pt x="11801" y="0"/>
                </a:lnTo>
                <a:lnTo>
                  <a:pt x="118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676080" y="2876400"/>
            <a:ext cx="1572120" cy="419400"/>
          </a:xfrm>
          <a:custGeom>
            <a:avLst/>
            <a:gdLst/>
            <a:ahLst/>
            <a:cxnLst/>
            <a:rect l="0" t="0" r="r" b="b"/>
            <a:pathLst>
              <a:path w="4367" h="1165">
                <a:moveTo>
                  <a:pt x="0" y="0"/>
                </a:moveTo>
                <a:lnTo>
                  <a:pt x="4367" y="0"/>
                </a:lnTo>
                <a:lnTo>
                  <a:pt x="43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2247840" y="2876400"/>
            <a:ext cx="4248360" cy="419400"/>
          </a:xfrm>
          <a:custGeom>
            <a:avLst/>
            <a:gdLst/>
            <a:ahLst/>
            <a:cxnLst/>
            <a:rect l="0" t="0" r="r" b="b"/>
            <a:pathLst>
              <a:path w="11801" h="1165">
                <a:moveTo>
                  <a:pt x="0" y="0"/>
                </a:moveTo>
                <a:lnTo>
                  <a:pt x="11801" y="0"/>
                </a:lnTo>
                <a:lnTo>
                  <a:pt x="118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orma libre 568"/>
          <p:cNvSpPr/>
          <p:nvPr/>
        </p:nvSpPr>
        <p:spPr>
          <a:xfrm>
            <a:off x="676080" y="3295440"/>
            <a:ext cx="1572120" cy="419400"/>
          </a:xfrm>
          <a:custGeom>
            <a:avLst/>
            <a:gdLst/>
            <a:ahLst/>
            <a:cxnLst/>
            <a:rect l="0" t="0" r="r" b="b"/>
            <a:pathLst>
              <a:path w="4367" h="1165">
                <a:moveTo>
                  <a:pt x="0" y="0"/>
                </a:moveTo>
                <a:lnTo>
                  <a:pt x="4367" y="0"/>
                </a:lnTo>
                <a:lnTo>
                  <a:pt x="43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Forma libre 569"/>
          <p:cNvSpPr/>
          <p:nvPr/>
        </p:nvSpPr>
        <p:spPr>
          <a:xfrm>
            <a:off x="2247840" y="3295440"/>
            <a:ext cx="4248360" cy="419400"/>
          </a:xfrm>
          <a:custGeom>
            <a:avLst/>
            <a:gdLst/>
            <a:ahLst/>
            <a:cxnLst/>
            <a:rect l="0" t="0" r="r" b="b"/>
            <a:pathLst>
              <a:path w="11801" h="1165">
                <a:moveTo>
                  <a:pt x="0" y="0"/>
                </a:moveTo>
                <a:lnTo>
                  <a:pt x="11801" y="0"/>
                </a:lnTo>
                <a:lnTo>
                  <a:pt x="118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Forma libre 570"/>
          <p:cNvSpPr/>
          <p:nvPr/>
        </p:nvSpPr>
        <p:spPr>
          <a:xfrm>
            <a:off x="676080" y="3714480"/>
            <a:ext cx="1572120" cy="419400"/>
          </a:xfrm>
          <a:custGeom>
            <a:avLst/>
            <a:gdLst/>
            <a:ahLst/>
            <a:cxnLst/>
            <a:rect l="0" t="0" r="r" b="b"/>
            <a:pathLst>
              <a:path w="4367" h="1165">
                <a:moveTo>
                  <a:pt x="0" y="0"/>
                </a:moveTo>
                <a:lnTo>
                  <a:pt x="4367" y="0"/>
                </a:lnTo>
                <a:lnTo>
                  <a:pt x="43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Forma libre 571"/>
          <p:cNvSpPr/>
          <p:nvPr/>
        </p:nvSpPr>
        <p:spPr>
          <a:xfrm>
            <a:off x="2247840" y="3714480"/>
            <a:ext cx="4248360" cy="419400"/>
          </a:xfrm>
          <a:custGeom>
            <a:avLst/>
            <a:gdLst/>
            <a:ahLst/>
            <a:cxnLst/>
            <a:rect l="0" t="0" r="r" b="b"/>
            <a:pathLst>
              <a:path w="11801" h="1165">
                <a:moveTo>
                  <a:pt x="0" y="0"/>
                </a:moveTo>
                <a:lnTo>
                  <a:pt x="11801" y="0"/>
                </a:lnTo>
                <a:lnTo>
                  <a:pt x="118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Forma libre 572"/>
          <p:cNvSpPr/>
          <p:nvPr/>
        </p:nvSpPr>
        <p:spPr>
          <a:xfrm>
            <a:off x="676080" y="4133520"/>
            <a:ext cx="1572120" cy="419760"/>
          </a:xfrm>
          <a:custGeom>
            <a:avLst/>
            <a:gdLst/>
            <a:ahLst/>
            <a:cxnLst/>
            <a:rect l="0" t="0" r="r" b="b"/>
            <a:pathLst>
              <a:path w="4367" h="1166">
                <a:moveTo>
                  <a:pt x="0" y="0"/>
                </a:moveTo>
                <a:lnTo>
                  <a:pt x="4367" y="0"/>
                </a:lnTo>
                <a:lnTo>
                  <a:pt x="436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Forma libre 573"/>
          <p:cNvSpPr/>
          <p:nvPr/>
        </p:nvSpPr>
        <p:spPr>
          <a:xfrm>
            <a:off x="2247840" y="4133520"/>
            <a:ext cx="4248360" cy="419760"/>
          </a:xfrm>
          <a:custGeom>
            <a:avLst/>
            <a:gdLst/>
            <a:ahLst/>
            <a:cxnLst/>
            <a:rect l="0" t="0" r="r" b="b"/>
            <a:pathLst>
              <a:path w="11801" h="1166">
                <a:moveTo>
                  <a:pt x="0" y="0"/>
                </a:moveTo>
                <a:lnTo>
                  <a:pt x="11801" y="0"/>
                </a:lnTo>
                <a:lnTo>
                  <a:pt x="11801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Forma libre 574"/>
          <p:cNvSpPr/>
          <p:nvPr/>
        </p:nvSpPr>
        <p:spPr>
          <a:xfrm>
            <a:off x="676080" y="4552920"/>
            <a:ext cx="1572120" cy="419400"/>
          </a:xfrm>
          <a:custGeom>
            <a:avLst/>
            <a:gdLst/>
            <a:ahLst/>
            <a:cxnLst/>
            <a:rect l="0" t="0" r="r" b="b"/>
            <a:pathLst>
              <a:path w="4367" h="1165">
                <a:moveTo>
                  <a:pt x="0" y="0"/>
                </a:moveTo>
                <a:lnTo>
                  <a:pt x="4367" y="0"/>
                </a:lnTo>
                <a:lnTo>
                  <a:pt x="43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Forma libre 575"/>
          <p:cNvSpPr/>
          <p:nvPr/>
        </p:nvSpPr>
        <p:spPr>
          <a:xfrm>
            <a:off x="2247840" y="4552920"/>
            <a:ext cx="4248360" cy="419400"/>
          </a:xfrm>
          <a:custGeom>
            <a:avLst/>
            <a:gdLst/>
            <a:ahLst/>
            <a:cxnLst/>
            <a:rect l="0" t="0" r="r" b="b"/>
            <a:pathLst>
              <a:path w="11801" h="1165">
                <a:moveTo>
                  <a:pt x="0" y="0"/>
                </a:moveTo>
                <a:lnTo>
                  <a:pt x="11801" y="0"/>
                </a:lnTo>
                <a:lnTo>
                  <a:pt x="118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Forma libre 576"/>
          <p:cNvSpPr/>
          <p:nvPr/>
        </p:nvSpPr>
        <p:spPr>
          <a:xfrm>
            <a:off x="666720" y="2038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Forma libre 577"/>
          <p:cNvSpPr/>
          <p:nvPr/>
        </p:nvSpPr>
        <p:spPr>
          <a:xfrm>
            <a:off x="666720" y="203832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Forma libre 578"/>
          <p:cNvSpPr/>
          <p:nvPr/>
        </p:nvSpPr>
        <p:spPr>
          <a:xfrm>
            <a:off x="2238120" y="2038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Forma libre 579"/>
          <p:cNvSpPr/>
          <p:nvPr/>
        </p:nvSpPr>
        <p:spPr>
          <a:xfrm>
            <a:off x="2247840" y="2038320"/>
            <a:ext cx="4248360" cy="9720"/>
          </a:xfrm>
          <a:custGeom>
            <a:avLst/>
            <a:gdLst/>
            <a:ahLst/>
            <a:cxnLst/>
            <a:rect l="0" t="0" r="r" b="b"/>
            <a:pathLst>
              <a:path w="11801" h="27">
                <a:moveTo>
                  <a:pt x="0" y="0"/>
                </a:moveTo>
                <a:lnTo>
                  <a:pt x="11801" y="0"/>
                </a:lnTo>
                <a:lnTo>
                  <a:pt x="118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Forma libre 580"/>
          <p:cNvSpPr/>
          <p:nvPr/>
        </p:nvSpPr>
        <p:spPr>
          <a:xfrm>
            <a:off x="6486480" y="2038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Forma libre 581"/>
          <p:cNvSpPr/>
          <p:nvPr/>
        </p:nvSpPr>
        <p:spPr>
          <a:xfrm>
            <a:off x="666720" y="244764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Forma libre 582"/>
          <p:cNvSpPr/>
          <p:nvPr/>
        </p:nvSpPr>
        <p:spPr>
          <a:xfrm>
            <a:off x="2247840" y="2447640"/>
            <a:ext cx="4248360" cy="10080"/>
          </a:xfrm>
          <a:custGeom>
            <a:avLst/>
            <a:gdLst/>
            <a:ahLst/>
            <a:cxnLst/>
            <a:rect l="0" t="0" r="r" b="b"/>
            <a:pathLst>
              <a:path w="11801" h="28">
                <a:moveTo>
                  <a:pt x="0" y="0"/>
                </a:moveTo>
                <a:lnTo>
                  <a:pt x="11801" y="0"/>
                </a:lnTo>
                <a:lnTo>
                  <a:pt x="118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Forma libre 583"/>
          <p:cNvSpPr/>
          <p:nvPr/>
        </p:nvSpPr>
        <p:spPr>
          <a:xfrm>
            <a:off x="66672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orma libre 584"/>
          <p:cNvSpPr/>
          <p:nvPr/>
        </p:nvSpPr>
        <p:spPr>
          <a:xfrm>
            <a:off x="2238120" y="2457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Forma libre 585"/>
          <p:cNvSpPr/>
          <p:nvPr/>
        </p:nvSpPr>
        <p:spPr>
          <a:xfrm>
            <a:off x="648648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Forma libre 586"/>
          <p:cNvSpPr/>
          <p:nvPr/>
        </p:nvSpPr>
        <p:spPr>
          <a:xfrm>
            <a:off x="66672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orma libre 587"/>
          <p:cNvSpPr/>
          <p:nvPr/>
        </p:nvSpPr>
        <p:spPr>
          <a:xfrm>
            <a:off x="666720" y="286668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Forma libre 588"/>
          <p:cNvSpPr/>
          <p:nvPr/>
        </p:nvSpPr>
        <p:spPr>
          <a:xfrm>
            <a:off x="2238120" y="2876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Forma libre 589"/>
          <p:cNvSpPr/>
          <p:nvPr/>
        </p:nvSpPr>
        <p:spPr>
          <a:xfrm>
            <a:off x="2247840" y="2866680"/>
            <a:ext cx="4248360" cy="10080"/>
          </a:xfrm>
          <a:custGeom>
            <a:avLst/>
            <a:gdLst/>
            <a:ahLst/>
            <a:cxnLst/>
            <a:rect l="0" t="0" r="r" b="b"/>
            <a:pathLst>
              <a:path w="11801" h="28">
                <a:moveTo>
                  <a:pt x="0" y="0"/>
                </a:moveTo>
                <a:lnTo>
                  <a:pt x="11801" y="0"/>
                </a:lnTo>
                <a:lnTo>
                  <a:pt x="118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Forma libre 590"/>
          <p:cNvSpPr/>
          <p:nvPr/>
        </p:nvSpPr>
        <p:spPr>
          <a:xfrm>
            <a:off x="648648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Forma libre 591"/>
          <p:cNvSpPr/>
          <p:nvPr/>
        </p:nvSpPr>
        <p:spPr>
          <a:xfrm>
            <a:off x="66672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Forma libre 592"/>
          <p:cNvSpPr/>
          <p:nvPr/>
        </p:nvSpPr>
        <p:spPr>
          <a:xfrm>
            <a:off x="666720" y="32860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Forma libre 593"/>
          <p:cNvSpPr/>
          <p:nvPr/>
        </p:nvSpPr>
        <p:spPr>
          <a:xfrm>
            <a:off x="2238120" y="32954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Forma libre 594"/>
          <p:cNvSpPr/>
          <p:nvPr/>
        </p:nvSpPr>
        <p:spPr>
          <a:xfrm>
            <a:off x="2247840" y="3286080"/>
            <a:ext cx="4248360" cy="9720"/>
          </a:xfrm>
          <a:custGeom>
            <a:avLst/>
            <a:gdLst/>
            <a:ahLst/>
            <a:cxnLst/>
            <a:rect l="0" t="0" r="r" b="b"/>
            <a:pathLst>
              <a:path w="11801" h="27">
                <a:moveTo>
                  <a:pt x="0" y="0"/>
                </a:moveTo>
                <a:lnTo>
                  <a:pt x="11801" y="0"/>
                </a:lnTo>
                <a:lnTo>
                  <a:pt x="118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Forma libre 595"/>
          <p:cNvSpPr/>
          <p:nvPr/>
        </p:nvSpPr>
        <p:spPr>
          <a:xfrm>
            <a:off x="648648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Forma libre 596"/>
          <p:cNvSpPr/>
          <p:nvPr/>
        </p:nvSpPr>
        <p:spPr>
          <a:xfrm>
            <a:off x="6667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Forma libre 597"/>
          <p:cNvSpPr/>
          <p:nvPr/>
        </p:nvSpPr>
        <p:spPr>
          <a:xfrm>
            <a:off x="666720" y="370512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Forma libre 598"/>
          <p:cNvSpPr/>
          <p:nvPr/>
        </p:nvSpPr>
        <p:spPr>
          <a:xfrm>
            <a:off x="223812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2247840" y="3705120"/>
            <a:ext cx="4248360" cy="9720"/>
          </a:xfrm>
          <a:custGeom>
            <a:avLst/>
            <a:gdLst/>
            <a:ahLst/>
            <a:cxnLst/>
            <a:rect l="0" t="0" r="r" b="b"/>
            <a:pathLst>
              <a:path w="11801" h="27">
                <a:moveTo>
                  <a:pt x="0" y="0"/>
                </a:moveTo>
                <a:lnTo>
                  <a:pt x="11801" y="0"/>
                </a:lnTo>
                <a:lnTo>
                  <a:pt x="118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Forma libre 600"/>
          <p:cNvSpPr/>
          <p:nvPr/>
        </p:nvSpPr>
        <p:spPr>
          <a:xfrm>
            <a:off x="648648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Forma libre 601"/>
          <p:cNvSpPr/>
          <p:nvPr/>
        </p:nvSpPr>
        <p:spPr>
          <a:xfrm>
            <a:off x="66672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Forma libre 602"/>
          <p:cNvSpPr/>
          <p:nvPr/>
        </p:nvSpPr>
        <p:spPr>
          <a:xfrm>
            <a:off x="666720" y="412416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Forma libre 603"/>
          <p:cNvSpPr/>
          <p:nvPr/>
        </p:nvSpPr>
        <p:spPr>
          <a:xfrm>
            <a:off x="2238120" y="41335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Forma libre 604"/>
          <p:cNvSpPr/>
          <p:nvPr/>
        </p:nvSpPr>
        <p:spPr>
          <a:xfrm>
            <a:off x="2247840" y="4124160"/>
            <a:ext cx="4248360" cy="9720"/>
          </a:xfrm>
          <a:custGeom>
            <a:avLst/>
            <a:gdLst/>
            <a:ahLst/>
            <a:cxnLst/>
            <a:rect l="0" t="0" r="r" b="b"/>
            <a:pathLst>
              <a:path w="11801" h="27">
                <a:moveTo>
                  <a:pt x="0" y="0"/>
                </a:moveTo>
                <a:lnTo>
                  <a:pt x="11801" y="0"/>
                </a:lnTo>
                <a:lnTo>
                  <a:pt x="118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orma libre 605"/>
          <p:cNvSpPr/>
          <p:nvPr/>
        </p:nvSpPr>
        <p:spPr>
          <a:xfrm>
            <a:off x="648648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Forma libre 606"/>
          <p:cNvSpPr/>
          <p:nvPr/>
        </p:nvSpPr>
        <p:spPr>
          <a:xfrm>
            <a:off x="666720" y="4552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orma libre 607"/>
          <p:cNvSpPr/>
          <p:nvPr/>
        </p:nvSpPr>
        <p:spPr>
          <a:xfrm>
            <a:off x="666720" y="45432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Forma libre 608"/>
          <p:cNvSpPr/>
          <p:nvPr/>
        </p:nvSpPr>
        <p:spPr>
          <a:xfrm>
            <a:off x="2238120" y="4552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Forma libre 609"/>
          <p:cNvSpPr/>
          <p:nvPr/>
        </p:nvSpPr>
        <p:spPr>
          <a:xfrm>
            <a:off x="2247840" y="4543200"/>
            <a:ext cx="4248360" cy="10080"/>
          </a:xfrm>
          <a:custGeom>
            <a:avLst/>
            <a:gdLst/>
            <a:ahLst/>
            <a:cxnLst/>
            <a:rect l="0" t="0" r="r" b="b"/>
            <a:pathLst>
              <a:path w="11801" h="28">
                <a:moveTo>
                  <a:pt x="0" y="0"/>
                </a:moveTo>
                <a:lnTo>
                  <a:pt x="11801" y="0"/>
                </a:lnTo>
                <a:lnTo>
                  <a:pt x="118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Forma libre 610"/>
          <p:cNvSpPr/>
          <p:nvPr/>
        </p:nvSpPr>
        <p:spPr>
          <a:xfrm>
            <a:off x="6486480" y="4552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Forma libre 611"/>
          <p:cNvSpPr/>
          <p:nvPr/>
        </p:nvSpPr>
        <p:spPr>
          <a:xfrm>
            <a:off x="666720" y="496224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Forma libre 612"/>
          <p:cNvSpPr/>
          <p:nvPr/>
        </p:nvSpPr>
        <p:spPr>
          <a:xfrm>
            <a:off x="2247840" y="4962240"/>
            <a:ext cx="4248360" cy="10080"/>
          </a:xfrm>
          <a:custGeom>
            <a:avLst/>
            <a:gdLst/>
            <a:ahLst/>
            <a:cxnLst/>
            <a:rect l="0" t="0" r="r" b="b"/>
            <a:pathLst>
              <a:path w="11801" h="28">
                <a:moveTo>
                  <a:pt x="0" y="0"/>
                </a:moveTo>
                <a:lnTo>
                  <a:pt x="11801" y="0"/>
                </a:lnTo>
                <a:lnTo>
                  <a:pt x="118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CuadroTexto 613"/>
          <p:cNvSpPr txBox="1"/>
          <p:nvPr/>
        </p:nvSpPr>
        <p:spPr>
          <a:xfrm>
            <a:off x="666720" y="1406160"/>
            <a:ext cx="3632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ya está construido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CuadroTexto 614"/>
          <p:cNvSpPr txBox="1"/>
          <p:nvPr/>
        </p:nvSpPr>
        <p:spPr>
          <a:xfrm>
            <a:off x="895320" y="2142720"/>
            <a:ext cx="1129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Herramienta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CuadroTexto 615"/>
          <p:cNvSpPr txBox="1"/>
          <p:nvPr/>
        </p:nvSpPr>
        <p:spPr>
          <a:xfrm>
            <a:off x="3964320" y="2142720"/>
            <a:ext cx="81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Para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CuadroTexto 616"/>
          <p:cNvSpPr txBox="1"/>
          <p:nvPr/>
        </p:nvSpPr>
        <p:spPr>
          <a:xfrm>
            <a:off x="799920" y="2552400"/>
            <a:ext cx="783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ATHENA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CuadroTexto 617"/>
          <p:cNvSpPr txBox="1"/>
          <p:nvPr/>
        </p:nvSpPr>
        <p:spPr>
          <a:xfrm>
            <a:off x="2376360" y="2552400"/>
            <a:ext cx="2661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buscar y descargar vocabularios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CuadroTexto 618"/>
          <p:cNvSpPr txBox="1"/>
          <p:nvPr/>
        </p:nvSpPr>
        <p:spPr>
          <a:xfrm>
            <a:off x="799920" y="2971440"/>
            <a:ext cx="614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ATLAS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CuadroTexto 619"/>
          <p:cNvSpPr txBox="1"/>
          <p:nvPr/>
        </p:nvSpPr>
        <p:spPr>
          <a:xfrm>
            <a:off x="2376360" y="2971440"/>
            <a:ext cx="3988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deﬁnir cohortes y caracterizarlas, en interfaz web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799920" y="3390480"/>
            <a:ext cx="660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HADES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2376360" y="3390480"/>
            <a:ext cx="3204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paquetes de R para análisis (sesión 18)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CuadroTexto 622"/>
          <p:cNvSpPr txBox="1"/>
          <p:nvPr/>
        </p:nvSpPr>
        <p:spPr>
          <a:xfrm>
            <a:off x="799920" y="3809520"/>
            <a:ext cx="797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Eunomia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CuadroTexto 623"/>
          <p:cNvSpPr txBox="1"/>
          <p:nvPr/>
        </p:nvSpPr>
        <p:spPr>
          <a:xfrm>
            <a:off x="2376360" y="3809520"/>
            <a:ext cx="3114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base OMOP de juguete para practicar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CuadroTexto 624"/>
          <p:cNvSpPr txBox="1"/>
          <p:nvPr/>
        </p:nvSpPr>
        <p:spPr>
          <a:xfrm>
            <a:off x="799920" y="4228560"/>
            <a:ext cx="871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Broadsea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2376360" y="4228560"/>
            <a:ext cx="3861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 lo anterior, en contenedores (sesión 6 y 7)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CuadroTexto 626"/>
          <p:cNvSpPr txBox="1"/>
          <p:nvPr/>
        </p:nvSpPr>
        <p:spPr>
          <a:xfrm>
            <a:off x="799920" y="4647960"/>
            <a:ext cx="1319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DQD / Achilles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2376360" y="4647960"/>
            <a:ext cx="3071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calidad y caracterización automáticas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uadroTexto 628"/>
          <p:cNvSpPr txBox="1"/>
          <p:nvPr/>
        </p:nvSpPr>
        <p:spPr>
          <a:xfrm>
            <a:off x="666720" y="5163840"/>
            <a:ext cx="9726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Todo es abierto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con foros activos y grupos de trabajo a los que puedes unirte siendo estudiante.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CuadroTexto 62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CuadroTexto 63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CuadroTexto 63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Forma libre 6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Forma libre 6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Forma libre 634"/>
          <p:cNvSpPr/>
          <p:nvPr/>
        </p:nvSpPr>
        <p:spPr>
          <a:xfrm>
            <a:off x="0" y="28728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CuadroTexto 635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869760" y="2535120"/>
            <a:ext cx="10271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OMOP es esquema + vocabularios + convenciones.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Sin los vocabularios, un esquema común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CuadroTexto 637"/>
          <p:cNvSpPr txBox="1"/>
          <p:nvPr/>
        </p:nvSpPr>
        <p:spPr>
          <a:xfrm>
            <a:off x="1123920" y="2877840"/>
            <a:ext cx="1381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sirve de nada.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Forma libre 638"/>
          <p:cNvSpPr/>
          <p:nvPr/>
        </p:nvSpPr>
        <p:spPr>
          <a:xfrm>
            <a:off x="8534160" y="3390840"/>
            <a:ext cx="1752840" cy="266760"/>
          </a:xfrm>
          <a:custGeom>
            <a:avLst/>
            <a:gdLst/>
            <a:ahLst/>
            <a:cxnLst/>
            <a:rect l="0" t="0" r="r" b="b"/>
            <a:pathLst>
              <a:path w="4869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764" y="0"/>
                </a:lnTo>
                <a:cubicBezTo>
                  <a:pt x="4778" y="0"/>
                  <a:pt x="4791" y="2"/>
                  <a:pt x="4804" y="8"/>
                </a:cubicBezTo>
                <a:cubicBezTo>
                  <a:pt x="4817" y="13"/>
                  <a:pt x="4829" y="21"/>
                  <a:pt x="4838" y="31"/>
                </a:cubicBezTo>
                <a:cubicBezTo>
                  <a:pt x="4848" y="41"/>
                  <a:pt x="4856" y="52"/>
                  <a:pt x="4861" y="65"/>
                </a:cubicBezTo>
                <a:cubicBezTo>
                  <a:pt x="4867" y="78"/>
                  <a:pt x="4869" y="91"/>
                  <a:pt x="4869" y="105"/>
                </a:cubicBezTo>
                <a:lnTo>
                  <a:pt x="4869" y="636"/>
                </a:lnTo>
                <a:cubicBezTo>
                  <a:pt x="4869" y="650"/>
                  <a:pt x="4867" y="663"/>
                  <a:pt x="4861" y="676"/>
                </a:cubicBezTo>
                <a:cubicBezTo>
                  <a:pt x="4856" y="689"/>
                  <a:pt x="4848" y="701"/>
                  <a:pt x="4838" y="711"/>
                </a:cubicBezTo>
                <a:cubicBezTo>
                  <a:pt x="4829" y="720"/>
                  <a:pt x="4817" y="728"/>
                  <a:pt x="4804" y="733"/>
                </a:cubicBezTo>
                <a:cubicBezTo>
                  <a:pt x="4791" y="739"/>
                  <a:pt x="4778" y="741"/>
                  <a:pt x="4764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CuadroTexto 639"/>
          <p:cNvSpPr txBox="1"/>
          <p:nvPr/>
        </p:nvSpPr>
        <p:spPr>
          <a:xfrm>
            <a:off x="869760" y="3373200"/>
            <a:ext cx="7683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Analizas con el concepto estándar, auditas con el valor de origen.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8588880" y="341064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concept_id = 0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10284120" y="3373200"/>
            <a:ext cx="517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CuadroTexto 642"/>
          <p:cNvSpPr txBox="1"/>
          <p:nvPr/>
        </p:nvSpPr>
        <p:spPr>
          <a:xfrm>
            <a:off x="1123920" y="3716280"/>
            <a:ext cx="4302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centinela que mide si tu ETL está completo.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CuadroTexto 644"/>
          <p:cNvSpPr txBox="1"/>
          <p:nvPr/>
        </p:nvSpPr>
        <p:spPr>
          <a:xfrm>
            <a:off x="869760" y="4211640"/>
            <a:ext cx="6412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CuadroTexto 64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CuadroTexto 65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Forma libre 6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Forma libre 6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Forma libre 6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CuadroTexto 654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CuadroTexto 655"/>
          <p:cNvSpPr txBox="1"/>
          <p:nvPr/>
        </p:nvSpPr>
        <p:spPr>
          <a:xfrm>
            <a:off x="666720" y="2717280"/>
            <a:ext cx="35438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Primeros pasos en OMOP CDM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CuadroTexto 656"/>
          <p:cNvSpPr txBox="1"/>
          <p:nvPr/>
        </p:nvSpPr>
        <p:spPr>
          <a:xfrm>
            <a:off x="666720" y="3230280"/>
            <a:ext cx="10361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Convertir tus datos de Synthea a OMOP CDM, dibujar el modelo, medir la calidad del mapeo y responder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CuadroTexto 657"/>
          <p:cNvSpPr txBox="1"/>
          <p:nvPr/>
        </p:nvSpPr>
        <p:spPr>
          <a:xfrm>
            <a:off x="666720" y="3573360"/>
            <a:ext cx="6522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preguntas epidemiológicas respetando la ventana de observación.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Forma libre 658"/>
          <p:cNvSpPr/>
          <p:nvPr/>
        </p:nvSpPr>
        <p:spPr>
          <a:xfrm>
            <a:off x="5667120" y="4086000"/>
            <a:ext cx="2219760" cy="267120"/>
          </a:xfrm>
          <a:custGeom>
            <a:avLst/>
            <a:gdLst/>
            <a:ahLst/>
            <a:cxnLst/>
            <a:rect l="0" t="0" r="r" b="b"/>
            <a:pathLst>
              <a:path w="616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6060" y="0"/>
                </a:lnTo>
                <a:cubicBezTo>
                  <a:pt x="6074" y="0"/>
                  <a:pt x="6088" y="3"/>
                  <a:pt x="6101" y="8"/>
                </a:cubicBezTo>
                <a:cubicBezTo>
                  <a:pt x="6114" y="14"/>
                  <a:pt x="6125" y="21"/>
                  <a:pt x="6135" y="31"/>
                </a:cubicBezTo>
                <a:cubicBezTo>
                  <a:pt x="6145" y="41"/>
                  <a:pt x="6153" y="52"/>
                  <a:pt x="6158" y="65"/>
                </a:cubicBezTo>
                <a:cubicBezTo>
                  <a:pt x="6163" y="78"/>
                  <a:pt x="6166" y="92"/>
                  <a:pt x="6166" y="106"/>
                </a:cubicBezTo>
                <a:lnTo>
                  <a:pt x="6166" y="636"/>
                </a:lnTo>
                <a:cubicBezTo>
                  <a:pt x="6166" y="650"/>
                  <a:pt x="6163" y="664"/>
                  <a:pt x="6158" y="677"/>
                </a:cubicBezTo>
                <a:cubicBezTo>
                  <a:pt x="6153" y="690"/>
                  <a:pt x="6145" y="701"/>
                  <a:pt x="6135" y="711"/>
                </a:cubicBezTo>
                <a:cubicBezTo>
                  <a:pt x="6125" y="721"/>
                  <a:pt x="6114" y="729"/>
                  <a:pt x="6101" y="734"/>
                </a:cubicBezTo>
                <a:cubicBezTo>
                  <a:pt x="6088" y="739"/>
                  <a:pt x="6074" y="742"/>
                  <a:pt x="606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CuadroTexto 659"/>
          <p:cNvSpPr txBox="1"/>
          <p:nvPr/>
        </p:nvSpPr>
        <p:spPr>
          <a:xfrm>
            <a:off x="666720" y="4068720"/>
            <a:ext cx="5010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base OMOP propia + diagrama ER +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CuadroTexto 660"/>
          <p:cNvSpPr txBox="1"/>
          <p:nvPr/>
        </p:nvSpPr>
        <p:spPr>
          <a:xfrm>
            <a:off x="5725440" y="4105800"/>
            <a:ext cx="2114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consultas_omop.sql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Forma libre 661"/>
          <p:cNvSpPr/>
          <p:nvPr/>
        </p:nvSpPr>
        <p:spPr>
          <a:xfrm>
            <a:off x="666720" y="4581360"/>
            <a:ext cx="4791240" cy="267120"/>
          </a:xfrm>
          <a:custGeom>
            <a:avLst/>
            <a:gdLst/>
            <a:ahLst/>
            <a:cxnLst/>
            <a:rect l="0" t="0" r="r" b="b"/>
            <a:pathLst>
              <a:path w="1330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3203" y="0"/>
                </a:lnTo>
                <a:cubicBezTo>
                  <a:pt x="13217" y="0"/>
                  <a:pt x="13231" y="3"/>
                  <a:pt x="13244" y="8"/>
                </a:cubicBezTo>
                <a:cubicBezTo>
                  <a:pt x="13257" y="13"/>
                  <a:pt x="13268" y="21"/>
                  <a:pt x="13278" y="31"/>
                </a:cubicBezTo>
                <a:cubicBezTo>
                  <a:pt x="13288" y="41"/>
                  <a:pt x="13296" y="52"/>
                  <a:pt x="13301" y="65"/>
                </a:cubicBezTo>
                <a:cubicBezTo>
                  <a:pt x="13306" y="78"/>
                  <a:pt x="13309" y="92"/>
                  <a:pt x="13309" y="106"/>
                </a:cubicBezTo>
                <a:lnTo>
                  <a:pt x="13309" y="636"/>
                </a:lnTo>
                <a:cubicBezTo>
                  <a:pt x="13309" y="650"/>
                  <a:pt x="13306" y="663"/>
                  <a:pt x="13301" y="676"/>
                </a:cubicBezTo>
                <a:cubicBezTo>
                  <a:pt x="13296" y="689"/>
                  <a:pt x="13288" y="701"/>
                  <a:pt x="13278" y="711"/>
                </a:cubicBezTo>
                <a:cubicBezTo>
                  <a:pt x="13268" y="721"/>
                  <a:pt x="13257" y="728"/>
                  <a:pt x="13244" y="734"/>
                </a:cubicBezTo>
                <a:cubicBezTo>
                  <a:pt x="13231" y="739"/>
                  <a:pt x="13217" y="742"/>
                  <a:pt x="13203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CuadroTexto 662"/>
          <p:cNvSpPr txBox="1"/>
          <p:nvPr/>
        </p:nvSpPr>
        <p:spPr>
          <a:xfrm>
            <a:off x="7888320" y="40687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CuadroTexto 663"/>
          <p:cNvSpPr txBox="1"/>
          <p:nvPr/>
        </p:nvSpPr>
        <p:spPr>
          <a:xfrm>
            <a:off x="723960" y="4601160"/>
            <a:ext cx="4698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labs/s12-omop-cdm-introduccion/README.md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CuadroTexto 66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CuadroTexto 66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CuadroTexto 66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Forma libre 6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Forma libre 6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Forma libre 6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CuadroTexto 670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CuadroTexto 67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CuadroTexto 67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CuadroTexto 67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2038</Words>
  <Application>Microsoft Macintosh PowerPoint</Application>
  <PresentationFormat>Panorámica</PresentationFormat>
  <Paragraphs>307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2</cp:revision>
  <dcterms:modified xsi:type="dcterms:W3CDTF">2026-09-18T14:07:54Z</dcterms:modified>
  <dc:language>es-ES</dc:language>
</cp:coreProperties>
</file>