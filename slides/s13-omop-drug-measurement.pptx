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13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8845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OMOP CDM: Drug Exposure, Measurement y Tablas Derivadas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5346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III — SQL y datos clínicos estandarizados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9760" y="3268440"/>
            <a:ext cx="8189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Modelar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exposición a medicamentos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resultados de laboratorio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OMOP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Forma libre 21"/>
          <p:cNvSpPr/>
          <p:nvPr/>
        </p:nvSpPr>
        <p:spPr>
          <a:xfrm>
            <a:off x="2095200" y="3686040"/>
            <a:ext cx="1400760" cy="267120"/>
          </a:xfrm>
          <a:custGeom>
            <a:avLst/>
            <a:gdLst/>
            <a:ahLst/>
            <a:cxnLst/>
            <a:rect l="0" t="0" r="r" b="b"/>
            <a:pathLst>
              <a:path w="389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5" y="52"/>
                  <a:pt x="22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lnTo>
                  <a:pt x="3785" y="0"/>
                </a:lnTo>
                <a:cubicBezTo>
                  <a:pt x="3799" y="0"/>
                  <a:pt x="3812" y="3"/>
                  <a:pt x="3825" y="8"/>
                </a:cubicBezTo>
                <a:cubicBezTo>
                  <a:pt x="3838" y="13"/>
                  <a:pt x="3850" y="21"/>
                  <a:pt x="3860" y="31"/>
                </a:cubicBezTo>
                <a:cubicBezTo>
                  <a:pt x="3870" y="41"/>
                  <a:pt x="3877" y="52"/>
                  <a:pt x="3883" y="65"/>
                </a:cubicBezTo>
                <a:cubicBezTo>
                  <a:pt x="3888" y="78"/>
                  <a:pt x="3891" y="92"/>
                  <a:pt x="3891" y="106"/>
                </a:cubicBezTo>
                <a:lnTo>
                  <a:pt x="3891" y="636"/>
                </a:lnTo>
                <a:cubicBezTo>
                  <a:pt x="3891" y="650"/>
                  <a:pt x="3888" y="663"/>
                  <a:pt x="3883" y="676"/>
                </a:cubicBezTo>
                <a:cubicBezTo>
                  <a:pt x="3877" y="689"/>
                  <a:pt x="3870" y="701"/>
                  <a:pt x="3860" y="711"/>
                </a:cubicBezTo>
                <a:cubicBezTo>
                  <a:pt x="3850" y="721"/>
                  <a:pt x="3838" y="728"/>
                  <a:pt x="3825" y="734"/>
                </a:cubicBezTo>
                <a:cubicBezTo>
                  <a:pt x="3812" y="739"/>
                  <a:pt x="3799" y="742"/>
                  <a:pt x="3785" y="742"/>
                </a:cubicBezTo>
                <a:lnTo>
                  <a:pt x="107" y="742"/>
                </a:lnTo>
                <a:cubicBezTo>
                  <a:pt x="93" y="742"/>
                  <a:pt x="80" y="739"/>
                  <a:pt x="67" y="734"/>
                </a:cubicBezTo>
                <a:cubicBezTo>
                  <a:pt x="54" y="728"/>
                  <a:pt x="42" y="721"/>
                  <a:pt x="32" y="711"/>
                </a:cubicBezTo>
                <a:cubicBezTo>
                  <a:pt x="22" y="701"/>
                  <a:pt x="15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869760" y="3668400"/>
            <a:ext cx="1224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Distinguir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2150280" y="370584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MEASUREMENT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Forma libre 24"/>
          <p:cNvSpPr/>
          <p:nvPr/>
        </p:nvSpPr>
        <p:spPr>
          <a:xfrm>
            <a:off x="3867120" y="3686040"/>
            <a:ext cx="1409760" cy="267120"/>
          </a:xfrm>
          <a:custGeom>
            <a:avLst/>
            <a:gdLst/>
            <a:ahLst/>
            <a:cxnLst/>
            <a:rect l="0" t="0" r="r" b="b"/>
            <a:pathLst>
              <a:path w="391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811" y="0"/>
                </a:lnTo>
                <a:cubicBezTo>
                  <a:pt x="3825" y="0"/>
                  <a:pt x="3838" y="3"/>
                  <a:pt x="3851" y="8"/>
                </a:cubicBezTo>
                <a:cubicBezTo>
                  <a:pt x="3864" y="13"/>
                  <a:pt x="3875" y="21"/>
                  <a:pt x="3885" y="31"/>
                </a:cubicBezTo>
                <a:cubicBezTo>
                  <a:pt x="3895" y="41"/>
                  <a:pt x="3903" y="52"/>
                  <a:pt x="3908" y="65"/>
                </a:cubicBezTo>
                <a:cubicBezTo>
                  <a:pt x="3914" y="78"/>
                  <a:pt x="3916" y="92"/>
                  <a:pt x="3916" y="106"/>
                </a:cubicBezTo>
                <a:lnTo>
                  <a:pt x="3916" y="636"/>
                </a:lnTo>
                <a:cubicBezTo>
                  <a:pt x="3916" y="650"/>
                  <a:pt x="3914" y="663"/>
                  <a:pt x="3908" y="676"/>
                </a:cubicBezTo>
                <a:cubicBezTo>
                  <a:pt x="3903" y="689"/>
                  <a:pt x="3895" y="701"/>
                  <a:pt x="3885" y="711"/>
                </a:cubicBezTo>
                <a:cubicBezTo>
                  <a:pt x="3875" y="721"/>
                  <a:pt x="3864" y="728"/>
                  <a:pt x="3851" y="734"/>
                </a:cubicBezTo>
                <a:cubicBezTo>
                  <a:pt x="3838" y="739"/>
                  <a:pt x="3825" y="742"/>
                  <a:pt x="3811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3494520" y="3668400"/>
            <a:ext cx="377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3928680" y="370584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OBSERVATION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CuadroTexto 27"/>
          <p:cNvSpPr txBox="1"/>
          <p:nvPr/>
        </p:nvSpPr>
        <p:spPr>
          <a:xfrm>
            <a:off x="5272560" y="3668400"/>
            <a:ext cx="3274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saber dónde buscar cada dato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Forma libre 28"/>
          <p:cNvSpPr/>
          <p:nvPr/>
        </p:nvSpPr>
        <p:spPr>
          <a:xfrm>
            <a:off x="4657680" y="4086000"/>
            <a:ext cx="1047960" cy="267120"/>
          </a:xfrm>
          <a:custGeom>
            <a:avLst/>
            <a:gdLst/>
            <a:ahLst/>
            <a:cxnLst/>
            <a:rect l="0" t="0" r="r" b="b"/>
            <a:pathLst>
              <a:path w="291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805" y="0"/>
                </a:lnTo>
                <a:cubicBezTo>
                  <a:pt x="2819" y="0"/>
                  <a:pt x="2833" y="3"/>
                  <a:pt x="2846" y="8"/>
                </a:cubicBezTo>
                <a:cubicBezTo>
                  <a:pt x="2859" y="14"/>
                  <a:pt x="2870" y="21"/>
                  <a:pt x="2880" y="31"/>
                </a:cubicBezTo>
                <a:cubicBezTo>
                  <a:pt x="2890" y="41"/>
                  <a:pt x="2898" y="52"/>
                  <a:pt x="2903" y="65"/>
                </a:cubicBezTo>
                <a:cubicBezTo>
                  <a:pt x="2908" y="78"/>
                  <a:pt x="2911" y="92"/>
                  <a:pt x="2911" y="106"/>
                </a:cubicBezTo>
                <a:lnTo>
                  <a:pt x="2911" y="636"/>
                </a:lnTo>
                <a:cubicBezTo>
                  <a:pt x="2911" y="650"/>
                  <a:pt x="2908" y="664"/>
                  <a:pt x="2903" y="677"/>
                </a:cubicBezTo>
                <a:cubicBezTo>
                  <a:pt x="2898" y="690"/>
                  <a:pt x="2890" y="701"/>
                  <a:pt x="2880" y="711"/>
                </a:cubicBezTo>
                <a:cubicBezTo>
                  <a:pt x="2870" y="721"/>
                  <a:pt x="2859" y="729"/>
                  <a:pt x="2846" y="734"/>
                </a:cubicBezTo>
                <a:cubicBezTo>
                  <a:pt x="2833" y="739"/>
                  <a:pt x="2819" y="742"/>
                  <a:pt x="2805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869760" y="4068720"/>
            <a:ext cx="3789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Construir y usar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tablas derivadas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4716360" y="410580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DRUG_ERA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orma libre 31"/>
          <p:cNvSpPr/>
          <p:nvPr/>
        </p:nvSpPr>
        <p:spPr>
          <a:xfrm>
            <a:off x="5838480" y="4086000"/>
            <a:ext cx="1629360" cy="267120"/>
          </a:xfrm>
          <a:custGeom>
            <a:avLst/>
            <a:gdLst/>
            <a:ahLst/>
            <a:cxnLst/>
            <a:rect l="0" t="0" r="r" b="b"/>
            <a:pathLst>
              <a:path w="452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420" y="0"/>
                </a:lnTo>
                <a:cubicBezTo>
                  <a:pt x="4434" y="0"/>
                  <a:pt x="4448" y="3"/>
                  <a:pt x="4460" y="8"/>
                </a:cubicBezTo>
                <a:cubicBezTo>
                  <a:pt x="4473" y="14"/>
                  <a:pt x="4485" y="21"/>
                  <a:pt x="4495" y="31"/>
                </a:cubicBezTo>
                <a:cubicBezTo>
                  <a:pt x="4505" y="41"/>
                  <a:pt x="4512" y="52"/>
                  <a:pt x="4518" y="65"/>
                </a:cubicBezTo>
                <a:cubicBezTo>
                  <a:pt x="4523" y="78"/>
                  <a:pt x="4526" y="92"/>
                  <a:pt x="4526" y="106"/>
                </a:cubicBezTo>
                <a:lnTo>
                  <a:pt x="4526" y="636"/>
                </a:lnTo>
                <a:cubicBezTo>
                  <a:pt x="4526" y="650"/>
                  <a:pt x="4523" y="664"/>
                  <a:pt x="4518" y="677"/>
                </a:cubicBezTo>
                <a:cubicBezTo>
                  <a:pt x="4512" y="690"/>
                  <a:pt x="4505" y="701"/>
                  <a:pt x="4495" y="711"/>
                </a:cubicBezTo>
                <a:cubicBezTo>
                  <a:pt x="4485" y="721"/>
                  <a:pt x="4473" y="729"/>
                  <a:pt x="4460" y="734"/>
                </a:cubicBezTo>
                <a:cubicBezTo>
                  <a:pt x="4448" y="739"/>
                  <a:pt x="4434" y="742"/>
                  <a:pt x="4420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2" y="701"/>
                  <a:pt x="14" y="690"/>
                  <a:pt x="9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5709240" y="406872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5893920" y="410580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CONDITION_ERA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869760" y="4468680"/>
            <a:ext cx="6128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Manejar unidades y valores implausibles sin destruir la señal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rma libre 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Forma libre 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Forma libre 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Forma libre 41"/>
          <p:cNvSpPr/>
          <p:nvPr/>
        </p:nvSpPr>
        <p:spPr>
          <a:xfrm>
            <a:off x="666720" y="511488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Forma libre 42"/>
          <p:cNvSpPr/>
          <p:nvPr/>
        </p:nvSpPr>
        <p:spPr>
          <a:xfrm>
            <a:off x="666720" y="511488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666720" y="11872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Forma libre 44"/>
          <p:cNvSpPr/>
          <p:nvPr/>
        </p:nvSpPr>
        <p:spPr>
          <a:xfrm>
            <a:off x="1123920" y="1876320"/>
            <a:ext cx="1638360" cy="267120"/>
          </a:xfrm>
          <a:custGeom>
            <a:avLst/>
            <a:gdLst/>
            <a:ahLst/>
            <a:cxnLst/>
            <a:rect l="0" t="0" r="r" b="b"/>
            <a:pathLst>
              <a:path w="455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4446" y="0"/>
                </a:lnTo>
                <a:cubicBezTo>
                  <a:pt x="4460" y="0"/>
                  <a:pt x="4473" y="2"/>
                  <a:pt x="4486" y="8"/>
                </a:cubicBezTo>
                <a:cubicBezTo>
                  <a:pt x="4499" y="13"/>
                  <a:pt x="4510" y="21"/>
                  <a:pt x="4520" y="31"/>
                </a:cubicBezTo>
                <a:cubicBezTo>
                  <a:pt x="4530" y="41"/>
                  <a:pt x="4538" y="52"/>
                  <a:pt x="4543" y="65"/>
                </a:cubicBezTo>
                <a:cubicBezTo>
                  <a:pt x="4549" y="78"/>
                  <a:pt x="4551" y="92"/>
                  <a:pt x="4551" y="106"/>
                </a:cubicBezTo>
                <a:lnTo>
                  <a:pt x="4551" y="636"/>
                </a:lnTo>
                <a:cubicBezTo>
                  <a:pt x="4551" y="650"/>
                  <a:pt x="4549" y="663"/>
                  <a:pt x="4543" y="676"/>
                </a:cubicBezTo>
                <a:cubicBezTo>
                  <a:pt x="4538" y="689"/>
                  <a:pt x="4530" y="701"/>
                  <a:pt x="4520" y="711"/>
                </a:cubicBezTo>
                <a:cubicBezTo>
                  <a:pt x="4510" y="721"/>
                  <a:pt x="4499" y="728"/>
                  <a:pt x="4486" y="734"/>
                </a:cubicBezTo>
                <a:cubicBezTo>
                  <a:pt x="4473" y="739"/>
                  <a:pt x="4460" y="742"/>
                  <a:pt x="4446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CuadroTexto 45"/>
          <p:cNvSpPr txBox="1"/>
          <p:nvPr/>
        </p:nvSpPr>
        <p:spPr>
          <a:xfrm>
            <a:off x="869760" y="185868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CuadroTexto 46"/>
          <p:cNvSpPr txBox="1"/>
          <p:nvPr/>
        </p:nvSpPr>
        <p:spPr>
          <a:xfrm>
            <a:off x="1181160" y="189612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DRUG_EXPOSURE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759040" y="1858680"/>
            <a:ext cx="313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qué signiﬁca realmente una ﬁla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869760" y="2259000"/>
            <a:ext cx="4082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De exposiciones 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eras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tratamiento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Forma libre 49"/>
          <p:cNvSpPr/>
          <p:nvPr/>
        </p:nvSpPr>
        <p:spPr>
          <a:xfrm>
            <a:off x="1123920" y="2676240"/>
            <a:ext cx="1400400" cy="267120"/>
          </a:xfrm>
          <a:custGeom>
            <a:avLst/>
            <a:gdLst/>
            <a:ahLst/>
            <a:cxnLst/>
            <a:rect l="0" t="0" r="r" b="b"/>
            <a:pathLst>
              <a:path w="3890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784" y="0"/>
                </a:lnTo>
                <a:cubicBezTo>
                  <a:pt x="3798" y="0"/>
                  <a:pt x="3812" y="3"/>
                  <a:pt x="3825" y="8"/>
                </a:cubicBezTo>
                <a:cubicBezTo>
                  <a:pt x="3838" y="14"/>
                  <a:pt x="3849" y="21"/>
                  <a:pt x="3859" y="31"/>
                </a:cubicBezTo>
                <a:cubicBezTo>
                  <a:pt x="3869" y="41"/>
                  <a:pt x="3877" y="53"/>
                  <a:pt x="3882" y="66"/>
                </a:cubicBezTo>
                <a:cubicBezTo>
                  <a:pt x="3887" y="79"/>
                  <a:pt x="3890" y="92"/>
                  <a:pt x="3890" y="106"/>
                </a:cubicBezTo>
                <a:lnTo>
                  <a:pt x="3890" y="636"/>
                </a:lnTo>
                <a:cubicBezTo>
                  <a:pt x="3890" y="650"/>
                  <a:pt x="3887" y="664"/>
                  <a:pt x="3882" y="677"/>
                </a:cubicBezTo>
                <a:cubicBezTo>
                  <a:pt x="3877" y="690"/>
                  <a:pt x="3869" y="701"/>
                  <a:pt x="3859" y="711"/>
                </a:cubicBezTo>
                <a:cubicBezTo>
                  <a:pt x="3849" y="721"/>
                  <a:pt x="3838" y="729"/>
                  <a:pt x="3825" y="734"/>
                </a:cubicBezTo>
                <a:cubicBezTo>
                  <a:pt x="3812" y="739"/>
                  <a:pt x="3798" y="742"/>
                  <a:pt x="3784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869760" y="265896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1181160" y="269640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MEASUREMENT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CuadroTexto 52"/>
          <p:cNvSpPr txBox="1"/>
          <p:nvPr/>
        </p:nvSpPr>
        <p:spPr>
          <a:xfrm>
            <a:off x="2525040" y="2658960"/>
            <a:ext cx="2109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resultados con valor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Forma libre 53"/>
          <p:cNvSpPr/>
          <p:nvPr/>
        </p:nvSpPr>
        <p:spPr>
          <a:xfrm>
            <a:off x="1123920" y="3076560"/>
            <a:ext cx="1400400" cy="266760"/>
          </a:xfrm>
          <a:custGeom>
            <a:avLst/>
            <a:gdLst/>
            <a:ahLst/>
            <a:cxnLst/>
            <a:rect l="0" t="0" r="r" b="b"/>
            <a:pathLst>
              <a:path w="3890" h="741">
                <a:moveTo>
                  <a:pt x="0" y="635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3784" y="0"/>
                </a:lnTo>
                <a:cubicBezTo>
                  <a:pt x="3798" y="0"/>
                  <a:pt x="3812" y="2"/>
                  <a:pt x="3825" y="8"/>
                </a:cubicBezTo>
                <a:cubicBezTo>
                  <a:pt x="3838" y="13"/>
                  <a:pt x="3849" y="21"/>
                  <a:pt x="3859" y="31"/>
                </a:cubicBezTo>
                <a:cubicBezTo>
                  <a:pt x="3869" y="40"/>
                  <a:pt x="3877" y="52"/>
                  <a:pt x="3882" y="65"/>
                </a:cubicBezTo>
                <a:cubicBezTo>
                  <a:pt x="3887" y="78"/>
                  <a:pt x="3890" y="91"/>
                  <a:pt x="3890" y="105"/>
                </a:cubicBezTo>
                <a:lnTo>
                  <a:pt x="3890" y="635"/>
                </a:lnTo>
                <a:cubicBezTo>
                  <a:pt x="3890" y="649"/>
                  <a:pt x="3887" y="662"/>
                  <a:pt x="3882" y="675"/>
                </a:cubicBezTo>
                <a:cubicBezTo>
                  <a:pt x="3877" y="688"/>
                  <a:pt x="3869" y="699"/>
                  <a:pt x="3859" y="710"/>
                </a:cubicBezTo>
                <a:cubicBezTo>
                  <a:pt x="3849" y="720"/>
                  <a:pt x="3838" y="728"/>
                  <a:pt x="3825" y="733"/>
                </a:cubicBezTo>
                <a:cubicBezTo>
                  <a:pt x="3812" y="739"/>
                  <a:pt x="3798" y="741"/>
                  <a:pt x="3784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699"/>
                  <a:pt x="13" y="688"/>
                  <a:pt x="8" y="675"/>
                </a:cubicBezTo>
                <a:cubicBezTo>
                  <a:pt x="2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869760" y="305892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CuadroTexto 55"/>
          <p:cNvSpPr txBox="1"/>
          <p:nvPr/>
        </p:nvSpPr>
        <p:spPr>
          <a:xfrm>
            <a:off x="1181160" y="309636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MEASUREMENT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Forma libre 56"/>
          <p:cNvSpPr/>
          <p:nvPr/>
        </p:nvSpPr>
        <p:spPr>
          <a:xfrm>
            <a:off x="3276360" y="3076560"/>
            <a:ext cx="1400760" cy="266760"/>
          </a:xfrm>
          <a:custGeom>
            <a:avLst/>
            <a:gdLst/>
            <a:ahLst/>
            <a:cxnLst/>
            <a:rect l="0" t="0" r="r" b="b"/>
            <a:pathLst>
              <a:path w="3891" h="741">
                <a:moveTo>
                  <a:pt x="0" y="635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785" y="0"/>
                </a:lnTo>
                <a:cubicBezTo>
                  <a:pt x="3799" y="0"/>
                  <a:pt x="3812" y="2"/>
                  <a:pt x="3825" y="8"/>
                </a:cubicBezTo>
                <a:cubicBezTo>
                  <a:pt x="3838" y="13"/>
                  <a:pt x="3850" y="21"/>
                  <a:pt x="3860" y="31"/>
                </a:cubicBezTo>
                <a:cubicBezTo>
                  <a:pt x="3869" y="40"/>
                  <a:pt x="3877" y="52"/>
                  <a:pt x="3882" y="65"/>
                </a:cubicBezTo>
                <a:cubicBezTo>
                  <a:pt x="3888" y="78"/>
                  <a:pt x="3891" y="91"/>
                  <a:pt x="3891" y="105"/>
                </a:cubicBezTo>
                <a:lnTo>
                  <a:pt x="3891" y="635"/>
                </a:lnTo>
                <a:cubicBezTo>
                  <a:pt x="3891" y="649"/>
                  <a:pt x="3888" y="662"/>
                  <a:pt x="3882" y="675"/>
                </a:cubicBezTo>
                <a:cubicBezTo>
                  <a:pt x="3877" y="688"/>
                  <a:pt x="3869" y="699"/>
                  <a:pt x="3860" y="710"/>
                </a:cubicBezTo>
                <a:cubicBezTo>
                  <a:pt x="3850" y="720"/>
                  <a:pt x="3838" y="728"/>
                  <a:pt x="3825" y="733"/>
                </a:cubicBezTo>
                <a:cubicBezTo>
                  <a:pt x="3812" y="739"/>
                  <a:pt x="3799" y="741"/>
                  <a:pt x="3785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1" y="699"/>
                  <a:pt x="14" y="688"/>
                  <a:pt x="8" y="675"/>
                </a:cubicBezTo>
                <a:cubicBezTo>
                  <a:pt x="3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CuadroTexto 57"/>
          <p:cNvSpPr txBox="1"/>
          <p:nvPr/>
        </p:nvSpPr>
        <p:spPr>
          <a:xfrm>
            <a:off x="2525040" y="3058920"/>
            <a:ext cx="754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contra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CuadroTexto 58"/>
          <p:cNvSpPr txBox="1"/>
          <p:nvPr/>
        </p:nvSpPr>
        <p:spPr>
          <a:xfrm>
            <a:off x="3336120" y="309636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OBSERVATION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869760" y="3458880"/>
            <a:ext cx="2812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El inﬁerno de las unidades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CuadroTexto 60"/>
          <p:cNvSpPr txBox="1"/>
          <p:nvPr/>
        </p:nvSpPr>
        <p:spPr>
          <a:xfrm>
            <a:off x="869760" y="3859200"/>
            <a:ext cx="2503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Otras tablas relevantes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CuadroTexto 61"/>
          <p:cNvSpPr txBox="1"/>
          <p:nvPr/>
        </p:nvSpPr>
        <p:spPr>
          <a:xfrm>
            <a:off x="869760" y="4259160"/>
            <a:ext cx="1931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Calidad de datos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CuadroTexto 62"/>
          <p:cNvSpPr txBox="1"/>
          <p:nvPr/>
        </p:nvSpPr>
        <p:spPr>
          <a:xfrm>
            <a:off x="869760" y="4659120"/>
            <a:ext cx="2342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8. Patrones de consulta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CuadroTexto 63"/>
          <p:cNvSpPr txBox="1"/>
          <p:nvPr/>
        </p:nvSpPr>
        <p:spPr>
          <a:xfrm>
            <a:off x="905040" y="5268600"/>
            <a:ext cx="5718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farmacoepidemiología sobre tu base OMOP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CuadroTexto 6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orma libre 6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Forma libre 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Forma libre 6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Forma libre 70"/>
          <p:cNvSpPr/>
          <p:nvPr/>
        </p:nvSpPr>
        <p:spPr>
          <a:xfrm>
            <a:off x="4228920" y="3066840"/>
            <a:ext cx="4315320" cy="619560"/>
          </a:xfrm>
          <a:custGeom>
            <a:avLst/>
            <a:gdLst/>
            <a:ahLst/>
            <a:cxnLst/>
            <a:rect l="0" t="0" r="r" b="b"/>
            <a:pathLst>
              <a:path w="11987" h="1721">
                <a:moveTo>
                  <a:pt x="0" y="161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1881" y="0"/>
                </a:lnTo>
                <a:cubicBezTo>
                  <a:pt x="11895" y="0"/>
                  <a:pt x="11908" y="3"/>
                  <a:pt x="11921" y="8"/>
                </a:cubicBezTo>
                <a:cubicBezTo>
                  <a:pt x="11934" y="14"/>
                  <a:pt x="11946" y="21"/>
                  <a:pt x="11956" y="31"/>
                </a:cubicBezTo>
                <a:cubicBezTo>
                  <a:pt x="11966" y="41"/>
                  <a:pt x="11973" y="52"/>
                  <a:pt x="11979" y="65"/>
                </a:cubicBezTo>
                <a:cubicBezTo>
                  <a:pt x="11984" y="78"/>
                  <a:pt x="11987" y="92"/>
                  <a:pt x="11987" y="106"/>
                </a:cubicBezTo>
                <a:lnTo>
                  <a:pt x="11987" y="1615"/>
                </a:lnTo>
                <a:cubicBezTo>
                  <a:pt x="11987" y="1629"/>
                  <a:pt x="11984" y="1643"/>
                  <a:pt x="11979" y="1656"/>
                </a:cubicBezTo>
                <a:cubicBezTo>
                  <a:pt x="11973" y="1669"/>
                  <a:pt x="11966" y="1680"/>
                  <a:pt x="11956" y="1690"/>
                </a:cubicBezTo>
                <a:cubicBezTo>
                  <a:pt x="11946" y="1700"/>
                  <a:pt x="11934" y="1707"/>
                  <a:pt x="11921" y="1713"/>
                </a:cubicBezTo>
                <a:cubicBezTo>
                  <a:pt x="11908" y="1718"/>
                  <a:pt x="11895" y="1721"/>
                  <a:pt x="11881" y="1721"/>
                </a:cubicBezTo>
                <a:lnTo>
                  <a:pt x="106" y="1721"/>
                </a:lnTo>
                <a:cubicBezTo>
                  <a:pt x="92" y="1721"/>
                  <a:pt x="78" y="1718"/>
                  <a:pt x="65" y="1713"/>
                </a:cubicBezTo>
                <a:cubicBezTo>
                  <a:pt x="52" y="1707"/>
                  <a:pt x="41" y="1700"/>
                  <a:pt x="31" y="1690"/>
                </a:cubicBezTo>
                <a:cubicBezTo>
                  <a:pt x="21" y="1680"/>
                  <a:pt x="13" y="1669"/>
                  <a:pt x="8" y="1656"/>
                </a:cubicBezTo>
                <a:cubicBezTo>
                  <a:pt x="3" y="1643"/>
                  <a:pt x="0" y="1629"/>
                  <a:pt x="0" y="161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CuadroTexto 71"/>
          <p:cNvSpPr txBox="1"/>
          <p:nvPr/>
        </p:nvSpPr>
        <p:spPr>
          <a:xfrm>
            <a:off x="3648240" y="3054600"/>
            <a:ext cx="5940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CuadroTexto 72"/>
          <p:cNvSpPr txBox="1"/>
          <p:nvPr/>
        </p:nvSpPr>
        <p:spPr>
          <a:xfrm>
            <a:off x="4331880" y="3067200"/>
            <a:ext cx="4175640" cy="622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DRUG_EXPOSURE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CuadroTexto 7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CuadroTexto 7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CuadroTexto 75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orma libre 7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Forma libre 7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Forma libre 7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Forma libre 79"/>
          <p:cNvSpPr/>
          <p:nvPr/>
        </p:nvSpPr>
        <p:spPr>
          <a:xfrm>
            <a:off x="671400" y="141444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7"/>
                </a:lnTo>
                <a:cubicBezTo>
                  <a:pt x="30137" y="5080"/>
                  <a:pt x="30136" y="5093"/>
                  <a:pt x="30133" y="5106"/>
                </a:cubicBezTo>
                <a:cubicBezTo>
                  <a:pt x="30130" y="5119"/>
                  <a:pt x="30127" y="5131"/>
                  <a:pt x="30122" y="5143"/>
                </a:cubicBezTo>
                <a:cubicBezTo>
                  <a:pt x="30117" y="5155"/>
                  <a:pt x="30111" y="5167"/>
                  <a:pt x="30103" y="5178"/>
                </a:cubicBezTo>
                <a:cubicBezTo>
                  <a:pt x="30096" y="5188"/>
                  <a:pt x="30088" y="5198"/>
                  <a:pt x="30079" y="5208"/>
                </a:cubicBezTo>
                <a:cubicBezTo>
                  <a:pt x="30070" y="5217"/>
                  <a:pt x="30059" y="5225"/>
                  <a:pt x="30049" y="5232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59"/>
                  <a:pt x="29977" y="5262"/>
                </a:cubicBezTo>
                <a:cubicBezTo>
                  <a:pt x="29964" y="5264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4"/>
                  <a:pt x="160" y="5262"/>
                </a:cubicBezTo>
                <a:cubicBezTo>
                  <a:pt x="147" y="5259"/>
                  <a:pt x="134" y="5256"/>
                  <a:pt x="122" y="5251"/>
                </a:cubicBezTo>
                <a:cubicBezTo>
                  <a:pt x="110" y="5246"/>
                  <a:pt x="99" y="5240"/>
                  <a:pt x="88" y="5232"/>
                </a:cubicBezTo>
                <a:cubicBezTo>
                  <a:pt x="77" y="5225"/>
                  <a:pt x="67" y="5217"/>
                  <a:pt x="58" y="5208"/>
                </a:cubicBezTo>
                <a:cubicBezTo>
                  <a:pt x="49" y="5198"/>
                  <a:pt x="40" y="5188"/>
                  <a:pt x="33" y="5178"/>
                </a:cubicBezTo>
                <a:cubicBezTo>
                  <a:pt x="26" y="5167"/>
                  <a:pt x="20" y="5155"/>
                  <a:pt x="15" y="5143"/>
                </a:cubicBezTo>
                <a:cubicBezTo>
                  <a:pt x="10" y="5131"/>
                  <a:pt x="6" y="5119"/>
                  <a:pt x="4" y="5106"/>
                </a:cubicBezTo>
                <a:cubicBezTo>
                  <a:pt x="1" y="5093"/>
                  <a:pt x="0" y="5080"/>
                  <a:pt x="0" y="506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Forma libre 80"/>
          <p:cNvSpPr/>
          <p:nvPr/>
        </p:nvSpPr>
        <p:spPr>
          <a:xfrm>
            <a:off x="671400" y="141444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7"/>
                </a:lnTo>
                <a:cubicBezTo>
                  <a:pt x="30137" y="5080"/>
                  <a:pt x="30136" y="5093"/>
                  <a:pt x="30133" y="5106"/>
                </a:cubicBezTo>
                <a:cubicBezTo>
                  <a:pt x="30130" y="5119"/>
                  <a:pt x="30127" y="5131"/>
                  <a:pt x="30122" y="5143"/>
                </a:cubicBezTo>
                <a:cubicBezTo>
                  <a:pt x="30117" y="5155"/>
                  <a:pt x="30111" y="5167"/>
                  <a:pt x="30103" y="5178"/>
                </a:cubicBezTo>
                <a:cubicBezTo>
                  <a:pt x="30096" y="5188"/>
                  <a:pt x="30088" y="5198"/>
                  <a:pt x="30079" y="5208"/>
                </a:cubicBezTo>
                <a:cubicBezTo>
                  <a:pt x="30070" y="5217"/>
                  <a:pt x="30059" y="5225"/>
                  <a:pt x="30049" y="5232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59"/>
                  <a:pt x="29977" y="5262"/>
                </a:cubicBezTo>
                <a:cubicBezTo>
                  <a:pt x="29964" y="5264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4"/>
                  <a:pt x="160" y="5262"/>
                </a:cubicBezTo>
                <a:cubicBezTo>
                  <a:pt x="147" y="5259"/>
                  <a:pt x="134" y="5256"/>
                  <a:pt x="122" y="5251"/>
                </a:cubicBezTo>
                <a:cubicBezTo>
                  <a:pt x="110" y="5246"/>
                  <a:pt x="99" y="5240"/>
                  <a:pt x="88" y="5232"/>
                </a:cubicBezTo>
                <a:cubicBezTo>
                  <a:pt x="77" y="5225"/>
                  <a:pt x="67" y="5217"/>
                  <a:pt x="58" y="5208"/>
                </a:cubicBezTo>
                <a:cubicBezTo>
                  <a:pt x="49" y="5198"/>
                  <a:pt x="40" y="5188"/>
                  <a:pt x="33" y="5178"/>
                </a:cubicBezTo>
                <a:cubicBezTo>
                  <a:pt x="26" y="5167"/>
                  <a:pt x="20" y="5155"/>
                  <a:pt x="15" y="5143"/>
                </a:cubicBezTo>
                <a:cubicBezTo>
                  <a:pt x="10" y="5131"/>
                  <a:pt x="6" y="5119"/>
                  <a:pt x="4" y="5106"/>
                </a:cubicBezTo>
                <a:cubicBezTo>
                  <a:pt x="1" y="5093"/>
                  <a:pt x="0" y="5080"/>
                  <a:pt x="0" y="506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Forma libre 81"/>
          <p:cNvSpPr/>
          <p:nvPr/>
        </p:nvSpPr>
        <p:spPr>
          <a:xfrm>
            <a:off x="676080" y="3962160"/>
            <a:ext cx="2400840" cy="410040"/>
          </a:xfrm>
          <a:custGeom>
            <a:avLst/>
            <a:gdLst/>
            <a:ahLst/>
            <a:cxnLst/>
            <a:rect l="0" t="0" r="r" b="b"/>
            <a:pathLst>
              <a:path w="6669" h="1139">
                <a:moveTo>
                  <a:pt x="0" y="0"/>
                </a:moveTo>
                <a:lnTo>
                  <a:pt x="6669" y="0"/>
                </a:lnTo>
                <a:lnTo>
                  <a:pt x="666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Forma libre 82"/>
          <p:cNvSpPr/>
          <p:nvPr/>
        </p:nvSpPr>
        <p:spPr>
          <a:xfrm>
            <a:off x="3076560" y="3962160"/>
            <a:ext cx="2086200" cy="410040"/>
          </a:xfrm>
          <a:custGeom>
            <a:avLst/>
            <a:gdLst/>
            <a:ahLst/>
            <a:cxnLst/>
            <a:rect l="0" t="0" r="r" b="b"/>
            <a:pathLst>
              <a:path w="5795" h="1139">
                <a:moveTo>
                  <a:pt x="0" y="0"/>
                </a:moveTo>
                <a:lnTo>
                  <a:pt x="5795" y="0"/>
                </a:lnTo>
                <a:lnTo>
                  <a:pt x="579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Forma libre 83"/>
          <p:cNvSpPr/>
          <p:nvPr/>
        </p:nvSpPr>
        <p:spPr>
          <a:xfrm>
            <a:off x="5162400" y="3962160"/>
            <a:ext cx="2229120" cy="410040"/>
          </a:xfrm>
          <a:custGeom>
            <a:avLst/>
            <a:gdLst/>
            <a:ahLst/>
            <a:cxnLst/>
            <a:rect l="0" t="0" r="r" b="b"/>
            <a:pathLst>
              <a:path w="6192" h="1139">
                <a:moveTo>
                  <a:pt x="0" y="0"/>
                </a:moveTo>
                <a:lnTo>
                  <a:pt x="6192" y="0"/>
                </a:lnTo>
                <a:lnTo>
                  <a:pt x="619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Forma libre 84"/>
          <p:cNvSpPr/>
          <p:nvPr/>
        </p:nvSpPr>
        <p:spPr>
          <a:xfrm>
            <a:off x="676080" y="3962160"/>
            <a:ext cx="2400840" cy="410040"/>
          </a:xfrm>
          <a:custGeom>
            <a:avLst/>
            <a:gdLst/>
            <a:ahLst/>
            <a:cxnLst/>
            <a:rect l="0" t="0" r="r" b="b"/>
            <a:pathLst>
              <a:path w="6669" h="1139">
                <a:moveTo>
                  <a:pt x="0" y="0"/>
                </a:moveTo>
                <a:lnTo>
                  <a:pt x="6669" y="0"/>
                </a:lnTo>
                <a:lnTo>
                  <a:pt x="666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Forma libre 85"/>
          <p:cNvSpPr/>
          <p:nvPr/>
        </p:nvSpPr>
        <p:spPr>
          <a:xfrm>
            <a:off x="3076560" y="3962160"/>
            <a:ext cx="2086200" cy="410040"/>
          </a:xfrm>
          <a:custGeom>
            <a:avLst/>
            <a:gdLst/>
            <a:ahLst/>
            <a:cxnLst/>
            <a:rect l="0" t="0" r="r" b="b"/>
            <a:pathLst>
              <a:path w="5795" h="1139">
                <a:moveTo>
                  <a:pt x="0" y="0"/>
                </a:moveTo>
                <a:lnTo>
                  <a:pt x="5795" y="0"/>
                </a:lnTo>
                <a:lnTo>
                  <a:pt x="579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Forma libre 86"/>
          <p:cNvSpPr/>
          <p:nvPr/>
        </p:nvSpPr>
        <p:spPr>
          <a:xfrm>
            <a:off x="5162400" y="3962160"/>
            <a:ext cx="2229120" cy="410040"/>
          </a:xfrm>
          <a:custGeom>
            <a:avLst/>
            <a:gdLst/>
            <a:ahLst/>
            <a:cxnLst/>
            <a:rect l="0" t="0" r="r" b="b"/>
            <a:pathLst>
              <a:path w="6192" h="1139">
                <a:moveTo>
                  <a:pt x="0" y="0"/>
                </a:moveTo>
                <a:lnTo>
                  <a:pt x="6192" y="0"/>
                </a:lnTo>
                <a:lnTo>
                  <a:pt x="619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Forma libre 87"/>
          <p:cNvSpPr/>
          <p:nvPr/>
        </p:nvSpPr>
        <p:spPr>
          <a:xfrm>
            <a:off x="676080" y="4371840"/>
            <a:ext cx="2400840" cy="410040"/>
          </a:xfrm>
          <a:custGeom>
            <a:avLst/>
            <a:gdLst/>
            <a:ahLst/>
            <a:cxnLst/>
            <a:rect l="0" t="0" r="r" b="b"/>
            <a:pathLst>
              <a:path w="6669" h="1139">
                <a:moveTo>
                  <a:pt x="0" y="0"/>
                </a:moveTo>
                <a:lnTo>
                  <a:pt x="6669" y="0"/>
                </a:lnTo>
                <a:lnTo>
                  <a:pt x="666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orma libre 88"/>
          <p:cNvSpPr/>
          <p:nvPr/>
        </p:nvSpPr>
        <p:spPr>
          <a:xfrm>
            <a:off x="3076560" y="4371840"/>
            <a:ext cx="2086200" cy="410040"/>
          </a:xfrm>
          <a:custGeom>
            <a:avLst/>
            <a:gdLst/>
            <a:ahLst/>
            <a:cxnLst/>
            <a:rect l="0" t="0" r="r" b="b"/>
            <a:pathLst>
              <a:path w="5795" h="1139">
                <a:moveTo>
                  <a:pt x="0" y="0"/>
                </a:moveTo>
                <a:lnTo>
                  <a:pt x="5795" y="0"/>
                </a:lnTo>
                <a:lnTo>
                  <a:pt x="579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orma libre 89"/>
          <p:cNvSpPr/>
          <p:nvPr/>
        </p:nvSpPr>
        <p:spPr>
          <a:xfrm>
            <a:off x="5162400" y="4371840"/>
            <a:ext cx="2229120" cy="410040"/>
          </a:xfrm>
          <a:custGeom>
            <a:avLst/>
            <a:gdLst/>
            <a:ahLst/>
            <a:cxnLst/>
            <a:rect l="0" t="0" r="r" b="b"/>
            <a:pathLst>
              <a:path w="6192" h="1139">
                <a:moveTo>
                  <a:pt x="0" y="0"/>
                </a:moveTo>
                <a:lnTo>
                  <a:pt x="6192" y="0"/>
                </a:lnTo>
                <a:lnTo>
                  <a:pt x="619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orma libre 90"/>
          <p:cNvSpPr/>
          <p:nvPr/>
        </p:nvSpPr>
        <p:spPr>
          <a:xfrm>
            <a:off x="676080" y="4781520"/>
            <a:ext cx="2400840" cy="409680"/>
          </a:xfrm>
          <a:custGeom>
            <a:avLst/>
            <a:gdLst/>
            <a:ahLst/>
            <a:cxnLst/>
            <a:rect l="0" t="0" r="r" b="b"/>
            <a:pathLst>
              <a:path w="6669" h="1138">
                <a:moveTo>
                  <a:pt x="0" y="0"/>
                </a:moveTo>
                <a:lnTo>
                  <a:pt x="6669" y="0"/>
                </a:lnTo>
                <a:lnTo>
                  <a:pt x="6669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Forma libre 91"/>
          <p:cNvSpPr/>
          <p:nvPr/>
        </p:nvSpPr>
        <p:spPr>
          <a:xfrm>
            <a:off x="3076560" y="4781520"/>
            <a:ext cx="2086200" cy="409680"/>
          </a:xfrm>
          <a:custGeom>
            <a:avLst/>
            <a:gdLst/>
            <a:ahLst/>
            <a:cxnLst/>
            <a:rect l="0" t="0" r="r" b="b"/>
            <a:pathLst>
              <a:path w="5795" h="1138">
                <a:moveTo>
                  <a:pt x="0" y="0"/>
                </a:moveTo>
                <a:lnTo>
                  <a:pt x="5795" y="0"/>
                </a:lnTo>
                <a:lnTo>
                  <a:pt x="5795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Forma libre 92"/>
          <p:cNvSpPr/>
          <p:nvPr/>
        </p:nvSpPr>
        <p:spPr>
          <a:xfrm>
            <a:off x="5162400" y="4781520"/>
            <a:ext cx="2229120" cy="409680"/>
          </a:xfrm>
          <a:custGeom>
            <a:avLst/>
            <a:gdLst/>
            <a:ahLst/>
            <a:cxnLst/>
            <a:rect l="0" t="0" r="r" b="b"/>
            <a:pathLst>
              <a:path w="6192" h="1138">
                <a:moveTo>
                  <a:pt x="0" y="0"/>
                </a:moveTo>
                <a:lnTo>
                  <a:pt x="6192" y="0"/>
                </a:lnTo>
                <a:lnTo>
                  <a:pt x="619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Forma libre 93"/>
          <p:cNvSpPr/>
          <p:nvPr/>
        </p:nvSpPr>
        <p:spPr>
          <a:xfrm>
            <a:off x="676080" y="5190840"/>
            <a:ext cx="2400840" cy="410040"/>
          </a:xfrm>
          <a:custGeom>
            <a:avLst/>
            <a:gdLst/>
            <a:ahLst/>
            <a:cxnLst/>
            <a:rect l="0" t="0" r="r" b="b"/>
            <a:pathLst>
              <a:path w="6669" h="1139">
                <a:moveTo>
                  <a:pt x="0" y="0"/>
                </a:moveTo>
                <a:lnTo>
                  <a:pt x="6669" y="0"/>
                </a:lnTo>
                <a:lnTo>
                  <a:pt x="666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Forma libre 94"/>
          <p:cNvSpPr/>
          <p:nvPr/>
        </p:nvSpPr>
        <p:spPr>
          <a:xfrm>
            <a:off x="3076560" y="5190840"/>
            <a:ext cx="2086200" cy="410040"/>
          </a:xfrm>
          <a:custGeom>
            <a:avLst/>
            <a:gdLst/>
            <a:ahLst/>
            <a:cxnLst/>
            <a:rect l="0" t="0" r="r" b="b"/>
            <a:pathLst>
              <a:path w="5795" h="1139">
                <a:moveTo>
                  <a:pt x="0" y="0"/>
                </a:moveTo>
                <a:lnTo>
                  <a:pt x="5795" y="0"/>
                </a:lnTo>
                <a:lnTo>
                  <a:pt x="579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Forma libre 95"/>
          <p:cNvSpPr/>
          <p:nvPr/>
        </p:nvSpPr>
        <p:spPr>
          <a:xfrm>
            <a:off x="5162400" y="5190840"/>
            <a:ext cx="2229120" cy="410040"/>
          </a:xfrm>
          <a:custGeom>
            <a:avLst/>
            <a:gdLst/>
            <a:ahLst/>
            <a:cxnLst/>
            <a:rect l="0" t="0" r="r" b="b"/>
            <a:pathLst>
              <a:path w="6192" h="1139">
                <a:moveTo>
                  <a:pt x="0" y="0"/>
                </a:moveTo>
                <a:lnTo>
                  <a:pt x="6192" y="0"/>
                </a:lnTo>
                <a:lnTo>
                  <a:pt x="619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Forma libre 96"/>
          <p:cNvSpPr/>
          <p:nvPr/>
        </p:nvSpPr>
        <p:spPr>
          <a:xfrm>
            <a:off x="666720" y="39621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Forma libre 97"/>
          <p:cNvSpPr/>
          <p:nvPr/>
        </p:nvSpPr>
        <p:spPr>
          <a:xfrm>
            <a:off x="666720" y="3962160"/>
            <a:ext cx="2419560" cy="10080"/>
          </a:xfrm>
          <a:custGeom>
            <a:avLst/>
            <a:gdLst/>
            <a:ahLst/>
            <a:cxnLst/>
            <a:rect l="0" t="0" r="r" b="b"/>
            <a:pathLst>
              <a:path w="6721" h="28">
                <a:moveTo>
                  <a:pt x="0" y="0"/>
                </a:moveTo>
                <a:lnTo>
                  <a:pt x="6721" y="0"/>
                </a:lnTo>
                <a:lnTo>
                  <a:pt x="67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Forma libre 98"/>
          <p:cNvSpPr/>
          <p:nvPr/>
        </p:nvSpPr>
        <p:spPr>
          <a:xfrm>
            <a:off x="3076560" y="39621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Forma libre 99"/>
          <p:cNvSpPr/>
          <p:nvPr/>
        </p:nvSpPr>
        <p:spPr>
          <a:xfrm>
            <a:off x="3085920" y="3962160"/>
            <a:ext cx="2086200" cy="10080"/>
          </a:xfrm>
          <a:custGeom>
            <a:avLst/>
            <a:gdLst/>
            <a:ahLst/>
            <a:cxnLst/>
            <a:rect l="0" t="0" r="r" b="b"/>
            <a:pathLst>
              <a:path w="5795" h="28">
                <a:moveTo>
                  <a:pt x="0" y="0"/>
                </a:moveTo>
                <a:lnTo>
                  <a:pt x="5795" y="0"/>
                </a:lnTo>
                <a:lnTo>
                  <a:pt x="57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Forma libre 100"/>
          <p:cNvSpPr/>
          <p:nvPr/>
        </p:nvSpPr>
        <p:spPr>
          <a:xfrm>
            <a:off x="5162400" y="39621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Forma libre 101"/>
          <p:cNvSpPr/>
          <p:nvPr/>
        </p:nvSpPr>
        <p:spPr>
          <a:xfrm>
            <a:off x="5171760" y="3962160"/>
            <a:ext cx="2219760" cy="10080"/>
          </a:xfrm>
          <a:custGeom>
            <a:avLst/>
            <a:gdLst/>
            <a:ahLst/>
            <a:cxnLst/>
            <a:rect l="0" t="0" r="r" b="b"/>
            <a:pathLst>
              <a:path w="6166" h="28">
                <a:moveTo>
                  <a:pt x="0" y="0"/>
                </a:moveTo>
                <a:lnTo>
                  <a:pt x="6166" y="0"/>
                </a:lnTo>
                <a:lnTo>
                  <a:pt x="616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orma libre 102"/>
          <p:cNvSpPr/>
          <p:nvPr/>
        </p:nvSpPr>
        <p:spPr>
          <a:xfrm>
            <a:off x="7381800" y="39621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Forma libre 103"/>
          <p:cNvSpPr/>
          <p:nvPr/>
        </p:nvSpPr>
        <p:spPr>
          <a:xfrm>
            <a:off x="666720" y="4371840"/>
            <a:ext cx="2419560" cy="9720"/>
          </a:xfrm>
          <a:custGeom>
            <a:avLst/>
            <a:gdLst/>
            <a:ahLst/>
            <a:cxnLst/>
            <a:rect l="0" t="0" r="r" b="b"/>
            <a:pathLst>
              <a:path w="6721" h="27">
                <a:moveTo>
                  <a:pt x="0" y="0"/>
                </a:moveTo>
                <a:lnTo>
                  <a:pt x="6721" y="0"/>
                </a:lnTo>
                <a:lnTo>
                  <a:pt x="6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Forma libre 104"/>
          <p:cNvSpPr/>
          <p:nvPr/>
        </p:nvSpPr>
        <p:spPr>
          <a:xfrm>
            <a:off x="3085920" y="4371840"/>
            <a:ext cx="2086200" cy="9720"/>
          </a:xfrm>
          <a:custGeom>
            <a:avLst/>
            <a:gdLst/>
            <a:ahLst/>
            <a:cxnLst/>
            <a:rect l="0" t="0" r="r" b="b"/>
            <a:pathLst>
              <a:path w="5795" h="27">
                <a:moveTo>
                  <a:pt x="0" y="0"/>
                </a:moveTo>
                <a:lnTo>
                  <a:pt x="5795" y="0"/>
                </a:lnTo>
                <a:lnTo>
                  <a:pt x="5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Forma libre 105"/>
          <p:cNvSpPr/>
          <p:nvPr/>
        </p:nvSpPr>
        <p:spPr>
          <a:xfrm>
            <a:off x="5171760" y="4371840"/>
            <a:ext cx="2219760" cy="9720"/>
          </a:xfrm>
          <a:custGeom>
            <a:avLst/>
            <a:gdLst/>
            <a:ahLst/>
            <a:cxnLst/>
            <a:rect l="0" t="0" r="r" b="b"/>
            <a:pathLst>
              <a:path w="6166" h="27">
                <a:moveTo>
                  <a:pt x="0" y="0"/>
                </a:moveTo>
                <a:lnTo>
                  <a:pt x="6166" y="0"/>
                </a:lnTo>
                <a:lnTo>
                  <a:pt x="61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Forma libre 106"/>
          <p:cNvSpPr/>
          <p:nvPr/>
        </p:nvSpPr>
        <p:spPr>
          <a:xfrm>
            <a:off x="666720" y="43812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Forma libre 107"/>
          <p:cNvSpPr/>
          <p:nvPr/>
        </p:nvSpPr>
        <p:spPr>
          <a:xfrm>
            <a:off x="3076560" y="43812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Forma libre 108"/>
          <p:cNvSpPr/>
          <p:nvPr/>
        </p:nvSpPr>
        <p:spPr>
          <a:xfrm>
            <a:off x="5162400" y="43812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orma libre 109"/>
          <p:cNvSpPr/>
          <p:nvPr/>
        </p:nvSpPr>
        <p:spPr>
          <a:xfrm>
            <a:off x="7381800" y="43812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Forma libre 110"/>
          <p:cNvSpPr/>
          <p:nvPr/>
        </p:nvSpPr>
        <p:spPr>
          <a:xfrm>
            <a:off x="666720" y="47908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orma libre 111"/>
          <p:cNvSpPr/>
          <p:nvPr/>
        </p:nvSpPr>
        <p:spPr>
          <a:xfrm>
            <a:off x="666720" y="4781520"/>
            <a:ext cx="2419560" cy="9720"/>
          </a:xfrm>
          <a:custGeom>
            <a:avLst/>
            <a:gdLst/>
            <a:ahLst/>
            <a:cxnLst/>
            <a:rect l="0" t="0" r="r" b="b"/>
            <a:pathLst>
              <a:path w="6721" h="27">
                <a:moveTo>
                  <a:pt x="0" y="0"/>
                </a:moveTo>
                <a:lnTo>
                  <a:pt x="6721" y="0"/>
                </a:lnTo>
                <a:lnTo>
                  <a:pt x="6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orma libre 112"/>
          <p:cNvSpPr/>
          <p:nvPr/>
        </p:nvSpPr>
        <p:spPr>
          <a:xfrm>
            <a:off x="3076560" y="47908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orma libre 113"/>
          <p:cNvSpPr/>
          <p:nvPr/>
        </p:nvSpPr>
        <p:spPr>
          <a:xfrm>
            <a:off x="3085920" y="4781520"/>
            <a:ext cx="2086200" cy="9720"/>
          </a:xfrm>
          <a:custGeom>
            <a:avLst/>
            <a:gdLst/>
            <a:ahLst/>
            <a:cxnLst/>
            <a:rect l="0" t="0" r="r" b="b"/>
            <a:pathLst>
              <a:path w="5795" h="27">
                <a:moveTo>
                  <a:pt x="0" y="0"/>
                </a:moveTo>
                <a:lnTo>
                  <a:pt x="5795" y="0"/>
                </a:lnTo>
                <a:lnTo>
                  <a:pt x="5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Forma libre 114"/>
          <p:cNvSpPr/>
          <p:nvPr/>
        </p:nvSpPr>
        <p:spPr>
          <a:xfrm>
            <a:off x="5162400" y="47908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orma libre 115"/>
          <p:cNvSpPr/>
          <p:nvPr/>
        </p:nvSpPr>
        <p:spPr>
          <a:xfrm>
            <a:off x="5171760" y="4781520"/>
            <a:ext cx="2219760" cy="9720"/>
          </a:xfrm>
          <a:custGeom>
            <a:avLst/>
            <a:gdLst/>
            <a:ahLst/>
            <a:cxnLst/>
            <a:rect l="0" t="0" r="r" b="b"/>
            <a:pathLst>
              <a:path w="6166" h="27">
                <a:moveTo>
                  <a:pt x="0" y="0"/>
                </a:moveTo>
                <a:lnTo>
                  <a:pt x="6166" y="0"/>
                </a:lnTo>
                <a:lnTo>
                  <a:pt x="61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Forma libre 116"/>
          <p:cNvSpPr/>
          <p:nvPr/>
        </p:nvSpPr>
        <p:spPr>
          <a:xfrm>
            <a:off x="7381800" y="47908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Forma libre 117"/>
          <p:cNvSpPr/>
          <p:nvPr/>
        </p:nvSpPr>
        <p:spPr>
          <a:xfrm>
            <a:off x="666720" y="52005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Forma libre 118"/>
          <p:cNvSpPr/>
          <p:nvPr/>
        </p:nvSpPr>
        <p:spPr>
          <a:xfrm>
            <a:off x="666720" y="5190840"/>
            <a:ext cx="2419560" cy="10080"/>
          </a:xfrm>
          <a:custGeom>
            <a:avLst/>
            <a:gdLst/>
            <a:ahLst/>
            <a:cxnLst/>
            <a:rect l="0" t="0" r="r" b="b"/>
            <a:pathLst>
              <a:path w="6721" h="28">
                <a:moveTo>
                  <a:pt x="0" y="0"/>
                </a:moveTo>
                <a:lnTo>
                  <a:pt x="6721" y="0"/>
                </a:lnTo>
                <a:lnTo>
                  <a:pt x="67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Forma libre 119"/>
          <p:cNvSpPr/>
          <p:nvPr/>
        </p:nvSpPr>
        <p:spPr>
          <a:xfrm>
            <a:off x="3076560" y="52005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Forma libre 120"/>
          <p:cNvSpPr/>
          <p:nvPr/>
        </p:nvSpPr>
        <p:spPr>
          <a:xfrm>
            <a:off x="3085920" y="5190840"/>
            <a:ext cx="2086200" cy="10080"/>
          </a:xfrm>
          <a:custGeom>
            <a:avLst/>
            <a:gdLst/>
            <a:ahLst/>
            <a:cxnLst/>
            <a:rect l="0" t="0" r="r" b="b"/>
            <a:pathLst>
              <a:path w="5795" h="28">
                <a:moveTo>
                  <a:pt x="0" y="0"/>
                </a:moveTo>
                <a:lnTo>
                  <a:pt x="5795" y="0"/>
                </a:lnTo>
                <a:lnTo>
                  <a:pt x="57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Forma libre 121"/>
          <p:cNvSpPr/>
          <p:nvPr/>
        </p:nvSpPr>
        <p:spPr>
          <a:xfrm>
            <a:off x="5162400" y="52005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Forma libre 122"/>
          <p:cNvSpPr/>
          <p:nvPr/>
        </p:nvSpPr>
        <p:spPr>
          <a:xfrm>
            <a:off x="5171760" y="5190840"/>
            <a:ext cx="2219760" cy="10080"/>
          </a:xfrm>
          <a:custGeom>
            <a:avLst/>
            <a:gdLst/>
            <a:ahLst/>
            <a:cxnLst/>
            <a:rect l="0" t="0" r="r" b="b"/>
            <a:pathLst>
              <a:path w="6166" h="28">
                <a:moveTo>
                  <a:pt x="0" y="0"/>
                </a:moveTo>
                <a:lnTo>
                  <a:pt x="6166" y="0"/>
                </a:lnTo>
                <a:lnTo>
                  <a:pt x="616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Forma libre 123"/>
          <p:cNvSpPr/>
          <p:nvPr/>
        </p:nvSpPr>
        <p:spPr>
          <a:xfrm>
            <a:off x="7381800" y="520056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Forma libre 124"/>
          <p:cNvSpPr/>
          <p:nvPr/>
        </p:nvSpPr>
        <p:spPr>
          <a:xfrm>
            <a:off x="666720" y="5600520"/>
            <a:ext cx="2419560" cy="9720"/>
          </a:xfrm>
          <a:custGeom>
            <a:avLst/>
            <a:gdLst/>
            <a:ahLst/>
            <a:cxnLst/>
            <a:rect l="0" t="0" r="r" b="b"/>
            <a:pathLst>
              <a:path w="6721" h="27">
                <a:moveTo>
                  <a:pt x="0" y="0"/>
                </a:moveTo>
                <a:lnTo>
                  <a:pt x="6721" y="0"/>
                </a:lnTo>
                <a:lnTo>
                  <a:pt x="6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Forma libre 125"/>
          <p:cNvSpPr/>
          <p:nvPr/>
        </p:nvSpPr>
        <p:spPr>
          <a:xfrm>
            <a:off x="3085920" y="5600520"/>
            <a:ext cx="2086200" cy="9720"/>
          </a:xfrm>
          <a:custGeom>
            <a:avLst/>
            <a:gdLst/>
            <a:ahLst/>
            <a:cxnLst/>
            <a:rect l="0" t="0" r="r" b="b"/>
            <a:pathLst>
              <a:path w="5795" h="27">
                <a:moveTo>
                  <a:pt x="0" y="0"/>
                </a:moveTo>
                <a:lnTo>
                  <a:pt x="5795" y="0"/>
                </a:lnTo>
                <a:lnTo>
                  <a:pt x="57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Forma libre 126"/>
          <p:cNvSpPr/>
          <p:nvPr/>
        </p:nvSpPr>
        <p:spPr>
          <a:xfrm>
            <a:off x="5171760" y="5600520"/>
            <a:ext cx="2219760" cy="9720"/>
          </a:xfrm>
          <a:custGeom>
            <a:avLst/>
            <a:gdLst/>
            <a:ahLst/>
            <a:cxnLst/>
            <a:rect l="0" t="0" r="r" b="b"/>
            <a:pathLst>
              <a:path w="6166" h="27">
                <a:moveTo>
                  <a:pt x="0" y="0"/>
                </a:moveTo>
                <a:lnTo>
                  <a:pt x="6166" y="0"/>
                </a:lnTo>
                <a:lnTo>
                  <a:pt x="61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CuadroTexto 127"/>
          <p:cNvSpPr txBox="1"/>
          <p:nvPr/>
        </p:nvSpPr>
        <p:spPr>
          <a:xfrm>
            <a:off x="666720" y="767880"/>
            <a:ext cx="52369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 fila no siempre significa lo mismo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CuadroTexto 128"/>
          <p:cNvSpPr txBox="1"/>
          <p:nvPr/>
        </p:nvSpPr>
        <p:spPr>
          <a:xfrm>
            <a:off x="866880" y="1594080"/>
            <a:ext cx="5678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drug_concept_id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QUÉ (RxNorm, estándar)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CuadroTexto 129"/>
          <p:cNvSpPr txBox="1"/>
          <p:nvPr/>
        </p:nvSpPr>
        <p:spPr>
          <a:xfrm>
            <a:off x="866880" y="1860840"/>
            <a:ext cx="4586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drug_exposure_start_date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desde cuándo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CuadroTexto 130"/>
          <p:cNvSpPr txBox="1"/>
          <p:nvPr/>
        </p:nvSpPr>
        <p:spPr>
          <a:xfrm>
            <a:off x="866880" y="2117880"/>
            <a:ext cx="6661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drug_exposure_end_date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hasta cuándo… si es que se sabe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CuadroTexto 131"/>
          <p:cNvSpPr txBox="1"/>
          <p:nvPr/>
        </p:nvSpPr>
        <p:spPr>
          <a:xfrm>
            <a:off x="866880" y="2384640"/>
            <a:ext cx="6224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days_supply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para cuántos días se surtió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CuadroTexto 132"/>
          <p:cNvSpPr txBox="1"/>
          <p:nvPr/>
        </p:nvSpPr>
        <p:spPr>
          <a:xfrm>
            <a:off x="866880" y="2642040"/>
            <a:ext cx="5678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quantity, refills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cuánto y cuántas veces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Forma libre 133"/>
          <p:cNvSpPr/>
          <p:nvPr/>
        </p:nvSpPr>
        <p:spPr>
          <a:xfrm>
            <a:off x="666720" y="3524040"/>
            <a:ext cx="2457720" cy="267120"/>
          </a:xfrm>
          <a:custGeom>
            <a:avLst/>
            <a:gdLst/>
            <a:ahLst/>
            <a:cxnLst/>
            <a:rect l="0" t="0" r="r" b="b"/>
            <a:pathLst>
              <a:path w="682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6721" y="0"/>
                </a:lnTo>
                <a:cubicBezTo>
                  <a:pt x="6735" y="0"/>
                  <a:pt x="6749" y="3"/>
                  <a:pt x="6761" y="8"/>
                </a:cubicBezTo>
                <a:cubicBezTo>
                  <a:pt x="6774" y="14"/>
                  <a:pt x="6786" y="21"/>
                  <a:pt x="6796" y="31"/>
                </a:cubicBezTo>
                <a:cubicBezTo>
                  <a:pt x="6806" y="41"/>
                  <a:pt x="6813" y="52"/>
                  <a:pt x="6819" y="65"/>
                </a:cubicBezTo>
                <a:cubicBezTo>
                  <a:pt x="6824" y="78"/>
                  <a:pt x="6827" y="92"/>
                  <a:pt x="6827" y="106"/>
                </a:cubicBezTo>
                <a:lnTo>
                  <a:pt x="6827" y="636"/>
                </a:lnTo>
                <a:cubicBezTo>
                  <a:pt x="6827" y="650"/>
                  <a:pt x="6824" y="664"/>
                  <a:pt x="6819" y="677"/>
                </a:cubicBezTo>
                <a:cubicBezTo>
                  <a:pt x="6813" y="690"/>
                  <a:pt x="6806" y="701"/>
                  <a:pt x="6796" y="711"/>
                </a:cubicBezTo>
                <a:cubicBezTo>
                  <a:pt x="6786" y="721"/>
                  <a:pt x="6774" y="728"/>
                  <a:pt x="6761" y="734"/>
                </a:cubicBezTo>
                <a:cubicBezTo>
                  <a:pt x="6749" y="739"/>
                  <a:pt x="6735" y="742"/>
                  <a:pt x="6721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CuadroTexto 134"/>
          <p:cNvSpPr txBox="1"/>
          <p:nvPr/>
        </p:nvSpPr>
        <p:spPr>
          <a:xfrm>
            <a:off x="866880" y="2908800"/>
            <a:ext cx="7316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drug_type_concept_id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← lo más importante y lo más ignorado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CuadroTexto 135"/>
          <p:cNvSpPr txBox="1"/>
          <p:nvPr/>
        </p:nvSpPr>
        <p:spPr>
          <a:xfrm>
            <a:off x="723960" y="3543840"/>
            <a:ext cx="2349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drug_type_concept_id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CuadroTexto 136"/>
          <p:cNvSpPr txBox="1"/>
          <p:nvPr/>
        </p:nvSpPr>
        <p:spPr>
          <a:xfrm>
            <a:off x="3120840" y="3506760"/>
            <a:ext cx="2804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te dice el nivel de evidencia: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CuadroTexto 137"/>
          <p:cNvSpPr txBox="1"/>
          <p:nvPr/>
        </p:nvSpPr>
        <p:spPr>
          <a:xfrm>
            <a:off x="1676880" y="4066920"/>
            <a:ext cx="398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Tipo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CuadroTexto 138"/>
          <p:cNvSpPr txBox="1"/>
          <p:nvPr/>
        </p:nvSpPr>
        <p:spPr>
          <a:xfrm>
            <a:off x="3730320" y="4066920"/>
            <a:ext cx="786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Signiﬁca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CuadroTexto 139"/>
          <p:cNvSpPr txBox="1"/>
          <p:nvPr/>
        </p:nvSpPr>
        <p:spPr>
          <a:xfrm>
            <a:off x="5294880" y="4066920"/>
            <a:ext cx="1964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¿El paciente lo tomó?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CuadroTexto 140"/>
          <p:cNvSpPr txBox="1"/>
          <p:nvPr/>
        </p:nvSpPr>
        <p:spPr>
          <a:xfrm>
            <a:off x="799920" y="4466880"/>
            <a:ext cx="1609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Prescripción escrita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CuadroTexto 141"/>
          <p:cNvSpPr txBox="1"/>
          <p:nvPr/>
        </p:nvSpPr>
        <p:spPr>
          <a:xfrm>
            <a:off x="3209400" y="4466880"/>
            <a:ext cx="1528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médico lo indicó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CuadroTexto 142"/>
          <p:cNvSpPr txBox="1"/>
          <p:nvPr/>
        </p:nvSpPr>
        <p:spPr>
          <a:xfrm>
            <a:off x="5294880" y="4466880"/>
            <a:ext cx="1482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quizá ni lo recogió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CuadroTexto 143"/>
          <p:cNvSpPr txBox="1"/>
          <p:nvPr/>
        </p:nvSpPr>
        <p:spPr>
          <a:xfrm>
            <a:off x="799920" y="4876560"/>
            <a:ext cx="2107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Dispensación en farmacia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CuadroTexto 144"/>
          <p:cNvSpPr txBox="1"/>
          <p:nvPr/>
        </p:nvSpPr>
        <p:spPr>
          <a:xfrm>
            <a:off x="3209400" y="4876560"/>
            <a:ext cx="1437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alguien lo recogió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CuadroTexto 145"/>
          <p:cNvSpPr txBox="1"/>
          <p:nvPr/>
        </p:nvSpPr>
        <p:spPr>
          <a:xfrm>
            <a:off x="5294880" y="4876560"/>
            <a:ext cx="12427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probablemente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CuadroTexto 146"/>
          <p:cNvSpPr txBox="1"/>
          <p:nvPr/>
        </p:nvSpPr>
        <p:spPr>
          <a:xfrm>
            <a:off x="799920" y="5285880"/>
            <a:ext cx="21528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Administración en hospital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CuadroTexto 147"/>
          <p:cNvSpPr txBox="1"/>
          <p:nvPr/>
        </p:nvSpPr>
        <p:spPr>
          <a:xfrm>
            <a:off x="3209400" y="5285880"/>
            <a:ext cx="1832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 lo dieron en la vena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CuadroTexto 148"/>
          <p:cNvSpPr txBox="1"/>
          <p:nvPr/>
        </p:nvSpPr>
        <p:spPr>
          <a:xfrm>
            <a:off x="5294880" y="528588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sí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CuadroTexto 15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CuadroTexto 15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CuadroTexto 154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56485A3-D239-3EFD-C56E-00FA491DA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55" y="566682"/>
            <a:ext cx="10851289" cy="552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25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orma libre 1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Forma libre 1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Forma libre 1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Forma libre 158"/>
          <p:cNvSpPr/>
          <p:nvPr/>
        </p:nvSpPr>
        <p:spPr>
          <a:xfrm>
            <a:off x="671400" y="177624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0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0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Forma libre 159"/>
          <p:cNvSpPr/>
          <p:nvPr/>
        </p:nvSpPr>
        <p:spPr>
          <a:xfrm>
            <a:off x="671400" y="177624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0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0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Forma libre 160"/>
          <p:cNvSpPr/>
          <p:nvPr/>
        </p:nvSpPr>
        <p:spPr>
          <a:xfrm>
            <a:off x="666720" y="482904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Forma libre 161"/>
          <p:cNvSpPr/>
          <p:nvPr/>
        </p:nvSpPr>
        <p:spPr>
          <a:xfrm>
            <a:off x="666720" y="482904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CuadroTexto 162"/>
          <p:cNvSpPr txBox="1"/>
          <p:nvPr/>
        </p:nvSpPr>
        <p:spPr>
          <a:xfrm>
            <a:off x="666720" y="1130040"/>
            <a:ext cx="4137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problema de la fecha de fin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CuadroTexto 163"/>
          <p:cNvSpPr txBox="1"/>
          <p:nvPr/>
        </p:nvSpPr>
        <p:spPr>
          <a:xfrm>
            <a:off x="866880" y="1956240"/>
            <a:ext cx="4040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drug_exposure_start_date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2023-03-01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CuadroTexto 164"/>
          <p:cNvSpPr txBox="1"/>
          <p:nvPr/>
        </p:nvSpPr>
        <p:spPr>
          <a:xfrm>
            <a:off x="866880" y="2223000"/>
            <a:ext cx="3166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days_supply          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30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CuadroTexto 165"/>
          <p:cNvSpPr txBox="1"/>
          <p:nvPr/>
        </p:nvSpPr>
        <p:spPr>
          <a:xfrm>
            <a:off x="866880" y="2480040"/>
            <a:ext cx="3057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drug_exposure_end_date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?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Forma libre 166"/>
          <p:cNvSpPr/>
          <p:nvPr/>
        </p:nvSpPr>
        <p:spPr>
          <a:xfrm>
            <a:off x="914040" y="36860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CuadroTexto 167"/>
          <p:cNvSpPr txBox="1"/>
          <p:nvPr/>
        </p:nvSpPr>
        <p:spPr>
          <a:xfrm>
            <a:off x="666720" y="3078000"/>
            <a:ext cx="2532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Tres situaciones distintas: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Forma libre 168"/>
          <p:cNvSpPr/>
          <p:nvPr/>
        </p:nvSpPr>
        <p:spPr>
          <a:xfrm>
            <a:off x="914040" y="40860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CuadroTexto 169"/>
          <p:cNvSpPr txBox="1"/>
          <p:nvPr/>
        </p:nvSpPr>
        <p:spPr>
          <a:xfrm>
            <a:off x="1123920" y="3573360"/>
            <a:ext cx="4069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Viene en el dato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confía, con reservas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Forma libre 170"/>
          <p:cNvSpPr/>
          <p:nvPr/>
        </p:nvSpPr>
        <p:spPr>
          <a:xfrm>
            <a:off x="2523960" y="3990960"/>
            <a:ext cx="1400400" cy="266760"/>
          </a:xfrm>
          <a:custGeom>
            <a:avLst/>
            <a:gdLst/>
            <a:ahLst/>
            <a:cxnLst/>
            <a:rect l="0" t="0" r="r" b="b"/>
            <a:pathLst>
              <a:path w="3890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784" y="0"/>
                </a:lnTo>
                <a:cubicBezTo>
                  <a:pt x="3799" y="0"/>
                  <a:pt x="3812" y="2"/>
                  <a:pt x="3825" y="8"/>
                </a:cubicBezTo>
                <a:cubicBezTo>
                  <a:pt x="3838" y="13"/>
                  <a:pt x="3849" y="21"/>
                  <a:pt x="3859" y="31"/>
                </a:cubicBezTo>
                <a:cubicBezTo>
                  <a:pt x="3869" y="40"/>
                  <a:pt x="3877" y="52"/>
                  <a:pt x="3882" y="65"/>
                </a:cubicBezTo>
                <a:cubicBezTo>
                  <a:pt x="3888" y="78"/>
                  <a:pt x="3890" y="91"/>
                  <a:pt x="3890" y="105"/>
                </a:cubicBezTo>
                <a:lnTo>
                  <a:pt x="3890" y="636"/>
                </a:lnTo>
                <a:cubicBezTo>
                  <a:pt x="3890" y="650"/>
                  <a:pt x="3888" y="663"/>
                  <a:pt x="3882" y="676"/>
                </a:cubicBezTo>
                <a:cubicBezTo>
                  <a:pt x="3877" y="689"/>
                  <a:pt x="3869" y="700"/>
                  <a:pt x="3859" y="710"/>
                </a:cubicBezTo>
                <a:cubicBezTo>
                  <a:pt x="3849" y="720"/>
                  <a:pt x="3838" y="728"/>
                  <a:pt x="3825" y="733"/>
                </a:cubicBezTo>
                <a:cubicBezTo>
                  <a:pt x="3812" y="739"/>
                  <a:pt x="3799" y="741"/>
                  <a:pt x="3784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CuadroTexto 171"/>
          <p:cNvSpPr txBox="1"/>
          <p:nvPr/>
        </p:nvSpPr>
        <p:spPr>
          <a:xfrm>
            <a:off x="1123920" y="3973320"/>
            <a:ext cx="1406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 inﬁere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CuadroTexto 172"/>
          <p:cNvSpPr txBox="1"/>
          <p:nvPr/>
        </p:nvSpPr>
        <p:spPr>
          <a:xfrm>
            <a:off x="2582640" y="401076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days_supply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Forma libre 173"/>
          <p:cNvSpPr/>
          <p:nvPr/>
        </p:nvSpPr>
        <p:spPr>
          <a:xfrm>
            <a:off x="914040" y="44859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CuadroTexto 174"/>
          <p:cNvSpPr txBox="1"/>
          <p:nvPr/>
        </p:nvSpPr>
        <p:spPr>
          <a:xfrm>
            <a:off x="3926880" y="3973320"/>
            <a:ext cx="2939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es una estimación del ETL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Forma libre 175"/>
          <p:cNvSpPr/>
          <p:nvPr/>
        </p:nvSpPr>
        <p:spPr>
          <a:xfrm>
            <a:off x="4809960" y="4390920"/>
            <a:ext cx="1286280" cy="267120"/>
          </a:xfrm>
          <a:custGeom>
            <a:avLst/>
            <a:gdLst/>
            <a:ahLst/>
            <a:cxnLst/>
            <a:rect l="0" t="0" r="r" b="b"/>
            <a:pathLst>
              <a:path w="3573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2"/>
                  <a:pt x="52" y="14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2"/>
                  <a:pt x="3507" y="8"/>
                </a:cubicBezTo>
                <a:cubicBezTo>
                  <a:pt x="3520" y="14"/>
                  <a:pt x="3532" y="22"/>
                  <a:pt x="3542" y="32"/>
                </a:cubicBezTo>
                <a:cubicBezTo>
                  <a:pt x="3552" y="42"/>
                  <a:pt x="3559" y="53"/>
                  <a:pt x="3565" y="66"/>
                </a:cubicBezTo>
                <a:cubicBezTo>
                  <a:pt x="3570" y="79"/>
                  <a:pt x="3573" y="93"/>
                  <a:pt x="3573" y="107"/>
                </a:cubicBezTo>
                <a:lnTo>
                  <a:pt x="3573" y="636"/>
                </a:lnTo>
                <a:cubicBezTo>
                  <a:pt x="3573" y="650"/>
                  <a:pt x="3570" y="663"/>
                  <a:pt x="3565" y="676"/>
                </a:cubicBezTo>
                <a:cubicBezTo>
                  <a:pt x="3559" y="689"/>
                  <a:pt x="3552" y="701"/>
                  <a:pt x="3542" y="711"/>
                </a:cubicBezTo>
                <a:cubicBezTo>
                  <a:pt x="3532" y="721"/>
                  <a:pt x="3520" y="728"/>
                  <a:pt x="3507" y="734"/>
                </a:cubicBezTo>
                <a:cubicBezTo>
                  <a:pt x="3495" y="739"/>
                  <a:pt x="3481" y="742"/>
                  <a:pt x="3467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CuadroTexto 176"/>
          <p:cNvSpPr txBox="1"/>
          <p:nvPr/>
        </p:nvSpPr>
        <p:spPr>
          <a:xfrm>
            <a:off x="1123920" y="4373280"/>
            <a:ext cx="3684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hay nada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algunos ETL ponen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CuadroTexto 177"/>
          <p:cNvSpPr txBox="1"/>
          <p:nvPr/>
        </p:nvSpPr>
        <p:spPr>
          <a:xfrm>
            <a:off x="4865400" y="441072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start_date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CuadroTexto 178"/>
          <p:cNvSpPr txBox="1"/>
          <p:nvPr/>
        </p:nvSpPr>
        <p:spPr>
          <a:xfrm>
            <a:off x="6092640" y="4373280"/>
            <a:ext cx="2613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ya: exposición de un día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CuadroTexto 179"/>
          <p:cNvSpPr txBox="1"/>
          <p:nvPr/>
        </p:nvSpPr>
        <p:spPr>
          <a:xfrm>
            <a:off x="905040" y="4983120"/>
            <a:ext cx="10263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Antes de cualquier análisis de exposición,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averigua cuál de las tres es tu base.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Cambia por completo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CuadroTexto 180"/>
          <p:cNvSpPr txBox="1"/>
          <p:nvPr/>
        </p:nvSpPr>
        <p:spPr>
          <a:xfrm>
            <a:off x="905040" y="5325840"/>
            <a:ext cx="3087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lo que signiﬁcan tus resultados.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CuadroTexto 18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CuadroTexto 18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CuadroTexto 183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Forma libre 1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Forma libre 18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Forma libre 18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CuadroTexto 187"/>
          <p:cNvSpPr txBox="1"/>
          <p:nvPr/>
        </p:nvSpPr>
        <p:spPr>
          <a:xfrm>
            <a:off x="3203280" y="3063960"/>
            <a:ext cx="59194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De exposiciones a eras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CuadroTexto 18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CuadroTexto 18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CuadroTexto 190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Forma libre 19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Forma libre 1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Forma libre 1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Forma libre 194"/>
          <p:cNvSpPr/>
          <p:nvPr/>
        </p:nvSpPr>
        <p:spPr>
          <a:xfrm>
            <a:off x="671400" y="284292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3613"/>
                </a:lnTo>
                <a:cubicBezTo>
                  <a:pt x="30137" y="3626"/>
                  <a:pt x="30136" y="3639"/>
                  <a:pt x="30133" y="3652"/>
                </a:cubicBezTo>
                <a:cubicBezTo>
                  <a:pt x="30130" y="3664"/>
                  <a:pt x="30127" y="3677"/>
                  <a:pt x="30122" y="3689"/>
                </a:cubicBezTo>
                <a:cubicBezTo>
                  <a:pt x="30117" y="3701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1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1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1"/>
                  <a:pt x="15" y="3689"/>
                </a:cubicBezTo>
                <a:cubicBezTo>
                  <a:pt x="10" y="3677"/>
                  <a:pt x="6" y="3664"/>
                  <a:pt x="4" y="3652"/>
                </a:cubicBezTo>
                <a:cubicBezTo>
                  <a:pt x="1" y="3639"/>
                  <a:pt x="0" y="3626"/>
                  <a:pt x="0" y="361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Forma libre 195"/>
          <p:cNvSpPr/>
          <p:nvPr/>
        </p:nvSpPr>
        <p:spPr>
          <a:xfrm>
            <a:off x="671400" y="284292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3613"/>
                </a:lnTo>
                <a:cubicBezTo>
                  <a:pt x="30137" y="3626"/>
                  <a:pt x="30136" y="3639"/>
                  <a:pt x="30133" y="3652"/>
                </a:cubicBezTo>
                <a:cubicBezTo>
                  <a:pt x="30130" y="3664"/>
                  <a:pt x="30127" y="3677"/>
                  <a:pt x="30122" y="3689"/>
                </a:cubicBezTo>
                <a:cubicBezTo>
                  <a:pt x="30117" y="3701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1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1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1"/>
                  <a:pt x="15" y="3689"/>
                </a:cubicBezTo>
                <a:cubicBezTo>
                  <a:pt x="10" y="3677"/>
                  <a:pt x="6" y="3664"/>
                  <a:pt x="4" y="3652"/>
                </a:cubicBezTo>
                <a:cubicBezTo>
                  <a:pt x="1" y="3639"/>
                  <a:pt x="0" y="3626"/>
                  <a:pt x="0" y="361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Forma libre 196"/>
          <p:cNvSpPr/>
          <p:nvPr/>
        </p:nvSpPr>
        <p:spPr>
          <a:xfrm>
            <a:off x="666720" y="1361880"/>
            <a:ext cx="1667160" cy="381240"/>
          </a:xfrm>
          <a:custGeom>
            <a:avLst/>
            <a:gdLst/>
            <a:ahLst/>
            <a:cxnLst/>
            <a:rect l="0" t="0" r="r" b="b"/>
            <a:pathLst>
              <a:path w="4631" h="1059">
                <a:moveTo>
                  <a:pt x="0" y="953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4525" y="0"/>
                </a:lnTo>
                <a:cubicBezTo>
                  <a:pt x="4539" y="0"/>
                  <a:pt x="4552" y="3"/>
                  <a:pt x="4565" y="8"/>
                </a:cubicBezTo>
                <a:cubicBezTo>
                  <a:pt x="4578" y="13"/>
                  <a:pt x="4590" y="21"/>
                  <a:pt x="4600" y="31"/>
                </a:cubicBezTo>
                <a:cubicBezTo>
                  <a:pt x="4610" y="41"/>
                  <a:pt x="4617" y="52"/>
                  <a:pt x="4623" y="65"/>
                </a:cubicBezTo>
                <a:cubicBezTo>
                  <a:pt x="4628" y="78"/>
                  <a:pt x="4631" y="92"/>
                  <a:pt x="4631" y="106"/>
                </a:cubicBezTo>
                <a:lnTo>
                  <a:pt x="4631" y="953"/>
                </a:lnTo>
                <a:cubicBezTo>
                  <a:pt x="4631" y="967"/>
                  <a:pt x="4628" y="981"/>
                  <a:pt x="4623" y="994"/>
                </a:cubicBezTo>
                <a:cubicBezTo>
                  <a:pt x="4617" y="1007"/>
                  <a:pt x="4610" y="1018"/>
                  <a:pt x="4600" y="1028"/>
                </a:cubicBezTo>
                <a:cubicBezTo>
                  <a:pt x="4590" y="1038"/>
                  <a:pt x="4578" y="1046"/>
                  <a:pt x="4565" y="1051"/>
                </a:cubicBezTo>
                <a:cubicBezTo>
                  <a:pt x="4552" y="1057"/>
                  <a:pt x="4539" y="1059"/>
                  <a:pt x="4525" y="1059"/>
                </a:cubicBezTo>
                <a:lnTo>
                  <a:pt x="105" y="1059"/>
                </a:lnTo>
                <a:cubicBezTo>
                  <a:pt x="91" y="1059"/>
                  <a:pt x="78" y="1057"/>
                  <a:pt x="65" y="1051"/>
                </a:cubicBezTo>
                <a:cubicBezTo>
                  <a:pt x="52" y="1046"/>
                  <a:pt x="41" y="1038"/>
                  <a:pt x="31" y="1028"/>
                </a:cubicBezTo>
                <a:cubicBezTo>
                  <a:pt x="21" y="1018"/>
                  <a:pt x="13" y="1007"/>
                  <a:pt x="8" y="994"/>
                </a:cubicBezTo>
                <a:cubicBezTo>
                  <a:pt x="2" y="981"/>
                  <a:pt x="0" y="967"/>
                  <a:pt x="0" y="953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CuadroTexto 197"/>
          <p:cNvSpPr txBox="1"/>
          <p:nvPr/>
        </p:nvSpPr>
        <p:spPr>
          <a:xfrm>
            <a:off x="731520" y="1366200"/>
            <a:ext cx="156420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DRUG_ERA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CuadroTexto 198"/>
          <p:cNvSpPr txBox="1"/>
          <p:nvPr/>
        </p:nvSpPr>
        <p:spPr>
          <a:xfrm>
            <a:off x="2330280" y="1358640"/>
            <a:ext cx="52621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: lo que ya construiste en la sesión 11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CuadroTexto 199"/>
          <p:cNvSpPr txBox="1"/>
          <p:nvPr/>
        </p:nvSpPr>
        <p:spPr>
          <a:xfrm>
            <a:off x="666720" y="2039760"/>
            <a:ext cx="10644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Exposiciones sucesivas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al mismo ingrediente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colapsadas cuando el hueco entre ellas es menor al </a:t>
            </a:r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gap 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CuadroTexto 200"/>
          <p:cNvSpPr txBox="1"/>
          <p:nvPr/>
        </p:nvSpPr>
        <p:spPr>
          <a:xfrm>
            <a:off x="666720" y="2382840"/>
            <a:ext cx="4010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persistencia 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— por convención,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30 días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CuadroTexto 201"/>
          <p:cNvSpPr txBox="1"/>
          <p:nvPr/>
        </p:nvSpPr>
        <p:spPr>
          <a:xfrm>
            <a:off x="866880" y="3022920"/>
            <a:ext cx="5678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surtidos:   ●──●──●        ●──●──●              ●──●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CuadroTexto 202"/>
          <p:cNvSpPr txBox="1"/>
          <p:nvPr/>
        </p:nvSpPr>
        <p:spPr>
          <a:xfrm>
            <a:off x="866880" y="3289680"/>
            <a:ext cx="5896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0  30 60      250 280 310          505 535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CuadroTexto 203"/>
          <p:cNvSpPr txBox="1"/>
          <p:nvPr/>
        </p:nvSpPr>
        <p:spPr>
          <a:xfrm>
            <a:off x="866880" y="3546720"/>
            <a:ext cx="5241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└─ 160 d ─┘      └─ 195 d ─┘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Forma libre 204"/>
          <p:cNvSpPr/>
          <p:nvPr/>
        </p:nvSpPr>
        <p:spPr>
          <a:xfrm>
            <a:off x="914040" y="45241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8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8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CuadroTexto 205"/>
          <p:cNvSpPr txBox="1"/>
          <p:nvPr/>
        </p:nvSpPr>
        <p:spPr>
          <a:xfrm>
            <a:off x="866880" y="3813480"/>
            <a:ext cx="6005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DRUG_ERA:   [══ era 1 ══]  [══ era 2 ══]        [era 3]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Forma libre 206"/>
          <p:cNvSpPr/>
          <p:nvPr/>
        </p:nvSpPr>
        <p:spPr>
          <a:xfrm>
            <a:off x="914040" y="49240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CuadroTexto 207"/>
          <p:cNvSpPr txBox="1"/>
          <p:nvPr/>
        </p:nvSpPr>
        <p:spPr>
          <a:xfrm>
            <a:off x="1123920" y="4411440"/>
            <a:ext cx="6517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exactamente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el algoritmo de </a:t>
            </a:r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gaps and islands 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 la sesión 11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orma libre 208"/>
          <p:cNvSpPr/>
          <p:nvPr/>
        </p:nvSpPr>
        <p:spPr>
          <a:xfrm>
            <a:off x="914040" y="53244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Forma libre 209"/>
          <p:cNvSpPr/>
          <p:nvPr/>
        </p:nvSpPr>
        <p:spPr>
          <a:xfrm>
            <a:off x="1123920" y="5229000"/>
            <a:ext cx="1638360" cy="267120"/>
          </a:xfrm>
          <a:custGeom>
            <a:avLst/>
            <a:gdLst/>
            <a:ahLst/>
            <a:cxnLst/>
            <a:rect l="0" t="0" r="r" b="b"/>
            <a:pathLst>
              <a:path w="4551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4446" y="0"/>
                </a:lnTo>
                <a:cubicBezTo>
                  <a:pt x="4460" y="0"/>
                  <a:pt x="4473" y="3"/>
                  <a:pt x="4486" y="8"/>
                </a:cubicBezTo>
                <a:cubicBezTo>
                  <a:pt x="4499" y="14"/>
                  <a:pt x="4510" y="21"/>
                  <a:pt x="4520" y="31"/>
                </a:cubicBezTo>
                <a:cubicBezTo>
                  <a:pt x="4530" y="41"/>
                  <a:pt x="4538" y="52"/>
                  <a:pt x="4543" y="65"/>
                </a:cubicBezTo>
                <a:cubicBezTo>
                  <a:pt x="4549" y="78"/>
                  <a:pt x="4551" y="92"/>
                  <a:pt x="4551" y="106"/>
                </a:cubicBezTo>
                <a:lnTo>
                  <a:pt x="4551" y="635"/>
                </a:lnTo>
                <a:cubicBezTo>
                  <a:pt x="4551" y="650"/>
                  <a:pt x="4549" y="664"/>
                  <a:pt x="4543" y="677"/>
                </a:cubicBezTo>
                <a:cubicBezTo>
                  <a:pt x="4538" y="690"/>
                  <a:pt x="4530" y="701"/>
                  <a:pt x="4520" y="711"/>
                </a:cubicBezTo>
                <a:cubicBezTo>
                  <a:pt x="4510" y="721"/>
                  <a:pt x="4499" y="729"/>
                  <a:pt x="4486" y="734"/>
                </a:cubicBezTo>
                <a:cubicBezTo>
                  <a:pt x="4473" y="739"/>
                  <a:pt x="4460" y="742"/>
                  <a:pt x="4446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CuadroTexto 210"/>
          <p:cNvSpPr txBox="1"/>
          <p:nvPr/>
        </p:nvSpPr>
        <p:spPr>
          <a:xfrm>
            <a:off x="1123920" y="4811400"/>
            <a:ext cx="6296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 una tabla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derivada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no viene del hospital, la calcula un script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CuadroTexto 211"/>
          <p:cNvSpPr txBox="1"/>
          <p:nvPr/>
        </p:nvSpPr>
        <p:spPr>
          <a:xfrm>
            <a:off x="1181160" y="524880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CONDITION_ERA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Forma libre 212"/>
          <p:cNvSpPr/>
          <p:nvPr/>
        </p:nvSpPr>
        <p:spPr>
          <a:xfrm>
            <a:off x="6124320" y="5229000"/>
            <a:ext cx="1048320" cy="267120"/>
          </a:xfrm>
          <a:custGeom>
            <a:avLst/>
            <a:gdLst/>
            <a:ahLst/>
            <a:cxnLst/>
            <a:rect l="0" t="0" r="r" b="b"/>
            <a:pathLst>
              <a:path w="2912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806" y="0"/>
                </a:lnTo>
                <a:cubicBezTo>
                  <a:pt x="2820" y="0"/>
                  <a:pt x="2833" y="3"/>
                  <a:pt x="2846" y="8"/>
                </a:cubicBezTo>
                <a:cubicBezTo>
                  <a:pt x="2859" y="14"/>
                  <a:pt x="2871" y="21"/>
                  <a:pt x="2881" y="31"/>
                </a:cubicBezTo>
                <a:cubicBezTo>
                  <a:pt x="2891" y="41"/>
                  <a:pt x="2898" y="52"/>
                  <a:pt x="2904" y="65"/>
                </a:cubicBezTo>
                <a:cubicBezTo>
                  <a:pt x="2909" y="78"/>
                  <a:pt x="2912" y="92"/>
                  <a:pt x="2912" y="106"/>
                </a:cubicBezTo>
                <a:lnTo>
                  <a:pt x="2912" y="635"/>
                </a:lnTo>
                <a:cubicBezTo>
                  <a:pt x="2912" y="650"/>
                  <a:pt x="2909" y="664"/>
                  <a:pt x="2904" y="677"/>
                </a:cubicBezTo>
                <a:cubicBezTo>
                  <a:pt x="2898" y="690"/>
                  <a:pt x="2891" y="701"/>
                  <a:pt x="2881" y="711"/>
                </a:cubicBezTo>
                <a:cubicBezTo>
                  <a:pt x="2871" y="721"/>
                  <a:pt x="2859" y="729"/>
                  <a:pt x="2846" y="734"/>
                </a:cubicBezTo>
                <a:cubicBezTo>
                  <a:pt x="2833" y="739"/>
                  <a:pt x="2820" y="742"/>
                  <a:pt x="2806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CuadroTexto 213"/>
          <p:cNvSpPr txBox="1"/>
          <p:nvPr/>
        </p:nvSpPr>
        <p:spPr>
          <a:xfrm>
            <a:off x="2759040" y="5211720"/>
            <a:ext cx="3367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hace lo mismo con diagnósticos;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CuadroTexto 214"/>
          <p:cNvSpPr txBox="1"/>
          <p:nvPr/>
        </p:nvSpPr>
        <p:spPr>
          <a:xfrm>
            <a:off x="6182640" y="524880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DOSE_ERA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CuadroTexto 215"/>
          <p:cNvSpPr txBox="1"/>
          <p:nvPr/>
        </p:nvSpPr>
        <p:spPr>
          <a:xfrm>
            <a:off x="7175880" y="5211720"/>
            <a:ext cx="2117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con dosis constante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CuadroTexto 21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CuadroTexto 21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CuadroTexto 218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Forma libre 21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Forma libre 22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Forma libre 2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Forma libre 222"/>
          <p:cNvSpPr/>
          <p:nvPr/>
        </p:nvSpPr>
        <p:spPr>
          <a:xfrm>
            <a:off x="4543200" y="3066840"/>
            <a:ext cx="3686400" cy="619560"/>
          </a:xfrm>
          <a:custGeom>
            <a:avLst/>
            <a:gdLst/>
            <a:ahLst/>
            <a:cxnLst/>
            <a:rect l="0" t="0" r="r" b="b"/>
            <a:pathLst>
              <a:path w="10240" h="1721">
                <a:moveTo>
                  <a:pt x="0" y="161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0135" y="0"/>
                </a:lnTo>
                <a:cubicBezTo>
                  <a:pt x="10149" y="0"/>
                  <a:pt x="10162" y="3"/>
                  <a:pt x="10175" y="8"/>
                </a:cubicBezTo>
                <a:cubicBezTo>
                  <a:pt x="10188" y="14"/>
                  <a:pt x="10200" y="21"/>
                  <a:pt x="10209" y="31"/>
                </a:cubicBezTo>
                <a:cubicBezTo>
                  <a:pt x="10219" y="41"/>
                  <a:pt x="10227" y="52"/>
                  <a:pt x="10232" y="65"/>
                </a:cubicBezTo>
                <a:cubicBezTo>
                  <a:pt x="10238" y="78"/>
                  <a:pt x="10240" y="92"/>
                  <a:pt x="10240" y="106"/>
                </a:cubicBezTo>
                <a:lnTo>
                  <a:pt x="10240" y="1615"/>
                </a:lnTo>
                <a:cubicBezTo>
                  <a:pt x="10240" y="1629"/>
                  <a:pt x="10238" y="1643"/>
                  <a:pt x="10232" y="1656"/>
                </a:cubicBezTo>
                <a:cubicBezTo>
                  <a:pt x="10227" y="1669"/>
                  <a:pt x="10219" y="1680"/>
                  <a:pt x="10209" y="1690"/>
                </a:cubicBezTo>
                <a:cubicBezTo>
                  <a:pt x="10200" y="1700"/>
                  <a:pt x="10188" y="1707"/>
                  <a:pt x="10175" y="1713"/>
                </a:cubicBezTo>
                <a:cubicBezTo>
                  <a:pt x="10162" y="1718"/>
                  <a:pt x="10149" y="1721"/>
                  <a:pt x="10135" y="1721"/>
                </a:cubicBezTo>
                <a:lnTo>
                  <a:pt x="106" y="1721"/>
                </a:lnTo>
                <a:cubicBezTo>
                  <a:pt x="92" y="1721"/>
                  <a:pt x="78" y="1718"/>
                  <a:pt x="65" y="1713"/>
                </a:cubicBezTo>
                <a:cubicBezTo>
                  <a:pt x="52" y="1707"/>
                  <a:pt x="41" y="1700"/>
                  <a:pt x="31" y="1690"/>
                </a:cubicBezTo>
                <a:cubicBezTo>
                  <a:pt x="21" y="1680"/>
                  <a:pt x="14" y="1669"/>
                  <a:pt x="8" y="1656"/>
                </a:cubicBezTo>
                <a:cubicBezTo>
                  <a:pt x="3" y="1643"/>
                  <a:pt x="0" y="1629"/>
                  <a:pt x="0" y="161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CuadroTexto 223"/>
          <p:cNvSpPr txBox="1"/>
          <p:nvPr/>
        </p:nvSpPr>
        <p:spPr>
          <a:xfrm>
            <a:off x="3963960" y="3054600"/>
            <a:ext cx="5940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CuadroTexto 224"/>
          <p:cNvSpPr txBox="1"/>
          <p:nvPr/>
        </p:nvSpPr>
        <p:spPr>
          <a:xfrm>
            <a:off x="4647600" y="3067200"/>
            <a:ext cx="3533040" cy="622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MEASUREMENT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CuadroTexto 22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CuadroTexto 22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CuadroTexto 22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Forma libre 2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Forma libre 2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Forma libre 2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Forma libre 231"/>
          <p:cNvSpPr/>
          <p:nvPr/>
        </p:nvSpPr>
        <p:spPr>
          <a:xfrm>
            <a:off x="671400" y="1985760"/>
            <a:ext cx="10849320" cy="2153160"/>
          </a:xfrm>
          <a:custGeom>
            <a:avLst/>
            <a:gdLst/>
            <a:ahLst/>
            <a:cxnLst/>
            <a:rect l="0" t="0" r="r" b="b"/>
            <a:pathLst>
              <a:path w="30137" h="5981">
                <a:moveTo>
                  <a:pt x="0" y="5782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5782"/>
                </a:lnTo>
                <a:cubicBezTo>
                  <a:pt x="30137" y="5795"/>
                  <a:pt x="30136" y="5808"/>
                  <a:pt x="30133" y="5821"/>
                </a:cubicBezTo>
                <a:cubicBezTo>
                  <a:pt x="30130" y="5834"/>
                  <a:pt x="30127" y="5846"/>
                  <a:pt x="30122" y="5858"/>
                </a:cubicBezTo>
                <a:cubicBezTo>
                  <a:pt x="30117" y="5870"/>
                  <a:pt x="30111" y="5882"/>
                  <a:pt x="30103" y="5892"/>
                </a:cubicBezTo>
                <a:cubicBezTo>
                  <a:pt x="30096" y="5903"/>
                  <a:pt x="30088" y="5913"/>
                  <a:pt x="30079" y="5923"/>
                </a:cubicBezTo>
                <a:cubicBezTo>
                  <a:pt x="30070" y="5932"/>
                  <a:pt x="30059" y="5940"/>
                  <a:pt x="30049" y="5947"/>
                </a:cubicBezTo>
                <a:cubicBezTo>
                  <a:pt x="30038" y="5954"/>
                  <a:pt x="30026" y="5961"/>
                  <a:pt x="30014" y="5966"/>
                </a:cubicBezTo>
                <a:cubicBezTo>
                  <a:pt x="30002" y="5971"/>
                  <a:pt x="29990" y="5974"/>
                  <a:pt x="29977" y="5977"/>
                </a:cubicBezTo>
                <a:cubicBezTo>
                  <a:pt x="29964" y="5979"/>
                  <a:pt x="29951" y="5981"/>
                  <a:pt x="29938" y="5981"/>
                </a:cubicBezTo>
                <a:lnTo>
                  <a:pt x="198" y="5981"/>
                </a:lnTo>
                <a:cubicBezTo>
                  <a:pt x="185" y="5981"/>
                  <a:pt x="172" y="5979"/>
                  <a:pt x="160" y="5977"/>
                </a:cubicBezTo>
                <a:cubicBezTo>
                  <a:pt x="147" y="5974"/>
                  <a:pt x="134" y="5971"/>
                  <a:pt x="122" y="5966"/>
                </a:cubicBezTo>
                <a:cubicBezTo>
                  <a:pt x="110" y="5961"/>
                  <a:pt x="99" y="5954"/>
                  <a:pt x="88" y="5947"/>
                </a:cubicBezTo>
                <a:cubicBezTo>
                  <a:pt x="77" y="5940"/>
                  <a:pt x="67" y="5932"/>
                  <a:pt x="58" y="5923"/>
                </a:cubicBezTo>
                <a:cubicBezTo>
                  <a:pt x="49" y="5913"/>
                  <a:pt x="40" y="5903"/>
                  <a:pt x="33" y="5892"/>
                </a:cubicBezTo>
                <a:cubicBezTo>
                  <a:pt x="26" y="5882"/>
                  <a:pt x="20" y="5870"/>
                  <a:pt x="15" y="5858"/>
                </a:cubicBezTo>
                <a:cubicBezTo>
                  <a:pt x="10" y="5846"/>
                  <a:pt x="6" y="5834"/>
                  <a:pt x="4" y="5821"/>
                </a:cubicBezTo>
                <a:cubicBezTo>
                  <a:pt x="1" y="5808"/>
                  <a:pt x="0" y="5795"/>
                  <a:pt x="0" y="578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orma libre 232"/>
          <p:cNvSpPr/>
          <p:nvPr/>
        </p:nvSpPr>
        <p:spPr>
          <a:xfrm>
            <a:off x="671400" y="1985760"/>
            <a:ext cx="10849320" cy="2153160"/>
          </a:xfrm>
          <a:custGeom>
            <a:avLst/>
            <a:gdLst/>
            <a:ahLst/>
            <a:cxnLst/>
            <a:rect l="0" t="0" r="r" b="b"/>
            <a:pathLst>
              <a:path w="30137" h="5981">
                <a:moveTo>
                  <a:pt x="0" y="5782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5782"/>
                </a:lnTo>
                <a:cubicBezTo>
                  <a:pt x="30137" y="5795"/>
                  <a:pt x="30136" y="5808"/>
                  <a:pt x="30133" y="5821"/>
                </a:cubicBezTo>
                <a:cubicBezTo>
                  <a:pt x="30130" y="5834"/>
                  <a:pt x="30127" y="5846"/>
                  <a:pt x="30122" y="5858"/>
                </a:cubicBezTo>
                <a:cubicBezTo>
                  <a:pt x="30117" y="5870"/>
                  <a:pt x="30111" y="5882"/>
                  <a:pt x="30103" y="5892"/>
                </a:cubicBezTo>
                <a:cubicBezTo>
                  <a:pt x="30096" y="5903"/>
                  <a:pt x="30088" y="5913"/>
                  <a:pt x="30079" y="5923"/>
                </a:cubicBezTo>
                <a:cubicBezTo>
                  <a:pt x="30070" y="5932"/>
                  <a:pt x="30059" y="5940"/>
                  <a:pt x="30049" y="5947"/>
                </a:cubicBezTo>
                <a:cubicBezTo>
                  <a:pt x="30038" y="5954"/>
                  <a:pt x="30026" y="5961"/>
                  <a:pt x="30014" y="5966"/>
                </a:cubicBezTo>
                <a:cubicBezTo>
                  <a:pt x="30002" y="5971"/>
                  <a:pt x="29990" y="5974"/>
                  <a:pt x="29977" y="5977"/>
                </a:cubicBezTo>
                <a:cubicBezTo>
                  <a:pt x="29964" y="5979"/>
                  <a:pt x="29951" y="5981"/>
                  <a:pt x="29938" y="5981"/>
                </a:cubicBezTo>
                <a:lnTo>
                  <a:pt x="198" y="5981"/>
                </a:lnTo>
                <a:cubicBezTo>
                  <a:pt x="185" y="5981"/>
                  <a:pt x="172" y="5979"/>
                  <a:pt x="160" y="5977"/>
                </a:cubicBezTo>
                <a:cubicBezTo>
                  <a:pt x="147" y="5974"/>
                  <a:pt x="134" y="5971"/>
                  <a:pt x="122" y="5966"/>
                </a:cubicBezTo>
                <a:cubicBezTo>
                  <a:pt x="110" y="5961"/>
                  <a:pt x="99" y="5954"/>
                  <a:pt x="88" y="5947"/>
                </a:cubicBezTo>
                <a:cubicBezTo>
                  <a:pt x="77" y="5940"/>
                  <a:pt x="67" y="5932"/>
                  <a:pt x="58" y="5923"/>
                </a:cubicBezTo>
                <a:cubicBezTo>
                  <a:pt x="49" y="5913"/>
                  <a:pt x="40" y="5903"/>
                  <a:pt x="33" y="5892"/>
                </a:cubicBezTo>
                <a:cubicBezTo>
                  <a:pt x="26" y="5882"/>
                  <a:pt x="20" y="5870"/>
                  <a:pt x="15" y="5858"/>
                </a:cubicBezTo>
                <a:cubicBezTo>
                  <a:pt x="10" y="5846"/>
                  <a:pt x="6" y="5834"/>
                  <a:pt x="4" y="5821"/>
                </a:cubicBezTo>
                <a:cubicBezTo>
                  <a:pt x="1" y="5808"/>
                  <a:pt x="0" y="5795"/>
                  <a:pt x="0" y="578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CuadroTexto 233"/>
          <p:cNvSpPr txBox="1"/>
          <p:nvPr/>
        </p:nvSpPr>
        <p:spPr>
          <a:xfrm>
            <a:off x="666720" y="1339560"/>
            <a:ext cx="2928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Resultados con valor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CuadroTexto 234"/>
          <p:cNvSpPr txBox="1"/>
          <p:nvPr/>
        </p:nvSpPr>
        <p:spPr>
          <a:xfrm>
            <a:off x="866880" y="2165760"/>
            <a:ext cx="5241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measurement_concept_id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QUÉ se midió (LOINC)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CuadroTexto 235"/>
          <p:cNvSpPr txBox="1"/>
          <p:nvPr/>
        </p:nvSpPr>
        <p:spPr>
          <a:xfrm>
            <a:off x="866880" y="2432520"/>
            <a:ext cx="3713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measurement_date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cuándo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CuadroTexto 236"/>
          <p:cNvSpPr txBox="1"/>
          <p:nvPr/>
        </p:nvSpPr>
        <p:spPr>
          <a:xfrm>
            <a:off x="866880" y="2689560"/>
            <a:ext cx="4040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value_as_number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el número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CuadroTexto 237"/>
          <p:cNvSpPr txBox="1"/>
          <p:nvPr/>
        </p:nvSpPr>
        <p:spPr>
          <a:xfrm>
            <a:off x="866880" y="2956320"/>
            <a:ext cx="4477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unit_concept_id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en qué unidad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CuadroTexto 238"/>
          <p:cNvSpPr txBox="1"/>
          <p:nvPr/>
        </p:nvSpPr>
        <p:spPr>
          <a:xfrm>
            <a:off x="866880" y="3213360"/>
            <a:ext cx="7316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range_low, range_high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el rango de referencia DEL LABORATORIO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CuadroTexto 239"/>
          <p:cNvSpPr txBox="1"/>
          <p:nvPr/>
        </p:nvSpPr>
        <p:spPr>
          <a:xfrm>
            <a:off x="866880" y="3480120"/>
            <a:ext cx="8844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value_as_concept_id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cuando el resultado es categórico (positivo/negativo)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orma libre 251"/>
          <p:cNvSpPr/>
          <p:nvPr/>
        </p:nvSpPr>
        <p:spPr>
          <a:xfrm>
            <a:off x="914040" y="53434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orma libre 252"/>
          <p:cNvSpPr/>
          <p:nvPr/>
        </p:nvSpPr>
        <p:spPr>
          <a:xfrm>
            <a:off x="1123920" y="5248080"/>
            <a:ext cx="1171800" cy="267120"/>
          </a:xfrm>
          <a:custGeom>
            <a:avLst/>
            <a:gdLst/>
            <a:ahLst/>
            <a:cxnLst/>
            <a:rect l="0" t="0" r="r" b="b"/>
            <a:pathLst>
              <a:path w="325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149" y="0"/>
                </a:lnTo>
                <a:cubicBezTo>
                  <a:pt x="3163" y="0"/>
                  <a:pt x="3177" y="3"/>
                  <a:pt x="3190" y="8"/>
                </a:cubicBezTo>
                <a:cubicBezTo>
                  <a:pt x="3203" y="13"/>
                  <a:pt x="3214" y="21"/>
                  <a:pt x="3224" y="31"/>
                </a:cubicBezTo>
                <a:cubicBezTo>
                  <a:pt x="3234" y="41"/>
                  <a:pt x="3242" y="52"/>
                  <a:pt x="3247" y="65"/>
                </a:cubicBezTo>
                <a:cubicBezTo>
                  <a:pt x="3252" y="78"/>
                  <a:pt x="3255" y="92"/>
                  <a:pt x="3255" y="106"/>
                </a:cubicBezTo>
                <a:lnTo>
                  <a:pt x="3255" y="636"/>
                </a:lnTo>
                <a:cubicBezTo>
                  <a:pt x="3255" y="650"/>
                  <a:pt x="3252" y="664"/>
                  <a:pt x="3247" y="677"/>
                </a:cubicBezTo>
                <a:cubicBezTo>
                  <a:pt x="3242" y="690"/>
                  <a:pt x="3234" y="701"/>
                  <a:pt x="3224" y="711"/>
                </a:cubicBezTo>
                <a:cubicBezTo>
                  <a:pt x="3214" y="721"/>
                  <a:pt x="3203" y="728"/>
                  <a:pt x="3190" y="734"/>
                </a:cubicBezTo>
                <a:cubicBezTo>
                  <a:pt x="3177" y="739"/>
                  <a:pt x="3163" y="742"/>
                  <a:pt x="3149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CuadroTexto 254"/>
          <p:cNvSpPr txBox="1"/>
          <p:nvPr/>
        </p:nvSpPr>
        <p:spPr>
          <a:xfrm>
            <a:off x="1181160" y="526788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range_low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Forma libre 255"/>
          <p:cNvSpPr/>
          <p:nvPr/>
        </p:nvSpPr>
        <p:spPr>
          <a:xfrm>
            <a:off x="2504880" y="5248080"/>
            <a:ext cx="1286280" cy="267120"/>
          </a:xfrm>
          <a:custGeom>
            <a:avLst/>
            <a:gdLst/>
            <a:ahLst/>
            <a:cxnLst/>
            <a:rect l="0" t="0" r="r" b="b"/>
            <a:pathLst>
              <a:path w="357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3"/>
                  <a:pt x="3508" y="8"/>
                </a:cubicBezTo>
                <a:cubicBezTo>
                  <a:pt x="3521" y="13"/>
                  <a:pt x="3532" y="21"/>
                  <a:pt x="3542" y="31"/>
                </a:cubicBezTo>
                <a:cubicBezTo>
                  <a:pt x="3552" y="41"/>
                  <a:pt x="3559" y="52"/>
                  <a:pt x="3565" y="65"/>
                </a:cubicBezTo>
                <a:cubicBezTo>
                  <a:pt x="3570" y="78"/>
                  <a:pt x="3573" y="92"/>
                  <a:pt x="3573" y="106"/>
                </a:cubicBezTo>
                <a:lnTo>
                  <a:pt x="3573" y="636"/>
                </a:lnTo>
                <a:cubicBezTo>
                  <a:pt x="3573" y="650"/>
                  <a:pt x="3570" y="664"/>
                  <a:pt x="3565" y="677"/>
                </a:cubicBezTo>
                <a:cubicBezTo>
                  <a:pt x="3559" y="690"/>
                  <a:pt x="3552" y="701"/>
                  <a:pt x="3542" y="711"/>
                </a:cubicBezTo>
                <a:cubicBezTo>
                  <a:pt x="3532" y="721"/>
                  <a:pt x="3521" y="728"/>
                  <a:pt x="3508" y="734"/>
                </a:cubicBezTo>
                <a:cubicBezTo>
                  <a:pt x="3495" y="739"/>
                  <a:pt x="3481" y="742"/>
                  <a:pt x="3467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CuadroTexto 256"/>
          <p:cNvSpPr txBox="1"/>
          <p:nvPr/>
        </p:nvSpPr>
        <p:spPr>
          <a:xfrm>
            <a:off x="2291040" y="5230800"/>
            <a:ext cx="228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/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CuadroTexto 257"/>
          <p:cNvSpPr txBox="1"/>
          <p:nvPr/>
        </p:nvSpPr>
        <p:spPr>
          <a:xfrm>
            <a:off x="2560320" y="526788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range_high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CuadroTexto 258"/>
          <p:cNvSpPr txBox="1"/>
          <p:nvPr/>
        </p:nvSpPr>
        <p:spPr>
          <a:xfrm>
            <a:off x="3787200" y="5230800"/>
            <a:ext cx="6827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el rango del laboratorio que lo procesó, que puede variar entre sitios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CuadroTexto 25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CuadroTexto 26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CuadroTexto 26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Forma libre 2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Forma libre 2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Forma libre 2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Forma libre 265"/>
          <p:cNvSpPr/>
          <p:nvPr/>
        </p:nvSpPr>
        <p:spPr>
          <a:xfrm>
            <a:off x="1838160" y="3066840"/>
            <a:ext cx="3686400" cy="619560"/>
          </a:xfrm>
          <a:custGeom>
            <a:avLst/>
            <a:gdLst/>
            <a:ahLst/>
            <a:cxnLst/>
            <a:rect l="0" t="0" r="r" b="b"/>
            <a:pathLst>
              <a:path w="10240" h="1721">
                <a:moveTo>
                  <a:pt x="0" y="161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lnTo>
                  <a:pt x="10134" y="0"/>
                </a:lnTo>
                <a:cubicBezTo>
                  <a:pt x="10149" y="0"/>
                  <a:pt x="10162" y="3"/>
                  <a:pt x="10175" y="8"/>
                </a:cubicBezTo>
                <a:cubicBezTo>
                  <a:pt x="10188" y="14"/>
                  <a:pt x="10199" y="21"/>
                  <a:pt x="10209" y="31"/>
                </a:cubicBezTo>
                <a:cubicBezTo>
                  <a:pt x="10219" y="41"/>
                  <a:pt x="10227" y="52"/>
                  <a:pt x="10232" y="65"/>
                </a:cubicBezTo>
                <a:cubicBezTo>
                  <a:pt x="10238" y="78"/>
                  <a:pt x="10240" y="92"/>
                  <a:pt x="10240" y="106"/>
                </a:cubicBezTo>
                <a:lnTo>
                  <a:pt x="10240" y="1615"/>
                </a:lnTo>
                <a:cubicBezTo>
                  <a:pt x="10240" y="1629"/>
                  <a:pt x="10238" y="1643"/>
                  <a:pt x="10232" y="1656"/>
                </a:cubicBezTo>
                <a:cubicBezTo>
                  <a:pt x="10227" y="1669"/>
                  <a:pt x="10219" y="1680"/>
                  <a:pt x="10209" y="1690"/>
                </a:cubicBezTo>
                <a:cubicBezTo>
                  <a:pt x="10199" y="1700"/>
                  <a:pt x="10188" y="1707"/>
                  <a:pt x="10175" y="1713"/>
                </a:cubicBezTo>
                <a:cubicBezTo>
                  <a:pt x="10162" y="1718"/>
                  <a:pt x="10149" y="1721"/>
                  <a:pt x="10134" y="1721"/>
                </a:cubicBezTo>
                <a:lnTo>
                  <a:pt x="107" y="1721"/>
                </a:lnTo>
                <a:cubicBezTo>
                  <a:pt x="93" y="1721"/>
                  <a:pt x="79" y="1718"/>
                  <a:pt x="66" y="1713"/>
                </a:cubicBezTo>
                <a:cubicBezTo>
                  <a:pt x="53" y="1707"/>
                  <a:pt x="42" y="1700"/>
                  <a:pt x="32" y="1690"/>
                </a:cubicBezTo>
                <a:cubicBezTo>
                  <a:pt x="22" y="1680"/>
                  <a:pt x="13" y="1669"/>
                  <a:pt x="8" y="1656"/>
                </a:cubicBezTo>
                <a:cubicBezTo>
                  <a:pt x="3" y="1643"/>
                  <a:pt x="0" y="1629"/>
                  <a:pt x="0" y="161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CuadroTexto 266"/>
          <p:cNvSpPr txBox="1"/>
          <p:nvPr/>
        </p:nvSpPr>
        <p:spPr>
          <a:xfrm>
            <a:off x="1262160" y="3054600"/>
            <a:ext cx="5940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CuadroTexto 267"/>
          <p:cNvSpPr txBox="1"/>
          <p:nvPr/>
        </p:nvSpPr>
        <p:spPr>
          <a:xfrm>
            <a:off x="1945800" y="3067200"/>
            <a:ext cx="3533040" cy="622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MEASUREMENT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Forma libre 268"/>
          <p:cNvSpPr/>
          <p:nvPr/>
        </p:nvSpPr>
        <p:spPr>
          <a:xfrm>
            <a:off x="7238880" y="3066840"/>
            <a:ext cx="3696120" cy="619560"/>
          </a:xfrm>
          <a:custGeom>
            <a:avLst/>
            <a:gdLst/>
            <a:ahLst/>
            <a:cxnLst/>
            <a:rect l="0" t="0" r="r" b="b"/>
            <a:pathLst>
              <a:path w="10267" h="1721">
                <a:moveTo>
                  <a:pt x="0" y="161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0161" y="0"/>
                </a:lnTo>
                <a:cubicBezTo>
                  <a:pt x="10175" y="0"/>
                  <a:pt x="10188" y="3"/>
                  <a:pt x="10201" y="8"/>
                </a:cubicBezTo>
                <a:cubicBezTo>
                  <a:pt x="10214" y="14"/>
                  <a:pt x="10226" y="21"/>
                  <a:pt x="10236" y="31"/>
                </a:cubicBezTo>
                <a:cubicBezTo>
                  <a:pt x="10246" y="41"/>
                  <a:pt x="10253" y="52"/>
                  <a:pt x="10259" y="65"/>
                </a:cubicBezTo>
                <a:cubicBezTo>
                  <a:pt x="10264" y="78"/>
                  <a:pt x="10267" y="92"/>
                  <a:pt x="10267" y="106"/>
                </a:cubicBezTo>
                <a:lnTo>
                  <a:pt x="10267" y="1615"/>
                </a:lnTo>
                <a:cubicBezTo>
                  <a:pt x="10267" y="1629"/>
                  <a:pt x="10264" y="1643"/>
                  <a:pt x="10259" y="1656"/>
                </a:cubicBezTo>
                <a:cubicBezTo>
                  <a:pt x="10253" y="1669"/>
                  <a:pt x="10246" y="1680"/>
                  <a:pt x="10236" y="1690"/>
                </a:cubicBezTo>
                <a:cubicBezTo>
                  <a:pt x="10226" y="1700"/>
                  <a:pt x="10214" y="1707"/>
                  <a:pt x="10201" y="1713"/>
                </a:cubicBezTo>
                <a:cubicBezTo>
                  <a:pt x="10188" y="1718"/>
                  <a:pt x="10175" y="1721"/>
                  <a:pt x="10161" y="1721"/>
                </a:cubicBezTo>
                <a:lnTo>
                  <a:pt x="106" y="1721"/>
                </a:lnTo>
                <a:cubicBezTo>
                  <a:pt x="92" y="1721"/>
                  <a:pt x="78" y="1718"/>
                  <a:pt x="65" y="1713"/>
                </a:cubicBezTo>
                <a:cubicBezTo>
                  <a:pt x="52" y="1707"/>
                  <a:pt x="41" y="1700"/>
                  <a:pt x="31" y="1690"/>
                </a:cubicBezTo>
                <a:cubicBezTo>
                  <a:pt x="21" y="1680"/>
                  <a:pt x="13" y="1669"/>
                  <a:pt x="8" y="1656"/>
                </a:cubicBezTo>
                <a:cubicBezTo>
                  <a:pt x="3" y="1643"/>
                  <a:pt x="0" y="1629"/>
                  <a:pt x="0" y="161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CuadroTexto 269"/>
          <p:cNvSpPr txBox="1"/>
          <p:nvPr/>
        </p:nvSpPr>
        <p:spPr>
          <a:xfrm>
            <a:off x="5526360" y="3054600"/>
            <a:ext cx="17600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 contra 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CuadroTexto 270"/>
          <p:cNvSpPr txBox="1"/>
          <p:nvPr/>
        </p:nvSpPr>
        <p:spPr>
          <a:xfrm>
            <a:off x="7349400" y="3067200"/>
            <a:ext cx="3533040" cy="622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OBSERVATION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CuadroTexto 27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CuadroTexto 27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CuadroTexto 27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Forma libre 27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Forma libre 2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Forma libre 27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Forma libre 277"/>
          <p:cNvSpPr/>
          <p:nvPr/>
        </p:nvSpPr>
        <p:spPr>
          <a:xfrm>
            <a:off x="676080" y="1733400"/>
            <a:ext cx="1762560" cy="410040"/>
          </a:xfrm>
          <a:custGeom>
            <a:avLst/>
            <a:gdLst/>
            <a:ahLst/>
            <a:cxnLst/>
            <a:rect l="0" t="0" r="r" b="b"/>
            <a:pathLst>
              <a:path w="4896" h="1139">
                <a:moveTo>
                  <a:pt x="0" y="0"/>
                </a:moveTo>
                <a:lnTo>
                  <a:pt x="4896" y="0"/>
                </a:lnTo>
                <a:lnTo>
                  <a:pt x="489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Forma libre 278"/>
          <p:cNvSpPr/>
          <p:nvPr/>
        </p:nvSpPr>
        <p:spPr>
          <a:xfrm>
            <a:off x="2438280" y="1733400"/>
            <a:ext cx="4972320" cy="410040"/>
          </a:xfrm>
          <a:custGeom>
            <a:avLst/>
            <a:gdLst/>
            <a:ahLst/>
            <a:cxnLst/>
            <a:rect l="0" t="0" r="r" b="b"/>
            <a:pathLst>
              <a:path w="13812" h="1139">
                <a:moveTo>
                  <a:pt x="0" y="0"/>
                </a:moveTo>
                <a:lnTo>
                  <a:pt x="13812" y="0"/>
                </a:lnTo>
                <a:lnTo>
                  <a:pt x="1381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Forma libre 279"/>
          <p:cNvSpPr/>
          <p:nvPr/>
        </p:nvSpPr>
        <p:spPr>
          <a:xfrm>
            <a:off x="7410240" y="1733400"/>
            <a:ext cx="4115160" cy="410040"/>
          </a:xfrm>
          <a:custGeom>
            <a:avLst/>
            <a:gdLst/>
            <a:ahLst/>
            <a:cxnLst/>
            <a:rect l="0" t="0" r="r" b="b"/>
            <a:pathLst>
              <a:path w="11431" h="1139">
                <a:moveTo>
                  <a:pt x="0" y="0"/>
                </a:moveTo>
                <a:lnTo>
                  <a:pt x="11431" y="0"/>
                </a:lnTo>
                <a:lnTo>
                  <a:pt x="1143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Forma libre 280"/>
          <p:cNvSpPr/>
          <p:nvPr/>
        </p:nvSpPr>
        <p:spPr>
          <a:xfrm>
            <a:off x="676080" y="1733400"/>
            <a:ext cx="1762560" cy="410040"/>
          </a:xfrm>
          <a:custGeom>
            <a:avLst/>
            <a:gdLst/>
            <a:ahLst/>
            <a:cxnLst/>
            <a:rect l="0" t="0" r="r" b="b"/>
            <a:pathLst>
              <a:path w="4896" h="1139">
                <a:moveTo>
                  <a:pt x="0" y="0"/>
                </a:moveTo>
                <a:lnTo>
                  <a:pt x="4896" y="0"/>
                </a:lnTo>
                <a:lnTo>
                  <a:pt x="489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Forma libre 281"/>
          <p:cNvSpPr/>
          <p:nvPr/>
        </p:nvSpPr>
        <p:spPr>
          <a:xfrm>
            <a:off x="2438280" y="1733400"/>
            <a:ext cx="4972320" cy="410040"/>
          </a:xfrm>
          <a:custGeom>
            <a:avLst/>
            <a:gdLst/>
            <a:ahLst/>
            <a:cxnLst/>
            <a:rect l="0" t="0" r="r" b="b"/>
            <a:pathLst>
              <a:path w="13812" h="1139">
                <a:moveTo>
                  <a:pt x="0" y="0"/>
                </a:moveTo>
                <a:lnTo>
                  <a:pt x="13812" y="0"/>
                </a:lnTo>
                <a:lnTo>
                  <a:pt x="1381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Forma libre 282"/>
          <p:cNvSpPr/>
          <p:nvPr/>
        </p:nvSpPr>
        <p:spPr>
          <a:xfrm>
            <a:off x="7410240" y="1733400"/>
            <a:ext cx="4115160" cy="410040"/>
          </a:xfrm>
          <a:custGeom>
            <a:avLst/>
            <a:gdLst/>
            <a:ahLst/>
            <a:cxnLst/>
            <a:rect l="0" t="0" r="r" b="b"/>
            <a:pathLst>
              <a:path w="11431" h="1139">
                <a:moveTo>
                  <a:pt x="0" y="0"/>
                </a:moveTo>
                <a:lnTo>
                  <a:pt x="11431" y="0"/>
                </a:lnTo>
                <a:lnTo>
                  <a:pt x="1143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Forma libre 283"/>
          <p:cNvSpPr/>
          <p:nvPr/>
        </p:nvSpPr>
        <p:spPr>
          <a:xfrm>
            <a:off x="676080" y="2143080"/>
            <a:ext cx="1762560" cy="419400"/>
          </a:xfrm>
          <a:custGeom>
            <a:avLst/>
            <a:gdLst/>
            <a:ahLst/>
            <a:cxnLst/>
            <a:rect l="0" t="0" r="r" b="b"/>
            <a:pathLst>
              <a:path w="4896" h="1165">
                <a:moveTo>
                  <a:pt x="0" y="0"/>
                </a:moveTo>
                <a:lnTo>
                  <a:pt x="4896" y="0"/>
                </a:lnTo>
                <a:lnTo>
                  <a:pt x="489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Forma libre 284"/>
          <p:cNvSpPr/>
          <p:nvPr/>
        </p:nvSpPr>
        <p:spPr>
          <a:xfrm>
            <a:off x="2438280" y="2143080"/>
            <a:ext cx="4972320" cy="419400"/>
          </a:xfrm>
          <a:custGeom>
            <a:avLst/>
            <a:gdLst/>
            <a:ahLst/>
            <a:cxnLst/>
            <a:rect l="0" t="0" r="r" b="b"/>
            <a:pathLst>
              <a:path w="13812" h="1165">
                <a:moveTo>
                  <a:pt x="0" y="0"/>
                </a:moveTo>
                <a:lnTo>
                  <a:pt x="13812" y="0"/>
                </a:lnTo>
                <a:lnTo>
                  <a:pt x="1381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Forma libre 285"/>
          <p:cNvSpPr/>
          <p:nvPr/>
        </p:nvSpPr>
        <p:spPr>
          <a:xfrm>
            <a:off x="7410240" y="2143080"/>
            <a:ext cx="4115160" cy="419400"/>
          </a:xfrm>
          <a:custGeom>
            <a:avLst/>
            <a:gdLst/>
            <a:ahLst/>
            <a:cxnLst/>
            <a:rect l="0" t="0" r="r" b="b"/>
            <a:pathLst>
              <a:path w="11431" h="1165">
                <a:moveTo>
                  <a:pt x="0" y="0"/>
                </a:moveTo>
                <a:lnTo>
                  <a:pt x="11431" y="0"/>
                </a:lnTo>
                <a:lnTo>
                  <a:pt x="1143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Forma libre 286"/>
          <p:cNvSpPr/>
          <p:nvPr/>
        </p:nvSpPr>
        <p:spPr>
          <a:xfrm>
            <a:off x="676080" y="2562120"/>
            <a:ext cx="1762560" cy="695520"/>
          </a:xfrm>
          <a:custGeom>
            <a:avLst/>
            <a:gdLst/>
            <a:ahLst/>
            <a:cxnLst/>
            <a:rect l="0" t="0" r="r" b="b"/>
            <a:pathLst>
              <a:path w="4896" h="1932">
                <a:moveTo>
                  <a:pt x="0" y="0"/>
                </a:moveTo>
                <a:lnTo>
                  <a:pt x="4896" y="0"/>
                </a:lnTo>
                <a:lnTo>
                  <a:pt x="4896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Forma libre 287"/>
          <p:cNvSpPr/>
          <p:nvPr/>
        </p:nvSpPr>
        <p:spPr>
          <a:xfrm>
            <a:off x="2438280" y="2562120"/>
            <a:ext cx="4972320" cy="695520"/>
          </a:xfrm>
          <a:custGeom>
            <a:avLst/>
            <a:gdLst/>
            <a:ahLst/>
            <a:cxnLst/>
            <a:rect l="0" t="0" r="r" b="b"/>
            <a:pathLst>
              <a:path w="13812" h="1932">
                <a:moveTo>
                  <a:pt x="0" y="0"/>
                </a:moveTo>
                <a:lnTo>
                  <a:pt x="13812" y="0"/>
                </a:lnTo>
                <a:lnTo>
                  <a:pt x="13812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Forma libre 288"/>
          <p:cNvSpPr/>
          <p:nvPr/>
        </p:nvSpPr>
        <p:spPr>
          <a:xfrm>
            <a:off x="7410240" y="2562120"/>
            <a:ext cx="4115160" cy="695520"/>
          </a:xfrm>
          <a:custGeom>
            <a:avLst/>
            <a:gdLst/>
            <a:ahLst/>
            <a:cxnLst/>
            <a:rect l="0" t="0" r="r" b="b"/>
            <a:pathLst>
              <a:path w="11431" h="1932">
                <a:moveTo>
                  <a:pt x="0" y="0"/>
                </a:moveTo>
                <a:lnTo>
                  <a:pt x="11431" y="0"/>
                </a:lnTo>
                <a:lnTo>
                  <a:pt x="11431" y="1932"/>
                </a:lnTo>
                <a:lnTo>
                  <a:pt x="0" y="193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Forma libre 289"/>
          <p:cNvSpPr/>
          <p:nvPr/>
        </p:nvSpPr>
        <p:spPr>
          <a:xfrm>
            <a:off x="666720" y="1733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Forma libre 290"/>
          <p:cNvSpPr/>
          <p:nvPr/>
        </p:nvSpPr>
        <p:spPr>
          <a:xfrm>
            <a:off x="666720" y="1733400"/>
            <a:ext cx="1771920" cy="9720"/>
          </a:xfrm>
          <a:custGeom>
            <a:avLst/>
            <a:gdLst/>
            <a:ahLst/>
            <a:cxnLst/>
            <a:rect l="0" t="0" r="r" b="b"/>
            <a:pathLst>
              <a:path w="4922" h="27">
                <a:moveTo>
                  <a:pt x="0" y="0"/>
                </a:moveTo>
                <a:lnTo>
                  <a:pt x="4922" y="0"/>
                </a:lnTo>
                <a:lnTo>
                  <a:pt x="49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Forma libre 291"/>
          <p:cNvSpPr/>
          <p:nvPr/>
        </p:nvSpPr>
        <p:spPr>
          <a:xfrm>
            <a:off x="2428560" y="1733400"/>
            <a:ext cx="10440" cy="419400"/>
          </a:xfrm>
          <a:custGeom>
            <a:avLst/>
            <a:gdLst/>
            <a:ahLst/>
            <a:cxnLst/>
            <a:rect l="0" t="0" r="r" b="b"/>
            <a:pathLst>
              <a:path w="29" h="1165">
                <a:moveTo>
                  <a:pt x="0" y="0"/>
                </a:moveTo>
                <a:lnTo>
                  <a:pt x="29" y="0"/>
                </a:lnTo>
                <a:lnTo>
                  <a:pt x="2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Forma libre 292"/>
          <p:cNvSpPr/>
          <p:nvPr/>
        </p:nvSpPr>
        <p:spPr>
          <a:xfrm>
            <a:off x="2438280" y="1733400"/>
            <a:ext cx="4972320" cy="9720"/>
          </a:xfrm>
          <a:custGeom>
            <a:avLst/>
            <a:gdLst/>
            <a:ahLst/>
            <a:cxnLst/>
            <a:rect l="0" t="0" r="r" b="b"/>
            <a:pathLst>
              <a:path w="13812" h="27">
                <a:moveTo>
                  <a:pt x="0" y="0"/>
                </a:moveTo>
                <a:lnTo>
                  <a:pt x="13812" y="0"/>
                </a:lnTo>
                <a:lnTo>
                  <a:pt x="138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Forma libre 293"/>
          <p:cNvSpPr/>
          <p:nvPr/>
        </p:nvSpPr>
        <p:spPr>
          <a:xfrm>
            <a:off x="7400880" y="1733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Forma libre 294"/>
          <p:cNvSpPr/>
          <p:nvPr/>
        </p:nvSpPr>
        <p:spPr>
          <a:xfrm>
            <a:off x="7410240" y="1733400"/>
            <a:ext cx="4115160" cy="9720"/>
          </a:xfrm>
          <a:custGeom>
            <a:avLst/>
            <a:gdLst/>
            <a:ahLst/>
            <a:cxnLst/>
            <a:rect l="0" t="0" r="r" b="b"/>
            <a:pathLst>
              <a:path w="11431" h="27">
                <a:moveTo>
                  <a:pt x="0" y="0"/>
                </a:moveTo>
                <a:lnTo>
                  <a:pt x="11431" y="0"/>
                </a:lnTo>
                <a:lnTo>
                  <a:pt x="114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Forma libre 295"/>
          <p:cNvSpPr/>
          <p:nvPr/>
        </p:nvSpPr>
        <p:spPr>
          <a:xfrm>
            <a:off x="11515680" y="1733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Forma libre 296"/>
          <p:cNvSpPr/>
          <p:nvPr/>
        </p:nvSpPr>
        <p:spPr>
          <a:xfrm>
            <a:off x="666720" y="2143080"/>
            <a:ext cx="1771920" cy="9720"/>
          </a:xfrm>
          <a:custGeom>
            <a:avLst/>
            <a:gdLst/>
            <a:ahLst/>
            <a:cxnLst/>
            <a:rect l="0" t="0" r="r" b="b"/>
            <a:pathLst>
              <a:path w="4922" h="27">
                <a:moveTo>
                  <a:pt x="0" y="0"/>
                </a:moveTo>
                <a:lnTo>
                  <a:pt x="4922" y="0"/>
                </a:lnTo>
                <a:lnTo>
                  <a:pt x="49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Forma libre 297"/>
          <p:cNvSpPr/>
          <p:nvPr/>
        </p:nvSpPr>
        <p:spPr>
          <a:xfrm>
            <a:off x="2438280" y="2143080"/>
            <a:ext cx="4972320" cy="9720"/>
          </a:xfrm>
          <a:custGeom>
            <a:avLst/>
            <a:gdLst/>
            <a:ahLst/>
            <a:cxnLst/>
            <a:rect l="0" t="0" r="r" b="b"/>
            <a:pathLst>
              <a:path w="13812" h="27">
                <a:moveTo>
                  <a:pt x="0" y="0"/>
                </a:moveTo>
                <a:lnTo>
                  <a:pt x="13812" y="0"/>
                </a:lnTo>
                <a:lnTo>
                  <a:pt x="138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Forma libre 298"/>
          <p:cNvSpPr/>
          <p:nvPr/>
        </p:nvSpPr>
        <p:spPr>
          <a:xfrm>
            <a:off x="7410240" y="2143080"/>
            <a:ext cx="4115160" cy="9720"/>
          </a:xfrm>
          <a:custGeom>
            <a:avLst/>
            <a:gdLst/>
            <a:ahLst/>
            <a:cxnLst/>
            <a:rect l="0" t="0" r="r" b="b"/>
            <a:pathLst>
              <a:path w="11431" h="27">
                <a:moveTo>
                  <a:pt x="0" y="0"/>
                </a:moveTo>
                <a:lnTo>
                  <a:pt x="11431" y="0"/>
                </a:lnTo>
                <a:lnTo>
                  <a:pt x="114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Forma libre 299"/>
          <p:cNvSpPr/>
          <p:nvPr/>
        </p:nvSpPr>
        <p:spPr>
          <a:xfrm>
            <a:off x="666720" y="2152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Forma libre 300"/>
          <p:cNvSpPr/>
          <p:nvPr/>
        </p:nvSpPr>
        <p:spPr>
          <a:xfrm>
            <a:off x="2428560" y="2152440"/>
            <a:ext cx="10440" cy="419400"/>
          </a:xfrm>
          <a:custGeom>
            <a:avLst/>
            <a:gdLst/>
            <a:ahLst/>
            <a:cxnLst/>
            <a:rect l="0" t="0" r="r" b="b"/>
            <a:pathLst>
              <a:path w="29" h="1165">
                <a:moveTo>
                  <a:pt x="0" y="0"/>
                </a:moveTo>
                <a:lnTo>
                  <a:pt x="29" y="0"/>
                </a:lnTo>
                <a:lnTo>
                  <a:pt x="2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Forma libre 301"/>
          <p:cNvSpPr/>
          <p:nvPr/>
        </p:nvSpPr>
        <p:spPr>
          <a:xfrm>
            <a:off x="7400880" y="2152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Forma libre 302"/>
          <p:cNvSpPr/>
          <p:nvPr/>
        </p:nvSpPr>
        <p:spPr>
          <a:xfrm>
            <a:off x="11515680" y="2152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orma libre 303"/>
          <p:cNvSpPr/>
          <p:nvPr/>
        </p:nvSpPr>
        <p:spPr>
          <a:xfrm>
            <a:off x="666720" y="2571480"/>
            <a:ext cx="9720" cy="695880"/>
          </a:xfrm>
          <a:custGeom>
            <a:avLst/>
            <a:gdLst/>
            <a:ahLst/>
            <a:cxnLst/>
            <a:rect l="0" t="0" r="r" b="b"/>
            <a:pathLst>
              <a:path w="27" h="1933">
                <a:moveTo>
                  <a:pt x="0" y="0"/>
                </a:moveTo>
                <a:lnTo>
                  <a:pt x="27" y="0"/>
                </a:lnTo>
                <a:lnTo>
                  <a:pt x="27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Forma libre 304"/>
          <p:cNvSpPr/>
          <p:nvPr/>
        </p:nvSpPr>
        <p:spPr>
          <a:xfrm>
            <a:off x="666720" y="2562120"/>
            <a:ext cx="1771920" cy="9720"/>
          </a:xfrm>
          <a:custGeom>
            <a:avLst/>
            <a:gdLst/>
            <a:ahLst/>
            <a:cxnLst/>
            <a:rect l="0" t="0" r="r" b="b"/>
            <a:pathLst>
              <a:path w="4922" h="27">
                <a:moveTo>
                  <a:pt x="0" y="0"/>
                </a:moveTo>
                <a:lnTo>
                  <a:pt x="4922" y="0"/>
                </a:lnTo>
                <a:lnTo>
                  <a:pt x="492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Forma libre 305"/>
          <p:cNvSpPr/>
          <p:nvPr/>
        </p:nvSpPr>
        <p:spPr>
          <a:xfrm>
            <a:off x="2428560" y="2571480"/>
            <a:ext cx="10440" cy="695880"/>
          </a:xfrm>
          <a:custGeom>
            <a:avLst/>
            <a:gdLst/>
            <a:ahLst/>
            <a:cxnLst/>
            <a:rect l="0" t="0" r="r" b="b"/>
            <a:pathLst>
              <a:path w="29" h="1933">
                <a:moveTo>
                  <a:pt x="0" y="0"/>
                </a:moveTo>
                <a:lnTo>
                  <a:pt x="29" y="0"/>
                </a:lnTo>
                <a:lnTo>
                  <a:pt x="29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Forma libre 306"/>
          <p:cNvSpPr/>
          <p:nvPr/>
        </p:nvSpPr>
        <p:spPr>
          <a:xfrm>
            <a:off x="2438280" y="2562120"/>
            <a:ext cx="4972320" cy="9720"/>
          </a:xfrm>
          <a:custGeom>
            <a:avLst/>
            <a:gdLst/>
            <a:ahLst/>
            <a:cxnLst/>
            <a:rect l="0" t="0" r="r" b="b"/>
            <a:pathLst>
              <a:path w="13812" h="27">
                <a:moveTo>
                  <a:pt x="0" y="0"/>
                </a:moveTo>
                <a:lnTo>
                  <a:pt x="13812" y="0"/>
                </a:lnTo>
                <a:lnTo>
                  <a:pt x="138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Forma libre 307"/>
          <p:cNvSpPr/>
          <p:nvPr/>
        </p:nvSpPr>
        <p:spPr>
          <a:xfrm>
            <a:off x="7400880" y="2571480"/>
            <a:ext cx="9720" cy="695880"/>
          </a:xfrm>
          <a:custGeom>
            <a:avLst/>
            <a:gdLst/>
            <a:ahLst/>
            <a:cxnLst/>
            <a:rect l="0" t="0" r="r" b="b"/>
            <a:pathLst>
              <a:path w="27" h="1933">
                <a:moveTo>
                  <a:pt x="0" y="0"/>
                </a:moveTo>
                <a:lnTo>
                  <a:pt x="27" y="0"/>
                </a:lnTo>
                <a:lnTo>
                  <a:pt x="27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Forma libre 308"/>
          <p:cNvSpPr/>
          <p:nvPr/>
        </p:nvSpPr>
        <p:spPr>
          <a:xfrm>
            <a:off x="7410240" y="2562120"/>
            <a:ext cx="4115160" cy="9720"/>
          </a:xfrm>
          <a:custGeom>
            <a:avLst/>
            <a:gdLst/>
            <a:ahLst/>
            <a:cxnLst/>
            <a:rect l="0" t="0" r="r" b="b"/>
            <a:pathLst>
              <a:path w="11431" h="27">
                <a:moveTo>
                  <a:pt x="0" y="0"/>
                </a:moveTo>
                <a:lnTo>
                  <a:pt x="11431" y="0"/>
                </a:lnTo>
                <a:lnTo>
                  <a:pt x="114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Forma libre 309"/>
          <p:cNvSpPr/>
          <p:nvPr/>
        </p:nvSpPr>
        <p:spPr>
          <a:xfrm>
            <a:off x="11515680" y="2571480"/>
            <a:ext cx="9720" cy="695880"/>
          </a:xfrm>
          <a:custGeom>
            <a:avLst/>
            <a:gdLst/>
            <a:ahLst/>
            <a:cxnLst/>
            <a:rect l="0" t="0" r="r" b="b"/>
            <a:pathLst>
              <a:path w="27" h="1933">
                <a:moveTo>
                  <a:pt x="0" y="0"/>
                </a:moveTo>
                <a:lnTo>
                  <a:pt x="27" y="0"/>
                </a:lnTo>
                <a:lnTo>
                  <a:pt x="27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Forma libre 310"/>
          <p:cNvSpPr/>
          <p:nvPr/>
        </p:nvSpPr>
        <p:spPr>
          <a:xfrm>
            <a:off x="666720" y="3257280"/>
            <a:ext cx="1771920" cy="10080"/>
          </a:xfrm>
          <a:custGeom>
            <a:avLst/>
            <a:gdLst/>
            <a:ahLst/>
            <a:cxnLst/>
            <a:rect l="0" t="0" r="r" b="b"/>
            <a:pathLst>
              <a:path w="4922" h="28">
                <a:moveTo>
                  <a:pt x="0" y="0"/>
                </a:moveTo>
                <a:lnTo>
                  <a:pt x="4922" y="0"/>
                </a:lnTo>
                <a:lnTo>
                  <a:pt x="492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Forma libre 311"/>
          <p:cNvSpPr/>
          <p:nvPr/>
        </p:nvSpPr>
        <p:spPr>
          <a:xfrm>
            <a:off x="2438280" y="3257280"/>
            <a:ext cx="4972320" cy="10080"/>
          </a:xfrm>
          <a:custGeom>
            <a:avLst/>
            <a:gdLst/>
            <a:ahLst/>
            <a:cxnLst/>
            <a:rect l="0" t="0" r="r" b="b"/>
            <a:pathLst>
              <a:path w="13812" h="28">
                <a:moveTo>
                  <a:pt x="0" y="0"/>
                </a:moveTo>
                <a:lnTo>
                  <a:pt x="13812" y="0"/>
                </a:lnTo>
                <a:lnTo>
                  <a:pt x="138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Forma libre 312"/>
          <p:cNvSpPr/>
          <p:nvPr/>
        </p:nvSpPr>
        <p:spPr>
          <a:xfrm>
            <a:off x="7410240" y="3257280"/>
            <a:ext cx="4115160" cy="10080"/>
          </a:xfrm>
          <a:custGeom>
            <a:avLst/>
            <a:gdLst/>
            <a:ahLst/>
            <a:cxnLst/>
            <a:rect l="0" t="0" r="r" b="b"/>
            <a:pathLst>
              <a:path w="11431" h="28">
                <a:moveTo>
                  <a:pt x="0" y="0"/>
                </a:moveTo>
                <a:lnTo>
                  <a:pt x="11431" y="0"/>
                </a:lnTo>
                <a:lnTo>
                  <a:pt x="114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Forma libre 313"/>
          <p:cNvSpPr/>
          <p:nvPr/>
        </p:nvSpPr>
        <p:spPr>
          <a:xfrm>
            <a:off x="666720" y="520992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Forma libre 314"/>
          <p:cNvSpPr/>
          <p:nvPr/>
        </p:nvSpPr>
        <p:spPr>
          <a:xfrm>
            <a:off x="666720" y="520992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CuadroTexto 315"/>
          <p:cNvSpPr txBox="1"/>
          <p:nvPr/>
        </p:nvSpPr>
        <p:spPr>
          <a:xfrm>
            <a:off x="666720" y="1091880"/>
            <a:ext cx="36745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regla y los casos grises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CuadroTexto 316"/>
          <p:cNvSpPr txBox="1"/>
          <p:nvPr/>
        </p:nvSpPr>
        <p:spPr>
          <a:xfrm>
            <a:off x="1211040" y="1837800"/>
            <a:ext cx="695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Va en…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CuadroTexto 317"/>
          <p:cNvSpPr txBox="1"/>
          <p:nvPr/>
        </p:nvSpPr>
        <p:spPr>
          <a:xfrm>
            <a:off x="4471560" y="1837800"/>
            <a:ext cx="900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Cuando…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CuadroTexto 318"/>
          <p:cNvSpPr txBox="1"/>
          <p:nvPr/>
        </p:nvSpPr>
        <p:spPr>
          <a:xfrm>
            <a:off x="9042840" y="1837800"/>
            <a:ext cx="843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Ejemplos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CuadroTexto 319"/>
          <p:cNvSpPr txBox="1"/>
          <p:nvPr/>
        </p:nvSpPr>
        <p:spPr>
          <a:xfrm>
            <a:off x="799920" y="2247480"/>
            <a:ext cx="1506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MEASUREMENT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CuadroTexto 320"/>
          <p:cNvSpPr txBox="1"/>
          <p:nvPr/>
        </p:nvSpPr>
        <p:spPr>
          <a:xfrm>
            <a:off x="2563560" y="2247480"/>
            <a:ext cx="2509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hay una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prueba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 resultado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CuadroTexto 321"/>
          <p:cNvSpPr txBox="1"/>
          <p:nvPr/>
        </p:nvSpPr>
        <p:spPr>
          <a:xfrm>
            <a:off x="7536960" y="2238120"/>
            <a:ext cx="3279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HbA1c, creatinina, presión arterial, peso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CuadroTexto 322"/>
          <p:cNvSpPr txBox="1"/>
          <p:nvPr/>
        </p:nvSpPr>
        <p:spPr>
          <a:xfrm>
            <a:off x="799920" y="2800080"/>
            <a:ext cx="1380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OBSERVATION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CuadroTexto 323"/>
          <p:cNvSpPr txBox="1"/>
          <p:nvPr/>
        </p:nvSpPr>
        <p:spPr>
          <a:xfrm>
            <a:off x="2563560" y="2657160"/>
            <a:ext cx="3494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 un hecho clínico que no es diagnóstico,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CuadroTexto 324"/>
          <p:cNvSpPr txBox="1"/>
          <p:nvPr/>
        </p:nvSpPr>
        <p:spPr>
          <a:xfrm>
            <a:off x="2563560" y="2943000"/>
            <a:ext cx="21636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procedimiento ni medición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CuadroTexto 325"/>
          <p:cNvSpPr txBox="1"/>
          <p:nvPr/>
        </p:nvSpPr>
        <p:spPr>
          <a:xfrm>
            <a:off x="7536960" y="2657160"/>
            <a:ext cx="3659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tabaquismo, historia familiar, escalas, motivo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CuadroTexto 326"/>
          <p:cNvSpPr txBox="1"/>
          <p:nvPr/>
        </p:nvSpPr>
        <p:spPr>
          <a:xfrm>
            <a:off x="7536960" y="2943000"/>
            <a:ext cx="953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 consulta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Forma libre 327"/>
          <p:cNvSpPr/>
          <p:nvPr/>
        </p:nvSpPr>
        <p:spPr>
          <a:xfrm>
            <a:off x="914040" y="40669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8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8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CuadroTexto 328"/>
          <p:cNvSpPr txBox="1"/>
          <p:nvPr/>
        </p:nvSpPr>
        <p:spPr>
          <a:xfrm>
            <a:off x="666720" y="3458880"/>
            <a:ext cx="2205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Casos grises reales: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CuadroTexto 329"/>
          <p:cNvSpPr txBox="1"/>
          <p:nvPr/>
        </p:nvSpPr>
        <p:spPr>
          <a:xfrm>
            <a:off x="1123920" y="3954240"/>
            <a:ext cx="3731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¿El peso es medición u observación?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CuadroTexto 330"/>
          <p:cNvSpPr txBox="1"/>
          <p:nvPr/>
        </p:nvSpPr>
        <p:spPr>
          <a:xfrm>
            <a:off x="4854600" y="396504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Forma libre 331"/>
          <p:cNvSpPr/>
          <p:nvPr/>
        </p:nvSpPr>
        <p:spPr>
          <a:xfrm>
            <a:off x="914040" y="4466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CuadroTexto 332"/>
          <p:cNvSpPr txBox="1"/>
          <p:nvPr/>
        </p:nvSpPr>
        <p:spPr>
          <a:xfrm>
            <a:off x="5083200" y="3954240"/>
            <a:ext cx="2871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MEASUREMENT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(se midió)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CuadroTexto 333"/>
          <p:cNvSpPr txBox="1"/>
          <p:nvPr/>
        </p:nvSpPr>
        <p:spPr>
          <a:xfrm>
            <a:off x="1123920" y="4354200"/>
            <a:ext cx="2808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¿«Fuma 10 cigarros al día»?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CuadroTexto 334"/>
          <p:cNvSpPr txBox="1"/>
          <p:nvPr/>
        </p:nvSpPr>
        <p:spPr>
          <a:xfrm>
            <a:off x="3927600" y="436500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Forma libre 335"/>
          <p:cNvSpPr/>
          <p:nvPr/>
        </p:nvSpPr>
        <p:spPr>
          <a:xfrm>
            <a:off x="914040" y="48672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CuadroTexto 336"/>
          <p:cNvSpPr txBox="1"/>
          <p:nvPr/>
        </p:nvSpPr>
        <p:spPr>
          <a:xfrm>
            <a:off x="4156200" y="4354200"/>
            <a:ext cx="3074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OBSERVATION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(se preguntó)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CuadroTexto 337"/>
          <p:cNvSpPr txBox="1"/>
          <p:nvPr/>
        </p:nvSpPr>
        <p:spPr>
          <a:xfrm>
            <a:off x="1123920" y="4754520"/>
            <a:ext cx="2833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¿Una escala de dolor 0–10?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CuadroTexto 338"/>
          <p:cNvSpPr txBox="1"/>
          <p:nvPr/>
        </p:nvSpPr>
        <p:spPr>
          <a:xfrm>
            <a:off x="3957120" y="476532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CuadroTexto 339"/>
          <p:cNvSpPr txBox="1"/>
          <p:nvPr/>
        </p:nvSpPr>
        <p:spPr>
          <a:xfrm>
            <a:off x="4185720" y="4754520"/>
            <a:ext cx="3722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depende del ETL.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Busca en las 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CuadroTexto 340"/>
          <p:cNvSpPr txBox="1"/>
          <p:nvPr/>
        </p:nvSpPr>
        <p:spPr>
          <a:xfrm>
            <a:off x="905040" y="5364000"/>
            <a:ext cx="6763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Regla práctica: si no lo encuentras donde esperabas, está en la otra.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CuadroTexto 34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CuadroTexto 34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CuadroTexto 34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Forma libre 3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Forma libre 3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Forma libre 3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CuadroTexto 347"/>
          <p:cNvSpPr txBox="1"/>
          <p:nvPr/>
        </p:nvSpPr>
        <p:spPr>
          <a:xfrm>
            <a:off x="2891160" y="3063960"/>
            <a:ext cx="65610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El infierno de las unidades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CuadroTexto 34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CuadroTexto 34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CuadroTexto 35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Forma libre 3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Forma libre 3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Forma libre 3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orma libre 354"/>
          <p:cNvSpPr/>
          <p:nvPr/>
        </p:nvSpPr>
        <p:spPr>
          <a:xfrm>
            <a:off x="676080" y="1228680"/>
            <a:ext cx="1067040" cy="409680"/>
          </a:xfrm>
          <a:custGeom>
            <a:avLst/>
            <a:gdLst/>
            <a:ahLst/>
            <a:cxnLst/>
            <a:rect l="0" t="0" r="r" b="b"/>
            <a:pathLst>
              <a:path w="2964" h="1138">
                <a:moveTo>
                  <a:pt x="0" y="0"/>
                </a:moveTo>
                <a:lnTo>
                  <a:pt x="2964" y="0"/>
                </a:lnTo>
                <a:lnTo>
                  <a:pt x="296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Forma libre 355"/>
          <p:cNvSpPr/>
          <p:nvPr/>
        </p:nvSpPr>
        <p:spPr>
          <a:xfrm>
            <a:off x="1742760" y="1228680"/>
            <a:ext cx="1095840" cy="409680"/>
          </a:xfrm>
          <a:custGeom>
            <a:avLst/>
            <a:gdLst/>
            <a:ahLst/>
            <a:cxnLst/>
            <a:rect l="0" t="0" r="r" b="b"/>
            <a:pathLst>
              <a:path w="3044" h="1138">
                <a:moveTo>
                  <a:pt x="0" y="0"/>
                </a:moveTo>
                <a:lnTo>
                  <a:pt x="3044" y="0"/>
                </a:lnTo>
                <a:lnTo>
                  <a:pt x="304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Forma libre 356"/>
          <p:cNvSpPr/>
          <p:nvPr/>
        </p:nvSpPr>
        <p:spPr>
          <a:xfrm>
            <a:off x="2838240" y="1228680"/>
            <a:ext cx="1629000" cy="409680"/>
          </a:xfrm>
          <a:custGeom>
            <a:avLst/>
            <a:gdLst/>
            <a:ahLst/>
            <a:cxnLst/>
            <a:rect l="0" t="0" r="r" b="b"/>
            <a:pathLst>
              <a:path w="4525" h="1138">
                <a:moveTo>
                  <a:pt x="0" y="0"/>
                </a:moveTo>
                <a:lnTo>
                  <a:pt x="4525" y="0"/>
                </a:lnTo>
                <a:lnTo>
                  <a:pt x="4525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Forma libre 357"/>
          <p:cNvSpPr/>
          <p:nvPr/>
        </p:nvSpPr>
        <p:spPr>
          <a:xfrm>
            <a:off x="4466880" y="1228680"/>
            <a:ext cx="1705320" cy="409680"/>
          </a:xfrm>
          <a:custGeom>
            <a:avLst/>
            <a:gdLst/>
            <a:ahLst/>
            <a:cxnLst/>
            <a:rect l="0" t="0" r="r" b="b"/>
            <a:pathLst>
              <a:path w="4737" h="1138">
                <a:moveTo>
                  <a:pt x="0" y="0"/>
                </a:moveTo>
                <a:lnTo>
                  <a:pt x="4737" y="0"/>
                </a:lnTo>
                <a:lnTo>
                  <a:pt x="473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Forma libre 358"/>
          <p:cNvSpPr/>
          <p:nvPr/>
        </p:nvSpPr>
        <p:spPr>
          <a:xfrm>
            <a:off x="676080" y="1228680"/>
            <a:ext cx="1067040" cy="409680"/>
          </a:xfrm>
          <a:custGeom>
            <a:avLst/>
            <a:gdLst/>
            <a:ahLst/>
            <a:cxnLst/>
            <a:rect l="0" t="0" r="r" b="b"/>
            <a:pathLst>
              <a:path w="2964" h="1138">
                <a:moveTo>
                  <a:pt x="0" y="0"/>
                </a:moveTo>
                <a:lnTo>
                  <a:pt x="2964" y="0"/>
                </a:lnTo>
                <a:lnTo>
                  <a:pt x="296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Forma libre 359"/>
          <p:cNvSpPr/>
          <p:nvPr/>
        </p:nvSpPr>
        <p:spPr>
          <a:xfrm>
            <a:off x="1742760" y="1228680"/>
            <a:ext cx="1095840" cy="409680"/>
          </a:xfrm>
          <a:custGeom>
            <a:avLst/>
            <a:gdLst/>
            <a:ahLst/>
            <a:cxnLst/>
            <a:rect l="0" t="0" r="r" b="b"/>
            <a:pathLst>
              <a:path w="3044" h="1138">
                <a:moveTo>
                  <a:pt x="0" y="0"/>
                </a:moveTo>
                <a:lnTo>
                  <a:pt x="3044" y="0"/>
                </a:lnTo>
                <a:lnTo>
                  <a:pt x="304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Forma libre 360"/>
          <p:cNvSpPr/>
          <p:nvPr/>
        </p:nvSpPr>
        <p:spPr>
          <a:xfrm>
            <a:off x="2838240" y="1228680"/>
            <a:ext cx="1629000" cy="409680"/>
          </a:xfrm>
          <a:custGeom>
            <a:avLst/>
            <a:gdLst/>
            <a:ahLst/>
            <a:cxnLst/>
            <a:rect l="0" t="0" r="r" b="b"/>
            <a:pathLst>
              <a:path w="4525" h="1138">
                <a:moveTo>
                  <a:pt x="0" y="0"/>
                </a:moveTo>
                <a:lnTo>
                  <a:pt x="4525" y="0"/>
                </a:lnTo>
                <a:lnTo>
                  <a:pt x="4525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Forma libre 361"/>
          <p:cNvSpPr/>
          <p:nvPr/>
        </p:nvSpPr>
        <p:spPr>
          <a:xfrm>
            <a:off x="4466880" y="1228680"/>
            <a:ext cx="1705320" cy="409680"/>
          </a:xfrm>
          <a:custGeom>
            <a:avLst/>
            <a:gdLst/>
            <a:ahLst/>
            <a:cxnLst/>
            <a:rect l="0" t="0" r="r" b="b"/>
            <a:pathLst>
              <a:path w="4737" h="1138">
                <a:moveTo>
                  <a:pt x="0" y="0"/>
                </a:moveTo>
                <a:lnTo>
                  <a:pt x="4737" y="0"/>
                </a:lnTo>
                <a:lnTo>
                  <a:pt x="473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Forma libre 362"/>
          <p:cNvSpPr/>
          <p:nvPr/>
        </p:nvSpPr>
        <p:spPr>
          <a:xfrm>
            <a:off x="676080" y="1638000"/>
            <a:ext cx="1067040" cy="419400"/>
          </a:xfrm>
          <a:custGeom>
            <a:avLst/>
            <a:gdLst/>
            <a:ahLst/>
            <a:cxnLst/>
            <a:rect l="0" t="0" r="r" b="b"/>
            <a:pathLst>
              <a:path w="2964" h="1165">
                <a:moveTo>
                  <a:pt x="0" y="0"/>
                </a:moveTo>
                <a:lnTo>
                  <a:pt x="2964" y="0"/>
                </a:lnTo>
                <a:lnTo>
                  <a:pt x="296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Forma libre 363"/>
          <p:cNvSpPr/>
          <p:nvPr/>
        </p:nvSpPr>
        <p:spPr>
          <a:xfrm>
            <a:off x="1742760" y="1638000"/>
            <a:ext cx="1095840" cy="419400"/>
          </a:xfrm>
          <a:custGeom>
            <a:avLst/>
            <a:gdLst/>
            <a:ahLst/>
            <a:cxnLst/>
            <a:rect l="0" t="0" r="r" b="b"/>
            <a:pathLst>
              <a:path w="3044" h="1165">
                <a:moveTo>
                  <a:pt x="0" y="0"/>
                </a:moveTo>
                <a:lnTo>
                  <a:pt x="3044" y="0"/>
                </a:lnTo>
                <a:lnTo>
                  <a:pt x="304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Forma libre 364"/>
          <p:cNvSpPr/>
          <p:nvPr/>
        </p:nvSpPr>
        <p:spPr>
          <a:xfrm>
            <a:off x="2838240" y="1638000"/>
            <a:ext cx="1629000" cy="419400"/>
          </a:xfrm>
          <a:custGeom>
            <a:avLst/>
            <a:gdLst/>
            <a:ahLst/>
            <a:cxnLst/>
            <a:rect l="0" t="0" r="r" b="b"/>
            <a:pathLst>
              <a:path w="4525" h="1165">
                <a:moveTo>
                  <a:pt x="0" y="0"/>
                </a:moveTo>
                <a:lnTo>
                  <a:pt x="4525" y="0"/>
                </a:lnTo>
                <a:lnTo>
                  <a:pt x="452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Forma libre 365"/>
          <p:cNvSpPr/>
          <p:nvPr/>
        </p:nvSpPr>
        <p:spPr>
          <a:xfrm>
            <a:off x="4466880" y="1638000"/>
            <a:ext cx="1705320" cy="419400"/>
          </a:xfrm>
          <a:custGeom>
            <a:avLst/>
            <a:gdLst/>
            <a:ahLst/>
            <a:cxnLst/>
            <a:rect l="0" t="0" r="r" b="b"/>
            <a:pathLst>
              <a:path w="4737" h="1165">
                <a:moveTo>
                  <a:pt x="0" y="0"/>
                </a:moveTo>
                <a:lnTo>
                  <a:pt x="4737" y="0"/>
                </a:lnTo>
                <a:lnTo>
                  <a:pt x="473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Forma libre 366"/>
          <p:cNvSpPr/>
          <p:nvPr/>
        </p:nvSpPr>
        <p:spPr>
          <a:xfrm>
            <a:off x="676080" y="2057040"/>
            <a:ext cx="1067040" cy="419760"/>
          </a:xfrm>
          <a:custGeom>
            <a:avLst/>
            <a:gdLst/>
            <a:ahLst/>
            <a:cxnLst/>
            <a:rect l="0" t="0" r="r" b="b"/>
            <a:pathLst>
              <a:path w="2964" h="1166">
                <a:moveTo>
                  <a:pt x="0" y="0"/>
                </a:moveTo>
                <a:lnTo>
                  <a:pt x="2964" y="0"/>
                </a:lnTo>
                <a:lnTo>
                  <a:pt x="2964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Forma libre 367"/>
          <p:cNvSpPr/>
          <p:nvPr/>
        </p:nvSpPr>
        <p:spPr>
          <a:xfrm>
            <a:off x="1742760" y="2057040"/>
            <a:ext cx="1095840" cy="419760"/>
          </a:xfrm>
          <a:custGeom>
            <a:avLst/>
            <a:gdLst/>
            <a:ahLst/>
            <a:cxnLst/>
            <a:rect l="0" t="0" r="r" b="b"/>
            <a:pathLst>
              <a:path w="3044" h="1166">
                <a:moveTo>
                  <a:pt x="0" y="0"/>
                </a:moveTo>
                <a:lnTo>
                  <a:pt x="3044" y="0"/>
                </a:lnTo>
                <a:lnTo>
                  <a:pt x="3044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Forma libre 368"/>
          <p:cNvSpPr/>
          <p:nvPr/>
        </p:nvSpPr>
        <p:spPr>
          <a:xfrm>
            <a:off x="2838240" y="2057040"/>
            <a:ext cx="1629000" cy="419760"/>
          </a:xfrm>
          <a:custGeom>
            <a:avLst/>
            <a:gdLst/>
            <a:ahLst/>
            <a:cxnLst/>
            <a:rect l="0" t="0" r="r" b="b"/>
            <a:pathLst>
              <a:path w="4525" h="1166">
                <a:moveTo>
                  <a:pt x="0" y="0"/>
                </a:moveTo>
                <a:lnTo>
                  <a:pt x="4525" y="0"/>
                </a:lnTo>
                <a:lnTo>
                  <a:pt x="4525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orma libre 369"/>
          <p:cNvSpPr/>
          <p:nvPr/>
        </p:nvSpPr>
        <p:spPr>
          <a:xfrm>
            <a:off x="4466880" y="2057040"/>
            <a:ext cx="1705320" cy="419760"/>
          </a:xfrm>
          <a:custGeom>
            <a:avLst/>
            <a:gdLst/>
            <a:ahLst/>
            <a:cxnLst/>
            <a:rect l="0" t="0" r="r" b="b"/>
            <a:pathLst>
              <a:path w="4737" h="1166">
                <a:moveTo>
                  <a:pt x="0" y="0"/>
                </a:moveTo>
                <a:lnTo>
                  <a:pt x="4737" y="0"/>
                </a:lnTo>
                <a:lnTo>
                  <a:pt x="473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Forma libre 370"/>
          <p:cNvSpPr/>
          <p:nvPr/>
        </p:nvSpPr>
        <p:spPr>
          <a:xfrm>
            <a:off x="676080" y="2476440"/>
            <a:ext cx="1067040" cy="409680"/>
          </a:xfrm>
          <a:custGeom>
            <a:avLst/>
            <a:gdLst/>
            <a:ahLst/>
            <a:cxnLst/>
            <a:rect l="0" t="0" r="r" b="b"/>
            <a:pathLst>
              <a:path w="2964" h="1138">
                <a:moveTo>
                  <a:pt x="0" y="0"/>
                </a:moveTo>
                <a:lnTo>
                  <a:pt x="2964" y="0"/>
                </a:lnTo>
                <a:lnTo>
                  <a:pt x="296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Forma libre 371"/>
          <p:cNvSpPr/>
          <p:nvPr/>
        </p:nvSpPr>
        <p:spPr>
          <a:xfrm>
            <a:off x="1742760" y="2476440"/>
            <a:ext cx="1095840" cy="409680"/>
          </a:xfrm>
          <a:custGeom>
            <a:avLst/>
            <a:gdLst/>
            <a:ahLst/>
            <a:cxnLst/>
            <a:rect l="0" t="0" r="r" b="b"/>
            <a:pathLst>
              <a:path w="3044" h="1138">
                <a:moveTo>
                  <a:pt x="0" y="0"/>
                </a:moveTo>
                <a:lnTo>
                  <a:pt x="3044" y="0"/>
                </a:lnTo>
                <a:lnTo>
                  <a:pt x="304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Forma libre 372"/>
          <p:cNvSpPr/>
          <p:nvPr/>
        </p:nvSpPr>
        <p:spPr>
          <a:xfrm>
            <a:off x="2838240" y="2476440"/>
            <a:ext cx="1629000" cy="409680"/>
          </a:xfrm>
          <a:custGeom>
            <a:avLst/>
            <a:gdLst/>
            <a:ahLst/>
            <a:cxnLst/>
            <a:rect l="0" t="0" r="r" b="b"/>
            <a:pathLst>
              <a:path w="4525" h="1138">
                <a:moveTo>
                  <a:pt x="0" y="0"/>
                </a:moveTo>
                <a:lnTo>
                  <a:pt x="4525" y="0"/>
                </a:lnTo>
                <a:lnTo>
                  <a:pt x="4525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Forma libre 373"/>
          <p:cNvSpPr/>
          <p:nvPr/>
        </p:nvSpPr>
        <p:spPr>
          <a:xfrm>
            <a:off x="4466880" y="2476440"/>
            <a:ext cx="1705320" cy="409680"/>
          </a:xfrm>
          <a:custGeom>
            <a:avLst/>
            <a:gdLst/>
            <a:ahLst/>
            <a:cxnLst/>
            <a:rect l="0" t="0" r="r" b="b"/>
            <a:pathLst>
              <a:path w="4737" h="1138">
                <a:moveTo>
                  <a:pt x="0" y="0"/>
                </a:moveTo>
                <a:lnTo>
                  <a:pt x="4737" y="0"/>
                </a:lnTo>
                <a:lnTo>
                  <a:pt x="473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Forma libre 374"/>
          <p:cNvSpPr/>
          <p:nvPr/>
        </p:nvSpPr>
        <p:spPr>
          <a:xfrm>
            <a:off x="676080" y="2885760"/>
            <a:ext cx="1067040" cy="410040"/>
          </a:xfrm>
          <a:custGeom>
            <a:avLst/>
            <a:gdLst/>
            <a:ahLst/>
            <a:cxnLst/>
            <a:rect l="0" t="0" r="r" b="b"/>
            <a:pathLst>
              <a:path w="2964" h="1139">
                <a:moveTo>
                  <a:pt x="0" y="0"/>
                </a:moveTo>
                <a:lnTo>
                  <a:pt x="2964" y="0"/>
                </a:lnTo>
                <a:lnTo>
                  <a:pt x="296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Forma libre 375"/>
          <p:cNvSpPr/>
          <p:nvPr/>
        </p:nvSpPr>
        <p:spPr>
          <a:xfrm>
            <a:off x="1742760" y="2885760"/>
            <a:ext cx="1095840" cy="410040"/>
          </a:xfrm>
          <a:custGeom>
            <a:avLst/>
            <a:gdLst/>
            <a:ahLst/>
            <a:cxnLst/>
            <a:rect l="0" t="0" r="r" b="b"/>
            <a:pathLst>
              <a:path w="3044" h="1139">
                <a:moveTo>
                  <a:pt x="0" y="0"/>
                </a:moveTo>
                <a:lnTo>
                  <a:pt x="3044" y="0"/>
                </a:lnTo>
                <a:lnTo>
                  <a:pt x="304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Forma libre 376"/>
          <p:cNvSpPr/>
          <p:nvPr/>
        </p:nvSpPr>
        <p:spPr>
          <a:xfrm>
            <a:off x="2838240" y="2885760"/>
            <a:ext cx="1629000" cy="410040"/>
          </a:xfrm>
          <a:custGeom>
            <a:avLst/>
            <a:gdLst/>
            <a:ahLst/>
            <a:cxnLst/>
            <a:rect l="0" t="0" r="r" b="b"/>
            <a:pathLst>
              <a:path w="4525" h="1139">
                <a:moveTo>
                  <a:pt x="0" y="0"/>
                </a:moveTo>
                <a:lnTo>
                  <a:pt x="4525" y="0"/>
                </a:lnTo>
                <a:lnTo>
                  <a:pt x="452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Forma libre 377"/>
          <p:cNvSpPr/>
          <p:nvPr/>
        </p:nvSpPr>
        <p:spPr>
          <a:xfrm>
            <a:off x="4466880" y="2885760"/>
            <a:ext cx="1705320" cy="410040"/>
          </a:xfrm>
          <a:custGeom>
            <a:avLst/>
            <a:gdLst/>
            <a:ahLst/>
            <a:cxnLst/>
            <a:rect l="0" t="0" r="r" b="b"/>
            <a:pathLst>
              <a:path w="4737" h="1139">
                <a:moveTo>
                  <a:pt x="0" y="0"/>
                </a:moveTo>
                <a:lnTo>
                  <a:pt x="4737" y="0"/>
                </a:lnTo>
                <a:lnTo>
                  <a:pt x="473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Forma libre 378"/>
          <p:cNvSpPr/>
          <p:nvPr/>
        </p:nvSpPr>
        <p:spPr>
          <a:xfrm>
            <a:off x="666720" y="12286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Forma libre 379"/>
          <p:cNvSpPr/>
          <p:nvPr/>
        </p:nvSpPr>
        <p:spPr>
          <a:xfrm>
            <a:off x="666720" y="1228680"/>
            <a:ext cx="1086120" cy="9720"/>
          </a:xfrm>
          <a:custGeom>
            <a:avLst/>
            <a:gdLst/>
            <a:ahLst/>
            <a:cxn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Forma libre 380"/>
          <p:cNvSpPr/>
          <p:nvPr/>
        </p:nvSpPr>
        <p:spPr>
          <a:xfrm>
            <a:off x="1742760" y="12286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Forma libre 381"/>
          <p:cNvSpPr/>
          <p:nvPr/>
        </p:nvSpPr>
        <p:spPr>
          <a:xfrm>
            <a:off x="1752480" y="1228680"/>
            <a:ext cx="1086120" cy="9720"/>
          </a:xfrm>
          <a:custGeom>
            <a:avLst/>
            <a:gdLst/>
            <a:ahLst/>
            <a:cxn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Forma libre 382"/>
          <p:cNvSpPr/>
          <p:nvPr/>
        </p:nvSpPr>
        <p:spPr>
          <a:xfrm>
            <a:off x="2828880" y="12286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Forma libre 383"/>
          <p:cNvSpPr/>
          <p:nvPr/>
        </p:nvSpPr>
        <p:spPr>
          <a:xfrm>
            <a:off x="2838240" y="1228680"/>
            <a:ext cx="1638720" cy="9720"/>
          </a:xfrm>
          <a:custGeom>
            <a:avLst/>
            <a:gdLst/>
            <a:ahLst/>
            <a:cxn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Forma libre 384"/>
          <p:cNvSpPr/>
          <p:nvPr/>
        </p:nvSpPr>
        <p:spPr>
          <a:xfrm>
            <a:off x="4466880" y="12286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Forma libre 385"/>
          <p:cNvSpPr/>
          <p:nvPr/>
        </p:nvSpPr>
        <p:spPr>
          <a:xfrm>
            <a:off x="4476600" y="1228680"/>
            <a:ext cx="1705320" cy="9720"/>
          </a:xfrm>
          <a:custGeom>
            <a:avLst/>
            <a:gdLst/>
            <a:ahLst/>
            <a:cxnLst/>
            <a:rect l="0" t="0" r="r" b="b"/>
            <a:pathLst>
              <a:path w="4737" h="27">
                <a:moveTo>
                  <a:pt x="0" y="0"/>
                </a:moveTo>
                <a:lnTo>
                  <a:pt x="4737" y="0"/>
                </a:lnTo>
                <a:lnTo>
                  <a:pt x="47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Forma libre 386"/>
          <p:cNvSpPr/>
          <p:nvPr/>
        </p:nvSpPr>
        <p:spPr>
          <a:xfrm>
            <a:off x="6171840" y="12286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Forma libre 387"/>
          <p:cNvSpPr/>
          <p:nvPr/>
        </p:nvSpPr>
        <p:spPr>
          <a:xfrm>
            <a:off x="666720" y="1638000"/>
            <a:ext cx="1086120" cy="10080"/>
          </a:xfrm>
          <a:custGeom>
            <a:avLst/>
            <a:gdLst/>
            <a:ahLst/>
            <a:cxn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Forma libre 388"/>
          <p:cNvSpPr/>
          <p:nvPr/>
        </p:nvSpPr>
        <p:spPr>
          <a:xfrm>
            <a:off x="1752480" y="1638000"/>
            <a:ext cx="1086120" cy="10080"/>
          </a:xfrm>
          <a:custGeom>
            <a:avLst/>
            <a:gdLst/>
            <a:ahLst/>
            <a:cxn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Forma libre 389"/>
          <p:cNvSpPr/>
          <p:nvPr/>
        </p:nvSpPr>
        <p:spPr>
          <a:xfrm>
            <a:off x="2838240" y="1638000"/>
            <a:ext cx="1638720" cy="10080"/>
          </a:xfrm>
          <a:custGeom>
            <a:avLst/>
            <a:gdLst/>
            <a:ahLst/>
            <a:cxnLst/>
            <a:rect l="0" t="0" r="r" b="b"/>
            <a:pathLst>
              <a:path w="4552" h="28">
                <a:moveTo>
                  <a:pt x="0" y="0"/>
                </a:moveTo>
                <a:lnTo>
                  <a:pt x="4552" y="0"/>
                </a:lnTo>
                <a:lnTo>
                  <a:pt x="4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Forma libre 390"/>
          <p:cNvSpPr/>
          <p:nvPr/>
        </p:nvSpPr>
        <p:spPr>
          <a:xfrm>
            <a:off x="4476600" y="1638000"/>
            <a:ext cx="1705320" cy="10080"/>
          </a:xfrm>
          <a:custGeom>
            <a:avLst/>
            <a:gdLst/>
            <a:ahLst/>
            <a:cxnLst/>
            <a:rect l="0" t="0" r="r" b="b"/>
            <a:pathLst>
              <a:path w="4737" h="28">
                <a:moveTo>
                  <a:pt x="0" y="0"/>
                </a:moveTo>
                <a:lnTo>
                  <a:pt x="4737" y="0"/>
                </a:lnTo>
                <a:lnTo>
                  <a:pt x="47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Forma libre 391"/>
          <p:cNvSpPr/>
          <p:nvPr/>
        </p:nvSpPr>
        <p:spPr>
          <a:xfrm>
            <a:off x="666720" y="1647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Forma libre 392"/>
          <p:cNvSpPr/>
          <p:nvPr/>
        </p:nvSpPr>
        <p:spPr>
          <a:xfrm>
            <a:off x="1742760" y="16477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Forma libre 393"/>
          <p:cNvSpPr/>
          <p:nvPr/>
        </p:nvSpPr>
        <p:spPr>
          <a:xfrm>
            <a:off x="2828880" y="1647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Forma libre 394"/>
          <p:cNvSpPr/>
          <p:nvPr/>
        </p:nvSpPr>
        <p:spPr>
          <a:xfrm>
            <a:off x="4466880" y="16477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Forma libre 395"/>
          <p:cNvSpPr/>
          <p:nvPr/>
        </p:nvSpPr>
        <p:spPr>
          <a:xfrm>
            <a:off x="6171840" y="16477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Forma libre 396"/>
          <p:cNvSpPr/>
          <p:nvPr/>
        </p:nvSpPr>
        <p:spPr>
          <a:xfrm>
            <a:off x="666720" y="20667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Forma libre 397"/>
          <p:cNvSpPr/>
          <p:nvPr/>
        </p:nvSpPr>
        <p:spPr>
          <a:xfrm>
            <a:off x="666720" y="2057040"/>
            <a:ext cx="1086120" cy="10080"/>
          </a:xfrm>
          <a:custGeom>
            <a:avLst/>
            <a:gdLst/>
            <a:ahLst/>
            <a:cxn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Forma libre 398"/>
          <p:cNvSpPr/>
          <p:nvPr/>
        </p:nvSpPr>
        <p:spPr>
          <a:xfrm>
            <a:off x="1742760" y="20667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Forma libre 399"/>
          <p:cNvSpPr/>
          <p:nvPr/>
        </p:nvSpPr>
        <p:spPr>
          <a:xfrm>
            <a:off x="1752480" y="2057040"/>
            <a:ext cx="1086120" cy="10080"/>
          </a:xfrm>
          <a:custGeom>
            <a:avLst/>
            <a:gdLst/>
            <a:ahLst/>
            <a:cxn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Forma libre 400"/>
          <p:cNvSpPr/>
          <p:nvPr/>
        </p:nvSpPr>
        <p:spPr>
          <a:xfrm>
            <a:off x="2828880" y="20667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Forma libre 401"/>
          <p:cNvSpPr/>
          <p:nvPr/>
        </p:nvSpPr>
        <p:spPr>
          <a:xfrm>
            <a:off x="2838240" y="2057040"/>
            <a:ext cx="1638720" cy="10080"/>
          </a:xfrm>
          <a:custGeom>
            <a:avLst/>
            <a:gdLst/>
            <a:ahLst/>
            <a:cxnLst/>
            <a:rect l="0" t="0" r="r" b="b"/>
            <a:pathLst>
              <a:path w="4552" h="28">
                <a:moveTo>
                  <a:pt x="0" y="0"/>
                </a:moveTo>
                <a:lnTo>
                  <a:pt x="4552" y="0"/>
                </a:lnTo>
                <a:lnTo>
                  <a:pt x="4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Forma libre 402"/>
          <p:cNvSpPr/>
          <p:nvPr/>
        </p:nvSpPr>
        <p:spPr>
          <a:xfrm>
            <a:off x="4466880" y="20667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Forma libre 403"/>
          <p:cNvSpPr/>
          <p:nvPr/>
        </p:nvSpPr>
        <p:spPr>
          <a:xfrm>
            <a:off x="4476600" y="2057040"/>
            <a:ext cx="1705320" cy="10080"/>
          </a:xfrm>
          <a:custGeom>
            <a:avLst/>
            <a:gdLst/>
            <a:ahLst/>
            <a:cxnLst/>
            <a:rect l="0" t="0" r="r" b="b"/>
            <a:pathLst>
              <a:path w="4737" h="28">
                <a:moveTo>
                  <a:pt x="0" y="0"/>
                </a:moveTo>
                <a:lnTo>
                  <a:pt x="4737" y="0"/>
                </a:lnTo>
                <a:lnTo>
                  <a:pt x="47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Forma libre 404"/>
          <p:cNvSpPr/>
          <p:nvPr/>
        </p:nvSpPr>
        <p:spPr>
          <a:xfrm>
            <a:off x="6171840" y="20667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Forma libre 405"/>
          <p:cNvSpPr/>
          <p:nvPr/>
        </p:nvSpPr>
        <p:spPr>
          <a:xfrm>
            <a:off x="666720" y="24858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Forma libre 406"/>
          <p:cNvSpPr/>
          <p:nvPr/>
        </p:nvSpPr>
        <p:spPr>
          <a:xfrm>
            <a:off x="666720" y="2476440"/>
            <a:ext cx="1086120" cy="9720"/>
          </a:xfrm>
          <a:custGeom>
            <a:avLst/>
            <a:gdLst/>
            <a:ahLst/>
            <a:cxn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Forma libre 407"/>
          <p:cNvSpPr/>
          <p:nvPr/>
        </p:nvSpPr>
        <p:spPr>
          <a:xfrm>
            <a:off x="1742760" y="24858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Forma libre 408"/>
          <p:cNvSpPr/>
          <p:nvPr/>
        </p:nvSpPr>
        <p:spPr>
          <a:xfrm>
            <a:off x="1752480" y="2476440"/>
            <a:ext cx="1086120" cy="9720"/>
          </a:xfrm>
          <a:custGeom>
            <a:avLst/>
            <a:gdLst/>
            <a:ahLst/>
            <a:cxnLst/>
            <a:rect l="0" t="0" r="r" b="b"/>
            <a:pathLst>
              <a:path w="3017" h="27">
                <a:moveTo>
                  <a:pt x="0" y="0"/>
                </a:moveTo>
                <a:lnTo>
                  <a:pt x="3017" y="0"/>
                </a:lnTo>
                <a:lnTo>
                  <a:pt x="301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Forma libre 409"/>
          <p:cNvSpPr/>
          <p:nvPr/>
        </p:nvSpPr>
        <p:spPr>
          <a:xfrm>
            <a:off x="2828880" y="24858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Forma libre 410"/>
          <p:cNvSpPr/>
          <p:nvPr/>
        </p:nvSpPr>
        <p:spPr>
          <a:xfrm>
            <a:off x="2838240" y="2476440"/>
            <a:ext cx="1638720" cy="9720"/>
          </a:xfrm>
          <a:custGeom>
            <a:avLst/>
            <a:gdLst/>
            <a:ahLst/>
            <a:cxnLst/>
            <a:rect l="0" t="0" r="r" b="b"/>
            <a:pathLst>
              <a:path w="4552" h="27">
                <a:moveTo>
                  <a:pt x="0" y="0"/>
                </a:moveTo>
                <a:lnTo>
                  <a:pt x="4552" y="0"/>
                </a:lnTo>
                <a:lnTo>
                  <a:pt x="45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Forma libre 411"/>
          <p:cNvSpPr/>
          <p:nvPr/>
        </p:nvSpPr>
        <p:spPr>
          <a:xfrm>
            <a:off x="4466880" y="24858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Forma libre 412"/>
          <p:cNvSpPr/>
          <p:nvPr/>
        </p:nvSpPr>
        <p:spPr>
          <a:xfrm>
            <a:off x="4476600" y="2476440"/>
            <a:ext cx="1705320" cy="9720"/>
          </a:xfrm>
          <a:custGeom>
            <a:avLst/>
            <a:gdLst/>
            <a:ahLst/>
            <a:cxnLst/>
            <a:rect l="0" t="0" r="r" b="b"/>
            <a:pathLst>
              <a:path w="4737" h="27">
                <a:moveTo>
                  <a:pt x="0" y="0"/>
                </a:moveTo>
                <a:lnTo>
                  <a:pt x="4737" y="0"/>
                </a:lnTo>
                <a:lnTo>
                  <a:pt x="47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Forma libre 413"/>
          <p:cNvSpPr/>
          <p:nvPr/>
        </p:nvSpPr>
        <p:spPr>
          <a:xfrm>
            <a:off x="6171840" y="24858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Forma libre 414"/>
          <p:cNvSpPr/>
          <p:nvPr/>
        </p:nvSpPr>
        <p:spPr>
          <a:xfrm>
            <a:off x="666720" y="28954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Forma libre 415"/>
          <p:cNvSpPr/>
          <p:nvPr/>
        </p:nvSpPr>
        <p:spPr>
          <a:xfrm>
            <a:off x="666720" y="2885760"/>
            <a:ext cx="1086120" cy="10080"/>
          </a:xfrm>
          <a:custGeom>
            <a:avLst/>
            <a:gdLst/>
            <a:ahLst/>
            <a:cxn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Forma libre 416"/>
          <p:cNvSpPr/>
          <p:nvPr/>
        </p:nvSpPr>
        <p:spPr>
          <a:xfrm>
            <a:off x="1742760" y="28954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Forma libre 417"/>
          <p:cNvSpPr/>
          <p:nvPr/>
        </p:nvSpPr>
        <p:spPr>
          <a:xfrm>
            <a:off x="1752480" y="2885760"/>
            <a:ext cx="1086120" cy="10080"/>
          </a:xfrm>
          <a:custGeom>
            <a:avLst/>
            <a:gdLst/>
            <a:ahLst/>
            <a:cxn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Forma libre 418"/>
          <p:cNvSpPr/>
          <p:nvPr/>
        </p:nvSpPr>
        <p:spPr>
          <a:xfrm>
            <a:off x="2828880" y="28954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Forma libre 419"/>
          <p:cNvSpPr/>
          <p:nvPr/>
        </p:nvSpPr>
        <p:spPr>
          <a:xfrm>
            <a:off x="2838240" y="2885760"/>
            <a:ext cx="1638720" cy="10080"/>
          </a:xfrm>
          <a:custGeom>
            <a:avLst/>
            <a:gdLst/>
            <a:ahLst/>
            <a:cxnLst/>
            <a:rect l="0" t="0" r="r" b="b"/>
            <a:pathLst>
              <a:path w="4552" h="28">
                <a:moveTo>
                  <a:pt x="0" y="0"/>
                </a:moveTo>
                <a:lnTo>
                  <a:pt x="4552" y="0"/>
                </a:lnTo>
                <a:lnTo>
                  <a:pt x="4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Forma libre 420"/>
          <p:cNvSpPr/>
          <p:nvPr/>
        </p:nvSpPr>
        <p:spPr>
          <a:xfrm>
            <a:off x="4466880" y="28954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Forma libre 421"/>
          <p:cNvSpPr/>
          <p:nvPr/>
        </p:nvSpPr>
        <p:spPr>
          <a:xfrm>
            <a:off x="4476600" y="2885760"/>
            <a:ext cx="1705320" cy="10080"/>
          </a:xfrm>
          <a:custGeom>
            <a:avLst/>
            <a:gdLst/>
            <a:ahLst/>
            <a:cxnLst/>
            <a:rect l="0" t="0" r="r" b="b"/>
            <a:pathLst>
              <a:path w="4737" h="28">
                <a:moveTo>
                  <a:pt x="0" y="0"/>
                </a:moveTo>
                <a:lnTo>
                  <a:pt x="4737" y="0"/>
                </a:lnTo>
                <a:lnTo>
                  <a:pt x="47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Forma libre 422"/>
          <p:cNvSpPr/>
          <p:nvPr/>
        </p:nvSpPr>
        <p:spPr>
          <a:xfrm>
            <a:off x="6171840" y="28954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Forma libre 423"/>
          <p:cNvSpPr/>
          <p:nvPr/>
        </p:nvSpPr>
        <p:spPr>
          <a:xfrm>
            <a:off x="666720" y="3295440"/>
            <a:ext cx="1086120" cy="10080"/>
          </a:xfrm>
          <a:custGeom>
            <a:avLst/>
            <a:gdLst/>
            <a:ahLst/>
            <a:cxn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Forma libre 424"/>
          <p:cNvSpPr/>
          <p:nvPr/>
        </p:nvSpPr>
        <p:spPr>
          <a:xfrm>
            <a:off x="1752480" y="3295440"/>
            <a:ext cx="1086120" cy="10080"/>
          </a:xfrm>
          <a:custGeom>
            <a:avLst/>
            <a:gdLst/>
            <a:ahLst/>
            <a:cxnLst/>
            <a:rect l="0" t="0" r="r" b="b"/>
            <a:pathLst>
              <a:path w="3017" h="28">
                <a:moveTo>
                  <a:pt x="0" y="0"/>
                </a:moveTo>
                <a:lnTo>
                  <a:pt x="3017" y="0"/>
                </a:lnTo>
                <a:lnTo>
                  <a:pt x="301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Forma libre 425"/>
          <p:cNvSpPr/>
          <p:nvPr/>
        </p:nvSpPr>
        <p:spPr>
          <a:xfrm>
            <a:off x="2838240" y="3295440"/>
            <a:ext cx="1638720" cy="10080"/>
          </a:xfrm>
          <a:custGeom>
            <a:avLst/>
            <a:gdLst/>
            <a:ahLst/>
            <a:cxnLst/>
            <a:rect l="0" t="0" r="r" b="b"/>
            <a:pathLst>
              <a:path w="4552" h="28">
                <a:moveTo>
                  <a:pt x="0" y="0"/>
                </a:moveTo>
                <a:lnTo>
                  <a:pt x="4552" y="0"/>
                </a:lnTo>
                <a:lnTo>
                  <a:pt x="45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Forma libre 426"/>
          <p:cNvSpPr/>
          <p:nvPr/>
        </p:nvSpPr>
        <p:spPr>
          <a:xfrm>
            <a:off x="4476600" y="3295440"/>
            <a:ext cx="1705320" cy="10080"/>
          </a:xfrm>
          <a:custGeom>
            <a:avLst/>
            <a:gdLst/>
            <a:ahLst/>
            <a:cxnLst/>
            <a:rect l="0" t="0" r="r" b="b"/>
            <a:pathLst>
              <a:path w="4737" h="28">
                <a:moveTo>
                  <a:pt x="0" y="0"/>
                </a:moveTo>
                <a:lnTo>
                  <a:pt x="4737" y="0"/>
                </a:lnTo>
                <a:lnTo>
                  <a:pt x="47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Forma libre 427"/>
          <p:cNvSpPr/>
          <p:nvPr/>
        </p:nvSpPr>
        <p:spPr>
          <a:xfrm>
            <a:off x="671400" y="346212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0"/>
                </a:cubicBezTo>
                <a:cubicBezTo>
                  <a:pt x="30130" y="3663"/>
                  <a:pt x="30127" y="3676"/>
                  <a:pt x="30122" y="3688"/>
                </a:cubicBezTo>
                <a:cubicBezTo>
                  <a:pt x="30117" y="3700"/>
                  <a:pt x="30111" y="3711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0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1"/>
                  <a:pt x="20" y="3700"/>
                  <a:pt x="15" y="3688"/>
                </a:cubicBezTo>
                <a:cubicBezTo>
                  <a:pt x="10" y="3676"/>
                  <a:pt x="6" y="3663"/>
                  <a:pt x="4" y="3650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Forma libre 428"/>
          <p:cNvSpPr/>
          <p:nvPr/>
        </p:nvSpPr>
        <p:spPr>
          <a:xfrm>
            <a:off x="671400" y="346212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0"/>
                </a:cubicBezTo>
                <a:cubicBezTo>
                  <a:pt x="30130" y="3663"/>
                  <a:pt x="30127" y="3676"/>
                  <a:pt x="30122" y="3688"/>
                </a:cubicBezTo>
                <a:cubicBezTo>
                  <a:pt x="30117" y="3700"/>
                  <a:pt x="30111" y="3711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0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1"/>
                  <a:pt x="20" y="3700"/>
                  <a:pt x="15" y="3688"/>
                </a:cubicBezTo>
                <a:cubicBezTo>
                  <a:pt x="10" y="3676"/>
                  <a:pt x="6" y="3663"/>
                  <a:pt x="4" y="3650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Forma libre 429"/>
          <p:cNvSpPr/>
          <p:nvPr/>
        </p:nvSpPr>
        <p:spPr>
          <a:xfrm>
            <a:off x="690480" y="4991040"/>
            <a:ext cx="10834920" cy="1067040"/>
          </a:xfrm>
          <a:custGeom>
            <a:avLst/>
            <a:gdLst/>
            <a:ahLst/>
            <a:cxnLst/>
            <a:rect l="0" t="0" r="r" b="b"/>
            <a:pathLst>
              <a:path w="30097" h="2964">
                <a:moveTo>
                  <a:pt x="0" y="2964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6"/>
                </a:cubicBezTo>
                <a:cubicBezTo>
                  <a:pt x="30035" y="32"/>
                  <a:pt x="30043" y="39"/>
                  <a:pt x="30051" y="46"/>
                </a:cubicBezTo>
                <a:cubicBezTo>
                  <a:pt x="30058" y="54"/>
                  <a:pt x="30065" y="62"/>
                  <a:pt x="30070" y="70"/>
                </a:cubicBezTo>
                <a:cubicBezTo>
                  <a:pt x="30076" y="79"/>
                  <a:pt x="30081" y="88"/>
                  <a:pt x="30085" y="98"/>
                </a:cubicBezTo>
                <a:cubicBezTo>
                  <a:pt x="30089" y="107"/>
                  <a:pt x="30092" y="117"/>
                  <a:pt x="30094" y="127"/>
                </a:cubicBezTo>
                <a:cubicBezTo>
                  <a:pt x="30096" y="138"/>
                  <a:pt x="30097" y="148"/>
                  <a:pt x="30097" y="158"/>
                </a:cubicBezTo>
                <a:lnTo>
                  <a:pt x="30097" y="2805"/>
                </a:lnTo>
                <a:cubicBezTo>
                  <a:pt x="30097" y="2816"/>
                  <a:pt x="30096" y="2826"/>
                  <a:pt x="30094" y="2836"/>
                </a:cubicBezTo>
                <a:cubicBezTo>
                  <a:pt x="30092" y="2846"/>
                  <a:pt x="30089" y="2856"/>
                  <a:pt x="30085" y="2866"/>
                </a:cubicBezTo>
                <a:cubicBezTo>
                  <a:pt x="30081" y="2876"/>
                  <a:pt x="30076" y="2885"/>
                  <a:pt x="30070" y="2893"/>
                </a:cubicBezTo>
                <a:cubicBezTo>
                  <a:pt x="30065" y="2902"/>
                  <a:pt x="30058" y="2910"/>
                  <a:pt x="30051" y="2918"/>
                </a:cubicBezTo>
                <a:cubicBezTo>
                  <a:pt x="30043" y="2925"/>
                  <a:pt x="30035" y="2931"/>
                  <a:pt x="30027" y="2937"/>
                </a:cubicBezTo>
                <a:cubicBezTo>
                  <a:pt x="30018" y="2943"/>
                  <a:pt x="30009" y="2948"/>
                  <a:pt x="29999" y="2952"/>
                </a:cubicBezTo>
                <a:cubicBezTo>
                  <a:pt x="29989" y="2956"/>
                  <a:pt x="29980" y="2959"/>
                  <a:pt x="29969" y="2961"/>
                </a:cubicBezTo>
                <a:cubicBezTo>
                  <a:pt x="29959" y="2963"/>
                  <a:pt x="29949" y="2964"/>
                  <a:pt x="29938" y="2964"/>
                </a:cubicBezTo>
                <a:lnTo>
                  <a:pt x="0" y="2964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Forma libre 430"/>
          <p:cNvSpPr/>
          <p:nvPr/>
        </p:nvSpPr>
        <p:spPr>
          <a:xfrm>
            <a:off x="666720" y="4991040"/>
            <a:ext cx="47880" cy="1067040"/>
          </a:xfrm>
          <a:custGeom>
            <a:avLst/>
            <a:gdLst/>
            <a:ahLst/>
            <a:cxnLst/>
            <a:rect l="0" t="0" r="r" b="b"/>
            <a:pathLst>
              <a:path w="133" h="2964">
                <a:moveTo>
                  <a:pt x="0" y="0"/>
                </a:moveTo>
                <a:lnTo>
                  <a:pt x="133" y="0"/>
                </a:lnTo>
                <a:lnTo>
                  <a:pt x="133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CuadroTexto 431"/>
          <p:cNvSpPr txBox="1"/>
          <p:nvPr/>
        </p:nvSpPr>
        <p:spPr>
          <a:xfrm>
            <a:off x="666720" y="587160"/>
            <a:ext cx="58266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mismo analito, números incomparables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CuadroTexto 432"/>
          <p:cNvSpPr txBox="1"/>
          <p:nvPr/>
        </p:nvSpPr>
        <p:spPr>
          <a:xfrm>
            <a:off x="892080" y="1333080"/>
            <a:ext cx="635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Analito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CuadroTexto 433"/>
          <p:cNvSpPr txBox="1"/>
          <p:nvPr/>
        </p:nvSpPr>
        <p:spPr>
          <a:xfrm>
            <a:off x="1876320" y="1333080"/>
            <a:ext cx="829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Unidad 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CuadroTexto 434"/>
          <p:cNvSpPr txBox="1"/>
          <p:nvPr/>
        </p:nvSpPr>
        <p:spPr>
          <a:xfrm>
            <a:off x="3236400" y="1333080"/>
            <a:ext cx="833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Unidad 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CuadroTexto 435"/>
          <p:cNvSpPr txBox="1"/>
          <p:nvPr/>
        </p:nvSpPr>
        <p:spPr>
          <a:xfrm>
            <a:off x="5028480" y="1333080"/>
            <a:ext cx="590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Factor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CuadroTexto 436"/>
          <p:cNvSpPr txBox="1"/>
          <p:nvPr/>
        </p:nvSpPr>
        <p:spPr>
          <a:xfrm>
            <a:off x="799920" y="1733040"/>
            <a:ext cx="6746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Glucosa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CuadroTexto 437"/>
          <p:cNvSpPr txBox="1"/>
          <p:nvPr/>
        </p:nvSpPr>
        <p:spPr>
          <a:xfrm>
            <a:off x="1875960" y="1733040"/>
            <a:ext cx="540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mg/dL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CuadroTexto 438"/>
          <p:cNvSpPr txBox="1"/>
          <p:nvPr/>
        </p:nvSpPr>
        <p:spPr>
          <a:xfrm>
            <a:off x="2962800" y="1733040"/>
            <a:ext cx="624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mmol/L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CuadroTexto 439"/>
          <p:cNvSpPr txBox="1"/>
          <p:nvPr/>
        </p:nvSpPr>
        <p:spPr>
          <a:xfrm>
            <a:off x="4599360" y="1742760"/>
            <a:ext cx="379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÷ 18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CuadroTexto 440"/>
          <p:cNvSpPr txBox="1"/>
          <p:nvPr/>
        </p:nvSpPr>
        <p:spPr>
          <a:xfrm>
            <a:off x="799920" y="2152440"/>
            <a:ext cx="822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Creatinina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CuadroTexto 441"/>
          <p:cNvSpPr txBox="1"/>
          <p:nvPr/>
        </p:nvSpPr>
        <p:spPr>
          <a:xfrm>
            <a:off x="1875960" y="2152440"/>
            <a:ext cx="540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mg/dL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CuadroTexto 442"/>
          <p:cNvSpPr txBox="1"/>
          <p:nvPr/>
        </p:nvSpPr>
        <p:spPr>
          <a:xfrm>
            <a:off x="2962800" y="2152440"/>
            <a:ext cx="568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µmol/L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CuadroTexto 443"/>
          <p:cNvSpPr txBox="1"/>
          <p:nvPr/>
        </p:nvSpPr>
        <p:spPr>
          <a:xfrm>
            <a:off x="4599360" y="2161800"/>
            <a:ext cx="538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× 88.4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CuadroTexto 444"/>
          <p:cNvSpPr txBox="1"/>
          <p:nvPr/>
        </p:nvSpPr>
        <p:spPr>
          <a:xfrm>
            <a:off x="799920" y="2571480"/>
            <a:ext cx="569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HbA1c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CuadroTexto 445"/>
          <p:cNvSpPr txBox="1"/>
          <p:nvPr/>
        </p:nvSpPr>
        <p:spPr>
          <a:xfrm>
            <a:off x="1875960" y="2571480"/>
            <a:ext cx="830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% (NGSP)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CuadroTexto 446"/>
          <p:cNvSpPr txBox="1"/>
          <p:nvPr/>
        </p:nvSpPr>
        <p:spPr>
          <a:xfrm>
            <a:off x="2962800" y="2571480"/>
            <a:ext cx="1380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mmol/mol (IFCC)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CuadroTexto 447"/>
          <p:cNvSpPr txBox="1"/>
          <p:nvPr/>
        </p:nvSpPr>
        <p:spPr>
          <a:xfrm>
            <a:off x="4599360" y="2571480"/>
            <a:ext cx="1447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fórmula, no factor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CuadroTexto 448"/>
          <p:cNvSpPr txBox="1"/>
          <p:nvPr/>
        </p:nvSpPr>
        <p:spPr>
          <a:xfrm>
            <a:off x="799920" y="2980800"/>
            <a:ext cx="822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Colesterol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CuadroTexto 449"/>
          <p:cNvSpPr txBox="1"/>
          <p:nvPr/>
        </p:nvSpPr>
        <p:spPr>
          <a:xfrm>
            <a:off x="1875960" y="2980800"/>
            <a:ext cx="540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mg/dL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CuadroTexto 450"/>
          <p:cNvSpPr txBox="1"/>
          <p:nvPr/>
        </p:nvSpPr>
        <p:spPr>
          <a:xfrm>
            <a:off x="2962800" y="2980800"/>
            <a:ext cx="624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mmol/L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CuadroTexto 451"/>
          <p:cNvSpPr txBox="1"/>
          <p:nvPr/>
        </p:nvSpPr>
        <p:spPr>
          <a:xfrm>
            <a:off x="4599360" y="2980800"/>
            <a:ext cx="538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÷ 38.7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CuadroTexto 452"/>
          <p:cNvSpPr txBox="1"/>
          <p:nvPr/>
        </p:nvSpPr>
        <p:spPr>
          <a:xfrm>
            <a:off x="866880" y="3642120"/>
            <a:ext cx="4149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Nunca promedies sin mirar la unidad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CuadroTexto 453"/>
          <p:cNvSpPr txBox="1"/>
          <p:nvPr/>
        </p:nvSpPr>
        <p:spPr>
          <a:xfrm>
            <a:off x="866880" y="3908880"/>
            <a:ext cx="5896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unit_concept_id,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count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*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),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avg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(value_as_number)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CuadroTexto 454"/>
          <p:cNvSpPr txBox="1"/>
          <p:nvPr/>
        </p:nvSpPr>
        <p:spPr>
          <a:xfrm>
            <a:off x="866880" y="4165920"/>
            <a:ext cx="6223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measurement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measurement_concept_id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3004410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CuadroTexto 455"/>
          <p:cNvSpPr txBox="1"/>
          <p:nvPr/>
        </p:nvSpPr>
        <p:spPr>
          <a:xfrm>
            <a:off x="866880" y="4432680"/>
            <a:ext cx="2730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GROUP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unit_concept_id;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CuadroTexto 456"/>
          <p:cNvSpPr txBox="1"/>
          <p:nvPr/>
        </p:nvSpPr>
        <p:spPr>
          <a:xfrm>
            <a:off x="885960" y="5145120"/>
            <a:ext cx="10357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glucosa de 5.5 puede ser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normal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(mmol/L) o incompatible con la vida (mg/dL). Promediar ambas 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CuadroTexto 457"/>
          <p:cNvSpPr txBox="1"/>
          <p:nvPr/>
        </p:nvSpPr>
        <p:spPr>
          <a:xfrm>
            <a:off x="885960" y="5487840"/>
            <a:ext cx="3562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número que no describe a nadie.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CuadroTexto 46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CuadroTexto 46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CuadroTexto 46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Forma libre 4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Forma libre 46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Forma libre 46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Forma libre 467"/>
          <p:cNvSpPr/>
          <p:nvPr/>
        </p:nvSpPr>
        <p:spPr>
          <a:xfrm>
            <a:off x="671400" y="214776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6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6"/>
                </a:lnTo>
                <a:cubicBezTo>
                  <a:pt x="30137" y="2169"/>
                  <a:pt x="30136" y="2182"/>
                  <a:pt x="30133" y="2195"/>
                </a:cubicBezTo>
                <a:cubicBezTo>
                  <a:pt x="30130" y="2208"/>
                  <a:pt x="30127" y="2220"/>
                  <a:pt x="30122" y="2232"/>
                </a:cubicBezTo>
                <a:cubicBezTo>
                  <a:pt x="30117" y="2244"/>
                  <a:pt x="30111" y="2256"/>
                  <a:pt x="30103" y="2266"/>
                </a:cubicBezTo>
                <a:cubicBezTo>
                  <a:pt x="30096" y="2278"/>
                  <a:pt x="30088" y="2288"/>
                  <a:pt x="30079" y="2298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6"/>
                  <a:pt x="30014" y="2341"/>
                </a:cubicBezTo>
                <a:cubicBezTo>
                  <a:pt x="30002" y="2346"/>
                  <a:pt x="29990" y="2349"/>
                  <a:pt x="29977" y="2352"/>
                </a:cubicBezTo>
                <a:cubicBezTo>
                  <a:pt x="29964" y="2354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4"/>
                  <a:pt x="160" y="2352"/>
                </a:cubicBezTo>
                <a:cubicBezTo>
                  <a:pt x="147" y="2349"/>
                  <a:pt x="134" y="2346"/>
                  <a:pt x="122" y="2341"/>
                </a:cubicBezTo>
                <a:cubicBezTo>
                  <a:pt x="110" y="2336"/>
                  <a:pt x="99" y="2329"/>
                  <a:pt x="88" y="2322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8"/>
                  <a:pt x="40" y="2278"/>
                  <a:pt x="33" y="2266"/>
                </a:cubicBezTo>
                <a:cubicBezTo>
                  <a:pt x="26" y="2256"/>
                  <a:pt x="20" y="2244"/>
                  <a:pt x="15" y="2232"/>
                </a:cubicBezTo>
                <a:cubicBezTo>
                  <a:pt x="10" y="2220"/>
                  <a:pt x="6" y="2208"/>
                  <a:pt x="4" y="2195"/>
                </a:cubicBezTo>
                <a:cubicBezTo>
                  <a:pt x="1" y="2182"/>
                  <a:pt x="0" y="2169"/>
                  <a:pt x="0" y="2156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Forma libre 468"/>
          <p:cNvSpPr/>
          <p:nvPr/>
        </p:nvSpPr>
        <p:spPr>
          <a:xfrm>
            <a:off x="671400" y="214776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6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6"/>
                </a:lnTo>
                <a:cubicBezTo>
                  <a:pt x="30137" y="2169"/>
                  <a:pt x="30136" y="2182"/>
                  <a:pt x="30133" y="2195"/>
                </a:cubicBezTo>
                <a:cubicBezTo>
                  <a:pt x="30130" y="2208"/>
                  <a:pt x="30127" y="2220"/>
                  <a:pt x="30122" y="2232"/>
                </a:cubicBezTo>
                <a:cubicBezTo>
                  <a:pt x="30117" y="2244"/>
                  <a:pt x="30111" y="2256"/>
                  <a:pt x="30103" y="2266"/>
                </a:cubicBezTo>
                <a:cubicBezTo>
                  <a:pt x="30096" y="2278"/>
                  <a:pt x="30088" y="2288"/>
                  <a:pt x="30079" y="2298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6"/>
                  <a:pt x="30014" y="2341"/>
                </a:cubicBezTo>
                <a:cubicBezTo>
                  <a:pt x="30002" y="2346"/>
                  <a:pt x="29990" y="2349"/>
                  <a:pt x="29977" y="2352"/>
                </a:cubicBezTo>
                <a:cubicBezTo>
                  <a:pt x="29964" y="2354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4"/>
                  <a:pt x="160" y="2352"/>
                </a:cubicBezTo>
                <a:cubicBezTo>
                  <a:pt x="147" y="2349"/>
                  <a:pt x="134" y="2346"/>
                  <a:pt x="122" y="2341"/>
                </a:cubicBezTo>
                <a:cubicBezTo>
                  <a:pt x="110" y="2336"/>
                  <a:pt x="99" y="2329"/>
                  <a:pt x="88" y="2322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8"/>
                  <a:pt x="40" y="2278"/>
                  <a:pt x="33" y="2266"/>
                </a:cubicBezTo>
                <a:cubicBezTo>
                  <a:pt x="26" y="2256"/>
                  <a:pt x="20" y="2244"/>
                  <a:pt x="15" y="2232"/>
                </a:cubicBezTo>
                <a:cubicBezTo>
                  <a:pt x="10" y="2220"/>
                  <a:pt x="6" y="2208"/>
                  <a:pt x="4" y="2195"/>
                </a:cubicBezTo>
                <a:cubicBezTo>
                  <a:pt x="1" y="2182"/>
                  <a:pt x="0" y="2169"/>
                  <a:pt x="0" y="215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Forma libre 469"/>
          <p:cNvSpPr/>
          <p:nvPr/>
        </p:nvSpPr>
        <p:spPr>
          <a:xfrm>
            <a:off x="666720" y="479088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Forma libre 470"/>
          <p:cNvSpPr/>
          <p:nvPr/>
        </p:nvSpPr>
        <p:spPr>
          <a:xfrm>
            <a:off x="666720" y="479088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CuadroTexto 471"/>
          <p:cNvSpPr txBox="1"/>
          <p:nvPr/>
        </p:nvSpPr>
        <p:spPr>
          <a:xfrm>
            <a:off x="666720" y="1510920"/>
            <a:ext cx="53452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Valores implausibles: filtrar sin inventar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CuadroTexto 472"/>
          <p:cNvSpPr txBox="1"/>
          <p:nvPr/>
        </p:nvSpPr>
        <p:spPr>
          <a:xfrm>
            <a:off x="866880" y="2327760"/>
            <a:ext cx="5350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¿Qué rango es "posible"? No lo decides tú solo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Forma libre 473"/>
          <p:cNvSpPr/>
          <p:nvPr/>
        </p:nvSpPr>
        <p:spPr>
          <a:xfrm>
            <a:off x="914040" y="33051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3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CuadroTexto 474"/>
          <p:cNvSpPr txBox="1"/>
          <p:nvPr/>
        </p:nvSpPr>
        <p:spPr>
          <a:xfrm>
            <a:off x="866880" y="2594160"/>
            <a:ext cx="6005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value_as_number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BETWEEN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3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HbA1c en %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Forma libre 475"/>
          <p:cNvSpPr/>
          <p:nvPr/>
        </p:nvSpPr>
        <p:spPr>
          <a:xfrm>
            <a:off x="914040" y="37051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CuadroTexto 476"/>
          <p:cNvSpPr txBox="1"/>
          <p:nvPr/>
        </p:nvSpPr>
        <p:spPr>
          <a:xfrm>
            <a:off x="1123920" y="3192480"/>
            <a:ext cx="5077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rangos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son opinión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se citan de una fuente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Forma libre 477"/>
          <p:cNvSpPr/>
          <p:nvPr/>
        </p:nvSpPr>
        <p:spPr>
          <a:xfrm>
            <a:off x="914040" y="41050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CuadroTexto 478"/>
          <p:cNvSpPr txBox="1"/>
          <p:nvPr/>
        </p:nvSpPr>
        <p:spPr>
          <a:xfrm>
            <a:off x="1123920" y="3592440"/>
            <a:ext cx="10356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Distingue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implausible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(HbA1c de 0 o de 200)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extremo pero real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(HbA1c de 16 en una cetoacidosis)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CuadroTexto 479"/>
          <p:cNvSpPr txBox="1"/>
          <p:nvPr/>
        </p:nvSpPr>
        <p:spPr>
          <a:xfrm>
            <a:off x="1123920" y="3992400"/>
            <a:ext cx="10148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Y distingue ambos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valor centinela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(sesión 3): si el mismo valor imposible se repite exactamente, 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CuadroTexto 480"/>
          <p:cNvSpPr txBox="1"/>
          <p:nvPr/>
        </p:nvSpPr>
        <p:spPr>
          <a:xfrm>
            <a:off x="1123920" y="4335480"/>
            <a:ext cx="2766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convención, no un error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CuadroTexto 481"/>
          <p:cNvSpPr txBox="1"/>
          <p:nvPr/>
        </p:nvSpPr>
        <p:spPr>
          <a:xfrm>
            <a:off x="905040" y="4944960"/>
            <a:ext cx="10306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Documenta el criterio y cuenta cuántos excluiste. Un ﬁltro sin número reportado es una decisión invisible.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CuadroTexto 48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CuadroTexto 48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CuadroTexto 48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Forma libre 48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Forma libre 48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Forma libre 48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CuadroTexto 488"/>
          <p:cNvSpPr txBox="1"/>
          <p:nvPr/>
        </p:nvSpPr>
        <p:spPr>
          <a:xfrm>
            <a:off x="3250440" y="3063960"/>
            <a:ext cx="58399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Otras tablas relevantes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CuadroTexto 48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CuadroTexto 49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CuadroTexto 49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Forma libre 4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Forma libre 4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Forma libre 4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Forma libre 495"/>
          <p:cNvSpPr/>
          <p:nvPr/>
        </p:nvSpPr>
        <p:spPr>
          <a:xfrm>
            <a:off x="676080" y="1581120"/>
            <a:ext cx="2314800" cy="409680"/>
          </a:xfrm>
          <a:custGeom>
            <a:avLst/>
            <a:gdLst/>
            <a:ahLst/>
            <a:cxnLst/>
            <a:rect l="0" t="0" r="r" b="b"/>
            <a:pathLst>
              <a:path w="6430" h="1138">
                <a:moveTo>
                  <a:pt x="0" y="0"/>
                </a:moveTo>
                <a:lnTo>
                  <a:pt x="6430" y="0"/>
                </a:lnTo>
                <a:lnTo>
                  <a:pt x="643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Forma libre 496"/>
          <p:cNvSpPr/>
          <p:nvPr/>
        </p:nvSpPr>
        <p:spPr>
          <a:xfrm>
            <a:off x="2990520" y="1581120"/>
            <a:ext cx="4810680" cy="409680"/>
          </a:xfrm>
          <a:custGeom>
            <a:avLst/>
            <a:gdLst/>
            <a:ahLst/>
            <a:cxnLst/>
            <a:rect l="0" t="0" r="r" b="b"/>
            <a:pathLst>
              <a:path w="13363" h="1138">
                <a:moveTo>
                  <a:pt x="0" y="0"/>
                </a:moveTo>
                <a:lnTo>
                  <a:pt x="13363" y="0"/>
                </a:lnTo>
                <a:lnTo>
                  <a:pt x="1336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Forma libre 497"/>
          <p:cNvSpPr/>
          <p:nvPr/>
        </p:nvSpPr>
        <p:spPr>
          <a:xfrm>
            <a:off x="676080" y="1581120"/>
            <a:ext cx="2314800" cy="409680"/>
          </a:xfrm>
          <a:custGeom>
            <a:avLst/>
            <a:gdLst/>
            <a:ahLst/>
            <a:cxnLst/>
            <a:rect l="0" t="0" r="r" b="b"/>
            <a:pathLst>
              <a:path w="6430" h="1138">
                <a:moveTo>
                  <a:pt x="0" y="0"/>
                </a:moveTo>
                <a:lnTo>
                  <a:pt x="6430" y="0"/>
                </a:lnTo>
                <a:lnTo>
                  <a:pt x="643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Forma libre 498"/>
          <p:cNvSpPr/>
          <p:nvPr/>
        </p:nvSpPr>
        <p:spPr>
          <a:xfrm>
            <a:off x="2990520" y="1581120"/>
            <a:ext cx="4810680" cy="409680"/>
          </a:xfrm>
          <a:custGeom>
            <a:avLst/>
            <a:gdLst/>
            <a:ahLst/>
            <a:cxnLst/>
            <a:rect l="0" t="0" r="r" b="b"/>
            <a:pathLst>
              <a:path w="13363" h="1138">
                <a:moveTo>
                  <a:pt x="0" y="0"/>
                </a:moveTo>
                <a:lnTo>
                  <a:pt x="13363" y="0"/>
                </a:lnTo>
                <a:lnTo>
                  <a:pt x="1336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Forma libre 499"/>
          <p:cNvSpPr/>
          <p:nvPr/>
        </p:nvSpPr>
        <p:spPr>
          <a:xfrm>
            <a:off x="676080" y="1990440"/>
            <a:ext cx="2314800" cy="410040"/>
          </a:xfrm>
          <a:custGeom>
            <a:avLst/>
            <a:gdLst/>
            <a:ahLst/>
            <a:cxnLst/>
            <a:rect l="0" t="0" r="r" b="b"/>
            <a:pathLst>
              <a:path w="6430" h="1139">
                <a:moveTo>
                  <a:pt x="0" y="0"/>
                </a:moveTo>
                <a:lnTo>
                  <a:pt x="6430" y="0"/>
                </a:lnTo>
                <a:lnTo>
                  <a:pt x="64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Forma libre 500"/>
          <p:cNvSpPr/>
          <p:nvPr/>
        </p:nvSpPr>
        <p:spPr>
          <a:xfrm>
            <a:off x="2990520" y="1990440"/>
            <a:ext cx="4810680" cy="410040"/>
          </a:xfrm>
          <a:custGeom>
            <a:avLst/>
            <a:gdLst/>
            <a:ahLst/>
            <a:cxnLst/>
            <a:rect l="0" t="0" r="r" b="b"/>
            <a:pathLst>
              <a:path w="13363" h="1139">
                <a:moveTo>
                  <a:pt x="0" y="0"/>
                </a:moveTo>
                <a:lnTo>
                  <a:pt x="13363" y="0"/>
                </a:lnTo>
                <a:lnTo>
                  <a:pt x="1336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Forma libre 501"/>
          <p:cNvSpPr/>
          <p:nvPr/>
        </p:nvSpPr>
        <p:spPr>
          <a:xfrm>
            <a:off x="676080" y="2400120"/>
            <a:ext cx="2314800" cy="410040"/>
          </a:xfrm>
          <a:custGeom>
            <a:avLst/>
            <a:gdLst/>
            <a:ahLst/>
            <a:cxnLst/>
            <a:rect l="0" t="0" r="r" b="b"/>
            <a:pathLst>
              <a:path w="6430" h="1139">
                <a:moveTo>
                  <a:pt x="0" y="0"/>
                </a:moveTo>
                <a:lnTo>
                  <a:pt x="6430" y="0"/>
                </a:lnTo>
                <a:lnTo>
                  <a:pt x="64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Forma libre 502"/>
          <p:cNvSpPr/>
          <p:nvPr/>
        </p:nvSpPr>
        <p:spPr>
          <a:xfrm>
            <a:off x="2990520" y="2400120"/>
            <a:ext cx="4810680" cy="410040"/>
          </a:xfrm>
          <a:custGeom>
            <a:avLst/>
            <a:gdLst/>
            <a:ahLst/>
            <a:cxnLst/>
            <a:rect l="0" t="0" r="r" b="b"/>
            <a:pathLst>
              <a:path w="13363" h="1139">
                <a:moveTo>
                  <a:pt x="0" y="0"/>
                </a:moveTo>
                <a:lnTo>
                  <a:pt x="13363" y="0"/>
                </a:lnTo>
                <a:lnTo>
                  <a:pt x="1336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Forma libre 503"/>
          <p:cNvSpPr/>
          <p:nvPr/>
        </p:nvSpPr>
        <p:spPr>
          <a:xfrm>
            <a:off x="676080" y="2809800"/>
            <a:ext cx="2314800" cy="419400"/>
          </a:xfrm>
          <a:custGeom>
            <a:avLst/>
            <a:gdLst/>
            <a:ahLst/>
            <a:cxnLst/>
            <a:rect l="0" t="0" r="r" b="b"/>
            <a:pathLst>
              <a:path w="6430" h="1165">
                <a:moveTo>
                  <a:pt x="0" y="0"/>
                </a:moveTo>
                <a:lnTo>
                  <a:pt x="6430" y="0"/>
                </a:lnTo>
                <a:lnTo>
                  <a:pt x="643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Forma libre 504"/>
          <p:cNvSpPr/>
          <p:nvPr/>
        </p:nvSpPr>
        <p:spPr>
          <a:xfrm>
            <a:off x="2990520" y="2809800"/>
            <a:ext cx="4810680" cy="419400"/>
          </a:xfrm>
          <a:custGeom>
            <a:avLst/>
            <a:gdLst/>
            <a:ahLst/>
            <a:cxnLst/>
            <a:rect l="0" t="0" r="r" b="b"/>
            <a:pathLst>
              <a:path w="13363" h="1165">
                <a:moveTo>
                  <a:pt x="0" y="0"/>
                </a:moveTo>
                <a:lnTo>
                  <a:pt x="13363" y="0"/>
                </a:lnTo>
                <a:lnTo>
                  <a:pt x="1336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Forma libre 505"/>
          <p:cNvSpPr/>
          <p:nvPr/>
        </p:nvSpPr>
        <p:spPr>
          <a:xfrm>
            <a:off x="676080" y="3228840"/>
            <a:ext cx="2314800" cy="410040"/>
          </a:xfrm>
          <a:custGeom>
            <a:avLst/>
            <a:gdLst/>
            <a:ahLst/>
            <a:cxnLst/>
            <a:rect l="0" t="0" r="r" b="b"/>
            <a:pathLst>
              <a:path w="6430" h="1139">
                <a:moveTo>
                  <a:pt x="0" y="0"/>
                </a:moveTo>
                <a:lnTo>
                  <a:pt x="6430" y="0"/>
                </a:lnTo>
                <a:lnTo>
                  <a:pt x="64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Forma libre 506"/>
          <p:cNvSpPr/>
          <p:nvPr/>
        </p:nvSpPr>
        <p:spPr>
          <a:xfrm>
            <a:off x="2990520" y="3228840"/>
            <a:ext cx="4810680" cy="410040"/>
          </a:xfrm>
          <a:custGeom>
            <a:avLst/>
            <a:gdLst/>
            <a:ahLst/>
            <a:cxnLst/>
            <a:rect l="0" t="0" r="r" b="b"/>
            <a:pathLst>
              <a:path w="13363" h="1139">
                <a:moveTo>
                  <a:pt x="0" y="0"/>
                </a:moveTo>
                <a:lnTo>
                  <a:pt x="13363" y="0"/>
                </a:lnTo>
                <a:lnTo>
                  <a:pt x="1336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Forma libre 507"/>
          <p:cNvSpPr/>
          <p:nvPr/>
        </p:nvSpPr>
        <p:spPr>
          <a:xfrm>
            <a:off x="676080" y="3638520"/>
            <a:ext cx="2314800" cy="409680"/>
          </a:xfrm>
          <a:custGeom>
            <a:avLst/>
            <a:gdLst/>
            <a:ahLst/>
            <a:cxnLst/>
            <a:rect l="0" t="0" r="r" b="b"/>
            <a:pathLst>
              <a:path w="6430" h="1138">
                <a:moveTo>
                  <a:pt x="0" y="0"/>
                </a:moveTo>
                <a:lnTo>
                  <a:pt x="6430" y="0"/>
                </a:lnTo>
                <a:lnTo>
                  <a:pt x="643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Forma libre 508"/>
          <p:cNvSpPr/>
          <p:nvPr/>
        </p:nvSpPr>
        <p:spPr>
          <a:xfrm>
            <a:off x="2990520" y="3638520"/>
            <a:ext cx="4810680" cy="409680"/>
          </a:xfrm>
          <a:custGeom>
            <a:avLst/>
            <a:gdLst/>
            <a:ahLst/>
            <a:cxnLst/>
            <a:rect l="0" t="0" r="r" b="b"/>
            <a:pathLst>
              <a:path w="13363" h="1138">
                <a:moveTo>
                  <a:pt x="0" y="0"/>
                </a:moveTo>
                <a:lnTo>
                  <a:pt x="13363" y="0"/>
                </a:lnTo>
                <a:lnTo>
                  <a:pt x="1336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Forma libre 509"/>
          <p:cNvSpPr/>
          <p:nvPr/>
        </p:nvSpPr>
        <p:spPr>
          <a:xfrm>
            <a:off x="676080" y="4047840"/>
            <a:ext cx="2314800" cy="410040"/>
          </a:xfrm>
          <a:custGeom>
            <a:avLst/>
            <a:gdLst/>
            <a:ahLst/>
            <a:cxnLst/>
            <a:rect l="0" t="0" r="r" b="b"/>
            <a:pathLst>
              <a:path w="6430" h="1139">
                <a:moveTo>
                  <a:pt x="0" y="0"/>
                </a:moveTo>
                <a:lnTo>
                  <a:pt x="6430" y="0"/>
                </a:lnTo>
                <a:lnTo>
                  <a:pt x="64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Forma libre 510"/>
          <p:cNvSpPr/>
          <p:nvPr/>
        </p:nvSpPr>
        <p:spPr>
          <a:xfrm>
            <a:off x="2990520" y="4047840"/>
            <a:ext cx="4810680" cy="410040"/>
          </a:xfrm>
          <a:custGeom>
            <a:avLst/>
            <a:gdLst/>
            <a:ahLst/>
            <a:cxnLst/>
            <a:rect l="0" t="0" r="r" b="b"/>
            <a:pathLst>
              <a:path w="13363" h="1139">
                <a:moveTo>
                  <a:pt x="0" y="0"/>
                </a:moveTo>
                <a:lnTo>
                  <a:pt x="13363" y="0"/>
                </a:lnTo>
                <a:lnTo>
                  <a:pt x="1336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Forma libre 511"/>
          <p:cNvSpPr/>
          <p:nvPr/>
        </p:nvSpPr>
        <p:spPr>
          <a:xfrm>
            <a:off x="676080" y="4457520"/>
            <a:ext cx="2314800" cy="410040"/>
          </a:xfrm>
          <a:custGeom>
            <a:avLst/>
            <a:gdLst/>
            <a:ahLst/>
            <a:cxnLst/>
            <a:rect l="0" t="0" r="r" b="b"/>
            <a:pathLst>
              <a:path w="6430" h="1139">
                <a:moveTo>
                  <a:pt x="0" y="0"/>
                </a:moveTo>
                <a:lnTo>
                  <a:pt x="6430" y="0"/>
                </a:lnTo>
                <a:lnTo>
                  <a:pt x="64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Forma libre 512"/>
          <p:cNvSpPr/>
          <p:nvPr/>
        </p:nvSpPr>
        <p:spPr>
          <a:xfrm>
            <a:off x="2990520" y="4457520"/>
            <a:ext cx="4810680" cy="410040"/>
          </a:xfrm>
          <a:custGeom>
            <a:avLst/>
            <a:gdLst/>
            <a:ahLst/>
            <a:cxnLst/>
            <a:rect l="0" t="0" r="r" b="b"/>
            <a:pathLst>
              <a:path w="13363" h="1139">
                <a:moveTo>
                  <a:pt x="0" y="0"/>
                </a:moveTo>
                <a:lnTo>
                  <a:pt x="13363" y="0"/>
                </a:lnTo>
                <a:lnTo>
                  <a:pt x="1336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Forma libre 513"/>
          <p:cNvSpPr/>
          <p:nvPr/>
        </p:nvSpPr>
        <p:spPr>
          <a:xfrm>
            <a:off x="666720" y="1571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Forma libre 514"/>
          <p:cNvSpPr/>
          <p:nvPr/>
        </p:nvSpPr>
        <p:spPr>
          <a:xfrm>
            <a:off x="666720" y="1571400"/>
            <a:ext cx="2333880" cy="10080"/>
          </a:xfrm>
          <a:custGeom>
            <a:avLst/>
            <a:gdLst/>
            <a:ahLst/>
            <a:cxnLst/>
            <a:rect l="0" t="0" r="r" b="b"/>
            <a:pathLst>
              <a:path w="6483" h="28">
                <a:moveTo>
                  <a:pt x="0" y="0"/>
                </a:moveTo>
                <a:lnTo>
                  <a:pt x="6483" y="0"/>
                </a:lnTo>
                <a:lnTo>
                  <a:pt x="6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Forma libre 515"/>
          <p:cNvSpPr/>
          <p:nvPr/>
        </p:nvSpPr>
        <p:spPr>
          <a:xfrm>
            <a:off x="2990520" y="15714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Forma libre 516"/>
          <p:cNvSpPr/>
          <p:nvPr/>
        </p:nvSpPr>
        <p:spPr>
          <a:xfrm>
            <a:off x="3000240" y="1571400"/>
            <a:ext cx="4810320" cy="10080"/>
          </a:xfrm>
          <a:custGeom>
            <a:avLst/>
            <a:gdLst/>
            <a:ahLst/>
            <a:cxnLst/>
            <a:rect l="0" t="0" r="r" b="b"/>
            <a:pathLst>
              <a:path w="13362" h="28">
                <a:moveTo>
                  <a:pt x="0" y="0"/>
                </a:moveTo>
                <a:lnTo>
                  <a:pt x="13362" y="0"/>
                </a:lnTo>
                <a:lnTo>
                  <a:pt x="133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Forma libre 517"/>
          <p:cNvSpPr/>
          <p:nvPr/>
        </p:nvSpPr>
        <p:spPr>
          <a:xfrm>
            <a:off x="7800840" y="1571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Forma libre 518"/>
          <p:cNvSpPr/>
          <p:nvPr/>
        </p:nvSpPr>
        <p:spPr>
          <a:xfrm>
            <a:off x="666720" y="1981080"/>
            <a:ext cx="2333880" cy="9720"/>
          </a:xfrm>
          <a:custGeom>
            <a:avLst/>
            <a:gdLst/>
            <a:ahLst/>
            <a:cxnLst/>
            <a:rect l="0" t="0" r="r" b="b"/>
            <a:pathLst>
              <a:path w="6483" h="27">
                <a:moveTo>
                  <a:pt x="0" y="0"/>
                </a:moveTo>
                <a:lnTo>
                  <a:pt x="6483" y="0"/>
                </a:lnTo>
                <a:lnTo>
                  <a:pt x="6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Forma libre 519"/>
          <p:cNvSpPr/>
          <p:nvPr/>
        </p:nvSpPr>
        <p:spPr>
          <a:xfrm>
            <a:off x="3000240" y="1981080"/>
            <a:ext cx="4810320" cy="9720"/>
          </a:xfrm>
          <a:custGeom>
            <a:avLst/>
            <a:gdLst/>
            <a:ahLst/>
            <a:cxnLst/>
            <a:rect l="0" t="0" r="r" b="b"/>
            <a:pathLst>
              <a:path w="13362" h="27">
                <a:moveTo>
                  <a:pt x="0" y="0"/>
                </a:moveTo>
                <a:lnTo>
                  <a:pt x="13362" y="0"/>
                </a:lnTo>
                <a:lnTo>
                  <a:pt x="133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Forma libre 520"/>
          <p:cNvSpPr/>
          <p:nvPr/>
        </p:nvSpPr>
        <p:spPr>
          <a:xfrm>
            <a:off x="666720" y="19904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Forma libre 521"/>
          <p:cNvSpPr/>
          <p:nvPr/>
        </p:nvSpPr>
        <p:spPr>
          <a:xfrm>
            <a:off x="2990520" y="199044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Forma libre 522"/>
          <p:cNvSpPr/>
          <p:nvPr/>
        </p:nvSpPr>
        <p:spPr>
          <a:xfrm>
            <a:off x="7800840" y="19904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Forma libre 523"/>
          <p:cNvSpPr/>
          <p:nvPr/>
        </p:nvSpPr>
        <p:spPr>
          <a:xfrm>
            <a:off x="666720" y="24001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Forma libre 524"/>
          <p:cNvSpPr/>
          <p:nvPr/>
        </p:nvSpPr>
        <p:spPr>
          <a:xfrm>
            <a:off x="666720" y="2390760"/>
            <a:ext cx="2333880" cy="9720"/>
          </a:xfrm>
          <a:custGeom>
            <a:avLst/>
            <a:gdLst/>
            <a:ahLst/>
            <a:cxnLst/>
            <a:rect l="0" t="0" r="r" b="b"/>
            <a:pathLst>
              <a:path w="6483" h="27">
                <a:moveTo>
                  <a:pt x="0" y="0"/>
                </a:moveTo>
                <a:lnTo>
                  <a:pt x="6483" y="0"/>
                </a:lnTo>
                <a:lnTo>
                  <a:pt x="6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Forma libre 525"/>
          <p:cNvSpPr/>
          <p:nvPr/>
        </p:nvSpPr>
        <p:spPr>
          <a:xfrm>
            <a:off x="2990520" y="24001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Forma libre 526"/>
          <p:cNvSpPr/>
          <p:nvPr/>
        </p:nvSpPr>
        <p:spPr>
          <a:xfrm>
            <a:off x="3000240" y="2390760"/>
            <a:ext cx="4810320" cy="9720"/>
          </a:xfrm>
          <a:custGeom>
            <a:avLst/>
            <a:gdLst/>
            <a:ahLst/>
            <a:cxnLst/>
            <a:rect l="0" t="0" r="r" b="b"/>
            <a:pathLst>
              <a:path w="13362" h="27">
                <a:moveTo>
                  <a:pt x="0" y="0"/>
                </a:moveTo>
                <a:lnTo>
                  <a:pt x="13362" y="0"/>
                </a:lnTo>
                <a:lnTo>
                  <a:pt x="133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Forma libre 527"/>
          <p:cNvSpPr/>
          <p:nvPr/>
        </p:nvSpPr>
        <p:spPr>
          <a:xfrm>
            <a:off x="7800840" y="24001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Forma libre 528"/>
          <p:cNvSpPr/>
          <p:nvPr/>
        </p:nvSpPr>
        <p:spPr>
          <a:xfrm>
            <a:off x="666720" y="28098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Forma libre 529"/>
          <p:cNvSpPr/>
          <p:nvPr/>
        </p:nvSpPr>
        <p:spPr>
          <a:xfrm>
            <a:off x="666720" y="2800080"/>
            <a:ext cx="2333880" cy="10080"/>
          </a:xfrm>
          <a:custGeom>
            <a:avLst/>
            <a:gdLst/>
            <a:ahLst/>
            <a:cxnLst/>
            <a:rect l="0" t="0" r="r" b="b"/>
            <a:pathLst>
              <a:path w="6483" h="28">
                <a:moveTo>
                  <a:pt x="0" y="0"/>
                </a:moveTo>
                <a:lnTo>
                  <a:pt x="6483" y="0"/>
                </a:lnTo>
                <a:lnTo>
                  <a:pt x="6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Forma libre 530"/>
          <p:cNvSpPr/>
          <p:nvPr/>
        </p:nvSpPr>
        <p:spPr>
          <a:xfrm>
            <a:off x="2990520" y="28098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Forma libre 531"/>
          <p:cNvSpPr/>
          <p:nvPr/>
        </p:nvSpPr>
        <p:spPr>
          <a:xfrm>
            <a:off x="3000240" y="2800080"/>
            <a:ext cx="4810320" cy="10080"/>
          </a:xfrm>
          <a:custGeom>
            <a:avLst/>
            <a:gdLst/>
            <a:ahLst/>
            <a:cxnLst/>
            <a:rect l="0" t="0" r="r" b="b"/>
            <a:pathLst>
              <a:path w="13362" h="28">
                <a:moveTo>
                  <a:pt x="0" y="0"/>
                </a:moveTo>
                <a:lnTo>
                  <a:pt x="13362" y="0"/>
                </a:lnTo>
                <a:lnTo>
                  <a:pt x="133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Forma libre 532"/>
          <p:cNvSpPr/>
          <p:nvPr/>
        </p:nvSpPr>
        <p:spPr>
          <a:xfrm>
            <a:off x="7800840" y="28098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Forma libre 533"/>
          <p:cNvSpPr/>
          <p:nvPr/>
        </p:nvSpPr>
        <p:spPr>
          <a:xfrm>
            <a:off x="666720" y="32288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Forma libre 534"/>
          <p:cNvSpPr/>
          <p:nvPr/>
        </p:nvSpPr>
        <p:spPr>
          <a:xfrm>
            <a:off x="666720" y="3219120"/>
            <a:ext cx="2333880" cy="10080"/>
          </a:xfrm>
          <a:custGeom>
            <a:avLst/>
            <a:gdLst/>
            <a:ahLst/>
            <a:cxnLst/>
            <a:rect l="0" t="0" r="r" b="b"/>
            <a:pathLst>
              <a:path w="6483" h="28">
                <a:moveTo>
                  <a:pt x="0" y="0"/>
                </a:moveTo>
                <a:lnTo>
                  <a:pt x="6483" y="0"/>
                </a:lnTo>
                <a:lnTo>
                  <a:pt x="6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Forma libre 535"/>
          <p:cNvSpPr/>
          <p:nvPr/>
        </p:nvSpPr>
        <p:spPr>
          <a:xfrm>
            <a:off x="2990520" y="322884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Forma libre 536"/>
          <p:cNvSpPr/>
          <p:nvPr/>
        </p:nvSpPr>
        <p:spPr>
          <a:xfrm>
            <a:off x="3000240" y="3219120"/>
            <a:ext cx="4810320" cy="10080"/>
          </a:xfrm>
          <a:custGeom>
            <a:avLst/>
            <a:gdLst/>
            <a:ahLst/>
            <a:cxnLst/>
            <a:rect l="0" t="0" r="r" b="b"/>
            <a:pathLst>
              <a:path w="13362" h="28">
                <a:moveTo>
                  <a:pt x="0" y="0"/>
                </a:moveTo>
                <a:lnTo>
                  <a:pt x="13362" y="0"/>
                </a:lnTo>
                <a:lnTo>
                  <a:pt x="133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Forma libre 537"/>
          <p:cNvSpPr/>
          <p:nvPr/>
        </p:nvSpPr>
        <p:spPr>
          <a:xfrm>
            <a:off x="7800840" y="32288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Forma libre 538"/>
          <p:cNvSpPr/>
          <p:nvPr/>
        </p:nvSpPr>
        <p:spPr>
          <a:xfrm>
            <a:off x="666720" y="36385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Forma libre 539"/>
          <p:cNvSpPr/>
          <p:nvPr/>
        </p:nvSpPr>
        <p:spPr>
          <a:xfrm>
            <a:off x="666720" y="3628800"/>
            <a:ext cx="2333880" cy="10080"/>
          </a:xfrm>
          <a:custGeom>
            <a:avLst/>
            <a:gdLst/>
            <a:ahLst/>
            <a:cxnLst/>
            <a:rect l="0" t="0" r="r" b="b"/>
            <a:pathLst>
              <a:path w="6483" h="28">
                <a:moveTo>
                  <a:pt x="0" y="0"/>
                </a:moveTo>
                <a:lnTo>
                  <a:pt x="6483" y="0"/>
                </a:lnTo>
                <a:lnTo>
                  <a:pt x="6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Forma libre 540"/>
          <p:cNvSpPr/>
          <p:nvPr/>
        </p:nvSpPr>
        <p:spPr>
          <a:xfrm>
            <a:off x="2990520" y="363852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Forma libre 541"/>
          <p:cNvSpPr/>
          <p:nvPr/>
        </p:nvSpPr>
        <p:spPr>
          <a:xfrm>
            <a:off x="3000240" y="3628800"/>
            <a:ext cx="4810320" cy="10080"/>
          </a:xfrm>
          <a:custGeom>
            <a:avLst/>
            <a:gdLst/>
            <a:ahLst/>
            <a:cxnLst/>
            <a:rect l="0" t="0" r="r" b="b"/>
            <a:pathLst>
              <a:path w="13362" h="28">
                <a:moveTo>
                  <a:pt x="0" y="0"/>
                </a:moveTo>
                <a:lnTo>
                  <a:pt x="13362" y="0"/>
                </a:lnTo>
                <a:lnTo>
                  <a:pt x="133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Forma libre 542"/>
          <p:cNvSpPr/>
          <p:nvPr/>
        </p:nvSpPr>
        <p:spPr>
          <a:xfrm>
            <a:off x="7800840" y="36385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Forma libre 543"/>
          <p:cNvSpPr/>
          <p:nvPr/>
        </p:nvSpPr>
        <p:spPr>
          <a:xfrm>
            <a:off x="666720" y="40478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Forma libre 544"/>
          <p:cNvSpPr/>
          <p:nvPr/>
        </p:nvSpPr>
        <p:spPr>
          <a:xfrm>
            <a:off x="666720" y="4038480"/>
            <a:ext cx="2333880" cy="9720"/>
          </a:xfrm>
          <a:custGeom>
            <a:avLst/>
            <a:gdLst/>
            <a:ahLst/>
            <a:cxnLst/>
            <a:rect l="0" t="0" r="r" b="b"/>
            <a:pathLst>
              <a:path w="6483" h="27">
                <a:moveTo>
                  <a:pt x="0" y="0"/>
                </a:moveTo>
                <a:lnTo>
                  <a:pt x="6483" y="0"/>
                </a:lnTo>
                <a:lnTo>
                  <a:pt x="6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Forma libre 545"/>
          <p:cNvSpPr/>
          <p:nvPr/>
        </p:nvSpPr>
        <p:spPr>
          <a:xfrm>
            <a:off x="2990520" y="404784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Forma libre 546"/>
          <p:cNvSpPr/>
          <p:nvPr/>
        </p:nvSpPr>
        <p:spPr>
          <a:xfrm>
            <a:off x="3000240" y="4038480"/>
            <a:ext cx="4810320" cy="9720"/>
          </a:xfrm>
          <a:custGeom>
            <a:avLst/>
            <a:gdLst/>
            <a:ahLst/>
            <a:cxnLst/>
            <a:rect l="0" t="0" r="r" b="b"/>
            <a:pathLst>
              <a:path w="13362" h="27">
                <a:moveTo>
                  <a:pt x="0" y="0"/>
                </a:moveTo>
                <a:lnTo>
                  <a:pt x="13362" y="0"/>
                </a:lnTo>
                <a:lnTo>
                  <a:pt x="133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Forma libre 547"/>
          <p:cNvSpPr/>
          <p:nvPr/>
        </p:nvSpPr>
        <p:spPr>
          <a:xfrm>
            <a:off x="7800840" y="40478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Forma libre 548"/>
          <p:cNvSpPr/>
          <p:nvPr/>
        </p:nvSpPr>
        <p:spPr>
          <a:xfrm>
            <a:off x="666720" y="44575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Forma libre 549"/>
          <p:cNvSpPr/>
          <p:nvPr/>
        </p:nvSpPr>
        <p:spPr>
          <a:xfrm>
            <a:off x="666720" y="4448160"/>
            <a:ext cx="2333880" cy="9720"/>
          </a:xfrm>
          <a:custGeom>
            <a:avLst/>
            <a:gdLst/>
            <a:ahLst/>
            <a:cxnLst/>
            <a:rect l="0" t="0" r="r" b="b"/>
            <a:pathLst>
              <a:path w="6483" h="27">
                <a:moveTo>
                  <a:pt x="0" y="0"/>
                </a:moveTo>
                <a:lnTo>
                  <a:pt x="6483" y="0"/>
                </a:lnTo>
                <a:lnTo>
                  <a:pt x="6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Forma libre 550"/>
          <p:cNvSpPr/>
          <p:nvPr/>
        </p:nvSpPr>
        <p:spPr>
          <a:xfrm>
            <a:off x="2990520" y="44575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Forma libre 551"/>
          <p:cNvSpPr/>
          <p:nvPr/>
        </p:nvSpPr>
        <p:spPr>
          <a:xfrm>
            <a:off x="3000240" y="4448160"/>
            <a:ext cx="4810320" cy="9720"/>
          </a:xfrm>
          <a:custGeom>
            <a:avLst/>
            <a:gdLst/>
            <a:ahLst/>
            <a:cxnLst/>
            <a:rect l="0" t="0" r="r" b="b"/>
            <a:pathLst>
              <a:path w="13362" h="27">
                <a:moveTo>
                  <a:pt x="0" y="0"/>
                </a:moveTo>
                <a:lnTo>
                  <a:pt x="13362" y="0"/>
                </a:lnTo>
                <a:lnTo>
                  <a:pt x="133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Forma libre 552"/>
          <p:cNvSpPr/>
          <p:nvPr/>
        </p:nvSpPr>
        <p:spPr>
          <a:xfrm>
            <a:off x="7800840" y="44575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Forma libre 553"/>
          <p:cNvSpPr/>
          <p:nvPr/>
        </p:nvSpPr>
        <p:spPr>
          <a:xfrm>
            <a:off x="666720" y="4857480"/>
            <a:ext cx="2333880" cy="10080"/>
          </a:xfrm>
          <a:custGeom>
            <a:avLst/>
            <a:gdLst/>
            <a:ahLst/>
            <a:cxnLst/>
            <a:rect l="0" t="0" r="r" b="b"/>
            <a:pathLst>
              <a:path w="6483" h="28">
                <a:moveTo>
                  <a:pt x="0" y="0"/>
                </a:moveTo>
                <a:lnTo>
                  <a:pt x="6483" y="0"/>
                </a:lnTo>
                <a:lnTo>
                  <a:pt x="6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Forma libre 554"/>
          <p:cNvSpPr/>
          <p:nvPr/>
        </p:nvSpPr>
        <p:spPr>
          <a:xfrm>
            <a:off x="3000240" y="4857480"/>
            <a:ext cx="4810320" cy="10080"/>
          </a:xfrm>
          <a:custGeom>
            <a:avLst/>
            <a:gdLst/>
            <a:ahLst/>
            <a:cxnLst/>
            <a:rect l="0" t="0" r="r" b="b"/>
            <a:pathLst>
              <a:path w="13362" h="28">
                <a:moveTo>
                  <a:pt x="0" y="0"/>
                </a:moveTo>
                <a:lnTo>
                  <a:pt x="13362" y="0"/>
                </a:lnTo>
                <a:lnTo>
                  <a:pt x="133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Forma libre 555"/>
          <p:cNvSpPr/>
          <p:nvPr/>
        </p:nvSpPr>
        <p:spPr>
          <a:xfrm>
            <a:off x="666720" y="501948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Forma libre 556"/>
          <p:cNvSpPr/>
          <p:nvPr/>
        </p:nvSpPr>
        <p:spPr>
          <a:xfrm>
            <a:off x="666720" y="501948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CuadroTexto 557"/>
          <p:cNvSpPr txBox="1"/>
          <p:nvPr/>
        </p:nvSpPr>
        <p:spPr>
          <a:xfrm>
            <a:off x="666720" y="939600"/>
            <a:ext cx="37648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Cuándo las vas a necesitar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CuadroTexto 558"/>
          <p:cNvSpPr txBox="1"/>
          <p:nvPr/>
        </p:nvSpPr>
        <p:spPr>
          <a:xfrm>
            <a:off x="1592280" y="1676160"/>
            <a:ext cx="501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Tabla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Forma libre 559"/>
          <p:cNvSpPr/>
          <p:nvPr/>
        </p:nvSpPr>
        <p:spPr>
          <a:xfrm>
            <a:off x="799920" y="2085840"/>
            <a:ext cx="2067120" cy="228960"/>
          </a:xfrm>
          <a:custGeom>
            <a:avLst/>
            <a:gdLst/>
            <a:ahLst/>
            <a:cxnLst/>
            <a:rect l="0" t="0" r="r" b="b"/>
            <a:pathLst>
              <a:path w="574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637" y="0"/>
                </a:lnTo>
                <a:cubicBezTo>
                  <a:pt x="5651" y="0"/>
                  <a:pt x="5664" y="3"/>
                  <a:pt x="5677" y="8"/>
                </a:cubicBezTo>
                <a:cubicBezTo>
                  <a:pt x="5690" y="13"/>
                  <a:pt x="5702" y="21"/>
                  <a:pt x="5711" y="31"/>
                </a:cubicBezTo>
                <a:cubicBezTo>
                  <a:pt x="5721" y="41"/>
                  <a:pt x="5729" y="52"/>
                  <a:pt x="5734" y="65"/>
                </a:cubicBezTo>
                <a:cubicBezTo>
                  <a:pt x="5740" y="78"/>
                  <a:pt x="5742" y="92"/>
                  <a:pt x="5742" y="106"/>
                </a:cubicBezTo>
                <a:lnTo>
                  <a:pt x="5742" y="530"/>
                </a:lnTo>
                <a:cubicBezTo>
                  <a:pt x="5742" y="544"/>
                  <a:pt x="5740" y="558"/>
                  <a:pt x="5734" y="571"/>
                </a:cubicBezTo>
                <a:cubicBezTo>
                  <a:pt x="5729" y="584"/>
                  <a:pt x="5721" y="595"/>
                  <a:pt x="5711" y="605"/>
                </a:cubicBezTo>
                <a:cubicBezTo>
                  <a:pt x="5702" y="615"/>
                  <a:pt x="5690" y="622"/>
                  <a:pt x="5677" y="628"/>
                </a:cubicBezTo>
                <a:cubicBezTo>
                  <a:pt x="5664" y="633"/>
                  <a:pt x="5651" y="636"/>
                  <a:pt x="563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CuadroTexto 560"/>
          <p:cNvSpPr txBox="1"/>
          <p:nvPr/>
        </p:nvSpPr>
        <p:spPr>
          <a:xfrm>
            <a:off x="4993200" y="1676160"/>
            <a:ext cx="812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Para qué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CuadroTexto 561"/>
          <p:cNvSpPr txBox="1"/>
          <p:nvPr/>
        </p:nvSpPr>
        <p:spPr>
          <a:xfrm>
            <a:off x="857160" y="2107080"/>
            <a:ext cx="19458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PROCEDURE_OCCURRENCE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Forma libre 562"/>
          <p:cNvSpPr/>
          <p:nvPr/>
        </p:nvSpPr>
        <p:spPr>
          <a:xfrm>
            <a:off x="799920" y="2495520"/>
            <a:ext cx="1581480" cy="228960"/>
          </a:xfrm>
          <a:custGeom>
            <a:avLst/>
            <a:gdLst/>
            <a:ahLst/>
            <a:cxnLst/>
            <a:rect l="0" t="0" r="r" b="b"/>
            <a:pathLst>
              <a:path w="4393" h="636">
                <a:moveTo>
                  <a:pt x="0" y="530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286" y="0"/>
                </a:lnTo>
                <a:cubicBezTo>
                  <a:pt x="4300" y="0"/>
                  <a:pt x="4314" y="2"/>
                  <a:pt x="4327" y="8"/>
                </a:cubicBezTo>
                <a:cubicBezTo>
                  <a:pt x="4340" y="13"/>
                  <a:pt x="4351" y="21"/>
                  <a:pt x="4361" y="31"/>
                </a:cubicBezTo>
                <a:cubicBezTo>
                  <a:pt x="4372" y="41"/>
                  <a:pt x="4380" y="52"/>
                  <a:pt x="4385" y="65"/>
                </a:cubicBezTo>
                <a:cubicBezTo>
                  <a:pt x="4390" y="78"/>
                  <a:pt x="4393" y="91"/>
                  <a:pt x="4393" y="105"/>
                </a:cubicBezTo>
                <a:lnTo>
                  <a:pt x="4393" y="530"/>
                </a:lnTo>
                <a:cubicBezTo>
                  <a:pt x="4393" y="544"/>
                  <a:pt x="4390" y="557"/>
                  <a:pt x="4385" y="570"/>
                </a:cubicBezTo>
                <a:cubicBezTo>
                  <a:pt x="4380" y="583"/>
                  <a:pt x="4372" y="595"/>
                  <a:pt x="4361" y="605"/>
                </a:cubicBezTo>
                <a:cubicBezTo>
                  <a:pt x="4351" y="615"/>
                  <a:pt x="4340" y="622"/>
                  <a:pt x="4327" y="628"/>
                </a:cubicBezTo>
                <a:cubicBezTo>
                  <a:pt x="4314" y="633"/>
                  <a:pt x="4300" y="636"/>
                  <a:pt x="4286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CuadroTexto 563"/>
          <p:cNvSpPr txBox="1"/>
          <p:nvPr/>
        </p:nvSpPr>
        <p:spPr>
          <a:xfrm>
            <a:off x="3121200" y="2076120"/>
            <a:ext cx="29782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cirugías, estudios de imagen, diálisis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CuadroTexto 564"/>
          <p:cNvSpPr txBox="1"/>
          <p:nvPr/>
        </p:nvSpPr>
        <p:spPr>
          <a:xfrm>
            <a:off x="857160" y="2516760"/>
            <a:ext cx="1459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DEVICE_EXPOSURE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Forma libre 565"/>
          <p:cNvSpPr/>
          <p:nvPr/>
        </p:nvSpPr>
        <p:spPr>
          <a:xfrm>
            <a:off x="799920" y="2914560"/>
            <a:ext cx="505080" cy="228960"/>
          </a:xfrm>
          <a:custGeom>
            <a:avLst/>
            <a:gdLst/>
            <a:ahLst/>
            <a:cxnLst/>
            <a:rect l="0" t="0" r="r" b="b"/>
            <a:pathLst>
              <a:path w="140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297" y="0"/>
                </a:lnTo>
                <a:cubicBezTo>
                  <a:pt x="1311" y="0"/>
                  <a:pt x="1325" y="2"/>
                  <a:pt x="1338" y="8"/>
                </a:cubicBezTo>
                <a:cubicBezTo>
                  <a:pt x="1351" y="13"/>
                  <a:pt x="1362" y="21"/>
                  <a:pt x="1372" y="31"/>
                </a:cubicBezTo>
                <a:cubicBezTo>
                  <a:pt x="1382" y="41"/>
                  <a:pt x="1390" y="52"/>
                  <a:pt x="1395" y="65"/>
                </a:cubicBezTo>
                <a:cubicBezTo>
                  <a:pt x="1401" y="78"/>
                  <a:pt x="1403" y="92"/>
                  <a:pt x="1403" y="106"/>
                </a:cubicBezTo>
                <a:lnTo>
                  <a:pt x="1403" y="530"/>
                </a:lnTo>
                <a:cubicBezTo>
                  <a:pt x="1403" y="544"/>
                  <a:pt x="1401" y="557"/>
                  <a:pt x="1395" y="570"/>
                </a:cubicBezTo>
                <a:cubicBezTo>
                  <a:pt x="1390" y="583"/>
                  <a:pt x="1382" y="595"/>
                  <a:pt x="1372" y="605"/>
                </a:cubicBezTo>
                <a:cubicBezTo>
                  <a:pt x="1362" y="615"/>
                  <a:pt x="1351" y="622"/>
                  <a:pt x="1338" y="628"/>
                </a:cubicBezTo>
                <a:cubicBezTo>
                  <a:pt x="1325" y="633"/>
                  <a:pt x="1311" y="636"/>
                  <a:pt x="129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CuadroTexto 566"/>
          <p:cNvSpPr txBox="1"/>
          <p:nvPr/>
        </p:nvSpPr>
        <p:spPr>
          <a:xfrm>
            <a:off x="3121200" y="2485800"/>
            <a:ext cx="3602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implantes, bombas de insulina, marcapasos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CuadroTexto 567"/>
          <p:cNvSpPr txBox="1"/>
          <p:nvPr/>
        </p:nvSpPr>
        <p:spPr>
          <a:xfrm>
            <a:off x="857160" y="2935800"/>
            <a:ext cx="38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NOTE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Forma libre 568"/>
          <p:cNvSpPr/>
          <p:nvPr/>
        </p:nvSpPr>
        <p:spPr>
          <a:xfrm>
            <a:off x="1476360" y="2914560"/>
            <a:ext cx="895680" cy="228960"/>
          </a:xfrm>
          <a:custGeom>
            <a:avLst/>
            <a:gdLst/>
            <a:ahLst/>
            <a:cxnLst/>
            <a:rect l="0" t="0" r="r" b="b"/>
            <a:pathLst>
              <a:path w="248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382" y="0"/>
                </a:lnTo>
                <a:cubicBezTo>
                  <a:pt x="2396" y="0"/>
                  <a:pt x="2409" y="2"/>
                  <a:pt x="2422" y="8"/>
                </a:cubicBezTo>
                <a:cubicBezTo>
                  <a:pt x="2435" y="13"/>
                  <a:pt x="2447" y="21"/>
                  <a:pt x="2457" y="31"/>
                </a:cubicBezTo>
                <a:cubicBezTo>
                  <a:pt x="2467" y="41"/>
                  <a:pt x="2474" y="52"/>
                  <a:pt x="2480" y="65"/>
                </a:cubicBezTo>
                <a:cubicBezTo>
                  <a:pt x="2485" y="78"/>
                  <a:pt x="2488" y="92"/>
                  <a:pt x="2488" y="106"/>
                </a:cubicBezTo>
                <a:lnTo>
                  <a:pt x="2488" y="530"/>
                </a:lnTo>
                <a:cubicBezTo>
                  <a:pt x="2488" y="544"/>
                  <a:pt x="2485" y="557"/>
                  <a:pt x="2480" y="570"/>
                </a:cubicBezTo>
                <a:cubicBezTo>
                  <a:pt x="2474" y="583"/>
                  <a:pt x="2467" y="595"/>
                  <a:pt x="2457" y="605"/>
                </a:cubicBezTo>
                <a:cubicBezTo>
                  <a:pt x="2447" y="615"/>
                  <a:pt x="2435" y="622"/>
                  <a:pt x="2422" y="628"/>
                </a:cubicBezTo>
                <a:cubicBezTo>
                  <a:pt x="2409" y="633"/>
                  <a:pt x="2396" y="636"/>
                  <a:pt x="2382" y="636"/>
                </a:cubicBezTo>
                <a:lnTo>
                  <a:pt x="105" y="636"/>
                </a:lnTo>
                <a:cubicBezTo>
                  <a:pt x="91" y="636"/>
                  <a:pt x="78" y="633"/>
                  <a:pt x="65" y="628"/>
                </a:cubicBezTo>
                <a:cubicBezTo>
                  <a:pt x="52" y="622"/>
                  <a:pt x="40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2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CuadroTexto 569"/>
          <p:cNvSpPr txBox="1"/>
          <p:nvPr/>
        </p:nvSpPr>
        <p:spPr>
          <a:xfrm>
            <a:off x="1304640" y="290484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/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CuadroTexto 570"/>
          <p:cNvSpPr txBox="1"/>
          <p:nvPr/>
        </p:nvSpPr>
        <p:spPr>
          <a:xfrm>
            <a:off x="1531080" y="2935800"/>
            <a:ext cx="778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NOTE_NLP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Forma libre 571"/>
          <p:cNvSpPr/>
          <p:nvPr/>
        </p:nvSpPr>
        <p:spPr>
          <a:xfrm>
            <a:off x="799920" y="3323880"/>
            <a:ext cx="895680" cy="228960"/>
          </a:xfrm>
          <a:custGeom>
            <a:avLst/>
            <a:gdLst/>
            <a:ahLst/>
            <a:cxnLst/>
            <a:rect l="0" t="0" r="r" b="b"/>
            <a:pathLst>
              <a:path w="248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2382" y="0"/>
                </a:lnTo>
                <a:cubicBezTo>
                  <a:pt x="2396" y="0"/>
                  <a:pt x="2410" y="3"/>
                  <a:pt x="2423" y="9"/>
                </a:cubicBezTo>
                <a:cubicBezTo>
                  <a:pt x="2436" y="14"/>
                  <a:pt x="2447" y="22"/>
                  <a:pt x="2457" y="31"/>
                </a:cubicBezTo>
                <a:cubicBezTo>
                  <a:pt x="2467" y="41"/>
                  <a:pt x="2475" y="53"/>
                  <a:pt x="2480" y="66"/>
                </a:cubicBezTo>
                <a:cubicBezTo>
                  <a:pt x="2485" y="79"/>
                  <a:pt x="2488" y="92"/>
                  <a:pt x="2488" y="106"/>
                </a:cubicBezTo>
                <a:lnTo>
                  <a:pt x="2488" y="530"/>
                </a:lnTo>
                <a:cubicBezTo>
                  <a:pt x="2488" y="544"/>
                  <a:pt x="2485" y="557"/>
                  <a:pt x="2480" y="570"/>
                </a:cubicBezTo>
                <a:cubicBezTo>
                  <a:pt x="2475" y="583"/>
                  <a:pt x="2467" y="596"/>
                  <a:pt x="2457" y="605"/>
                </a:cubicBezTo>
                <a:cubicBezTo>
                  <a:pt x="2447" y="615"/>
                  <a:pt x="2436" y="623"/>
                  <a:pt x="2423" y="628"/>
                </a:cubicBezTo>
                <a:cubicBezTo>
                  <a:pt x="2410" y="634"/>
                  <a:pt x="2396" y="636"/>
                  <a:pt x="2382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6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CuadroTexto 572"/>
          <p:cNvSpPr txBox="1"/>
          <p:nvPr/>
        </p:nvSpPr>
        <p:spPr>
          <a:xfrm>
            <a:off x="3121200" y="2904840"/>
            <a:ext cx="3896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texto clínico libre y sus anotaciones (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28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CuadroTexto 573"/>
          <p:cNvSpPr txBox="1"/>
          <p:nvPr/>
        </p:nvSpPr>
        <p:spPr>
          <a:xfrm>
            <a:off x="857160" y="3345480"/>
            <a:ext cx="778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SPECIMEN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Forma libre 574"/>
          <p:cNvSpPr/>
          <p:nvPr/>
        </p:nvSpPr>
        <p:spPr>
          <a:xfrm>
            <a:off x="799920" y="3733560"/>
            <a:ext cx="1771920" cy="228960"/>
          </a:xfrm>
          <a:custGeom>
            <a:avLst/>
            <a:gdLst/>
            <a:ahLst/>
            <a:cxnLst/>
            <a:rect l="0" t="0" r="r" b="b"/>
            <a:pathLst>
              <a:path w="4922" h="636">
                <a:moveTo>
                  <a:pt x="0" y="530"/>
                </a:moveTo>
                <a:lnTo>
                  <a:pt x="0" y="107"/>
                </a:lnTo>
                <a:cubicBezTo>
                  <a:pt x="0" y="93"/>
                  <a:pt x="3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816" y="0"/>
                </a:lnTo>
                <a:cubicBezTo>
                  <a:pt x="4830" y="0"/>
                  <a:pt x="4844" y="3"/>
                  <a:pt x="4857" y="8"/>
                </a:cubicBezTo>
                <a:cubicBezTo>
                  <a:pt x="4870" y="14"/>
                  <a:pt x="4881" y="21"/>
                  <a:pt x="4891" y="31"/>
                </a:cubicBezTo>
                <a:cubicBezTo>
                  <a:pt x="4901" y="41"/>
                  <a:pt x="4909" y="53"/>
                  <a:pt x="4914" y="65"/>
                </a:cubicBezTo>
                <a:cubicBezTo>
                  <a:pt x="4920" y="78"/>
                  <a:pt x="4922" y="93"/>
                  <a:pt x="4922" y="107"/>
                </a:cubicBezTo>
                <a:lnTo>
                  <a:pt x="4922" y="530"/>
                </a:lnTo>
                <a:cubicBezTo>
                  <a:pt x="4922" y="544"/>
                  <a:pt x="4920" y="558"/>
                  <a:pt x="4914" y="571"/>
                </a:cubicBezTo>
                <a:cubicBezTo>
                  <a:pt x="4909" y="584"/>
                  <a:pt x="4901" y="595"/>
                  <a:pt x="4891" y="605"/>
                </a:cubicBezTo>
                <a:cubicBezTo>
                  <a:pt x="4881" y="615"/>
                  <a:pt x="4870" y="623"/>
                  <a:pt x="4857" y="628"/>
                </a:cubicBezTo>
                <a:cubicBezTo>
                  <a:pt x="4844" y="633"/>
                  <a:pt x="4830" y="636"/>
                  <a:pt x="4816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CuadroTexto 575"/>
          <p:cNvSpPr txBox="1"/>
          <p:nvPr/>
        </p:nvSpPr>
        <p:spPr>
          <a:xfrm>
            <a:off x="3121200" y="3314160"/>
            <a:ext cx="1634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muestras biológicas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CuadroTexto 576"/>
          <p:cNvSpPr txBox="1"/>
          <p:nvPr/>
        </p:nvSpPr>
        <p:spPr>
          <a:xfrm>
            <a:off x="857160" y="3755160"/>
            <a:ext cx="1654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PAYER_PLAN_PERIOD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Forma libre 577"/>
          <p:cNvSpPr/>
          <p:nvPr/>
        </p:nvSpPr>
        <p:spPr>
          <a:xfrm>
            <a:off x="799920" y="4143240"/>
            <a:ext cx="505080" cy="228960"/>
          </a:xfrm>
          <a:custGeom>
            <a:avLst/>
            <a:gdLst/>
            <a:ahLst/>
            <a:cxnLst/>
            <a:rect l="0" t="0" r="r" b="b"/>
            <a:pathLst>
              <a:path w="140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297" y="0"/>
                </a:lnTo>
                <a:cubicBezTo>
                  <a:pt x="1311" y="0"/>
                  <a:pt x="1325" y="3"/>
                  <a:pt x="1338" y="8"/>
                </a:cubicBezTo>
                <a:cubicBezTo>
                  <a:pt x="1351" y="13"/>
                  <a:pt x="1362" y="21"/>
                  <a:pt x="1372" y="31"/>
                </a:cubicBezTo>
                <a:cubicBezTo>
                  <a:pt x="1382" y="41"/>
                  <a:pt x="1390" y="52"/>
                  <a:pt x="1395" y="65"/>
                </a:cubicBezTo>
                <a:cubicBezTo>
                  <a:pt x="1401" y="78"/>
                  <a:pt x="1403" y="92"/>
                  <a:pt x="1403" y="106"/>
                </a:cubicBezTo>
                <a:lnTo>
                  <a:pt x="1403" y="530"/>
                </a:lnTo>
                <a:cubicBezTo>
                  <a:pt x="1403" y="544"/>
                  <a:pt x="1401" y="558"/>
                  <a:pt x="1395" y="571"/>
                </a:cubicBezTo>
                <a:cubicBezTo>
                  <a:pt x="1390" y="584"/>
                  <a:pt x="1382" y="595"/>
                  <a:pt x="1372" y="605"/>
                </a:cubicBezTo>
                <a:cubicBezTo>
                  <a:pt x="1362" y="615"/>
                  <a:pt x="1351" y="622"/>
                  <a:pt x="1338" y="628"/>
                </a:cubicBezTo>
                <a:cubicBezTo>
                  <a:pt x="1325" y="633"/>
                  <a:pt x="1311" y="636"/>
                  <a:pt x="129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CuadroTexto 578"/>
          <p:cNvSpPr txBox="1"/>
          <p:nvPr/>
        </p:nvSpPr>
        <p:spPr>
          <a:xfrm>
            <a:off x="3121200" y="3723840"/>
            <a:ext cx="4559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cobertura del seguro — deﬁne observabilidad en claims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CuadroTexto 579"/>
          <p:cNvSpPr txBox="1"/>
          <p:nvPr/>
        </p:nvSpPr>
        <p:spPr>
          <a:xfrm>
            <a:off x="857160" y="4164480"/>
            <a:ext cx="38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COST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Forma libre 580"/>
          <p:cNvSpPr/>
          <p:nvPr/>
        </p:nvSpPr>
        <p:spPr>
          <a:xfrm>
            <a:off x="799920" y="4552920"/>
            <a:ext cx="1771920" cy="228960"/>
          </a:xfrm>
          <a:custGeom>
            <a:avLst/>
            <a:gdLst/>
            <a:ahLst/>
            <a:cxnLst/>
            <a:rect l="0" t="0" r="r" b="b"/>
            <a:pathLst>
              <a:path w="4922" h="636">
                <a:moveTo>
                  <a:pt x="0" y="530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816" y="0"/>
                </a:lnTo>
                <a:cubicBezTo>
                  <a:pt x="4830" y="0"/>
                  <a:pt x="4844" y="2"/>
                  <a:pt x="4857" y="8"/>
                </a:cubicBezTo>
                <a:cubicBezTo>
                  <a:pt x="4870" y="13"/>
                  <a:pt x="4881" y="21"/>
                  <a:pt x="4891" y="31"/>
                </a:cubicBezTo>
                <a:cubicBezTo>
                  <a:pt x="4901" y="41"/>
                  <a:pt x="4909" y="52"/>
                  <a:pt x="4914" y="65"/>
                </a:cubicBezTo>
                <a:cubicBezTo>
                  <a:pt x="4920" y="78"/>
                  <a:pt x="4922" y="91"/>
                  <a:pt x="4922" y="105"/>
                </a:cubicBezTo>
                <a:lnTo>
                  <a:pt x="4922" y="530"/>
                </a:lnTo>
                <a:cubicBezTo>
                  <a:pt x="4922" y="544"/>
                  <a:pt x="4920" y="557"/>
                  <a:pt x="4914" y="570"/>
                </a:cubicBezTo>
                <a:cubicBezTo>
                  <a:pt x="4909" y="583"/>
                  <a:pt x="4901" y="595"/>
                  <a:pt x="4891" y="605"/>
                </a:cubicBezTo>
                <a:cubicBezTo>
                  <a:pt x="4881" y="615"/>
                  <a:pt x="4870" y="622"/>
                  <a:pt x="4857" y="628"/>
                </a:cubicBezTo>
                <a:cubicBezTo>
                  <a:pt x="4844" y="633"/>
                  <a:pt x="4830" y="636"/>
                  <a:pt x="4816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CuadroTexto 581"/>
          <p:cNvSpPr txBox="1"/>
          <p:nvPr/>
        </p:nvSpPr>
        <p:spPr>
          <a:xfrm>
            <a:off x="3121200" y="4133520"/>
            <a:ext cx="2417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estudios farmacoeconómicos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CuadroTexto 582"/>
          <p:cNvSpPr txBox="1"/>
          <p:nvPr/>
        </p:nvSpPr>
        <p:spPr>
          <a:xfrm>
            <a:off x="857160" y="4574160"/>
            <a:ext cx="1654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FACT_RELATIONSHIP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Forma libre 583"/>
          <p:cNvSpPr/>
          <p:nvPr/>
        </p:nvSpPr>
        <p:spPr>
          <a:xfrm>
            <a:off x="904680" y="5190840"/>
            <a:ext cx="2105280" cy="267120"/>
          </a:xfrm>
          <a:custGeom>
            <a:avLst/>
            <a:gdLst/>
            <a:ahLst/>
            <a:cxnLst/>
            <a:rect l="0" t="0" r="r" b="b"/>
            <a:pathLst>
              <a:path w="5848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2" y="15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742" y="0"/>
                </a:lnTo>
                <a:cubicBezTo>
                  <a:pt x="5757" y="0"/>
                  <a:pt x="5770" y="3"/>
                  <a:pt x="5783" y="8"/>
                </a:cubicBezTo>
                <a:cubicBezTo>
                  <a:pt x="5796" y="15"/>
                  <a:pt x="5807" y="22"/>
                  <a:pt x="5817" y="32"/>
                </a:cubicBezTo>
                <a:cubicBezTo>
                  <a:pt x="5827" y="42"/>
                  <a:pt x="5835" y="54"/>
                  <a:pt x="5840" y="67"/>
                </a:cubicBezTo>
                <a:cubicBezTo>
                  <a:pt x="5846" y="80"/>
                  <a:pt x="5848" y="93"/>
                  <a:pt x="5848" y="107"/>
                </a:cubicBezTo>
                <a:lnTo>
                  <a:pt x="5848" y="636"/>
                </a:lnTo>
                <a:cubicBezTo>
                  <a:pt x="5848" y="650"/>
                  <a:pt x="5846" y="664"/>
                  <a:pt x="5840" y="677"/>
                </a:cubicBezTo>
                <a:cubicBezTo>
                  <a:pt x="5835" y="690"/>
                  <a:pt x="5827" y="701"/>
                  <a:pt x="5817" y="711"/>
                </a:cubicBezTo>
                <a:cubicBezTo>
                  <a:pt x="5807" y="721"/>
                  <a:pt x="5796" y="729"/>
                  <a:pt x="5783" y="734"/>
                </a:cubicBezTo>
                <a:cubicBezTo>
                  <a:pt x="5770" y="739"/>
                  <a:pt x="5757" y="742"/>
                  <a:pt x="5742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CuadroTexto 584"/>
          <p:cNvSpPr txBox="1"/>
          <p:nvPr/>
        </p:nvSpPr>
        <p:spPr>
          <a:xfrm>
            <a:off x="3121200" y="4543200"/>
            <a:ext cx="3190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relacionar hechos entre tablas distintas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CuadroTexto 585"/>
          <p:cNvSpPr txBox="1"/>
          <p:nvPr/>
        </p:nvSpPr>
        <p:spPr>
          <a:xfrm>
            <a:off x="961920" y="5211000"/>
            <a:ext cx="1997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PAYER_PLAN_PERIOD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CuadroTexto 586"/>
          <p:cNvSpPr txBox="1"/>
          <p:nvPr/>
        </p:nvSpPr>
        <p:spPr>
          <a:xfrm>
            <a:off x="3007800" y="5173560"/>
            <a:ext cx="7478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merece atención: en bases de claims,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cobertura deﬁne cuándo ves al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Forma libre 587"/>
          <p:cNvSpPr/>
          <p:nvPr/>
        </p:nvSpPr>
        <p:spPr>
          <a:xfrm>
            <a:off x="3219120" y="5533920"/>
            <a:ext cx="2219760" cy="267120"/>
          </a:xfrm>
          <a:custGeom>
            <a:avLst/>
            <a:gdLst/>
            <a:ahLst/>
            <a:cxnLst/>
            <a:rect l="0" t="0" r="r" b="b"/>
            <a:pathLst>
              <a:path w="616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6060" y="0"/>
                </a:lnTo>
                <a:cubicBezTo>
                  <a:pt x="6074" y="0"/>
                  <a:pt x="6088" y="2"/>
                  <a:pt x="6101" y="8"/>
                </a:cubicBezTo>
                <a:cubicBezTo>
                  <a:pt x="6114" y="13"/>
                  <a:pt x="6125" y="21"/>
                  <a:pt x="6135" y="31"/>
                </a:cubicBezTo>
                <a:cubicBezTo>
                  <a:pt x="6145" y="41"/>
                  <a:pt x="6153" y="52"/>
                  <a:pt x="6158" y="65"/>
                </a:cubicBezTo>
                <a:cubicBezTo>
                  <a:pt x="6164" y="78"/>
                  <a:pt x="6166" y="92"/>
                  <a:pt x="6166" y="106"/>
                </a:cubicBezTo>
                <a:lnTo>
                  <a:pt x="6166" y="636"/>
                </a:lnTo>
                <a:cubicBezTo>
                  <a:pt x="6166" y="650"/>
                  <a:pt x="6164" y="663"/>
                  <a:pt x="6158" y="676"/>
                </a:cubicBezTo>
                <a:cubicBezTo>
                  <a:pt x="6153" y="689"/>
                  <a:pt x="6145" y="701"/>
                  <a:pt x="6135" y="711"/>
                </a:cubicBezTo>
                <a:cubicBezTo>
                  <a:pt x="6125" y="721"/>
                  <a:pt x="6114" y="728"/>
                  <a:pt x="6101" y="734"/>
                </a:cubicBezTo>
                <a:cubicBezTo>
                  <a:pt x="6088" y="739"/>
                  <a:pt x="6074" y="742"/>
                  <a:pt x="6060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CuadroTexto 588"/>
          <p:cNvSpPr txBox="1"/>
          <p:nvPr/>
        </p:nvSpPr>
        <p:spPr>
          <a:xfrm>
            <a:off x="905040" y="5516280"/>
            <a:ext cx="2316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paciente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 Es primo de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CuadroTexto 589"/>
          <p:cNvSpPr txBox="1"/>
          <p:nvPr/>
        </p:nvSpPr>
        <p:spPr>
          <a:xfrm>
            <a:off x="3277800" y="5553720"/>
            <a:ext cx="2114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OBSERVATION_PERIOD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CuadroTexto 590"/>
          <p:cNvSpPr txBox="1"/>
          <p:nvPr/>
        </p:nvSpPr>
        <p:spPr>
          <a:xfrm>
            <a:off x="5440680" y="551628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CuadroTexto 59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CuadroTexto 59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CuadroTexto 59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Forma libre 5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Forma libre 5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Forma libre 5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CuadroTexto 597"/>
          <p:cNvSpPr txBox="1"/>
          <p:nvPr/>
        </p:nvSpPr>
        <p:spPr>
          <a:xfrm>
            <a:off x="3893760" y="3063960"/>
            <a:ext cx="45064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Calidad de datos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CuadroTexto 59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CuadroTexto 59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CuadroTexto 60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Forma libre 6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Forma libre 6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Forma libre 6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CuadroTexto 604"/>
          <p:cNvSpPr txBox="1"/>
          <p:nvPr/>
        </p:nvSpPr>
        <p:spPr>
          <a:xfrm>
            <a:off x="666720" y="1653840"/>
            <a:ext cx="67618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Qué revisar antes de confiar en una base OMOP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Forma libre 605"/>
          <p:cNvSpPr/>
          <p:nvPr/>
        </p:nvSpPr>
        <p:spPr>
          <a:xfrm>
            <a:off x="4028760" y="2342880"/>
            <a:ext cx="1753200" cy="267120"/>
          </a:xfrm>
          <a:custGeom>
            <a:avLst/>
            <a:gdLst/>
            <a:ahLst/>
            <a:cxnLst/>
            <a:rect l="0" t="0" r="r" b="b"/>
            <a:pathLst>
              <a:path w="4870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764" y="0"/>
                </a:lnTo>
                <a:cubicBezTo>
                  <a:pt x="4778" y="0"/>
                  <a:pt x="4791" y="3"/>
                  <a:pt x="4804" y="8"/>
                </a:cubicBezTo>
                <a:cubicBezTo>
                  <a:pt x="4817" y="14"/>
                  <a:pt x="4829" y="21"/>
                  <a:pt x="4839" y="31"/>
                </a:cubicBezTo>
                <a:cubicBezTo>
                  <a:pt x="4849" y="41"/>
                  <a:pt x="4856" y="53"/>
                  <a:pt x="4862" y="66"/>
                </a:cubicBezTo>
                <a:cubicBezTo>
                  <a:pt x="4867" y="79"/>
                  <a:pt x="4870" y="92"/>
                  <a:pt x="4870" y="106"/>
                </a:cubicBezTo>
                <a:lnTo>
                  <a:pt x="4870" y="636"/>
                </a:lnTo>
                <a:cubicBezTo>
                  <a:pt x="4870" y="650"/>
                  <a:pt x="4867" y="664"/>
                  <a:pt x="4862" y="677"/>
                </a:cubicBezTo>
                <a:cubicBezTo>
                  <a:pt x="4856" y="690"/>
                  <a:pt x="4849" y="701"/>
                  <a:pt x="4839" y="711"/>
                </a:cubicBezTo>
                <a:cubicBezTo>
                  <a:pt x="4829" y="721"/>
                  <a:pt x="4817" y="729"/>
                  <a:pt x="4804" y="734"/>
                </a:cubicBezTo>
                <a:cubicBezTo>
                  <a:pt x="4791" y="739"/>
                  <a:pt x="4778" y="742"/>
                  <a:pt x="4764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CuadroTexto 606"/>
          <p:cNvSpPr txBox="1"/>
          <p:nvPr/>
        </p:nvSpPr>
        <p:spPr>
          <a:xfrm>
            <a:off x="869760" y="2325600"/>
            <a:ext cx="3157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Completitud del mapeo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CuadroTexto 607"/>
          <p:cNvSpPr txBox="1"/>
          <p:nvPr/>
        </p:nvSpPr>
        <p:spPr>
          <a:xfrm>
            <a:off x="4084200" y="2362680"/>
            <a:ext cx="1644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concept_id = 0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CuadroTexto 608"/>
          <p:cNvSpPr txBox="1"/>
          <p:nvPr/>
        </p:nvSpPr>
        <p:spPr>
          <a:xfrm>
            <a:off x="5779080" y="2325600"/>
            <a:ext cx="2363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por dominio (sesión 12)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CuadroTexto 609"/>
          <p:cNvSpPr txBox="1"/>
          <p:nvPr/>
        </p:nvSpPr>
        <p:spPr>
          <a:xfrm>
            <a:off x="869760" y="2725560"/>
            <a:ext cx="6075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Plausibilidad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valores fuera de rango, fechas imposibles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Forma libre 610"/>
          <p:cNvSpPr/>
          <p:nvPr/>
        </p:nvSpPr>
        <p:spPr>
          <a:xfrm>
            <a:off x="4781520" y="3143160"/>
            <a:ext cx="2229120" cy="267120"/>
          </a:xfrm>
          <a:custGeom>
            <a:avLst/>
            <a:gdLst/>
            <a:ahLst/>
            <a:cxnLst/>
            <a:rect l="0" t="0" r="r" b="b"/>
            <a:pathLst>
              <a:path w="619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6086" y="0"/>
                </a:lnTo>
                <a:cubicBezTo>
                  <a:pt x="6100" y="0"/>
                  <a:pt x="6114" y="2"/>
                  <a:pt x="6126" y="8"/>
                </a:cubicBezTo>
                <a:cubicBezTo>
                  <a:pt x="6139" y="13"/>
                  <a:pt x="6151" y="21"/>
                  <a:pt x="6161" y="31"/>
                </a:cubicBezTo>
                <a:cubicBezTo>
                  <a:pt x="6171" y="41"/>
                  <a:pt x="6178" y="52"/>
                  <a:pt x="6184" y="65"/>
                </a:cubicBezTo>
                <a:cubicBezTo>
                  <a:pt x="6189" y="78"/>
                  <a:pt x="6192" y="92"/>
                  <a:pt x="6192" y="106"/>
                </a:cubicBezTo>
                <a:lnTo>
                  <a:pt x="6192" y="636"/>
                </a:lnTo>
                <a:cubicBezTo>
                  <a:pt x="6192" y="650"/>
                  <a:pt x="6189" y="663"/>
                  <a:pt x="6184" y="676"/>
                </a:cubicBezTo>
                <a:cubicBezTo>
                  <a:pt x="6178" y="689"/>
                  <a:pt x="6171" y="701"/>
                  <a:pt x="6161" y="711"/>
                </a:cubicBezTo>
                <a:cubicBezTo>
                  <a:pt x="6151" y="721"/>
                  <a:pt x="6139" y="728"/>
                  <a:pt x="6126" y="734"/>
                </a:cubicBezTo>
                <a:cubicBezTo>
                  <a:pt x="6114" y="739"/>
                  <a:pt x="6100" y="742"/>
                  <a:pt x="6086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CuadroTexto 611"/>
          <p:cNvSpPr txBox="1"/>
          <p:nvPr/>
        </p:nvSpPr>
        <p:spPr>
          <a:xfrm>
            <a:off x="869760" y="3125520"/>
            <a:ext cx="3941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Temporalidad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¿eventos fuera de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CuadroTexto 612"/>
          <p:cNvSpPr txBox="1"/>
          <p:nvPr/>
        </p:nvSpPr>
        <p:spPr>
          <a:xfrm>
            <a:off x="4842720" y="3162960"/>
            <a:ext cx="2114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observation_period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CuadroTexto 613"/>
          <p:cNvSpPr txBox="1"/>
          <p:nvPr/>
        </p:nvSpPr>
        <p:spPr>
          <a:xfrm>
            <a:off x="7005600" y="3125520"/>
            <a:ext cx="1897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? ¿antes de nacer?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Forma libre 614"/>
          <p:cNvSpPr/>
          <p:nvPr/>
        </p:nvSpPr>
        <p:spPr>
          <a:xfrm>
            <a:off x="7229160" y="3543120"/>
            <a:ext cx="1400760" cy="267120"/>
          </a:xfrm>
          <a:custGeom>
            <a:avLst/>
            <a:gdLst/>
            <a:ahLst/>
            <a:cxnLst/>
            <a:rect l="0" t="0" r="r" b="b"/>
            <a:pathLst>
              <a:path w="389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785" y="0"/>
                </a:lnTo>
                <a:cubicBezTo>
                  <a:pt x="3799" y="0"/>
                  <a:pt x="3812" y="3"/>
                  <a:pt x="3825" y="8"/>
                </a:cubicBezTo>
                <a:cubicBezTo>
                  <a:pt x="3838" y="13"/>
                  <a:pt x="3850" y="21"/>
                  <a:pt x="3860" y="31"/>
                </a:cubicBezTo>
                <a:cubicBezTo>
                  <a:pt x="3870" y="41"/>
                  <a:pt x="3877" y="52"/>
                  <a:pt x="3883" y="65"/>
                </a:cubicBezTo>
                <a:cubicBezTo>
                  <a:pt x="3888" y="78"/>
                  <a:pt x="3891" y="92"/>
                  <a:pt x="3891" y="106"/>
                </a:cubicBezTo>
                <a:lnTo>
                  <a:pt x="3891" y="636"/>
                </a:lnTo>
                <a:cubicBezTo>
                  <a:pt x="3891" y="650"/>
                  <a:pt x="3888" y="664"/>
                  <a:pt x="3883" y="676"/>
                </a:cubicBezTo>
                <a:cubicBezTo>
                  <a:pt x="3877" y="689"/>
                  <a:pt x="3870" y="701"/>
                  <a:pt x="3860" y="711"/>
                </a:cubicBezTo>
                <a:cubicBezTo>
                  <a:pt x="3850" y="721"/>
                  <a:pt x="3838" y="728"/>
                  <a:pt x="3825" y="734"/>
                </a:cubicBezTo>
                <a:cubicBezTo>
                  <a:pt x="3812" y="739"/>
                  <a:pt x="3799" y="742"/>
                  <a:pt x="3785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CuadroTexto 615"/>
          <p:cNvSpPr txBox="1"/>
          <p:nvPr/>
        </p:nvSpPr>
        <p:spPr>
          <a:xfrm>
            <a:off x="869760" y="3525840"/>
            <a:ext cx="6355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Consistencia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¿las unidades cuadran con el LOINC? ¿hay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CuadroTexto 616"/>
          <p:cNvSpPr txBox="1"/>
          <p:nvPr/>
        </p:nvSpPr>
        <p:spPr>
          <a:xfrm>
            <a:off x="7282440" y="356292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days_supply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CuadroTexto 617"/>
          <p:cNvSpPr txBox="1"/>
          <p:nvPr/>
        </p:nvSpPr>
        <p:spPr>
          <a:xfrm>
            <a:off x="8626680" y="352584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Forma libre 618"/>
          <p:cNvSpPr/>
          <p:nvPr/>
        </p:nvSpPr>
        <p:spPr>
          <a:xfrm>
            <a:off x="914040" y="4628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CuadroTexto 619"/>
          <p:cNvSpPr txBox="1"/>
          <p:nvPr/>
        </p:nvSpPr>
        <p:spPr>
          <a:xfrm>
            <a:off x="666720" y="4020840"/>
            <a:ext cx="3687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Herramientas que lo automatizan: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Forma libre 620"/>
          <p:cNvSpPr/>
          <p:nvPr/>
        </p:nvSpPr>
        <p:spPr>
          <a:xfrm>
            <a:off x="914040" y="50288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CuadroTexto 621"/>
          <p:cNvSpPr txBox="1"/>
          <p:nvPr/>
        </p:nvSpPr>
        <p:spPr>
          <a:xfrm>
            <a:off x="1123920" y="4516200"/>
            <a:ext cx="5700920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Data </a:t>
            </a:r>
            <a:r>
              <a:rPr lang="es-ES" sz="18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Quality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s-ES" sz="18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Dashboard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más de 3 000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veriﬁcaciones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CuadroTexto 622"/>
          <p:cNvSpPr txBox="1"/>
          <p:nvPr/>
        </p:nvSpPr>
        <p:spPr>
          <a:xfrm>
            <a:off x="1123920" y="4916520"/>
            <a:ext cx="6106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Achilles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caracterización descriptiva: qué hay realmente ahí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CuadroTexto 62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CuadroTexto 62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CuadroTexto 62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Forma libre 6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Forma libre 6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Forma libre 6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CuadroTexto 629"/>
          <p:cNvSpPr txBox="1"/>
          <p:nvPr/>
        </p:nvSpPr>
        <p:spPr>
          <a:xfrm>
            <a:off x="3430080" y="3063960"/>
            <a:ext cx="54648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8. Patrones de consulta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CuadroTexto 63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CuadroTexto 63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CuadroTexto 63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Forma libre 6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Forma libre 6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Forma libre 635"/>
          <p:cNvSpPr/>
          <p:nvPr/>
        </p:nvSpPr>
        <p:spPr>
          <a:xfrm>
            <a:off x="0" y="291683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Forma libre 636"/>
          <p:cNvSpPr/>
          <p:nvPr/>
        </p:nvSpPr>
        <p:spPr>
          <a:xfrm>
            <a:off x="671400" y="2300040"/>
            <a:ext cx="10849320" cy="1629360"/>
          </a:xfrm>
          <a:custGeom>
            <a:avLst/>
            <a:gdLst/>
            <a:ahLst/>
            <a:cxnLst/>
            <a:rect l="0" t="0" r="r" b="b"/>
            <a:pathLst>
              <a:path w="30137" h="4526">
                <a:moveTo>
                  <a:pt x="0" y="432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9"/>
                  <a:pt x="30127" y="4391"/>
                  <a:pt x="30122" y="4403"/>
                </a:cubicBezTo>
                <a:cubicBezTo>
                  <a:pt x="30117" y="4415"/>
                  <a:pt x="30111" y="4427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7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2"/>
                </a:cubicBezTo>
                <a:cubicBezTo>
                  <a:pt x="29964" y="4524"/>
                  <a:pt x="29951" y="4526"/>
                  <a:pt x="29938" y="4526"/>
                </a:cubicBezTo>
                <a:lnTo>
                  <a:pt x="198" y="4526"/>
                </a:lnTo>
                <a:cubicBezTo>
                  <a:pt x="185" y="4526"/>
                  <a:pt x="172" y="4524"/>
                  <a:pt x="160" y="4522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7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7"/>
                  <a:pt x="20" y="4415"/>
                  <a:pt x="15" y="4403"/>
                </a:cubicBezTo>
                <a:cubicBezTo>
                  <a:pt x="10" y="4391"/>
                  <a:pt x="6" y="4379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Forma libre 637"/>
          <p:cNvSpPr/>
          <p:nvPr/>
        </p:nvSpPr>
        <p:spPr>
          <a:xfrm>
            <a:off x="671400" y="2300040"/>
            <a:ext cx="10849320" cy="1629360"/>
          </a:xfrm>
          <a:custGeom>
            <a:avLst/>
            <a:gdLst/>
            <a:ahLst/>
            <a:cxnLst/>
            <a:rect l="0" t="0" r="r" b="b"/>
            <a:pathLst>
              <a:path w="30137" h="4526">
                <a:moveTo>
                  <a:pt x="0" y="432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9"/>
                  <a:pt x="30127" y="4391"/>
                  <a:pt x="30122" y="4403"/>
                </a:cubicBezTo>
                <a:cubicBezTo>
                  <a:pt x="30117" y="4415"/>
                  <a:pt x="30111" y="4427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7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2"/>
                </a:cubicBezTo>
                <a:cubicBezTo>
                  <a:pt x="29964" y="4524"/>
                  <a:pt x="29951" y="4526"/>
                  <a:pt x="29938" y="4526"/>
                </a:cubicBezTo>
                <a:lnTo>
                  <a:pt x="198" y="4526"/>
                </a:lnTo>
                <a:cubicBezTo>
                  <a:pt x="185" y="4526"/>
                  <a:pt x="172" y="4524"/>
                  <a:pt x="160" y="4522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7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7"/>
                  <a:pt x="20" y="4415"/>
                  <a:pt x="15" y="4403"/>
                </a:cubicBezTo>
                <a:cubicBezTo>
                  <a:pt x="10" y="4391"/>
                  <a:pt x="6" y="4379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CuadroTexto 638"/>
          <p:cNvSpPr txBox="1"/>
          <p:nvPr/>
        </p:nvSpPr>
        <p:spPr>
          <a:xfrm>
            <a:off x="666720" y="1168200"/>
            <a:ext cx="39448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tres que más vas a usar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CuadroTexto 639"/>
          <p:cNvSpPr txBox="1"/>
          <p:nvPr/>
        </p:nvSpPr>
        <p:spPr>
          <a:xfrm>
            <a:off x="666720" y="1839600"/>
            <a:ext cx="4755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Expuestos a un ingrediente en una ventana: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CuadroTexto 640"/>
          <p:cNvSpPr txBox="1"/>
          <p:nvPr/>
        </p:nvSpPr>
        <p:spPr>
          <a:xfrm>
            <a:off x="866880" y="2480040"/>
            <a:ext cx="3057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DISTINCT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de.person_id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CuadroTexto 641"/>
          <p:cNvSpPr txBox="1"/>
          <p:nvPr/>
        </p:nvSpPr>
        <p:spPr>
          <a:xfrm>
            <a:off x="866880" y="2746800"/>
            <a:ext cx="2512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drug_exposure de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CuadroTexto 642"/>
          <p:cNvSpPr txBox="1"/>
          <p:nvPr/>
        </p:nvSpPr>
        <p:spPr>
          <a:xfrm>
            <a:off x="866880" y="3003840"/>
            <a:ext cx="8190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JOIN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concept_ancestor ca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ca.descendant_concept_id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de.drug_concept_id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CuadroTexto 643"/>
          <p:cNvSpPr txBox="1"/>
          <p:nvPr/>
        </p:nvSpPr>
        <p:spPr>
          <a:xfrm>
            <a:off x="866880" y="3270600"/>
            <a:ext cx="8298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ca.ancestor_concept_id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1503297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metformina (ingrediente)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CuadroTexto 644"/>
          <p:cNvSpPr txBox="1"/>
          <p:nvPr/>
        </p:nvSpPr>
        <p:spPr>
          <a:xfrm>
            <a:off x="866880" y="3527640"/>
            <a:ext cx="6552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de.drug_exposure_start_date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BETWEEN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:inicio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:fin;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CuadroTexto 645"/>
          <p:cNvSpPr txBox="1"/>
          <p:nvPr/>
        </p:nvSpPr>
        <p:spPr>
          <a:xfrm>
            <a:off x="666720" y="4125600"/>
            <a:ext cx="3817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Último laboratorio antes del índice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CuadroTexto 646"/>
          <p:cNvSpPr txBox="1"/>
          <p:nvPr/>
        </p:nvSpPr>
        <p:spPr>
          <a:xfrm>
            <a:off x="4483440" y="413640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Forma libre 647"/>
          <p:cNvSpPr/>
          <p:nvPr/>
        </p:nvSpPr>
        <p:spPr>
          <a:xfrm>
            <a:off x="4771800" y="4143240"/>
            <a:ext cx="1524240" cy="267120"/>
          </a:xfrm>
          <a:custGeom>
            <a:avLst/>
            <a:gdLst/>
            <a:ahLst/>
            <a:cxnLst/>
            <a:rect l="0" t="0" r="r" b="b"/>
            <a:pathLst>
              <a:path w="4234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129" y="0"/>
                </a:lnTo>
                <a:cubicBezTo>
                  <a:pt x="4143" y="0"/>
                  <a:pt x="4156" y="3"/>
                  <a:pt x="4169" y="8"/>
                </a:cubicBezTo>
                <a:cubicBezTo>
                  <a:pt x="4182" y="13"/>
                  <a:pt x="4194" y="21"/>
                  <a:pt x="4203" y="31"/>
                </a:cubicBezTo>
                <a:cubicBezTo>
                  <a:pt x="4213" y="41"/>
                  <a:pt x="4221" y="52"/>
                  <a:pt x="4226" y="65"/>
                </a:cubicBezTo>
                <a:cubicBezTo>
                  <a:pt x="4232" y="78"/>
                  <a:pt x="4234" y="92"/>
                  <a:pt x="4234" y="106"/>
                </a:cubicBezTo>
                <a:lnTo>
                  <a:pt x="4234" y="635"/>
                </a:lnTo>
                <a:cubicBezTo>
                  <a:pt x="4234" y="649"/>
                  <a:pt x="4232" y="662"/>
                  <a:pt x="4226" y="675"/>
                </a:cubicBezTo>
                <a:cubicBezTo>
                  <a:pt x="4221" y="688"/>
                  <a:pt x="4213" y="700"/>
                  <a:pt x="4203" y="711"/>
                </a:cubicBezTo>
                <a:cubicBezTo>
                  <a:pt x="4194" y="721"/>
                  <a:pt x="4182" y="728"/>
                  <a:pt x="4169" y="734"/>
                </a:cubicBezTo>
                <a:cubicBezTo>
                  <a:pt x="4156" y="739"/>
                  <a:pt x="4143" y="742"/>
                  <a:pt x="4129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0"/>
                  <a:pt x="14" y="688"/>
                  <a:pt x="8" y="675"/>
                </a:cubicBezTo>
                <a:cubicBezTo>
                  <a:pt x="3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CuadroTexto 648"/>
          <p:cNvSpPr txBox="1"/>
          <p:nvPr/>
        </p:nvSpPr>
        <p:spPr>
          <a:xfrm>
            <a:off x="4712040" y="412560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CuadroTexto 649"/>
          <p:cNvSpPr txBox="1"/>
          <p:nvPr/>
        </p:nvSpPr>
        <p:spPr>
          <a:xfrm>
            <a:off x="4832640" y="4163040"/>
            <a:ext cx="1410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ROW_NUMBER()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CuadroTexto 650"/>
          <p:cNvSpPr txBox="1"/>
          <p:nvPr/>
        </p:nvSpPr>
        <p:spPr>
          <a:xfrm>
            <a:off x="6293880" y="4125600"/>
            <a:ext cx="1122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(sesión 11)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CuadroTexto 651"/>
          <p:cNvSpPr txBox="1"/>
          <p:nvPr/>
        </p:nvSpPr>
        <p:spPr>
          <a:xfrm>
            <a:off x="666720" y="4620960"/>
            <a:ext cx="5174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Adherencia (PDC)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proporción de días cubiertos: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CuadroTexto 652"/>
          <p:cNvSpPr txBox="1"/>
          <p:nvPr/>
        </p:nvSpPr>
        <p:spPr>
          <a:xfrm>
            <a:off x="3939480" y="5162040"/>
            <a:ext cx="825480" cy="37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180" b="0" u="none" strike="noStrike">
                <a:solidFill>
                  <a:srgbClr val="4A4A4A"/>
                </a:solidFill>
                <a:effectLst/>
                <a:uFillTx/>
                <a:latin typeface="KaTeX_Main"/>
                <a:ea typeface="KaTeX_Main"/>
              </a:rPr>
              <a:t>PDC =</a:t>
            </a:r>
            <a:endParaRPr lang="es-ES" sz="2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CuadroTexto 653"/>
          <p:cNvSpPr txBox="1"/>
          <p:nvPr/>
        </p:nvSpPr>
        <p:spPr>
          <a:xfrm>
            <a:off x="8228520" y="5447520"/>
            <a:ext cx="9000" cy="17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00" b="0" u="none" strike="noStrike">
                <a:solidFill>
                  <a:srgbClr val="4A4A4A"/>
                </a:solidFill>
                <a:effectLst/>
                <a:uFillTx/>
                <a:latin typeface="KaTeX_Main"/>
                <a:ea typeface="KaTeX_Main"/>
              </a:rPr>
              <a:t> </a:t>
            </a:r>
            <a:endParaRPr lang="es-E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CuadroTexto 654"/>
          <p:cNvSpPr txBox="1"/>
          <p:nvPr/>
        </p:nvSpPr>
        <p:spPr>
          <a:xfrm>
            <a:off x="5648760" y="5352480"/>
            <a:ext cx="1974600" cy="37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180" b="0" u="none" strike="noStrike">
                <a:solidFill>
                  <a:srgbClr val="4A4A4A"/>
                </a:solidFill>
                <a:effectLst/>
                <a:uFillTx/>
                <a:latin typeface="KaTeX_Main"/>
                <a:ea typeface="KaTeX_Main"/>
              </a:rPr>
              <a:t>d as del periodo</a:t>
            </a:r>
            <a:endParaRPr lang="es-ES" sz="2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CuadroTexto 655"/>
          <p:cNvSpPr txBox="1"/>
          <p:nvPr/>
        </p:nvSpPr>
        <p:spPr>
          <a:xfrm>
            <a:off x="5802840" y="5352480"/>
            <a:ext cx="276120" cy="37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180" b="0" u="none" strike="noStrike">
                <a:solidFill>
                  <a:srgbClr val="4A4A4A"/>
                </a:solidFill>
                <a:effectLst/>
                <a:uFillTx/>
                <a:latin typeface="KaTeX_Main"/>
                <a:ea typeface="KaTeX_Main"/>
              </a:rPr>
              <a:t>ı</a:t>
            </a:r>
            <a:endParaRPr lang="es-ES" sz="2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Forma libre 656"/>
          <p:cNvSpPr/>
          <p:nvPr/>
        </p:nvSpPr>
        <p:spPr>
          <a:xfrm>
            <a:off x="4943160" y="5381280"/>
            <a:ext cx="3277080" cy="10080"/>
          </a:xfrm>
          <a:custGeom>
            <a:avLst/>
            <a:gdLst/>
            <a:ahLst/>
            <a:cxnLst/>
            <a:rect l="0" t="0" r="r" b="b"/>
            <a:pathLst>
              <a:path w="9103" h="28">
                <a:moveTo>
                  <a:pt x="0" y="0"/>
                </a:moveTo>
                <a:lnTo>
                  <a:pt x="9103" y="0"/>
                </a:lnTo>
                <a:lnTo>
                  <a:pt x="91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CuadroTexto 657"/>
          <p:cNvSpPr txBox="1"/>
          <p:nvPr/>
        </p:nvSpPr>
        <p:spPr>
          <a:xfrm>
            <a:off x="5772240" y="5352480"/>
            <a:ext cx="276120" cy="372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180" b="0" u="none" strike="noStrike">
                <a:solidFill>
                  <a:srgbClr val="4A4A4A"/>
                </a:solidFill>
                <a:effectLst/>
                <a:uFillTx/>
                <a:latin typeface="KaTeX_Main"/>
                <a:ea typeface="KaTeX_Main"/>
              </a:rPr>
              <a:t>ˊ</a:t>
            </a:r>
            <a:endParaRPr lang="es-ES" sz="21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CuadroTexto 658"/>
          <p:cNvSpPr txBox="1"/>
          <p:nvPr/>
        </p:nvSpPr>
        <p:spPr>
          <a:xfrm>
            <a:off x="5038993" y="4998478"/>
            <a:ext cx="3189527" cy="33547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180" dirty="0">
                <a:solidFill>
                  <a:srgbClr val="4A4A4A"/>
                </a:solidFill>
                <a:latin typeface="KaTeX_Main"/>
              </a:rPr>
              <a:t>Días con fármaco disponible</a:t>
            </a:r>
            <a:endParaRPr lang="es-ES" sz="21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CuadroTexto 66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CuadroTexto 66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CuadroTexto 66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Forma libre 66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Forma libre 66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Forma libre 6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CuadroTexto 669"/>
          <p:cNvSpPr txBox="1"/>
          <p:nvPr/>
        </p:nvSpPr>
        <p:spPr>
          <a:xfrm>
            <a:off x="666720" y="186336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Forma libre 670"/>
          <p:cNvSpPr/>
          <p:nvPr/>
        </p:nvSpPr>
        <p:spPr>
          <a:xfrm>
            <a:off x="7172280" y="2552400"/>
            <a:ext cx="2457720" cy="267120"/>
          </a:xfrm>
          <a:custGeom>
            <a:avLst/>
            <a:gdLst/>
            <a:ahLst/>
            <a:cxnLst/>
            <a:rect l="0" t="0" r="r" b="b"/>
            <a:pathLst>
              <a:path w="6827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6721" y="0"/>
                </a:lnTo>
                <a:cubicBezTo>
                  <a:pt x="6735" y="0"/>
                  <a:pt x="6749" y="3"/>
                  <a:pt x="6762" y="8"/>
                </a:cubicBezTo>
                <a:cubicBezTo>
                  <a:pt x="6775" y="14"/>
                  <a:pt x="6786" y="21"/>
                  <a:pt x="6796" y="31"/>
                </a:cubicBezTo>
                <a:cubicBezTo>
                  <a:pt x="6806" y="41"/>
                  <a:pt x="6813" y="53"/>
                  <a:pt x="6819" y="66"/>
                </a:cubicBezTo>
                <a:cubicBezTo>
                  <a:pt x="6824" y="79"/>
                  <a:pt x="6827" y="92"/>
                  <a:pt x="6827" y="106"/>
                </a:cubicBezTo>
                <a:lnTo>
                  <a:pt x="6827" y="635"/>
                </a:lnTo>
                <a:cubicBezTo>
                  <a:pt x="6827" y="649"/>
                  <a:pt x="6824" y="663"/>
                  <a:pt x="6819" y="676"/>
                </a:cubicBezTo>
                <a:cubicBezTo>
                  <a:pt x="6813" y="690"/>
                  <a:pt x="6806" y="701"/>
                  <a:pt x="6796" y="711"/>
                </a:cubicBezTo>
                <a:cubicBezTo>
                  <a:pt x="6786" y="721"/>
                  <a:pt x="6775" y="729"/>
                  <a:pt x="6762" y="734"/>
                </a:cubicBezTo>
                <a:cubicBezTo>
                  <a:pt x="6749" y="739"/>
                  <a:pt x="6735" y="742"/>
                  <a:pt x="6721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6"/>
                </a:cubicBezTo>
                <a:cubicBezTo>
                  <a:pt x="2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CuadroTexto 671"/>
          <p:cNvSpPr txBox="1"/>
          <p:nvPr/>
        </p:nvSpPr>
        <p:spPr>
          <a:xfrm>
            <a:off x="869760" y="2535120"/>
            <a:ext cx="6306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Prescrito, dispensado y administrado no son lo mismo.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CuadroTexto 672"/>
          <p:cNvSpPr txBox="1"/>
          <p:nvPr/>
        </p:nvSpPr>
        <p:spPr>
          <a:xfrm>
            <a:off x="7228800" y="2572560"/>
            <a:ext cx="2349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drug_type_concept_id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CuadroTexto 673"/>
          <p:cNvSpPr txBox="1"/>
          <p:nvPr/>
        </p:nvSpPr>
        <p:spPr>
          <a:xfrm>
            <a:off x="9625680" y="2535120"/>
            <a:ext cx="146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te dice cuánto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CuadroTexto 674"/>
          <p:cNvSpPr txBox="1"/>
          <p:nvPr/>
        </p:nvSpPr>
        <p:spPr>
          <a:xfrm>
            <a:off x="1123920" y="2877840"/>
            <a:ext cx="2440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puedes creerle a esa ﬁla.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Forma libre 675"/>
          <p:cNvSpPr/>
          <p:nvPr/>
        </p:nvSpPr>
        <p:spPr>
          <a:xfrm>
            <a:off x="1123920" y="3390840"/>
            <a:ext cx="1047960" cy="266760"/>
          </a:xfrm>
          <a:custGeom>
            <a:avLst/>
            <a:gdLst/>
            <a:ahLst/>
            <a:cxnLst/>
            <a:rect l="0" t="0" r="r" b="b"/>
            <a:pathLst>
              <a:path w="2911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805" y="0"/>
                </a:lnTo>
                <a:cubicBezTo>
                  <a:pt x="2819" y="0"/>
                  <a:pt x="2833" y="2"/>
                  <a:pt x="2846" y="8"/>
                </a:cubicBezTo>
                <a:cubicBezTo>
                  <a:pt x="2859" y="13"/>
                  <a:pt x="2870" y="21"/>
                  <a:pt x="2880" y="31"/>
                </a:cubicBezTo>
                <a:cubicBezTo>
                  <a:pt x="2890" y="41"/>
                  <a:pt x="2898" y="52"/>
                  <a:pt x="2903" y="65"/>
                </a:cubicBezTo>
                <a:cubicBezTo>
                  <a:pt x="2908" y="78"/>
                  <a:pt x="2911" y="91"/>
                  <a:pt x="2911" y="105"/>
                </a:cubicBezTo>
                <a:lnTo>
                  <a:pt x="2911" y="636"/>
                </a:lnTo>
                <a:cubicBezTo>
                  <a:pt x="2911" y="650"/>
                  <a:pt x="2908" y="663"/>
                  <a:pt x="2903" y="676"/>
                </a:cubicBezTo>
                <a:cubicBezTo>
                  <a:pt x="2898" y="689"/>
                  <a:pt x="2890" y="701"/>
                  <a:pt x="2880" y="711"/>
                </a:cubicBezTo>
                <a:cubicBezTo>
                  <a:pt x="2870" y="720"/>
                  <a:pt x="2859" y="728"/>
                  <a:pt x="2846" y="733"/>
                </a:cubicBezTo>
                <a:cubicBezTo>
                  <a:pt x="2833" y="739"/>
                  <a:pt x="2819" y="741"/>
                  <a:pt x="2805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CuadroTexto 676"/>
          <p:cNvSpPr txBox="1"/>
          <p:nvPr/>
        </p:nvSpPr>
        <p:spPr>
          <a:xfrm>
            <a:off x="869760" y="337320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CuadroTexto 677"/>
          <p:cNvSpPr txBox="1"/>
          <p:nvPr/>
        </p:nvSpPr>
        <p:spPr>
          <a:xfrm>
            <a:off x="1181160" y="341064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DRUG_ERA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CuadroTexto 678"/>
          <p:cNvSpPr txBox="1"/>
          <p:nvPr/>
        </p:nvSpPr>
        <p:spPr>
          <a:xfrm>
            <a:off x="2174400" y="3373200"/>
            <a:ext cx="9235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es el </a:t>
            </a:r>
            <a:r>
              <a:rPr lang="es-ES" sz="1800" b="1" i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gaps and islands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 la sesión 11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al nivel de ingrediente y con un gap de 30 días por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CuadroTexto 679"/>
          <p:cNvSpPr txBox="1"/>
          <p:nvPr/>
        </p:nvSpPr>
        <p:spPr>
          <a:xfrm>
            <a:off x="1123920" y="3716280"/>
            <a:ext cx="1190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convención.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CuadroTexto 680"/>
          <p:cNvSpPr txBox="1"/>
          <p:nvPr/>
        </p:nvSpPr>
        <p:spPr>
          <a:xfrm>
            <a:off x="869760" y="4211640"/>
            <a:ext cx="9851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Nunca promedies sin mirar la unidad.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al ﬁltrar implausibles, cita la fuente del rango y reporta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CuadroTexto 681"/>
          <p:cNvSpPr txBox="1"/>
          <p:nvPr/>
        </p:nvSpPr>
        <p:spPr>
          <a:xfrm>
            <a:off x="1123920" y="4554360"/>
            <a:ext cx="1766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cuántos excluiste.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CuadroTexto 68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CuadroTexto 68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CuadroTexto 68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Forma libre 68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Forma libre 68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Forma libre 68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CuadroTexto 688"/>
          <p:cNvSpPr txBox="1"/>
          <p:nvPr/>
        </p:nvSpPr>
        <p:spPr>
          <a:xfrm>
            <a:off x="666720" y="200628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CuadroTexto 689"/>
          <p:cNvSpPr txBox="1"/>
          <p:nvPr/>
        </p:nvSpPr>
        <p:spPr>
          <a:xfrm>
            <a:off x="666720" y="2717280"/>
            <a:ext cx="40748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Exposición a fármacos y laboratorios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Forma libre 690"/>
          <p:cNvSpPr/>
          <p:nvPr/>
        </p:nvSpPr>
        <p:spPr>
          <a:xfrm>
            <a:off x="1914480" y="3247920"/>
            <a:ext cx="1638360" cy="267120"/>
          </a:xfrm>
          <a:custGeom>
            <a:avLst/>
            <a:gdLst/>
            <a:ahLst/>
            <a:cxnLst/>
            <a:rect l="0" t="0" r="r" b="b"/>
            <a:pathLst>
              <a:path w="455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4446" y="0"/>
                </a:lnTo>
                <a:cubicBezTo>
                  <a:pt x="4460" y="0"/>
                  <a:pt x="4473" y="2"/>
                  <a:pt x="4486" y="8"/>
                </a:cubicBezTo>
                <a:cubicBezTo>
                  <a:pt x="4499" y="13"/>
                  <a:pt x="4511" y="21"/>
                  <a:pt x="4520" y="31"/>
                </a:cubicBezTo>
                <a:cubicBezTo>
                  <a:pt x="4530" y="41"/>
                  <a:pt x="4538" y="52"/>
                  <a:pt x="4543" y="65"/>
                </a:cubicBezTo>
                <a:cubicBezTo>
                  <a:pt x="4549" y="78"/>
                  <a:pt x="4551" y="92"/>
                  <a:pt x="4551" y="106"/>
                </a:cubicBezTo>
                <a:lnTo>
                  <a:pt x="4551" y="636"/>
                </a:lnTo>
                <a:cubicBezTo>
                  <a:pt x="4551" y="650"/>
                  <a:pt x="4549" y="663"/>
                  <a:pt x="4543" y="676"/>
                </a:cubicBezTo>
                <a:cubicBezTo>
                  <a:pt x="4538" y="689"/>
                  <a:pt x="4530" y="701"/>
                  <a:pt x="4520" y="711"/>
                </a:cubicBezTo>
                <a:cubicBezTo>
                  <a:pt x="4511" y="721"/>
                  <a:pt x="4499" y="728"/>
                  <a:pt x="4486" y="734"/>
                </a:cubicBezTo>
                <a:cubicBezTo>
                  <a:pt x="4473" y="739"/>
                  <a:pt x="4460" y="742"/>
                  <a:pt x="4446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CuadroTexto 691"/>
          <p:cNvSpPr txBox="1"/>
          <p:nvPr/>
        </p:nvSpPr>
        <p:spPr>
          <a:xfrm>
            <a:off x="666720" y="3230280"/>
            <a:ext cx="1250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Caracterizar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CuadroTexto 692"/>
          <p:cNvSpPr txBox="1"/>
          <p:nvPr/>
        </p:nvSpPr>
        <p:spPr>
          <a:xfrm>
            <a:off x="1973520" y="326772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DRUG_EXPOSURE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CuadroTexto 693"/>
          <p:cNvSpPr txBox="1"/>
          <p:nvPr/>
        </p:nvSpPr>
        <p:spPr>
          <a:xfrm>
            <a:off x="3551400" y="3230280"/>
            <a:ext cx="7059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construir tus propias eras y compararlas con la tabla derivada, calcular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CuadroTexto 694"/>
          <p:cNvSpPr txBox="1"/>
          <p:nvPr/>
        </p:nvSpPr>
        <p:spPr>
          <a:xfrm>
            <a:off x="666720" y="3573360"/>
            <a:ext cx="7390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adherencia, normalizar unidades y producir un reporte de calidad de datos.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Forma libre 695"/>
          <p:cNvSpPr/>
          <p:nvPr/>
        </p:nvSpPr>
        <p:spPr>
          <a:xfrm>
            <a:off x="1971360" y="4086000"/>
            <a:ext cx="1753200" cy="267120"/>
          </a:xfrm>
          <a:custGeom>
            <a:avLst/>
            <a:gdLst/>
            <a:ahLst/>
            <a:cxnLst/>
            <a:rect l="0" t="0" r="r" b="b"/>
            <a:pathLst>
              <a:path w="4870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764" y="0"/>
                </a:lnTo>
                <a:cubicBezTo>
                  <a:pt x="4778" y="0"/>
                  <a:pt x="4791" y="3"/>
                  <a:pt x="4804" y="8"/>
                </a:cubicBezTo>
                <a:cubicBezTo>
                  <a:pt x="4817" y="14"/>
                  <a:pt x="4829" y="21"/>
                  <a:pt x="4839" y="31"/>
                </a:cubicBezTo>
                <a:cubicBezTo>
                  <a:pt x="4849" y="41"/>
                  <a:pt x="4856" y="52"/>
                  <a:pt x="4862" y="65"/>
                </a:cubicBezTo>
                <a:cubicBezTo>
                  <a:pt x="4867" y="78"/>
                  <a:pt x="4870" y="92"/>
                  <a:pt x="4870" y="106"/>
                </a:cubicBezTo>
                <a:lnTo>
                  <a:pt x="4870" y="636"/>
                </a:lnTo>
                <a:cubicBezTo>
                  <a:pt x="4870" y="650"/>
                  <a:pt x="4867" y="664"/>
                  <a:pt x="4862" y="677"/>
                </a:cubicBezTo>
                <a:cubicBezTo>
                  <a:pt x="4856" y="690"/>
                  <a:pt x="4849" y="701"/>
                  <a:pt x="4839" y="711"/>
                </a:cubicBezTo>
                <a:cubicBezTo>
                  <a:pt x="4829" y="721"/>
                  <a:pt x="4817" y="729"/>
                  <a:pt x="4804" y="734"/>
                </a:cubicBezTo>
                <a:cubicBezTo>
                  <a:pt x="4791" y="739"/>
                  <a:pt x="4778" y="742"/>
                  <a:pt x="4764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CuadroTexto 696"/>
          <p:cNvSpPr txBox="1"/>
          <p:nvPr/>
        </p:nvSpPr>
        <p:spPr>
          <a:xfrm>
            <a:off x="666720" y="4068720"/>
            <a:ext cx="1312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CuadroTexto 697"/>
          <p:cNvSpPr txBox="1"/>
          <p:nvPr/>
        </p:nvSpPr>
        <p:spPr>
          <a:xfrm>
            <a:off x="2032200" y="4105800"/>
            <a:ext cx="1644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farmacoepi.sql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Forma libre 698"/>
          <p:cNvSpPr/>
          <p:nvPr/>
        </p:nvSpPr>
        <p:spPr>
          <a:xfrm>
            <a:off x="666720" y="4581360"/>
            <a:ext cx="4791240" cy="267120"/>
          </a:xfrm>
          <a:custGeom>
            <a:avLst/>
            <a:gdLst/>
            <a:ahLst/>
            <a:cxnLst/>
            <a:rect l="0" t="0" r="r" b="b"/>
            <a:pathLst>
              <a:path w="1330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3203" y="0"/>
                </a:lnTo>
                <a:cubicBezTo>
                  <a:pt x="13217" y="0"/>
                  <a:pt x="13231" y="3"/>
                  <a:pt x="13244" y="8"/>
                </a:cubicBezTo>
                <a:cubicBezTo>
                  <a:pt x="13257" y="13"/>
                  <a:pt x="13268" y="21"/>
                  <a:pt x="13278" y="31"/>
                </a:cubicBezTo>
                <a:cubicBezTo>
                  <a:pt x="13288" y="41"/>
                  <a:pt x="13296" y="52"/>
                  <a:pt x="13301" y="65"/>
                </a:cubicBezTo>
                <a:cubicBezTo>
                  <a:pt x="13306" y="78"/>
                  <a:pt x="13309" y="92"/>
                  <a:pt x="13309" y="106"/>
                </a:cubicBezTo>
                <a:lnTo>
                  <a:pt x="13309" y="636"/>
                </a:lnTo>
                <a:cubicBezTo>
                  <a:pt x="13309" y="650"/>
                  <a:pt x="13306" y="663"/>
                  <a:pt x="13301" y="676"/>
                </a:cubicBezTo>
                <a:cubicBezTo>
                  <a:pt x="13296" y="689"/>
                  <a:pt x="13288" y="701"/>
                  <a:pt x="13278" y="711"/>
                </a:cubicBezTo>
                <a:cubicBezTo>
                  <a:pt x="13268" y="721"/>
                  <a:pt x="13257" y="728"/>
                  <a:pt x="13244" y="734"/>
                </a:cubicBezTo>
                <a:cubicBezTo>
                  <a:pt x="13231" y="739"/>
                  <a:pt x="13217" y="742"/>
                  <a:pt x="13203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CuadroTexto 699"/>
          <p:cNvSpPr txBox="1"/>
          <p:nvPr/>
        </p:nvSpPr>
        <p:spPr>
          <a:xfrm>
            <a:off x="3727080" y="4068720"/>
            <a:ext cx="3475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+ reporte de calidad con números.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CuadroTexto 700"/>
          <p:cNvSpPr txBox="1"/>
          <p:nvPr/>
        </p:nvSpPr>
        <p:spPr>
          <a:xfrm>
            <a:off x="723960" y="4601160"/>
            <a:ext cx="4698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labs</a:t>
            </a:r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/s13-omop-drug-measurement/</a:t>
            </a:r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README.md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CuadroTexto 70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CuadroTexto 70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CuadroTexto 70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Forma libre 70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Forma libre 70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Forma libre 70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CuadroTexto 707"/>
          <p:cNvSpPr txBox="1"/>
          <p:nvPr/>
        </p:nvSpPr>
        <p:spPr>
          <a:xfrm>
            <a:off x="4672800" y="269244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CuadroTexto 71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13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CuadroTexto 71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CuadroTexto 71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1884</Words>
  <Application>Microsoft Macintosh PowerPoint</Application>
  <PresentationFormat>Panorámica</PresentationFormat>
  <Paragraphs>315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3" baseType="lpstr">
      <vt:lpstr>Arial</vt:lpstr>
      <vt:lpstr>HelveticaNeue</vt:lpstr>
      <vt:lpstr>KaTeX_Main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3</cp:revision>
  <dcterms:modified xsi:type="dcterms:W3CDTF">2026-09-22T13:57:28Z</dcterms:modified>
  <dc:language>es-ES</dc:language>
</cp:coreProperties>
</file>