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81" r:id="rId20"/>
    <p:sldId id="274" r:id="rId21"/>
    <p:sldId id="275" r:id="rId22"/>
    <p:sldId id="276" r:id="rId23"/>
    <p:sldId id="277" r:id="rId24"/>
    <p:sldId id="278" r:id="rId25"/>
    <p:sldId id="279" r:id="rId26"/>
    <p:sldId id="280" r:id="rId27"/>
  </p:sldIdLst>
  <p:sldSz cx="12192000" cy="6858000"/>
  <p:notesSz cx="7772400" cy="100584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s-E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s-E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s-E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rma libre 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Forma libre 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Forma libre 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Forma libre 8"/>
          <p:cNvSpPr/>
          <p:nvPr/>
        </p:nvSpPr>
        <p:spPr>
          <a:xfrm>
            <a:off x="666720" y="2904840"/>
            <a:ext cx="10858680" cy="38520"/>
          </a:xfrm>
          <a:custGeom>
            <a:avLst/>
            <a:gdLst/>
            <a:ahLst/>
            <a:cxnLst/>
            <a:rect l="0" t="0" r="r" b="b"/>
            <a:pathLst>
              <a:path w="30163" h="107">
                <a:moveTo>
                  <a:pt x="0" y="0"/>
                </a:moveTo>
                <a:lnTo>
                  <a:pt x="30163" y="0"/>
                </a:lnTo>
                <a:lnTo>
                  <a:pt x="30163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666720" y="2203920"/>
            <a:ext cx="2050920" cy="56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37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Sesión 14</a:t>
            </a:r>
            <a:endParaRPr lang="es-ES" sz="3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CuadroTexto 10"/>
          <p:cNvSpPr txBox="1"/>
          <p:nvPr/>
        </p:nvSpPr>
        <p:spPr>
          <a:xfrm>
            <a:off x="666720" y="3187440"/>
            <a:ext cx="652104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1B7CA8"/>
                </a:solidFill>
                <a:effectLst/>
                <a:uFillTx/>
                <a:latin typeface="HelveticaNeue"/>
                <a:ea typeface="HelveticaNeue"/>
              </a:rPr>
              <a:t>Vocabularios Estándar: SNOMED CT e ICD-10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666720" y="3868560"/>
            <a:ext cx="53460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Bloque III — SQL y datos clínicos estandarizados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666720" y="4363920"/>
            <a:ext cx="62359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Dr. Antonio Daniel Martínez Gutiérrez Semestre 2027-1 · 1:30 h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CuadroTexto 13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14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CuadroTexto 14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orma libre 1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Forma libre 1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Forma libre 1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CuadroTexto 18"/>
          <p:cNvSpPr txBox="1"/>
          <p:nvPr/>
        </p:nvSpPr>
        <p:spPr>
          <a:xfrm>
            <a:off x="666720" y="2101680"/>
            <a:ext cx="304884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Objetivos de la sesión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CuadroTexto 19"/>
          <p:cNvSpPr txBox="1"/>
          <p:nvPr/>
        </p:nvSpPr>
        <p:spPr>
          <a:xfrm>
            <a:off x="666720" y="2773080"/>
            <a:ext cx="38541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Al terminar esta sesión serás capaz de: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CuadroTexto 20"/>
          <p:cNvSpPr txBox="1"/>
          <p:nvPr/>
        </p:nvSpPr>
        <p:spPr>
          <a:xfrm>
            <a:off x="869760" y="3268440"/>
            <a:ext cx="79531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1. Distinguir una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terminología de referencia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de una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clasiﬁcación estadística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CuadroTexto 21"/>
          <p:cNvSpPr txBox="1"/>
          <p:nvPr/>
        </p:nvSpPr>
        <p:spPr>
          <a:xfrm>
            <a:off x="869760" y="3668400"/>
            <a:ext cx="60069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2. Navegar SNOMED CT: jerarquías, atributos y poli-jerarquía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Forma libre 22"/>
          <p:cNvSpPr/>
          <p:nvPr/>
        </p:nvSpPr>
        <p:spPr>
          <a:xfrm>
            <a:off x="6536880" y="4117680"/>
            <a:ext cx="1172160" cy="267120"/>
          </a:xfrm>
          <a:custGeom>
            <a:avLst/>
            <a:gdLst/>
            <a:ahLst/>
            <a:cxnLst/>
            <a:rect l="0" t="0" r="r" b="b"/>
            <a:pathLst>
              <a:path w="3256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3150" y="0"/>
                </a:lnTo>
                <a:cubicBezTo>
                  <a:pt x="3164" y="0"/>
                  <a:pt x="3177" y="3"/>
                  <a:pt x="3190" y="8"/>
                </a:cubicBezTo>
                <a:cubicBezTo>
                  <a:pt x="3203" y="14"/>
                  <a:pt x="3215" y="21"/>
                  <a:pt x="3225" y="31"/>
                </a:cubicBezTo>
                <a:cubicBezTo>
                  <a:pt x="3235" y="41"/>
                  <a:pt x="3242" y="52"/>
                  <a:pt x="3248" y="65"/>
                </a:cubicBezTo>
                <a:cubicBezTo>
                  <a:pt x="3253" y="78"/>
                  <a:pt x="3256" y="92"/>
                  <a:pt x="3256" y="106"/>
                </a:cubicBezTo>
                <a:lnTo>
                  <a:pt x="3256" y="636"/>
                </a:lnTo>
                <a:cubicBezTo>
                  <a:pt x="3256" y="650"/>
                  <a:pt x="3253" y="664"/>
                  <a:pt x="3248" y="677"/>
                </a:cubicBezTo>
                <a:cubicBezTo>
                  <a:pt x="3242" y="690"/>
                  <a:pt x="3235" y="701"/>
                  <a:pt x="3225" y="711"/>
                </a:cubicBezTo>
                <a:cubicBezTo>
                  <a:pt x="3215" y="721"/>
                  <a:pt x="3203" y="729"/>
                  <a:pt x="3190" y="734"/>
                </a:cubicBezTo>
                <a:cubicBezTo>
                  <a:pt x="3177" y="739"/>
                  <a:pt x="3164" y="742"/>
                  <a:pt x="3150" y="742"/>
                </a:cubicBezTo>
                <a:lnTo>
                  <a:pt x="106" y="742"/>
                </a:lnTo>
                <a:cubicBezTo>
                  <a:pt x="92" y="742"/>
                  <a:pt x="79" y="739"/>
                  <a:pt x="66" y="734"/>
                </a:cubicBezTo>
                <a:cubicBezTo>
                  <a:pt x="53" y="729"/>
                  <a:pt x="41" y="721"/>
                  <a:pt x="31" y="711"/>
                </a:cubicBezTo>
                <a:cubicBezTo>
                  <a:pt x="21" y="701"/>
                  <a:pt x="14" y="690"/>
                  <a:pt x="8" y="677"/>
                </a:cubicBezTo>
                <a:cubicBezTo>
                  <a:pt x="3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CuadroTexto 23"/>
          <p:cNvSpPr txBox="1"/>
          <p:nvPr/>
        </p:nvSpPr>
        <p:spPr>
          <a:xfrm>
            <a:off x="869760" y="4068720"/>
            <a:ext cx="53834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3. Traducir códigos ICD-10 a conceptos estándar con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CuadroTexto 24"/>
          <p:cNvSpPr txBox="1"/>
          <p:nvPr/>
        </p:nvSpPr>
        <p:spPr>
          <a:xfrm>
            <a:off x="6594120" y="4086000"/>
            <a:ext cx="10576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 dirty="0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'</a:t>
            </a:r>
            <a:r>
              <a:rPr lang="es-ES" sz="1530" b="0" u="none" strike="noStrike" dirty="0" err="1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Maps</a:t>
            </a:r>
            <a:r>
              <a:rPr lang="es-ES" sz="1530" b="0" u="none" strike="noStrike" dirty="0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530" b="0" u="none" strike="noStrike" dirty="0" err="1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to</a:t>
            </a:r>
            <a:r>
              <a:rPr lang="es-ES" sz="1530" b="0" u="none" strike="noStrike" dirty="0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'</a:t>
            </a:r>
            <a:endParaRPr lang="es-ES" sz="153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CuadroTexto 25"/>
          <p:cNvSpPr txBox="1"/>
          <p:nvPr/>
        </p:nvSpPr>
        <p:spPr>
          <a:xfrm>
            <a:off x="869760" y="4468680"/>
            <a:ext cx="79221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4. Construir un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concept set defendible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— y medir el impacto de cada decisión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CuadroTexto 26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14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CuadroTexto 27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CuadroTexto 28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orma libre 2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Forma libre 3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Forma libre 3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Forma libre 32"/>
          <p:cNvSpPr/>
          <p:nvPr/>
        </p:nvSpPr>
        <p:spPr>
          <a:xfrm>
            <a:off x="666720" y="5114880"/>
            <a:ext cx="10858680" cy="571680"/>
          </a:xfrm>
          <a:custGeom>
            <a:avLst/>
            <a:gdLst/>
            <a:ahLst/>
            <a:cxnLst/>
            <a:rect l="0" t="0" r="r" b="b"/>
            <a:pathLst>
              <a:path w="30163" h="1588">
                <a:moveTo>
                  <a:pt x="0" y="0"/>
                </a:moveTo>
                <a:lnTo>
                  <a:pt x="30163" y="0"/>
                </a:lnTo>
                <a:lnTo>
                  <a:pt x="30163" y="1588"/>
                </a:lnTo>
                <a:lnTo>
                  <a:pt x="0" y="1588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Forma libre 33"/>
          <p:cNvSpPr/>
          <p:nvPr/>
        </p:nvSpPr>
        <p:spPr>
          <a:xfrm>
            <a:off x="666720" y="5114880"/>
            <a:ext cx="47880" cy="571680"/>
          </a:xfrm>
          <a:custGeom>
            <a:avLst/>
            <a:gdLst/>
            <a:ahLst/>
            <a:cxnLst/>
            <a:rect l="0" t="0" r="r" b="b"/>
            <a:pathLst>
              <a:path w="133" h="1588">
                <a:moveTo>
                  <a:pt x="0" y="0"/>
                </a:moveTo>
                <a:lnTo>
                  <a:pt x="133" y="0"/>
                </a:lnTo>
                <a:lnTo>
                  <a:pt x="133" y="1588"/>
                </a:lnTo>
                <a:lnTo>
                  <a:pt x="0" y="1588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CuadroTexto 34"/>
          <p:cNvSpPr txBox="1"/>
          <p:nvPr/>
        </p:nvSpPr>
        <p:spPr>
          <a:xfrm>
            <a:off x="666720" y="1187280"/>
            <a:ext cx="108324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Agenda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CuadroTexto 35"/>
          <p:cNvSpPr txBox="1"/>
          <p:nvPr/>
        </p:nvSpPr>
        <p:spPr>
          <a:xfrm>
            <a:off x="869760" y="1858680"/>
            <a:ext cx="39722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1. Por qué existen vocabularios distintos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CuadroTexto 36"/>
          <p:cNvSpPr txBox="1"/>
          <p:nvPr/>
        </p:nvSpPr>
        <p:spPr>
          <a:xfrm>
            <a:off x="869760" y="2259000"/>
            <a:ext cx="26575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2. SNOMED CT por dentro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CuadroTexto 37"/>
          <p:cNvSpPr txBox="1"/>
          <p:nvPr/>
        </p:nvSpPr>
        <p:spPr>
          <a:xfrm>
            <a:off x="869760" y="2658960"/>
            <a:ext cx="24775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3. ICD-10 y sus variantes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CuadroTexto 38"/>
          <p:cNvSpPr txBox="1"/>
          <p:nvPr/>
        </p:nvSpPr>
        <p:spPr>
          <a:xfrm>
            <a:off x="869760" y="3058920"/>
            <a:ext cx="26996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4. Cómo lo resuelve OMOP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CuadroTexto 39"/>
          <p:cNvSpPr txBox="1"/>
          <p:nvPr/>
        </p:nvSpPr>
        <p:spPr>
          <a:xfrm>
            <a:off x="869760" y="3458880"/>
            <a:ext cx="33037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5. Consultar vocabularios en SQL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CuadroTexto 40"/>
          <p:cNvSpPr txBox="1"/>
          <p:nvPr/>
        </p:nvSpPr>
        <p:spPr>
          <a:xfrm>
            <a:off x="869760" y="3859200"/>
            <a:ext cx="25081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6. ATHENA en la práctica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CuadroTexto 41"/>
          <p:cNvSpPr txBox="1"/>
          <p:nvPr/>
        </p:nvSpPr>
        <p:spPr>
          <a:xfrm>
            <a:off x="869760" y="4259160"/>
            <a:ext cx="39600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7. Concept sets: deﬁnir una enfermedad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CuadroTexto 42"/>
          <p:cNvSpPr txBox="1"/>
          <p:nvPr/>
        </p:nvSpPr>
        <p:spPr>
          <a:xfrm>
            <a:off x="869760" y="4659120"/>
            <a:ext cx="35661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8. Validez: ¿mide lo que dice medir?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CuadroTexto 43"/>
          <p:cNvSpPr txBox="1"/>
          <p:nvPr/>
        </p:nvSpPr>
        <p:spPr>
          <a:xfrm>
            <a:off x="905040" y="5268600"/>
            <a:ext cx="52930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Laboratorio:</a:t>
            </a:r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 construir y validar tu primer concept set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CuadroTexto 44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14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CuadroTexto 45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CuadroTexto 46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3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Forma libre 4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Forma libre 4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Forma libre 4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CuadroTexto 50"/>
          <p:cNvSpPr txBox="1"/>
          <p:nvPr/>
        </p:nvSpPr>
        <p:spPr>
          <a:xfrm>
            <a:off x="1035000" y="3063960"/>
            <a:ext cx="1041228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1. Vocabularios distintos, propósitos distintos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CuadroTexto 51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14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CuadroTexto 52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CuadroTexto 53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4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Forma libre 5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Forma libre 5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Forma libre 5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Forma libre 57"/>
          <p:cNvSpPr/>
          <p:nvPr/>
        </p:nvSpPr>
        <p:spPr>
          <a:xfrm>
            <a:off x="676080" y="1914480"/>
            <a:ext cx="1609920" cy="409680"/>
          </a:xfrm>
          <a:custGeom>
            <a:avLst/>
            <a:gdLst/>
            <a:ahLst/>
            <a:cxnLst/>
            <a:rect l="0" t="0" r="r" b="b"/>
            <a:pathLst>
              <a:path w="4472" h="1138">
                <a:moveTo>
                  <a:pt x="0" y="0"/>
                </a:moveTo>
                <a:lnTo>
                  <a:pt x="4472" y="0"/>
                </a:lnTo>
                <a:lnTo>
                  <a:pt x="4472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Forma libre 58"/>
          <p:cNvSpPr/>
          <p:nvPr/>
        </p:nvSpPr>
        <p:spPr>
          <a:xfrm>
            <a:off x="2285640" y="1914480"/>
            <a:ext cx="2610360" cy="409680"/>
          </a:xfrm>
          <a:custGeom>
            <a:avLst/>
            <a:gdLst/>
            <a:ahLst/>
            <a:cxnLst/>
            <a:rect l="0" t="0" r="r" b="b"/>
            <a:pathLst>
              <a:path w="7251" h="1138">
                <a:moveTo>
                  <a:pt x="0" y="0"/>
                </a:moveTo>
                <a:lnTo>
                  <a:pt x="7251" y="0"/>
                </a:lnTo>
                <a:lnTo>
                  <a:pt x="7251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Forma libre 59"/>
          <p:cNvSpPr/>
          <p:nvPr/>
        </p:nvSpPr>
        <p:spPr>
          <a:xfrm>
            <a:off x="4895640" y="1914480"/>
            <a:ext cx="2819880" cy="409680"/>
          </a:xfrm>
          <a:custGeom>
            <a:avLst/>
            <a:gdLst/>
            <a:ahLst/>
            <a:cxnLst/>
            <a:rect l="0" t="0" r="r" b="b"/>
            <a:pathLst>
              <a:path w="7833" h="1138">
                <a:moveTo>
                  <a:pt x="0" y="0"/>
                </a:moveTo>
                <a:lnTo>
                  <a:pt x="7833" y="0"/>
                </a:lnTo>
                <a:lnTo>
                  <a:pt x="7833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Forma libre 60"/>
          <p:cNvSpPr/>
          <p:nvPr/>
        </p:nvSpPr>
        <p:spPr>
          <a:xfrm>
            <a:off x="676080" y="1914480"/>
            <a:ext cx="1609920" cy="409680"/>
          </a:xfrm>
          <a:custGeom>
            <a:avLst/>
            <a:gdLst/>
            <a:ahLst/>
            <a:cxnLst/>
            <a:rect l="0" t="0" r="r" b="b"/>
            <a:pathLst>
              <a:path w="4472" h="1138">
                <a:moveTo>
                  <a:pt x="0" y="0"/>
                </a:moveTo>
                <a:lnTo>
                  <a:pt x="4472" y="0"/>
                </a:lnTo>
                <a:lnTo>
                  <a:pt x="4472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Forma libre 61"/>
          <p:cNvSpPr/>
          <p:nvPr/>
        </p:nvSpPr>
        <p:spPr>
          <a:xfrm>
            <a:off x="2285640" y="1914480"/>
            <a:ext cx="2610360" cy="409680"/>
          </a:xfrm>
          <a:custGeom>
            <a:avLst/>
            <a:gdLst/>
            <a:ahLst/>
            <a:cxnLst/>
            <a:rect l="0" t="0" r="r" b="b"/>
            <a:pathLst>
              <a:path w="7251" h="1138">
                <a:moveTo>
                  <a:pt x="0" y="0"/>
                </a:moveTo>
                <a:lnTo>
                  <a:pt x="7251" y="0"/>
                </a:lnTo>
                <a:lnTo>
                  <a:pt x="7251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Forma libre 62"/>
          <p:cNvSpPr/>
          <p:nvPr/>
        </p:nvSpPr>
        <p:spPr>
          <a:xfrm>
            <a:off x="4895640" y="1914480"/>
            <a:ext cx="2819880" cy="409680"/>
          </a:xfrm>
          <a:custGeom>
            <a:avLst/>
            <a:gdLst/>
            <a:ahLst/>
            <a:cxnLst/>
            <a:rect l="0" t="0" r="r" b="b"/>
            <a:pathLst>
              <a:path w="7833" h="1138">
                <a:moveTo>
                  <a:pt x="0" y="0"/>
                </a:moveTo>
                <a:lnTo>
                  <a:pt x="7833" y="0"/>
                </a:lnTo>
                <a:lnTo>
                  <a:pt x="7833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Forma libre 63"/>
          <p:cNvSpPr/>
          <p:nvPr/>
        </p:nvSpPr>
        <p:spPr>
          <a:xfrm>
            <a:off x="676080" y="2323800"/>
            <a:ext cx="1609920" cy="419400"/>
          </a:xfrm>
          <a:custGeom>
            <a:avLst/>
            <a:gdLst/>
            <a:ahLst/>
            <a:cxnLst/>
            <a:rect l="0" t="0" r="r" b="b"/>
            <a:pathLst>
              <a:path w="4472" h="1165">
                <a:moveTo>
                  <a:pt x="0" y="0"/>
                </a:moveTo>
                <a:lnTo>
                  <a:pt x="4472" y="0"/>
                </a:lnTo>
                <a:lnTo>
                  <a:pt x="4472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Forma libre 64"/>
          <p:cNvSpPr/>
          <p:nvPr/>
        </p:nvSpPr>
        <p:spPr>
          <a:xfrm>
            <a:off x="2285640" y="2323800"/>
            <a:ext cx="2610360" cy="419400"/>
          </a:xfrm>
          <a:custGeom>
            <a:avLst/>
            <a:gdLst/>
            <a:ahLst/>
            <a:cxnLst/>
            <a:rect l="0" t="0" r="r" b="b"/>
            <a:pathLst>
              <a:path w="7251" h="1165">
                <a:moveTo>
                  <a:pt x="0" y="0"/>
                </a:moveTo>
                <a:lnTo>
                  <a:pt x="7251" y="0"/>
                </a:lnTo>
                <a:lnTo>
                  <a:pt x="7251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Forma libre 65"/>
          <p:cNvSpPr/>
          <p:nvPr/>
        </p:nvSpPr>
        <p:spPr>
          <a:xfrm>
            <a:off x="4895640" y="2323800"/>
            <a:ext cx="2819880" cy="419400"/>
          </a:xfrm>
          <a:custGeom>
            <a:avLst/>
            <a:gdLst/>
            <a:ahLst/>
            <a:cxnLst/>
            <a:rect l="0" t="0" r="r" b="b"/>
            <a:pathLst>
              <a:path w="7833" h="1165">
                <a:moveTo>
                  <a:pt x="0" y="0"/>
                </a:moveTo>
                <a:lnTo>
                  <a:pt x="7833" y="0"/>
                </a:lnTo>
                <a:lnTo>
                  <a:pt x="7833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Forma libre 66"/>
          <p:cNvSpPr/>
          <p:nvPr/>
        </p:nvSpPr>
        <p:spPr>
          <a:xfrm>
            <a:off x="676080" y="2742840"/>
            <a:ext cx="1609920" cy="410040"/>
          </a:xfrm>
          <a:custGeom>
            <a:avLst/>
            <a:gdLst/>
            <a:ahLst/>
            <a:cxnLst/>
            <a:rect l="0" t="0" r="r" b="b"/>
            <a:pathLst>
              <a:path w="4472" h="1139">
                <a:moveTo>
                  <a:pt x="0" y="0"/>
                </a:moveTo>
                <a:lnTo>
                  <a:pt x="4472" y="0"/>
                </a:lnTo>
                <a:lnTo>
                  <a:pt x="4472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Forma libre 67"/>
          <p:cNvSpPr/>
          <p:nvPr/>
        </p:nvSpPr>
        <p:spPr>
          <a:xfrm>
            <a:off x="2285640" y="2742840"/>
            <a:ext cx="2610360" cy="410040"/>
          </a:xfrm>
          <a:custGeom>
            <a:avLst/>
            <a:gdLst/>
            <a:ahLst/>
            <a:cxnLst/>
            <a:rect l="0" t="0" r="r" b="b"/>
            <a:pathLst>
              <a:path w="7251" h="1139">
                <a:moveTo>
                  <a:pt x="0" y="0"/>
                </a:moveTo>
                <a:lnTo>
                  <a:pt x="7251" y="0"/>
                </a:lnTo>
                <a:lnTo>
                  <a:pt x="7251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Forma libre 68"/>
          <p:cNvSpPr/>
          <p:nvPr/>
        </p:nvSpPr>
        <p:spPr>
          <a:xfrm>
            <a:off x="4895640" y="2742840"/>
            <a:ext cx="2819880" cy="410040"/>
          </a:xfrm>
          <a:custGeom>
            <a:avLst/>
            <a:gdLst/>
            <a:ahLst/>
            <a:cxnLst/>
            <a:rect l="0" t="0" r="r" b="b"/>
            <a:pathLst>
              <a:path w="7833" h="1139">
                <a:moveTo>
                  <a:pt x="0" y="0"/>
                </a:moveTo>
                <a:lnTo>
                  <a:pt x="7833" y="0"/>
                </a:lnTo>
                <a:lnTo>
                  <a:pt x="7833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Forma libre 69"/>
          <p:cNvSpPr/>
          <p:nvPr/>
        </p:nvSpPr>
        <p:spPr>
          <a:xfrm>
            <a:off x="676080" y="3152520"/>
            <a:ext cx="1609920" cy="410040"/>
          </a:xfrm>
          <a:custGeom>
            <a:avLst/>
            <a:gdLst/>
            <a:ahLst/>
            <a:cxnLst/>
            <a:rect l="0" t="0" r="r" b="b"/>
            <a:pathLst>
              <a:path w="4472" h="1139">
                <a:moveTo>
                  <a:pt x="0" y="0"/>
                </a:moveTo>
                <a:lnTo>
                  <a:pt x="4472" y="0"/>
                </a:lnTo>
                <a:lnTo>
                  <a:pt x="4472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Forma libre 70"/>
          <p:cNvSpPr/>
          <p:nvPr/>
        </p:nvSpPr>
        <p:spPr>
          <a:xfrm>
            <a:off x="2285640" y="3152520"/>
            <a:ext cx="2610360" cy="410040"/>
          </a:xfrm>
          <a:custGeom>
            <a:avLst/>
            <a:gdLst/>
            <a:ahLst/>
            <a:cxnLst/>
            <a:rect l="0" t="0" r="r" b="b"/>
            <a:pathLst>
              <a:path w="7251" h="1139">
                <a:moveTo>
                  <a:pt x="0" y="0"/>
                </a:moveTo>
                <a:lnTo>
                  <a:pt x="7251" y="0"/>
                </a:lnTo>
                <a:lnTo>
                  <a:pt x="7251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Forma libre 71"/>
          <p:cNvSpPr/>
          <p:nvPr/>
        </p:nvSpPr>
        <p:spPr>
          <a:xfrm>
            <a:off x="4895640" y="3152520"/>
            <a:ext cx="2819880" cy="410040"/>
          </a:xfrm>
          <a:custGeom>
            <a:avLst/>
            <a:gdLst/>
            <a:ahLst/>
            <a:cxnLst/>
            <a:rect l="0" t="0" r="r" b="b"/>
            <a:pathLst>
              <a:path w="7833" h="1139">
                <a:moveTo>
                  <a:pt x="0" y="0"/>
                </a:moveTo>
                <a:lnTo>
                  <a:pt x="7833" y="0"/>
                </a:lnTo>
                <a:lnTo>
                  <a:pt x="7833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Forma libre 72"/>
          <p:cNvSpPr/>
          <p:nvPr/>
        </p:nvSpPr>
        <p:spPr>
          <a:xfrm>
            <a:off x="676080" y="3562200"/>
            <a:ext cx="1609920" cy="410040"/>
          </a:xfrm>
          <a:custGeom>
            <a:avLst/>
            <a:gdLst/>
            <a:ahLst/>
            <a:cxnLst/>
            <a:rect l="0" t="0" r="r" b="b"/>
            <a:pathLst>
              <a:path w="4472" h="1139">
                <a:moveTo>
                  <a:pt x="0" y="0"/>
                </a:moveTo>
                <a:lnTo>
                  <a:pt x="4472" y="0"/>
                </a:lnTo>
                <a:lnTo>
                  <a:pt x="4472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Forma libre 73"/>
          <p:cNvSpPr/>
          <p:nvPr/>
        </p:nvSpPr>
        <p:spPr>
          <a:xfrm>
            <a:off x="2285640" y="3562200"/>
            <a:ext cx="2610360" cy="410040"/>
          </a:xfrm>
          <a:custGeom>
            <a:avLst/>
            <a:gdLst/>
            <a:ahLst/>
            <a:cxnLst/>
            <a:rect l="0" t="0" r="r" b="b"/>
            <a:pathLst>
              <a:path w="7251" h="1139">
                <a:moveTo>
                  <a:pt x="0" y="0"/>
                </a:moveTo>
                <a:lnTo>
                  <a:pt x="7251" y="0"/>
                </a:lnTo>
                <a:lnTo>
                  <a:pt x="7251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Forma libre 74"/>
          <p:cNvSpPr/>
          <p:nvPr/>
        </p:nvSpPr>
        <p:spPr>
          <a:xfrm>
            <a:off x="4895640" y="3562200"/>
            <a:ext cx="2819880" cy="410040"/>
          </a:xfrm>
          <a:custGeom>
            <a:avLst/>
            <a:gdLst/>
            <a:ahLst/>
            <a:cxnLst/>
            <a:rect l="0" t="0" r="r" b="b"/>
            <a:pathLst>
              <a:path w="7833" h="1139">
                <a:moveTo>
                  <a:pt x="0" y="0"/>
                </a:moveTo>
                <a:lnTo>
                  <a:pt x="7833" y="0"/>
                </a:lnTo>
                <a:lnTo>
                  <a:pt x="7833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Forma libre 75"/>
          <p:cNvSpPr/>
          <p:nvPr/>
        </p:nvSpPr>
        <p:spPr>
          <a:xfrm>
            <a:off x="676080" y="3971880"/>
            <a:ext cx="1609920" cy="409680"/>
          </a:xfrm>
          <a:custGeom>
            <a:avLst/>
            <a:gdLst/>
            <a:ahLst/>
            <a:cxnLst/>
            <a:rect l="0" t="0" r="r" b="b"/>
            <a:pathLst>
              <a:path w="4472" h="1138">
                <a:moveTo>
                  <a:pt x="0" y="0"/>
                </a:moveTo>
                <a:lnTo>
                  <a:pt x="4472" y="0"/>
                </a:lnTo>
                <a:lnTo>
                  <a:pt x="4472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Forma libre 76"/>
          <p:cNvSpPr/>
          <p:nvPr/>
        </p:nvSpPr>
        <p:spPr>
          <a:xfrm>
            <a:off x="2285640" y="3971880"/>
            <a:ext cx="2610360" cy="409680"/>
          </a:xfrm>
          <a:custGeom>
            <a:avLst/>
            <a:gdLst/>
            <a:ahLst/>
            <a:cxnLst/>
            <a:rect l="0" t="0" r="r" b="b"/>
            <a:pathLst>
              <a:path w="7251" h="1138">
                <a:moveTo>
                  <a:pt x="0" y="0"/>
                </a:moveTo>
                <a:lnTo>
                  <a:pt x="7251" y="0"/>
                </a:lnTo>
                <a:lnTo>
                  <a:pt x="7251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Forma libre 77"/>
          <p:cNvSpPr/>
          <p:nvPr/>
        </p:nvSpPr>
        <p:spPr>
          <a:xfrm>
            <a:off x="4895640" y="3971880"/>
            <a:ext cx="2819880" cy="409680"/>
          </a:xfrm>
          <a:custGeom>
            <a:avLst/>
            <a:gdLst/>
            <a:ahLst/>
            <a:cxnLst/>
            <a:rect l="0" t="0" r="r" b="b"/>
            <a:pathLst>
              <a:path w="7833" h="1138">
                <a:moveTo>
                  <a:pt x="0" y="0"/>
                </a:moveTo>
                <a:lnTo>
                  <a:pt x="7833" y="0"/>
                </a:lnTo>
                <a:lnTo>
                  <a:pt x="7833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Forma libre 78"/>
          <p:cNvSpPr/>
          <p:nvPr/>
        </p:nvSpPr>
        <p:spPr>
          <a:xfrm>
            <a:off x="666720" y="190476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Forma libre 79"/>
          <p:cNvSpPr/>
          <p:nvPr/>
        </p:nvSpPr>
        <p:spPr>
          <a:xfrm>
            <a:off x="666720" y="1904760"/>
            <a:ext cx="1629000" cy="10080"/>
          </a:xfrm>
          <a:custGeom>
            <a:avLst/>
            <a:gdLst/>
            <a:ahLst/>
            <a:cxnLst/>
            <a:rect l="0" t="0" r="r" b="b"/>
            <a:pathLst>
              <a:path w="4525" h="28">
                <a:moveTo>
                  <a:pt x="0" y="0"/>
                </a:moveTo>
                <a:lnTo>
                  <a:pt x="4525" y="0"/>
                </a:lnTo>
                <a:lnTo>
                  <a:pt x="452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Forma libre 80"/>
          <p:cNvSpPr/>
          <p:nvPr/>
        </p:nvSpPr>
        <p:spPr>
          <a:xfrm>
            <a:off x="2285640" y="190476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Forma libre 81"/>
          <p:cNvSpPr/>
          <p:nvPr/>
        </p:nvSpPr>
        <p:spPr>
          <a:xfrm>
            <a:off x="2295360" y="1904760"/>
            <a:ext cx="2610360" cy="10080"/>
          </a:xfrm>
          <a:custGeom>
            <a:avLst/>
            <a:gdLst/>
            <a:ahLst/>
            <a:cxnLst/>
            <a:rect l="0" t="0" r="r" b="b"/>
            <a:pathLst>
              <a:path w="7251" h="28">
                <a:moveTo>
                  <a:pt x="0" y="0"/>
                </a:moveTo>
                <a:lnTo>
                  <a:pt x="7251" y="0"/>
                </a:lnTo>
                <a:lnTo>
                  <a:pt x="725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Forma libre 82"/>
          <p:cNvSpPr/>
          <p:nvPr/>
        </p:nvSpPr>
        <p:spPr>
          <a:xfrm>
            <a:off x="4895640" y="190476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Forma libre 83"/>
          <p:cNvSpPr/>
          <p:nvPr/>
        </p:nvSpPr>
        <p:spPr>
          <a:xfrm>
            <a:off x="4905360" y="1904760"/>
            <a:ext cx="2819520" cy="10080"/>
          </a:xfrm>
          <a:custGeom>
            <a:avLst/>
            <a:gdLst/>
            <a:ahLst/>
            <a:cxnLst/>
            <a:rect l="0" t="0" r="r" b="b"/>
            <a:pathLst>
              <a:path w="7832" h="28">
                <a:moveTo>
                  <a:pt x="0" y="0"/>
                </a:moveTo>
                <a:lnTo>
                  <a:pt x="7832" y="0"/>
                </a:lnTo>
                <a:lnTo>
                  <a:pt x="783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Forma libre 84"/>
          <p:cNvSpPr/>
          <p:nvPr/>
        </p:nvSpPr>
        <p:spPr>
          <a:xfrm>
            <a:off x="7715160" y="190476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Forma libre 85"/>
          <p:cNvSpPr/>
          <p:nvPr/>
        </p:nvSpPr>
        <p:spPr>
          <a:xfrm>
            <a:off x="666720" y="2314440"/>
            <a:ext cx="1629000" cy="9720"/>
          </a:xfrm>
          <a:custGeom>
            <a:avLst/>
            <a:gdLst/>
            <a:ahLst/>
            <a:cxnLst/>
            <a:rect l="0" t="0" r="r" b="b"/>
            <a:pathLst>
              <a:path w="4525" h="27">
                <a:moveTo>
                  <a:pt x="0" y="0"/>
                </a:moveTo>
                <a:lnTo>
                  <a:pt x="4525" y="0"/>
                </a:lnTo>
                <a:lnTo>
                  <a:pt x="452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Forma libre 86"/>
          <p:cNvSpPr/>
          <p:nvPr/>
        </p:nvSpPr>
        <p:spPr>
          <a:xfrm>
            <a:off x="2295360" y="2314440"/>
            <a:ext cx="2610360" cy="9720"/>
          </a:xfrm>
          <a:custGeom>
            <a:avLst/>
            <a:gdLst/>
            <a:ahLst/>
            <a:cxnLst/>
            <a:rect l="0" t="0" r="r" b="b"/>
            <a:pathLst>
              <a:path w="7251" h="27">
                <a:moveTo>
                  <a:pt x="0" y="0"/>
                </a:moveTo>
                <a:lnTo>
                  <a:pt x="7251" y="0"/>
                </a:lnTo>
                <a:lnTo>
                  <a:pt x="725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Forma libre 87"/>
          <p:cNvSpPr/>
          <p:nvPr/>
        </p:nvSpPr>
        <p:spPr>
          <a:xfrm>
            <a:off x="4905360" y="2314440"/>
            <a:ext cx="2819520" cy="9720"/>
          </a:xfrm>
          <a:custGeom>
            <a:avLst/>
            <a:gdLst/>
            <a:ahLst/>
            <a:cxnLst/>
            <a:rect l="0" t="0" r="r" b="b"/>
            <a:pathLst>
              <a:path w="7832" h="27">
                <a:moveTo>
                  <a:pt x="0" y="0"/>
                </a:moveTo>
                <a:lnTo>
                  <a:pt x="7832" y="0"/>
                </a:lnTo>
                <a:lnTo>
                  <a:pt x="783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Forma libre 88"/>
          <p:cNvSpPr/>
          <p:nvPr/>
        </p:nvSpPr>
        <p:spPr>
          <a:xfrm>
            <a:off x="666720" y="232380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Forma libre 89"/>
          <p:cNvSpPr/>
          <p:nvPr/>
        </p:nvSpPr>
        <p:spPr>
          <a:xfrm>
            <a:off x="2285640" y="232380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Forma libre 90"/>
          <p:cNvSpPr/>
          <p:nvPr/>
        </p:nvSpPr>
        <p:spPr>
          <a:xfrm>
            <a:off x="4895640" y="232380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Forma libre 91"/>
          <p:cNvSpPr/>
          <p:nvPr/>
        </p:nvSpPr>
        <p:spPr>
          <a:xfrm>
            <a:off x="7715160" y="232380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Forma libre 92"/>
          <p:cNvSpPr/>
          <p:nvPr/>
        </p:nvSpPr>
        <p:spPr>
          <a:xfrm>
            <a:off x="666720" y="274284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Forma libre 93"/>
          <p:cNvSpPr/>
          <p:nvPr/>
        </p:nvSpPr>
        <p:spPr>
          <a:xfrm>
            <a:off x="666720" y="2733480"/>
            <a:ext cx="1629000" cy="9720"/>
          </a:xfrm>
          <a:custGeom>
            <a:avLst/>
            <a:gdLst/>
            <a:ahLst/>
            <a:cxnLst/>
            <a:rect l="0" t="0" r="r" b="b"/>
            <a:pathLst>
              <a:path w="4525" h="27">
                <a:moveTo>
                  <a:pt x="0" y="0"/>
                </a:moveTo>
                <a:lnTo>
                  <a:pt x="4525" y="0"/>
                </a:lnTo>
                <a:lnTo>
                  <a:pt x="452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Forma libre 94"/>
          <p:cNvSpPr/>
          <p:nvPr/>
        </p:nvSpPr>
        <p:spPr>
          <a:xfrm>
            <a:off x="2285640" y="2742840"/>
            <a:ext cx="10080" cy="410040"/>
          </a:xfrm>
          <a:custGeom>
            <a:avLst/>
            <a:gdLst/>
            <a:ahLst/>
            <a:cxnLst/>
            <a:rect l="0" t="0" r="r" b="b"/>
            <a:pathLst>
              <a:path w="28" h="1139">
                <a:moveTo>
                  <a:pt x="0" y="0"/>
                </a:moveTo>
                <a:lnTo>
                  <a:pt x="28" y="0"/>
                </a:lnTo>
                <a:lnTo>
                  <a:pt x="2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Forma libre 95"/>
          <p:cNvSpPr/>
          <p:nvPr/>
        </p:nvSpPr>
        <p:spPr>
          <a:xfrm>
            <a:off x="2295360" y="2733480"/>
            <a:ext cx="2610360" cy="9720"/>
          </a:xfrm>
          <a:custGeom>
            <a:avLst/>
            <a:gdLst/>
            <a:ahLst/>
            <a:cxnLst/>
            <a:rect l="0" t="0" r="r" b="b"/>
            <a:pathLst>
              <a:path w="7251" h="27">
                <a:moveTo>
                  <a:pt x="0" y="0"/>
                </a:moveTo>
                <a:lnTo>
                  <a:pt x="7251" y="0"/>
                </a:lnTo>
                <a:lnTo>
                  <a:pt x="725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Forma libre 96"/>
          <p:cNvSpPr/>
          <p:nvPr/>
        </p:nvSpPr>
        <p:spPr>
          <a:xfrm>
            <a:off x="4895640" y="2742840"/>
            <a:ext cx="10080" cy="410040"/>
          </a:xfrm>
          <a:custGeom>
            <a:avLst/>
            <a:gdLst/>
            <a:ahLst/>
            <a:cxnLst/>
            <a:rect l="0" t="0" r="r" b="b"/>
            <a:pathLst>
              <a:path w="28" h="1139">
                <a:moveTo>
                  <a:pt x="0" y="0"/>
                </a:moveTo>
                <a:lnTo>
                  <a:pt x="28" y="0"/>
                </a:lnTo>
                <a:lnTo>
                  <a:pt x="2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Forma libre 97"/>
          <p:cNvSpPr/>
          <p:nvPr/>
        </p:nvSpPr>
        <p:spPr>
          <a:xfrm>
            <a:off x="4905360" y="2733480"/>
            <a:ext cx="2819520" cy="9720"/>
          </a:xfrm>
          <a:custGeom>
            <a:avLst/>
            <a:gdLst/>
            <a:ahLst/>
            <a:cxnLst/>
            <a:rect l="0" t="0" r="r" b="b"/>
            <a:pathLst>
              <a:path w="7832" h="27">
                <a:moveTo>
                  <a:pt x="0" y="0"/>
                </a:moveTo>
                <a:lnTo>
                  <a:pt x="7832" y="0"/>
                </a:lnTo>
                <a:lnTo>
                  <a:pt x="783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Forma libre 98"/>
          <p:cNvSpPr/>
          <p:nvPr/>
        </p:nvSpPr>
        <p:spPr>
          <a:xfrm>
            <a:off x="7715160" y="274284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Forma libre 99"/>
          <p:cNvSpPr/>
          <p:nvPr/>
        </p:nvSpPr>
        <p:spPr>
          <a:xfrm>
            <a:off x="666720" y="315252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Forma libre 100"/>
          <p:cNvSpPr/>
          <p:nvPr/>
        </p:nvSpPr>
        <p:spPr>
          <a:xfrm>
            <a:off x="666720" y="3143160"/>
            <a:ext cx="1629000" cy="9720"/>
          </a:xfrm>
          <a:custGeom>
            <a:avLst/>
            <a:gdLst/>
            <a:ahLst/>
            <a:cxnLst/>
            <a:rect l="0" t="0" r="r" b="b"/>
            <a:pathLst>
              <a:path w="4525" h="27">
                <a:moveTo>
                  <a:pt x="0" y="0"/>
                </a:moveTo>
                <a:lnTo>
                  <a:pt x="4525" y="0"/>
                </a:lnTo>
                <a:lnTo>
                  <a:pt x="452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Forma libre 101"/>
          <p:cNvSpPr/>
          <p:nvPr/>
        </p:nvSpPr>
        <p:spPr>
          <a:xfrm>
            <a:off x="2285640" y="3152520"/>
            <a:ext cx="10080" cy="410040"/>
          </a:xfrm>
          <a:custGeom>
            <a:avLst/>
            <a:gdLst/>
            <a:ahLst/>
            <a:cxnLst/>
            <a:rect l="0" t="0" r="r" b="b"/>
            <a:pathLst>
              <a:path w="28" h="1139">
                <a:moveTo>
                  <a:pt x="0" y="0"/>
                </a:moveTo>
                <a:lnTo>
                  <a:pt x="28" y="0"/>
                </a:lnTo>
                <a:lnTo>
                  <a:pt x="2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Forma libre 102"/>
          <p:cNvSpPr/>
          <p:nvPr/>
        </p:nvSpPr>
        <p:spPr>
          <a:xfrm>
            <a:off x="2295360" y="3143160"/>
            <a:ext cx="2610360" cy="9720"/>
          </a:xfrm>
          <a:custGeom>
            <a:avLst/>
            <a:gdLst/>
            <a:ahLst/>
            <a:cxnLst/>
            <a:rect l="0" t="0" r="r" b="b"/>
            <a:pathLst>
              <a:path w="7251" h="27">
                <a:moveTo>
                  <a:pt x="0" y="0"/>
                </a:moveTo>
                <a:lnTo>
                  <a:pt x="7251" y="0"/>
                </a:lnTo>
                <a:lnTo>
                  <a:pt x="725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Forma libre 103"/>
          <p:cNvSpPr/>
          <p:nvPr/>
        </p:nvSpPr>
        <p:spPr>
          <a:xfrm>
            <a:off x="4895640" y="3152520"/>
            <a:ext cx="10080" cy="410040"/>
          </a:xfrm>
          <a:custGeom>
            <a:avLst/>
            <a:gdLst/>
            <a:ahLst/>
            <a:cxnLst/>
            <a:rect l="0" t="0" r="r" b="b"/>
            <a:pathLst>
              <a:path w="28" h="1139">
                <a:moveTo>
                  <a:pt x="0" y="0"/>
                </a:moveTo>
                <a:lnTo>
                  <a:pt x="28" y="0"/>
                </a:lnTo>
                <a:lnTo>
                  <a:pt x="2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Forma libre 104"/>
          <p:cNvSpPr/>
          <p:nvPr/>
        </p:nvSpPr>
        <p:spPr>
          <a:xfrm>
            <a:off x="4905360" y="3143160"/>
            <a:ext cx="2819520" cy="9720"/>
          </a:xfrm>
          <a:custGeom>
            <a:avLst/>
            <a:gdLst/>
            <a:ahLst/>
            <a:cxnLst/>
            <a:rect l="0" t="0" r="r" b="b"/>
            <a:pathLst>
              <a:path w="7832" h="27">
                <a:moveTo>
                  <a:pt x="0" y="0"/>
                </a:moveTo>
                <a:lnTo>
                  <a:pt x="7832" y="0"/>
                </a:lnTo>
                <a:lnTo>
                  <a:pt x="783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Forma libre 105"/>
          <p:cNvSpPr/>
          <p:nvPr/>
        </p:nvSpPr>
        <p:spPr>
          <a:xfrm>
            <a:off x="7715160" y="315252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Forma libre 106"/>
          <p:cNvSpPr/>
          <p:nvPr/>
        </p:nvSpPr>
        <p:spPr>
          <a:xfrm>
            <a:off x="666720" y="356220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Forma libre 107"/>
          <p:cNvSpPr/>
          <p:nvPr/>
        </p:nvSpPr>
        <p:spPr>
          <a:xfrm>
            <a:off x="666720" y="3552480"/>
            <a:ext cx="1629000" cy="10080"/>
          </a:xfrm>
          <a:custGeom>
            <a:avLst/>
            <a:gdLst/>
            <a:ahLst/>
            <a:cxnLst/>
            <a:rect l="0" t="0" r="r" b="b"/>
            <a:pathLst>
              <a:path w="4525" h="28">
                <a:moveTo>
                  <a:pt x="0" y="0"/>
                </a:moveTo>
                <a:lnTo>
                  <a:pt x="4525" y="0"/>
                </a:lnTo>
                <a:lnTo>
                  <a:pt x="452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Forma libre 108"/>
          <p:cNvSpPr/>
          <p:nvPr/>
        </p:nvSpPr>
        <p:spPr>
          <a:xfrm>
            <a:off x="2285640" y="3562200"/>
            <a:ext cx="10080" cy="410040"/>
          </a:xfrm>
          <a:custGeom>
            <a:avLst/>
            <a:gdLst/>
            <a:ahLst/>
            <a:cxnLst/>
            <a:rect l="0" t="0" r="r" b="b"/>
            <a:pathLst>
              <a:path w="28" h="1139">
                <a:moveTo>
                  <a:pt x="0" y="0"/>
                </a:moveTo>
                <a:lnTo>
                  <a:pt x="28" y="0"/>
                </a:lnTo>
                <a:lnTo>
                  <a:pt x="2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Forma libre 109"/>
          <p:cNvSpPr/>
          <p:nvPr/>
        </p:nvSpPr>
        <p:spPr>
          <a:xfrm>
            <a:off x="2295360" y="3552480"/>
            <a:ext cx="2610360" cy="10080"/>
          </a:xfrm>
          <a:custGeom>
            <a:avLst/>
            <a:gdLst/>
            <a:ahLst/>
            <a:cxnLst/>
            <a:rect l="0" t="0" r="r" b="b"/>
            <a:pathLst>
              <a:path w="7251" h="28">
                <a:moveTo>
                  <a:pt x="0" y="0"/>
                </a:moveTo>
                <a:lnTo>
                  <a:pt x="7251" y="0"/>
                </a:lnTo>
                <a:lnTo>
                  <a:pt x="725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Forma libre 110"/>
          <p:cNvSpPr/>
          <p:nvPr/>
        </p:nvSpPr>
        <p:spPr>
          <a:xfrm>
            <a:off x="4895640" y="3562200"/>
            <a:ext cx="10080" cy="410040"/>
          </a:xfrm>
          <a:custGeom>
            <a:avLst/>
            <a:gdLst/>
            <a:ahLst/>
            <a:cxnLst/>
            <a:rect l="0" t="0" r="r" b="b"/>
            <a:pathLst>
              <a:path w="28" h="1139">
                <a:moveTo>
                  <a:pt x="0" y="0"/>
                </a:moveTo>
                <a:lnTo>
                  <a:pt x="28" y="0"/>
                </a:lnTo>
                <a:lnTo>
                  <a:pt x="2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Forma libre 111"/>
          <p:cNvSpPr/>
          <p:nvPr/>
        </p:nvSpPr>
        <p:spPr>
          <a:xfrm>
            <a:off x="4905360" y="3552480"/>
            <a:ext cx="2819520" cy="10080"/>
          </a:xfrm>
          <a:custGeom>
            <a:avLst/>
            <a:gdLst/>
            <a:ahLst/>
            <a:cxnLst/>
            <a:rect l="0" t="0" r="r" b="b"/>
            <a:pathLst>
              <a:path w="7832" h="28">
                <a:moveTo>
                  <a:pt x="0" y="0"/>
                </a:moveTo>
                <a:lnTo>
                  <a:pt x="7832" y="0"/>
                </a:lnTo>
                <a:lnTo>
                  <a:pt x="783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Forma libre 112"/>
          <p:cNvSpPr/>
          <p:nvPr/>
        </p:nvSpPr>
        <p:spPr>
          <a:xfrm>
            <a:off x="7715160" y="356220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Forma libre 113"/>
          <p:cNvSpPr/>
          <p:nvPr/>
        </p:nvSpPr>
        <p:spPr>
          <a:xfrm>
            <a:off x="666720" y="3971880"/>
            <a:ext cx="9720" cy="409680"/>
          </a:xfrm>
          <a:custGeom>
            <a:avLst/>
            <a:gdLst/>
            <a:ahLst/>
            <a:cxnLst/>
            <a:rect l="0" t="0" r="r" b="b"/>
            <a:pathLst>
              <a:path w="27" h="1138">
                <a:moveTo>
                  <a:pt x="0" y="0"/>
                </a:moveTo>
                <a:lnTo>
                  <a:pt x="27" y="0"/>
                </a:lnTo>
                <a:lnTo>
                  <a:pt x="27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Forma libre 114"/>
          <p:cNvSpPr/>
          <p:nvPr/>
        </p:nvSpPr>
        <p:spPr>
          <a:xfrm>
            <a:off x="666720" y="3962160"/>
            <a:ext cx="1629000" cy="10080"/>
          </a:xfrm>
          <a:custGeom>
            <a:avLst/>
            <a:gdLst/>
            <a:ahLst/>
            <a:cxnLst/>
            <a:rect l="0" t="0" r="r" b="b"/>
            <a:pathLst>
              <a:path w="4525" h="28">
                <a:moveTo>
                  <a:pt x="0" y="0"/>
                </a:moveTo>
                <a:lnTo>
                  <a:pt x="4525" y="0"/>
                </a:lnTo>
                <a:lnTo>
                  <a:pt x="452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Forma libre 115"/>
          <p:cNvSpPr/>
          <p:nvPr/>
        </p:nvSpPr>
        <p:spPr>
          <a:xfrm>
            <a:off x="2285640" y="3971880"/>
            <a:ext cx="10080" cy="409680"/>
          </a:xfrm>
          <a:custGeom>
            <a:avLst/>
            <a:gdLst/>
            <a:ahLst/>
            <a:cxnLst/>
            <a:rect l="0" t="0" r="r" b="b"/>
            <a:pathLst>
              <a:path w="28" h="1138">
                <a:moveTo>
                  <a:pt x="0" y="0"/>
                </a:moveTo>
                <a:lnTo>
                  <a:pt x="28" y="0"/>
                </a:lnTo>
                <a:lnTo>
                  <a:pt x="28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Forma libre 116"/>
          <p:cNvSpPr/>
          <p:nvPr/>
        </p:nvSpPr>
        <p:spPr>
          <a:xfrm>
            <a:off x="2295360" y="3962160"/>
            <a:ext cx="2610360" cy="10080"/>
          </a:xfrm>
          <a:custGeom>
            <a:avLst/>
            <a:gdLst/>
            <a:ahLst/>
            <a:cxnLst/>
            <a:rect l="0" t="0" r="r" b="b"/>
            <a:pathLst>
              <a:path w="7251" h="28">
                <a:moveTo>
                  <a:pt x="0" y="0"/>
                </a:moveTo>
                <a:lnTo>
                  <a:pt x="7251" y="0"/>
                </a:lnTo>
                <a:lnTo>
                  <a:pt x="725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Forma libre 117"/>
          <p:cNvSpPr/>
          <p:nvPr/>
        </p:nvSpPr>
        <p:spPr>
          <a:xfrm>
            <a:off x="4895640" y="3971880"/>
            <a:ext cx="10080" cy="409680"/>
          </a:xfrm>
          <a:custGeom>
            <a:avLst/>
            <a:gdLst/>
            <a:ahLst/>
            <a:cxnLst/>
            <a:rect l="0" t="0" r="r" b="b"/>
            <a:pathLst>
              <a:path w="28" h="1138">
                <a:moveTo>
                  <a:pt x="0" y="0"/>
                </a:moveTo>
                <a:lnTo>
                  <a:pt x="28" y="0"/>
                </a:lnTo>
                <a:lnTo>
                  <a:pt x="28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Forma libre 118"/>
          <p:cNvSpPr/>
          <p:nvPr/>
        </p:nvSpPr>
        <p:spPr>
          <a:xfrm>
            <a:off x="4905360" y="3962160"/>
            <a:ext cx="2819520" cy="10080"/>
          </a:xfrm>
          <a:custGeom>
            <a:avLst/>
            <a:gdLst/>
            <a:ahLst/>
            <a:cxnLst/>
            <a:rect l="0" t="0" r="r" b="b"/>
            <a:pathLst>
              <a:path w="7832" h="28">
                <a:moveTo>
                  <a:pt x="0" y="0"/>
                </a:moveTo>
                <a:lnTo>
                  <a:pt x="7832" y="0"/>
                </a:lnTo>
                <a:lnTo>
                  <a:pt x="783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Forma libre 119"/>
          <p:cNvSpPr/>
          <p:nvPr/>
        </p:nvSpPr>
        <p:spPr>
          <a:xfrm>
            <a:off x="7715160" y="3971880"/>
            <a:ext cx="9720" cy="409680"/>
          </a:xfrm>
          <a:custGeom>
            <a:avLst/>
            <a:gdLst/>
            <a:ahLst/>
            <a:cxnLst/>
            <a:rect l="0" t="0" r="r" b="b"/>
            <a:pathLst>
              <a:path w="27" h="1138">
                <a:moveTo>
                  <a:pt x="0" y="0"/>
                </a:moveTo>
                <a:lnTo>
                  <a:pt x="27" y="0"/>
                </a:lnTo>
                <a:lnTo>
                  <a:pt x="27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Forma libre 120"/>
          <p:cNvSpPr/>
          <p:nvPr/>
        </p:nvSpPr>
        <p:spPr>
          <a:xfrm>
            <a:off x="666720" y="4371840"/>
            <a:ext cx="1629000" cy="9720"/>
          </a:xfrm>
          <a:custGeom>
            <a:avLst/>
            <a:gdLst/>
            <a:ahLst/>
            <a:cxnLst/>
            <a:rect l="0" t="0" r="r" b="b"/>
            <a:pathLst>
              <a:path w="4525" h="27">
                <a:moveTo>
                  <a:pt x="0" y="0"/>
                </a:moveTo>
                <a:lnTo>
                  <a:pt x="4525" y="0"/>
                </a:lnTo>
                <a:lnTo>
                  <a:pt x="452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Forma libre 121"/>
          <p:cNvSpPr/>
          <p:nvPr/>
        </p:nvSpPr>
        <p:spPr>
          <a:xfrm>
            <a:off x="2295360" y="4371840"/>
            <a:ext cx="2610360" cy="9720"/>
          </a:xfrm>
          <a:custGeom>
            <a:avLst/>
            <a:gdLst/>
            <a:ahLst/>
            <a:cxnLst/>
            <a:rect l="0" t="0" r="r" b="b"/>
            <a:pathLst>
              <a:path w="7251" h="27">
                <a:moveTo>
                  <a:pt x="0" y="0"/>
                </a:moveTo>
                <a:lnTo>
                  <a:pt x="7251" y="0"/>
                </a:lnTo>
                <a:lnTo>
                  <a:pt x="725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Forma libre 122"/>
          <p:cNvSpPr/>
          <p:nvPr/>
        </p:nvSpPr>
        <p:spPr>
          <a:xfrm>
            <a:off x="4905360" y="4371840"/>
            <a:ext cx="2819520" cy="9720"/>
          </a:xfrm>
          <a:custGeom>
            <a:avLst/>
            <a:gdLst/>
            <a:ahLst/>
            <a:cxnLst/>
            <a:rect l="0" t="0" r="r" b="b"/>
            <a:pathLst>
              <a:path w="7832" h="27">
                <a:moveTo>
                  <a:pt x="0" y="0"/>
                </a:moveTo>
                <a:lnTo>
                  <a:pt x="7832" y="0"/>
                </a:lnTo>
                <a:lnTo>
                  <a:pt x="783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Forma libre 123"/>
          <p:cNvSpPr/>
          <p:nvPr/>
        </p:nvSpPr>
        <p:spPr>
          <a:xfrm>
            <a:off x="690480" y="4533840"/>
            <a:ext cx="10834920" cy="1067040"/>
          </a:xfrm>
          <a:custGeom>
            <a:avLst/>
            <a:gdLst/>
            <a:ahLst/>
            <a:cxnLst/>
            <a:rect l="0" t="0" r="r" b="b"/>
            <a:pathLst>
              <a:path w="30097" h="2964">
                <a:moveTo>
                  <a:pt x="0" y="2964"/>
                </a:moveTo>
                <a:lnTo>
                  <a:pt x="0" y="0"/>
                </a:lnTo>
                <a:lnTo>
                  <a:pt x="29938" y="0"/>
                </a:lnTo>
                <a:cubicBezTo>
                  <a:pt x="29949" y="0"/>
                  <a:pt x="29959" y="1"/>
                  <a:pt x="29969" y="3"/>
                </a:cubicBezTo>
                <a:cubicBezTo>
                  <a:pt x="29980" y="5"/>
                  <a:pt x="29989" y="8"/>
                  <a:pt x="29999" y="12"/>
                </a:cubicBezTo>
                <a:cubicBezTo>
                  <a:pt x="30009" y="16"/>
                  <a:pt x="30018" y="21"/>
                  <a:pt x="30027" y="26"/>
                </a:cubicBezTo>
                <a:cubicBezTo>
                  <a:pt x="30035" y="32"/>
                  <a:pt x="30043" y="39"/>
                  <a:pt x="30051" y="46"/>
                </a:cubicBezTo>
                <a:cubicBezTo>
                  <a:pt x="30058" y="54"/>
                  <a:pt x="30065" y="62"/>
                  <a:pt x="30070" y="70"/>
                </a:cubicBezTo>
                <a:cubicBezTo>
                  <a:pt x="30076" y="79"/>
                  <a:pt x="30081" y="88"/>
                  <a:pt x="30085" y="98"/>
                </a:cubicBezTo>
                <a:cubicBezTo>
                  <a:pt x="30089" y="107"/>
                  <a:pt x="30092" y="117"/>
                  <a:pt x="30094" y="127"/>
                </a:cubicBezTo>
                <a:cubicBezTo>
                  <a:pt x="30096" y="138"/>
                  <a:pt x="30097" y="148"/>
                  <a:pt x="30097" y="158"/>
                </a:cubicBezTo>
                <a:lnTo>
                  <a:pt x="30097" y="2805"/>
                </a:lnTo>
                <a:cubicBezTo>
                  <a:pt x="30097" y="2816"/>
                  <a:pt x="30096" y="2826"/>
                  <a:pt x="30094" y="2836"/>
                </a:cubicBezTo>
                <a:cubicBezTo>
                  <a:pt x="30092" y="2846"/>
                  <a:pt x="30089" y="2856"/>
                  <a:pt x="30085" y="2866"/>
                </a:cubicBezTo>
                <a:cubicBezTo>
                  <a:pt x="30081" y="2876"/>
                  <a:pt x="30076" y="2885"/>
                  <a:pt x="30070" y="2893"/>
                </a:cubicBezTo>
                <a:cubicBezTo>
                  <a:pt x="30065" y="2902"/>
                  <a:pt x="30058" y="2910"/>
                  <a:pt x="30051" y="2918"/>
                </a:cubicBezTo>
                <a:cubicBezTo>
                  <a:pt x="30043" y="2925"/>
                  <a:pt x="30035" y="2931"/>
                  <a:pt x="30027" y="2937"/>
                </a:cubicBezTo>
                <a:cubicBezTo>
                  <a:pt x="30018" y="2943"/>
                  <a:pt x="30009" y="2948"/>
                  <a:pt x="29999" y="2952"/>
                </a:cubicBezTo>
                <a:cubicBezTo>
                  <a:pt x="29989" y="2956"/>
                  <a:pt x="29980" y="2959"/>
                  <a:pt x="29969" y="2961"/>
                </a:cubicBezTo>
                <a:cubicBezTo>
                  <a:pt x="29959" y="2963"/>
                  <a:pt x="29949" y="2964"/>
                  <a:pt x="29938" y="2964"/>
                </a:cubicBezTo>
                <a:lnTo>
                  <a:pt x="0" y="2964"/>
                </a:lnTo>
                <a:close/>
              </a:path>
            </a:pathLst>
          </a:custGeom>
          <a:solidFill>
            <a:srgbClr val="FFF6E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Forma libre 124"/>
          <p:cNvSpPr/>
          <p:nvPr/>
        </p:nvSpPr>
        <p:spPr>
          <a:xfrm>
            <a:off x="666720" y="4533840"/>
            <a:ext cx="47880" cy="1067040"/>
          </a:xfrm>
          <a:custGeom>
            <a:avLst/>
            <a:gdLst/>
            <a:ahLst/>
            <a:cxnLst/>
            <a:rect l="0" t="0" r="r" b="b"/>
            <a:pathLst>
              <a:path w="133" h="2964">
                <a:moveTo>
                  <a:pt x="0" y="0"/>
                </a:moveTo>
                <a:lnTo>
                  <a:pt x="133" y="0"/>
                </a:lnTo>
                <a:lnTo>
                  <a:pt x="133" y="2964"/>
                </a:lnTo>
                <a:lnTo>
                  <a:pt x="0" y="2964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CuadroTexto 125"/>
          <p:cNvSpPr txBox="1"/>
          <p:nvPr/>
        </p:nvSpPr>
        <p:spPr>
          <a:xfrm>
            <a:off x="666720" y="1272960"/>
            <a:ext cx="413136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Nacieron para cosas distintas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CuadroTexto 126"/>
          <p:cNvSpPr txBox="1"/>
          <p:nvPr/>
        </p:nvSpPr>
        <p:spPr>
          <a:xfrm>
            <a:off x="3014640" y="2009520"/>
            <a:ext cx="11617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SNOMED CT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CuadroTexto 127"/>
          <p:cNvSpPr txBox="1"/>
          <p:nvPr/>
        </p:nvSpPr>
        <p:spPr>
          <a:xfrm>
            <a:off x="5994360" y="2009520"/>
            <a:ext cx="6285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ICD-10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CuadroTexto 128"/>
          <p:cNvSpPr txBox="1"/>
          <p:nvPr/>
        </p:nvSpPr>
        <p:spPr>
          <a:xfrm>
            <a:off x="799920" y="2418840"/>
            <a:ext cx="13622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Para qué nació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CuadroTexto 129"/>
          <p:cNvSpPr txBox="1"/>
          <p:nvPr/>
        </p:nvSpPr>
        <p:spPr>
          <a:xfrm>
            <a:off x="2419200" y="2418840"/>
            <a:ext cx="18460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documentar</a:t>
            </a:r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la clínica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CuadroTexto 130"/>
          <p:cNvSpPr txBox="1"/>
          <p:nvPr/>
        </p:nvSpPr>
        <p:spPr>
          <a:xfrm>
            <a:off x="5028120" y="2418840"/>
            <a:ext cx="15145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contar y facturar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CuadroTexto 131"/>
          <p:cNvSpPr txBox="1"/>
          <p:nvPr/>
        </p:nvSpPr>
        <p:spPr>
          <a:xfrm>
            <a:off x="799920" y="2828520"/>
            <a:ext cx="35712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Tipo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CuadroTexto 132"/>
          <p:cNvSpPr txBox="1"/>
          <p:nvPr/>
        </p:nvSpPr>
        <p:spPr>
          <a:xfrm>
            <a:off x="2419200" y="2828520"/>
            <a:ext cx="211464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terminología de referencia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CuadroTexto 133"/>
          <p:cNvSpPr txBox="1"/>
          <p:nvPr/>
        </p:nvSpPr>
        <p:spPr>
          <a:xfrm>
            <a:off x="5028120" y="2828520"/>
            <a:ext cx="190944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clasiﬁcación estadística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CuadroTexto 134"/>
          <p:cNvSpPr txBox="1"/>
          <p:nvPr/>
        </p:nvSpPr>
        <p:spPr>
          <a:xfrm>
            <a:off x="799920" y="3238200"/>
            <a:ext cx="67140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Tamaño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CuadroTexto 135"/>
          <p:cNvSpPr txBox="1"/>
          <p:nvPr/>
        </p:nvSpPr>
        <p:spPr>
          <a:xfrm>
            <a:off x="2419200" y="3238200"/>
            <a:ext cx="235260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~350 000 conceptos activos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CuadroTexto 136"/>
          <p:cNvSpPr txBox="1"/>
          <p:nvPr/>
        </p:nvSpPr>
        <p:spPr>
          <a:xfrm>
            <a:off x="5028120" y="3238200"/>
            <a:ext cx="256140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~14 000 (OMS) / ~70 000 (CM)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CuadroTexto 137"/>
          <p:cNvSpPr txBox="1"/>
          <p:nvPr/>
        </p:nvSpPr>
        <p:spPr>
          <a:xfrm>
            <a:off x="799920" y="3647520"/>
            <a:ext cx="84060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Estructura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CuadroTexto 138"/>
          <p:cNvSpPr txBox="1"/>
          <p:nvPr/>
        </p:nvSpPr>
        <p:spPr>
          <a:xfrm>
            <a:off x="2419200" y="3647520"/>
            <a:ext cx="147564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red poli-jerárquica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CuadroTexto 139"/>
          <p:cNvSpPr txBox="1"/>
          <p:nvPr/>
        </p:nvSpPr>
        <p:spPr>
          <a:xfrm>
            <a:off x="5028120" y="3647520"/>
            <a:ext cx="245304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árbol, exhaustivo y excluyente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CuadroTexto 140"/>
          <p:cNvSpPr txBox="1"/>
          <p:nvPr/>
        </p:nvSpPr>
        <p:spPr>
          <a:xfrm>
            <a:off x="799920" y="4057200"/>
            <a:ext cx="10522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Granularidad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CuadroTexto 141"/>
          <p:cNvSpPr txBox="1"/>
          <p:nvPr/>
        </p:nvSpPr>
        <p:spPr>
          <a:xfrm>
            <a:off x="2419200" y="4057200"/>
            <a:ext cx="6922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muy alta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CuadroTexto 142"/>
          <p:cNvSpPr txBox="1"/>
          <p:nvPr/>
        </p:nvSpPr>
        <p:spPr>
          <a:xfrm>
            <a:off x="5028120" y="4057200"/>
            <a:ext cx="189936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agrupada por capítulos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CuadroTexto 143"/>
          <p:cNvSpPr txBox="1"/>
          <p:nvPr/>
        </p:nvSpPr>
        <p:spPr>
          <a:xfrm>
            <a:off x="885960" y="4687920"/>
            <a:ext cx="103266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Corolario incómodo: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el código de facturación no es el diagnóstico.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Puede aparecer para justiﬁcar un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CuadroTexto 144"/>
          <p:cNvSpPr txBox="1"/>
          <p:nvPr/>
        </p:nvSpPr>
        <p:spPr>
          <a:xfrm>
            <a:off x="885960" y="5030640"/>
            <a:ext cx="98496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estudio, puede ser el más rentable de los compatibles, o el que el sistema ofrecía primero en la lista.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CuadroTexto 145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14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CuadroTexto 146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CuadroTexto 147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5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Forma libre 14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Forma libre 14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Forma libre 15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CuadroTexto 151"/>
          <p:cNvSpPr txBox="1"/>
          <p:nvPr/>
        </p:nvSpPr>
        <p:spPr>
          <a:xfrm>
            <a:off x="3062520" y="3063960"/>
            <a:ext cx="619992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2. SNOMED CT por dentro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CuadroTexto 152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14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CuadroTexto 153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CuadroTexto 154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6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Forma libre 15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Forma libre 15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Forma libre 15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Forma libre 158"/>
          <p:cNvSpPr/>
          <p:nvPr/>
        </p:nvSpPr>
        <p:spPr>
          <a:xfrm>
            <a:off x="671400" y="2157120"/>
            <a:ext cx="10849320" cy="1896120"/>
          </a:xfrm>
          <a:custGeom>
            <a:avLst/>
            <a:gdLst/>
            <a:ahLst/>
            <a:cxnLst/>
            <a:rect l="0" t="0" r="r" b="b"/>
            <a:pathLst>
              <a:path w="30137" h="5267">
                <a:moveTo>
                  <a:pt x="0" y="5068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9"/>
                </a:cubicBezTo>
                <a:cubicBezTo>
                  <a:pt x="40" y="78"/>
                  <a:pt x="49" y="68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0" y="20"/>
                  <a:pt x="122" y="15"/>
                </a:cubicBezTo>
                <a:cubicBezTo>
                  <a:pt x="134" y="10"/>
                  <a:pt x="147" y="7"/>
                  <a:pt x="160" y="4"/>
                </a:cubicBezTo>
                <a:cubicBezTo>
                  <a:pt x="172" y="2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2"/>
                  <a:pt x="29977" y="4"/>
                </a:cubicBezTo>
                <a:cubicBezTo>
                  <a:pt x="29990" y="7"/>
                  <a:pt x="30002" y="10"/>
                  <a:pt x="30014" y="15"/>
                </a:cubicBezTo>
                <a:cubicBezTo>
                  <a:pt x="30026" y="20"/>
                  <a:pt x="30038" y="27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8"/>
                  <a:pt x="30096" y="78"/>
                  <a:pt x="30103" y="89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5068"/>
                </a:lnTo>
                <a:cubicBezTo>
                  <a:pt x="30137" y="5081"/>
                  <a:pt x="30136" y="5094"/>
                  <a:pt x="30133" y="5107"/>
                </a:cubicBezTo>
                <a:cubicBezTo>
                  <a:pt x="30130" y="5120"/>
                  <a:pt x="30127" y="5132"/>
                  <a:pt x="30122" y="5144"/>
                </a:cubicBezTo>
                <a:cubicBezTo>
                  <a:pt x="30117" y="5156"/>
                  <a:pt x="30111" y="5167"/>
                  <a:pt x="30103" y="5178"/>
                </a:cubicBezTo>
                <a:cubicBezTo>
                  <a:pt x="30096" y="5189"/>
                  <a:pt x="30088" y="5199"/>
                  <a:pt x="30079" y="5208"/>
                </a:cubicBezTo>
                <a:cubicBezTo>
                  <a:pt x="30070" y="5218"/>
                  <a:pt x="30059" y="5226"/>
                  <a:pt x="30049" y="5233"/>
                </a:cubicBezTo>
                <a:cubicBezTo>
                  <a:pt x="30038" y="5240"/>
                  <a:pt x="30026" y="5246"/>
                  <a:pt x="30014" y="5251"/>
                </a:cubicBezTo>
                <a:cubicBezTo>
                  <a:pt x="30002" y="5256"/>
                  <a:pt x="29990" y="5260"/>
                  <a:pt x="29977" y="5263"/>
                </a:cubicBezTo>
                <a:cubicBezTo>
                  <a:pt x="29964" y="5265"/>
                  <a:pt x="29951" y="5267"/>
                  <a:pt x="29938" y="5267"/>
                </a:cubicBezTo>
                <a:lnTo>
                  <a:pt x="198" y="5267"/>
                </a:lnTo>
                <a:cubicBezTo>
                  <a:pt x="185" y="5267"/>
                  <a:pt x="172" y="5265"/>
                  <a:pt x="160" y="5263"/>
                </a:cubicBezTo>
                <a:cubicBezTo>
                  <a:pt x="147" y="5260"/>
                  <a:pt x="134" y="5256"/>
                  <a:pt x="122" y="5251"/>
                </a:cubicBezTo>
                <a:cubicBezTo>
                  <a:pt x="110" y="5246"/>
                  <a:pt x="99" y="5240"/>
                  <a:pt x="88" y="5233"/>
                </a:cubicBezTo>
                <a:cubicBezTo>
                  <a:pt x="77" y="5226"/>
                  <a:pt x="67" y="5218"/>
                  <a:pt x="58" y="5208"/>
                </a:cubicBezTo>
                <a:cubicBezTo>
                  <a:pt x="49" y="5199"/>
                  <a:pt x="40" y="5189"/>
                  <a:pt x="33" y="5178"/>
                </a:cubicBezTo>
                <a:cubicBezTo>
                  <a:pt x="26" y="5167"/>
                  <a:pt x="20" y="5156"/>
                  <a:pt x="15" y="5144"/>
                </a:cubicBezTo>
                <a:cubicBezTo>
                  <a:pt x="10" y="5132"/>
                  <a:pt x="6" y="5120"/>
                  <a:pt x="4" y="5107"/>
                </a:cubicBezTo>
                <a:cubicBezTo>
                  <a:pt x="1" y="5094"/>
                  <a:pt x="0" y="5081"/>
                  <a:pt x="0" y="5068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Forma libre 159"/>
          <p:cNvSpPr/>
          <p:nvPr/>
        </p:nvSpPr>
        <p:spPr>
          <a:xfrm>
            <a:off x="671400" y="2157120"/>
            <a:ext cx="10849320" cy="1896120"/>
          </a:xfrm>
          <a:custGeom>
            <a:avLst/>
            <a:gdLst/>
            <a:ahLst/>
            <a:cxnLst/>
            <a:rect l="0" t="0" r="r" b="b"/>
            <a:pathLst>
              <a:path w="30137" h="5267">
                <a:moveTo>
                  <a:pt x="0" y="5068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9"/>
                </a:cubicBezTo>
                <a:cubicBezTo>
                  <a:pt x="40" y="78"/>
                  <a:pt x="49" y="68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0" y="20"/>
                  <a:pt x="122" y="15"/>
                </a:cubicBezTo>
                <a:cubicBezTo>
                  <a:pt x="134" y="10"/>
                  <a:pt x="147" y="7"/>
                  <a:pt x="160" y="4"/>
                </a:cubicBezTo>
                <a:cubicBezTo>
                  <a:pt x="172" y="2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2"/>
                  <a:pt x="29977" y="4"/>
                </a:cubicBezTo>
                <a:cubicBezTo>
                  <a:pt x="29990" y="7"/>
                  <a:pt x="30002" y="10"/>
                  <a:pt x="30014" y="15"/>
                </a:cubicBezTo>
                <a:cubicBezTo>
                  <a:pt x="30026" y="20"/>
                  <a:pt x="30038" y="27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8"/>
                  <a:pt x="30096" y="78"/>
                  <a:pt x="30103" y="89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5068"/>
                </a:lnTo>
                <a:cubicBezTo>
                  <a:pt x="30137" y="5081"/>
                  <a:pt x="30136" y="5094"/>
                  <a:pt x="30133" y="5107"/>
                </a:cubicBezTo>
                <a:cubicBezTo>
                  <a:pt x="30130" y="5120"/>
                  <a:pt x="30127" y="5132"/>
                  <a:pt x="30122" y="5144"/>
                </a:cubicBezTo>
                <a:cubicBezTo>
                  <a:pt x="30117" y="5156"/>
                  <a:pt x="30111" y="5167"/>
                  <a:pt x="30103" y="5178"/>
                </a:cubicBezTo>
                <a:cubicBezTo>
                  <a:pt x="30096" y="5189"/>
                  <a:pt x="30088" y="5199"/>
                  <a:pt x="30079" y="5208"/>
                </a:cubicBezTo>
                <a:cubicBezTo>
                  <a:pt x="30070" y="5218"/>
                  <a:pt x="30059" y="5226"/>
                  <a:pt x="30049" y="5233"/>
                </a:cubicBezTo>
                <a:cubicBezTo>
                  <a:pt x="30038" y="5240"/>
                  <a:pt x="30026" y="5246"/>
                  <a:pt x="30014" y="5251"/>
                </a:cubicBezTo>
                <a:cubicBezTo>
                  <a:pt x="30002" y="5256"/>
                  <a:pt x="29990" y="5260"/>
                  <a:pt x="29977" y="5263"/>
                </a:cubicBezTo>
                <a:cubicBezTo>
                  <a:pt x="29964" y="5265"/>
                  <a:pt x="29951" y="5267"/>
                  <a:pt x="29938" y="5267"/>
                </a:cubicBezTo>
                <a:lnTo>
                  <a:pt x="198" y="5267"/>
                </a:lnTo>
                <a:cubicBezTo>
                  <a:pt x="185" y="5267"/>
                  <a:pt x="172" y="5265"/>
                  <a:pt x="160" y="5263"/>
                </a:cubicBezTo>
                <a:cubicBezTo>
                  <a:pt x="147" y="5260"/>
                  <a:pt x="134" y="5256"/>
                  <a:pt x="122" y="5251"/>
                </a:cubicBezTo>
                <a:cubicBezTo>
                  <a:pt x="110" y="5246"/>
                  <a:pt x="99" y="5240"/>
                  <a:pt x="88" y="5233"/>
                </a:cubicBezTo>
                <a:cubicBezTo>
                  <a:pt x="77" y="5226"/>
                  <a:pt x="67" y="5218"/>
                  <a:pt x="58" y="5208"/>
                </a:cubicBezTo>
                <a:cubicBezTo>
                  <a:pt x="49" y="5199"/>
                  <a:pt x="40" y="5189"/>
                  <a:pt x="33" y="5178"/>
                </a:cubicBezTo>
                <a:cubicBezTo>
                  <a:pt x="26" y="5167"/>
                  <a:pt x="20" y="5156"/>
                  <a:pt x="15" y="5144"/>
                </a:cubicBezTo>
                <a:cubicBezTo>
                  <a:pt x="10" y="5132"/>
                  <a:pt x="6" y="5120"/>
                  <a:pt x="4" y="5107"/>
                </a:cubicBezTo>
                <a:cubicBezTo>
                  <a:pt x="1" y="5094"/>
                  <a:pt x="0" y="5081"/>
                  <a:pt x="0" y="5068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CuadroTexto 160"/>
          <p:cNvSpPr txBox="1"/>
          <p:nvPr/>
        </p:nvSpPr>
        <p:spPr>
          <a:xfrm>
            <a:off x="666720" y="1520640"/>
            <a:ext cx="539460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Conceptos, descripciones y relaciones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CuadroTexto 161"/>
          <p:cNvSpPr txBox="1"/>
          <p:nvPr/>
        </p:nvSpPr>
        <p:spPr>
          <a:xfrm>
            <a:off x="866880" y="2337120"/>
            <a:ext cx="46958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Concepto:      73211009 | Diabetes mellitus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CuadroTexto 162"/>
          <p:cNvSpPr txBox="1"/>
          <p:nvPr/>
        </p:nvSpPr>
        <p:spPr>
          <a:xfrm>
            <a:off x="866880" y="2603880"/>
            <a:ext cx="72068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Descripciones: "Diabetes mellitus", "DM", "diabetes"   ← sinónimos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CuadroTexto 163"/>
          <p:cNvSpPr txBox="1"/>
          <p:nvPr/>
        </p:nvSpPr>
        <p:spPr>
          <a:xfrm>
            <a:off x="866880" y="2860920"/>
            <a:ext cx="12016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Relaciones: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CuadroTexto 164"/>
          <p:cNvSpPr txBox="1"/>
          <p:nvPr/>
        </p:nvSpPr>
        <p:spPr>
          <a:xfrm>
            <a:off x="866880" y="3127680"/>
            <a:ext cx="53506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IS A            → Disorder of endocrine system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CuadroTexto 165"/>
          <p:cNvSpPr txBox="1"/>
          <p:nvPr/>
        </p:nvSpPr>
        <p:spPr>
          <a:xfrm>
            <a:off x="866880" y="3384720"/>
            <a:ext cx="73162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IS A            → Disorder of glucose metabolism    ← DOS padres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Forma libre 166"/>
          <p:cNvSpPr/>
          <p:nvPr/>
        </p:nvSpPr>
        <p:spPr>
          <a:xfrm>
            <a:off x="914040" y="436212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2" y="172"/>
                  <a:pt x="14" y="161"/>
                  <a:pt x="9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9" y="67"/>
                </a:cubicBezTo>
                <a:cubicBezTo>
                  <a:pt x="14" y="54"/>
                  <a:pt x="22" y="42"/>
                  <a:pt x="31" y="32"/>
                </a:cubicBezTo>
                <a:cubicBezTo>
                  <a:pt x="41" y="22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2"/>
                  <a:pt x="182" y="32"/>
                </a:cubicBezTo>
                <a:cubicBezTo>
                  <a:pt x="192" y="42"/>
                  <a:pt x="200" y="54"/>
                  <a:pt x="205" y="67"/>
                </a:cubicBezTo>
                <a:cubicBezTo>
                  <a:pt x="210" y="80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Forma libre 167"/>
          <p:cNvSpPr/>
          <p:nvPr/>
        </p:nvSpPr>
        <p:spPr>
          <a:xfrm>
            <a:off x="1123920" y="4267080"/>
            <a:ext cx="581400" cy="267120"/>
          </a:xfrm>
          <a:custGeom>
            <a:avLst/>
            <a:gdLst/>
            <a:ahLst/>
            <a:cxnLst/>
            <a:rect l="0" t="0" r="r" b="b"/>
            <a:pathLst>
              <a:path w="1615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1509" y="0"/>
                </a:lnTo>
                <a:cubicBezTo>
                  <a:pt x="1523" y="0"/>
                  <a:pt x="1536" y="3"/>
                  <a:pt x="1549" y="8"/>
                </a:cubicBezTo>
                <a:cubicBezTo>
                  <a:pt x="1562" y="13"/>
                  <a:pt x="1574" y="21"/>
                  <a:pt x="1584" y="31"/>
                </a:cubicBezTo>
                <a:cubicBezTo>
                  <a:pt x="1593" y="41"/>
                  <a:pt x="1601" y="52"/>
                  <a:pt x="1606" y="65"/>
                </a:cubicBezTo>
                <a:cubicBezTo>
                  <a:pt x="1612" y="78"/>
                  <a:pt x="1615" y="92"/>
                  <a:pt x="1615" y="106"/>
                </a:cubicBezTo>
                <a:lnTo>
                  <a:pt x="1615" y="636"/>
                </a:lnTo>
                <a:cubicBezTo>
                  <a:pt x="1615" y="650"/>
                  <a:pt x="1612" y="663"/>
                  <a:pt x="1606" y="676"/>
                </a:cubicBezTo>
                <a:cubicBezTo>
                  <a:pt x="1601" y="689"/>
                  <a:pt x="1593" y="701"/>
                  <a:pt x="1584" y="711"/>
                </a:cubicBezTo>
                <a:cubicBezTo>
                  <a:pt x="1574" y="721"/>
                  <a:pt x="1562" y="728"/>
                  <a:pt x="1549" y="734"/>
                </a:cubicBezTo>
                <a:cubicBezTo>
                  <a:pt x="1536" y="739"/>
                  <a:pt x="1523" y="742"/>
                  <a:pt x="1509" y="742"/>
                </a:cubicBezTo>
                <a:lnTo>
                  <a:pt x="105" y="742"/>
                </a:lnTo>
                <a:cubicBezTo>
                  <a:pt x="91" y="742"/>
                  <a:pt x="78" y="739"/>
                  <a:pt x="65" y="734"/>
                </a:cubicBezTo>
                <a:cubicBezTo>
                  <a:pt x="52" y="728"/>
                  <a:pt x="41" y="721"/>
                  <a:pt x="31" y="711"/>
                </a:cubicBezTo>
                <a:cubicBezTo>
                  <a:pt x="21" y="701"/>
                  <a:pt x="13" y="689"/>
                  <a:pt x="8" y="676"/>
                </a:cubicBezTo>
                <a:cubicBezTo>
                  <a:pt x="2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CuadroTexto 168"/>
          <p:cNvSpPr txBox="1"/>
          <p:nvPr/>
        </p:nvSpPr>
        <p:spPr>
          <a:xfrm>
            <a:off x="866880" y="3651480"/>
            <a:ext cx="54601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Finding site    → Structure of endocrine system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CuadroTexto 169"/>
          <p:cNvSpPr txBox="1"/>
          <p:nvPr/>
        </p:nvSpPr>
        <p:spPr>
          <a:xfrm>
            <a:off x="1181160" y="4286880"/>
            <a:ext cx="4705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1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IS A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Forma libre 170"/>
          <p:cNvSpPr/>
          <p:nvPr/>
        </p:nvSpPr>
        <p:spPr>
          <a:xfrm>
            <a:off x="914040" y="476244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5"/>
                </a:moveTo>
                <a:cubicBezTo>
                  <a:pt x="213" y="120"/>
                  <a:pt x="210" y="133"/>
                  <a:pt x="205" y="146"/>
                </a:cubicBezTo>
                <a:cubicBezTo>
                  <a:pt x="200" y="159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2" y="171"/>
                  <a:pt x="14" y="159"/>
                  <a:pt x="9" y="146"/>
                </a:cubicBezTo>
                <a:cubicBezTo>
                  <a:pt x="3" y="133"/>
                  <a:pt x="0" y="120"/>
                  <a:pt x="0" y="105"/>
                </a:cubicBezTo>
                <a:cubicBezTo>
                  <a:pt x="0" y="91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1"/>
                  <a:pt x="213" y="105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CuadroTexto 171"/>
          <p:cNvSpPr txBox="1"/>
          <p:nvPr/>
        </p:nvSpPr>
        <p:spPr>
          <a:xfrm>
            <a:off x="1706400" y="4249440"/>
            <a:ext cx="21560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construye la jerarquía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Forma libre 172"/>
          <p:cNvSpPr/>
          <p:nvPr/>
        </p:nvSpPr>
        <p:spPr>
          <a:xfrm>
            <a:off x="914040" y="516240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2"/>
                  <a:pt x="14" y="160"/>
                  <a:pt x="9" y="147"/>
                </a:cubicBezTo>
                <a:cubicBezTo>
                  <a:pt x="3" y="134"/>
                  <a:pt x="0" y="121"/>
                  <a:pt x="0" y="106"/>
                </a:cubicBez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CuadroTexto 173"/>
          <p:cNvSpPr txBox="1"/>
          <p:nvPr/>
        </p:nvSpPr>
        <p:spPr>
          <a:xfrm>
            <a:off x="1123920" y="4649760"/>
            <a:ext cx="89769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Relaciones de atributo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describen el concepto: sitio anatómico, agente causal, morfología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CuadroTexto 174"/>
          <p:cNvSpPr txBox="1"/>
          <p:nvPr/>
        </p:nvSpPr>
        <p:spPr>
          <a:xfrm>
            <a:off x="1123920" y="5049720"/>
            <a:ext cx="63946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Un concepto puede tener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varios padres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: eso es la poli-jerarquía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CuadroTexto 175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14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CuadroTexto 176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CuadroTexto 177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7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Forma libre 17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Forma libre 17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Forma libre 18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Forma libre 181"/>
          <p:cNvSpPr/>
          <p:nvPr/>
        </p:nvSpPr>
        <p:spPr>
          <a:xfrm>
            <a:off x="676080" y="1761840"/>
            <a:ext cx="1848240" cy="410040"/>
          </a:xfrm>
          <a:custGeom>
            <a:avLst/>
            <a:gdLst/>
            <a:ahLst/>
            <a:cxnLst/>
            <a:rect l="0" t="0" r="r" b="b"/>
            <a:pathLst>
              <a:path w="5134" h="1139">
                <a:moveTo>
                  <a:pt x="0" y="0"/>
                </a:moveTo>
                <a:lnTo>
                  <a:pt x="5134" y="0"/>
                </a:lnTo>
                <a:lnTo>
                  <a:pt x="5134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Forma libre 182"/>
          <p:cNvSpPr/>
          <p:nvPr/>
        </p:nvSpPr>
        <p:spPr>
          <a:xfrm>
            <a:off x="2523960" y="1761840"/>
            <a:ext cx="3143520" cy="410040"/>
          </a:xfrm>
          <a:custGeom>
            <a:avLst/>
            <a:gdLst/>
            <a:ahLst/>
            <a:cxnLst/>
            <a:rect l="0" t="0" r="r" b="b"/>
            <a:pathLst>
              <a:path w="8732" h="1139">
                <a:moveTo>
                  <a:pt x="0" y="0"/>
                </a:moveTo>
                <a:lnTo>
                  <a:pt x="8732" y="0"/>
                </a:lnTo>
                <a:lnTo>
                  <a:pt x="8732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Forma libre 183"/>
          <p:cNvSpPr/>
          <p:nvPr/>
        </p:nvSpPr>
        <p:spPr>
          <a:xfrm>
            <a:off x="5667120" y="1761840"/>
            <a:ext cx="2800800" cy="410040"/>
          </a:xfrm>
          <a:custGeom>
            <a:avLst/>
            <a:gdLst/>
            <a:ahLst/>
            <a:cxnLst/>
            <a:rect l="0" t="0" r="r" b="b"/>
            <a:pathLst>
              <a:path w="7780" h="1139">
                <a:moveTo>
                  <a:pt x="0" y="0"/>
                </a:moveTo>
                <a:lnTo>
                  <a:pt x="7780" y="0"/>
                </a:lnTo>
                <a:lnTo>
                  <a:pt x="7780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Forma libre 184"/>
          <p:cNvSpPr/>
          <p:nvPr/>
        </p:nvSpPr>
        <p:spPr>
          <a:xfrm>
            <a:off x="676080" y="1761840"/>
            <a:ext cx="1848240" cy="410040"/>
          </a:xfrm>
          <a:custGeom>
            <a:avLst/>
            <a:gdLst/>
            <a:ahLst/>
            <a:cxnLst/>
            <a:rect l="0" t="0" r="r" b="b"/>
            <a:pathLst>
              <a:path w="5134" h="1139">
                <a:moveTo>
                  <a:pt x="0" y="0"/>
                </a:moveTo>
                <a:lnTo>
                  <a:pt x="5134" y="0"/>
                </a:lnTo>
                <a:lnTo>
                  <a:pt x="5134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Forma libre 185"/>
          <p:cNvSpPr/>
          <p:nvPr/>
        </p:nvSpPr>
        <p:spPr>
          <a:xfrm>
            <a:off x="2523960" y="1761840"/>
            <a:ext cx="3143520" cy="410040"/>
          </a:xfrm>
          <a:custGeom>
            <a:avLst/>
            <a:gdLst/>
            <a:ahLst/>
            <a:cxnLst/>
            <a:rect l="0" t="0" r="r" b="b"/>
            <a:pathLst>
              <a:path w="8732" h="1139">
                <a:moveTo>
                  <a:pt x="0" y="0"/>
                </a:moveTo>
                <a:lnTo>
                  <a:pt x="8732" y="0"/>
                </a:lnTo>
                <a:lnTo>
                  <a:pt x="8732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Forma libre 186"/>
          <p:cNvSpPr/>
          <p:nvPr/>
        </p:nvSpPr>
        <p:spPr>
          <a:xfrm>
            <a:off x="5667120" y="1761840"/>
            <a:ext cx="2800800" cy="410040"/>
          </a:xfrm>
          <a:custGeom>
            <a:avLst/>
            <a:gdLst/>
            <a:ahLst/>
            <a:cxnLst/>
            <a:rect l="0" t="0" r="r" b="b"/>
            <a:pathLst>
              <a:path w="7780" h="1139">
                <a:moveTo>
                  <a:pt x="0" y="0"/>
                </a:moveTo>
                <a:lnTo>
                  <a:pt x="7780" y="0"/>
                </a:lnTo>
                <a:lnTo>
                  <a:pt x="7780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Forma libre 187"/>
          <p:cNvSpPr/>
          <p:nvPr/>
        </p:nvSpPr>
        <p:spPr>
          <a:xfrm>
            <a:off x="676080" y="2171520"/>
            <a:ext cx="1848240" cy="419400"/>
          </a:xfrm>
          <a:custGeom>
            <a:avLst/>
            <a:gdLst/>
            <a:ahLst/>
            <a:cxnLst/>
            <a:rect l="0" t="0" r="r" b="b"/>
            <a:pathLst>
              <a:path w="5134" h="1165">
                <a:moveTo>
                  <a:pt x="0" y="0"/>
                </a:moveTo>
                <a:lnTo>
                  <a:pt x="5134" y="0"/>
                </a:lnTo>
                <a:lnTo>
                  <a:pt x="5134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Forma libre 188"/>
          <p:cNvSpPr/>
          <p:nvPr/>
        </p:nvSpPr>
        <p:spPr>
          <a:xfrm>
            <a:off x="2523960" y="2171520"/>
            <a:ext cx="3143520" cy="419400"/>
          </a:xfrm>
          <a:custGeom>
            <a:avLst/>
            <a:gdLst/>
            <a:ahLst/>
            <a:cxnLst/>
            <a:rect l="0" t="0" r="r" b="b"/>
            <a:pathLst>
              <a:path w="8732" h="1165">
                <a:moveTo>
                  <a:pt x="0" y="0"/>
                </a:moveTo>
                <a:lnTo>
                  <a:pt x="8732" y="0"/>
                </a:lnTo>
                <a:lnTo>
                  <a:pt x="8732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Forma libre 189"/>
          <p:cNvSpPr/>
          <p:nvPr/>
        </p:nvSpPr>
        <p:spPr>
          <a:xfrm>
            <a:off x="5667120" y="2171520"/>
            <a:ext cx="2800800" cy="419400"/>
          </a:xfrm>
          <a:custGeom>
            <a:avLst/>
            <a:gdLst/>
            <a:ahLst/>
            <a:cxnLst/>
            <a:rect l="0" t="0" r="r" b="b"/>
            <a:pathLst>
              <a:path w="7780" h="1165">
                <a:moveTo>
                  <a:pt x="0" y="0"/>
                </a:moveTo>
                <a:lnTo>
                  <a:pt x="7780" y="0"/>
                </a:lnTo>
                <a:lnTo>
                  <a:pt x="7780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Forma libre 190"/>
          <p:cNvSpPr/>
          <p:nvPr/>
        </p:nvSpPr>
        <p:spPr>
          <a:xfrm>
            <a:off x="676080" y="2590560"/>
            <a:ext cx="1848240" cy="419400"/>
          </a:xfrm>
          <a:custGeom>
            <a:avLst/>
            <a:gdLst/>
            <a:ahLst/>
            <a:cxnLst/>
            <a:rect l="0" t="0" r="r" b="b"/>
            <a:pathLst>
              <a:path w="5134" h="1165">
                <a:moveTo>
                  <a:pt x="0" y="0"/>
                </a:moveTo>
                <a:lnTo>
                  <a:pt x="5134" y="0"/>
                </a:lnTo>
                <a:lnTo>
                  <a:pt x="5134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Forma libre 191"/>
          <p:cNvSpPr/>
          <p:nvPr/>
        </p:nvSpPr>
        <p:spPr>
          <a:xfrm>
            <a:off x="2523960" y="2590560"/>
            <a:ext cx="3143520" cy="419400"/>
          </a:xfrm>
          <a:custGeom>
            <a:avLst/>
            <a:gdLst/>
            <a:ahLst/>
            <a:cxnLst/>
            <a:rect l="0" t="0" r="r" b="b"/>
            <a:pathLst>
              <a:path w="8732" h="1165">
                <a:moveTo>
                  <a:pt x="0" y="0"/>
                </a:moveTo>
                <a:lnTo>
                  <a:pt x="8732" y="0"/>
                </a:lnTo>
                <a:lnTo>
                  <a:pt x="8732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Forma libre 192"/>
          <p:cNvSpPr/>
          <p:nvPr/>
        </p:nvSpPr>
        <p:spPr>
          <a:xfrm>
            <a:off x="5667120" y="2590560"/>
            <a:ext cx="2800800" cy="419400"/>
          </a:xfrm>
          <a:custGeom>
            <a:avLst/>
            <a:gdLst/>
            <a:ahLst/>
            <a:cxnLst/>
            <a:rect l="0" t="0" r="r" b="b"/>
            <a:pathLst>
              <a:path w="7780" h="1165">
                <a:moveTo>
                  <a:pt x="0" y="0"/>
                </a:moveTo>
                <a:lnTo>
                  <a:pt x="7780" y="0"/>
                </a:lnTo>
                <a:lnTo>
                  <a:pt x="7780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Forma libre 193"/>
          <p:cNvSpPr/>
          <p:nvPr/>
        </p:nvSpPr>
        <p:spPr>
          <a:xfrm>
            <a:off x="676080" y="3009600"/>
            <a:ext cx="1848240" cy="419400"/>
          </a:xfrm>
          <a:custGeom>
            <a:avLst/>
            <a:gdLst/>
            <a:ahLst/>
            <a:cxnLst/>
            <a:rect l="0" t="0" r="r" b="b"/>
            <a:pathLst>
              <a:path w="5134" h="1165">
                <a:moveTo>
                  <a:pt x="0" y="0"/>
                </a:moveTo>
                <a:lnTo>
                  <a:pt x="5134" y="0"/>
                </a:lnTo>
                <a:lnTo>
                  <a:pt x="5134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Forma libre 194"/>
          <p:cNvSpPr/>
          <p:nvPr/>
        </p:nvSpPr>
        <p:spPr>
          <a:xfrm>
            <a:off x="2523960" y="3009600"/>
            <a:ext cx="3143520" cy="419400"/>
          </a:xfrm>
          <a:custGeom>
            <a:avLst/>
            <a:gdLst/>
            <a:ahLst/>
            <a:cxnLst/>
            <a:rect l="0" t="0" r="r" b="b"/>
            <a:pathLst>
              <a:path w="8732" h="1165">
                <a:moveTo>
                  <a:pt x="0" y="0"/>
                </a:moveTo>
                <a:lnTo>
                  <a:pt x="8732" y="0"/>
                </a:lnTo>
                <a:lnTo>
                  <a:pt x="8732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Forma libre 195"/>
          <p:cNvSpPr/>
          <p:nvPr/>
        </p:nvSpPr>
        <p:spPr>
          <a:xfrm>
            <a:off x="5667120" y="3009600"/>
            <a:ext cx="2800800" cy="419400"/>
          </a:xfrm>
          <a:custGeom>
            <a:avLst/>
            <a:gdLst/>
            <a:ahLst/>
            <a:cxnLst/>
            <a:rect l="0" t="0" r="r" b="b"/>
            <a:pathLst>
              <a:path w="7780" h="1165">
                <a:moveTo>
                  <a:pt x="0" y="0"/>
                </a:moveTo>
                <a:lnTo>
                  <a:pt x="7780" y="0"/>
                </a:lnTo>
                <a:lnTo>
                  <a:pt x="7780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Forma libre 196"/>
          <p:cNvSpPr/>
          <p:nvPr/>
        </p:nvSpPr>
        <p:spPr>
          <a:xfrm>
            <a:off x="676080" y="3428640"/>
            <a:ext cx="1848240" cy="419760"/>
          </a:xfrm>
          <a:custGeom>
            <a:avLst/>
            <a:gdLst/>
            <a:ahLst/>
            <a:cxnLst/>
            <a:rect l="0" t="0" r="r" b="b"/>
            <a:pathLst>
              <a:path w="5134" h="1166">
                <a:moveTo>
                  <a:pt x="0" y="0"/>
                </a:moveTo>
                <a:lnTo>
                  <a:pt x="5134" y="0"/>
                </a:lnTo>
                <a:lnTo>
                  <a:pt x="5134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Forma libre 197"/>
          <p:cNvSpPr/>
          <p:nvPr/>
        </p:nvSpPr>
        <p:spPr>
          <a:xfrm>
            <a:off x="2523960" y="3428640"/>
            <a:ext cx="3143520" cy="419760"/>
          </a:xfrm>
          <a:custGeom>
            <a:avLst/>
            <a:gdLst/>
            <a:ahLst/>
            <a:cxnLst/>
            <a:rect l="0" t="0" r="r" b="b"/>
            <a:pathLst>
              <a:path w="8732" h="1166">
                <a:moveTo>
                  <a:pt x="0" y="0"/>
                </a:moveTo>
                <a:lnTo>
                  <a:pt x="8732" y="0"/>
                </a:lnTo>
                <a:lnTo>
                  <a:pt x="8732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Forma libre 198"/>
          <p:cNvSpPr/>
          <p:nvPr/>
        </p:nvSpPr>
        <p:spPr>
          <a:xfrm>
            <a:off x="5667120" y="3428640"/>
            <a:ext cx="2800800" cy="419760"/>
          </a:xfrm>
          <a:custGeom>
            <a:avLst/>
            <a:gdLst/>
            <a:ahLst/>
            <a:cxnLst/>
            <a:rect l="0" t="0" r="r" b="b"/>
            <a:pathLst>
              <a:path w="7780" h="1166">
                <a:moveTo>
                  <a:pt x="0" y="0"/>
                </a:moveTo>
                <a:lnTo>
                  <a:pt x="7780" y="0"/>
                </a:lnTo>
                <a:lnTo>
                  <a:pt x="7780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Forma libre 199"/>
          <p:cNvSpPr/>
          <p:nvPr/>
        </p:nvSpPr>
        <p:spPr>
          <a:xfrm>
            <a:off x="676080" y="3848040"/>
            <a:ext cx="1848240" cy="419400"/>
          </a:xfrm>
          <a:custGeom>
            <a:avLst/>
            <a:gdLst/>
            <a:ahLst/>
            <a:cxnLst/>
            <a:rect l="0" t="0" r="r" b="b"/>
            <a:pathLst>
              <a:path w="5134" h="1165">
                <a:moveTo>
                  <a:pt x="0" y="0"/>
                </a:moveTo>
                <a:lnTo>
                  <a:pt x="5134" y="0"/>
                </a:lnTo>
                <a:lnTo>
                  <a:pt x="5134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Forma libre 200"/>
          <p:cNvSpPr/>
          <p:nvPr/>
        </p:nvSpPr>
        <p:spPr>
          <a:xfrm>
            <a:off x="2523960" y="3848040"/>
            <a:ext cx="3143520" cy="419400"/>
          </a:xfrm>
          <a:custGeom>
            <a:avLst/>
            <a:gdLst/>
            <a:ahLst/>
            <a:cxnLst/>
            <a:rect l="0" t="0" r="r" b="b"/>
            <a:pathLst>
              <a:path w="8732" h="1165">
                <a:moveTo>
                  <a:pt x="0" y="0"/>
                </a:moveTo>
                <a:lnTo>
                  <a:pt x="8732" y="0"/>
                </a:lnTo>
                <a:lnTo>
                  <a:pt x="8732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Forma libre 201"/>
          <p:cNvSpPr/>
          <p:nvPr/>
        </p:nvSpPr>
        <p:spPr>
          <a:xfrm>
            <a:off x="5667120" y="3848040"/>
            <a:ext cx="2800800" cy="419400"/>
          </a:xfrm>
          <a:custGeom>
            <a:avLst/>
            <a:gdLst/>
            <a:ahLst/>
            <a:cxnLst/>
            <a:rect l="0" t="0" r="r" b="b"/>
            <a:pathLst>
              <a:path w="7780" h="1165">
                <a:moveTo>
                  <a:pt x="0" y="0"/>
                </a:moveTo>
                <a:lnTo>
                  <a:pt x="7780" y="0"/>
                </a:lnTo>
                <a:lnTo>
                  <a:pt x="7780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Forma libre 202"/>
          <p:cNvSpPr/>
          <p:nvPr/>
        </p:nvSpPr>
        <p:spPr>
          <a:xfrm>
            <a:off x="676080" y="4267080"/>
            <a:ext cx="1848240" cy="419400"/>
          </a:xfrm>
          <a:custGeom>
            <a:avLst/>
            <a:gdLst/>
            <a:ahLst/>
            <a:cxnLst/>
            <a:rect l="0" t="0" r="r" b="b"/>
            <a:pathLst>
              <a:path w="5134" h="1165">
                <a:moveTo>
                  <a:pt x="0" y="0"/>
                </a:moveTo>
                <a:lnTo>
                  <a:pt x="5134" y="0"/>
                </a:lnTo>
                <a:lnTo>
                  <a:pt x="5134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Forma libre 203"/>
          <p:cNvSpPr/>
          <p:nvPr/>
        </p:nvSpPr>
        <p:spPr>
          <a:xfrm>
            <a:off x="2523960" y="4267080"/>
            <a:ext cx="3143520" cy="419400"/>
          </a:xfrm>
          <a:custGeom>
            <a:avLst/>
            <a:gdLst/>
            <a:ahLst/>
            <a:cxnLst/>
            <a:rect l="0" t="0" r="r" b="b"/>
            <a:pathLst>
              <a:path w="8732" h="1165">
                <a:moveTo>
                  <a:pt x="0" y="0"/>
                </a:moveTo>
                <a:lnTo>
                  <a:pt x="8732" y="0"/>
                </a:lnTo>
                <a:lnTo>
                  <a:pt x="8732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Forma libre 204"/>
          <p:cNvSpPr/>
          <p:nvPr/>
        </p:nvSpPr>
        <p:spPr>
          <a:xfrm>
            <a:off x="5667120" y="4267080"/>
            <a:ext cx="2800800" cy="419400"/>
          </a:xfrm>
          <a:custGeom>
            <a:avLst/>
            <a:gdLst/>
            <a:ahLst/>
            <a:cxnLst/>
            <a:rect l="0" t="0" r="r" b="b"/>
            <a:pathLst>
              <a:path w="7780" h="1165">
                <a:moveTo>
                  <a:pt x="0" y="0"/>
                </a:moveTo>
                <a:lnTo>
                  <a:pt x="7780" y="0"/>
                </a:lnTo>
                <a:lnTo>
                  <a:pt x="7780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Forma libre 205"/>
          <p:cNvSpPr/>
          <p:nvPr/>
        </p:nvSpPr>
        <p:spPr>
          <a:xfrm>
            <a:off x="666720" y="175248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Forma libre 206"/>
          <p:cNvSpPr/>
          <p:nvPr/>
        </p:nvSpPr>
        <p:spPr>
          <a:xfrm>
            <a:off x="666720" y="1752480"/>
            <a:ext cx="1857600" cy="9720"/>
          </a:xfrm>
          <a:custGeom>
            <a:avLst/>
            <a:gdLst/>
            <a:ahLst/>
            <a:cxnLst/>
            <a:rect l="0" t="0" r="r" b="b"/>
            <a:pathLst>
              <a:path w="5160" h="27">
                <a:moveTo>
                  <a:pt x="0" y="0"/>
                </a:moveTo>
                <a:lnTo>
                  <a:pt x="5160" y="0"/>
                </a:lnTo>
                <a:lnTo>
                  <a:pt x="516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Forma libre 207"/>
          <p:cNvSpPr/>
          <p:nvPr/>
        </p:nvSpPr>
        <p:spPr>
          <a:xfrm>
            <a:off x="2514240" y="175248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Forma libre 208"/>
          <p:cNvSpPr/>
          <p:nvPr/>
        </p:nvSpPr>
        <p:spPr>
          <a:xfrm>
            <a:off x="2523960" y="1752480"/>
            <a:ext cx="3143520" cy="9720"/>
          </a:xfrm>
          <a:custGeom>
            <a:avLst/>
            <a:gdLst/>
            <a:ahLst/>
            <a:cxnLst/>
            <a:rect l="0" t="0" r="r" b="b"/>
            <a:pathLst>
              <a:path w="8732" h="27">
                <a:moveTo>
                  <a:pt x="0" y="0"/>
                </a:moveTo>
                <a:lnTo>
                  <a:pt x="8732" y="0"/>
                </a:lnTo>
                <a:lnTo>
                  <a:pt x="873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Forma libre 209"/>
          <p:cNvSpPr/>
          <p:nvPr/>
        </p:nvSpPr>
        <p:spPr>
          <a:xfrm>
            <a:off x="5657760" y="175248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Forma libre 210"/>
          <p:cNvSpPr/>
          <p:nvPr/>
        </p:nvSpPr>
        <p:spPr>
          <a:xfrm>
            <a:off x="5667120" y="1752480"/>
            <a:ext cx="2800800" cy="9720"/>
          </a:xfrm>
          <a:custGeom>
            <a:avLst/>
            <a:gdLst/>
            <a:ahLst/>
            <a:cxnLst/>
            <a:rect l="0" t="0" r="r" b="b"/>
            <a:pathLst>
              <a:path w="7780" h="27">
                <a:moveTo>
                  <a:pt x="0" y="0"/>
                </a:moveTo>
                <a:lnTo>
                  <a:pt x="7780" y="0"/>
                </a:lnTo>
                <a:lnTo>
                  <a:pt x="778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Forma libre 211"/>
          <p:cNvSpPr/>
          <p:nvPr/>
        </p:nvSpPr>
        <p:spPr>
          <a:xfrm>
            <a:off x="8457840" y="175248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Forma libre 212"/>
          <p:cNvSpPr/>
          <p:nvPr/>
        </p:nvSpPr>
        <p:spPr>
          <a:xfrm>
            <a:off x="666720" y="2162160"/>
            <a:ext cx="1857600" cy="9720"/>
          </a:xfrm>
          <a:custGeom>
            <a:avLst/>
            <a:gdLst/>
            <a:ahLst/>
            <a:cxnLst/>
            <a:rect l="0" t="0" r="r" b="b"/>
            <a:pathLst>
              <a:path w="5160" h="27">
                <a:moveTo>
                  <a:pt x="0" y="0"/>
                </a:moveTo>
                <a:lnTo>
                  <a:pt x="5160" y="0"/>
                </a:lnTo>
                <a:lnTo>
                  <a:pt x="516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Forma libre 213"/>
          <p:cNvSpPr/>
          <p:nvPr/>
        </p:nvSpPr>
        <p:spPr>
          <a:xfrm>
            <a:off x="2523960" y="2162160"/>
            <a:ext cx="3143520" cy="9720"/>
          </a:xfrm>
          <a:custGeom>
            <a:avLst/>
            <a:gdLst/>
            <a:ahLst/>
            <a:cxnLst/>
            <a:rect l="0" t="0" r="r" b="b"/>
            <a:pathLst>
              <a:path w="8732" h="27">
                <a:moveTo>
                  <a:pt x="0" y="0"/>
                </a:moveTo>
                <a:lnTo>
                  <a:pt x="8732" y="0"/>
                </a:lnTo>
                <a:lnTo>
                  <a:pt x="873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Forma libre 214"/>
          <p:cNvSpPr/>
          <p:nvPr/>
        </p:nvSpPr>
        <p:spPr>
          <a:xfrm>
            <a:off x="5667120" y="2162160"/>
            <a:ext cx="2800800" cy="9720"/>
          </a:xfrm>
          <a:custGeom>
            <a:avLst/>
            <a:gdLst/>
            <a:ahLst/>
            <a:cxnLst/>
            <a:rect l="0" t="0" r="r" b="b"/>
            <a:pathLst>
              <a:path w="7780" h="27">
                <a:moveTo>
                  <a:pt x="0" y="0"/>
                </a:moveTo>
                <a:lnTo>
                  <a:pt x="7780" y="0"/>
                </a:lnTo>
                <a:lnTo>
                  <a:pt x="778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Forma libre 215"/>
          <p:cNvSpPr/>
          <p:nvPr/>
        </p:nvSpPr>
        <p:spPr>
          <a:xfrm>
            <a:off x="666720" y="217152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Forma libre 216"/>
          <p:cNvSpPr/>
          <p:nvPr/>
        </p:nvSpPr>
        <p:spPr>
          <a:xfrm>
            <a:off x="2514240" y="217152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Forma libre 217"/>
          <p:cNvSpPr/>
          <p:nvPr/>
        </p:nvSpPr>
        <p:spPr>
          <a:xfrm>
            <a:off x="5657760" y="217152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Forma libre 218"/>
          <p:cNvSpPr/>
          <p:nvPr/>
        </p:nvSpPr>
        <p:spPr>
          <a:xfrm>
            <a:off x="8457840" y="217152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Forma libre 219"/>
          <p:cNvSpPr/>
          <p:nvPr/>
        </p:nvSpPr>
        <p:spPr>
          <a:xfrm>
            <a:off x="666720" y="259056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Forma libre 220"/>
          <p:cNvSpPr/>
          <p:nvPr/>
        </p:nvSpPr>
        <p:spPr>
          <a:xfrm>
            <a:off x="666720" y="2581200"/>
            <a:ext cx="1857600" cy="9720"/>
          </a:xfrm>
          <a:custGeom>
            <a:avLst/>
            <a:gdLst/>
            <a:ahLst/>
            <a:cxnLst/>
            <a:rect l="0" t="0" r="r" b="b"/>
            <a:pathLst>
              <a:path w="5160" h="27">
                <a:moveTo>
                  <a:pt x="0" y="0"/>
                </a:moveTo>
                <a:lnTo>
                  <a:pt x="5160" y="0"/>
                </a:lnTo>
                <a:lnTo>
                  <a:pt x="516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Forma libre 221"/>
          <p:cNvSpPr/>
          <p:nvPr/>
        </p:nvSpPr>
        <p:spPr>
          <a:xfrm>
            <a:off x="2514240" y="259056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Forma libre 222"/>
          <p:cNvSpPr/>
          <p:nvPr/>
        </p:nvSpPr>
        <p:spPr>
          <a:xfrm>
            <a:off x="2523960" y="2581200"/>
            <a:ext cx="3143520" cy="9720"/>
          </a:xfrm>
          <a:custGeom>
            <a:avLst/>
            <a:gdLst/>
            <a:ahLst/>
            <a:cxnLst/>
            <a:rect l="0" t="0" r="r" b="b"/>
            <a:pathLst>
              <a:path w="8732" h="27">
                <a:moveTo>
                  <a:pt x="0" y="0"/>
                </a:moveTo>
                <a:lnTo>
                  <a:pt x="8732" y="0"/>
                </a:lnTo>
                <a:lnTo>
                  <a:pt x="873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Forma libre 223"/>
          <p:cNvSpPr/>
          <p:nvPr/>
        </p:nvSpPr>
        <p:spPr>
          <a:xfrm>
            <a:off x="5657760" y="259056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Forma libre 224"/>
          <p:cNvSpPr/>
          <p:nvPr/>
        </p:nvSpPr>
        <p:spPr>
          <a:xfrm>
            <a:off x="5667120" y="2581200"/>
            <a:ext cx="2800800" cy="9720"/>
          </a:xfrm>
          <a:custGeom>
            <a:avLst/>
            <a:gdLst/>
            <a:ahLst/>
            <a:cxnLst/>
            <a:rect l="0" t="0" r="r" b="b"/>
            <a:pathLst>
              <a:path w="7780" h="27">
                <a:moveTo>
                  <a:pt x="0" y="0"/>
                </a:moveTo>
                <a:lnTo>
                  <a:pt x="7780" y="0"/>
                </a:lnTo>
                <a:lnTo>
                  <a:pt x="778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Forma libre 225"/>
          <p:cNvSpPr/>
          <p:nvPr/>
        </p:nvSpPr>
        <p:spPr>
          <a:xfrm>
            <a:off x="8457840" y="259056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Forma libre 226"/>
          <p:cNvSpPr/>
          <p:nvPr/>
        </p:nvSpPr>
        <p:spPr>
          <a:xfrm>
            <a:off x="666720" y="300960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Forma libre 227"/>
          <p:cNvSpPr/>
          <p:nvPr/>
        </p:nvSpPr>
        <p:spPr>
          <a:xfrm>
            <a:off x="666720" y="3000240"/>
            <a:ext cx="1857600" cy="9720"/>
          </a:xfrm>
          <a:custGeom>
            <a:avLst/>
            <a:gdLst/>
            <a:ahLst/>
            <a:cxnLst/>
            <a:rect l="0" t="0" r="r" b="b"/>
            <a:pathLst>
              <a:path w="5160" h="27">
                <a:moveTo>
                  <a:pt x="0" y="0"/>
                </a:moveTo>
                <a:lnTo>
                  <a:pt x="5160" y="0"/>
                </a:lnTo>
                <a:lnTo>
                  <a:pt x="516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Forma libre 228"/>
          <p:cNvSpPr/>
          <p:nvPr/>
        </p:nvSpPr>
        <p:spPr>
          <a:xfrm>
            <a:off x="2514240" y="300960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Forma libre 229"/>
          <p:cNvSpPr/>
          <p:nvPr/>
        </p:nvSpPr>
        <p:spPr>
          <a:xfrm>
            <a:off x="2523960" y="3000240"/>
            <a:ext cx="3143520" cy="9720"/>
          </a:xfrm>
          <a:custGeom>
            <a:avLst/>
            <a:gdLst/>
            <a:ahLst/>
            <a:cxnLst/>
            <a:rect l="0" t="0" r="r" b="b"/>
            <a:pathLst>
              <a:path w="8732" h="27">
                <a:moveTo>
                  <a:pt x="0" y="0"/>
                </a:moveTo>
                <a:lnTo>
                  <a:pt x="8732" y="0"/>
                </a:lnTo>
                <a:lnTo>
                  <a:pt x="873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Forma libre 230"/>
          <p:cNvSpPr/>
          <p:nvPr/>
        </p:nvSpPr>
        <p:spPr>
          <a:xfrm>
            <a:off x="5657760" y="300960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Forma libre 231"/>
          <p:cNvSpPr/>
          <p:nvPr/>
        </p:nvSpPr>
        <p:spPr>
          <a:xfrm>
            <a:off x="5667120" y="3000240"/>
            <a:ext cx="2800800" cy="9720"/>
          </a:xfrm>
          <a:custGeom>
            <a:avLst/>
            <a:gdLst/>
            <a:ahLst/>
            <a:cxnLst/>
            <a:rect l="0" t="0" r="r" b="b"/>
            <a:pathLst>
              <a:path w="7780" h="27">
                <a:moveTo>
                  <a:pt x="0" y="0"/>
                </a:moveTo>
                <a:lnTo>
                  <a:pt x="7780" y="0"/>
                </a:lnTo>
                <a:lnTo>
                  <a:pt x="778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Forma libre 232"/>
          <p:cNvSpPr/>
          <p:nvPr/>
        </p:nvSpPr>
        <p:spPr>
          <a:xfrm>
            <a:off x="8457840" y="300960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Forma libre 233"/>
          <p:cNvSpPr/>
          <p:nvPr/>
        </p:nvSpPr>
        <p:spPr>
          <a:xfrm>
            <a:off x="666720" y="3428640"/>
            <a:ext cx="9720" cy="419760"/>
          </a:xfrm>
          <a:custGeom>
            <a:avLst/>
            <a:gdLst/>
            <a:ahLst/>
            <a:cxnLst/>
            <a:rect l="0" t="0" r="r" b="b"/>
            <a:pathLst>
              <a:path w="27" h="1166">
                <a:moveTo>
                  <a:pt x="0" y="0"/>
                </a:moveTo>
                <a:lnTo>
                  <a:pt x="27" y="0"/>
                </a:lnTo>
                <a:lnTo>
                  <a:pt x="27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Forma libre 234"/>
          <p:cNvSpPr/>
          <p:nvPr/>
        </p:nvSpPr>
        <p:spPr>
          <a:xfrm>
            <a:off x="666720" y="3419280"/>
            <a:ext cx="1857600" cy="9720"/>
          </a:xfrm>
          <a:custGeom>
            <a:avLst/>
            <a:gdLst/>
            <a:ahLst/>
            <a:cxnLst/>
            <a:rect l="0" t="0" r="r" b="b"/>
            <a:pathLst>
              <a:path w="5160" h="27">
                <a:moveTo>
                  <a:pt x="0" y="0"/>
                </a:moveTo>
                <a:lnTo>
                  <a:pt x="5160" y="0"/>
                </a:lnTo>
                <a:lnTo>
                  <a:pt x="516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Forma libre 235"/>
          <p:cNvSpPr/>
          <p:nvPr/>
        </p:nvSpPr>
        <p:spPr>
          <a:xfrm>
            <a:off x="2514240" y="3428640"/>
            <a:ext cx="10080" cy="419760"/>
          </a:xfrm>
          <a:custGeom>
            <a:avLst/>
            <a:gdLst/>
            <a:ahLst/>
            <a:cxnLst/>
            <a:rect l="0" t="0" r="r" b="b"/>
            <a:pathLst>
              <a:path w="28" h="1166">
                <a:moveTo>
                  <a:pt x="0" y="0"/>
                </a:moveTo>
                <a:lnTo>
                  <a:pt x="28" y="0"/>
                </a:lnTo>
                <a:lnTo>
                  <a:pt x="28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Forma libre 236"/>
          <p:cNvSpPr/>
          <p:nvPr/>
        </p:nvSpPr>
        <p:spPr>
          <a:xfrm>
            <a:off x="2523960" y="3419280"/>
            <a:ext cx="3143520" cy="9720"/>
          </a:xfrm>
          <a:custGeom>
            <a:avLst/>
            <a:gdLst/>
            <a:ahLst/>
            <a:cxnLst/>
            <a:rect l="0" t="0" r="r" b="b"/>
            <a:pathLst>
              <a:path w="8732" h="27">
                <a:moveTo>
                  <a:pt x="0" y="0"/>
                </a:moveTo>
                <a:lnTo>
                  <a:pt x="8732" y="0"/>
                </a:lnTo>
                <a:lnTo>
                  <a:pt x="873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Forma libre 237"/>
          <p:cNvSpPr/>
          <p:nvPr/>
        </p:nvSpPr>
        <p:spPr>
          <a:xfrm>
            <a:off x="5657760" y="3428640"/>
            <a:ext cx="9720" cy="419760"/>
          </a:xfrm>
          <a:custGeom>
            <a:avLst/>
            <a:gdLst/>
            <a:ahLst/>
            <a:cxnLst/>
            <a:rect l="0" t="0" r="r" b="b"/>
            <a:pathLst>
              <a:path w="27" h="1166">
                <a:moveTo>
                  <a:pt x="0" y="0"/>
                </a:moveTo>
                <a:lnTo>
                  <a:pt x="27" y="0"/>
                </a:lnTo>
                <a:lnTo>
                  <a:pt x="27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Forma libre 238"/>
          <p:cNvSpPr/>
          <p:nvPr/>
        </p:nvSpPr>
        <p:spPr>
          <a:xfrm>
            <a:off x="5667120" y="3419280"/>
            <a:ext cx="2800800" cy="9720"/>
          </a:xfrm>
          <a:custGeom>
            <a:avLst/>
            <a:gdLst/>
            <a:ahLst/>
            <a:cxnLst/>
            <a:rect l="0" t="0" r="r" b="b"/>
            <a:pathLst>
              <a:path w="7780" h="27">
                <a:moveTo>
                  <a:pt x="0" y="0"/>
                </a:moveTo>
                <a:lnTo>
                  <a:pt x="7780" y="0"/>
                </a:lnTo>
                <a:lnTo>
                  <a:pt x="778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Forma libre 239"/>
          <p:cNvSpPr/>
          <p:nvPr/>
        </p:nvSpPr>
        <p:spPr>
          <a:xfrm>
            <a:off x="8457840" y="3428640"/>
            <a:ext cx="10080" cy="419760"/>
          </a:xfrm>
          <a:custGeom>
            <a:avLst/>
            <a:gdLst/>
            <a:ahLst/>
            <a:cxnLst/>
            <a:rect l="0" t="0" r="r" b="b"/>
            <a:pathLst>
              <a:path w="28" h="1166">
                <a:moveTo>
                  <a:pt x="0" y="0"/>
                </a:moveTo>
                <a:lnTo>
                  <a:pt x="28" y="0"/>
                </a:lnTo>
                <a:lnTo>
                  <a:pt x="28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Forma libre 240"/>
          <p:cNvSpPr/>
          <p:nvPr/>
        </p:nvSpPr>
        <p:spPr>
          <a:xfrm>
            <a:off x="666720" y="384804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Forma libre 241"/>
          <p:cNvSpPr/>
          <p:nvPr/>
        </p:nvSpPr>
        <p:spPr>
          <a:xfrm>
            <a:off x="666720" y="3838320"/>
            <a:ext cx="1857600" cy="10080"/>
          </a:xfrm>
          <a:custGeom>
            <a:avLst/>
            <a:gdLst/>
            <a:ahLst/>
            <a:cxnLst/>
            <a:rect l="0" t="0" r="r" b="b"/>
            <a:pathLst>
              <a:path w="5160" h="28">
                <a:moveTo>
                  <a:pt x="0" y="0"/>
                </a:moveTo>
                <a:lnTo>
                  <a:pt x="5160" y="0"/>
                </a:lnTo>
                <a:lnTo>
                  <a:pt x="516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Forma libre 242"/>
          <p:cNvSpPr/>
          <p:nvPr/>
        </p:nvSpPr>
        <p:spPr>
          <a:xfrm>
            <a:off x="2514240" y="384804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Forma libre 243"/>
          <p:cNvSpPr/>
          <p:nvPr/>
        </p:nvSpPr>
        <p:spPr>
          <a:xfrm>
            <a:off x="2523960" y="3838320"/>
            <a:ext cx="3143520" cy="10080"/>
          </a:xfrm>
          <a:custGeom>
            <a:avLst/>
            <a:gdLst/>
            <a:ahLst/>
            <a:cxnLst/>
            <a:rect l="0" t="0" r="r" b="b"/>
            <a:pathLst>
              <a:path w="8732" h="28">
                <a:moveTo>
                  <a:pt x="0" y="0"/>
                </a:moveTo>
                <a:lnTo>
                  <a:pt x="8732" y="0"/>
                </a:lnTo>
                <a:lnTo>
                  <a:pt x="873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Forma libre 244"/>
          <p:cNvSpPr/>
          <p:nvPr/>
        </p:nvSpPr>
        <p:spPr>
          <a:xfrm>
            <a:off x="5657760" y="384804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Forma libre 245"/>
          <p:cNvSpPr/>
          <p:nvPr/>
        </p:nvSpPr>
        <p:spPr>
          <a:xfrm>
            <a:off x="5667120" y="3838320"/>
            <a:ext cx="2800800" cy="10080"/>
          </a:xfrm>
          <a:custGeom>
            <a:avLst/>
            <a:gdLst/>
            <a:ahLst/>
            <a:cxnLst/>
            <a:rect l="0" t="0" r="r" b="b"/>
            <a:pathLst>
              <a:path w="7780" h="28">
                <a:moveTo>
                  <a:pt x="0" y="0"/>
                </a:moveTo>
                <a:lnTo>
                  <a:pt x="7780" y="0"/>
                </a:lnTo>
                <a:lnTo>
                  <a:pt x="778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Forma libre 246"/>
          <p:cNvSpPr/>
          <p:nvPr/>
        </p:nvSpPr>
        <p:spPr>
          <a:xfrm>
            <a:off x="8457840" y="384804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Forma libre 247"/>
          <p:cNvSpPr/>
          <p:nvPr/>
        </p:nvSpPr>
        <p:spPr>
          <a:xfrm>
            <a:off x="666720" y="426708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Forma libre 248"/>
          <p:cNvSpPr/>
          <p:nvPr/>
        </p:nvSpPr>
        <p:spPr>
          <a:xfrm>
            <a:off x="666720" y="4257360"/>
            <a:ext cx="1857600" cy="10080"/>
          </a:xfrm>
          <a:custGeom>
            <a:avLst/>
            <a:gdLst/>
            <a:ahLst/>
            <a:cxnLst/>
            <a:rect l="0" t="0" r="r" b="b"/>
            <a:pathLst>
              <a:path w="5160" h="28">
                <a:moveTo>
                  <a:pt x="0" y="0"/>
                </a:moveTo>
                <a:lnTo>
                  <a:pt x="5160" y="0"/>
                </a:lnTo>
                <a:lnTo>
                  <a:pt x="516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Forma libre 249"/>
          <p:cNvSpPr/>
          <p:nvPr/>
        </p:nvSpPr>
        <p:spPr>
          <a:xfrm>
            <a:off x="2514240" y="426708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Forma libre 250"/>
          <p:cNvSpPr/>
          <p:nvPr/>
        </p:nvSpPr>
        <p:spPr>
          <a:xfrm>
            <a:off x="2523960" y="4257360"/>
            <a:ext cx="3143520" cy="10080"/>
          </a:xfrm>
          <a:custGeom>
            <a:avLst/>
            <a:gdLst/>
            <a:ahLst/>
            <a:cxnLst/>
            <a:rect l="0" t="0" r="r" b="b"/>
            <a:pathLst>
              <a:path w="8732" h="28">
                <a:moveTo>
                  <a:pt x="0" y="0"/>
                </a:moveTo>
                <a:lnTo>
                  <a:pt x="8732" y="0"/>
                </a:lnTo>
                <a:lnTo>
                  <a:pt x="873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Forma libre 251"/>
          <p:cNvSpPr/>
          <p:nvPr/>
        </p:nvSpPr>
        <p:spPr>
          <a:xfrm>
            <a:off x="5657760" y="426708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Forma libre 252"/>
          <p:cNvSpPr/>
          <p:nvPr/>
        </p:nvSpPr>
        <p:spPr>
          <a:xfrm>
            <a:off x="5667120" y="4257360"/>
            <a:ext cx="2800800" cy="10080"/>
          </a:xfrm>
          <a:custGeom>
            <a:avLst/>
            <a:gdLst/>
            <a:ahLst/>
            <a:cxnLst/>
            <a:rect l="0" t="0" r="r" b="b"/>
            <a:pathLst>
              <a:path w="7780" h="28">
                <a:moveTo>
                  <a:pt x="0" y="0"/>
                </a:moveTo>
                <a:lnTo>
                  <a:pt x="7780" y="0"/>
                </a:lnTo>
                <a:lnTo>
                  <a:pt x="778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Forma libre 253"/>
          <p:cNvSpPr/>
          <p:nvPr/>
        </p:nvSpPr>
        <p:spPr>
          <a:xfrm>
            <a:off x="8457840" y="426708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Forma libre 254"/>
          <p:cNvSpPr/>
          <p:nvPr/>
        </p:nvSpPr>
        <p:spPr>
          <a:xfrm>
            <a:off x="666720" y="4676760"/>
            <a:ext cx="1857600" cy="9720"/>
          </a:xfrm>
          <a:custGeom>
            <a:avLst/>
            <a:gdLst/>
            <a:ahLst/>
            <a:cxnLst/>
            <a:rect l="0" t="0" r="r" b="b"/>
            <a:pathLst>
              <a:path w="5160" h="27">
                <a:moveTo>
                  <a:pt x="0" y="0"/>
                </a:moveTo>
                <a:lnTo>
                  <a:pt x="5160" y="0"/>
                </a:lnTo>
                <a:lnTo>
                  <a:pt x="516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Forma libre 255"/>
          <p:cNvSpPr/>
          <p:nvPr/>
        </p:nvSpPr>
        <p:spPr>
          <a:xfrm>
            <a:off x="2523960" y="4676760"/>
            <a:ext cx="3143520" cy="9720"/>
          </a:xfrm>
          <a:custGeom>
            <a:avLst/>
            <a:gdLst/>
            <a:ahLst/>
            <a:cxnLst/>
            <a:rect l="0" t="0" r="r" b="b"/>
            <a:pathLst>
              <a:path w="8732" h="27">
                <a:moveTo>
                  <a:pt x="0" y="0"/>
                </a:moveTo>
                <a:lnTo>
                  <a:pt x="8732" y="0"/>
                </a:lnTo>
                <a:lnTo>
                  <a:pt x="873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Forma libre 256"/>
          <p:cNvSpPr/>
          <p:nvPr/>
        </p:nvSpPr>
        <p:spPr>
          <a:xfrm>
            <a:off x="5667120" y="4676760"/>
            <a:ext cx="2800800" cy="9720"/>
          </a:xfrm>
          <a:custGeom>
            <a:avLst/>
            <a:gdLst/>
            <a:ahLst/>
            <a:cxnLst/>
            <a:rect l="0" t="0" r="r" b="b"/>
            <a:pathLst>
              <a:path w="7780" h="27">
                <a:moveTo>
                  <a:pt x="0" y="0"/>
                </a:moveTo>
                <a:lnTo>
                  <a:pt x="7780" y="0"/>
                </a:lnTo>
                <a:lnTo>
                  <a:pt x="778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Forma libre 257"/>
          <p:cNvSpPr/>
          <p:nvPr/>
        </p:nvSpPr>
        <p:spPr>
          <a:xfrm>
            <a:off x="666720" y="4838400"/>
            <a:ext cx="10858680" cy="914760"/>
          </a:xfrm>
          <a:custGeom>
            <a:avLst/>
            <a:gdLst/>
            <a:ahLst/>
            <a:cxnLst/>
            <a:rect l="0" t="0" r="r" b="b"/>
            <a:pathLst>
              <a:path w="30163" h="2541">
                <a:moveTo>
                  <a:pt x="0" y="0"/>
                </a:moveTo>
                <a:lnTo>
                  <a:pt x="30163" y="0"/>
                </a:lnTo>
                <a:lnTo>
                  <a:pt x="3016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Forma libre 258"/>
          <p:cNvSpPr/>
          <p:nvPr/>
        </p:nvSpPr>
        <p:spPr>
          <a:xfrm>
            <a:off x="666720" y="4838400"/>
            <a:ext cx="47880" cy="914760"/>
          </a:xfrm>
          <a:custGeom>
            <a:avLst/>
            <a:gdLst/>
            <a:ahLst/>
            <a:cxnLst/>
            <a:rect l="0" t="0" r="r" b="b"/>
            <a:pathLst>
              <a:path w="133" h="2541">
                <a:moveTo>
                  <a:pt x="0" y="0"/>
                </a:moveTo>
                <a:lnTo>
                  <a:pt x="133" y="0"/>
                </a:lnTo>
                <a:lnTo>
                  <a:pt x="13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CuadroTexto 259"/>
          <p:cNvSpPr txBox="1"/>
          <p:nvPr/>
        </p:nvSpPr>
        <p:spPr>
          <a:xfrm>
            <a:off x="666720" y="1120320"/>
            <a:ext cx="407124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Las jerarquías que vas a usar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CuadroTexto 260"/>
          <p:cNvSpPr txBox="1"/>
          <p:nvPr/>
        </p:nvSpPr>
        <p:spPr>
          <a:xfrm>
            <a:off x="1167120" y="1856880"/>
            <a:ext cx="8614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Jerarquía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CuadroTexto 261"/>
          <p:cNvSpPr txBox="1"/>
          <p:nvPr/>
        </p:nvSpPr>
        <p:spPr>
          <a:xfrm>
            <a:off x="3684240" y="1856880"/>
            <a:ext cx="81900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Contiene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CuadroTexto 262"/>
          <p:cNvSpPr txBox="1"/>
          <p:nvPr/>
        </p:nvSpPr>
        <p:spPr>
          <a:xfrm>
            <a:off x="6316920" y="1856880"/>
            <a:ext cx="15004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En OMOP va a…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CuadroTexto 263"/>
          <p:cNvSpPr txBox="1"/>
          <p:nvPr/>
        </p:nvSpPr>
        <p:spPr>
          <a:xfrm>
            <a:off x="799920" y="2266560"/>
            <a:ext cx="13474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Clinical ﬁnding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Forma libre 264"/>
          <p:cNvSpPr/>
          <p:nvPr/>
        </p:nvSpPr>
        <p:spPr>
          <a:xfrm>
            <a:off x="5790960" y="2276280"/>
            <a:ext cx="1000440" cy="228960"/>
          </a:xfrm>
          <a:custGeom>
            <a:avLst/>
            <a:gdLst/>
            <a:ahLst/>
            <a:cxnLst/>
            <a:rect l="0" t="0" r="r" b="b"/>
            <a:pathLst>
              <a:path w="2779" h="636">
                <a:moveTo>
                  <a:pt x="0" y="530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2673" y="0"/>
                </a:lnTo>
                <a:cubicBezTo>
                  <a:pt x="2687" y="0"/>
                  <a:pt x="2701" y="3"/>
                  <a:pt x="2714" y="8"/>
                </a:cubicBezTo>
                <a:cubicBezTo>
                  <a:pt x="2727" y="13"/>
                  <a:pt x="2738" y="21"/>
                  <a:pt x="2748" y="31"/>
                </a:cubicBezTo>
                <a:cubicBezTo>
                  <a:pt x="2758" y="41"/>
                  <a:pt x="2766" y="52"/>
                  <a:pt x="2771" y="65"/>
                </a:cubicBezTo>
                <a:cubicBezTo>
                  <a:pt x="2777" y="78"/>
                  <a:pt x="2779" y="92"/>
                  <a:pt x="2779" y="106"/>
                </a:cubicBezTo>
                <a:lnTo>
                  <a:pt x="2779" y="530"/>
                </a:lnTo>
                <a:cubicBezTo>
                  <a:pt x="2779" y="544"/>
                  <a:pt x="2777" y="558"/>
                  <a:pt x="2771" y="571"/>
                </a:cubicBezTo>
                <a:cubicBezTo>
                  <a:pt x="2766" y="584"/>
                  <a:pt x="2758" y="595"/>
                  <a:pt x="2748" y="605"/>
                </a:cubicBezTo>
                <a:cubicBezTo>
                  <a:pt x="2738" y="615"/>
                  <a:pt x="2727" y="623"/>
                  <a:pt x="2714" y="628"/>
                </a:cubicBezTo>
                <a:cubicBezTo>
                  <a:pt x="2701" y="633"/>
                  <a:pt x="2687" y="636"/>
                  <a:pt x="2673" y="636"/>
                </a:cubicBezTo>
                <a:lnTo>
                  <a:pt x="106" y="636"/>
                </a:lnTo>
                <a:cubicBezTo>
                  <a:pt x="92" y="636"/>
                  <a:pt x="78" y="633"/>
                  <a:pt x="65" y="628"/>
                </a:cubicBezTo>
                <a:cubicBezTo>
                  <a:pt x="53" y="623"/>
                  <a:pt x="41" y="615"/>
                  <a:pt x="31" y="605"/>
                </a:cubicBezTo>
                <a:cubicBezTo>
                  <a:pt x="21" y="595"/>
                  <a:pt x="14" y="584"/>
                  <a:pt x="8" y="571"/>
                </a:cubicBezTo>
                <a:cubicBezTo>
                  <a:pt x="3" y="558"/>
                  <a:pt x="0" y="544"/>
                  <a:pt x="0" y="530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CuadroTexto 265"/>
          <p:cNvSpPr txBox="1"/>
          <p:nvPr/>
        </p:nvSpPr>
        <p:spPr>
          <a:xfrm>
            <a:off x="2648520" y="2266560"/>
            <a:ext cx="289044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enfermedades, síntomas, hallazgos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CuadroTexto 266"/>
          <p:cNvSpPr txBox="1"/>
          <p:nvPr/>
        </p:nvSpPr>
        <p:spPr>
          <a:xfrm>
            <a:off x="5852520" y="2297520"/>
            <a:ext cx="8758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28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CONDITION</a:t>
            </a:r>
            <a:endParaRPr lang="es-E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CuadroTexto 267"/>
          <p:cNvSpPr txBox="1"/>
          <p:nvPr/>
        </p:nvSpPr>
        <p:spPr>
          <a:xfrm>
            <a:off x="799920" y="2685600"/>
            <a:ext cx="9496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Procedure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Forma libre 268"/>
          <p:cNvSpPr/>
          <p:nvPr/>
        </p:nvSpPr>
        <p:spPr>
          <a:xfrm>
            <a:off x="5790960" y="2695320"/>
            <a:ext cx="1000440" cy="228960"/>
          </a:xfrm>
          <a:custGeom>
            <a:avLst/>
            <a:gdLst/>
            <a:ahLst/>
            <a:cxnLst/>
            <a:rect l="0" t="0" r="r" b="b"/>
            <a:pathLst>
              <a:path w="2779" h="636">
                <a:moveTo>
                  <a:pt x="0" y="530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3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2673" y="0"/>
                </a:lnTo>
                <a:cubicBezTo>
                  <a:pt x="2687" y="0"/>
                  <a:pt x="2701" y="3"/>
                  <a:pt x="2714" y="8"/>
                </a:cubicBezTo>
                <a:cubicBezTo>
                  <a:pt x="2727" y="14"/>
                  <a:pt x="2738" y="21"/>
                  <a:pt x="2748" y="31"/>
                </a:cubicBezTo>
                <a:cubicBezTo>
                  <a:pt x="2758" y="41"/>
                  <a:pt x="2766" y="53"/>
                  <a:pt x="2771" y="66"/>
                </a:cubicBezTo>
                <a:cubicBezTo>
                  <a:pt x="2777" y="79"/>
                  <a:pt x="2779" y="92"/>
                  <a:pt x="2779" y="106"/>
                </a:cubicBezTo>
                <a:lnTo>
                  <a:pt x="2779" y="530"/>
                </a:lnTo>
                <a:cubicBezTo>
                  <a:pt x="2779" y="544"/>
                  <a:pt x="2777" y="558"/>
                  <a:pt x="2771" y="571"/>
                </a:cubicBezTo>
                <a:cubicBezTo>
                  <a:pt x="2766" y="584"/>
                  <a:pt x="2758" y="595"/>
                  <a:pt x="2748" y="605"/>
                </a:cubicBezTo>
                <a:cubicBezTo>
                  <a:pt x="2738" y="615"/>
                  <a:pt x="2727" y="623"/>
                  <a:pt x="2714" y="628"/>
                </a:cubicBezTo>
                <a:cubicBezTo>
                  <a:pt x="2701" y="634"/>
                  <a:pt x="2687" y="636"/>
                  <a:pt x="2673" y="636"/>
                </a:cubicBezTo>
                <a:lnTo>
                  <a:pt x="106" y="636"/>
                </a:lnTo>
                <a:cubicBezTo>
                  <a:pt x="92" y="636"/>
                  <a:pt x="78" y="634"/>
                  <a:pt x="65" y="628"/>
                </a:cubicBezTo>
                <a:cubicBezTo>
                  <a:pt x="53" y="623"/>
                  <a:pt x="41" y="615"/>
                  <a:pt x="31" y="605"/>
                </a:cubicBezTo>
                <a:cubicBezTo>
                  <a:pt x="21" y="595"/>
                  <a:pt x="14" y="584"/>
                  <a:pt x="8" y="571"/>
                </a:cubicBezTo>
                <a:cubicBezTo>
                  <a:pt x="3" y="558"/>
                  <a:pt x="0" y="544"/>
                  <a:pt x="0" y="530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CuadroTexto 269"/>
          <p:cNvSpPr txBox="1"/>
          <p:nvPr/>
        </p:nvSpPr>
        <p:spPr>
          <a:xfrm>
            <a:off x="2648520" y="2685600"/>
            <a:ext cx="218124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cirugías, estudios, terapias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CuadroTexto 270"/>
          <p:cNvSpPr txBox="1"/>
          <p:nvPr/>
        </p:nvSpPr>
        <p:spPr>
          <a:xfrm>
            <a:off x="5852520" y="2716920"/>
            <a:ext cx="8758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28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PROCEDURE</a:t>
            </a:r>
            <a:endParaRPr lang="es-E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CuadroTexto 271"/>
          <p:cNvSpPr txBox="1"/>
          <p:nvPr/>
        </p:nvSpPr>
        <p:spPr>
          <a:xfrm>
            <a:off x="799920" y="3104640"/>
            <a:ext cx="15919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Observable entity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Forma libre 272"/>
          <p:cNvSpPr/>
          <p:nvPr/>
        </p:nvSpPr>
        <p:spPr>
          <a:xfrm>
            <a:off x="5790960" y="3114360"/>
            <a:ext cx="1190880" cy="228960"/>
          </a:xfrm>
          <a:custGeom>
            <a:avLst/>
            <a:gdLst/>
            <a:ahLst/>
            <a:cxnLst/>
            <a:rect l="0" t="0" r="r" b="b"/>
            <a:pathLst>
              <a:path w="3308" h="636">
                <a:moveTo>
                  <a:pt x="0" y="530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3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3203" y="0"/>
                </a:lnTo>
                <a:cubicBezTo>
                  <a:pt x="3217" y="0"/>
                  <a:pt x="3230" y="3"/>
                  <a:pt x="3243" y="8"/>
                </a:cubicBezTo>
                <a:cubicBezTo>
                  <a:pt x="3256" y="14"/>
                  <a:pt x="3268" y="21"/>
                  <a:pt x="3277" y="31"/>
                </a:cubicBezTo>
                <a:cubicBezTo>
                  <a:pt x="3287" y="41"/>
                  <a:pt x="3295" y="53"/>
                  <a:pt x="3300" y="66"/>
                </a:cubicBezTo>
                <a:cubicBezTo>
                  <a:pt x="3306" y="79"/>
                  <a:pt x="3308" y="92"/>
                  <a:pt x="3308" y="106"/>
                </a:cubicBezTo>
                <a:lnTo>
                  <a:pt x="3308" y="530"/>
                </a:lnTo>
                <a:cubicBezTo>
                  <a:pt x="3308" y="545"/>
                  <a:pt x="3306" y="558"/>
                  <a:pt x="3300" y="571"/>
                </a:cubicBezTo>
                <a:cubicBezTo>
                  <a:pt x="3295" y="584"/>
                  <a:pt x="3287" y="595"/>
                  <a:pt x="3277" y="605"/>
                </a:cubicBezTo>
                <a:cubicBezTo>
                  <a:pt x="3268" y="615"/>
                  <a:pt x="3256" y="623"/>
                  <a:pt x="3243" y="628"/>
                </a:cubicBezTo>
                <a:cubicBezTo>
                  <a:pt x="3230" y="634"/>
                  <a:pt x="3217" y="636"/>
                  <a:pt x="3203" y="636"/>
                </a:cubicBezTo>
                <a:lnTo>
                  <a:pt x="106" y="636"/>
                </a:lnTo>
                <a:cubicBezTo>
                  <a:pt x="92" y="636"/>
                  <a:pt x="78" y="634"/>
                  <a:pt x="65" y="628"/>
                </a:cubicBezTo>
                <a:cubicBezTo>
                  <a:pt x="53" y="623"/>
                  <a:pt x="41" y="615"/>
                  <a:pt x="31" y="605"/>
                </a:cubicBezTo>
                <a:cubicBezTo>
                  <a:pt x="21" y="595"/>
                  <a:pt x="14" y="584"/>
                  <a:pt x="8" y="571"/>
                </a:cubicBezTo>
                <a:cubicBezTo>
                  <a:pt x="3" y="558"/>
                  <a:pt x="0" y="545"/>
                  <a:pt x="0" y="530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CuadroTexto 273"/>
          <p:cNvSpPr txBox="1"/>
          <p:nvPr/>
        </p:nvSpPr>
        <p:spPr>
          <a:xfrm>
            <a:off x="2648520" y="3104640"/>
            <a:ext cx="183564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lo que se puede medir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CuadroTexto 274"/>
          <p:cNvSpPr txBox="1"/>
          <p:nvPr/>
        </p:nvSpPr>
        <p:spPr>
          <a:xfrm>
            <a:off x="5852520" y="3135960"/>
            <a:ext cx="107064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28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MEASUREMENT</a:t>
            </a:r>
            <a:endParaRPr lang="es-E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Forma libre 275"/>
          <p:cNvSpPr/>
          <p:nvPr/>
        </p:nvSpPr>
        <p:spPr>
          <a:xfrm>
            <a:off x="7153200" y="3114360"/>
            <a:ext cx="1181520" cy="228960"/>
          </a:xfrm>
          <a:custGeom>
            <a:avLst/>
            <a:gdLst/>
            <a:ahLst/>
            <a:cxnLst/>
            <a:rect l="0" t="0" r="r" b="b"/>
            <a:pathLst>
              <a:path w="3282" h="636">
                <a:moveTo>
                  <a:pt x="0" y="530"/>
                </a:moveTo>
                <a:lnTo>
                  <a:pt x="0" y="106"/>
                </a:ln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3176" y="0"/>
                </a:lnTo>
                <a:cubicBezTo>
                  <a:pt x="3190" y="0"/>
                  <a:pt x="3203" y="3"/>
                  <a:pt x="3216" y="8"/>
                </a:cubicBezTo>
                <a:cubicBezTo>
                  <a:pt x="3229" y="14"/>
                  <a:pt x="3241" y="21"/>
                  <a:pt x="3251" y="31"/>
                </a:cubicBezTo>
                <a:cubicBezTo>
                  <a:pt x="3260" y="41"/>
                  <a:pt x="3268" y="53"/>
                  <a:pt x="3273" y="66"/>
                </a:cubicBezTo>
                <a:cubicBezTo>
                  <a:pt x="3279" y="79"/>
                  <a:pt x="3282" y="92"/>
                  <a:pt x="3282" y="106"/>
                </a:cubicBezTo>
                <a:lnTo>
                  <a:pt x="3282" y="530"/>
                </a:lnTo>
                <a:cubicBezTo>
                  <a:pt x="3282" y="545"/>
                  <a:pt x="3279" y="558"/>
                  <a:pt x="3273" y="571"/>
                </a:cubicBezTo>
                <a:cubicBezTo>
                  <a:pt x="3268" y="584"/>
                  <a:pt x="3260" y="595"/>
                  <a:pt x="3251" y="605"/>
                </a:cubicBezTo>
                <a:cubicBezTo>
                  <a:pt x="3241" y="615"/>
                  <a:pt x="3229" y="623"/>
                  <a:pt x="3216" y="628"/>
                </a:cubicBezTo>
                <a:cubicBezTo>
                  <a:pt x="3203" y="634"/>
                  <a:pt x="3190" y="636"/>
                  <a:pt x="3176" y="636"/>
                </a:cubicBezTo>
                <a:lnTo>
                  <a:pt x="106" y="636"/>
                </a:lnTo>
                <a:cubicBezTo>
                  <a:pt x="92" y="636"/>
                  <a:pt x="78" y="634"/>
                  <a:pt x="65" y="628"/>
                </a:cubicBezTo>
                <a:cubicBezTo>
                  <a:pt x="52" y="623"/>
                  <a:pt x="41" y="615"/>
                  <a:pt x="31" y="605"/>
                </a:cubicBezTo>
                <a:cubicBezTo>
                  <a:pt x="21" y="595"/>
                  <a:pt x="13" y="584"/>
                  <a:pt x="8" y="571"/>
                </a:cubicBezTo>
                <a:cubicBezTo>
                  <a:pt x="2" y="558"/>
                  <a:pt x="0" y="545"/>
                  <a:pt x="0" y="530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CuadroTexto 276"/>
          <p:cNvSpPr txBox="1"/>
          <p:nvPr/>
        </p:nvSpPr>
        <p:spPr>
          <a:xfrm>
            <a:off x="6982200" y="3104640"/>
            <a:ext cx="1900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/ 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CuadroTexto 277"/>
          <p:cNvSpPr txBox="1"/>
          <p:nvPr/>
        </p:nvSpPr>
        <p:spPr>
          <a:xfrm>
            <a:off x="7208640" y="3135960"/>
            <a:ext cx="107064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28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OBSERVATION</a:t>
            </a:r>
            <a:endParaRPr lang="es-E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CuadroTexto 278"/>
          <p:cNvSpPr txBox="1"/>
          <p:nvPr/>
        </p:nvSpPr>
        <p:spPr>
          <a:xfrm>
            <a:off x="799920" y="3524040"/>
            <a:ext cx="9640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Substance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Forma libre 279"/>
          <p:cNvSpPr/>
          <p:nvPr/>
        </p:nvSpPr>
        <p:spPr>
          <a:xfrm>
            <a:off x="5790960" y="3533760"/>
            <a:ext cx="505080" cy="228960"/>
          </a:xfrm>
          <a:custGeom>
            <a:avLst/>
            <a:gdLst/>
            <a:ahLst/>
            <a:cxnLst/>
            <a:rect l="0" t="0" r="r" b="b"/>
            <a:pathLst>
              <a:path w="1403" h="636">
                <a:moveTo>
                  <a:pt x="0" y="530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2"/>
                </a:cubicBezTo>
                <a:cubicBezTo>
                  <a:pt x="42" y="22"/>
                  <a:pt x="54" y="14"/>
                  <a:pt x="66" y="8"/>
                </a:cubicBezTo>
                <a:cubicBezTo>
                  <a:pt x="79" y="2"/>
                  <a:pt x="93" y="0"/>
                  <a:pt x="107" y="0"/>
                </a:cubicBezTo>
                <a:lnTo>
                  <a:pt x="1298" y="0"/>
                </a:lnTo>
                <a:cubicBezTo>
                  <a:pt x="1312" y="0"/>
                  <a:pt x="1325" y="2"/>
                  <a:pt x="1338" y="8"/>
                </a:cubicBezTo>
                <a:cubicBezTo>
                  <a:pt x="1351" y="14"/>
                  <a:pt x="1363" y="22"/>
                  <a:pt x="1372" y="32"/>
                </a:cubicBezTo>
                <a:cubicBezTo>
                  <a:pt x="1382" y="41"/>
                  <a:pt x="1390" y="53"/>
                  <a:pt x="1395" y="66"/>
                </a:cubicBezTo>
                <a:cubicBezTo>
                  <a:pt x="1401" y="79"/>
                  <a:pt x="1403" y="92"/>
                  <a:pt x="1403" y="106"/>
                </a:cubicBezTo>
                <a:lnTo>
                  <a:pt x="1403" y="530"/>
                </a:lnTo>
                <a:cubicBezTo>
                  <a:pt x="1403" y="544"/>
                  <a:pt x="1401" y="557"/>
                  <a:pt x="1395" y="570"/>
                </a:cubicBezTo>
                <a:cubicBezTo>
                  <a:pt x="1390" y="583"/>
                  <a:pt x="1382" y="595"/>
                  <a:pt x="1372" y="605"/>
                </a:cubicBezTo>
                <a:cubicBezTo>
                  <a:pt x="1363" y="614"/>
                  <a:pt x="1351" y="622"/>
                  <a:pt x="1338" y="627"/>
                </a:cubicBezTo>
                <a:cubicBezTo>
                  <a:pt x="1325" y="633"/>
                  <a:pt x="1312" y="636"/>
                  <a:pt x="1298" y="636"/>
                </a:cubicBezTo>
                <a:lnTo>
                  <a:pt x="107" y="636"/>
                </a:lnTo>
                <a:cubicBezTo>
                  <a:pt x="93" y="636"/>
                  <a:pt x="79" y="633"/>
                  <a:pt x="66" y="627"/>
                </a:cubicBezTo>
                <a:cubicBezTo>
                  <a:pt x="54" y="622"/>
                  <a:pt x="42" y="614"/>
                  <a:pt x="31" y="605"/>
                </a:cubicBezTo>
                <a:cubicBezTo>
                  <a:pt x="21" y="595"/>
                  <a:pt x="14" y="583"/>
                  <a:pt x="8" y="570"/>
                </a:cubicBezTo>
                <a:cubicBezTo>
                  <a:pt x="3" y="557"/>
                  <a:pt x="0" y="544"/>
                  <a:pt x="0" y="530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CuadroTexto 280"/>
          <p:cNvSpPr txBox="1"/>
          <p:nvPr/>
        </p:nvSpPr>
        <p:spPr>
          <a:xfrm>
            <a:off x="2648520" y="3524040"/>
            <a:ext cx="238572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sustancias, principios activos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CuadroTexto 281"/>
          <p:cNvSpPr txBox="1"/>
          <p:nvPr/>
        </p:nvSpPr>
        <p:spPr>
          <a:xfrm>
            <a:off x="5852520" y="3555000"/>
            <a:ext cx="3898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28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DRUG</a:t>
            </a:r>
            <a:endParaRPr lang="es-E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CuadroTexto 282"/>
          <p:cNvSpPr txBox="1"/>
          <p:nvPr/>
        </p:nvSpPr>
        <p:spPr>
          <a:xfrm>
            <a:off x="799920" y="3943080"/>
            <a:ext cx="13485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Body structure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CuadroTexto 283"/>
          <p:cNvSpPr txBox="1"/>
          <p:nvPr/>
        </p:nvSpPr>
        <p:spPr>
          <a:xfrm>
            <a:off x="2648520" y="3943080"/>
            <a:ext cx="75600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anatomía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CuadroTexto 284"/>
          <p:cNvSpPr txBox="1"/>
          <p:nvPr/>
        </p:nvSpPr>
        <p:spPr>
          <a:xfrm>
            <a:off x="5795280" y="3943080"/>
            <a:ext cx="71676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atributos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CuadroTexto 285"/>
          <p:cNvSpPr txBox="1"/>
          <p:nvPr/>
        </p:nvSpPr>
        <p:spPr>
          <a:xfrm>
            <a:off x="799920" y="4362120"/>
            <a:ext cx="8859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Organism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Forma libre 286"/>
          <p:cNvSpPr/>
          <p:nvPr/>
        </p:nvSpPr>
        <p:spPr>
          <a:xfrm>
            <a:off x="5790960" y="4371840"/>
            <a:ext cx="1190880" cy="228960"/>
          </a:xfrm>
          <a:custGeom>
            <a:avLst/>
            <a:gdLst/>
            <a:ahLst/>
            <a:cxnLst/>
            <a:rect l="0" t="0" r="r" b="b"/>
            <a:pathLst>
              <a:path w="3308" h="636">
                <a:moveTo>
                  <a:pt x="0" y="530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3203" y="0"/>
                </a:lnTo>
                <a:cubicBezTo>
                  <a:pt x="3217" y="0"/>
                  <a:pt x="3230" y="3"/>
                  <a:pt x="3243" y="8"/>
                </a:cubicBezTo>
                <a:cubicBezTo>
                  <a:pt x="3256" y="13"/>
                  <a:pt x="3268" y="21"/>
                  <a:pt x="3277" y="31"/>
                </a:cubicBezTo>
                <a:cubicBezTo>
                  <a:pt x="3287" y="41"/>
                  <a:pt x="3295" y="52"/>
                  <a:pt x="3300" y="65"/>
                </a:cubicBezTo>
                <a:cubicBezTo>
                  <a:pt x="3306" y="78"/>
                  <a:pt x="3308" y="92"/>
                  <a:pt x="3308" y="106"/>
                </a:cubicBezTo>
                <a:lnTo>
                  <a:pt x="3308" y="530"/>
                </a:lnTo>
                <a:cubicBezTo>
                  <a:pt x="3308" y="544"/>
                  <a:pt x="3306" y="558"/>
                  <a:pt x="3300" y="571"/>
                </a:cubicBezTo>
                <a:cubicBezTo>
                  <a:pt x="3295" y="584"/>
                  <a:pt x="3287" y="595"/>
                  <a:pt x="3277" y="605"/>
                </a:cubicBezTo>
                <a:cubicBezTo>
                  <a:pt x="3268" y="615"/>
                  <a:pt x="3256" y="622"/>
                  <a:pt x="3243" y="628"/>
                </a:cubicBezTo>
                <a:cubicBezTo>
                  <a:pt x="3230" y="633"/>
                  <a:pt x="3217" y="636"/>
                  <a:pt x="3203" y="636"/>
                </a:cubicBezTo>
                <a:lnTo>
                  <a:pt x="106" y="636"/>
                </a:lnTo>
                <a:cubicBezTo>
                  <a:pt x="92" y="636"/>
                  <a:pt x="78" y="633"/>
                  <a:pt x="65" y="628"/>
                </a:cubicBezTo>
                <a:cubicBezTo>
                  <a:pt x="53" y="622"/>
                  <a:pt x="41" y="615"/>
                  <a:pt x="31" y="605"/>
                </a:cubicBezTo>
                <a:cubicBezTo>
                  <a:pt x="21" y="595"/>
                  <a:pt x="14" y="584"/>
                  <a:pt x="8" y="571"/>
                </a:cubicBezTo>
                <a:cubicBezTo>
                  <a:pt x="3" y="558"/>
                  <a:pt x="0" y="544"/>
                  <a:pt x="0" y="530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CuadroTexto 287"/>
          <p:cNvSpPr txBox="1"/>
          <p:nvPr/>
        </p:nvSpPr>
        <p:spPr>
          <a:xfrm>
            <a:off x="2648520" y="4362120"/>
            <a:ext cx="206136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bacterias, virus, especies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CuadroTexto 288"/>
          <p:cNvSpPr txBox="1"/>
          <p:nvPr/>
        </p:nvSpPr>
        <p:spPr>
          <a:xfrm>
            <a:off x="5852520" y="4393080"/>
            <a:ext cx="107064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28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OBSERVATION</a:t>
            </a:r>
            <a:endParaRPr lang="es-E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Forma libre 289"/>
          <p:cNvSpPr/>
          <p:nvPr/>
        </p:nvSpPr>
        <p:spPr>
          <a:xfrm>
            <a:off x="1142640" y="5010120"/>
            <a:ext cx="1172160" cy="266760"/>
          </a:xfrm>
          <a:custGeom>
            <a:avLst/>
            <a:gdLst/>
            <a:ahLst/>
            <a:cxnLst/>
            <a:rect l="0" t="0" r="r" b="b"/>
            <a:pathLst>
              <a:path w="3256" h="741">
                <a:moveTo>
                  <a:pt x="0" y="636"/>
                </a:moveTo>
                <a:lnTo>
                  <a:pt x="0" y="105"/>
                </a:lnTo>
                <a:cubicBezTo>
                  <a:pt x="0" y="91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lnTo>
                  <a:pt x="3150" y="0"/>
                </a:lnTo>
                <a:cubicBezTo>
                  <a:pt x="3164" y="0"/>
                  <a:pt x="3178" y="2"/>
                  <a:pt x="3191" y="8"/>
                </a:cubicBezTo>
                <a:cubicBezTo>
                  <a:pt x="3204" y="13"/>
                  <a:pt x="3215" y="21"/>
                  <a:pt x="3225" y="31"/>
                </a:cubicBezTo>
                <a:cubicBezTo>
                  <a:pt x="3235" y="41"/>
                  <a:pt x="3242" y="52"/>
                  <a:pt x="3248" y="65"/>
                </a:cubicBezTo>
                <a:cubicBezTo>
                  <a:pt x="3253" y="78"/>
                  <a:pt x="3256" y="91"/>
                  <a:pt x="3256" y="105"/>
                </a:cubicBezTo>
                <a:lnTo>
                  <a:pt x="3256" y="636"/>
                </a:lnTo>
                <a:cubicBezTo>
                  <a:pt x="3256" y="650"/>
                  <a:pt x="3253" y="663"/>
                  <a:pt x="3248" y="676"/>
                </a:cubicBezTo>
                <a:cubicBezTo>
                  <a:pt x="3242" y="689"/>
                  <a:pt x="3235" y="700"/>
                  <a:pt x="3225" y="710"/>
                </a:cubicBezTo>
                <a:cubicBezTo>
                  <a:pt x="3215" y="720"/>
                  <a:pt x="3204" y="728"/>
                  <a:pt x="3191" y="733"/>
                </a:cubicBezTo>
                <a:cubicBezTo>
                  <a:pt x="3178" y="739"/>
                  <a:pt x="3164" y="741"/>
                  <a:pt x="3150" y="741"/>
                </a:cubicBezTo>
                <a:lnTo>
                  <a:pt x="106" y="741"/>
                </a:lnTo>
                <a:cubicBezTo>
                  <a:pt x="92" y="741"/>
                  <a:pt x="79" y="739"/>
                  <a:pt x="66" y="733"/>
                </a:cubicBezTo>
                <a:cubicBezTo>
                  <a:pt x="53" y="728"/>
                  <a:pt x="41" y="720"/>
                  <a:pt x="31" y="710"/>
                </a:cubicBezTo>
                <a:cubicBezTo>
                  <a:pt x="22" y="700"/>
                  <a:pt x="14" y="689"/>
                  <a:pt x="9" y="676"/>
                </a:cubicBezTo>
                <a:cubicBezTo>
                  <a:pt x="3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CuadroTexto 290"/>
          <p:cNvSpPr txBox="1"/>
          <p:nvPr/>
        </p:nvSpPr>
        <p:spPr>
          <a:xfrm>
            <a:off x="905040" y="4992480"/>
            <a:ext cx="2422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El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CuadroTexto 291"/>
          <p:cNvSpPr txBox="1"/>
          <p:nvPr/>
        </p:nvSpPr>
        <p:spPr>
          <a:xfrm>
            <a:off x="1203480" y="5029920"/>
            <a:ext cx="10576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domain_id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CuadroTexto 292"/>
          <p:cNvSpPr txBox="1"/>
          <p:nvPr/>
        </p:nvSpPr>
        <p:spPr>
          <a:xfrm>
            <a:off x="2313720" y="4992480"/>
            <a:ext cx="87228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 de OMOP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se deriva</a:t>
            </a:r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 de la jerarquía SNOMED. Por eso un concepto de «Clinical ﬁnding»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Forma libre 293"/>
          <p:cNvSpPr/>
          <p:nvPr/>
        </p:nvSpPr>
        <p:spPr>
          <a:xfrm>
            <a:off x="3133440" y="5352840"/>
            <a:ext cx="1638720" cy="267120"/>
          </a:xfrm>
          <a:custGeom>
            <a:avLst/>
            <a:gdLst/>
            <a:ahLst/>
            <a:cxnLst/>
            <a:rect l="0" t="0" r="r" b="b"/>
            <a:pathLst>
              <a:path w="4552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4446" y="0"/>
                </a:lnTo>
                <a:cubicBezTo>
                  <a:pt x="4460" y="0"/>
                  <a:pt x="4474" y="3"/>
                  <a:pt x="4487" y="8"/>
                </a:cubicBezTo>
                <a:cubicBezTo>
                  <a:pt x="4500" y="14"/>
                  <a:pt x="4511" y="21"/>
                  <a:pt x="4521" y="31"/>
                </a:cubicBezTo>
                <a:cubicBezTo>
                  <a:pt x="4531" y="41"/>
                  <a:pt x="4539" y="52"/>
                  <a:pt x="4544" y="65"/>
                </a:cubicBezTo>
                <a:cubicBezTo>
                  <a:pt x="4549" y="78"/>
                  <a:pt x="4552" y="92"/>
                  <a:pt x="4552" y="106"/>
                </a:cubicBezTo>
                <a:lnTo>
                  <a:pt x="4552" y="636"/>
                </a:lnTo>
                <a:cubicBezTo>
                  <a:pt x="4552" y="650"/>
                  <a:pt x="4549" y="664"/>
                  <a:pt x="4544" y="677"/>
                </a:cubicBezTo>
                <a:cubicBezTo>
                  <a:pt x="4539" y="690"/>
                  <a:pt x="4531" y="701"/>
                  <a:pt x="4521" y="711"/>
                </a:cubicBezTo>
                <a:cubicBezTo>
                  <a:pt x="4511" y="721"/>
                  <a:pt x="4500" y="728"/>
                  <a:pt x="4487" y="734"/>
                </a:cubicBezTo>
                <a:cubicBezTo>
                  <a:pt x="4474" y="739"/>
                  <a:pt x="4460" y="742"/>
                  <a:pt x="4446" y="742"/>
                </a:cubicBezTo>
                <a:lnTo>
                  <a:pt x="106" y="742"/>
                </a:lnTo>
                <a:cubicBezTo>
                  <a:pt x="92" y="742"/>
                  <a:pt x="79" y="739"/>
                  <a:pt x="66" y="734"/>
                </a:cubicBezTo>
                <a:cubicBezTo>
                  <a:pt x="53" y="728"/>
                  <a:pt x="41" y="721"/>
                  <a:pt x="31" y="711"/>
                </a:cubicBezTo>
                <a:cubicBezTo>
                  <a:pt x="21" y="701"/>
                  <a:pt x="14" y="690"/>
                  <a:pt x="8" y="677"/>
                </a:cubicBezTo>
                <a:cubicBezTo>
                  <a:pt x="3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CuadroTexto 294"/>
          <p:cNvSpPr txBox="1"/>
          <p:nvPr/>
        </p:nvSpPr>
        <p:spPr>
          <a:xfrm>
            <a:off x="905040" y="5335560"/>
            <a:ext cx="22370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no puede aparecer en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CuadroTexto 295"/>
          <p:cNvSpPr txBox="1"/>
          <p:nvPr/>
        </p:nvSpPr>
        <p:spPr>
          <a:xfrm>
            <a:off x="3194280" y="5372640"/>
            <a:ext cx="15274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DRUG_EXPOSURE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CuadroTexto 296"/>
          <p:cNvSpPr txBox="1"/>
          <p:nvPr/>
        </p:nvSpPr>
        <p:spPr>
          <a:xfrm>
            <a:off x="4772520" y="5335560"/>
            <a:ext cx="2282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CuadroTexto 297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14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CuadroTexto 298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CuadroTexto 299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8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Forma libre 30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Forma libre 30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Forma libre 30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CuadroTexto 303"/>
          <p:cNvSpPr txBox="1"/>
          <p:nvPr/>
        </p:nvSpPr>
        <p:spPr>
          <a:xfrm>
            <a:off x="3272760" y="3063960"/>
            <a:ext cx="578016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3. ICD-10 y sus variantes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CuadroTexto 304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14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CuadroTexto 305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CuadroTexto 306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9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Forma libre 30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Forma libre 30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Forma libre 30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Forma libre 310"/>
          <p:cNvSpPr/>
          <p:nvPr/>
        </p:nvSpPr>
        <p:spPr>
          <a:xfrm>
            <a:off x="676080" y="1838160"/>
            <a:ext cx="1276560" cy="410040"/>
          </a:xfrm>
          <a:custGeom>
            <a:avLst/>
            <a:gdLst/>
            <a:ahLst/>
            <a:cxnLst/>
            <a:rect l="0" t="0" r="r" b="b"/>
            <a:pathLst>
              <a:path w="3546" h="1139">
                <a:moveTo>
                  <a:pt x="0" y="0"/>
                </a:moveTo>
                <a:lnTo>
                  <a:pt x="3546" y="0"/>
                </a:lnTo>
                <a:lnTo>
                  <a:pt x="3546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Forma libre 311"/>
          <p:cNvSpPr/>
          <p:nvPr/>
        </p:nvSpPr>
        <p:spPr>
          <a:xfrm>
            <a:off x="1952280" y="1838160"/>
            <a:ext cx="2400840" cy="410040"/>
          </a:xfrm>
          <a:custGeom>
            <a:avLst/>
            <a:gdLst/>
            <a:ahLst/>
            <a:cxnLst/>
            <a:rect l="0" t="0" r="r" b="b"/>
            <a:pathLst>
              <a:path w="6669" h="1139">
                <a:moveTo>
                  <a:pt x="0" y="0"/>
                </a:moveTo>
                <a:lnTo>
                  <a:pt x="6669" y="0"/>
                </a:lnTo>
                <a:lnTo>
                  <a:pt x="6669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Forma libre 312"/>
          <p:cNvSpPr/>
          <p:nvPr/>
        </p:nvSpPr>
        <p:spPr>
          <a:xfrm>
            <a:off x="4352760" y="1838160"/>
            <a:ext cx="972000" cy="410040"/>
          </a:xfrm>
          <a:custGeom>
            <a:avLst/>
            <a:gdLst/>
            <a:ahLst/>
            <a:cxnLst/>
            <a:rect l="0" t="0" r="r" b="b"/>
            <a:pathLst>
              <a:path w="2700" h="1139">
                <a:moveTo>
                  <a:pt x="0" y="0"/>
                </a:moveTo>
                <a:lnTo>
                  <a:pt x="2700" y="0"/>
                </a:lnTo>
                <a:lnTo>
                  <a:pt x="2700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Forma libre 313"/>
          <p:cNvSpPr/>
          <p:nvPr/>
        </p:nvSpPr>
        <p:spPr>
          <a:xfrm>
            <a:off x="5324400" y="1838160"/>
            <a:ext cx="2267280" cy="410040"/>
          </a:xfrm>
          <a:custGeom>
            <a:avLst/>
            <a:gdLst/>
            <a:ahLst/>
            <a:cxnLst/>
            <a:rect l="0" t="0" r="r" b="b"/>
            <a:pathLst>
              <a:path w="6298" h="1139">
                <a:moveTo>
                  <a:pt x="0" y="0"/>
                </a:moveTo>
                <a:lnTo>
                  <a:pt x="6298" y="0"/>
                </a:lnTo>
                <a:lnTo>
                  <a:pt x="629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" name="Forma libre 314"/>
          <p:cNvSpPr/>
          <p:nvPr/>
        </p:nvSpPr>
        <p:spPr>
          <a:xfrm>
            <a:off x="676080" y="1838160"/>
            <a:ext cx="1276560" cy="410040"/>
          </a:xfrm>
          <a:custGeom>
            <a:avLst/>
            <a:gdLst/>
            <a:ahLst/>
            <a:cxnLst/>
            <a:rect l="0" t="0" r="r" b="b"/>
            <a:pathLst>
              <a:path w="3546" h="1139">
                <a:moveTo>
                  <a:pt x="0" y="0"/>
                </a:moveTo>
                <a:lnTo>
                  <a:pt x="3546" y="0"/>
                </a:lnTo>
                <a:lnTo>
                  <a:pt x="3546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Forma libre 315"/>
          <p:cNvSpPr/>
          <p:nvPr/>
        </p:nvSpPr>
        <p:spPr>
          <a:xfrm>
            <a:off x="1952280" y="1838160"/>
            <a:ext cx="2400840" cy="410040"/>
          </a:xfrm>
          <a:custGeom>
            <a:avLst/>
            <a:gdLst/>
            <a:ahLst/>
            <a:cxnLst/>
            <a:rect l="0" t="0" r="r" b="b"/>
            <a:pathLst>
              <a:path w="6669" h="1139">
                <a:moveTo>
                  <a:pt x="0" y="0"/>
                </a:moveTo>
                <a:lnTo>
                  <a:pt x="6669" y="0"/>
                </a:lnTo>
                <a:lnTo>
                  <a:pt x="6669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Forma libre 316"/>
          <p:cNvSpPr/>
          <p:nvPr/>
        </p:nvSpPr>
        <p:spPr>
          <a:xfrm>
            <a:off x="4352760" y="1838160"/>
            <a:ext cx="972000" cy="410040"/>
          </a:xfrm>
          <a:custGeom>
            <a:avLst/>
            <a:gdLst/>
            <a:ahLst/>
            <a:cxnLst/>
            <a:rect l="0" t="0" r="r" b="b"/>
            <a:pathLst>
              <a:path w="2700" h="1139">
                <a:moveTo>
                  <a:pt x="0" y="0"/>
                </a:moveTo>
                <a:lnTo>
                  <a:pt x="2700" y="0"/>
                </a:lnTo>
                <a:lnTo>
                  <a:pt x="2700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Forma libre 317"/>
          <p:cNvSpPr/>
          <p:nvPr/>
        </p:nvSpPr>
        <p:spPr>
          <a:xfrm>
            <a:off x="5324400" y="1838160"/>
            <a:ext cx="2267280" cy="410040"/>
          </a:xfrm>
          <a:custGeom>
            <a:avLst/>
            <a:gdLst/>
            <a:ahLst/>
            <a:cxnLst/>
            <a:rect l="0" t="0" r="r" b="b"/>
            <a:pathLst>
              <a:path w="6298" h="1139">
                <a:moveTo>
                  <a:pt x="0" y="0"/>
                </a:moveTo>
                <a:lnTo>
                  <a:pt x="6298" y="0"/>
                </a:lnTo>
                <a:lnTo>
                  <a:pt x="629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Forma libre 318"/>
          <p:cNvSpPr/>
          <p:nvPr/>
        </p:nvSpPr>
        <p:spPr>
          <a:xfrm>
            <a:off x="676080" y="2247840"/>
            <a:ext cx="1276560" cy="419400"/>
          </a:xfrm>
          <a:custGeom>
            <a:avLst/>
            <a:gdLst/>
            <a:ahLst/>
            <a:cxnLst/>
            <a:rect l="0" t="0" r="r" b="b"/>
            <a:pathLst>
              <a:path w="3546" h="1165">
                <a:moveTo>
                  <a:pt x="0" y="0"/>
                </a:moveTo>
                <a:lnTo>
                  <a:pt x="3546" y="0"/>
                </a:lnTo>
                <a:lnTo>
                  <a:pt x="3546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Forma libre 319"/>
          <p:cNvSpPr/>
          <p:nvPr/>
        </p:nvSpPr>
        <p:spPr>
          <a:xfrm>
            <a:off x="1952280" y="2247840"/>
            <a:ext cx="2400840" cy="419400"/>
          </a:xfrm>
          <a:custGeom>
            <a:avLst/>
            <a:gdLst/>
            <a:ahLst/>
            <a:cxnLst/>
            <a:rect l="0" t="0" r="r" b="b"/>
            <a:pathLst>
              <a:path w="6669" h="1165">
                <a:moveTo>
                  <a:pt x="0" y="0"/>
                </a:moveTo>
                <a:lnTo>
                  <a:pt x="6669" y="0"/>
                </a:lnTo>
                <a:lnTo>
                  <a:pt x="6669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" name="Forma libre 320"/>
          <p:cNvSpPr/>
          <p:nvPr/>
        </p:nvSpPr>
        <p:spPr>
          <a:xfrm>
            <a:off x="4352760" y="2247840"/>
            <a:ext cx="972000" cy="419400"/>
          </a:xfrm>
          <a:custGeom>
            <a:avLst/>
            <a:gdLst/>
            <a:ahLst/>
            <a:cxnLst/>
            <a:rect l="0" t="0" r="r" b="b"/>
            <a:pathLst>
              <a:path w="2700" h="1165">
                <a:moveTo>
                  <a:pt x="0" y="0"/>
                </a:moveTo>
                <a:lnTo>
                  <a:pt x="2700" y="0"/>
                </a:lnTo>
                <a:lnTo>
                  <a:pt x="2700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Forma libre 321"/>
          <p:cNvSpPr/>
          <p:nvPr/>
        </p:nvSpPr>
        <p:spPr>
          <a:xfrm>
            <a:off x="5324400" y="2247840"/>
            <a:ext cx="2267280" cy="419400"/>
          </a:xfrm>
          <a:custGeom>
            <a:avLst/>
            <a:gdLst/>
            <a:ahLst/>
            <a:cxnLst/>
            <a:rect l="0" t="0" r="r" b="b"/>
            <a:pathLst>
              <a:path w="6298" h="1165">
                <a:moveTo>
                  <a:pt x="0" y="0"/>
                </a:moveTo>
                <a:lnTo>
                  <a:pt x="6298" y="0"/>
                </a:lnTo>
                <a:lnTo>
                  <a:pt x="629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Forma libre 322"/>
          <p:cNvSpPr/>
          <p:nvPr/>
        </p:nvSpPr>
        <p:spPr>
          <a:xfrm>
            <a:off x="676080" y="2666880"/>
            <a:ext cx="1276560" cy="419400"/>
          </a:xfrm>
          <a:custGeom>
            <a:avLst/>
            <a:gdLst/>
            <a:ahLst/>
            <a:cxnLst/>
            <a:rect l="0" t="0" r="r" b="b"/>
            <a:pathLst>
              <a:path w="3546" h="1165">
                <a:moveTo>
                  <a:pt x="0" y="0"/>
                </a:moveTo>
                <a:lnTo>
                  <a:pt x="3546" y="0"/>
                </a:lnTo>
                <a:lnTo>
                  <a:pt x="3546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Forma libre 323"/>
          <p:cNvSpPr/>
          <p:nvPr/>
        </p:nvSpPr>
        <p:spPr>
          <a:xfrm>
            <a:off x="1952280" y="2666880"/>
            <a:ext cx="2400840" cy="419400"/>
          </a:xfrm>
          <a:custGeom>
            <a:avLst/>
            <a:gdLst/>
            <a:ahLst/>
            <a:cxnLst/>
            <a:rect l="0" t="0" r="r" b="b"/>
            <a:pathLst>
              <a:path w="6669" h="1165">
                <a:moveTo>
                  <a:pt x="0" y="0"/>
                </a:moveTo>
                <a:lnTo>
                  <a:pt x="6669" y="0"/>
                </a:lnTo>
                <a:lnTo>
                  <a:pt x="6669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" name="Forma libre 324"/>
          <p:cNvSpPr/>
          <p:nvPr/>
        </p:nvSpPr>
        <p:spPr>
          <a:xfrm>
            <a:off x="4352760" y="2666880"/>
            <a:ext cx="972000" cy="419400"/>
          </a:xfrm>
          <a:custGeom>
            <a:avLst/>
            <a:gdLst/>
            <a:ahLst/>
            <a:cxnLst/>
            <a:rect l="0" t="0" r="r" b="b"/>
            <a:pathLst>
              <a:path w="2700" h="1165">
                <a:moveTo>
                  <a:pt x="0" y="0"/>
                </a:moveTo>
                <a:lnTo>
                  <a:pt x="2700" y="0"/>
                </a:lnTo>
                <a:lnTo>
                  <a:pt x="2700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Forma libre 325"/>
          <p:cNvSpPr/>
          <p:nvPr/>
        </p:nvSpPr>
        <p:spPr>
          <a:xfrm>
            <a:off x="5324400" y="2666880"/>
            <a:ext cx="2267280" cy="419400"/>
          </a:xfrm>
          <a:custGeom>
            <a:avLst/>
            <a:gdLst/>
            <a:ahLst/>
            <a:cxnLst/>
            <a:rect l="0" t="0" r="r" b="b"/>
            <a:pathLst>
              <a:path w="6298" h="1165">
                <a:moveTo>
                  <a:pt x="0" y="0"/>
                </a:moveTo>
                <a:lnTo>
                  <a:pt x="6298" y="0"/>
                </a:lnTo>
                <a:lnTo>
                  <a:pt x="629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Forma libre 326"/>
          <p:cNvSpPr/>
          <p:nvPr/>
        </p:nvSpPr>
        <p:spPr>
          <a:xfrm>
            <a:off x="676080" y="3085920"/>
            <a:ext cx="1276560" cy="419400"/>
          </a:xfrm>
          <a:custGeom>
            <a:avLst/>
            <a:gdLst/>
            <a:ahLst/>
            <a:cxnLst/>
            <a:rect l="0" t="0" r="r" b="b"/>
            <a:pathLst>
              <a:path w="3546" h="1165">
                <a:moveTo>
                  <a:pt x="0" y="0"/>
                </a:moveTo>
                <a:lnTo>
                  <a:pt x="3546" y="0"/>
                </a:lnTo>
                <a:lnTo>
                  <a:pt x="3546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Forma libre 327"/>
          <p:cNvSpPr/>
          <p:nvPr/>
        </p:nvSpPr>
        <p:spPr>
          <a:xfrm>
            <a:off x="1952280" y="3085920"/>
            <a:ext cx="2400840" cy="419400"/>
          </a:xfrm>
          <a:custGeom>
            <a:avLst/>
            <a:gdLst/>
            <a:ahLst/>
            <a:cxnLst/>
            <a:rect l="0" t="0" r="r" b="b"/>
            <a:pathLst>
              <a:path w="6669" h="1165">
                <a:moveTo>
                  <a:pt x="0" y="0"/>
                </a:moveTo>
                <a:lnTo>
                  <a:pt x="6669" y="0"/>
                </a:lnTo>
                <a:lnTo>
                  <a:pt x="6669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Forma libre 328"/>
          <p:cNvSpPr/>
          <p:nvPr/>
        </p:nvSpPr>
        <p:spPr>
          <a:xfrm>
            <a:off x="4352760" y="3085920"/>
            <a:ext cx="972000" cy="419400"/>
          </a:xfrm>
          <a:custGeom>
            <a:avLst/>
            <a:gdLst/>
            <a:ahLst/>
            <a:cxnLst/>
            <a:rect l="0" t="0" r="r" b="b"/>
            <a:pathLst>
              <a:path w="2700" h="1165">
                <a:moveTo>
                  <a:pt x="0" y="0"/>
                </a:moveTo>
                <a:lnTo>
                  <a:pt x="2700" y="0"/>
                </a:lnTo>
                <a:lnTo>
                  <a:pt x="2700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Forma libre 329"/>
          <p:cNvSpPr/>
          <p:nvPr/>
        </p:nvSpPr>
        <p:spPr>
          <a:xfrm>
            <a:off x="5324400" y="3085920"/>
            <a:ext cx="2267280" cy="419400"/>
          </a:xfrm>
          <a:custGeom>
            <a:avLst/>
            <a:gdLst/>
            <a:ahLst/>
            <a:cxnLst/>
            <a:rect l="0" t="0" r="r" b="b"/>
            <a:pathLst>
              <a:path w="6298" h="1165">
                <a:moveTo>
                  <a:pt x="0" y="0"/>
                </a:moveTo>
                <a:lnTo>
                  <a:pt x="6298" y="0"/>
                </a:lnTo>
                <a:lnTo>
                  <a:pt x="629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Forma libre 330"/>
          <p:cNvSpPr/>
          <p:nvPr/>
        </p:nvSpPr>
        <p:spPr>
          <a:xfrm>
            <a:off x="676080" y="3504960"/>
            <a:ext cx="1276560" cy="419400"/>
          </a:xfrm>
          <a:custGeom>
            <a:avLst/>
            <a:gdLst/>
            <a:ahLst/>
            <a:cxnLst/>
            <a:rect l="0" t="0" r="r" b="b"/>
            <a:pathLst>
              <a:path w="3546" h="1165">
                <a:moveTo>
                  <a:pt x="0" y="0"/>
                </a:moveTo>
                <a:lnTo>
                  <a:pt x="3546" y="0"/>
                </a:lnTo>
                <a:lnTo>
                  <a:pt x="3546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Forma libre 331"/>
          <p:cNvSpPr/>
          <p:nvPr/>
        </p:nvSpPr>
        <p:spPr>
          <a:xfrm>
            <a:off x="1952280" y="3504960"/>
            <a:ext cx="2400840" cy="419400"/>
          </a:xfrm>
          <a:custGeom>
            <a:avLst/>
            <a:gdLst/>
            <a:ahLst/>
            <a:cxnLst/>
            <a:rect l="0" t="0" r="r" b="b"/>
            <a:pathLst>
              <a:path w="6669" h="1165">
                <a:moveTo>
                  <a:pt x="0" y="0"/>
                </a:moveTo>
                <a:lnTo>
                  <a:pt x="6669" y="0"/>
                </a:lnTo>
                <a:lnTo>
                  <a:pt x="6669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Forma libre 332"/>
          <p:cNvSpPr/>
          <p:nvPr/>
        </p:nvSpPr>
        <p:spPr>
          <a:xfrm>
            <a:off x="4352760" y="3504960"/>
            <a:ext cx="972000" cy="419400"/>
          </a:xfrm>
          <a:custGeom>
            <a:avLst/>
            <a:gdLst/>
            <a:ahLst/>
            <a:cxnLst/>
            <a:rect l="0" t="0" r="r" b="b"/>
            <a:pathLst>
              <a:path w="2700" h="1165">
                <a:moveTo>
                  <a:pt x="0" y="0"/>
                </a:moveTo>
                <a:lnTo>
                  <a:pt x="2700" y="0"/>
                </a:lnTo>
                <a:lnTo>
                  <a:pt x="2700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" name="Forma libre 333"/>
          <p:cNvSpPr/>
          <p:nvPr/>
        </p:nvSpPr>
        <p:spPr>
          <a:xfrm>
            <a:off x="5324400" y="3504960"/>
            <a:ext cx="2267280" cy="419400"/>
          </a:xfrm>
          <a:custGeom>
            <a:avLst/>
            <a:gdLst/>
            <a:ahLst/>
            <a:cxnLst/>
            <a:rect l="0" t="0" r="r" b="b"/>
            <a:pathLst>
              <a:path w="6298" h="1165">
                <a:moveTo>
                  <a:pt x="0" y="0"/>
                </a:moveTo>
                <a:lnTo>
                  <a:pt x="6298" y="0"/>
                </a:lnTo>
                <a:lnTo>
                  <a:pt x="629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Forma libre 334"/>
          <p:cNvSpPr/>
          <p:nvPr/>
        </p:nvSpPr>
        <p:spPr>
          <a:xfrm>
            <a:off x="676080" y="3924000"/>
            <a:ext cx="1276560" cy="419400"/>
          </a:xfrm>
          <a:custGeom>
            <a:avLst/>
            <a:gdLst/>
            <a:ahLst/>
            <a:cxnLst/>
            <a:rect l="0" t="0" r="r" b="b"/>
            <a:pathLst>
              <a:path w="3546" h="1165">
                <a:moveTo>
                  <a:pt x="0" y="0"/>
                </a:moveTo>
                <a:lnTo>
                  <a:pt x="3546" y="0"/>
                </a:lnTo>
                <a:lnTo>
                  <a:pt x="3546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Forma libre 335"/>
          <p:cNvSpPr/>
          <p:nvPr/>
        </p:nvSpPr>
        <p:spPr>
          <a:xfrm>
            <a:off x="1952280" y="3924000"/>
            <a:ext cx="2400840" cy="419400"/>
          </a:xfrm>
          <a:custGeom>
            <a:avLst/>
            <a:gdLst/>
            <a:ahLst/>
            <a:cxnLst/>
            <a:rect l="0" t="0" r="r" b="b"/>
            <a:pathLst>
              <a:path w="6669" h="1165">
                <a:moveTo>
                  <a:pt x="0" y="0"/>
                </a:moveTo>
                <a:lnTo>
                  <a:pt x="6669" y="0"/>
                </a:lnTo>
                <a:lnTo>
                  <a:pt x="6669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Forma libre 336"/>
          <p:cNvSpPr/>
          <p:nvPr/>
        </p:nvSpPr>
        <p:spPr>
          <a:xfrm>
            <a:off x="4352760" y="3924000"/>
            <a:ext cx="972000" cy="419400"/>
          </a:xfrm>
          <a:custGeom>
            <a:avLst/>
            <a:gdLst/>
            <a:ahLst/>
            <a:cxnLst/>
            <a:rect l="0" t="0" r="r" b="b"/>
            <a:pathLst>
              <a:path w="2700" h="1165">
                <a:moveTo>
                  <a:pt x="0" y="0"/>
                </a:moveTo>
                <a:lnTo>
                  <a:pt x="2700" y="0"/>
                </a:lnTo>
                <a:lnTo>
                  <a:pt x="2700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Forma libre 337"/>
          <p:cNvSpPr/>
          <p:nvPr/>
        </p:nvSpPr>
        <p:spPr>
          <a:xfrm>
            <a:off x="5324400" y="3924000"/>
            <a:ext cx="2267280" cy="419400"/>
          </a:xfrm>
          <a:custGeom>
            <a:avLst/>
            <a:gdLst/>
            <a:ahLst/>
            <a:cxnLst/>
            <a:rect l="0" t="0" r="r" b="b"/>
            <a:pathLst>
              <a:path w="6298" h="1165">
                <a:moveTo>
                  <a:pt x="0" y="0"/>
                </a:moveTo>
                <a:lnTo>
                  <a:pt x="6298" y="0"/>
                </a:lnTo>
                <a:lnTo>
                  <a:pt x="629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Forma libre 338"/>
          <p:cNvSpPr/>
          <p:nvPr/>
        </p:nvSpPr>
        <p:spPr>
          <a:xfrm>
            <a:off x="666720" y="1828440"/>
            <a:ext cx="9720" cy="419760"/>
          </a:xfrm>
          <a:custGeom>
            <a:avLst/>
            <a:gdLst/>
            <a:ahLst/>
            <a:cxnLst/>
            <a:rect l="0" t="0" r="r" b="b"/>
            <a:pathLst>
              <a:path w="27" h="1166">
                <a:moveTo>
                  <a:pt x="0" y="0"/>
                </a:moveTo>
                <a:lnTo>
                  <a:pt x="27" y="0"/>
                </a:lnTo>
                <a:lnTo>
                  <a:pt x="27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Forma libre 339"/>
          <p:cNvSpPr/>
          <p:nvPr/>
        </p:nvSpPr>
        <p:spPr>
          <a:xfrm>
            <a:off x="666720" y="1828440"/>
            <a:ext cx="1285920" cy="10080"/>
          </a:xfrm>
          <a:custGeom>
            <a:avLst/>
            <a:gdLst/>
            <a:ahLst/>
            <a:cxnLst/>
            <a:rect l="0" t="0" r="r" b="b"/>
            <a:pathLst>
              <a:path w="3572" h="28">
                <a:moveTo>
                  <a:pt x="0" y="0"/>
                </a:moveTo>
                <a:lnTo>
                  <a:pt x="3572" y="0"/>
                </a:lnTo>
                <a:lnTo>
                  <a:pt x="357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Forma libre 340"/>
          <p:cNvSpPr/>
          <p:nvPr/>
        </p:nvSpPr>
        <p:spPr>
          <a:xfrm>
            <a:off x="1942920" y="1828440"/>
            <a:ext cx="9720" cy="419760"/>
          </a:xfrm>
          <a:custGeom>
            <a:avLst/>
            <a:gdLst/>
            <a:ahLst/>
            <a:cxnLst/>
            <a:rect l="0" t="0" r="r" b="b"/>
            <a:pathLst>
              <a:path w="27" h="1166">
                <a:moveTo>
                  <a:pt x="0" y="0"/>
                </a:moveTo>
                <a:lnTo>
                  <a:pt x="27" y="0"/>
                </a:lnTo>
                <a:lnTo>
                  <a:pt x="27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Forma libre 341"/>
          <p:cNvSpPr/>
          <p:nvPr/>
        </p:nvSpPr>
        <p:spPr>
          <a:xfrm>
            <a:off x="1952280" y="1828440"/>
            <a:ext cx="2400840" cy="10080"/>
          </a:xfrm>
          <a:custGeom>
            <a:avLst/>
            <a:gdLst/>
            <a:ahLst/>
            <a:cxnLst/>
            <a:rect l="0" t="0" r="r" b="b"/>
            <a:pathLst>
              <a:path w="6669" h="28">
                <a:moveTo>
                  <a:pt x="0" y="0"/>
                </a:moveTo>
                <a:lnTo>
                  <a:pt x="6669" y="0"/>
                </a:lnTo>
                <a:lnTo>
                  <a:pt x="666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Forma libre 342"/>
          <p:cNvSpPr/>
          <p:nvPr/>
        </p:nvSpPr>
        <p:spPr>
          <a:xfrm>
            <a:off x="4343040" y="1828440"/>
            <a:ext cx="10080" cy="419760"/>
          </a:xfrm>
          <a:custGeom>
            <a:avLst/>
            <a:gdLst/>
            <a:ahLst/>
            <a:cxnLst/>
            <a:rect l="0" t="0" r="r" b="b"/>
            <a:pathLst>
              <a:path w="28" h="1166">
                <a:moveTo>
                  <a:pt x="0" y="0"/>
                </a:moveTo>
                <a:lnTo>
                  <a:pt x="28" y="0"/>
                </a:lnTo>
                <a:lnTo>
                  <a:pt x="28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Forma libre 343"/>
          <p:cNvSpPr/>
          <p:nvPr/>
        </p:nvSpPr>
        <p:spPr>
          <a:xfrm>
            <a:off x="4352760" y="1828440"/>
            <a:ext cx="981360" cy="10080"/>
          </a:xfrm>
          <a:custGeom>
            <a:avLst/>
            <a:gdLst/>
            <a:ahLst/>
            <a:cxnLst/>
            <a:rect l="0" t="0" r="r" b="b"/>
            <a:pathLst>
              <a:path w="2726" h="28">
                <a:moveTo>
                  <a:pt x="0" y="0"/>
                </a:moveTo>
                <a:lnTo>
                  <a:pt x="2726" y="0"/>
                </a:lnTo>
                <a:lnTo>
                  <a:pt x="272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" name="Forma libre 344"/>
          <p:cNvSpPr/>
          <p:nvPr/>
        </p:nvSpPr>
        <p:spPr>
          <a:xfrm>
            <a:off x="5324400" y="1828440"/>
            <a:ext cx="9720" cy="419760"/>
          </a:xfrm>
          <a:custGeom>
            <a:avLst/>
            <a:gdLst/>
            <a:ahLst/>
            <a:cxnLst/>
            <a:rect l="0" t="0" r="r" b="b"/>
            <a:pathLst>
              <a:path w="27" h="1166">
                <a:moveTo>
                  <a:pt x="0" y="0"/>
                </a:moveTo>
                <a:lnTo>
                  <a:pt x="27" y="0"/>
                </a:lnTo>
                <a:lnTo>
                  <a:pt x="27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Forma libre 345"/>
          <p:cNvSpPr/>
          <p:nvPr/>
        </p:nvSpPr>
        <p:spPr>
          <a:xfrm>
            <a:off x="5333760" y="1828440"/>
            <a:ext cx="2257920" cy="10080"/>
          </a:xfrm>
          <a:custGeom>
            <a:avLst/>
            <a:gdLst/>
            <a:ahLst/>
            <a:cxnLst/>
            <a:rect l="0" t="0" r="r" b="b"/>
            <a:pathLst>
              <a:path w="6272" h="28">
                <a:moveTo>
                  <a:pt x="0" y="0"/>
                </a:moveTo>
                <a:lnTo>
                  <a:pt x="6272" y="0"/>
                </a:lnTo>
                <a:lnTo>
                  <a:pt x="627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Forma libre 346"/>
          <p:cNvSpPr/>
          <p:nvPr/>
        </p:nvSpPr>
        <p:spPr>
          <a:xfrm>
            <a:off x="7581600" y="1828440"/>
            <a:ext cx="10080" cy="419760"/>
          </a:xfrm>
          <a:custGeom>
            <a:avLst/>
            <a:gdLst/>
            <a:ahLst/>
            <a:cxnLst/>
            <a:rect l="0" t="0" r="r" b="b"/>
            <a:pathLst>
              <a:path w="28" h="1166">
                <a:moveTo>
                  <a:pt x="0" y="0"/>
                </a:moveTo>
                <a:lnTo>
                  <a:pt x="28" y="0"/>
                </a:lnTo>
                <a:lnTo>
                  <a:pt x="28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Forma libre 347"/>
          <p:cNvSpPr/>
          <p:nvPr/>
        </p:nvSpPr>
        <p:spPr>
          <a:xfrm>
            <a:off x="666720" y="2238120"/>
            <a:ext cx="1285920" cy="10080"/>
          </a:xfrm>
          <a:custGeom>
            <a:avLst/>
            <a:gdLst/>
            <a:ahLst/>
            <a:cxnLst/>
            <a:rect l="0" t="0" r="r" b="b"/>
            <a:pathLst>
              <a:path w="3572" h="28">
                <a:moveTo>
                  <a:pt x="0" y="0"/>
                </a:moveTo>
                <a:lnTo>
                  <a:pt x="3572" y="0"/>
                </a:lnTo>
                <a:lnTo>
                  <a:pt x="357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Forma libre 348"/>
          <p:cNvSpPr/>
          <p:nvPr/>
        </p:nvSpPr>
        <p:spPr>
          <a:xfrm>
            <a:off x="1952280" y="2238120"/>
            <a:ext cx="2400840" cy="10080"/>
          </a:xfrm>
          <a:custGeom>
            <a:avLst/>
            <a:gdLst/>
            <a:ahLst/>
            <a:cxnLst/>
            <a:rect l="0" t="0" r="r" b="b"/>
            <a:pathLst>
              <a:path w="6669" h="28">
                <a:moveTo>
                  <a:pt x="0" y="0"/>
                </a:moveTo>
                <a:lnTo>
                  <a:pt x="6669" y="0"/>
                </a:lnTo>
                <a:lnTo>
                  <a:pt x="666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Forma libre 349"/>
          <p:cNvSpPr/>
          <p:nvPr/>
        </p:nvSpPr>
        <p:spPr>
          <a:xfrm>
            <a:off x="4352760" y="2238120"/>
            <a:ext cx="981360" cy="10080"/>
          </a:xfrm>
          <a:custGeom>
            <a:avLst/>
            <a:gdLst/>
            <a:ahLst/>
            <a:cxnLst/>
            <a:rect l="0" t="0" r="r" b="b"/>
            <a:pathLst>
              <a:path w="2726" h="28">
                <a:moveTo>
                  <a:pt x="0" y="0"/>
                </a:moveTo>
                <a:lnTo>
                  <a:pt x="2726" y="0"/>
                </a:lnTo>
                <a:lnTo>
                  <a:pt x="272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1" name="Forma libre 350"/>
          <p:cNvSpPr/>
          <p:nvPr/>
        </p:nvSpPr>
        <p:spPr>
          <a:xfrm>
            <a:off x="5333760" y="2238120"/>
            <a:ext cx="2257920" cy="10080"/>
          </a:xfrm>
          <a:custGeom>
            <a:avLst/>
            <a:gdLst/>
            <a:ahLst/>
            <a:cxnLst/>
            <a:rect l="0" t="0" r="r" b="b"/>
            <a:pathLst>
              <a:path w="6272" h="28">
                <a:moveTo>
                  <a:pt x="0" y="0"/>
                </a:moveTo>
                <a:lnTo>
                  <a:pt x="6272" y="0"/>
                </a:lnTo>
                <a:lnTo>
                  <a:pt x="627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2" name="Forma libre 351"/>
          <p:cNvSpPr/>
          <p:nvPr/>
        </p:nvSpPr>
        <p:spPr>
          <a:xfrm>
            <a:off x="666720" y="224784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Forma libre 352"/>
          <p:cNvSpPr/>
          <p:nvPr/>
        </p:nvSpPr>
        <p:spPr>
          <a:xfrm>
            <a:off x="1942920" y="224784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" name="Forma libre 353"/>
          <p:cNvSpPr/>
          <p:nvPr/>
        </p:nvSpPr>
        <p:spPr>
          <a:xfrm>
            <a:off x="4343040" y="224784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5" name="Forma libre 354"/>
          <p:cNvSpPr/>
          <p:nvPr/>
        </p:nvSpPr>
        <p:spPr>
          <a:xfrm>
            <a:off x="5324400" y="224784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Forma libre 355"/>
          <p:cNvSpPr/>
          <p:nvPr/>
        </p:nvSpPr>
        <p:spPr>
          <a:xfrm>
            <a:off x="7581600" y="224784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7" name="Forma libre 356"/>
          <p:cNvSpPr/>
          <p:nvPr/>
        </p:nvSpPr>
        <p:spPr>
          <a:xfrm>
            <a:off x="666720" y="266688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" name="Forma libre 357"/>
          <p:cNvSpPr/>
          <p:nvPr/>
        </p:nvSpPr>
        <p:spPr>
          <a:xfrm>
            <a:off x="666720" y="2657160"/>
            <a:ext cx="1285920" cy="10080"/>
          </a:xfrm>
          <a:custGeom>
            <a:avLst/>
            <a:gdLst/>
            <a:ahLst/>
            <a:cxnLst/>
            <a:rect l="0" t="0" r="r" b="b"/>
            <a:pathLst>
              <a:path w="3572" h="28">
                <a:moveTo>
                  <a:pt x="0" y="0"/>
                </a:moveTo>
                <a:lnTo>
                  <a:pt x="3572" y="0"/>
                </a:lnTo>
                <a:lnTo>
                  <a:pt x="357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Forma libre 358"/>
          <p:cNvSpPr/>
          <p:nvPr/>
        </p:nvSpPr>
        <p:spPr>
          <a:xfrm>
            <a:off x="1942920" y="266688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" name="Forma libre 359"/>
          <p:cNvSpPr/>
          <p:nvPr/>
        </p:nvSpPr>
        <p:spPr>
          <a:xfrm>
            <a:off x="1952280" y="2657160"/>
            <a:ext cx="2400840" cy="10080"/>
          </a:xfrm>
          <a:custGeom>
            <a:avLst/>
            <a:gdLst/>
            <a:ahLst/>
            <a:cxnLst/>
            <a:rect l="0" t="0" r="r" b="b"/>
            <a:pathLst>
              <a:path w="6669" h="28">
                <a:moveTo>
                  <a:pt x="0" y="0"/>
                </a:moveTo>
                <a:lnTo>
                  <a:pt x="6669" y="0"/>
                </a:lnTo>
                <a:lnTo>
                  <a:pt x="666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Forma libre 360"/>
          <p:cNvSpPr/>
          <p:nvPr/>
        </p:nvSpPr>
        <p:spPr>
          <a:xfrm>
            <a:off x="4343040" y="266688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2" name="Forma libre 361"/>
          <p:cNvSpPr/>
          <p:nvPr/>
        </p:nvSpPr>
        <p:spPr>
          <a:xfrm>
            <a:off x="4352760" y="2657160"/>
            <a:ext cx="981360" cy="10080"/>
          </a:xfrm>
          <a:custGeom>
            <a:avLst/>
            <a:gdLst/>
            <a:ahLst/>
            <a:cxnLst/>
            <a:rect l="0" t="0" r="r" b="b"/>
            <a:pathLst>
              <a:path w="2726" h="28">
                <a:moveTo>
                  <a:pt x="0" y="0"/>
                </a:moveTo>
                <a:lnTo>
                  <a:pt x="2726" y="0"/>
                </a:lnTo>
                <a:lnTo>
                  <a:pt x="272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" name="Forma libre 362"/>
          <p:cNvSpPr/>
          <p:nvPr/>
        </p:nvSpPr>
        <p:spPr>
          <a:xfrm>
            <a:off x="5324400" y="266688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4" name="Forma libre 363"/>
          <p:cNvSpPr/>
          <p:nvPr/>
        </p:nvSpPr>
        <p:spPr>
          <a:xfrm>
            <a:off x="5333760" y="2657160"/>
            <a:ext cx="2257920" cy="10080"/>
          </a:xfrm>
          <a:custGeom>
            <a:avLst/>
            <a:gdLst/>
            <a:ahLst/>
            <a:cxnLst/>
            <a:rect l="0" t="0" r="r" b="b"/>
            <a:pathLst>
              <a:path w="6272" h="28">
                <a:moveTo>
                  <a:pt x="0" y="0"/>
                </a:moveTo>
                <a:lnTo>
                  <a:pt x="6272" y="0"/>
                </a:lnTo>
                <a:lnTo>
                  <a:pt x="627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5" name="Forma libre 364"/>
          <p:cNvSpPr/>
          <p:nvPr/>
        </p:nvSpPr>
        <p:spPr>
          <a:xfrm>
            <a:off x="7581600" y="266688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Forma libre 365"/>
          <p:cNvSpPr/>
          <p:nvPr/>
        </p:nvSpPr>
        <p:spPr>
          <a:xfrm>
            <a:off x="666720" y="308592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Forma libre 366"/>
          <p:cNvSpPr/>
          <p:nvPr/>
        </p:nvSpPr>
        <p:spPr>
          <a:xfrm>
            <a:off x="666720" y="3076560"/>
            <a:ext cx="1285920" cy="9720"/>
          </a:xfrm>
          <a:custGeom>
            <a:avLst/>
            <a:gdLst/>
            <a:ahLst/>
            <a:cxnLst/>
            <a:rect l="0" t="0" r="r" b="b"/>
            <a:pathLst>
              <a:path w="3572" h="27">
                <a:moveTo>
                  <a:pt x="0" y="0"/>
                </a:moveTo>
                <a:lnTo>
                  <a:pt x="3572" y="0"/>
                </a:lnTo>
                <a:lnTo>
                  <a:pt x="357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" name="Forma libre 367"/>
          <p:cNvSpPr/>
          <p:nvPr/>
        </p:nvSpPr>
        <p:spPr>
          <a:xfrm>
            <a:off x="1942920" y="308592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" name="Forma libre 368"/>
          <p:cNvSpPr/>
          <p:nvPr/>
        </p:nvSpPr>
        <p:spPr>
          <a:xfrm>
            <a:off x="1952280" y="3076560"/>
            <a:ext cx="2400840" cy="9720"/>
          </a:xfrm>
          <a:custGeom>
            <a:avLst/>
            <a:gdLst/>
            <a:ahLst/>
            <a:cxnLst/>
            <a:rect l="0" t="0" r="r" b="b"/>
            <a:pathLst>
              <a:path w="6669" h="27">
                <a:moveTo>
                  <a:pt x="0" y="0"/>
                </a:moveTo>
                <a:lnTo>
                  <a:pt x="6669" y="0"/>
                </a:lnTo>
                <a:lnTo>
                  <a:pt x="666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Forma libre 369"/>
          <p:cNvSpPr/>
          <p:nvPr/>
        </p:nvSpPr>
        <p:spPr>
          <a:xfrm>
            <a:off x="4343040" y="308592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Forma libre 370"/>
          <p:cNvSpPr/>
          <p:nvPr/>
        </p:nvSpPr>
        <p:spPr>
          <a:xfrm>
            <a:off x="4352760" y="3076560"/>
            <a:ext cx="981360" cy="9720"/>
          </a:xfrm>
          <a:custGeom>
            <a:avLst/>
            <a:gdLst/>
            <a:ahLst/>
            <a:cxnLst/>
            <a:rect l="0" t="0" r="r" b="b"/>
            <a:pathLst>
              <a:path w="2726" h="27">
                <a:moveTo>
                  <a:pt x="0" y="0"/>
                </a:moveTo>
                <a:lnTo>
                  <a:pt x="2726" y="0"/>
                </a:lnTo>
                <a:lnTo>
                  <a:pt x="272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2" name="Forma libre 371"/>
          <p:cNvSpPr/>
          <p:nvPr/>
        </p:nvSpPr>
        <p:spPr>
          <a:xfrm>
            <a:off x="5324400" y="308592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Forma libre 372"/>
          <p:cNvSpPr/>
          <p:nvPr/>
        </p:nvSpPr>
        <p:spPr>
          <a:xfrm>
            <a:off x="5333760" y="3076560"/>
            <a:ext cx="2257920" cy="9720"/>
          </a:xfrm>
          <a:custGeom>
            <a:avLst/>
            <a:gdLst/>
            <a:ahLst/>
            <a:cxnLst/>
            <a:rect l="0" t="0" r="r" b="b"/>
            <a:pathLst>
              <a:path w="6272" h="27">
                <a:moveTo>
                  <a:pt x="0" y="0"/>
                </a:moveTo>
                <a:lnTo>
                  <a:pt x="6272" y="0"/>
                </a:lnTo>
                <a:lnTo>
                  <a:pt x="627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4" name="Forma libre 373"/>
          <p:cNvSpPr/>
          <p:nvPr/>
        </p:nvSpPr>
        <p:spPr>
          <a:xfrm>
            <a:off x="7581600" y="308592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5" name="Forma libre 374"/>
          <p:cNvSpPr/>
          <p:nvPr/>
        </p:nvSpPr>
        <p:spPr>
          <a:xfrm>
            <a:off x="666720" y="350496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" name="Forma libre 375"/>
          <p:cNvSpPr/>
          <p:nvPr/>
        </p:nvSpPr>
        <p:spPr>
          <a:xfrm>
            <a:off x="666720" y="3495600"/>
            <a:ext cx="1285920" cy="9720"/>
          </a:xfrm>
          <a:custGeom>
            <a:avLst/>
            <a:gdLst/>
            <a:ahLst/>
            <a:cxnLst/>
            <a:rect l="0" t="0" r="r" b="b"/>
            <a:pathLst>
              <a:path w="3572" h="27">
                <a:moveTo>
                  <a:pt x="0" y="0"/>
                </a:moveTo>
                <a:lnTo>
                  <a:pt x="3572" y="0"/>
                </a:lnTo>
                <a:lnTo>
                  <a:pt x="357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7" name="Forma libre 376"/>
          <p:cNvSpPr/>
          <p:nvPr/>
        </p:nvSpPr>
        <p:spPr>
          <a:xfrm>
            <a:off x="1942920" y="350496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8" name="Forma libre 377"/>
          <p:cNvSpPr/>
          <p:nvPr/>
        </p:nvSpPr>
        <p:spPr>
          <a:xfrm>
            <a:off x="1952280" y="3495600"/>
            <a:ext cx="2400840" cy="9720"/>
          </a:xfrm>
          <a:custGeom>
            <a:avLst/>
            <a:gdLst/>
            <a:ahLst/>
            <a:cxnLst/>
            <a:rect l="0" t="0" r="r" b="b"/>
            <a:pathLst>
              <a:path w="6669" h="27">
                <a:moveTo>
                  <a:pt x="0" y="0"/>
                </a:moveTo>
                <a:lnTo>
                  <a:pt x="6669" y="0"/>
                </a:lnTo>
                <a:lnTo>
                  <a:pt x="666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9" name="Forma libre 378"/>
          <p:cNvSpPr/>
          <p:nvPr/>
        </p:nvSpPr>
        <p:spPr>
          <a:xfrm>
            <a:off x="4343040" y="350496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" name="Forma libre 379"/>
          <p:cNvSpPr/>
          <p:nvPr/>
        </p:nvSpPr>
        <p:spPr>
          <a:xfrm>
            <a:off x="4352760" y="3495600"/>
            <a:ext cx="981360" cy="9720"/>
          </a:xfrm>
          <a:custGeom>
            <a:avLst/>
            <a:gdLst/>
            <a:ahLst/>
            <a:cxnLst/>
            <a:rect l="0" t="0" r="r" b="b"/>
            <a:pathLst>
              <a:path w="2726" h="27">
                <a:moveTo>
                  <a:pt x="0" y="0"/>
                </a:moveTo>
                <a:lnTo>
                  <a:pt x="2726" y="0"/>
                </a:lnTo>
                <a:lnTo>
                  <a:pt x="272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1" name="Forma libre 380"/>
          <p:cNvSpPr/>
          <p:nvPr/>
        </p:nvSpPr>
        <p:spPr>
          <a:xfrm>
            <a:off x="5324400" y="350496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2" name="Forma libre 381"/>
          <p:cNvSpPr/>
          <p:nvPr/>
        </p:nvSpPr>
        <p:spPr>
          <a:xfrm>
            <a:off x="5333760" y="3495600"/>
            <a:ext cx="2257920" cy="9720"/>
          </a:xfrm>
          <a:custGeom>
            <a:avLst/>
            <a:gdLst/>
            <a:ahLst/>
            <a:cxnLst/>
            <a:rect l="0" t="0" r="r" b="b"/>
            <a:pathLst>
              <a:path w="6272" h="27">
                <a:moveTo>
                  <a:pt x="0" y="0"/>
                </a:moveTo>
                <a:lnTo>
                  <a:pt x="6272" y="0"/>
                </a:lnTo>
                <a:lnTo>
                  <a:pt x="627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3" name="Forma libre 382"/>
          <p:cNvSpPr/>
          <p:nvPr/>
        </p:nvSpPr>
        <p:spPr>
          <a:xfrm>
            <a:off x="7581600" y="350496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" name="Forma libre 383"/>
          <p:cNvSpPr/>
          <p:nvPr/>
        </p:nvSpPr>
        <p:spPr>
          <a:xfrm>
            <a:off x="666720" y="392400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5" name="Forma libre 384"/>
          <p:cNvSpPr/>
          <p:nvPr/>
        </p:nvSpPr>
        <p:spPr>
          <a:xfrm>
            <a:off x="666720" y="3914640"/>
            <a:ext cx="1285920" cy="9720"/>
          </a:xfrm>
          <a:custGeom>
            <a:avLst/>
            <a:gdLst/>
            <a:ahLst/>
            <a:cxnLst/>
            <a:rect l="0" t="0" r="r" b="b"/>
            <a:pathLst>
              <a:path w="3572" h="27">
                <a:moveTo>
                  <a:pt x="0" y="0"/>
                </a:moveTo>
                <a:lnTo>
                  <a:pt x="3572" y="0"/>
                </a:lnTo>
                <a:lnTo>
                  <a:pt x="357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6" name="Forma libre 385"/>
          <p:cNvSpPr/>
          <p:nvPr/>
        </p:nvSpPr>
        <p:spPr>
          <a:xfrm>
            <a:off x="1942920" y="392400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7" name="Forma libre 386"/>
          <p:cNvSpPr/>
          <p:nvPr/>
        </p:nvSpPr>
        <p:spPr>
          <a:xfrm>
            <a:off x="1952280" y="3914640"/>
            <a:ext cx="2400840" cy="9720"/>
          </a:xfrm>
          <a:custGeom>
            <a:avLst/>
            <a:gdLst/>
            <a:ahLst/>
            <a:cxnLst/>
            <a:rect l="0" t="0" r="r" b="b"/>
            <a:pathLst>
              <a:path w="6669" h="27">
                <a:moveTo>
                  <a:pt x="0" y="0"/>
                </a:moveTo>
                <a:lnTo>
                  <a:pt x="6669" y="0"/>
                </a:lnTo>
                <a:lnTo>
                  <a:pt x="666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8" name="Forma libre 387"/>
          <p:cNvSpPr/>
          <p:nvPr/>
        </p:nvSpPr>
        <p:spPr>
          <a:xfrm>
            <a:off x="4343040" y="392400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9" name="Forma libre 388"/>
          <p:cNvSpPr/>
          <p:nvPr/>
        </p:nvSpPr>
        <p:spPr>
          <a:xfrm>
            <a:off x="4352760" y="3914640"/>
            <a:ext cx="981360" cy="9720"/>
          </a:xfrm>
          <a:custGeom>
            <a:avLst/>
            <a:gdLst/>
            <a:ahLst/>
            <a:cxnLst/>
            <a:rect l="0" t="0" r="r" b="b"/>
            <a:pathLst>
              <a:path w="2726" h="27">
                <a:moveTo>
                  <a:pt x="0" y="0"/>
                </a:moveTo>
                <a:lnTo>
                  <a:pt x="2726" y="0"/>
                </a:lnTo>
                <a:lnTo>
                  <a:pt x="272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0" name="Forma libre 389"/>
          <p:cNvSpPr/>
          <p:nvPr/>
        </p:nvSpPr>
        <p:spPr>
          <a:xfrm>
            <a:off x="5324400" y="392400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1" name="Forma libre 390"/>
          <p:cNvSpPr/>
          <p:nvPr/>
        </p:nvSpPr>
        <p:spPr>
          <a:xfrm>
            <a:off x="5333760" y="3914640"/>
            <a:ext cx="2257920" cy="9720"/>
          </a:xfrm>
          <a:custGeom>
            <a:avLst/>
            <a:gdLst/>
            <a:ahLst/>
            <a:cxnLst/>
            <a:rect l="0" t="0" r="r" b="b"/>
            <a:pathLst>
              <a:path w="6272" h="27">
                <a:moveTo>
                  <a:pt x="0" y="0"/>
                </a:moveTo>
                <a:lnTo>
                  <a:pt x="6272" y="0"/>
                </a:lnTo>
                <a:lnTo>
                  <a:pt x="627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2" name="Forma libre 391"/>
          <p:cNvSpPr/>
          <p:nvPr/>
        </p:nvSpPr>
        <p:spPr>
          <a:xfrm>
            <a:off x="7581600" y="392400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3" name="Forma libre 392"/>
          <p:cNvSpPr/>
          <p:nvPr/>
        </p:nvSpPr>
        <p:spPr>
          <a:xfrm>
            <a:off x="666720" y="4333680"/>
            <a:ext cx="1285920" cy="9720"/>
          </a:xfrm>
          <a:custGeom>
            <a:avLst/>
            <a:gdLst/>
            <a:ahLst/>
            <a:cxnLst/>
            <a:rect l="0" t="0" r="r" b="b"/>
            <a:pathLst>
              <a:path w="3572" h="27">
                <a:moveTo>
                  <a:pt x="0" y="0"/>
                </a:moveTo>
                <a:lnTo>
                  <a:pt x="3572" y="0"/>
                </a:lnTo>
                <a:lnTo>
                  <a:pt x="357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4" name="Forma libre 393"/>
          <p:cNvSpPr/>
          <p:nvPr/>
        </p:nvSpPr>
        <p:spPr>
          <a:xfrm>
            <a:off x="1952280" y="4333680"/>
            <a:ext cx="2400840" cy="9720"/>
          </a:xfrm>
          <a:custGeom>
            <a:avLst/>
            <a:gdLst/>
            <a:ahLst/>
            <a:cxnLst/>
            <a:rect l="0" t="0" r="r" b="b"/>
            <a:pathLst>
              <a:path w="6669" h="27">
                <a:moveTo>
                  <a:pt x="0" y="0"/>
                </a:moveTo>
                <a:lnTo>
                  <a:pt x="6669" y="0"/>
                </a:lnTo>
                <a:lnTo>
                  <a:pt x="666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5" name="Forma libre 394"/>
          <p:cNvSpPr/>
          <p:nvPr/>
        </p:nvSpPr>
        <p:spPr>
          <a:xfrm>
            <a:off x="4352760" y="4333680"/>
            <a:ext cx="981360" cy="9720"/>
          </a:xfrm>
          <a:custGeom>
            <a:avLst/>
            <a:gdLst/>
            <a:ahLst/>
            <a:cxnLst/>
            <a:rect l="0" t="0" r="r" b="b"/>
            <a:pathLst>
              <a:path w="2726" h="27">
                <a:moveTo>
                  <a:pt x="0" y="0"/>
                </a:moveTo>
                <a:lnTo>
                  <a:pt x="2726" y="0"/>
                </a:lnTo>
                <a:lnTo>
                  <a:pt x="272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6" name="Forma libre 395"/>
          <p:cNvSpPr/>
          <p:nvPr/>
        </p:nvSpPr>
        <p:spPr>
          <a:xfrm>
            <a:off x="5333760" y="4333680"/>
            <a:ext cx="2257920" cy="9720"/>
          </a:xfrm>
          <a:custGeom>
            <a:avLst/>
            <a:gdLst/>
            <a:ahLst/>
            <a:cxnLst/>
            <a:rect l="0" t="0" r="r" b="b"/>
            <a:pathLst>
              <a:path w="6272" h="27">
                <a:moveTo>
                  <a:pt x="0" y="0"/>
                </a:moveTo>
                <a:lnTo>
                  <a:pt x="6272" y="0"/>
                </a:lnTo>
                <a:lnTo>
                  <a:pt x="627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7" name="CuadroTexto 396"/>
          <p:cNvSpPr txBox="1"/>
          <p:nvPr/>
        </p:nvSpPr>
        <p:spPr>
          <a:xfrm>
            <a:off x="666720" y="1196640"/>
            <a:ext cx="280260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No hay «un» ICD-10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8" name="CuadroTexto 397"/>
          <p:cNvSpPr txBox="1"/>
          <p:nvPr/>
        </p:nvSpPr>
        <p:spPr>
          <a:xfrm>
            <a:off x="939240" y="1933200"/>
            <a:ext cx="7520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Variante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9" name="CuadroTexto 398"/>
          <p:cNvSpPr txBox="1"/>
          <p:nvPr/>
        </p:nvSpPr>
        <p:spPr>
          <a:xfrm>
            <a:off x="2883960" y="1933200"/>
            <a:ext cx="5335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Quién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0" name="CuadroTexto 399"/>
          <p:cNvSpPr txBox="1"/>
          <p:nvPr/>
        </p:nvSpPr>
        <p:spPr>
          <a:xfrm>
            <a:off x="4480920" y="1933200"/>
            <a:ext cx="7376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Tamaño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1" name="CuadroTexto 400"/>
          <p:cNvSpPr txBox="1"/>
          <p:nvPr/>
        </p:nvSpPr>
        <p:spPr>
          <a:xfrm>
            <a:off x="6157800" y="1933200"/>
            <a:ext cx="5968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Dónde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2" name="CuadroTexto 401"/>
          <p:cNvSpPr txBox="1"/>
          <p:nvPr/>
        </p:nvSpPr>
        <p:spPr>
          <a:xfrm>
            <a:off x="799920" y="2342880"/>
            <a:ext cx="6285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ICD-10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3" name="CuadroTexto 402"/>
          <p:cNvSpPr txBox="1"/>
          <p:nvPr/>
        </p:nvSpPr>
        <p:spPr>
          <a:xfrm>
            <a:off x="2076840" y="2342880"/>
            <a:ext cx="41832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OMS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4" name="CuadroTexto 403"/>
          <p:cNvSpPr txBox="1"/>
          <p:nvPr/>
        </p:nvSpPr>
        <p:spPr>
          <a:xfrm>
            <a:off x="4480920" y="2342880"/>
            <a:ext cx="6976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~14 000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5" name="CuadroTexto 404"/>
          <p:cNvSpPr txBox="1"/>
          <p:nvPr/>
        </p:nvSpPr>
        <p:spPr>
          <a:xfrm>
            <a:off x="5454000" y="2342880"/>
            <a:ext cx="180036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estándar internacional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6" name="CuadroTexto 405"/>
          <p:cNvSpPr txBox="1"/>
          <p:nvPr/>
        </p:nvSpPr>
        <p:spPr>
          <a:xfrm>
            <a:off x="799920" y="2761920"/>
            <a:ext cx="10202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ICD-10-CM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7" name="CuadroTexto 406"/>
          <p:cNvSpPr txBox="1"/>
          <p:nvPr/>
        </p:nvSpPr>
        <p:spPr>
          <a:xfrm>
            <a:off x="2076840" y="2761920"/>
            <a:ext cx="36432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EUA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8" name="CuadroTexto 407"/>
          <p:cNvSpPr txBox="1"/>
          <p:nvPr/>
        </p:nvSpPr>
        <p:spPr>
          <a:xfrm>
            <a:off x="4480920" y="2761920"/>
            <a:ext cx="6976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~70 000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9" name="CuadroTexto 408"/>
          <p:cNvSpPr txBox="1"/>
          <p:nvPr/>
        </p:nvSpPr>
        <p:spPr>
          <a:xfrm>
            <a:off x="5454000" y="2761920"/>
            <a:ext cx="157824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facturación en EUA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0" name="CuadroTexto 409"/>
          <p:cNvSpPr txBox="1"/>
          <p:nvPr/>
        </p:nvSpPr>
        <p:spPr>
          <a:xfrm>
            <a:off x="799920" y="3180960"/>
            <a:ext cx="6109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CIE-10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1" name="CuadroTexto 410"/>
          <p:cNvSpPr txBox="1"/>
          <p:nvPr/>
        </p:nvSpPr>
        <p:spPr>
          <a:xfrm>
            <a:off x="2076840" y="3180960"/>
            <a:ext cx="133920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traducción OMS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2" name="CuadroTexto 411"/>
          <p:cNvSpPr txBox="1"/>
          <p:nvPr/>
        </p:nvSpPr>
        <p:spPr>
          <a:xfrm>
            <a:off x="4480920" y="3180960"/>
            <a:ext cx="6976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~14 000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3" name="CuadroTexto 412"/>
          <p:cNvSpPr txBox="1"/>
          <p:nvPr/>
        </p:nvSpPr>
        <p:spPr>
          <a:xfrm>
            <a:off x="5454000" y="3180960"/>
            <a:ext cx="20044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México</a:t>
            </a:r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y Latinoamérica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4" name="CuadroTexto 413"/>
          <p:cNvSpPr txBox="1"/>
          <p:nvPr/>
        </p:nvSpPr>
        <p:spPr>
          <a:xfrm>
            <a:off x="799920" y="3600000"/>
            <a:ext cx="9140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ICD-9-CM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5" name="CuadroTexto 414"/>
          <p:cNvSpPr txBox="1"/>
          <p:nvPr/>
        </p:nvSpPr>
        <p:spPr>
          <a:xfrm>
            <a:off x="2076840" y="3600000"/>
            <a:ext cx="6922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histórico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6" name="CuadroTexto 415"/>
          <p:cNvSpPr txBox="1"/>
          <p:nvPr/>
        </p:nvSpPr>
        <p:spPr>
          <a:xfrm>
            <a:off x="4480920" y="3600000"/>
            <a:ext cx="6976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~17 000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7" name="CuadroTexto 416"/>
          <p:cNvSpPr txBox="1"/>
          <p:nvPr/>
        </p:nvSpPr>
        <p:spPr>
          <a:xfrm>
            <a:off x="5454000" y="3600000"/>
            <a:ext cx="19522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datos anteriores a 2015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8" name="CuadroTexto 417"/>
          <p:cNvSpPr txBox="1"/>
          <p:nvPr/>
        </p:nvSpPr>
        <p:spPr>
          <a:xfrm>
            <a:off x="799920" y="4019040"/>
            <a:ext cx="6285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ICD-11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9" name="CuadroTexto 418"/>
          <p:cNvSpPr txBox="1"/>
          <p:nvPr/>
        </p:nvSpPr>
        <p:spPr>
          <a:xfrm>
            <a:off x="2076840" y="4019040"/>
            <a:ext cx="214776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OMS, vigente desde 2022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0" name="CuadroTexto 419"/>
          <p:cNvSpPr txBox="1"/>
          <p:nvPr/>
        </p:nvSpPr>
        <p:spPr>
          <a:xfrm>
            <a:off x="4480920" y="4019040"/>
            <a:ext cx="6976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~55 000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1" name="CuadroTexto 420"/>
          <p:cNvSpPr txBox="1"/>
          <p:nvPr/>
        </p:nvSpPr>
        <p:spPr>
          <a:xfrm>
            <a:off x="5454000" y="4019040"/>
            <a:ext cx="153252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adopción en curso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2" name="Forma libre 421"/>
          <p:cNvSpPr/>
          <p:nvPr/>
        </p:nvSpPr>
        <p:spPr>
          <a:xfrm>
            <a:off x="3143160" y="4552920"/>
            <a:ext cx="695520" cy="266760"/>
          </a:xfrm>
          <a:custGeom>
            <a:avLst/>
            <a:gdLst/>
            <a:ahLst/>
            <a:cxnLst/>
            <a:rect l="0" t="0" r="r" b="b"/>
            <a:pathLst>
              <a:path w="1932" h="741">
                <a:moveTo>
                  <a:pt x="0" y="636"/>
                </a:moveTo>
                <a:lnTo>
                  <a:pt x="0" y="105"/>
                </a:lnTo>
                <a:cubicBezTo>
                  <a:pt x="0" y="91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1825" y="0"/>
                </a:lnTo>
                <a:cubicBezTo>
                  <a:pt x="1839" y="0"/>
                  <a:pt x="1853" y="2"/>
                  <a:pt x="1866" y="8"/>
                </a:cubicBezTo>
                <a:cubicBezTo>
                  <a:pt x="1879" y="13"/>
                  <a:pt x="1891" y="21"/>
                  <a:pt x="1901" y="31"/>
                </a:cubicBezTo>
                <a:cubicBezTo>
                  <a:pt x="1911" y="41"/>
                  <a:pt x="1919" y="52"/>
                  <a:pt x="1924" y="65"/>
                </a:cubicBezTo>
                <a:cubicBezTo>
                  <a:pt x="1930" y="78"/>
                  <a:pt x="1932" y="91"/>
                  <a:pt x="1932" y="105"/>
                </a:cubicBezTo>
                <a:lnTo>
                  <a:pt x="1932" y="636"/>
                </a:lnTo>
                <a:cubicBezTo>
                  <a:pt x="1932" y="650"/>
                  <a:pt x="1930" y="663"/>
                  <a:pt x="1924" y="676"/>
                </a:cubicBezTo>
                <a:cubicBezTo>
                  <a:pt x="1919" y="689"/>
                  <a:pt x="1911" y="700"/>
                  <a:pt x="1901" y="710"/>
                </a:cubicBezTo>
                <a:cubicBezTo>
                  <a:pt x="1891" y="720"/>
                  <a:pt x="1879" y="728"/>
                  <a:pt x="1866" y="733"/>
                </a:cubicBezTo>
                <a:cubicBezTo>
                  <a:pt x="1853" y="739"/>
                  <a:pt x="1839" y="741"/>
                  <a:pt x="1825" y="741"/>
                </a:cubicBezTo>
                <a:lnTo>
                  <a:pt x="106" y="741"/>
                </a:lnTo>
                <a:cubicBezTo>
                  <a:pt x="92" y="741"/>
                  <a:pt x="78" y="739"/>
                  <a:pt x="65" y="733"/>
                </a:cubicBezTo>
                <a:cubicBezTo>
                  <a:pt x="52" y="728"/>
                  <a:pt x="41" y="720"/>
                  <a:pt x="31" y="710"/>
                </a:cubicBezTo>
                <a:cubicBezTo>
                  <a:pt x="21" y="700"/>
                  <a:pt x="13" y="689"/>
                  <a:pt x="8" y="676"/>
                </a:cubicBezTo>
                <a:cubicBezTo>
                  <a:pt x="2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3" name="CuadroTexto 422"/>
          <p:cNvSpPr txBox="1"/>
          <p:nvPr/>
        </p:nvSpPr>
        <p:spPr>
          <a:xfrm>
            <a:off x="666720" y="4535280"/>
            <a:ext cx="24771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Estructura del código: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4" name="CuadroTexto 423"/>
          <p:cNvSpPr txBox="1"/>
          <p:nvPr/>
        </p:nvSpPr>
        <p:spPr>
          <a:xfrm>
            <a:off x="3200400" y="4572720"/>
            <a:ext cx="5878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E11.9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5" name="CuadroTexto 424"/>
          <p:cNvSpPr txBox="1"/>
          <p:nvPr/>
        </p:nvSpPr>
        <p:spPr>
          <a:xfrm>
            <a:off x="3842280" y="4535280"/>
            <a:ext cx="2282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6" name="CuadroTexto 425"/>
          <p:cNvSpPr txBox="1"/>
          <p:nvPr/>
        </p:nvSpPr>
        <p:spPr>
          <a:xfrm>
            <a:off x="3906000" y="4546080"/>
            <a:ext cx="2293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7" name="CuadroTexto 426"/>
          <p:cNvSpPr txBox="1"/>
          <p:nvPr/>
        </p:nvSpPr>
        <p:spPr>
          <a:xfrm>
            <a:off x="4134600" y="4535280"/>
            <a:ext cx="70732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capítulo (E: endocrinas) · categoría (E11: diabetes tipo 2) · subcategoría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8" name="CuadroTexto 427"/>
          <p:cNvSpPr txBox="1"/>
          <p:nvPr/>
        </p:nvSpPr>
        <p:spPr>
          <a:xfrm>
            <a:off x="666720" y="4878360"/>
            <a:ext cx="22957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(.9: sin complicaciones)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0" name="CuadroTexto 429"/>
          <p:cNvSpPr txBox="1"/>
          <p:nvPr/>
        </p:nvSpPr>
        <p:spPr>
          <a:xfrm>
            <a:off x="666720" y="5395320"/>
            <a:ext cx="7778348" cy="2492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62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En México, la CIE-10 es lo que se registra en egresos hospitalarios y defunciones</a:t>
            </a:r>
            <a:endParaRPr lang="es-ES" sz="162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3" name="CuadroTexto 432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14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4" name="CuadroTexto 433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5" name="CuadroTexto 434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10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Forma libre 43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7" name="Forma libre 43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8" name="Forma libre 43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9" name="CuadroTexto 438"/>
          <p:cNvSpPr txBox="1"/>
          <p:nvPr/>
        </p:nvSpPr>
        <p:spPr>
          <a:xfrm>
            <a:off x="3015720" y="3063960"/>
            <a:ext cx="629856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4. Cómo lo resuelve OMOP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0" name="CuadroTexto 439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14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1" name="CuadroTexto 440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2" name="CuadroTexto 441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11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Forma libre 44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4" name="Forma libre 44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5" name="Forma libre 44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6" name="Forma libre 445"/>
          <p:cNvSpPr/>
          <p:nvPr/>
        </p:nvSpPr>
        <p:spPr>
          <a:xfrm>
            <a:off x="671400" y="2166840"/>
            <a:ext cx="10849320" cy="2943360"/>
          </a:xfrm>
          <a:custGeom>
            <a:avLst/>
            <a:gdLst/>
            <a:ahLst/>
            <a:cxnLst/>
            <a:rect l="0" t="0" r="r" b="b"/>
            <a:pathLst>
              <a:path w="30137" h="8176">
                <a:moveTo>
                  <a:pt x="0" y="7978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0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59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7978"/>
                </a:lnTo>
                <a:cubicBezTo>
                  <a:pt x="30137" y="7991"/>
                  <a:pt x="30136" y="8004"/>
                  <a:pt x="30133" y="8017"/>
                </a:cubicBezTo>
                <a:cubicBezTo>
                  <a:pt x="30130" y="8029"/>
                  <a:pt x="30127" y="8042"/>
                  <a:pt x="30122" y="8054"/>
                </a:cubicBezTo>
                <a:cubicBezTo>
                  <a:pt x="30117" y="8066"/>
                  <a:pt x="30111" y="8077"/>
                  <a:pt x="30103" y="8088"/>
                </a:cubicBezTo>
                <a:cubicBezTo>
                  <a:pt x="30096" y="8099"/>
                  <a:pt x="30088" y="8109"/>
                  <a:pt x="30079" y="8118"/>
                </a:cubicBezTo>
                <a:cubicBezTo>
                  <a:pt x="30070" y="8127"/>
                  <a:pt x="30059" y="8136"/>
                  <a:pt x="30049" y="8143"/>
                </a:cubicBezTo>
                <a:cubicBezTo>
                  <a:pt x="30038" y="8150"/>
                  <a:pt x="30026" y="8156"/>
                  <a:pt x="30014" y="8161"/>
                </a:cubicBezTo>
                <a:cubicBezTo>
                  <a:pt x="30002" y="8166"/>
                  <a:pt x="29990" y="8170"/>
                  <a:pt x="29977" y="8173"/>
                </a:cubicBezTo>
                <a:cubicBezTo>
                  <a:pt x="29964" y="8175"/>
                  <a:pt x="29951" y="8176"/>
                  <a:pt x="29938" y="8176"/>
                </a:cubicBezTo>
                <a:lnTo>
                  <a:pt x="198" y="8176"/>
                </a:lnTo>
                <a:cubicBezTo>
                  <a:pt x="185" y="8176"/>
                  <a:pt x="172" y="8175"/>
                  <a:pt x="160" y="8173"/>
                </a:cubicBezTo>
                <a:cubicBezTo>
                  <a:pt x="147" y="8170"/>
                  <a:pt x="134" y="8166"/>
                  <a:pt x="122" y="8161"/>
                </a:cubicBezTo>
                <a:cubicBezTo>
                  <a:pt x="110" y="8156"/>
                  <a:pt x="99" y="8150"/>
                  <a:pt x="88" y="8143"/>
                </a:cubicBezTo>
                <a:cubicBezTo>
                  <a:pt x="77" y="8136"/>
                  <a:pt x="67" y="8127"/>
                  <a:pt x="58" y="8118"/>
                </a:cubicBezTo>
                <a:cubicBezTo>
                  <a:pt x="49" y="8109"/>
                  <a:pt x="40" y="8099"/>
                  <a:pt x="33" y="8088"/>
                </a:cubicBezTo>
                <a:cubicBezTo>
                  <a:pt x="26" y="8077"/>
                  <a:pt x="20" y="8066"/>
                  <a:pt x="15" y="8054"/>
                </a:cubicBezTo>
                <a:cubicBezTo>
                  <a:pt x="10" y="8042"/>
                  <a:pt x="6" y="8029"/>
                  <a:pt x="4" y="8017"/>
                </a:cubicBezTo>
                <a:cubicBezTo>
                  <a:pt x="1" y="8004"/>
                  <a:pt x="0" y="7991"/>
                  <a:pt x="0" y="7978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7" name="Forma libre 446"/>
          <p:cNvSpPr/>
          <p:nvPr/>
        </p:nvSpPr>
        <p:spPr>
          <a:xfrm>
            <a:off x="671400" y="2166840"/>
            <a:ext cx="10849320" cy="2943360"/>
          </a:xfrm>
          <a:custGeom>
            <a:avLst/>
            <a:gdLst/>
            <a:ahLst/>
            <a:cxnLst/>
            <a:rect l="0" t="0" r="r" b="b"/>
            <a:pathLst>
              <a:path w="30137" h="8176">
                <a:moveTo>
                  <a:pt x="0" y="7978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0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59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7978"/>
                </a:lnTo>
                <a:cubicBezTo>
                  <a:pt x="30137" y="7991"/>
                  <a:pt x="30136" y="8004"/>
                  <a:pt x="30133" y="8017"/>
                </a:cubicBezTo>
                <a:cubicBezTo>
                  <a:pt x="30130" y="8029"/>
                  <a:pt x="30127" y="8042"/>
                  <a:pt x="30122" y="8054"/>
                </a:cubicBezTo>
                <a:cubicBezTo>
                  <a:pt x="30117" y="8066"/>
                  <a:pt x="30111" y="8077"/>
                  <a:pt x="30103" y="8088"/>
                </a:cubicBezTo>
                <a:cubicBezTo>
                  <a:pt x="30096" y="8099"/>
                  <a:pt x="30088" y="8109"/>
                  <a:pt x="30079" y="8118"/>
                </a:cubicBezTo>
                <a:cubicBezTo>
                  <a:pt x="30070" y="8127"/>
                  <a:pt x="30059" y="8136"/>
                  <a:pt x="30049" y="8143"/>
                </a:cubicBezTo>
                <a:cubicBezTo>
                  <a:pt x="30038" y="8150"/>
                  <a:pt x="30026" y="8156"/>
                  <a:pt x="30014" y="8161"/>
                </a:cubicBezTo>
                <a:cubicBezTo>
                  <a:pt x="30002" y="8166"/>
                  <a:pt x="29990" y="8170"/>
                  <a:pt x="29977" y="8173"/>
                </a:cubicBezTo>
                <a:cubicBezTo>
                  <a:pt x="29964" y="8175"/>
                  <a:pt x="29951" y="8176"/>
                  <a:pt x="29938" y="8176"/>
                </a:cubicBezTo>
                <a:lnTo>
                  <a:pt x="198" y="8176"/>
                </a:lnTo>
                <a:cubicBezTo>
                  <a:pt x="185" y="8176"/>
                  <a:pt x="172" y="8175"/>
                  <a:pt x="160" y="8173"/>
                </a:cubicBezTo>
                <a:cubicBezTo>
                  <a:pt x="147" y="8170"/>
                  <a:pt x="134" y="8166"/>
                  <a:pt x="122" y="8161"/>
                </a:cubicBezTo>
                <a:cubicBezTo>
                  <a:pt x="110" y="8156"/>
                  <a:pt x="99" y="8150"/>
                  <a:pt x="88" y="8143"/>
                </a:cubicBezTo>
                <a:cubicBezTo>
                  <a:pt x="77" y="8136"/>
                  <a:pt x="67" y="8127"/>
                  <a:pt x="58" y="8118"/>
                </a:cubicBezTo>
                <a:cubicBezTo>
                  <a:pt x="49" y="8109"/>
                  <a:pt x="40" y="8099"/>
                  <a:pt x="33" y="8088"/>
                </a:cubicBezTo>
                <a:cubicBezTo>
                  <a:pt x="26" y="8077"/>
                  <a:pt x="20" y="8066"/>
                  <a:pt x="15" y="8054"/>
                </a:cubicBezTo>
                <a:cubicBezTo>
                  <a:pt x="10" y="8042"/>
                  <a:pt x="6" y="8029"/>
                  <a:pt x="4" y="8017"/>
                </a:cubicBezTo>
                <a:cubicBezTo>
                  <a:pt x="1" y="8004"/>
                  <a:pt x="0" y="7991"/>
                  <a:pt x="0" y="7978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8" name="Forma libre 447"/>
          <p:cNvSpPr/>
          <p:nvPr/>
        </p:nvSpPr>
        <p:spPr>
          <a:xfrm>
            <a:off x="666720" y="5267160"/>
            <a:ext cx="10858680" cy="914760"/>
          </a:xfrm>
          <a:custGeom>
            <a:avLst/>
            <a:gdLst/>
            <a:ahLst/>
            <a:cxnLst/>
            <a:rect l="0" t="0" r="r" b="b"/>
            <a:pathLst>
              <a:path w="30163" h="2541">
                <a:moveTo>
                  <a:pt x="0" y="0"/>
                </a:moveTo>
                <a:lnTo>
                  <a:pt x="30163" y="0"/>
                </a:lnTo>
                <a:lnTo>
                  <a:pt x="3016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9" name="Forma libre 448"/>
          <p:cNvSpPr/>
          <p:nvPr/>
        </p:nvSpPr>
        <p:spPr>
          <a:xfrm>
            <a:off x="666720" y="5267160"/>
            <a:ext cx="47880" cy="914760"/>
          </a:xfrm>
          <a:custGeom>
            <a:avLst/>
            <a:gdLst/>
            <a:ahLst/>
            <a:cxnLst/>
            <a:rect l="0" t="0" r="r" b="b"/>
            <a:pathLst>
              <a:path w="133" h="2541">
                <a:moveTo>
                  <a:pt x="0" y="0"/>
                </a:moveTo>
                <a:lnTo>
                  <a:pt x="133" y="0"/>
                </a:lnTo>
                <a:lnTo>
                  <a:pt x="13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0" name="CuadroTexto 449"/>
          <p:cNvSpPr txBox="1"/>
          <p:nvPr/>
        </p:nvSpPr>
        <p:spPr>
          <a:xfrm>
            <a:off x="666720" y="691920"/>
            <a:ext cx="459468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Uno estándar, muchos de origen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1" name="Forma libre 450"/>
          <p:cNvSpPr/>
          <p:nvPr/>
        </p:nvSpPr>
        <p:spPr>
          <a:xfrm>
            <a:off x="6391080" y="1380960"/>
            <a:ext cx="1171800" cy="267120"/>
          </a:xfrm>
          <a:custGeom>
            <a:avLst/>
            <a:gdLst/>
            <a:ahLst/>
            <a:cxnLst/>
            <a:rect l="0" t="0" r="r" b="b"/>
            <a:pathLst>
              <a:path w="3255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3150" y="0"/>
                </a:lnTo>
                <a:cubicBezTo>
                  <a:pt x="3164" y="0"/>
                  <a:pt x="3177" y="3"/>
                  <a:pt x="3190" y="8"/>
                </a:cubicBezTo>
                <a:cubicBezTo>
                  <a:pt x="3203" y="13"/>
                  <a:pt x="3214" y="21"/>
                  <a:pt x="3224" y="31"/>
                </a:cubicBezTo>
                <a:cubicBezTo>
                  <a:pt x="3234" y="41"/>
                  <a:pt x="3242" y="52"/>
                  <a:pt x="3247" y="65"/>
                </a:cubicBezTo>
                <a:cubicBezTo>
                  <a:pt x="3253" y="78"/>
                  <a:pt x="3255" y="92"/>
                  <a:pt x="3255" y="106"/>
                </a:cubicBezTo>
                <a:lnTo>
                  <a:pt x="3255" y="636"/>
                </a:lnTo>
                <a:cubicBezTo>
                  <a:pt x="3255" y="650"/>
                  <a:pt x="3253" y="663"/>
                  <a:pt x="3247" y="676"/>
                </a:cubicBezTo>
                <a:cubicBezTo>
                  <a:pt x="3242" y="689"/>
                  <a:pt x="3234" y="701"/>
                  <a:pt x="3224" y="711"/>
                </a:cubicBezTo>
                <a:cubicBezTo>
                  <a:pt x="3214" y="721"/>
                  <a:pt x="3203" y="728"/>
                  <a:pt x="3190" y="734"/>
                </a:cubicBezTo>
                <a:cubicBezTo>
                  <a:pt x="3177" y="739"/>
                  <a:pt x="3164" y="742"/>
                  <a:pt x="3150" y="742"/>
                </a:cubicBezTo>
                <a:lnTo>
                  <a:pt x="106" y="742"/>
                </a:lnTo>
                <a:cubicBezTo>
                  <a:pt x="92" y="742"/>
                  <a:pt x="78" y="739"/>
                  <a:pt x="65" y="734"/>
                </a:cubicBezTo>
                <a:cubicBezTo>
                  <a:pt x="52" y="728"/>
                  <a:pt x="41" y="721"/>
                  <a:pt x="31" y="711"/>
                </a:cubicBezTo>
                <a:cubicBezTo>
                  <a:pt x="21" y="701"/>
                  <a:pt x="13" y="689"/>
                  <a:pt x="8" y="676"/>
                </a:cubicBezTo>
                <a:cubicBezTo>
                  <a:pt x="3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2" name="CuadroTexto 451"/>
          <p:cNvSpPr txBox="1"/>
          <p:nvPr/>
        </p:nvSpPr>
        <p:spPr>
          <a:xfrm>
            <a:off x="666720" y="1363680"/>
            <a:ext cx="57272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SNOMED CT es el vocabulario estándar del dominio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3" name="CuadroTexto 452"/>
          <p:cNvSpPr txBox="1"/>
          <p:nvPr/>
        </p:nvSpPr>
        <p:spPr>
          <a:xfrm>
            <a:off x="6450480" y="1400760"/>
            <a:ext cx="10576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1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Condition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4" name="CuadroTexto 453"/>
          <p:cNvSpPr txBox="1"/>
          <p:nvPr/>
        </p:nvSpPr>
        <p:spPr>
          <a:xfrm>
            <a:off x="7560720" y="1363680"/>
            <a:ext cx="39106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.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ICD-10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no es estándar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en OMOP: es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5" name="CuadroTexto 454"/>
          <p:cNvSpPr txBox="1"/>
          <p:nvPr/>
        </p:nvSpPr>
        <p:spPr>
          <a:xfrm>
            <a:off x="666720" y="1706400"/>
            <a:ext cx="6739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fuente.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6" name="CuadroTexto 455"/>
          <p:cNvSpPr txBox="1"/>
          <p:nvPr/>
        </p:nvSpPr>
        <p:spPr>
          <a:xfrm>
            <a:off x="866880" y="2346480"/>
            <a:ext cx="50230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-- De un código de origen al concepto estándar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7" name="CuadroTexto 456"/>
          <p:cNvSpPr txBox="1"/>
          <p:nvPr/>
        </p:nvSpPr>
        <p:spPr>
          <a:xfrm>
            <a:off x="866880" y="2613240"/>
            <a:ext cx="56786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SELECT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src.concept_code, src.concept_name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AS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origen,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8" name="CuadroTexto 457"/>
          <p:cNvSpPr txBox="1"/>
          <p:nvPr/>
        </p:nvSpPr>
        <p:spPr>
          <a:xfrm>
            <a:off x="866880" y="2870640"/>
            <a:ext cx="57877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 std.concept_id,   std.concept_name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AS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estandar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9" name="CuadroTexto 458"/>
          <p:cNvSpPr txBox="1"/>
          <p:nvPr/>
        </p:nvSpPr>
        <p:spPr>
          <a:xfrm>
            <a:off x="866880" y="3137400"/>
            <a:ext cx="19659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FROM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concept src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0" name="CuadroTexto 459"/>
          <p:cNvSpPr txBox="1"/>
          <p:nvPr/>
        </p:nvSpPr>
        <p:spPr>
          <a:xfrm>
            <a:off x="866880" y="3394440"/>
            <a:ext cx="32763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JOIN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concept_relationship cr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1" name="CuadroTexto 460"/>
          <p:cNvSpPr txBox="1"/>
          <p:nvPr/>
        </p:nvSpPr>
        <p:spPr>
          <a:xfrm>
            <a:off x="866880" y="3661200"/>
            <a:ext cx="45864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ON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cr.concept_id_1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=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src.concept_id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2" name="CuadroTexto 461"/>
          <p:cNvSpPr txBox="1"/>
          <p:nvPr/>
        </p:nvSpPr>
        <p:spPr>
          <a:xfrm>
            <a:off x="866880" y="3918240"/>
            <a:ext cx="43682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AND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cr.relationship_id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=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'Maps to'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3" name="CuadroTexto 462"/>
          <p:cNvSpPr txBox="1"/>
          <p:nvPr/>
        </p:nvSpPr>
        <p:spPr>
          <a:xfrm>
            <a:off x="866880" y="4185000"/>
            <a:ext cx="58968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JOIN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concept std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ON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std.concept_id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=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cr.concept_id_2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4" name="CuadroTexto 463"/>
          <p:cNvSpPr txBox="1"/>
          <p:nvPr/>
        </p:nvSpPr>
        <p:spPr>
          <a:xfrm>
            <a:off x="866880" y="4442040"/>
            <a:ext cx="39312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WHERE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src.vocabulary_id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=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'ICD10CM'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5" name="CuadroTexto 464"/>
          <p:cNvSpPr txBox="1"/>
          <p:nvPr/>
        </p:nvSpPr>
        <p:spPr>
          <a:xfrm>
            <a:off x="866880" y="4708800"/>
            <a:ext cx="37130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AND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src.concept_code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=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'E11.9'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;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6" name="Forma libre 465"/>
          <p:cNvSpPr/>
          <p:nvPr/>
        </p:nvSpPr>
        <p:spPr>
          <a:xfrm>
            <a:off x="8010360" y="5438520"/>
            <a:ext cx="819360" cy="267120"/>
          </a:xfrm>
          <a:custGeom>
            <a:avLst/>
            <a:gdLst/>
            <a:ahLst/>
            <a:cxnLst/>
            <a:rect l="0" t="0" r="r" b="b"/>
            <a:pathLst>
              <a:path w="2276" h="742">
                <a:moveTo>
                  <a:pt x="0" y="636"/>
                </a:moveTo>
                <a:lnTo>
                  <a:pt x="0" y="107"/>
                </a:lnTo>
                <a:cubicBezTo>
                  <a:pt x="0" y="93"/>
                  <a:pt x="3" y="80"/>
                  <a:pt x="8" y="67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2171" y="0"/>
                </a:lnTo>
                <a:cubicBezTo>
                  <a:pt x="2185" y="0"/>
                  <a:pt x="2198" y="3"/>
                  <a:pt x="2211" y="8"/>
                </a:cubicBezTo>
                <a:cubicBezTo>
                  <a:pt x="2224" y="14"/>
                  <a:pt x="2235" y="21"/>
                  <a:pt x="2245" y="31"/>
                </a:cubicBezTo>
                <a:cubicBezTo>
                  <a:pt x="2255" y="41"/>
                  <a:pt x="2263" y="53"/>
                  <a:pt x="2268" y="67"/>
                </a:cubicBezTo>
                <a:cubicBezTo>
                  <a:pt x="2274" y="80"/>
                  <a:pt x="2276" y="93"/>
                  <a:pt x="2276" y="107"/>
                </a:cubicBezTo>
                <a:lnTo>
                  <a:pt x="2276" y="636"/>
                </a:lnTo>
                <a:cubicBezTo>
                  <a:pt x="2276" y="650"/>
                  <a:pt x="2274" y="664"/>
                  <a:pt x="2268" y="677"/>
                </a:cubicBezTo>
                <a:cubicBezTo>
                  <a:pt x="2263" y="690"/>
                  <a:pt x="2255" y="701"/>
                  <a:pt x="2245" y="711"/>
                </a:cubicBezTo>
                <a:cubicBezTo>
                  <a:pt x="2235" y="721"/>
                  <a:pt x="2224" y="729"/>
                  <a:pt x="2211" y="734"/>
                </a:cubicBezTo>
                <a:cubicBezTo>
                  <a:pt x="2198" y="739"/>
                  <a:pt x="2185" y="742"/>
                  <a:pt x="2171" y="742"/>
                </a:cubicBezTo>
                <a:lnTo>
                  <a:pt x="106" y="742"/>
                </a:lnTo>
                <a:cubicBezTo>
                  <a:pt x="92" y="742"/>
                  <a:pt x="78" y="739"/>
                  <a:pt x="65" y="734"/>
                </a:cubicBezTo>
                <a:cubicBezTo>
                  <a:pt x="52" y="729"/>
                  <a:pt x="41" y="721"/>
                  <a:pt x="31" y="711"/>
                </a:cubicBezTo>
                <a:cubicBezTo>
                  <a:pt x="21" y="701"/>
                  <a:pt x="13" y="690"/>
                  <a:pt x="8" y="677"/>
                </a:cubicBezTo>
                <a:cubicBezTo>
                  <a:pt x="3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7" name="CuadroTexto 466"/>
          <p:cNvSpPr txBox="1"/>
          <p:nvPr/>
        </p:nvSpPr>
        <p:spPr>
          <a:xfrm>
            <a:off x="905040" y="5421240"/>
            <a:ext cx="71294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Un código de origen puede mapear a varios conceptos estándar.</a:t>
            </a:r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8" name="CuadroTexto 467"/>
          <p:cNvSpPr txBox="1"/>
          <p:nvPr/>
        </p:nvSpPr>
        <p:spPr>
          <a:xfrm>
            <a:off x="8069760" y="5458320"/>
            <a:ext cx="7052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E11.65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9" name="CuadroTexto 468"/>
          <p:cNvSpPr txBox="1"/>
          <p:nvPr/>
        </p:nvSpPr>
        <p:spPr>
          <a:xfrm>
            <a:off x="8829000" y="5421240"/>
            <a:ext cx="13896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 (diabetes con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0" name="CuadroTexto 469"/>
          <p:cNvSpPr txBox="1"/>
          <p:nvPr/>
        </p:nvSpPr>
        <p:spPr>
          <a:xfrm>
            <a:off x="905040" y="5763960"/>
            <a:ext cx="58575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hiperglucemia) mapea a </a:t>
            </a:r>
            <a:r>
              <a:rPr lang="es-ES" sz="1800" b="0" i="1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dos</a:t>
            </a:r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: la diabetes y la hiperglucemia.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1" name="CuadroTexto 470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14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2" name="CuadroTexto 471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3" name="CuadroTexto 472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12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Forma libre 47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Forma libre 47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6" name="Forma libre 47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7" name="CuadroTexto 476"/>
          <p:cNvSpPr txBox="1"/>
          <p:nvPr/>
        </p:nvSpPr>
        <p:spPr>
          <a:xfrm>
            <a:off x="3247920" y="3063960"/>
            <a:ext cx="583020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5. Consultar vocabularios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8" name="CuadroTexto 477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14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9" name="CuadroTexto 478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0" name="CuadroTexto 479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13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Forma libre 48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2" name="Forma libre 48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3" name="Forma libre 48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4" name="Forma libre 483"/>
          <p:cNvSpPr/>
          <p:nvPr/>
        </p:nvSpPr>
        <p:spPr>
          <a:xfrm>
            <a:off x="671400" y="1452240"/>
            <a:ext cx="10849320" cy="2419920"/>
          </a:xfrm>
          <a:custGeom>
            <a:avLst/>
            <a:gdLst/>
            <a:ahLst/>
            <a:cxnLst/>
            <a:rect l="0" t="0" r="r" b="b"/>
            <a:pathLst>
              <a:path w="30137" h="6722">
                <a:moveTo>
                  <a:pt x="0" y="6523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9"/>
                </a:cubicBezTo>
                <a:cubicBezTo>
                  <a:pt x="40" y="78"/>
                  <a:pt x="49" y="68"/>
                  <a:pt x="58" y="59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0" y="20"/>
                  <a:pt x="122" y="16"/>
                </a:cubicBezTo>
                <a:cubicBezTo>
                  <a:pt x="134" y="11"/>
                  <a:pt x="147" y="7"/>
                  <a:pt x="160" y="4"/>
                </a:cubicBezTo>
                <a:cubicBezTo>
                  <a:pt x="172" y="2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2"/>
                  <a:pt x="29977" y="4"/>
                </a:cubicBezTo>
                <a:cubicBezTo>
                  <a:pt x="29990" y="7"/>
                  <a:pt x="30002" y="11"/>
                  <a:pt x="30014" y="16"/>
                </a:cubicBezTo>
                <a:cubicBezTo>
                  <a:pt x="30026" y="20"/>
                  <a:pt x="30038" y="27"/>
                  <a:pt x="30049" y="34"/>
                </a:cubicBezTo>
                <a:cubicBezTo>
                  <a:pt x="30059" y="41"/>
                  <a:pt x="30070" y="49"/>
                  <a:pt x="30079" y="59"/>
                </a:cubicBezTo>
                <a:cubicBezTo>
                  <a:pt x="30088" y="68"/>
                  <a:pt x="30096" y="78"/>
                  <a:pt x="30103" y="89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6523"/>
                </a:lnTo>
                <a:cubicBezTo>
                  <a:pt x="30137" y="6536"/>
                  <a:pt x="30136" y="6549"/>
                  <a:pt x="30133" y="6562"/>
                </a:cubicBezTo>
                <a:cubicBezTo>
                  <a:pt x="30130" y="6575"/>
                  <a:pt x="30127" y="6587"/>
                  <a:pt x="30122" y="6599"/>
                </a:cubicBezTo>
                <a:cubicBezTo>
                  <a:pt x="30117" y="6611"/>
                  <a:pt x="30111" y="6623"/>
                  <a:pt x="30103" y="6634"/>
                </a:cubicBezTo>
                <a:cubicBezTo>
                  <a:pt x="30096" y="6644"/>
                  <a:pt x="30088" y="6654"/>
                  <a:pt x="30079" y="6664"/>
                </a:cubicBezTo>
                <a:cubicBezTo>
                  <a:pt x="30070" y="6673"/>
                  <a:pt x="30059" y="6681"/>
                  <a:pt x="30049" y="6688"/>
                </a:cubicBezTo>
                <a:cubicBezTo>
                  <a:pt x="30038" y="6696"/>
                  <a:pt x="30026" y="6702"/>
                  <a:pt x="30014" y="6707"/>
                </a:cubicBezTo>
                <a:cubicBezTo>
                  <a:pt x="30002" y="6712"/>
                  <a:pt x="29990" y="6715"/>
                  <a:pt x="29977" y="6718"/>
                </a:cubicBezTo>
                <a:cubicBezTo>
                  <a:pt x="29964" y="6721"/>
                  <a:pt x="29951" y="6722"/>
                  <a:pt x="29938" y="6722"/>
                </a:cubicBezTo>
                <a:lnTo>
                  <a:pt x="198" y="6722"/>
                </a:lnTo>
                <a:cubicBezTo>
                  <a:pt x="185" y="6722"/>
                  <a:pt x="172" y="6721"/>
                  <a:pt x="160" y="6718"/>
                </a:cubicBezTo>
                <a:cubicBezTo>
                  <a:pt x="147" y="6715"/>
                  <a:pt x="134" y="6712"/>
                  <a:pt x="122" y="6707"/>
                </a:cubicBezTo>
                <a:cubicBezTo>
                  <a:pt x="110" y="6702"/>
                  <a:pt x="99" y="6696"/>
                  <a:pt x="88" y="6688"/>
                </a:cubicBezTo>
                <a:cubicBezTo>
                  <a:pt x="77" y="6681"/>
                  <a:pt x="67" y="6673"/>
                  <a:pt x="58" y="6664"/>
                </a:cubicBezTo>
                <a:cubicBezTo>
                  <a:pt x="49" y="6654"/>
                  <a:pt x="40" y="6644"/>
                  <a:pt x="33" y="6634"/>
                </a:cubicBezTo>
                <a:cubicBezTo>
                  <a:pt x="26" y="6623"/>
                  <a:pt x="20" y="6611"/>
                  <a:pt x="15" y="6599"/>
                </a:cubicBezTo>
                <a:cubicBezTo>
                  <a:pt x="10" y="6587"/>
                  <a:pt x="6" y="6575"/>
                  <a:pt x="4" y="6562"/>
                </a:cubicBezTo>
                <a:cubicBezTo>
                  <a:pt x="1" y="6549"/>
                  <a:pt x="0" y="6536"/>
                  <a:pt x="0" y="6523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5" name="Forma libre 484"/>
          <p:cNvSpPr/>
          <p:nvPr/>
        </p:nvSpPr>
        <p:spPr>
          <a:xfrm>
            <a:off x="671400" y="1452240"/>
            <a:ext cx="10849320" cy="2419920"/>
          </a:xfrm>
          <a:custGeom>
            <a:avLst/>
            <a:gdLst/>
            <a:ahLst/>
            <a:cxnLst/>
            <a:rect l="0" t="0" r="r" b="b"/>
            <a:pathLst>
              <a:path w="30137" h="6722">
                <a:moveTo>
                  <a:pt x="0" y="6523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9"/>
                </a:cubicBezTo>
                <a:cubicBezTo>
                  <a:pt x="40" y="78"/>
                  <a:pt x="49" y="68"/>
                  <a:pt x="58" y="59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0" y="20"/>
                  <a:pt x="122" y="16"/>
                </a:cubicBezTo>
                <a:cubicBezTo>
                  <a:pt x="134" y="11"/>
                  <a:pt x="147" y="7"/>
                  <a:pt x="160" y="4"/>
                </a:cubicBezTo>
                <a:cubicBezTo>
                  <a:pt x="172" y="2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2"/>
                  <a:pt x="29977" y="4"/>
                </a:cubicBezTo>
                <a:cubicBezTo>
                  <a:pt x="29990" y="7"/>
                  <a:pt x="30002" y="11"/>
                  <a:pt x="30014" y="16"/>
                </a:cubicBezTo>
                <a:cubicBezTo>
                  <a:pt x="30026" y="20"/>
                  <a:pt x="30038" y="27"/>
                  <a:pt x="30049" y="34"/>
                </a:cubicBezTo>
                <a:cubicBezTo>
                  <a:pt x="30059" y="41"/>
                  <a:pt x="30070" y="49"/>
                  <a:pt x="30079" y="59"/>
                </a:cubicBezTo>
                <a:cubicBezTo>
                  <a:pt x="30088" y="68"/>
                  <a:pt x="30096" y="78"/>
                  <a:pt x="30103" y="89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6523"/>
                </a:lnTo>
                <a:cubicBezTo>
                  <a:pt x="30137" y="6536"/>
                  <a:pt x="30136" y="6549"/>
                  <a:pt x="30133" y="6562"/>
                </a:cubicBezTo>
                <a:cubicBezTo>
                  <a:pt x="30130" y="6575"/>
                  <a:pt x="30127" y="6587"/>
                  <a:pt x="30122" y="6599"/>
                </a:cubicBezTo>
                <a:cubicBezTo>
                  <a:pt x="30117" y="6611"/>
                  <a:pt x="30111" y="6623"/>
                  <a:pt x="30103" y="6634"/>
                </a:cubicBezTo>
                <a:cubicBezTo>
                  <a:pt x="30096" y="6644"/>
                  <a:pt x="30088" y="6654"/>
                  <a:pt x="30079" y="6664"/>
                </a:cubicBezTo>
                <a:cubicBezTo>
                  <a:pt x="30070" y="6673"/>
                  <a:pt x="30059" y="6681"/>
                  <a:pt x="30049" y="6688"/>
                </a:cubicBezTo>
                <a:cubicBezTo>
                  <a:pt x="30038" y="6696"/>
                  <a:pt x="30026" y="6702"/>
                  <a:pt x="30014" y="6707"/>
                </a:cubicBezTo>
                <a:cubicBezTo>
                  <a:pt x="30002" y="6712"/>
                  <a:pt x="29990" y="6715"/>
                  <a:pt x="29977" y="6718"/>
                </a:cubicBezTo>
                <a:cubicBezTo>
                  <a:pt x="29964" y="6721"/>
                  <a:pt x="29951" y="6722"/>
                  <a:pt x="29938" y="6722"/>
                </a:cubicBezTo>
                <a:lnTo>
                  <a:pt x="198" y="6722"/>
                </a:lnTo>
                <a:cubicBezTo>
                  <a:pt x="185" y="6722"/>
                  <a:pt x="172" y="6721"/>
                  <a:pt x="160" y="6718"/>
                </a:cubicBezTo>
                <a:cubicBezTo>
                  <a:pt x="147" y="6715"/>
                  <a:pt x="134" y="6712"/>
                  <a:pt x="122" y="6707"/>
                </a:cubicBezTo>
                <a:cubicBezTo>
                  <a:pt x="110" y="6702"/>
                  <a:pt x="99" y="6696"/>
                  <a:pt x="88" y="6688"/>
                </a:cubicBezTo>
                <a:cubicBezTo>
                  <a:pt x="77" y="6681"/>
                  <a:pt x="67" y="6673"/>
                  <a:pt x="58" y="6664"/>
                </a:cubicBezTo>
                <a:cubicBezTo>
                  <a:pt x="49" y="6654"/>
                  <a:pt x="40" y="6644"/>
                  <a:pt x="33" y="6634"/>
                </a:cubicBezTo>
                <a:cubicBezTo>
                  <a:pt x="26" y="6623"/>
                  <a:pt x="20" y="6611"/>
                  <a:pt x="15" y="6599"/>
                </a:cubicBezTo>
                <a:cubicBezTo>
                  <a:pt x="10" y="6587"/>
                  <a:pt x="6" y="6575"/>
                  <a:pt x="4" y="6562"/>
                </a:cubicBezTo>
                <a:cubicBezTo>
                  <a:pt x="1" y="6549"/>
                  <a:pt x="0" y="6536"/>
                  <a:pt x="0" y="6523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6" name="CuadroTexto 485"/>
          <p:cNvSpPr txBox="1"/>
          <p:nvPr/>
        </p:nvSpPr>
        <p:spPr>
          <a:xfrm>
            <a:off x="666720" y="806040"/>
            <a:ext cx="363240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Buscar bien, y filtrar mejor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7" name="CuadroTexto 486"/>
          <p:cNvSpPr txBox="1"/>
          <p:nvPr/>
        </p:nvSpPr>
        <p:spPr>
          <a:xfrm>
            <a:off x="866880" y="1632240"/>
            <a:ext cx="70977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SELECT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concept_id, concept_name, vocabulary_id, concept_class_id,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8" name="CuadroTexto 487"/>
          <p:cNvSpPr txBox="1"/>
          <p:nvPr/>
        </p:nvSpPr>
        <p:spPr>
          <a:xfrm>
            <a:off x="866880" y="1899000"/>
            <a:ext cx="42588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 standard_concept, invalid_reason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9" name="CuadroTexto 488"/>
          <p:cNvSpPr txBox="1"/>
          <p:nvPr/>
        </p:nvSpPr>
        <p:spPr>
          <a:xfrm>
            <a:off x="866880" y="2156040"/>
            <a:ext cx="15292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FROM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concept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0" name="CuadroTexto 489"/>
          <p:cNvSpPr txBox="1"/>
          <p:nvPr/>
        </p:nvSpPr>
        <p:spPr>
          <a:xfrm>
            <a:off x="866880" y="2422800"/>
            <a:ext cx="41497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WHERE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concept_name ILIKE 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'%diabetes%'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1" name="CuadroTexto 490"/>
          <p:cNvSpPr txBox="1"/>
          <p:nvPr/>
        </p:nvSpPr>
        <p:spPr>
          <a:xfrm>
            <a:off x="866880" y="2680200"/>
            <a:ext cx="32763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AND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domain_id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=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'Condition'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2" name="CuadroTexto 491"/>
          <p:cNvSpPr txBox="1"/>
          <p:nvPr/>
        </p:nvSpPr>
        <p:spPr>
          <a:xfrm>
            <a:off x="866880" y="2946600"/>
            <a:ext cx="31672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AND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standard_concept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=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'S'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3" name="CuadroTexto 492"/>
          <p:cNvSpPr txBox="1"/>
          <p:nvPr/>
        </p:nvSpPr>
        <p:spPr>
          <a:xfrm>
            <a:off x="866880" y="3204000"/>
            <a:ext cx="69886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AND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invalid_reason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IS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NULL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    </a:t>
            </a:r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-- ← el que todos olvidan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4" name="CuadroTexto 493"/>
          <p:cNvSpPr txBox="1"/>
          <p:nvPr/>
        </p:nvSpPr>
        <p:spPr>
          <a:xfrm>
            <a:off x="866880" y="3470760"/>
            <a:ext cx="9835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LIMIT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50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;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5" name="Forma libre 494"/>
          <p:cNvSpPr/>
          <p:nvPr/>
        </p:nvSpPr>
        <p:spPr>
          <a:xfrm>
            <a:off x="914040" y="467676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5"/>
                </a:moveTo>
                <a:cubicBezTo>
                  <a:pt x="213" y="119"/>
                  <a:pt x="210" y="133"/>
                  <a:pt x="205" y="146"/>
                </a:cubicBezTo>
                <a:cubicBezTo>
                  <a:pt x="200" y="159"/>
                  <a:pt x="192" y="170"/>
                  <a:pt x="182" y="180"/>
                </a:cubicBezTo>
                <a:cubicBezTo>
                  <a:pt x="172" y="190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0"/>
                  <a:pt x="31" y="180"/>
                </a:cubicBezTo>
                <a:cubicBezTo>
                  <a:pt x="22" y="170"/>
                  <a:pt x="14" y="159"/>
                  <a:pt x="9" y="146"/>
                </a:cubicBezTo>
                <a:cubicBezTo>
                  <a:pt x="3" y="133"/>
                  <a:pt x="0" y="119"/>
                  <a:pt x="0" y="105"/>
                </a:cubicBezTo>
                <a:cubicBezTo>
                  <a:pt x="0" y="91"/>
                  <a:pt x="3" y="78"/>
                  <a:pt x="9" y="65"/>
                </a:cubicBezTo>
                <a:cubicBezTo>
                  <a:pt x="14" y="52"/>
                  <a:pt x="22" y="40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0"/>
                  <a:pt x="200" y="52"/>
                  <a:pt x="205" y="65"/>
                </a:cubicBezTo>
                <a:cubicBezTo>
                  <a:pt x="210" y="78"/>
                  <a:pt x="213" y="91"/>
                  <a:pt x="213" y="105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6" name="Forma libre 495"/>
          <p:cNvSpPr/>
          <p:nvPr/>
        </p:nvSpPr>
        <p:spPr>
          <a:xfrm>
            <a:off x="1123920" y="4581360"/>
            <a:ext cx="1171800" cy="267120"/>
          </a:xfrm>
          <a:custGeom>
            <a:avLst/>
            <a:gdLst/>
            <a:ahLst/>
            <a:cxnLst/>
            <a:rect l="0" t="0" r="r" b="b"/>
            <a:pathLst>
              <a:path w="3255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3149" y="0"/>
                </a:lnTo>
                <a:cubicBezTo>
                  <a:pt x="3163" y="0"/>
                  <a:pt x="3177" y="3"/>
                  <a:pt x="3190" y="8"/>
                </a:cubicBezTo>
                <a:cubicBezTo>
                  <a:pt x="3203" y="13"/>
                  <a:pt x="3214" y="21"/>
                  <a:pt x="3224" y="31"/>
                </a:cubicBezTo>
                <a:cubicBezTo>
                  <a:pt x="3234" y="41"/>
                  <a:pt x="3242" y="52"/>
                  <a:pt x="3247" y="65"/>
                </a:cubicBezTo>
                <a:cubicBezTo>
                  <a:pt x="3252" y="78"/>
                  <a:pt x="3255" y="92"/>
                  <a:pt x="3255" y="106"/>
                </a:cubicBezTo>
                <a:lnTo>
                  <a:pt x="3255" y="636"/>
                </a:lnTo>
                <a:cubicBezTo>
                  <a:pt x="3255" y="650"/>
                  <a:pt x="3252" y="663"/>
                  <a:pt x="3247" y="676"/>
                </a:cubicBezTo>
                <a:cubicBezTo>
                  <a:pt x="3242" y="689"/>
                  <a:pt x="3234" y="701"/>
                  <a:pt x="3224" y="711"/>
                </a:cubicBezTo>
                <a:cubicBezTo>
                  <a:pt x="3214" y="721"/>
                  <a:pt x="3203" y="728"/>
                  <a:pt x="3190" y="734"/>
                </a:cubicBezTo>
                <a:cubicBezTo>
                  <a:pt x="3177" y="739"/>
                  <a:pt x="3163" y="742"/>
                  <a:pt x="3149" y="742"/>
                </a:cubicBezTo>
                <a:lnTo>
                  <a:pt x="105" y="742"/>
                </a:lnTo>
                <a:cubicBezTo>
                  <a:pt x="91" y="742"/>
                  <a:pt x="78" y="739"/>
                  <a:pt x="65" y="734"/>
                </a:cubicBezTo>
                <a:cubicBezTo>
                  <a:pt x="52" y="728"/>
                  <a:pt x="41" y="721"/>
                  <a:pt x="31" y="711"/>
                </a:cubicBezTo>
                <a:cubicBezTo>
                  <a:pt x="21" y="701"/>
                  <a:pt x="13" y="689"/>
                  <a:pt x="8" y="676"/>
                </a:cubicBezTo>
                <a:cubicBezTo>
                  <a:pt x="2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7" name="CuadroTexto 496"/>
          <p:cNvSpPr txBox="1"/>
          <p:nvPr/>
        </p:nvSpPr>
        <p:spPr>
          <a:xfrm>
            <a:off x="666720" y="4068720"/>
            <a:ext cx="40442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Cuatro ﬁltros que casi siempre necesitas: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8" name="CuadroTexto 497"/>
          <p:cNvSpPr txBox="1"/>
          <p:nvPr/>
        </p:nvSpPr>
        <p:spPr>
          <a:xfrm>
            <a:off x="1181160" y="4601160"/>
            <a:ext cx="10576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1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domain_id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9" name="Forma libre 498"/>
          <p:cNvSpPr/>
          <p:nvPr/>
        </p:nvSpPr>
        <p:spPr>
          <a:xfrm>
            <a:off x="914040" y="507672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6"/>
                </a:moveTo>
                <a:cubicBezTo>
                  <a:pt x="213" y="120"/>
                  <a:pt x="210" y="133"/>
                  <a:pt x="205" y="147"/>
                </a:cubicBezTo>
                <a:cubicBezTo>
                  <a:pt x="200" y="160"/>
                  <a:pt x="192" y="172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2" y="172"/>
                  <a:pt x="14" y="160"/>
                  <a:pt x="9" y="147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0" name="Forma libre 499"/>
          <p:cNvSpPr/>
          <p:nvPr/>
        </p:nvSpPr>
        <p:spPr>
          <a:xfrm>
            <a:off x="1123920" y="4981320"/>
            <a:ext cx="2686320" cy="267120"/>
          </a:xfrm>
          <a:custGeom>
            <a:avLst/>
            <a:gdLst/>
            <a:ahLst/>
            <a:cxnLst/>
            <a:rect l="0" t="0" r="r" b="b"/>
            <a:pathLst>
              <a:path w="7462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7356" y="0"/>
                </a:lnTo>
                <a:cubicBezTo>
                  <a:pt x="7370" y="0"/>
                  <a:pt x="7384" y="3"/>
                  <a:pt x="7396" y="8"/>
                </a:cubicBezTo>
                <a:cubicBezTo>
                  <a:pt x="7409" y="14"/>
                  <a:pt x="7421" y="21"/>
                  <a:pt x="7431" y="31"/>
                </a:cubicBezTo>
                <a:cubicBezTo>
                  <a:pt x="7441" y="41"/>
                  <a:pt x="7448" y="53"/>
                  <a:pt x="7454" y="66"/>
                </a:cubicBezTo>
                <a:cubicBezTo>
                  <a:pt x="7459" y="79"/>
                  <a:pt x="7462" y="92"/>
                  <a:pt x="7462" y="106"/>
                </a:cubicBezTo>
                <a:lnTo>
                  <a:pt x="7462" y="636"/>
                </a:lnTo>
                <a:cubicBezTo>
                  <a:pt x="7462" y="650"/>
                  <a:pt x="7459" y="664"/>
                  <a:pt x="7454" y="677"/>
                </a:cubicBezTo>
                <a:cubicBezTo>
                  <a:pt x="7448" y="690"/>
                  <a:pt x="7441" y="701"/>
                  <a:pt x="7431" y="711"/>
                </a:cubicBezTo>
                <a:cubicBezTo>
                  <a:pt x="7421" y="721"/>
                  <a:pt x="7409" y="729"/>
                  <a:pt x="7396" y="734"/>
                </a:cubicBezTo>
                <a:cubicBezTo>
                  <a:pt x="7384" y="739"/>
                  <a:pt x="7370" y="742"/>
                  <a:pt x="7356" y="742"/>
                </a:cubicBezTo>
                <a:lnTo>
                  <a:pt x="105" y="742"/>
                </a:lnTo>
                <a:cubicBezTo>
                  <a:pt x="91" y="742"/>
                  <a:pt x="78" y="739"/>
                  <a:pt x="65" y="734"/>
                </a:cubicBezTo>
                <a:cubicBezTo>
                  <a:pt x="52" y="729"/>
                  <a:pt x="41" y="721"/>
                  <a:pt x="31" y="711"/>
                </a:cubicBezTo>
                <a:cubicBezTo>
                  <a:pt x="21" y="701"/>
                  <a:pt x="13" y="690"/>
                  <a:pt x="8" y="677"/>
                </a:cubicBezTo>
                <a:cubicBezTo>
                  <a:pt x="2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1" name="CuadroTexto 500"/>
          <p:cNvSpPr txBox="1"/>
          <p:nvPr/>
        </p:nvSpPr>
        <p:spPr>
          <a:xfrm>
            <a:off x="2291040" y="4564080"/>
            <a:ext cx="33462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— que viva donde vas a buscarlo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2" name="CuadroTexto 501"/>
          <p:cNvSpPr txBox="1"/>
          <p:nvPr/>
        </p:nvSpPr>
        <p:spPr>
          <a:xfrm>
            <a:off x="1181160" y="5001120"/>
            <a:ext cx="25844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1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standard_concept = 'S'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3" name="Forma libre 502"/>
          <p:cNvSpPr/>
          <p:nvPr/>
        </p:nvSpPr>
        <p:spPr>
          <a:xfrm>
            <a:off x="914040" y="547668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2"/>
                  <a:pt x="14" y="160"/>
                  <a:pt x="9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4" name="Forma libre 503"/>
          <p:cNvSpPr/>
          <p:nvPr/>
        </p:nvSpPr>
        <p:spPr>
          <a:xfrm>
            <a:off x="1123920" y="5381280"/>
            <a:ext cx="1638360" cy="267120"/>
          </a:xfrm>
          <a:custGeom>
            <a:avLst/>
            <a:gdLst/>
            <a:ahLst/>
            <a:cxnLst/>
            <a:rect l="0" t="0" r="r" b="b"/>
            <a:pathLst>
              <a:path w="4551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2"/>
                  <a:pt x="52" y="14"/>
                  <a:pt x="65" y="9"/>
                </a:cubicBezTo>
                <a:cubicBezTo>
                  <a:pt x="78" y="3"/>
                  <a:pt x="91" y="0"/>
                  <a:pt x="105" y="0"/>
                </a:cubicBezTo>
                <a:lnTo>
                  <a:pt x="4446" y="0"/>
                </a:lnTo>
                <a:cubicBezTo>
                  <a:pt x="4460" y="0"/>
                  <a:pt x="4473" y="3"/>
                  <a:pt x="4486" y="9"/>
                </a:cubicBezTo>
                <a:cubicBezTo>
                  <a:pt x="4499" y="14"/>
                  <a:pt x="4510" y="22"/>
                  <a:pt x="4520" y="31"/>
                </a:cubicBezTo>
                <a:cubicBezTo>
                  <a:pt x="4530" y="41"/>
                  <a:pt x="4538" y="53"/>
                  <a:pt x="4543" y="66"/>
                </a:cubicBezTo>
                <a:cubicBezTo>
                  <a:pt x="4549" y="79"/>
                  <a:pt x="4551" y="92"/>
                  <a:pt x="4551" y="106"/>
                </a:cubicBezTo>
                <a:lnTo>
                  <a:pt x="4551" y="636"/>
                </a:lnTo>
                <a:cubicBezTo>
                  <a:pt x="4551" y="650"/>
                  <a:pt x="4549" y="664"/>
                  <a:pt x="4543" y="677"/>
                </a:cubicBezTo>
                <a:cubicBezTo>
                  <a:pt x="4538" y="690"/>
                  <a:pt x="4530" y="701"/>
                  <a:pt x="4520" y="711"/>
                </a:cubicBezTo>
                <a:cubicBezTo>
                  <a:pt x="4510" y="721"/>
                  <a:pt x="4499" y="729"/>
                  <a:pt x="4486" y="734"/>
                </a:cubicBezTo>
                <a:cubicBezTo>
                  <a:pt x="4473" y="740"/>
                  <a:pt x="4460" y="742"/>
                  <a:pt x="4446" y="742"/>
                </a:cubicBezTo>
                <a:lnTo>
                  <a:pt x="105" y="742"/>
                </a:lnTo>
                <a:cubicBezTo>
                  <a:pt x="91" y="742"/>
                  <a:pt x="78" y="740"/>
                  <a:pt x="65" y="734"/>
                </a:cubicBezTo>
                <a:cubicBezTo>
                  <a:pt x="52" y="729"/>
                  <a:pt x="41" y="721"/>
                  <a:pt x="31" y="711"/>
                </a:cubicBezTo>
                <a:cubicBezTo>
                  <a:pt x="21" y="701"/>
                  <a:pt x="13" y="690"/>
                  <a:pt x="8" y="677"/>
                </a:cubicBezTo>
                <a:cubicBezTo>
                  <a:pt x="2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5" name="CuadroTexto 504"/>
          <p:cNvSpPr txBox="1"/>
          <p:nvPr/>
        </p:nvSpPr>
        <p:spPr>
          <a:xfrm>
            <a:off x="3812040" y="4964040"/>
            <a:ext cx="16016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— para analizar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6" name="CuadroTexto 505"/>
          <p:cNvSpPr txBox="1"/>
          <p:nvPr/>
        </p:nvSpPr>
        <p:spPr>
          <a:xfrm>
            <a:off x="1181160" y="5401440"/>
            <a:ext cx="15274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1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vocabulary_id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7" name="Forma libre 506"/>
          <p:cNvSpPr/>
          <p:nvPr/>
        </p:nvSpPr>
        <p:spPr>
          <a:xfrm>
            <a:off x="914040" y="587664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2" y="172"/>
                  <a:pt x="14" y="161"/>
                  <a:pt x="9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9" y="67"/>
                </a:cubicBezTo>
                <a:cubicBezTo>
                  <a:pt x="14" y="54"/>
                  <a:pt x="22" y="42"/>
                  <a:pt x="31" y="32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2"/>
                </a:cubicBezTo>
                <a:cubicBezTo>
                  <a:pt x="192" y="42"/>
                  <a:pt x="200" y="54"/>
                  <a:pt x="205" y="67"/>
                </a:cubicBezTo>
                <a:cubicBezTo>
                  <a:pt x="210" y="80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8" name="Forma libre 507"/>
          <p:cNvSpPr/>
          <p:nvPr/>
        </p:nvSpPr>
        <p:spPr>
          <a:xfrm>
            <a:off x="1123920" y="5781600"/>
            <a:ext cx="2686320" cy="267120"/>
          </a:xfrm>
          <a:custGeom>
            <a:avLst/>
            <a:gdLst/>
            <a:ahLst/>
            <a:cxnLst/>
            <a:rect l="0" t="0" r="r" b="b"/>
            <a:pathLst>
              <a:path w="7462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1" y="0"/>
                  <a:pt x="105" y="0"/>
                </a:cubicBezTo>
                <a:lnTo>
                  <a:pt x="7356" y="0"/>
                </a:lnTo>
                <a:cubicBezTo>
                  <a:pt x="7370" y="0"/>
                  <a:pt x="7384" y="2"/>
                  <a:pt x="7396" y="8"/>
                </a:cubicBezTo>
                <a:cubicBezTo>
                  <a:pt x="7409" y="13"/>
                  <a:pt x="7421" y="21"/>
                  <a:pt x="7431" y="31"/>
                </a:cubicBezTo>
                <a:cubicBezTo>
                  <a:pt x="7441" y="41"/>
                  <a:pt x="7448" y="52"/>
                  <a:pt x="7454" y="65"/>
                </a:cubicBezTo>
                <a:cubicBezTo>
                  <a:pt x="7459" y="78"/>
                  <a:pt x="7462" y="92"/>
                  <a:pt x="7462" y="106"/>
                </a:cubicBezTo>
                <a:lnTo>
                  <a:pt x="7462" y="636"/>
                </a:lnTo>
                <a:cubicBezTo>
                  <a:pt x="7462" y="650"/>
                  <a:pt x="7459" y="663"/>
                  <a:pt x="7454" y="676"/>
                </a:cubicBezTo>
                <a:cubicBezTo>
                  <a:pt x="7448" y="689"/>
                  <a:pt x="7441" y="701"/>
                  <a:pt x="7431" y="711"/>
                </a:cubicBezTo>
                <a:cubicBezTo>
                  <a:pt x="7421" y="720"/>
                  <a:pt x="7409" y="728"/>
                  <a:pt x="7396" y="733"/>
                </a:cubicBezTo>
                <a:cubicBezTo>
                  <a:pt x="7384" y="739"/>
                  <a:pt x="7370" y="742"/>
                  <a:pt x="7356" y="742"/>
                </a:cubicBezTo>
                <a:lnTo>
                  <a:pt x="105" y="742"/>
                </a:lnTo>
                <a:cubicBezTo>
                  <a:pt x="91" y="742"/>
                  <a:pt x="78" y="739"/>
                  <a:pt x="65" y="733"/>
                </a:cubicBezTo>
                <a:cubicBezTo>
                  <a:pt x="52" y="728"/>
                  <a:pt x="41" y="720"/>
                  <a:pt x="31" y="711"/>
                </a:cubicBezTo>
                <a:cubicBezTo>
                  <a:pt x="21" y="701"/>
                  <a:pt x="13" y="689"/>
                  <a:pt x="8" y="676"/>
                </a:cubicBezTo>
                <a:cubicBezTo>
                  <a:pt x="2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9" name="CuadroTexto 508"/>
          <p:cNvSpPr txBox="1"/>
          <p:nvPr/>
        </p:nvSpPr>
        <p:spPr>
          <a:xfrm>
            <a:off x="2759040" y="5364000"/>
            <a:ext cx="26600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— si quieres uno concreto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0" name="CuadroTexto 509"/>
          <p:cNvSpPr txBox="1"/>
          <p:nvPr/>
        </p:nvSpPr>
        <p:spPr>
          <a:xfrm>
            <a:off x="1181160" y="5801400"/>
            <a:ext cx="25844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1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invalid_reason IS NULL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1" name="CuadroTexto 510"/>
          <p:cNvSpPr txBox="1"/>
          <p:nvPr/>
        </p:nvSpPr>
        <p:spPr>
          <a:xfrm>
            <a:off x="3812040" y="5763960"/>
            <a:ext cx="42094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— los conceptos se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retiran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con el tiempo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2" name="CuadroTexto 511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14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3" name="CuadroTexto 512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4" name="CuadroTexto 513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14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Forma libre 51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6" name="Forma libre 51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7" name="Forma libre 51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8" name="CuadroTexto 517"/>
          <p:cNvSpPr txBox="1"/>
          <p:nvPr/>
        </p:nvSpPr>
        <p:spPr>
          <a:xfrm>
            <a:off x="3252600" y="3063960"/>
            <a:ext cx="585144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6. ATHENA en la práctica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9" name="CuadroTexto 518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14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0" name="CuadroTexto 519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1" name="CuadroTexto 520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15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Forma libre 52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3" name="Forma libre 52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4" name="Forma libre 52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s-ES" sz="2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s</a:t>
            </a:r>
          </a:p>
        </p:txBody>
      </p:sp>
      <p:sp>
        <p:nvSpPr>
          <p:cNvPr id="525" name="Forma libre 524"/>
          <p:cNvSpPr/>
          <p:nvPr/>
        </p:nvSpPr>
        <p:spPr>
          <a:xfrm>
            <a:off x="690480" y="4143240"/>
            <a:ext cx="10834920" cy="898560"/>
          </a:xfrm>
          <a:custGeom>
            <a:avLst/>
            <a:gdLst/>
            <a:ahLst/>
            <a:cxnLst/>
            <a:rect l="0" t="0" r="r" b="b"/>
            <a:pathLst>
              <a:path w="30097" h="3917">
                <a:moveTo>
                  <a:pt x="0" y="3917"/>
                </a:moveTo>
                <a:lnTo>
                  <a:pt x="0" y="0"/>
                </a:lnTo>
                <a:lnTo>
                  <a:pt x="29938" y="0"/>
                </a:lnTo>
                <a:cubicBezTo>
                  <a:pt x="29949" y="0"/>
                  <a:pt x="29959" y="1"/>
                  <a:pt x="29969" y="3"/>
                </a:cubicBezTo>
                <a:cubicBezTo>
                  <a:pt x="29980" y="5"/>
                  <a:pt x="29989" y="8"/>
                  <a:pt x="29999" y="12"/>
                </a:cubicBezTo>
                <a:cubicBezTo>
                  <a:pt x="30009" y="16"/>
                  <a:pt x="30018" y="21"/>
                  <a:pt x="30027" y="27"/>
                </a:cubicBezTo>
                <a:cubicBezTo>
                  <a:pt x="30035" y="32"/>
                  <a:pt x="30043" y="39"/>
                  <a:pt x="30051" y="46"/>
                </a:cubicBezTo>
                <a:cubicBezTo>
                  <a:pt x="30058" y="54"/>
                  <a:pt x="30065" y="62"/>
                  <a:pt x="30070" y="70"/>
                </a:cubicBezTo>
                <a:cubicBezTo>
                  <a:pt x="30076" y="79"/>
                  <a:pt x="30081" y="88"/>
                  <a:pt x="30085" y="98"/>
                </a:cubicBezTo>
                <a:cubicBezTo>
                  <a:pt x="30089" y="108"/>
                  <a:pt x="30092" y="117"/>
                  <a:pt x="30094" y="128"/>
                </a:cubicBezTo>
                <a:cubicBezTo>
                  <a:pt x="30096" y="138"/>
                  <a:pt x="30097" y="148"/>
                  <a:pt x="30097" y="159"/>
                </a:cubicBezTo>
                <a:lnTo>
                  <a:pt x="30097" y="3758"/>
                </a:lnTo>
                <a:cubicBezTo>
                  <a:pt x="30097" y="3768"/>
                  <a:pt x="30096" y="3779"/>
                  <a:pt x="30094" y="3789"/>
                </a:cubicBezTo>
                <a:cubicBezTo>
                  <a:pt x="30092" y="3799"/>
                  <a:pt x="30089" y="3809"/>
                  <a:pt x="30085" y="3819"/>
                </a:cubicBezTo>
                <a:cubicBezTo>
                  <a:pt x="30081" y="3828"/>
                  <a:pt x="30076" y="3837"/>
                  <a:pt x="30070" y="3846"/>
                </a:cubicBezTo>
                <a:cubicBezTo>
                  <a:pt x="30065" y="3855"/>
                  <a:pt x="30058" y="3863"/>
                  <a:pt x="30051" y="3870"/>
                </a:cubicBezTo>
                <a:cubicBezTo>
                  <a:pt x="30043" y="3878"/>
                  <a:pt x="30035" y="3884"/>
                  <a:pt x="30027" y="3890"/>
                </a:cubicBezTo>
                <a:cubicBezTo>
                  <a:pt x="30018" y="3896"/>
                  <a:pt x="30009" y="3901"/>
                  <a:pt x="29999" y="3905"/>
                </a:cubicBezTo>
                <a:cubicBezTo>
                  <a:pt x="29989" y="3909"/>
                  <a:pt x="29980" y="3912"/>
                  <a:pt x="29969" y="3914"/>
                </a:cubicBezTo>
                <a:cubicBezTo>
                  <a:pt x="29959" y="3916"/>
                  <a:pt x="29949" y="3917"/>
                  <a:pt x="29938" y="3917"/>
                </a:cubicBezTo>
                <a:lnTo>
                  <a:pt x="0" y="3917"/>
                </a:lnTo>
                <a:close/>
              </a:path>
            </a:pathLst>
          </a:custGeom>
          <a:solidFill>
            <a:srgbClr val="FFF6E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6" name="Forma libre 525"/>
          <p:cNvSpPr/>
          <p:nvPr/>
        </p:nvSpPr>
        <p:spPr>
          <a:xfrm>
            <a:off x="666720" y="4143240"/>
            <a:ext cx="45719" cy="898560"/>
          </a:xfrm>
          <a:custGeom>
            <a:avLst/>
            <a:gdLst/>
            <a:ahLst/>
            <a:cxnLst/>
            <a:rect l="0" t="0" r="r" b="b"/>
            <a:pathLst>
              <a:path w="133" h="3917">
                <a:moveTo>
                  <a:pt x="0" y="0"/>
                </a:moveTo>
                <a:lnTo>
                  <a:pt x="133" y="0"/>
                </a:lnTo>
                <a:lnTo>
                  <a:pt x="133" y="3917"/>
                </a:lnTo>
                <a:lnTo>
                  <a:pt x="0" y="3917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7" name="CuadroTexto 526"/>
          <p:cNvSpPr txBox="1"/>
          <p:nvPr/>
        </p:nvSpPr>
        <p:spPr>
          <a:xfrm>
            <a:off x="666720" y="1320480"/>
            <a:ext cx="522648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Tu herramienta diaria de vocabularios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8" name="Forma libre 527"/>
          <p:cNvSpPr/>
          <p:nvPr/>
        </p:nvSpPr>
        <p:spPr>
          <a:xfrm>
            <a:off x="914040" y="260028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2" y="171"/>
                  <a:pt x="14" y="160"/>
                  <a:pt x="9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9" y="66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9" name="CuadroTexto 528"/>
          <p:cNvSpPr txBox="1"/>
          <p:nvPr/>
        </p:nvSpPr>
        <p:spPr>
          <a:xfrm>
            <a:off x="666720" y="1992240"/>
            <a:ext cx="35575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1B7CA8"/>
                </a:solidFill>
                <a:effectLst/>
                <a:uFillTx/>
                <a:latin typeface="HelveticaNeue"/>
                <a:ea typeface="HelveticaNeue"/>
              </a:rPr>
              <a:t>athena.ohdsi.org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— registro gratuito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0" name="Forma libre 529"/>
          <p:cNvSpPr/>
          <p:nvPr/>
        </p:nvSpPr>
        <p:spPr>
          <a:xfrm>
            <a:off x="914040" y="3000240"/>
            <a:ext cx="76680" cy="77040"/>
          </a:xfrm>
          <a:custGeom>
            <a:avLst/>
            <a:gdLst/>
            <a:ahLst/>
            <a:cxnLst/>
            <a:rect l="0" t="0" r="r" b="b"/>
            <a:pathLst>
              <a:path w="213" h="214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4"/>
                  <a:pt x="107" y="214"/>
                </a:cubicBezTo>
                <a:cubicBezTo>
                  <a:pt x="92" y="214"/>
                  <a:pt x="79" y="210"/>
                  <a:pt x="66" y="204"/>
                </a:cubicBezTo>
                <a:cubicBezTo>
                  <a:pt x="53" y="199"/>
                  <a:pt x="41" y="191"/>
                  <a:pt x="31" y="182"/>
                </a:cubicBezTo>
                <a:cubicBezTo>
                  <a:pt x="22" y="172"/>
                  <a:pt x="14" y="160"/>
                  <a:pt x="9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9" y="66"/>
                </a:cubicBezTo>
                <a:cubicBezTo>
                  <a:pt x="14" y="53"/>
                  <a:pt x="22" y="42"/>
                  <a:pt x="31" y="32"/>
                </a:cubicBezTo>
                <a:cubicBezTo>
                  <a:pt x="41" y="22"/>
                  <a:pt x="53" y="14"/>
                  <a:pt x="66" y="9"/>
                </a:cubicBezTo>
                <a:cubicBezTo>
                  <a:pt x="79" y="4"/>
                  <a:pt x="92" y="0"/>
                  <a:pt x="107" y="0"/>
                </a:cubicBezTo>
                <a:cubicBezTo>
                  <a:pt x="121" y="0"/>
                  <a:pt x="135" y="4"/>
                  <a:pt x="148" y="9"/>
                </a:cubicBezTo>
                <a:cubicBezTo>
                  <a:pt x="161" y="14"/>
                  <a:pt x="172" y="22"/>
                  <a:pt x="182" y="32"/>
                </a:cubicBezTo>
                <a:cubicBezTo>
                  <a:pt x="192" y="42"/>
                  <a:pt x="200" y="53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1" name="CuadroTexto 530"/>
          <p:cNvSpPr txBox="1"/>
          <p:nvPr/>
        </p:nvSpPr>
        <p:spPr>
          <a:xfrm>
            <a:off x="1123920" y="2487600"/>
            <a:ext cx="65181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Buscar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por nombre o código, con ﬁltros de dominio y vocabulario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2" name="Forma libre 531"/>
          <p:cNvSpPr/>
          <p:nvPr/>
        </p:nvSpPr>
        <p:spPr>
          <a:xfrm>
            <a:off x="914040" y="340020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3"/>
                  <a:pt x="205" y="146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2"/>
                  <a:pt x="14" y="160"/>
                  <a:pt x="9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3" name="CuadroTexto 532"/>
          <p:cNvSpPr txBox="1"/>
          <p:nvPr/>
        </p:nvSpPr>
        <p:spPr>
          <a:xfrm>
            <a:off x="1123920" y="2887560"/>
            <a:ext cx="61437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Ver la jerarquía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: padres, hijos, y cuántos descendientes tiene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4" name="Forma libre 533"/>
          <p:cNvSpPr/>
          <p:nvPr/>
        </p:nvSpPr>
        <p:spPr>
          <a:xfrm>
            <a:off x="914040" y="380016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2" y="172"/>
                  <a:pt x="14" y="161"/>
                  <a:pt x="9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2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2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5" name="CuadroTexto 534"/>
          <p:cNvSpPr txBox="1"/>
          <p:nvPr/>
        </p:nvSpPr>
        <p:spPr>
          <a:xfrm>
            <a:off x="1123920" y="3287520"/>
            <a:ext cx="54075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Ver las relaciones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: a qué mapea, qué mapea hacia él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6" name="CuadroTexto 535"/>
          <p:cNvSpPr txBox="1"/>
          <p:nvPr/>
        </p:nvSpPr>
        <p:spPr>
          <a:xfrm>
            <a:off x="1123920" y="3687480"/>
            <a:ext cx="55310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Descargar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el paquete de vocabularios para tu instancia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7" name="CuadroTexto 536"/>
          <p:cNvSpPr txBox="1"/>
          <p:nvPr/>
        </p:nvSpPr>
        <p:spPr>
          <a:xfrm>
            <a:off x="885960" y="4297320"/>
            <a:ext cx="102661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Licencias: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SNOMED CT exige que tu país sea miembro de SNOMED International —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México lo es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, así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8" name="CuadroTexto 537"/>
          <p:cNvSpPr txBox="1"/>
          <p:nvPr/>
        </p:nvSpPr>
        <p:spPr>
          <a:xfrm>
            <a:off x="885960" y="4640040"/>
            <a:ext cx="2035814" cy="2769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que puedes usarlo. 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0" name="CuadroTexto 539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14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1" name="CuadroTexto 540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2" name="CuadroTexto 541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16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Forma libre 54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4" name="Forma libre 54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5" name="Forma libre 54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6" name="CuadroTexto 545"/>
          <p:cNvSpPr txBox="1"/>
          <p:nvPr/>
        </p:nvSpPr>
        <p:spPr>
          <a:xfrm>
            <a:off x="4303080" y="3063960"/>
            <a:ext cx="366624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7. Concept sets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7" name="CuadroTexto 546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14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8" name="CuadroTexto 547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9" name="CuadroTexto 548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17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Forma libre 54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1" name="Forma libre 55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2" name="Forma libre 55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3" name="Forma libre 552"/>
          <p:cNvSpPr/>
          <p:nvPr/>
        </p:nvSpPr>
        <p:spPr>
          <a:xfrm>
            <a:off x="671400" y="2052360"/>
            <a:ext cx="10849320" cy="1105200"/>
          </a:xfrm>
          <a:custGeom>
            <a:avLst/>
            <a:gdLst/>
            <a:ahLst/>
            <a:cxnLst/>
            <a:rect l="0" t="0" r="r" b="b"/>
            <a:pathLst>
              <a:path w="30137" h="3070">
                <a:moveTo>
                  <a:pt x="0" y="2872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8"/>
                  <a:pt x="49" y="68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7"/>
                  <a:pt x="160" y="4"/>
                </a:cubicBezTo>
                <a:cubicBezTo>
                  <a:pt x="172" y="2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2"/>
                  <a:pt x="29977" y="4"/>
                </a:cubicBezTo>
                <a:cubicBezTo>
                  <a:pt x="29990" y="7"/>
                  <a:pt x="30002" y="10"/>
                  <a:pt x="30014" y="15"/>
                </a:cubicBezTo>
                <a:cubicBezTo>
                  <a:pt x="30026" y="20"/>
                  <a:pt x="30038" y="26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8"/>
                  <a:pt x="30096" y="78"/>
                  <a:pt x="30103" y="88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2872"/>
                </a:lnTo>
                <a:cubicBezTo>
                  <a:pt x="30137" y="2885"/>
                  <a:pt x="30136" y="2898"/>
                  <a:pt x="30133" y="2911"/>
                </a:cubicBezTo>
                <a:cubicBezTo>
                  <a:pt x="30130" y="2923"/>
                  <a:pt x="30127" y="2936"/>
                  <a:pt x="30122" y="2948"/>
                </a:cubicBezTo>
                <a:cubicBezTo>
                  <a:pt x="30117" y="2960"/>
                  <a:pt x="30111" y="2971"/>
                  <a:pt x="30103" y="2982"/>
                </a:cubicBezTo>
                <a:cubicBezTo>
                  <a:pt x="30096" y="2993"/>
                  <a:pt x="30088" y="3003"/>
                  <a:pt x="30079" y="3012"/>
                </a:cubicBezTo>
                <a:cubicBezTo>
                  <a:pt x="30070" y="3022"/>
                  <a:pt x="30059" y="3030"/>
                  <a:pt x="30049" y="3037"/>
                </a:cubicBezTo>
                <a:cubicBezTo>
                  <a:pt x="30038" y="3044"/>
                  <a:pt x="30026" y="3050"/>
                  <a:pt x="30014" y="3055"/>
                </a:cubicBezTo>
                <a:cubicBezTo>
                  <a:pt x="30002" y="3060"/>
                  <a:pt x="29990" y="3064"/>
                  <a:pt x="29977" y="3067"/>
                </a:cubicBezTo>
                <a:cubicBezTo>
                  <a:pt x="29964" y="3069"/>
                  <a:pt x="29951" y="3070"/>
                  <a:pt x="29938" y="3070"/>
                </a:cubicBezTo>
                <a:lnTo>
                  <a:pt x="198" y="3070"/>
                </a:lnTo>
                <a:cubicBezTo>
                  <a:pt x="185" y="3070"/>
                  <a:pt x="172" y="3069"/>
                  <a:pt x="160" y="3067"/>
                </a:cubicBezTo>
                <a:cubicBezTo>
                  <a:pt x="147" y="3064"/>
                  <a:pt x="134" y="3060"/>
                  <a:pt x="122" y="3055"/>
                </a:cubicBezTo>
                <a:cubicBezTo>
                  <a:pt x="110" y="3050"/>
                  <a:pt x="99" y="3044"/>
                  <a:pt x="88" y="3037"/>
                </a:cubicBezTo>
                <a:cubicBezTo>
                  <a:pt x="77" y="3030"/>
                  <a:pt x="67" y="3022"/>
                  <a:pt x="58" y="3012"/>
                </a:cubicBezTo>
                <a:cubicBezTo>
                  <a:pt x="49" y="3003"/>
                  <a:pt x="40" y="2993"/>
                  <a:pt x="33" y="2982"/>
                </a:cubicBezTo>
                <a:cubicBezTo>
                  <a:pt x="26" y="2971"/>
                  <a:pt x="20" y="2960"/>
                  <a:pt x="15" y="2948"/>
                </a:cubicBezTo>
                <a:cubicBezTo>
                  <a:pt x="10" y="2936"/>
                  <a:pt x="6" y="2923"/>
                  <a:pt x="4" y="2911"/>
                </a:cubicBezTo>
                <a:cubicBezTo>
                  <a:pt x="1" y="2898"/>
                  <a:pt x="0" y="2885"/>
                  <a:pt x="0" y="2872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4" name="Forma libre 553"/>
          <p:cNvSpPr/>
          <p:nvPr/>
        </p:nvSpPr>
        <p:spPr>
          <a:xfrm>
            <a:off x="671400" y="2052360"/>
            <a:ext cx="10849320" cy="1105200"/>
          </a:xfrm>
          <a:custGeom>
            <a:avLst/>
            <a:gdLst/>
            <a:ahLst/>
            <a:cxnLst/>
            <a:rect l="0" t="0" r="r" b="b"/>
            <a:pathLst>
              <a:path w="30137" h="3070">
                <a:moveTo>
                  <a:pt x="0" y="2872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8"/>
                  <a:pt x="49" y="68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7"/>
                  <a:pt x="160" y="4"/>
                </a:cubicBezTo>
                <a:cubicBezTo>
                  <a:pt x="172" y="2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2"/>
                  <a:pt x="29977" y="4"/>
                </a:cubicBezTo>
                <a:cubicBezTo>
                  <a:pt x="29990" y="7"/>
                  <a:pt x="30002" y="10"/>
                  <a:pt x="30014" y="15"/>
                </a:cubicBezTo>
                <a:cubicBezTo>
                  <a:pt x="30026" y="20"/>
                  <a:pt x="30038" y="26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8"/>
                  <a:pt x="30096" y="78"/>
                  <a:pt x="30103" y="88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2872"/>
                </a:lnTo>
                <a:cubicBezTo>
                  <a:pt x="30137" y="2885"/>
                  <a:pt x="30136" y="2898"/>
                  <a:pt x="30133" y="2911"/>
                </a:cubicBezTo>
                <a:cubicBezTo>
                  <a:pt x="30130" y="2923"/>
                  <a:pt x="30127" y="2936"/>
                  <a:pt x="30122" y="2948"/>
                </a:cubicBezTo>
                <a:cubicBezTo>
                  <a:pt x="30117" y="2960"/>
                  <a:pt x="30111" y="2971"/>
                  <a:pt x="30103" y="2982"/>
                </a:cubicBezTo>
                <a:cubicBezTo>
                  <a:pt x="30096" y="2993"/>
                  <a:pt x="30088" y="3003"/>
                  <a:pt x="30079" y="3012"/>
                </a:cubicBezTo>
                <a:cubicBezTo>
                  <a:pt x="30070" y="3022"/>
                  <a:pt x="30059" y="3030"/>
                  <a:pt x="30049" y="3037"/>
                </a:cubicBezTo>
                <a:cubicBezTo>
                  <a:pt x="30038" y="3044"/>
                  <a:pt x="30026" y="3050"/>
                  <a:pt x="30014" y="3055"/>
                </a:cubicBezTo>
                <a:cubicBezTo>
                  <a:pt x="30002" y="3060"/>
                  <a:pt x="29990" y="3064"/>
                  <a:pt x="29977" y="3067"/>
                </a:cubicBezTo>
                <a:cubicBezTo>
                  <a:pt x="29964" y="3069"/>
                  <a:pt x="29951" y="3070"/>
                  <a:pt x="29938" y="3070"/>
                </a:cubicBezTo>
                <a:lnTo>
                  <a:pt x="198" y="3070"/>
                </a:lnTo>
                <a:cubicBezTo>
                  <a:pt x="185" y="3070"/>
                  <a:pt x="172" y="3069"/>
                  <a:pt x="160" y="3067"/>
                </a:cubicBezTo>
                <a:cubicBezTo>
                  <a:pt x="147" y="3064"/>
                  <a:pt x="134" y="3060"/>
                  <a:pt x="122" y="3055"/>
                </a:cubicBezTo>
                <a:cubicBezTo>
                  <a:pt x="110" y="3050"/>
                  <a:pt x="99" y="3044"/>
                  <a:pt x="88" y="3037"/>
                </a:cubicBezTo>
                <a:cubicBezTo>
                  <a:pt x="77" y="3030"/>
                  <a:pt x="67" y="3022"/>
                  <a:pt x="58" y="3012"/>
                </a:cubicBezTo>
                <a:cubicBezTo>
                  <a:pt x="49" y="3003"/>
                  <a:pt x="40" y="2993"/>
                  <a:pt x="33" y="2982"/>
                </a:cubicBezTo>
                <a:cubicBezTo>
                  <a:pt x="26" y="2971"/>
                  <a:pt x="20" y="2960"/>
                  <a:pt x="15" y="2948"/>
                </a:cubicBezTo>
                <a:cubicBezTo>
                  <a:pt x="10" y="2936"/>
                  <a:pt x="6" y="2923"/>
                  <a:pt x="4" y="2911"/>
                </a:cubicBezTo>
                <a:cubicBezTo>
                  <a:pt x="1" y="2898"/>
                  <a:pt x="0" y="2885"/>
                  <a:pt x="0" y="2872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5" name="Forma libre 554"/>
          <p:cNvSpPr/>
          <p:nvPr/>
        </p:nvSpPr>
        <p:spPr>
          <a:xfrm>
            <a:off x="676080" y="3819240"/>
            <a:ext cx="3420000" cy="410040"/>
          </a:xfrm>
          <a:custGeom>
            <a:avLst/>
            <a:gdLst/>
            <a:ahLst/>
            <a:cxnLst/>
            <a:rect l="0" t="0" r="r" b="b"/>
            <a:pathLst>
              <a:path w="9500" h="1139">
                <a:moveTo>
                  <a:pt x="0" y="0"/>
                </a:moveTo>
                <a:lnTo>
                  <a:pt x="9500" y="0"/>
                </a:lnTo>
                <a:lnTo>
                  <a:pt x="9500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6" name="Forma libre 555"/>
          <p:cNvSpPr/>
          <p:nvPr/>
        </p:nvSpPr>
        <p:spPr>
          <a:xfrm>
            <a:off x="4095720" y="3819240"/>
            <a:ext cx="990720" cy="410040"/>
          </a:xfrm>
          <a:custGeom>
            <a:avLst/>
            <a:gdLst/>
            <a:ahLst/>
            <a:cxnLst/>
            <a:rect l="0" t="0" r="r" b="b"/>
            <a:pathLst>
              <a:path w="2752" h="1139">
                <a:moveTo>
                  <a:pt x="0" y="0"/>
                </a:moveTo>
                <a:lnTo>
                  <a:pt x="2752" y="0"/>
                </a:lnTo>
                <a:lnTo>
                  <a:pt x="2752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7" name="Forma libre 556"/>
          <p:cNvSpPr/>
          <p:nvPr/>
        </p:nvSpPr>
        <p:spPr>
          <a:xfrm>
            <a:off x="5086080" y="3819240"/>
            <a:ext cx="2896200" cy="410040"/>
          </a:xfrm>
          <a:custGeom>
            <a:avLst/>
            <a:gdLst/>
            <a:ahLst/>
            <a:cxnLst/>
            <a:rect l="0" t="0" r="r" b="b"/>
            <a:pathLst>
              <a:path w="8045" h="1139">
                <a:moveTo>
                  <a:pt x="0" y="0"/>
                </a:moveTo>
                <a:lnTo>
                  <a:pt x="8045" y="0"/>
                </a:lnTo>
                <a:lnTo>
                  <a:pt x="8045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8" name="Forma libre 557"/>
          <p:cNvSpPr/>
          <p:nvPr/>
        </p:nvSpPr>
        <p:spPr>
          <a:xfrm>
            <a:off x="676080" y="3819240"/>
            <a:ext cx="3420000" cy="410040"/>
          </a:xfrm>
          <a:custGeom>
            <a:avLst/>
            <a:gdLst/>
            <a:ahLst/>
            <a:cxnLst/>
            <a:rect l="0" t="0" r="r" b="b"/>
            <a:pathLst>
              <a:path w="9500" h="1139">
                <a:moveTo>
                  <a:pt x="0" y="0"/>
                </a:moveTo>
                <a:lnTo>
                  <a:pt x="9500" y="0"/>
                </a:lnTo>
                <a:lnTo>
                  <a:pt x="9500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9" name="Forma libre 558"/>
          <p:cNvSpPr/>
          <p:nvPr/>
        </p:nvSpPr>
        <p:spPr>
          <a:xfrm>
            <a:off x="4095720" y="3819240"/>
            <a:ext cx="990720" cy="410040"/>
          </a:xfrm>
          <a:custGeom>
            <a:avLst/>
            <a:gdLst/>
            <a:ahLst/>
            <a:cxnLst/>
            <a:rect l="0" t="0" r="r" b="b"/>
            <a:pathLst>
              <a:path w="2752" h="1139">
                <a:moveTo>
                  <a:pt x="0" y="0"/>
                </a:moveTo>
                <a:lnTo>
                  <a:pt x="2752" y="0"/>
                </a:lnTo>
                <a:lnTo>
                  <a:pt x="2752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0" name="Forma libre 559"/>
          <p:cNvSpPr/>
          <p:nvPr/>
        </p:nvSpPr>
        <p:spPr>
          <a:xfrm>
            <a:off x="5086080" y="3819240"/>
            <a:ext cx="2896200" cy="410040"/>
          </a:xfrm>
          <a:custGeom>
            <a:avLst/>
            <a:gdLst/>
            <a:ahLst/>
            <a:cxnLst/>
            <a:rect l="0" t="0" r="r" b="b"/>
            <a:pathLst>
              <a:path w="8045" h="1139">
                <a:moveTo>
                  <a:pt x="0" y="0"/>
                </a:moveTo>
                <a:lnTo>
                  <a:pt x="8045" y="0"/>
                </a:lnTo>
                <a:lnTo>
                  <a:pt x="8045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1" name="Forma libre 560"/>
          <p:cNvSpPr/>
          <p:nvPr/>
        </p:nvSpPr>
        <p:spPr>
          <a:xfrm>
            <a:off x="676080" y="4228920"/>
            <a:ext cx="3420000" cy="410040"/>
          </a:xfrm>
          <a:custGeom>
            <a:avLst/>
            <a:gdLst/>
            <a:ahLst/>
            <a:cxnLst/>
            <a:rect l="0" t="0" r="r" b="b"/>
            <a:pathLst>
              <a:path w="9500" h="1139">
                <a:moveTo>
                  <a:pt x="0" y="0"/>
                </a:moveTo>
                <a:lnTo>
                  <a:pt x="9500" y="0"/>
                </a:lnTo>
                <a:lnTo>
                  <a:pt x="9500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2" name="Forma libre 561"/>
          <p:cNvSpPr/>
          <p:nvPr/>
        </p:nvSpPr>
        <p:spPr>
          <a:xfrm>
            <a:off x="4095720" y="4228920"/>
            <a:ext cx="990720" cy="410040"/>
          </a:xfrm>
          <a:custGeom>
            <a:avLst/>
            <a:gdLst/>
            <a:ahLst/>
            <a:cxnLst/>
            <a:rect l="0" t="0" r="r" b="b"/>
            <a:pathLst>
              <a:path w="2752" h="1139">
                <a:moveTo>
                  <a:pt x="0" y="0"/>
                </a:moveTo>
                <a:lnTo>
                  <a:pt x="2752" y="0"/>
                </a:lnTo>
                <a:lnTo>
                  <a:pt x="2752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3" name="Forma libre 562"/>
          <p:cNvSpPr/>
          <p:nvPr/>
        </p:nvSpPr>
        <p:spPr>
          <a:xfrm>
            <a:off x="5086080" y="4228920"/>
            <a:ext cx="2896200" cy="410040"/>
          </a:xfrm>
          <a:custGeom>
            <a:avLst/>
            <a:gdLst/>
            <a:ahLst/>
            <a:cxnLst/>
            <a:rect l="0" t="0" r="r" b="b"/>
            <a:pathLst>
              <a:path w="8045" h="1139">
                <a:moveTo>
                  <a:pt x="0" y="0"/>
                </a:moveTo>
                <a:lnTo>
                  <a:pt x="8045" y="0"/>
                </a:lnTo>
                <a:lnTo>
                  <a:pt x="8045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4" name="Forma libre 563"/>
          <p:cNvSpPr/>
          <p:nvPr/>
        </p:nvSpPr>
        <p:spPr>
          <a:xfrm>
            <a:off x="676080" y="4638600"/>
            <a:ext cx="3420000" cy="409680"/>
          </a:xfrm>
          <a:custGeom>
            <a:avLst/>
            <a:gdLst/>
            <a:ahLst/>
            <a:cxnLst/>
            <a:rect l="0" t="0" r="r" b="b"/>
            <a:pathLst>
              <a:path w="9500" h="1138">
                <a:moveTo>
                  <a:pt x="0" y="0"/>
                </a:moveTo>
                <a:lnTo>
                  <a:pt x="9500" y="0"/>
                </a:lnTo>
                <a:lnTo>
                  <a:pt x="9500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5" name="Forma libre 564"/>
          <p:cNvSpPr/>
          <p:nvPr/>
        </p:nvSpPr>
        <p:spPr>
          <a:xfrm>
            <a:off x="4095720" y="4638600"/>
            <a:ext cx="990720" cy="409680"/>
          </a:xfrm>
          <a:custGeom>
            <a:avLst/>
            <a:gdLst/>
            <a:ahLst/>
            <a:cxnLst/>
            <a:rect l="0" t="0" r="r" b="b"/>
            <a:pathLst>
              <a:path w="2752" h="1138">
                <a:moveTo>
                  <a:pt x="0" y="0"/>
                </a:moveTo>
                <a:lnTo>
                  <a:pt x="2752" y="0"/>
                </a:lnTo>
                <a:lnTo>
                  <a:pt x="2752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6" name="Forma libre 565"/>
          <p:cNvSpPr/>
          <p:nvPr/>
        </p:nvSpPr>
        <p:spPr>
          <a:xfrm>
            <a:off x="5086080" y="4638600"/>
            <a:ext cx="2896200" cy="409680"/>
          </a:xfrm>
          <a:custGeom>
            <a:avLst/>
            <a:gdLst/>
            <a:ahLst/>
            <a:cxnLst/>
            <a:rect l="0" t="0" r="r" b="b"/>
            <a:pathLst>
              <a:path w="8045" h="1138">
                <a:moveTo>
                  <a:pt x="0" y="0"/>
                </a:moveTo>
                <a:lnTo>
                  <a:pt x="8045" y="0"/>
                </a:lnTo>
                <a:lnTo>
                  <a:pt x="8045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7" name="Forma libre 566"/>
          <p:cNvSpPr/>
          <p:nvPr/>
        </p:nvSpPr>
        <p:spPr>
          <a:xfrm>
            <a:off x="676080" y="5047920"/>
            <a:ext cx="3420000" cy="410040"/>
          </a:xfrm>
          <a:custGeom>
            <a:avLst/>
            <a:gdLst/>
            <a:ahLst/>
            <a:cxnLst/>
            <a:rect l="0" t="0" r="r" b="b"/>
            <a:pathLst>
              <a:path w="9500" h="1139">
                <a:moveTo>
                  <a:pt x="0" y="0"/>
                </a:moveTo>
                <a:lnTo>
                  <a:pt x="9500" y="0"/>
                </a:lnTo>
                <a:lnTo>
                  <a:pt x="9500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8" name="Forma libre 567"/>
          <p:cNvSpPr/>
          <p:nvPr/>
        </p:nvSpPr>
        <p:spPr>
          <a:xfrm>
            <a:off x="4095720" y="5047920"/>
            <a:ext cx="990720" cy="410040"/>
          </a:xfrm>
          <a:custGeom>
            <a:avLst/>
            <a:gdLst/>
            <a:ahLst/>
            <a:cxnLst/>
            <a:rect l="0" t="0" r="r" b="b"/>
            <a:pathLst>
              <a:path w="2752" h="1139">
                <a:moveTo>
                  <a:pt x="0" y="0"/>
                </a:moveTo>
                <a:lnTo>
                  <a:pt x="2752" y="0"/>
                </a:lnTo>
                <a:lnTo>
                  <a:pt x="2752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9" name="Forma libre 568"/>
          <p:cNvSpPr/>
          <p:nvPr/>
        </p:nvSpPr>
        <p:spPr>
          <a:xfrm>
            <a:off x="5086080" y="5047920"/>
            <a:ext cx="2896200" cy="410040"/>
          </a:xfrm>
          <a:custGeom>
            <a:avLst/>
            <a:gdLst/>
            <a:ahLst/>
            <a:cxnLst/>
            <a:rect l="0" t="0" r="r" b="b"/>
            <a:pathLst>
              <a:path w="8045" h="1139">
                <a:moveTo>
                  <a:pt x="0" y="0"/>
                </a:moveTo>
                <a:lnTo>
                  <a:pt x="8045" y="0"/>
                </a:lnTo>
                <a:lnTo>
                  <a:pt x="8045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0" name="Forma libre 569"/>
          <p:cNvSpPr/>
          <p:nvPr/>
        </p:nvSpPr>
        <p:spPr>
          <a:xfrm>
            <a:off x="666720" y="380988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1" name="Forma libre 570"/>
          <p:cNvSpPr/>
          <p:nvPr/>
        </p:nvSpPr>
        <p:spPr>
          <a:xfrm>
            <a:off x="666720" y="3809880"/>
            <a:ext cx="3438720" cy="9720"/>
          </a:xfrm>
          <a:custGeom>
            <a:avLst/>
            <a:gdLst/>
            <a:ahLst/>
            <a:cxnLst/>
            <a:rect l="0" t="0" r="r" b="b"/>
            <a:pathLst>
              <a:path w="9552" h="27">
                <a:moveTo>
                  <a:pt x="0" y="0"/>
                </a:moveTo>
                <a:lnTo>
                  <a:pt x="9552" y="0"/>
                </a:lnTo>
                <a:lnTo>
                  <a:pt x="955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2" name="Forma libre 571"/>
          <p:cNvSpPr/>
          <p:nvPr/>
        </p:nvSpPr>
        <p:spPr>
          <a:xfrm>
            <a:off x="4095720" y="380988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3" name="Forma libre 572"/>
          <p:cNvSpPr/>
          <p:nvPr/>
        </p:nvSpPr>
        <p:spPr>
          <a:xfrm>
            <a:off x="4105080" y="3809880"/>
            <a:ext cx="981360" cy="9720"/>
          </a:xfrm>
          <a:custGeom>
            <a:avLst/>
            <a:gdLst/>
            <a:ahLst/>
            <a:cxnLst/>
            <a:rect l="0" t="0" r="r" b="b"/>
            <a:pathLst>
              <a:path w="2726" h="27">
                <a:moveTo>
                  <a:pt x="0" y="0"/>
                </a:moveTo>
                <a:lnTo>
                  <a:pt x="2726" y="0"/>
                </a:lnTo>
                <a:lnTo>
                  <a:pt x="272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4" name="Forma libre 573"/>
          <p:cNvSpPr/>
          <p:nvPr/>
        </p:nvSpPr>
        <p:spPr>
          <a:xfrm>
            <a:off x="5076720" y="380988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5" name="Forma libre 574"/>
          <p:cNvSpPr/>
          <p:nvPr/>
        </p:nvSpPr>
        <p:spPr>
          <a:xfrm>
            <a:off x="5086080" y="3809880"/>
            <a:ext cx="2905560" cy="9720"/>
          </a:xfrm>
          <a:custGeom>
            <a:avLst/>
            <a:gdLst/>
            <a:ahLst/>
            <a:cxnLst/>
            <a:rect l="0" t="0" r="r" b="b"/>
            <a:pathLst>
              <a:path w="8071" h="27">
                <a:moveTo>
                  <a:pt x="0" y="0"/>
                </a:moveTo>
                <a:lnTo>
                  <a:pt x="8071" y="0"/>
                </a:lnTo>
                <a:lnTo>
                  <a:pt x="807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6" name="Forma libre 575"/>
          <p:cNvSpPr/>
          <p:nvPr/>
        </p:nvSpPr>
        <p:spPr>
          <a:xfrm>
            <a:off x="7981920" y="380988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7" name="Forma libre 576"/>
          <p:cNvSpPr/>
          <p:nvPr/>
        </p:nvSpPr>
        <p:spPr>
          <a:xfrm>
            <a:off x="666720" y="4219560"/>
            <a:ext cx="3438720" cy="9720"/>
          </a:xfrm>
          <a:custGeom>
            <a:avLst/>
            <a:gdLst/>
            <a:ahLst/>
            <a:cxnLst/>
            <a:rect l="0" t="0" r="r" b="b"/>
            <a:pathLst>
              <a:path w="9552" h="27">
                <a:moveTo>
                  <a:pt x="0" y="0"/>
                </a:moveTo>
                <a:lnTo>
                  <a:pt x="9552" y="0"/>
                </a:lnTo>
                <a:lnTo>
                  <a:pt x="955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8" name="Forma libre 577"/>
          <p:cNvSpPr/>
          <p:nvPr/>
        </p:nvSpPr>
        <p:spPr>
          <a:xfrm>
            <a:off x="4105080" y="4219560"/>
            <a:ext cx="981360" cy="9720"/>
          </a:xfrm>
          <a:custGeom>
            <a:avLst/>
            <a:gdLst/>
            <a:ahLst/>
            <a:cxnLst/>
            <a:rect l="0" t="0" r="r" b="b"/>
            <a:pathLst>
              <a:path w="2726" h="27">
                <a:moveTo>
                  <a:pt x="0" y="0"/>
                </a:moveTo>
                <a:lnTo>
                  <a:pt x="2726" y="0"/>
                </a:lnTo>
                <a:lnTo>
                  <a:pt x="272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9" name="Forma libre 578"/>
          <p:cNvSpPr/>
          <p:nvPr/>
        </p:nvSpPr>
        <p:spPr>
          <a:xfrm>
            <a:off x="5086080" y="4219560"/>
            <a:ext cx="2905560" cy="9720"/>
          </a:xfrm>
          <a:custGeom>
            <a:avLst/>
            <a:gdLst/>
            <a:ahLst/>
            <a:cxnLst/>
            <a:rect l="0" t="0" r="r" b="b"/>
            <a:pathLst>
              <a:path w="8071" h="27">
                <a:moveTo>
                  <a:pt x="0" y="0"/>
                </a:moveTo>
                <a:lnTo>
                  <a:pt x="8071" y="0"/>
                </a:lnTo>
                <a:lnTo>
                  <a:pt x="807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0" name="Forma libre 579"/>
          <p:cNvSpPr/>
          <p:nvPr/>
        </p:nvSpPr>
        <p:spPr>
          <a:xfrm>
            <a:off x="666720" y="422892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1" name="Forma libre 580"/>
          <p:cNvSpPr/>
          <p:nvPr/>
        </p:nvSpPr>
        <p:spPr>
          <a:xfrm>
            <a:off x="4095720" y="422892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2" name="Forma libre 581"/>
          <p:cNvSpPr/>
          <p:nvPr/>
        </p:nvSpPr>
        <p:spPr>
          <a:xfrm>
            <a:off x="5076720" y="422892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3" name="Forma libre 582"/>
          <p:cNvSpPr/>
          <p:nvPr/>
        </p:nvSpPr>
        <p:spPr>
          <a:xfrm>
            <a:off x="7981920" y="422892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4" name="Forma libre 583"/>
          <p:cNvSpPr/>
          <p:nvPr/>
        </p:nvSpPr>
        <p:spPr>
          <a:xfrm>
            <a:off x="666720" y="4638600"/>
            <a:ext cx="9720" cy="409680"/>
          </a:xfrm>
          <a:custGeom>
            <a:avLst/>
            <a:gdLst/>
            <a:ahLst/>
            <a:cxnLst/>
            <a:rect l="0" t="0" r="r" b="b"/>
            <a:pathLst>
              <a:path w="27" h="1138">
                <a:moveTo>
                  <a:pt x="0" y="0"/>
                </a:moveTo>
                <a:lnTo>
                  <a:pt x="27" y="0"/>
                </a:lnTo>
                <a:lnTo>
                  <a:pt x="27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5" name="Forma libre 584"/>
          <p:cNvSpPr/>
          <p:nvPr/>
        </p:nvSpPr>
        <p:spPr>
          <a:xfrm>
            <a:off x="666720" y="4628880"/>
            <a:ext cx="3438720" cy="10080"/>
          </a:xfrm>
          <a:custGeom>
            <a:avLst/>
            <a:gdLst/>
            <a:ahLst/>
            <a:cxnLst/>
            <a:rect l="0" t="0" r="r" b="b"/>
            <a:pathLst>
              <a:path w="9552" h="28">
                <a:moveTo>
                  <a:pt x="0" y="0"/>
                </a:moveTo>
                <a:lnTo>
                  <a:pt x="9552" y="0"/>
                </a:lnTo>
                <a:lnTo>
                  <a:pt x="955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6" name="Forma libre 585"/>
          <p:cNvSpPr/>
          <p:nvPr/>
        </p:nvSpPr>
        <p:spPr>
          <a:xfrm>
            <a:off x="4095720" y="4638600"/>
            <a:ext cx="9720" cy="409680"/>
          </a:xfrm>
          <a:custGeom>
            <a:avLst/>
            <a:gdLst/>
            <a:ahLst/>
            <a:cxnLst/>
            <a:rect l="0" t="0" r="r" b="b"/>
            <a:pathLst>
              <a:path w="27" h="1138">
                <a:moveTo>
                  <a:pt x="0" y="0"/>
                </a:moveTo>
                <a:lnTo>
                  <a:pt x="27" y="0"/>
                </a:lnTo>
                <a:lnTo>
                  <a:pt x="27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7" name="Forma libre 586"/>
          <p:cNvSpPr/>
          <p:nvPr/>
        </p:nvSpPr>
        <p:spPr>
          <a:xfrm>
            <a:off x="4105080" y="4628880"/>
            <a:ext cx="981360" cy="10080"/>
          </a:xfrm>
          <a:custGeom>
            <a:avLst/>
            <a:gdLst/>
            <a:ahLst/>
            <a:cxnLst/>
            <a:rect l="0" t="0" r="r" b="b"/>
            <a:pathLst>
              <a:path w="2726" h="28">
                <a:moveTo>
                  <a:pt x="0" y="0"/>
                </a:moveTo>
                <a:lnTo>
                  <a:pt x="2726" y="0"/>
                </a:lnTo>
                <a:lnTo>
                  <a:pt x="272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8" name="Forma libre 587"/>
          <p:cNvSpPr/>
          <p:nvPr/>
        </p:nvSpPr>
        <p:spPr>
          <a:xfrm>
            <a:off x="5076720" y="4638600"/>
            <a:ext cx="9720" cy="409680"/>
          </a:xfrm>
          <a:custGeom>
            <a:avLst/>
            <a:gdLst/>
            <a:ahLst/>
            <a:cxnLst/>
            <a:rect l="0" t="0" r="r" b="b"/>
            <a:pathLst>
              <a:path w="27" h="1138">
                <a:moveTo>
                  <a:pt x="0" y="0"/>
                </a:moveTo>
                <a:lnTo>
                  <a:pt x="27" y="0"/>
                </a:lnTo>
                <a:lnTo>
                  <a:pt x="27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9" name="Forma libre 588"/>
          <p:cNvSpPr/>
          <p:nvPr/>
        </p:nvSpPr>
        <p:spPr>
          <a:xfrm>
            <a:off x="5086080" y="4628880"/>
            <a:ext cx="2905560" cy="10080"/>
          </a:xfrm>
          <a:custGeom>
            <a:avLst/>
            <a:gdLst/>
            <a:ahLst/>
            <a:cxnLst/>
            <a:rect l="0" t="0" r="r" b="b"/>
            <a:pathLst>
              <a:path w="8071" h="28">
                <a:moveTo>
                  <a:pt x="0" y="0"/>
                </a:moveTo>
                <a:lnTo>
                  <a:pt x="8071" y="0"/>
                </a:lnTo>
                <a:lnTo>
                  <a:pt x="807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0" name="Forma libre 589"/>
          <p:cNvSpPr/>
          <p:nvPr/>
        </p:nvSpPr>
        <p:spPr>
          <a:xfrm>
            <a:off x="7981920" y="4638600"/>
            <a:ext cx="9720" cy="409680"/>
          </a:xfrm>
          <a:custGeom>
            <a:avLst/>
            <a:gdLst/>
            <a:ahLst/>
            <a:cxnLst/>
            <a:rect l="0" t="0" r="r" b="b"/>
            <a:pathLst>
              <a:path w="27" h="1138">
                <a:moveTo>
                  <a:pt x="0" y="0"/>
                </a:moveTo>
                <a:lnTo>
                  <a:pt x="27" y="0"/>
                </a:lnTo>
                <a:lnTo>
                  <a:pt x="27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1" name="Forma libre 590"/>
          <p:cNvSpPr/>
          <p:nvPr/>
        </p:nvSpPr>
        <p:spPr>
          <a:xfrm>
            <a:off x="666720" y="504792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2" name="Forma libre 591"/>
          <p:cNvSpPr/>
          <p:nvPr/>
        </p:nvSpPr>
        <p:spPr>
          <a:xfrm>
            <a:off x="666720" y="5038560"/>
            <a:ext cx="3438720" cy="9720"/>
          </a:xfrm>
          <a:custGeom>
            <a:avLst/>
            <a:gdLst/>
            <a:ahLst/>
            <a:cxnLst/>
            <a:rect l="0" t="0" r="r" b="b"/>
            <a:pathLst>
              <a:path w="9552" h="27">
                <a:moveTo>
                  <a:pt x="0" y="0"/>
                </a:moveTo>
                <a:lnTo>
                  <a:pt x="9552" y="0"/>
                </a:lnTo>
                <a:lnTo>
                  <a:pt x="955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3" name="Forma libre 592"/>
          <p:cNvSpPr/>
          <p:nvPr/>
        </p:nvSpPr>
        <p:spPr>
          <a:xfrm>
            <a:off x="4095720" y="504792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4" name="Forma libre 593"/>
          <p:cNvSpPr/>
          <p:nvPr/>
        </p:nvSpPr>
        <p:spPr>
          <a:xfrm>
            <a:off x="4105080" y="5038560"/>
            <a:ext cx="981360" cy="9720"/>
          </a:xfrm>
          <a:custGeom>
            <a:avLst/>
            <a:gdLst/>
            <a:ahLst/>
            <a:cxnLst/>
            <a:rect l="0" t="0" r="r" b="b"/>
            <a:pathLst>
              <a:path w="2726" h="27">
                <a:moveTo>
                  <a:pt x="0" y="0"/>
                </a:moveTo>
                <a:lnTo>
                  <a:pt x="2726" y="0"/>
                </a:lnTo>
                <a:lnTo>
                  <a:pt x="272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5" name="Forma libre 594"/>
          <p:cNvSpPr/>
          <p:nvPr/>
        </p:nvSpPr>
        <p:spPr>
          <a:xfrm>
            <a:off x="5076720" y="504792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6" name="Forma libre 595"/>
          <p:cNvSpPr/>
          <p:nvPr/>
        </p:nvSpPr>
        <p:spPr>
          <a:xfrm>
            <a:off x="5086080" y="5038560"/>
            <a:ext cx="2905560" cy="9720"/>
          </a:xfrm>
          <a:custGeom>
            <a:avLst/>
            <a:gdLst/>
            <a:ahLst/>
            <a:cxnLst/>
            <a:rect l="0" t="0" r="r" b="b"/>
            <a:pathLst>
              <a:path w="8071" h="27">
                <a:moveTo>
                  <a:pt x="0" y="0"/>
                </a:moveTo>
                <a:lnTo>
                  <a:pt x="8071" y="0"/>
                </a:lnTo>
                <a:lnTo>
                  <a:pt x="807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7" name="Forma libre 596"/>
          <p:cNvSpPr/>
          <p:nvPr/>
        </p:nvSpPr>
        <p:spPr>
          <a:xfrm>
            <a:off x="7981920" y="504792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8" name="Forma libre 597"/>
          <p:cNvSpPr/>
          <p:nvPr/>
        </p:nvSpPr>
        <p:spPr>
          <a:xfrm>
            <a:off x="666720" y="5448240"/>
            <a:ext cx="3438720" cy="9720"/>
          </a:xfrm>
          <a:custGeom>
            <a:avLst/>
            <a:gdLst/>
            <a:ahLst/>
            <a:cxnLst/>
            <a:rect l="0" t="0" r="r" b="b"/>
            <a:pathLst>
              <a:path w="9552" h="27">
                <a:moveTo>
                  <a:pt x="0" y="0"/>
                </a:moveTo>
                <a:lnTo>
                  <a:pt x="9552" y="0"/>
                </a:lnTo>
                <a:lnTo>
                  <a:pt x="955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9" name="Forma libre 598"/>
          <p:cNvSpPr/>
          <p:nvPr/>
        </p:nvSpPr>
        <p:spPr>
          <a:xfrm>
            <a:off x="4105080" y="5448240"/>
            <a:ext cx="981360" cy="9720"/>
          </a:xfrm>
          <a:custGeom>
            <a:avLst/>
            <a:gdLst/>
            <a:ahLst/>
            <a:cxnLst/>
            <a:rect l="0" t="0" r="r" b="b"/>
            <a:pathLst>
              <a:path w="2726" h="27">
                <a:moveTo>
                  <a:pt x="0" y="0"/>
                </a:moveTo>
                <a:lnTo>
                  <a:pt x="2726" y="0"/>
                </a:lnTo>
                <a:lnTo>
                  <a:pt x="272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0" name="Forma libre 599"/>
          <p:cNvSpPr/>
          <p:nvPr/>
        </p:nvSpPr>
        <p:spPr>
          <a:xfrm>
            <a:off x="5086080" y="5448240"/>
            <a:ext cx="2905560" cy="9720"/>
          </a:xfrm>
          <a:custGeom>
            <a:avLst/>
            <a:gdLst/>
            <a:ahLst/>
            <a:cxnLst/>
            <a:rect l="0" t="0" r="r" b="b"/>
            <a:pathLst>
              <a:path w="8071" h="27">
                <a:moveTo>
                  <a:pt x="0" y="0"/>
                </a:moveTo>
                <a:lnTo>
                  <a:pt x="8071" y="0"/>
                </a:lnTo>
                <a:lnTo>
                  <a:pt x="807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1" name="CuadroTexto 600"/>
          <p:cNvSpPr txBox="1"/>
          <p:nvPr/>
        </p:nvSpPr>
        <p:spPr>
          <a:xfrm>
            <a:off x="666720" y="920520"/>
            <a:ext cx="721008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Definir una enfermedad es una decisión, no un dato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2" name="CuadroTexto 601"/>
          <p:cNvSpPr txBox="1"/>
          <p:nvPr/>
        </p:nvSpPr>
        <p:spPr>
          <a:xfrm>
            <a:off x="666720" y="1592280"/>
            <a:ext cx="104976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Un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concept set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es la lista de conceptos que, para tu estudio, signiﬁcan «el paciente tiene esta condición».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3" name="CuadroTexto 602"/>
          <p:cNvSpPr txBox="1"/>
          <p:nvPr/>
        </p:nvSpPr>
        <p:spPr>
          <a:xfrm>
            <a:off x="866880" y="2232360"/>
            <a:ext cx="56782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Concepto semilla:   201826  Type 2 diabetes mellitus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4" name="CuadroTexto 603"/>
          <p:cNvSpPr txBox="1"/>
          <p:nvPr/>
        </p:nvSpPr>
        <p:spPr>
          <a:xfrm>
            <a:off x="866880" y="2499120"/>
            <a:ext cx="72068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+ descendientes:    retinopatía diabética, nefropatía diabética, …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5" name="CuadroTexto 604"/>
          <p:cNvSpPr txBox="1"/>
          <p:nvPr/>
        </p:nvSpPr>
        <p:spPr>
          <a:xfrm>
            <a:off x="866880" y="2756160"/>
            <a:ext cx="64425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− exclusiones:      diabetes gestacional, diabetes neonatal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6" name="CuadroTexto 605"/>
          <p:cNvSpPr txBox="1"/>
          <p:nvPr/>
        </p:nvSpPr>
        <p:spPr>
          <a:xfrm>
            <a:off x="666720" y="3354120"/>
            <a:ext cx="43603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Tres decisiones, tres cohortes distintas: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7" name="CuadroTexto 606"/>
          <p:cNvSpPr txBox="1"/>
          <p:nvPr/>
        </p:nvSpPr>
        <p:spPr>
          <a:xfrm>
            <a:off x="1925280" y="3914280"/>
            <a:ext cx="9176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Deﬁnición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8" name="CuadroTexto 607"/>
          <p:cNvSpPr txBox="1"/>
          <p:nvPr/>
        </p:nvSpPr>
        <p:spPr>
          <a:xfrm>
            <a:off x="4224960" y="3914280"/>
            <a:ext cx="7311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Captura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9" name="CuadroTexto 608"/>
          <p:cNvSpPr txBox="1"/>
          <p:nvPr/>
        </p:nvSpPr>
        <p:spPr>
          <a:xfrm>
            <a:off x="6218280" y="3914280"/>
            <a:ext cx="63180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Riesgo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0" name="CuadroTexto 609"/>
          <p:cNvSpPr txBox="1"/>
          <p:nvPr/>
        </p:nvSpPr>
        <p:spPr>
          <a:xfrm>
            <a:off x="799920" y="4314600"/>
            <a:ext cx="199116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Sólo el concepto semilla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1" name="CuadroTexto 610"/>
          <p:cNvSpPr txBox="1"/>
          <p:nvPr/>
        </p:nvSpPr>
        <p:spPr>
          <a:xfrm>
            <a:off x="4224960" y="4314600"/>
            <a:ext cx="42084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poco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2" name="CuadroTexto 611"/>
          <p:cNvSpPr txBox="1"/>
          <p:nvPr/>
        </p:nvSpPr>
        <p:spPr>
          <a:xfrm>
            <a:off x="5212440" y="4314600"/>
            <a:ext cx="193104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pierdes complicaciones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3" name="CuadroTexto 612"/>
          <p:cNvSpPr txBox="1"/>
          <p:nvPr/>
        </p:nvSpPr>
        <p:spPr>
          <a:xfrm>
            <a:off x="799920" y="4723920"/>
            <a:ext cx="19954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Semilla + descendientes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4" name="CuadroTexto 613"/>
          <p:cNvSpPr txBox="1"/>
          <p:nvPr/>
        </p:nvSpPr>
        <p:spPr>
          <a:xfrm>
            <a:off x="4224960" y="4723920"/>
            <a:ext cx="56880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mucho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5" name="CuadroTexto 614"/>
          <p:cNvSpPr txBox="1"/>
          <p:nvPr/>
        </p:nvSpPr>
        <p:spPr>
          <a:xfrm>
            <a:off x="5212440" y="4723920"/>
            <a:ext cx="197316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metes lo que no querías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6" name="CuadroTexto 615"/>
          <p:cNvSpPr txBox="1"/>
          <p:nvPr/>
        </p:nvSpPr>
        <p:spPr>
          <a:xfrm>
            <a:off x="799920" y="5133600"/>
            <a:ext cx="316836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Semilla + descendientes − exclusiones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7" name="CuadroTexto 616"/>
          <p:cNvSpPr txBox="1"/>
          <p:nvPr/>
        </p:nvSpPr>
        <p:spPr>
          <a:xfrm>
            <a:off x="4224960" y="5133600"/>
            <a:ext cx="58644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lo justo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8" name="CuadroTexto 617"/>
          <p:cNvSpPr txBox="1"/>
          <p:nvPr/>
        </p:nvSpPr>
        <p:spPr>
          <a:xfrm>
            <a:off x="5212440" y="5133600"/>
            <a:ext cx="26434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hay que justiﬁcar cada exclusión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2" name="CuadroTexto 621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14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3" name="CuadroTexto 622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4" name="CuadroTexto 623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18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624E583B-8470-AF0A-4BEE-1C6DA2AD38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464" y="881878"/>
            <a:ext cx="10575169" cy="5592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1235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Forma libre 62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6" name="Forma libre 62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7" name="Forma libre 62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8" name="CuadroTexto 627"/>
          <p:cNvSpPr txBox="1"/>
          <p:nvPr/>
        </p:nvSpPr>
        <p:spPr>
          <a:xfrm>
            <a:off x="666720" y="2282400"/>
            <a:ext cx="608616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Lo que cambia no es el matiz: es la cohorte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2" name="CuadroTexto 631"/>
          <p:cNvSpPr txBox="1"/>
          <p:nvPr/>
        </p:nvSpPr>
        <p:spPr>
          <a:xfrm>
            <a:off x="666720" y="3449520"/>
            <a:ext cx="87411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La misma enfermedad, la misma base, tres deﬁniciones: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1 840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,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3 260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y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2 910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pacientes.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3" name="CuadroTexto 632"/>
          <p:cNvSpPr txBox="1"/>
          <p:nvPr/>
        </p:nvSpPr>
        <p:spPr>
          <a:xfrm>
            <a:off x="666720" y="3944880"/>
            <a:ext cx="103417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Si publicaras una prevalencia, los tres números son «correctos». Sólo uno corresponde a la pregunta que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4" name="CuadroTexto 633"/>
          <p:cNvSpPr txBox="1"/>
          <p:nvPr/>
        </p:nvSpPr>
        <p:spPr>
          <a:xfrm>
            <a:off x="666720" y="4287600"/>
            <a:ext cx="18468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querías responder.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5" name="CuadroTexto 634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14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6" name="CuadroTexto 635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7" name="CuadroTexto 636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19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8C3BD0E-1341-C3CD-0283-BA03EC4E59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092" y="796280"/>
            <a:ext cx="10895307" cy="587839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Forma libre 63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9" name="Forma libre 63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0" name="Forma libre 63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1" name="Forma libre 640"/>
          <p:cNvSpPr/>
          <p:nvPr/>
        </p:nvSpPr>
        <p:spPr>
          <a:xfrm>
            <a:off x="671400" y="1852560"/>
            <a:ext cx="10849320" cy="1895760"/>
          </a:xfrm>
          <a:custGeom>
            <a:avLst/>
            <a:gdLst/>
            <a:ahLst/>
            <a:cxnLst/>
            <a:rect l="0" t="0" r="r" b="b"/>
            <a:pathLst>
              <a:path w="30137" h="5266">
                <a:moveTo>
                  <a:pt x="0" y="5067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3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3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0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59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5067"/>
                </a:lnTo>
                <a:cubicBezTo>
                  <a:pt x="30137" y="5080"/>
                  <a:pt x="30136" y="5093"/>
                  <a:pt x="30133" y="5106"/>
                </a:cubicBezTo>
                <a:cubicBezTo>
                  <a:pt x="30130" y="5119"/>
                  <a:pt x="30127" y="5131"/>
                  <a:pt x="30122" y="5143"/>
                </a:cubicBezTo>
                <a:cubicBezTo>
                  <a:pt x="30117" y="5155"/>
                  <a:pt x="30111" y="5167"/>
                  <a:pt x="30103" y="5178"/>
                </a:cubicBezTo>
                <a:cubicBezTo>
                  <a:pt x="30096" y="5188"/>
                  <a:pt x="30088" y="5199"/>
                  <a:pt x="30079" y="5208"/>
                </a:cubicBezTo>
                <a:cubicBezTo>
                  <a:pt x="30070" y="5217"/>
                  <a:pt x="30059" y="5225"/>
                  <a:pt x="30049" y="5232"/>
                </a:cubicBezTo>
                <a:cubicBezTo>
                  <a:pt x="30038" y="5240"/>
                  <a:pt x="30026" y="5246"/>
                  <a:pt x="30014" y="5251"/>
                </a:cubicBezTo>
                <a:cubicBezTo>
                  <a:pt x="30002" y="5256"/>
                  <a:pt x="29990" y="5259"/>
                  <a:pt x="29977" y="5262"/>
                </a:cubicBezTo>
                <a:cubicBezTo>
                  <a:pt x="29964" y="5265"/>
                  <a:pt x="29951" y="5266"/>
                  <a:pt x="29938" y="5266"/>
                </a:cubicBezTo>
                <a:lnTo>
                  <a:pt x="198" y="5266"/>
                </a:lnTo>
                <a:cubicBezTo>
                  <a:pt x="185" y="5266"/>
                  <a:pt x="172" y="5265"/>
                  <a:pt x="160" y="5262"/>
                </a:cubicBezTo>
                <a:cubicBezTo>
                  <a:pt x="147" y="5259"/>
                  <a:pt x="134" y="5256"/>
                  <a:pt x="122" y="5251"/>
                </a:cubicBezTo>
                <a:cubicBezTo>
                  <a:pt x="110" y="5246"/>
                  <a:pt x="99" y="5240"/>
                  <a:pt x="88" y="5232"/>
                </a:cubicBezTo>
                <a:cubicBezTo>
                  <a:pt x="77" y="5225"/>
                  <a:pt x="67" y="5217"/>
                  <a:pt x="58" y="5208"/>
                </a:cubicBezTo>
                <a:cubicBezTo>
                  <a:pt x="49" y="5199"/>
                  <a:pt x="40" y="5188"/>
                  <a:pt x="33" y="5178"/>
                </a:cubicBezTo>
                <a:cubicBezTo>
                  <a:pt x="26" y="5167"/>
                  <a:pt x="20" y="5155"/>
                  <a:pt x="15" y="5143"/>
                </a:cubicBezTo>
                <a:cubicBezTo>
                  <a:pt x="10" y="5131"/>
                  <a:pt x="6" y="5119"/>
                  <a:pt x="4" y="5106"/>
                </a:cubicBezTo>
                <a:cubicBezTo>
                  <a:pt x="1" y="5093"/>
                  <a:pt x="0" y="5080"/>
                  <a:pt x="0" y="5067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2" name="Forma libre 641"/>
          <p:cNvSpPr/>
          <p:nvPr/>
        </p:nvSpPr>
        <p:spPr>
          <a:xfrm>
            <a:off x="671400" y="1852560"/>
            <a:ext cx="10849320" cy="1895760"/>
          </a:xfrm>
          <a:custGeom>
            <a:avLst/>
            <a:gdLst/>
            <a:ahLst/>
            <a:cxnLst/>
            <a:rect l="0" t="0" r="r" b="b"/>
            <a:pathLst>
              <a:path w="30137" h="5266">
                <a:moveTo>
                  <a:pt x="0" y="5067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3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3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0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59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5067"/>
                </a:lnTo>
                <a:cubicBezTo>
                  <a:pt x="30137" y="5080"/>
                  <a:pt x="30136" y="5093"/>
                  <a:pt x="30133" y="5106"/>
                </a:cubicBezTo>
                <a:cubicBezTo>
                  <a:pt x="30130" y="5119"/>
                  <a:pt x="30127" y="5131"/>
                  <a:pt x="30122" y="5143"/>
                </a:cubicBezTo>
                <a:cubicBezTo>
                  <a:pt x="30117" y="5155"/>
                  <a:pt x="30111" y="5167"/>
                  <a:pt x="30103" y="5178"/>
                </a:cubicBezTo>
                <a:cubicBezTo>
                  <a:pt x="30096" y="5188"/>
                  <a:pt x="30088" y="5199"/>
                  <a:pt x="30079" y="5208"/>
                </a:cubicBezTo>
                <a:cubicBezTo>
                  <a:pt x="30070" y="5217"/>
                  <a:pt x="30059" y="5225"/>
                  <a:pt x="30049" y="5232"/>
                </a:cubicBezTo>
                <a:cubicBezTo>
                  <a:pt x="30038" y="5240"/>
                  <a:pt x="30026" y="5246"/>
                  <a:pt x="30014" y="5251"/>
                </a:cubicBezTo>
                <a:cubicBezTo>
                  <a:pt x="30002" y="5256"/>
                  <a:pt x="29990" y="5259"/>
                  <a:pt x="29977" y="5262"/>
                </a:cubicBezTo>
                <a:cubicBezTo>
                  <a:pt x="29964" y="5265"/>
                  <a:pt x="29951" y="5266"/>
                  <a:pt x="29938" y="5266"/>
                </a:cubicBezTo>
                <a:lnTo>
                  <a:pt x="198" y="5266"/>
                </a:lnTo>
                <a:cubicBezTo>
                  <a:pt x="185" y="5266"/>
                  <a:pt x="172" y="5265"/>
                  <a:pt x="160" y="5262"/>
                </a:cubicBezTo>
                <a:cubicBezTo>
                  <a:pt x="147" y="5259"/>
                  <a:pt x="134" y="5256"/>
                  <a:pt x="122" y="5251"/>
                </a:cubicBezTo>
                <a:cubicBezTo>
                  <a:pt x="110" y="5246"/>
                  <a:pt x="99" y="5240"/>
                  <a:pt x="88" y="5232"/>
                </a:cubicBezTo>
                <a:cubicBezTo>
                  <a:pt x="77" y="5225"/>
                  <a:pt x="67" y="5217"/>
                  <a:pt x="58" y="5208"/>
                </a:cubicBezTo>
                <a:cubicBezTo>
                  <a:pt x="49" y="5199"/>
                  <a:pt x="40" y="5188"/>
                  <a:pt x="33" y="5178"/>
                </a:cubicBezTo>
                <a:cubicBezTo>
                  <a:pt x="26" y="5167"/>
                  <a:pt x="20" y="5155"/>
                  <a:pt x="15" y="5143"/>
                </a:cubicBezTo>
                <a:cubicBezTo>
                  <a:pt x="10" y="5131"/>
                  <a:pt x="6" y="5119"/>
                  <a:pt x="4" y="5106"/>
                </a:cubicBezTo>
                <a:cubicBezTo>
                  <a:pt x="1" y="5093"/>
                  <a:pt x="0" y="5080"/>
                  <a:pt x="0" y="5067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3" name="Forma libre 642"/>
          <p:cNvSpPr/>
          <p:nvPr/>
        </p:nvSpPr>
        <p:spPr>
          <a:xfrm>
            <a:off x="666720" y="4743360"/>
            <a:ext cx="10858680" cy="914760"/>
          </a:xfrm>
          <a:custGeom>
            <a:avLst/>
            <a:gdLst/>
            <a:ahLst/>
            <a:cxnLst/>
            <a:rect l="0" t="0" r="r" b="b"/>
            <a:pathLst>
              <a:path w="30163" h="2541">
                <a:moveTo>
                  <a:pt x="0" y="0"/>
                </a:moveTo>
                <a:lnTo>
                  <a:pt x="30163" y="0"/>
                </a:lnTo>
                <a:lnTo>
                  <a:pt x="3016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4" name="Forma libre 643"/>
          <p:cNvSpPr/>
          <p:nvPr/>
        </p:nvSpPr>
        <p:spPr>
          <a:xfrm>
            <a:off x="666720" y="4743360"/>
            <a:ext cx="47880" cy="914760"/>
          </a:xfrm>
          <a:custGeom>
            <a:avLst/>
            <a:gdLst/>
            <a:ahLst/>
            <a:cxnLst/>
            <a:rect l="0" t="0" r="r" b="b"/>
            <a:pathLst>
              <a:path w="133" h="2541">
                <a:moveTo>
                  <a:pt x="0" y="0"/>
                </a:moveTo>
                <a:lnTo>
                  <a:pt x="133" y="0"/>
                </a:lnTo>
                <a:lnTo>
                  <a:pt x="13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5" name="CuadroTexto 644"/>
          <p:cNvSpPr txBox="1"/>
          <p:nvPr/>
        </p:nvSpPr>
        <p:spPr>
          <a:xfrm>
            <a:off x="666720" y="1215720"/>
            <a:ext cx="527436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Documentar el porqué, no sólo el qué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6" name="CuadroTexto 645"/>
          <p:cNvSpPr txBox="1"/>
          <p:nvPr/>
        </p:nvSpPr>
        <p:spPr>
          <a:xfrm>
            <a:off x="866880" y="2032200"/>
            <a:ext cx="96091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| concept_id | nombre                      | ¿incluido? | por qué                      |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7" name="CuadroTexto 646"/>
          <p:cNvSpPr txBox="1"/>
          <p:nvPr/>
        </p:nvSpPr>
        <p:spPr>
          <a:xfrm>
            <a:off x="866880" y="2298960"/>
            <a:ext cx="96091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|------------|-----------------------------|------------|------------------------------|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8" name="CuadroTexto 647"/>
          <p:cNvSpPr txBox="1"/>
          <p:nvPr/>
        </p:nvSpPr>
        <p:spPr>
          <a:xfrm>
            <a:off x="866880" y="2556360"/>
            <a:ext cx="96091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| 201826     | Type 2 diabetes mellitus    | sí         | concepto semilla             |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9" name="CuadroTexto 648"/>
          <p:cNvSpPr txBox="1"/>
          <p:nvPr/>
        </p:nvSpPr>
        <p:spPr>
          <a:xfrm>
            <a:off x="866880" y="2822760"/>
            <a:ext cx="96091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| ...        | Diabetic retinopathy        | sí         | complicación de DM2          |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0" name="CuadroTexto 649"/>
          <p:cNvSpPr txBox="1"/>
          <p:nvPr/>
        </p:nvSpPr>
        <p:spPr>
          <a:xfrm>
            <a:off x="866880" y="3080160"/>
            <a:ext cx="96091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| ...        | Gestational diabetes        | NO         | fisiopatología distinta      |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1" name="CuadroTexto 650"/>
          <p:cNvSpPr txBox="1"/>
          <p:nvPr/>
        </p:nvSpPr>
        <p:spPr>
          <a:xfrm>
            <a:off x="866880" y="3346920"/>
            <a:ext cx="96091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| ...        | Neonatal diabetes mellitus  | NO         | población fuera del estudio  |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2" name="Forma libre 651"/>
          <p:cNvSpPr/>
          <p:nvPr/>
        </p:nvSpPr>
        <p:spPr>
          <a:xfrm>
            <a:off x="1047600" y="3981240"/>
            <a:ext cx="1171800" cy="238680"/>
          </a:xfrm>
          <a:custGeom>
            <a:avLst/>
            <a:gdLst/>
            <a:ahLst/>
            <a:cxnLst/>
            <a:rect l="0" t="0" r="r" b="b"/>
            <a:pathLst>
              <a:path w="3255" h="663">
                <a:moveTo>
                  <a:pt x="0" y="557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3149" y="0"/>
                </a:lnTo>
                <a:cubicBezTo>
                  <a:pt x="3163" y="0"/>
                  <a:pt x="3177" y="3"/>
                  <a:pt x="3190" y="8"/>
                </a:cubicBezTo>
                <a:cubicBezTo>
                  <a:pt x="3203" y="14"/>
                  <a:pt x="3214" y="21"/>
                  <a:pt x="3224" y="31"/>
                </a:cubicBezTo>
                <a:cubicBezTo>
                  <a:pt x="3234" y="41"/>
                  <a:pt x="3242" y="52"/>
                  <a:pt x="3247" y="65"/>
                </a:cubicBezTo>
                <a:cubicBezTo>
                  <a:pt x="3253" y="78"/>
                  <a:pt x="3255" y="92"/>
                  <a:pt x="3255" y="106"/>
                </a:cubicBezTo>
                <a:lnTo>
                  <a:pt x="3255" y="557"/>
                </a:lnTo>
                <a:cubicBezTo>
                  <a:pt x="3255" y="571"/>
                  <a:pt x="3253" y="584"/>
                  <a:pt x="3247" y="597"/>
                </a:cubicBezTo>
                <a:cubicBezTo>
                  <a:pt x="3242" y="610"/>
                  <a:pt x="3234" y="622"/>
                  <a:pt x="3224" y="632"/>
                </a:cubicBezTo>
                <a:cubicBezTo>
                  <a:pt x="3214" y="641"/>
                  <a:pt x="3203" y="649"/>
                  <a:pt x="3190" y="654"/>
                </a:cubicBezTo>
                <a:cubicBezTo>
                  <a:pt x="3177" y="660"/>
                  <a:pt x="3163" y="663"/>
                  <a:pt x="3149" y="663"/>
                </a:cubicBezTo>
                <a:lnTo>
                  <a:pt x="106" y="663"/>
                </a:lnTo>
                <a:cubicBezTo>
                  <a:pt x="92" y="663"/>
                  <a:pt x="78" y="660"/>
                  <a:pt x="65" y="654"/>
                </a:cubicBezTo>
                <a:cubicBezTo>
                  <a:pt x="52" y="649"/>
                  <a:pt x="41" y="641"/>
                  <a:pt x="31" y="632"/>
                </a:cubicBezTo>
                <a:cubicBezTo>
                  <a:pt x="21" y="622"/>
                  <a:pt x="13" y="610"/>
                  <a:pt x="8" y="597"/>
                </a:cubicBezTo>
                <a:cubicBezTo>
                  <a:pt x="3" y="584"/>
                  <a:pt x="0" y="571"/>
                  <a:pt x="0" y="557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3" name="CuadroTexto 652"/>
          <p:cNvSpPr txBox="1"/>
          <p:nvPr/>
        </p:nvSpPr>
        <p:spPr>
          <a:xfrm>
            <a:off x="666720" y="3966480"/>
            <a:ext cx="381600" cy="244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62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Los </a:t>
            </a:r>
            <a:endParaRPr lang="es-ES" sz="16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4" name="CuadroTexto 653"/>
          <p:cNvSpPr txBox="1"/>
          <p:nvPr/>
        </p:nvSpPr>
        <p:spPr>
          <a:xfrm>
            <a:off x="1105200" y="3999960"/>
            <a:ext cx="1055880" cy="20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7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concept_id</a:t>
            </a:r>
            <a:endParaRPr lang="es-E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5" name="CuadroTexto 654"/>
          <p:cNvSpPr txBox="1"/>
          <p:nvPr/>
        </p:nvSpPr>
        <p:spPr>
          <a:xfrm>
            <a:off x="2215080" y="3966480"/>
            <a:ext cx="8895960" cy="244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62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los sacas tú de ATHENA: copiarlos de una diapositiva es exactamente el hábito que este entregable</a:t>
            </a:r>
            <a:endParaRPr lang="es-ES" sz="16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6" name="CuadroTexto 655"/>
          <p:cNvSpPr txBox="1"/>
          <p:nvPr/>
        </p:nvSpPr>
        <p:spPr>
          <a:xfrm>
            <a:off x="666720" y="4309560"/>
            <a:ext cx="1128960" cy="244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62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busca evitar.</a:t>
            </a:r>
            <a:endParaRPr lang="es-ES" sz="16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7" name="CuadroTexto 656"/>
          <p:cNvSpPr txBox="1"/>
          <p:nvPr/>
        </p:nvSpPr>
        <p:spPr>
          <a:xfrm>
            <a:off x="905040" y="4897440"/>
            <a:ext cx="100828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Esta tabla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es</a:t>
            </a:r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 el entregable. Un concept set sin justiﬁcación no se puede revisar, ni replicar, ni defender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8" name="CuadroTexto 657"/>
          <p:cNvSpPr txBox="1"/>
          <p:nvPr/>
        </p:nvSpPr>
        <p:spPr>
          <a:xfrm>
            <a:off x="905040" y="5240160"/>
            <a:ext cx="15123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ante un revisor.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9" name="CuadroTexto 658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14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0" name="CuadroTexto 659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1" name="CuadroTexto 660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20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Forma libre 66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3" name="Forma libre 66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4" name="Forma libre 66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5" name="CuadroTexto 664"/>
          <p:cNvSpPr txBox="1"/>
          <p:nvPr/>
        </p:nvSpPr>
        <p:spPr>
          <a:xfrm>
            <a:off x="5030280" y="3063960"/>
            <a:ext cx="221436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8. Validez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6" name="CuadroTexto 665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14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7" name="CuadroTexto 666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8" name="CuadroTexto 667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21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Forma libre 66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0" name="Forma libre 66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1" name="Forma libre 67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2" name="Forma libre 671"/>
          <p:cNvSpPr/>
          <p:nvPr/>
        </p:nvSpPr>
        <p:spPr>
          <a:xfrm>
            <a:off x="666720" y="5057640"/>
            <a:ext cx="10858680" cy="571680"/>
          </a:xfrm>
          <a:custGeom>
            <a:avLst/>
            <a:gdLst/>
            <a:ahLst/>
            <a:cxnLst/>
            <a:rect l="0" t="0" r="r" b="b"/>
            <a:pathLst>
              <a:path w="30163" h="1588">
                <a:moveTo>
                  <a:pt x="0" y="0"/>
                </a:moveTo>
                <a:lnTo>
                  <a:pt x="30163" y="0"/>
                </a:lnTo>
                <a:lnTo>
                  <a:pt x="30163" y="1588"/>
                </a:lnTo>
                <a:lnTo>
                  <a:pt x="0" y="1588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3" name="Forma libre 672"/>
          <p:cNvSpPr/>
          <p:nvPr/>
        </p:nvSpPr>
        <p:spPr>
          <a:xfrm>
            <a:off x="666720" y="5057640"/>
            <a:ext cx="47880" cy="571680"/>
          </a:xfrm>
          <a:custGeom>
            <a:avLst/>
            <a:gdLst/>
            <a:ahLst/>
            <a:cxnLst/>
            <a:rect l="0" t="0" r="r" b="b"/>
            <a:pathLst>
              <a:path w="133" h="1588">
                <a:moveTo>
                  <a:pt x="0" y="0"/>
                </a:moveTo>
                <a:lnTo>
                  <a:pt x="133" y="0"/>
                </a:lnTo>
                <a:lnTo>
                  <a:pt x="133" y="1588"/>
                </a:lnTo>
                <a:lnTo>
                  <a:pt x="0" y="1588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4" name="CuadroTexto 673"/>
          <p:cNvSpPr txBox="1"/>
          <p:nvPr/>
        </p:nvSpPr>
        <p:spPr>
          <a:xfrm>
            <a:off x="666720" y="1244160"/>
            <a:ext cx="606132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¿Tu definición mide lo que dices que mide?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5" name="Forma libre 674"/>
          <p:cNvSpPr/>
          <p:nvPr/>
        </p:nvSpPr>
        <p:spPr>
          <a:xfrm>
            <a:off x="914040" y="252396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2"/>
                  <a:pt x="14" y="160"/>
                  <a:pt x="9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9" y="66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6" name="CuadroTexto 675"/>
          <p:cNvSpPr txBox="1"/>
          <p:nvPr/>
        </p:nvSpPr>
        <p:spPr>
          <a:xfrm>
            <a:off x="666720" y="1915920"/>
            <a:ext cx="92523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Una deﬁnición por códigos es una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prueba diagnóstica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sobre el expediente, y como tal tiene: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7" name="Forma libre 676"/>
          <p:cNvSpPr/>
          <p:nvPr/>
        </p:nvSpPr>
        <p:spPr>
          <a:xfrm>
            <a:off x="914040" y="292392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2"/>
                  <a:pt x="14" y="161"/>
                  <a:pt x="9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9" y="67"/>
                </a:cubicBezTo>
                <a:cubicBezTo>
                  <a:pt x="14" y="54"/>
                  <a:pt x="22" y="42"/>
                  <a:pt x="31" y="32"/>
                </a:cubicBezTo>
                <a:cubicBezTo>
                  <a:pt x="41" y="22"/>
                  <a:pt x="53" y="15"/>
                  <a:pt x="66" y="9"/>
                </a:cubicBezTo>
                <a:cubicBezTo>
                  <a:pt x="79" y="4"/>
                  <a:pt x="92" y="0"/>
                  <a:pt x="107" y="0"/>
                </a:cubicBezTo>
                <a:cubicBezTo>
                  <a:pt x="121" y="0"/>
                  <a:pt x="135" y="4"/>
                  <a:pt x="148" y="9"/>
                </a:cubicBezTo>
                <a:cubicBezTo>
                  <a:pt x="161" y="15"/>
                  <a:pt x="172" y="22"/>
                  <a:pt x="182" y="32"/>
                </a:cubicBezTo>
                <a:cubicBezTo>
                  <a:pt x="192" y="42"/>
                  <a:pt x="200" y="54"/>
                  <a:pt x="205" y="67"/>
                </a:cubicBezTo>
                <a:cubicBezTo>
                  <a:pt x="210" y="80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8" name="CuadroTexto 677"/>
          <p:cNvSpPr txBox="1"/>
          <p:nvPr/>
        </p:nvSpPr>
        <p:spPr>
          <a:xfrm>
            <a:off x="1123920" y="2411280"/>
            <a:ext cx="82184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Sensibilidad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— de los pacientes que sí tienen la enfermedad, ¿a cuántos captura?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9" name="CuadroTexto 678"/>
          <p:cNvSpPr txBox="1"/>
          <p:nvPr/>
        </p:nvSpPr>
        <p:spPr>
          <a:xfrm>
            <a:off x="1123920" y="2811240"/>
            <a:ext cx="75240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Valor predictivo positivo (VPP)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— de los que captura, ¿cuántos la tienen?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0" name="Forma libre 679"/>
          <p:cNvSpPr/>
          <p:nvPr/>
        </p:nvSpPr>
        <p:spPr>
          <a:xfrm>
            <a:off x="914040" y="391464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3"/>
                  <a:pt x="205" y="146"/>
                </a:cubicBezTo>
                <a:cubicBezTo>
                  <a:pt x="200" y="159"/>
                  <a:pt x="192" y="171"/>
                  <a:pt x="182" y="181"/>
                </a:cubicBezTo>
                <a:cubicBezTo>
                  <a:pt x="172" y="190"/>
                  <a:pt x="161" y="198"/>
                  <a:pt x="148" y="203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3"/>
                </a:cubicBezTo>
                <a:cubicBezTo>
                  <a:pt x="53" y="198"/>
                  <a:pt x="41" y="190"/>
                  <a:pt x="31" y="181"/>
                </a:cubicBezTo>
                <a:cubicBezTo>
                  <a:pt x="22" y="171"/>
                  <a:pt x="14" y="159"/>
                  <a:pt x="9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1" name="CuadroTexto 680"/>
          <p:cNvSpPr txBox="1"/>
          <p:nvPr/>
        </p:nvSpPr>
        <p:spPr>
          <a:xfrm>
            <a:off x="666720" y="3306600"/>
            <a:ext cx="18331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Cómo se estima: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2" name="Forma libre 681"/>
          <p:cNvSpPr/>
          <p:nvPr/>
        </p:nvSpPr>
        <p:spPr>
          <a:xfrm>
            <a:off x="914040" y="431460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3"/>
                  <a:pt x="205" y="146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2"/>
                  <a:pt x="14" y="160"/>
                  <a:pt x="9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3" name="CuadroTexto 682"/>
          <p:cNvSpPr txBox="1"/>
          <p:nvPr/>
        </p:nvSpPr>
        <p:spPr>
          <a:xfrm>
            <a:off x="1123920" y="3801960"/>
            <a:ext cx="58521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Revisión de expedientes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— el patrón de oro, caro y lento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4" name="Forma libre 683"/>
          <p:cNvSpPr/>
          <p:nvPr/>
        </p:nvSpPr>
        <p:spPr>
          <a:xfrm>
            <a:off x="914040" y="471456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2" y="172"/>
                  <a:pt x="14" y="161"/>
                  <a:pt x="9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5" name="CuadroTexto 684"/>
          <p:cNvSpPr txBox="1"/>
          <p:nvPr/>
        </p:nvSpPr>
        <p:spPr>
          <a:xfrm>
            <a:off x="1123920" y="4201920"/>
            <a:ext cx="61185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PheValuator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— estima sensibilidad y VPP sin revisión manual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6" name="CuadroTexto 685"/>
          <p:cNvSpPr txBox="1"/>
          <p:nvPr/>
        </p:nvSpPr>
        <p:spPr>
          <a:xfrm>
            <a:off x="1123920" y="4601880"/>
            <a:ext cx="74430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Biblioteca de fenotipos de OHDSI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— deﬁniciones ya revisadas por pares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7" name="CuadroTexto 686"/>
          <p:cNvSpPr txBox="1"/>
          <p:nvPr/>
        </p:nvSpPr>
        <p:spPr>
          <a:xfrm>
            <a:off x="905040" y="5211720"/>
            <a:ext cx="61851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Antes de inventar tu deﬁnición,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busca si alguien ya la validó.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8" name="CuadroTexto 687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14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9" name="CuadroTexto 688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0" name="CuadroTexto 689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22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Forma libre 69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2" name="Forma libre 69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3" name="Forma libre 69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4" name="CuadroTexto 693"/>
          <p:cNvSpPr txBox="1"/>
          <p:nvPr/>
        </p:nvSpPr>
        <p:spPr>
          <a:xfrm>
            <a:off x="666720" y="1863360"/>
            <a:ext cx="144432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Para llevar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5" name="CuadroTexto 694"/>
          <p:cNvSpPr txBox="1"/>
          <p:nvPr/>
        </p:nvSpPr>
        <p:spPr>
          <a:xfrm>
            <a:off x="869760" y="2535120"/>
            <a:ext cx="100069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1.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SNOMED documenta; ICD cuenta y factura.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El código de facturación no es el diagnóstico, y en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6" name="CuadroTexto 695"/>
          <p:cNvSpPr txBox="1"/>
          <p:nvPr/>
        </p:nvSpPr>
        <p:spPr>
          <a:xfrm>
            <a:off x="1123920" y="2877840"/>
            <a:ext cx="37706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OMOP ICD-10 es fuente, no estándar.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7" name="CuadroTexto 696"/>
          <p:cNvSpPr txBox="1"/>
          <p:nvPr/>
        </p:nvSpPr>
        <p:spPr>
          <a:xfrm>
            <a:off x="869760" y="3373200"/>
            <a:ext cx="106441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2.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Deﬁnir una enfermedad es una decisión, no un dato.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Semilla, descendientes y exclusiones producen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8" name="CuadroTexto 697"/>
          <p:cNvSpPr txBox="1"/>
          <p:nvPr/>
        </p:nvSpPr>
        <p:spPr>
          <a:xfrm>
            <a:off x="1123920" y="3716280"/>
            <a:ext cx="40276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cohortes distintas: documenta cada una.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9" name="CuadroTexto 698"/>
          <p:cNvSpPr txBox="1"/>
          <p:nvPr/>
        </p:nvSpPr>
        <p:spPr>
          <a:xfrm>
            <a:off x="869760" y="4211640"/>
            <a:ext cx="101912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3.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Tu deﬁnición es una prueba diagnóstica.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Tiene sensibilidad y VPP — y probablemente alguien ya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0" name="CuadroTexto 699"/>
          <p:cNvSpPr txBox="1"/>
          <p:nvPr/>
        </p:nvSpPr>
        <p:spPr>
          <a:xfrm>
            <a:off x="1123920" y="4554360"/>
            <a:ext cx="28123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validó una mejor que la tuya.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1" name="CuadroTexto 700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14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2" name="CuadroTexto 701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3" name="CuadroTexto 702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23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Forma libre 70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5" name="Forma libre 70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6" name="Forma libre 70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7" name="CuadroTexto 706"/>
          <p:cNvSpPr txBox="1"/>
          <p:nvPr/>
        </p:nvSpPr>
        <p:spPr>
          <a:xfrm>
            <a:off x="666720" y="2006280"/>
            <a:ext cx="160056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Laboratorio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8" name="CuadroTexto 707"/>
          <p:cNvSpPr txBox="1"/>
          <p:nvPr/>
        </p:nvSpPr>
        <p:spPr>
          <a:xfrm>
            <a:off x="666720" y="2717280"/>
            <a:ext cx="371700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020" b="0" u="none" strike="noStrike">
                <a:solidFill>
                  <a:srgbClr val="1B7CA8"/>
                </a:solidFill>
                <a:effectLst/>
                <a:uFillTx/>
                <a:latin typeface="HelveticaNeue"/>
                <a:ea typeface="HelveticaNeue"/>
              </a:rPr>
              <a:t>Construir y validar un concept set</a:t>
            </a:r>
            <a:endParaRPr lang="es-ES" sz="20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9" name="CuadroTexto 708"/>
          <p:cNvSpPr txBox="1"/>
          <p:nvPr/>
        </p:nvSpPr>
        <p:spPr>
          <a:xfrm>
            <a:off x="666720" y="3230280"/>
            <a:ext cx="108039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Elegir una condición de tu tesis, traducir códigos ICD-10 a SNOMED, construir tres versiones del concept set,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0" name="CuadroTexto 709"/>
          <p:cNvSpPr txBox="1"/>
          <p:nvPr/>
        </p:nvSpPr>
        <p:spPr>
          <a:xfrm>
            <a:off x="666720" y="3573360"/>
            <a:ext cx="90208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medir cuántos pacientes captura cada una y revisar a mano lo que entró por descendencia.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1" name="Forma libre 710"/>
          <p:cNvSpPr/>
          <p:nvPr/>
        </p:nvSpPr>
        <p:spPr>
          <a:xfrm>
            <a:off x="1971360" y="4086000"/>
            <a:ext cx="1877040" cy="267120"/>
          </a:xfrm>
          <a:custGeom>
            <a:avLst/>
            <a:gdLst/>
            <a:ahLst/>
            <a:cxnLst/>
            <a:rect l="0" t="0" r="r" b="b"/>
            <a:pathLst>
              <a:path w="5214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5108" y="0"/>
                </a:lnTo>
                <a:cubicBezTo>
                  <a:pt x="5122" y="0"/>
                  <a:pt x="5135" y="3"/>
                  <a:pt x="5148" y="8"/>
                </a:cubicBezTo>
                <a:cubicBezTo>
                  <a:pt x="5161" y="14"/>
                  <a:pt x="5173" y="21"/>
                  <a:pt x="5183" y="31"/>
                </a:cubicBezTo>
                <a:cubicBezTo>
                  <a:pt x="5193" y="41"/>
                  <a:pt x="5200" y="52"/>
                  <a:pt x="5206" y="65"/>
                </a:cubicBezTo>
                <a:cubicBezTo>
                  <a:pt x="5211" y="78"/>
                  <a:pt x="5214" y="92"/>
                  <a:pt x="5214" y="106"/>
                </a:cubicBezTo>
                <a:lnTo>
                  <a:pt x="5214" y="636"/>
                </a:lnTo>
                <a:cubicBezTo>
                  <a:pt x="5214" y="650"/>
                  <a:pt x="5211" y="664"/>
                  <a:pt x="5206" y="677"/>
                </a:cubicBezTo>
                <a:cubicBezTo>
                  <a:pt x="5200" y="690"/>
                  <a:pt x="5193" y="701"/>
                  <a:pt x="5183" y="711"/>
                </a:cubicBezTo>
                <a:cubicBezTo>
                  <a:pt x="5173" y="721"/>
                  <a:pt x="5161" y="729"/>
                  <a:pt x="5148" y="734"/>
                </a:cubicBezTo>
                <a:cubicBezTo>
                  <a:pt x="5135" y="739"/>
                  <a:pt x="5122" y="742"/>
                  <a:pt x="5108" y="742"/>
                </a:cubicBezTo>
                <a:lnTo>
                  <a:pt x="106" y="742"/>
                </a:lnTo>
                <a:cubicBezTo>
                  <a:pt x="92" y="742"/>
                  <a:pt x="79" y="739"/>
                  <a:pt x="66" y="734"/>
                </a:cubicBezTo>
                <a:cubicBezTo>
                  <a:pt x="53" y="729"/>
                  <a:pt x="41" y="721"/>
                  <a:pt x="31" y="711"/>
                </a:cubicBezTo>
                <a:cubicBezTo>
                  <a:pt x="21" y="701"/>
                  <a:pt x="14" y="690"/>
                  <a:pt x="8" y="677"/>
                </a:cubicBezTo>
                <a:cubicBezTo>
                  <a:pt x="3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2" name="CuadroTexto 711"/>
          <p:cNvSpPr txBox="1"/>
          <p:nvPr/>
        </p:nvSpPr>
        <p:spPr>
          <a:xfrm>
            <a:off x="666720" y="4068720"/>
            <a:ext cx="13129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Entregable: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3" name="CuadroTexto 712"/>
          <p:cNvSpPr txBox="1"/>
          <p:nvPr/>
        </p:nvSpPr>
        <p:spPr>
          <a:xfrm>
            <a:off x="2032200" y="4105800"/>
            <a:ext cx="176220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concept_set.sql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4" name="Forma libre 713"/>
          <p:cNvSpPr/>
          <p:nvPr/>
        </p:nvSpPr>
        <p:spPr>
          <a:xfrm>
            <a:off x="666720" y="4581360"/>
            <a:ext cx="5258160" cy="267120"/>
          </a:xfrm>
          <a:custGeom>
            <a:avLst/>
            <a:gdLst/>
            <a:ahLst/>
            <a:cxnLst/>
            <a:rect l="0" t="0" r="r" b="b"/>
            <a:pathLst>
              <a:path w="14606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14500" y="0"/>
                </a:lnTo>
                <a:cubicBezTo>
                  <a:pt x="14514" y="0"/>
                  <a:pt x="14527" y="3"/>
                  <a:pt x="14540" y="8"/>
                </a:cubicBezTo>
                <a:cubicBezTo>
                  <a:pt x="14553" y="13"/>
                  <a:pt x="14565" y="21"/>
                  <a:pt x="14575" y="31"/>
                </a:cubicBezTo>
                <a:cubicBezTo>
                  <a:pt x="14585" y="41"/>
                  <a:pt x="14592" y="52"/>
                  <a:pt x="14598" y="65"/>
                </a:cubicBezTo>
                <a:cubicBezTo>
                  <a:pt x="14603" y="78"/>
                  <a:pt x="14606" y="92"/>
                  <a:pt x="14606" y="106"/>
                </a:cubicBezTo>
                <a:lnTo>
                  <a:pt x="14606" y="636"/>
                </a:lnTo>
                <a:cubicBezTo>
                  <a:pt x="14606" y="650"/>
                  <a:pt x="14603" y="663"/>
                  <a:pt x="14598" y="676"/>
                </a:cubicBezTo>
                <a:cubicBezTo>
                  <a:pt x="14592" y="689"/>
                  <a:pt x="14585" y="701"/>
                  <a:pt x="14575" y="711"/>
                </a:cubicBezTo>
                <a:cubicBezTo>
                  <a:pt x="14565" y="721"/>
                  <a:pt x="14553" y="728"/>
                  <a:pt x="14540" y="734"/>
                </a:cubicBezTo>
                <a:cubicBezTo>
                  <a:pt x="14527" y="739"/>
                  <a:pt x="14514" y="742"/>
                  <a:pt x="14500" y="742"/>
                </a:cubicBezTo>
                <a:lnTo>
                  <a:pt x="105" y="742"/>
                </a:lnTo>
                <a:cubicBezTo>
                  <a:pt x="91" y="742"/>
                  <a:pt x="78" y="739"/>
                  <a:pt x="65" y="734"/>
                </a:cubicBezTo>
                <a:cubicBezTo>
                  <a:pt x="52" y="728"/>
                  <a:pt x="41" y="721"/>
                  <a:pt x="31" y="711"/>
                </a:cubicBezTo>
                <a:cubicBezTo>
                  <a:pt x="21" y="701"/>
                  <a:pt x="13" y="689"/>
                  <a:pt x="8" y="676"/>
                </a:cubicBezTo>
                <a:cubicBezTo>
                  <a:pt x="2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5" name="CuadroTexto 714"/>
          <p:cNvSpPr txBox="1"/>
          <p:nvPr/>
        </p:nvSpPr>
        <p:spPr>
          <a:xfrm>
            <a:off x="3844080" y="4068720"/>
            <a:ext cx="37076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+ tabla de justiﬁcación por concepto.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6" name="CuadroTexto 715"/>
          <p:cNvSpPr txBox="1"/>
          <p:nvPr/>
        </p:nvSpPr>
        <p:spPr>
          <a:xfrm>
            <a:off x="723960" y="4601160"/>
            <a:ext cx="51681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labs/s14-vocabularios-snomed-icd10/README.md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7" name="CuadroTexto 716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14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8" name="CuadroTexto 717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9" name="CuadroTexto 718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24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Forma libre 71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1" name="Forma libre 72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2" name="Forma libre 72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3" name="CuadroTexto 722"/>
          <p:cNvSpPr txBox="1"/>
          <p:nvPr/>
        </p:nvSpPr>
        <p:spPr>
          <a:xfrm>
            <a:off x="4672800" y="2482920"/>
            <a:ext cx="291528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¿Preguntas?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9" name="CuadroTexto 728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14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0" name="CuadroTexto 729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1" name="CuadroTexto 730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25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Words>1914</Words>
  <Application>Microsoft Macintosh PowerPoint</Application>
  <PresentationFormat>Panorámica</PresentationFormat>
  <Paragraphs>302</Paragraphs>
  <Slides>26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26</vt:i4>
      </vt:variant>
    </vt:vector>
  </HeadingPairs>
  <TitlesOfParts>
    <vt:vector size="33" baseType="lpstr">
      <vt:lpstr>Arial</vt:lpstr>
      <vt:lpstr>HelveticaNeue</vt:lpstr>
      <vt:lpstr>Menlo</vt:lpstr>
      <vt:lpstr>Symbol</vt:lpstr>
      <vt:lpstr>Times New Roman</vt:lpstr>
      <vt:lpstr>Wingdings</vt:lpstr>
      <vt:lpstr>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dc:description/>
  <cp:lastModifiedBy>Antonio Daniel Martinez Gutierrez</cp:lastModifiedBy>
  <cp:revision>6</cp:revision>
  <dcterms:modified xsi:type="dcterms:W3CDTF">2026-09-25T14:16:29Z</dcterms:modified>
  <dc:language>es-ES</dc:language>
</cp:coreProperties>
</file>