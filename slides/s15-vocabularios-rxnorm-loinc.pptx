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4" r:id="rId11"/>
    <p:sldId id="265" r:id="rId12"/>
    <p:sldId id="266" r:id="rId13"/>
    <p:sldId id="267" r:id="rId14"/>
    <p:sldId id="285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7" r:id="rId24"/>
    <p:sldId id="278" r:id="rId25"/>
    <p:sldId id="286" r:id="rId26"/>
    <p:sldId id="279" r:id="rId27"/>
    <p:sldId id="280" r:id="rId28"/>
    <p:sldId id="281" r:id="rId29"/>
    <p:sldId id="282" r:id="rId30"/>
    <p:sldId id="283" r:id="rId31"/>
  </p:sldIdLst>
  <p:sldSz cx="12192000" cy="6858000"/>
  <p:notesSz cx="7772400" cy="100584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 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Forma libre 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Forma libre 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Forma libre 8"/>
          <p:cNvSpPr/>
          <p:nvPr/>
        </p:nvSpPr>
        <p:spPr>
          <a:xfrm>
            <a:off x="666720" y="2904840"/>
            <a:ext cx="10858680" cy="38520"/>
          </a:xfrm>
          <a:custGeom>
            <a:avLst/>
            <a:gdLst/>
            <a:ahLst/>
            <a:cxnLst/>
            <a:rect l="0" t="0" r="r" b="b"/>
            <a:pathLst>
              <a:path w="30163" h="107">
                <a:moveTo>
                  <a:pt x="0" y="0"/>
                </a:moveTo>
                <a:lnTo>
                  <a:pt x="30163" y="0"/>
                </a:lnTo>
                <a:lnTo>
                  <a:pt x="3016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666720" y="2203920"/>
            <a:ext cx="2050920" cy="56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37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Sesión 15</a:t>
            </a:r>
            <a:endParaRPr lang="es-ES" sz="3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666720" y="3187440"/>
            <a:ext cx="57430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Vocabularios Estándar: RxNorm y LOINC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666720" y="3868560"/>
            <a:ext cx="53460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Bloque III — SQL y datos clínicos estandarizados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666720" y="4363920"/>
            <a:ext cx="6235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Dr. Antonio Daniel Martínez Gutiérrez Semestre 2027-1 · 1:30 h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rma libre 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Forma libre 1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Forma libre 1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666720" y="2101680"/>
            <a:ext cx="30488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Objetivos de la sesión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666720" y="2773080"/>
            <a:ext cx="3854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Al terminar esta sesión serás capaz de: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869760" y="3268440"/>
            <a:ext cx="67716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Navegar la jerarquía de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RxNorm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ingrediente, forma, dosis, marca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869760" y="3668400"/>
            <a:ext cx="60771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Leer un código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LOINC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descomponiéndolo en sus seis ejes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869760" y="4068720"/>
            <a:ext cx="59450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Bajar de una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clase ATC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a todos sus ingredientes en SQL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869760" y="4468680"/>
            <a:ext cx="10056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Construir concept sets de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fármacos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de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analitos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que sobrevivan a un cambio de fuente de datos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CuadroTexto 26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orma libre 2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Forma libre 2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Forma libre 2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Forma libre 30"/>
          <p:cNvSpPr/>
          <p:nvPr/>
        </p:nvSpPr>
        <p:spPr>
          <a:xfrm>
            <a:off x="666720" y="5114880"/>
            <a:ext cx="10858680" cy="571680"/>
          </a:xfrm>
          <a:custGeom>
            <a:avLst/>
            <a:gdLst/>
            <a:ahLst/>
            <a:cxn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Forma libre 31"/>
          <p:cNvSpPr/>
          <p:nvPr/>
        </p:nvSpPr>
        <p:spPr>
          <a:xfrm>
            <a:off x="666720" y="5114880"/>
            <a:ext cx="47880" cy="571680"/>
          </a:xfrm>
          <a:custGeom>
            <a:avLst/>
            <a:gdLst/>
            <a:ahLst/>
            <a:cxn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CuadroTexto 32"/>
          <p:cNvSpPr txBox="1"/>
          <p:nvPr/>
        </p:nvSpPr>
        <p:spPr>
          <a:xfrm>
            <a:off x="666720" y="1187280"/>
            <a:ext cx="10832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Agenda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869760" y="1858680"/>
            <a:ext cx="5217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Por qué los fármacos son el vocabulario más difícil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869760" y="2259000"/>
            <a:ext cx="2164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RxNorm por dentro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CuadroTexto 35"/>
          <p:cNvSpPr txBox="1"/>
          <p:nvPr/>
        </p:nvSpPr>
        <p:spPr>
          <a:xfrm>
            <a:off x="869760" y="2658960"/>
            <a:ext cx="3668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ATC: clasiﬁcar en vez de identiﬁcar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CuadroTexto 36"/>
          <p:cNvSpPr txBox="1"/>
          <p:nvPr/>
        </p:nvSpPr>
        <p:spPr>
          <a:xfrm>
            <a:off x="869760" y="3058920"/>
            <a:ext cx="2392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LOINC y sus seis ejes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CuadroTexto 37"/>
          <p:cNvSpPr txBox="1"/>
          <p:nvPr/>
        </p:nvSpPr>
        <p:spPr>
          <a:xfrm>
            <a:off x="869760" y="3458880"/>
            <a:ext cx="1974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5. Unidades: UCUM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CuadroTexto 38"/>
          <p:cNvSpPr txBox="1"/>
          <p:nvPr/>
        </p:nvSpPr>
        <p:spPr>
          <a:xfrm>
            <a:off x="869760" y="3859200"/>
            <a:ext cx="3237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6. Consultas prácticas en OMOP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CuadroTexto 39"/>
          <p:cNvSpPr txBox="1"/>
          <p:nvPr/>
        </p:nvSpPr>
        <p:spPr>
          <a:xfrm>
            <a:off x="869760" y="4259160"/>
            <a:ext cx="5611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7. Cuando tu catálogo local no existe en ningún estándar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CuadroTexto 40"/>
          <p:cNvSpPr txBox="1"/>
          <p:nvPr/>
        </p:nvSpPr>
        <p:spPr>
          <a:xfrm>
            <a:off x="869760" y="4659120"/>
            <a:ext cx="3845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8. Concept sets de fármacos y analitos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CuadroTexto 41"/>
          <p:cNvSpPr txBox="1"/>
          <p:nvPr/>
        </p:nvSpPr>
        <p:spPr>
          <a:xfrm>
            <a:off x="905040" y="5268600"/>
            <a:ext cx="58986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Laboratorio: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concept sets de medicamentos y laboratorios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CuadroTexto 4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CuadroTexto 4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CuadroTexto 44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orma libre 4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Forma libre 4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Forma libre 4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054880" y="3063960"/>
            <a:ext cx="82800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1. Por qué los fármacos son difíciles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CuadroTexto 51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orma libre 5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Forma libre 5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Forma libre 5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Forma libre 55"/>
          <p:cNvSpPr/>
          <p:nvPr/>
        </p:nvSpPr>
        <p:spPr>
          <a:xfrm>
            <a:off x="676080" y="2152440"/>
            <a:ext cx="2514960" cy="410040"/>
          </a:xfrm>
          <a:custGeom>
            <a:avLst/>
            <a:gdLst/>
            <a:ahLst/>
            <a:cxnLst/>
            <a:rect l="0" t="0" r="r" b="b"/>
            <a:pathLst>
              <a:path w="6986" h="1139">
                <a:moveTo>
                  <a:pt x="0" y="0"/>
                </a:moveTo>
                <a:lnTo>
                  <a:pt x="6986" y="0"/>
                </a:lnTo>
                <a:lnTo>
                  <a:pt x="698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Forma libre 56"/>
          <p:cNvSpPr/>
          <p:nvPr/>
        </p:nvSpPr>
        <p:spPr>
          <a:xfrm>
            <a:off x="3190680" y="2152440"/>
            <a:ext cx="2457720" cy="410040"/>
          </a:xfrm>
          <a:custGeom>
            <a:avLst/>
            <a:gdLst/>
            <a:ahLst/>
            <a:cxnLst/>
            <a:rect l="0" t="0" r="r" b="b"/>
            <a:pathLst>
              <a:path w="6827" h="1139">
                <a:moveTo>
                  <a:pt x="0" y="0"/>
                </a:moveTo>
                <a:lnTo>
                  <a:pt x="6827" y="0"/>
                </a:lnTo>
                <a:lnTo>
                  <a:pt x="68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Forma libre 57"/>
          <p:cNvSpPr/>
          <p:nvPr/>
        </p:nvSpPr>
        <p:spPr>
          <a:xfrm>
            <a:off x="676080" y="2152440"/>
            <a:ext cx="2514960" cy="410040"/>
          </a:xfrm>
          <a:custGeom>
            <a:avLst/>
            <a:gdLst/>
            <a:ahLst/>
            <a:cxnLst/>
            <a:rect l="0" t="0" r="r" b="b"/>
            <a:pathLst>
              <a:path w="6986" h="1139">
                <a:moveTo>
                  <a:pt x="0" y="0"/>
                </a:moveTo>
                <a:lnTo>
                  <a:pt x="6986" y="0"/>
                </a:lnTo>
                <a:lnTo>
                  <a:pt x="698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Forma libre 58"/>
          <p:cNvSpPr/>
          <p:nvPr/>
        </p:nvSpPr>
        <p:spPr>
          <a:xfrm>
            <a:off x="3190680" y="2152440"/>
            <a:ext cx="2457720" cy="410040"/>
          </a:xfrm>
          <a:custGeom>
            <a:avLst/>
            <a:gdLst/>
            <a:ahLst/>
            <a:cxnLst/>
            <a:rect l="0" t="0" r="r" b="b"/>
            <a:pathLst>
              <a:path w="6827" h="1139">
                <a:moveTo>
                  <a:pt x="0" y="0"/>
                </a:moveTo>
                <a:lnTo>
                  <a:pt x="6827" y="0"/>
                </a:lnTo>
                <a:lnTo>
                  <a:pt x="68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Forma libre 59"/>
          <p:cNvSpPr/>
          <p:nvPr/>
        </p:nvSpPr>
        <p:spPr>
          <a:xfrm>
            <a:off x="676080" y="2562120"/>
            <a:ext cx="2514960" cy="409680"/>
          </a:xfrm>
          <a:custGeom>
            <a:avLst/>
            <a:gdLst/>
            <a:ahLst/>
            <a:cxnLst/>
            <a:rect l="0" t="0" r="r" b="b"/>
            <a:pathLst>
              <a:path w="6986" h="1138">
                <a:moveTo>
                  <a:pt x="0" y="0"/>
                </a:moveTo>
                <a:lnTo>
                  <a:pt x="6986" y="0"/>
                </a:lnTo>
                <a:lnTo>
                  <a:pt x="6986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Forma libre 60"/>
          <p:cNvSpPr/>
          <p:nvPr/>
        </p:nvSpPr>
        <p:spPr>
          <a:xfrm>
            <a:off x="3190680" y="2562120"/>
            <a:ext cx="2457720" cy="409680"/>
          </a:xfrm>
          <a:custGeom>
            <a:avLst/>
            <a:gdLst/>
            <a:ahLst/>
            <a:cxnLst/>
            <a:rect l="0" t="0" r="r" b="b"/>
            <a:pathLst>
              <a:path w="6827" h="1138">
                <a:moveTo>
                  <a:pt x="0" y="0"/>
                </a:moveTo>
                <a:lnTo>
                  <a:pt x="6827" y="0"/>
                </a:lnTo>
                <a:lnTo>
                  <a:pt x="68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Forma libre 61"/>
          <p:cNvSpPr/>
          <p:nvPr/>
        </p:nvSpPr>
        <p:spPr>
          <a:xfrm>
            <a:off x="676080" y="2971440"/>
            <a:ext cx="2514960" cy="419760"/>
          </a:xfrm>
          <a:custGeom>
            <a:avLst/>
            <a:gdLst/>
            <a:ahLst/>
            <a:cxnLst/>
            <a:rect l="0" t="0" r="r" b="b"/>
            <a:pathLst>
              <a:path w="6986" h="1166">
                <a:moveTo>
                  <a:pt x="0" y="0"/>
                </a:moveTo>
                <a:lnTo>
                  <a:pt x="6986" y="0"/>
                </a:lnTo>
                <a:lnTo>
                  <a:pt x="6986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Forma libre 62"/>
          <p:cNvSpPr/>
          <p:nvPr/>
        </p:nvSpPr>
        <p:spPr>
          <a:xfrm>
            <a:off x="3190680" y="2971440"/>
            <a:ext cx="2457720" cy="419760"/>
          </a:xfrm>
          <a:custGeom>
            <a:avLst/>
            <a:gdLst/>
            <a:ahLst/>
            <a:cxnLst/>
            <a:rect l="0" t="0" r="r" b="b"/>
            <a:pathLst>
              <a:path w="6827" h="1166">
                <a:moveTo>
                  <a:pt x="0" y="0"/>
                </a:moveTo>
                <a:lnTo>
                  <a:pt x="6827" y="0"/>
                </a:lnTo>
                <a:lnTo>
                  <a:pt x="68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Forma libre 63"/>
          <p:cNvSpPr/>
          <p:nvPr/>
        </p:nvSpPr>
        <p:spPr>
          <a:xfrm>
            <a:off x="676080" y="3390840"/>
            <a:ext cx="2514960" cy="419400"/>
          </a:xfrm>
          <a:custGeom>
            <a:avLst/>
            <a:gdLst/>
            <a:ahLst/>
            <a:cxnLst/>
            <a:rect l="0" t="0" r="r" b="b"/>
            <a:pathLst>
              <a:path w="6986" h="1165">
                <a:moveTo>
                  <a:pt x="0" y="0"/>
                </a:moveTo>
                <a:lnTo>
                  <a:pt x="6986" y="0"/>
                </a:lnTo>
                <a:lnTo>
                  <a:pt x="698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Forma libre 64"/>
          <p:cNvSpPr/>
          <p:nvPr/>
        </p:nvSpPr>
        <p:spPr>
          <a:xfrm>
            <a:off x="3190680" y="3390840"/>
            <a:ext cx="2457720" cy="419400"/>
          </a:xfrm>
          <a:custGeom>
            <a:avLst/>
            <a:gdLst/>
            <a:ahLst/>
            <a:cxnLst/>
            <a:rect l="0" t="0" r="r" b="b"/>
            <a:pathLst>
              <a:path w="6827" h="1165">
                <a:moveTo>
                  <a:pt x="0" y="0"/>
                </a:moveTo>
                <a:lnTo>
                  <a:pt x="6827" y="0"/>
                </a:lnTo>
                <a:lnTo>
                  <a:pt x="68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Forma libre 65"/>
          <p:cNvSpPr/>
          <p:nvPr/>
        </p:nvSpPr>
        <p:spPr>
          <a:xfrm>
            <a:off x="676080" y="3809880"/>
            <a:ext cx="2514960" cy="410040"/>
          </a:xfrm>
          <a:custGeom>
            <a:avLst/>
            <a:gdLst/>
            <a:ahLst/>
            <a:cxnLst/>
            <a:rect l="0" t="0" r="r" b="b"/>
            <a:pathLst>
              <a:path w="6986" h="1139">
                <a:moveTo>
                  <a:pt x="0" y="0"/>
                </a:moveTo>
                <a:lnTo>
                  <a:pt x="6986" y="0"/>
                </a:lnTo>
                <a:lnTo>
                  <a:pt x="698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Forma libre 66"/>
          <p:cNvSpPr/>
          <p:nvPr/>
        </p:nvSpPr>
        <p:spPr>
          <a:xfrm>
            <a:off x="3190680" y="3809880"/>
            <a:ext cx="2457720" cy="410040"/>
          </a:xfrm>
          <a:custGeom>
            <a:avLst/>
            <a:gdLst/>
            <a:ahLst/>
            <a:cxnLst/>
            <a:rect l="0" t="0" r="r" b="b"/>
            <a:pathLst>
              <a:path w="6827" h="1139">
                <a:moveTo>
                  <a:pt x="0" y="0"/>
                </a:moveTo>
                <a:lnTo>
                  <a:pt x="6827" y="0"/>
                </a:lnTo>
                <a:lnTo>
                  <a:pt x="68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Forma libre 67"/>
          <p:cNvSpPr/>
          <p:nvPr/>
        </p:nvSpPr>
        <p:spPr>
          <a:xfrm>
            <a:off x="676080" y="4219560"/>
            <a:ext cx="2514960" cy="419400"/>
          </a:xfrm>
          <a:custGeom>
            <a:avLst/>
            <a:gdLst/>
            <a:ahLst/>
            <a:cxnLst/>
            <a:rect l="0" t="0" r="r" b="b"/>
            <a:pathLst>
              <a:path w="6986" h="1165">
                <a:moveTo>
                  <a:pt x="0" y="0"/>
                </a:moveTo>
                <a:lnTo>
                  <a:pt x="6986" y="0"/>
                </a:lnTo>
                <a:lnTo>
                  <a:pt x="698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Forma libre 68"/>
          <p:cNvSpPr/>
          <p:nvPr/>
        </p:nvSpPr>
        <p:spPr>
          <a:xfrm>
            <a:off x="3190680" y="4219560"/>
            <a:ext cx="2457720" cy="419400"/>
          </a:xfrm>
          <a:custGeom>
            <a:avLst/>
            <a:gdLst/>
            <a:ahLst/>
            <a:cxnLst/>
            <a:rect l="0" t="0" r="r" b="b"/>
            <a:pathLst>
              <a:path w="6827" h="1165">
                <a:moveTo>
                  <a:pt x="0" y="0"/>
                </a:moveTo>
                <a:lnTo>
                  <a:pt x="6827" y="0"/>
                </a:lnTo>
                <a:lnTo>
                  <a:pt x="68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Forma libre 69"/>
          <p:cNvSpPr/>
          <p:nvPr/>
        </p:nvSpPr>
        <p:spPr>
          <a:xfrm>
            <a:off x="666720" y="2143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Forma libre 70"/>
          <p:cNvSpPr/>
          <p:nvPr/>
        </p:nvSpPr>
        <p:spPr>
          <a:xfrm>
            <a:off x="666720" y="2143080"/>
            <a:ext cx="2524320" cy="9720"/>
          </a:xfrm>
          <a:custGeom>
            <a:avLst/>
            <a:gdLst/>
            <a:ahLst/>
            <a:cxnLst/>
            <a:rect l="0" t="0" r="r" b="b"/>
            <a:pathLst>
              <a:path w="7012" h="27">
                <a:moveTo>
                  <a:pt x="0" y="0"/>
                </a:moveTo>
                <a:lnTo>
                  <a:pt x="7012" y="0"/>
                </a:lnTo>
                <a:lnTo>
                  <a:pt x="7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Forma libre 71"/>
          <p:cNvSpPr/>
          <p:nvPr/>
        </p:nvSpPr>
        <p:spPr>
          <a:xfrm>
            <a:off x="3181320" y="21430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Forma libre 72"/>
          <p:cNvSpPr/>
          <p:nvPr/>
        </p:nvSpPr>
        <p:spPr>
          <a:xfrm>
            <a:off x="3190680" y="2143080"/>
            <a:ext cx="2467440" cy="9720"/>
          </a:xfrm>
          <a:custGeom>
            <a:avLst/>
            <a:gdLst/>
            <a:ahLst/>
            <a:cxnLst/>
            <a:rect l="0" t="0" r="r" b="b"/>
            <a:pathLst>
              <a:path w="6854" h="27">
                <a:moveTo>
                  <a:pt x="0" y="0"/>
                </a:moveTo>
                <a:lnTo>
                  <a:pt x="6854" y="0"/>
                </a:lnTo>
                <a:lnTo>
                  <a:pt x="68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Forma libre 73"/>
          <p:cNvSpPr/>
          <p:nvPr/>
        </p:nvSpPr>
        <p:spPr>
          <a:xfrm>
            <a:off x="5648040" y="21430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Forma libre 74"/>
          <p:cNvSpPr/>
          <p:nvPr/>
        </p:nvSpPr>
        <p:spPr>
          <a:xfrm>
            <a:off x="666720" y="2552400"/>
            <a:ext cx="2524320" cy="10080"/>
          </a:xfrm>
          <a:custGeom>
            <a:avLst/>
            <a:gdLst/>
            <a:ahLst/>
            <a:cxnLst/>
            <a:rect l="0" t="0" r="r" b="b"/>
            <a:pathLst>
              <a:path w="7012" h="28">
                <a:moveTo>
                  <a:pt x="0" y="0"/>
                </a:moveTo>
                <a:lnTo>
                  <a:pt x="7012" y="0"/>
                </a:lnTo>
                <a:lnTo>
                  <a:pt x="7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Forma libre 75"/>
          <p:cNvSpPr/>
          <p:nvPr/>
        </p:nvSpPr>
        <p:spPr>
          <a:xfrm>
            <a:off x="3190680" y="2552400"/>
            <a:ext cx="2467440" cy="10080"/>
          </a:xfrm>
          <a:custGeom>
            <a:avLst/>
            <a:gdLst/>
            <a:ahLst/>
            <a:cxnLst/>
            <a:rect l="0" t="0" r="r" b="b"/>
            <a:pathLst>
              <a:path w="6854" h="28">
                <a:moveTo>
                  <a:pt x="0" y="0"/>
                </a:moveTo>
                <a:lnTo>
                  <a:pt x="6854" y="0"/>
                </a:lnTo>
                <a:lnTo>
                  <a:pt x="68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Forma libre 76"/>
          <p:cNvSpPr/>
          <p:nvPr/>
        </p:nvSpPr>
        <p:spPr>
          <a:xfrm>
            <a:off x="666720" y="256212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Forma libre 77"/>
          <p:cNvSpPr/>
          <p:nvPr/>
        </p:nvSpPr>
        <p:spPr>
          <a:xfrm>
            <a:off x="3181320" y="256212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Forma libre 78"/>
          <p:cNvSpPr/>
          <p:nvPr/>
        </p:nvSpPr>
        <p:spPr>
          <a:xfrm>
            <a:off x="5648040" y="2562120"/>
            <a:ext cx="10080" cy="409680"/>
          </a:xfrm>
          <a:custGeom>
            <a:avLst/>
            <a:gdLst/>
            <a:ahLst/>
            <a:cxn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Forma libre 79"/>
          <p:cNvSpPr/>
          <p:nvPr/>
        </p:nvSpPr>
        <p:spPr>
          <a:xfrm>
            <a:off x="666720" y="297144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Forma libre 80"/>
          <p:cNvSpPr/>
          <p:nvPr/>
        </p:nvSpPr>
        <p:spPr>
          <a:xfrm>
            <a:off x="666720" y="2962080"/>
            <a:ext cx="2524320" cy="9720"/>
          </a:xfrm>
          <a:custGeom>
            <a:avLst/>
            <a:gdLst/>
            <a:ahLst/>
            <a:cxnLst/>
            <a:rect l="0" t="0" r="r" b="b"/>
            <a:pathLst>
              <a:path w="7012" h="27">
                <a:moveTo>
                  <a:pt x="0" y="0"/>
                </a:moveTo>
                <a:lnTo>
                  <a:pt x="7012" y="0"/>
                </a:lnTo>
                <a:lnTo>
                  <a:pt x="70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Forma libre 81"/>
          <p:cNvSpPr/>
          <p:nvPr/>
        </p:nvSpPr>
        <p:spPr>
          <a:xfrm>
            <a:off x="3181320" y="297144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Forma libre 82"/>
          <p:cNvSpPr/>
          <p:nvPr/>
        </p:nvSpPr>
        <p:spPr>
          <a:xfrm>
            <a:off x="3190680" y="2962080"/>
            <a:ext cx="2467440" cy="9720"/>
          </a:xfrm>
          <a:custGeom>
            <a:avLst/>
            <a:gdLst/>
            <a:ahLst/>
            <a:cxnLst/>
            <a:rect l="0" t="0" r="r" b="b"/>
            <a:pathLst>
              <a:path w="6854" h="27">
                <a:moveTo>
                  <a:pt x="0" y="0"/>
                </a:moveTo>
                <a:lnTo>
                  <a:pt x="6854" y="0"/>
                </a:lnTo>
                <a:lnTo>
                  <a:pt x="68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Forma libre 83"/>
          <p:cNvSpPr/>
          <p:nvPr/>
        </p:nvSpPr>
        <p:spPr>
          <a:xfrm>
            <a:off x="5648040" y="297144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Forma libre 84"/>
          <p:cNvSpPr/>
          <p:nvPr/>
        </p:nvSpPr>
        <p:spPr>
          <a:xfrm>
            <a:off x="666720" y="33908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Forma libre 85"/>
          <p:cNvSpPr/>
          <p:nvPr/>
        </p:nvSpPr>
        <p:spPr>
          <a:xfrm>
            <a:off x="666720" y="3381120"/>
            <a:ext cx="2524320" cy="10080"/>
          </a:xfrm>
          <a:custGeom>
            <a:avLst/>
            <a:gdLst/>
            <a:ahLst/>
            <a:cxnLst/>
            <a:rect l="0" t="0" r="r" b="b"/>
            <a:pathLst>
              <a:path w="7012" h="28">
                <a:moveTo>
                  <a:pt x="0" y="0"/>
                </a:moveTo>
                <a:lnTo>
                  <a:pt x="7012" y="0"/>
                </a:lnTo>
                <a:lnTo>
                  <a:pt x="7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Forma libre 86"/>
          <p:cNvSpPr/>
          <p:nvPr/>
        </p:nvSpPr>
        <p:spPr>
          <a:xfrm>
            <a:off x="3181320" y="33908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Forma libre 87"/>
          <p:cNvSpPr/>
          <p:nvPr/>
        </p:nvSpPr>
        <p:spPr>
          <a:xfrm>
            <a:off x="3190680" y="3381120"/>
            <a:ext cx="2467440" cy="10080"/>
          </a:xfrm>
          <a:custGeom>
            <a:avLst/>
            <a:gdLst/>
            <a:ahLst/>
            <a:cxnLst/>
            <a:rect l="0" t="0" r="r" b="b"/>
            <a:pathLst>
              <a:path w="6854" h="28">
                <a:moveTo>
                  <a:pt x="0" y="0"/>
                </a:moveTo>
                <a:lnTo>
                  <a:pt x="6854" y="0"/>
                </a:lnTo>
                <a:lnTo>
                  <a:pt x="68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Forma libre 88"/>
          <p:cNvSpPr/>
          <p:nvPr/>
        </p:nvSpPr>
        <p:spPr>
          <a:xfrm>
            <a:off x="5648040" y="33908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Forma libre 89"/>
          <p:cNvSpPr/>
          <p:nvPr/>
        </p:nvSpPr>
        <p:spPr>
          <a:xfrm>
            <a:off x="666720" y="38098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Forma libre 90"/>
          <p:cNvSpPr/>
          <p:nvPr/>
        </p:nvSpPr>
        <p:spPr>
          <a:xfrm>
            <a:off x="666720" y="3800160"/>
            <a:ext cx="2524320" cy="10080"/>
          </a:xfrm>
          <a:custGeom>
            <a:avLst/>
            <a:gdLst/>
            <a:ahLst/>
            <a:cxnLst/>
            <a:rect l="0" t="0" r="r" b="b"/>
            <a:pathLst>
              <a:path w="7012" h="28">
                <a:moveTo>
                  <a:pt x="0" y="0"/>
                </a:moveTo>
                <a:lnTo>
                  <a:pt x="7012" y="0"/>
                </a:lnTo>
                <a:lnTo>
                  <a:pt x="7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Forma libre 91"/>
          <p:cNvSpPr/>
          <p:nvPr/>
        </p:nvSpPr>
        <p:spPr>
          <a:xfrm>
            <a:off x="3181320" y="38098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Forma libre 92"/>
          <p:cNvSpPr/>
          <p:nvPr/>
        </p:nvSpPr>
        <p:spPr>
          <a:xfrm>
            <a:off x="3190680" y="3800160"/>
            <a:ext cx="2467440" cy="10080"/>
          </a:xfrm>
          <a:custGeom>
            <a:avLst/>
            <a:gdLst/>
            <a:ahLst/>
            <a:cxnLst/>
            <a:rect l="0" t="0" r="r" b="b"/>
            <a:pathLst>
              <a:path w="6854" h="28">
                <a:moveTo>
                  <a:pt x="0" y="0"/>
                </a:moveTo>
                <a:lnTo>
                  <a:pt x="6854" y="0"/>
                </a:lnTo>
                <a:lnTo>
                  <a:pt x="68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Forma libre 93"/>
          <p:cNvSpPr/>
          <p:nvPr/>
        </p:nvSpPr>
        <p:spPr>
          <a:xfrm>
            <a:off x="5648040" y="380988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Forma libre 94"/>
          <p:cNvSpPr/>
          <p:nvPr/>
        </p:nvSpPr>
        <p:spPr>
          <a:xfrm>
            <a:off x="666720" y="4219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Forma libre 95"/>
          <p:cNvSpPr/>
          <p:nvPr/>
        </p:nvSpPr>
        <p:spPr>
          <a:xfrm>
            <a:off x="666720" y="4209840"/>
            <a:ext cx="2524320" cy="10080"/>
          </a:xfrm>
          <a:custGeom>
            <a:avLst/>
            <a:gdLst/>
            <a:ahLst/>
            <a:cxnLst/>
            <a:rect l="0" t="0" r="r" b="b"/>
            <a:pathLst>
              <a:path w="7012" h="28">
                <a:moveTo>
                  <a:pt x="0" y="0"/>
                </a:moveTo>
                <a:lnTo>
                  <a:pt x="7012" y="0"/>
                </a:lnTo>
                <a:lnTo>
                  <a:pt x="7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Forma libre 96"/>
          <p:cNvSpPr/>
          <p:nvPr/>
        </p:nvSpPr>
        <p:spPr>
          <a:xfrm>
            <a:off x="3181320" y="4219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Forma libre 97"/>
          <p:cNvSpPr/>
          <p:nvPr/>
        </p:nvSpPr>
        <p:spPr>
          <a:xfrm>
            <a:off x="3190680" y="4209840"/>
            <a:ext cx="2467440" cy="10080"/>
          </a:xfrm>
          <a:custGeom>
            <a:avLst/>
            <a:gdLst/>
            <a:ahLst/>
            <a:cxnLst/>
            <a:rect l="0" t="0" r="r" b="b"/>
            <a:pathLst>
              <a:path w="6854" h="28">
                <a:moveTo>
                  <a:pt x="0" y="0"/>
                </a:moveTo>
                <a:lnTo>
                  <a:pt x="6854" y="0"/>
                </a:lnTo>
                <a:lnTo>
                  <a:pt x="68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Forma libre 98"/>
          <p:cNvSpPr/>
          <p:nvPr/>
        </p:nvSpPr>
        <p:spPr>
          <a:xfrm>
            <a:off x="5648040" y="42195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Forma libre 99"/>
          <p:cNvSpPr/>
          <p:nvPr/>
        </p:nvSpPr>
        <p:spPr>
          <a:xfrm>
            <a:off x="666720" y="4628880"/>
            <a:ext cx="2524320" cy="10080"/>
          </a:xfrm>
          <a:custGeom>
            <a:avLst/>
            <a:gdLst/>
            <a:ahLst/>
            <a:cxnLst/>
            <a:rect l="0" t="0" r="r" b="b"/>
            <a:pathLst>
              <a:path w="7012" h="28">
                <a:moveTo>
                  <a:pt x="0" y="0"/>
                </a:moveTo>
                <a:lnTo>
                  <a:pt x="7012" y="0"/>
                </a:lnTo>
                <a:lnTo>
                  <a:pt x="70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Forma libre 100"/>
          <p:cNvSpPr/>
          <p:nvPr/>
        </p:nvSpPr>
        <p:spPr>
          <a:xfrm>
            <a:off x="3190680" y="4628880"/>
            <a:ext cx="2467440" cy="10080"/>
          </a:xfrm>
          <a:custGeom>
            <a:avLst/>
            <a:gdLst/>
            <a:ahLst/>
            <a:cxnLst/>
            <a:rect l="0" t="0" r="r" b="b"/>
            <a:pathLst>
              <a:path w="6854" h="28">
                <a:moveTo>
                  <a:pt x="0" y="0"/>
                </a:moveTo>
                <a:lnTo>
                  <a:pt x="6854" y="0"/>
                </a:lnTo>
                <a:lnTo>
                  <a:pt x="68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Forma libre 101"/>
          <p:cNvSpPr/>
          <p:nvPr/>
        </p:nvSpPr>
        <p:spPr>
          <a:xfrm>
            <a:off x="690480" y="4790880"/>
            <a:ext cx="10834920" cy="1067040"/>
          </a:xfrm>
          <a:custGeom>
            <a:avLst/>
            <a:gdLst/>
            <a:ahLst/>
            <a:cxnLst/>
            <a:rect l="0" t="0" r="r" b="b"/>
            <a:pathLst>
              <a:path w="30097" h="2964">
                <a:moveTo>
                  <a:pt x="0" y="2964"/>
                </a:moveTo>
                <a:lnTo>
                  <a:pt x="0" y="0"/>
                </a:lnTo>
                <a:lnTo>
                  <a:pt x="29938" y="0"/>
                </a:lnTo>
                <a:cubicBezTo>
                  <a:pt x="29949" y="0"/>
                  <a:pt x="29959" y="1"/>
                  <a:pt x="29969" y="3"/>
                </a:cubicBezTo>
                <a:cubicBezTo>
                  <a:pt x="29980" y="5"/>
                  <a:pt x="29989" y="8"/>
                  <a:pt x="29999" y="12"/>
                </a:cubicBezTo>
                <a:cubicBezTo>
                  <a:pt x="30009" y="16"/>
                  <a:pt x="30018" y="21"/>
                  <a:pt x="30027" y="28"/>
                </a:cubicBezTo>
                <a:cubicBezTo>
                  <a:pt x="30035" y="34"/>
                  <a:pt x="30043" y="40"/>
                  <a:pt x="30051" y="48"/>
                </a:cubicBezTo>
                <a:cubicBezTo>
                  <a:pt x="30058" y="55"/>
                  <a:pt x="30065" y="63"/>
                  <a:pt x="30070" y="72"/>
                </a:cubicBezTo>
                <a:cubicBezTo>
                  <a:pt x="30076" y="80"/>
                  <a:pt x="30081" y="89"/>
                  <a:pt x="30085" y="99"/>
                </a:cubicBezTo>
                <a:cubicBezTo>
                  <a:pt x="30089" y="109"/>
                  <a:pt x="30092" y="119"/>
                  <a:pt x="30094" y="129"/>
                </a:cubicBezTo>
                <a:cubicBezTo>
                  <a:pt x="30096" y="139"/>
                  <a:pt x="30097" y="149"/>
                  <a:pt x="30097" y="160"/>
                </a:cubicBezTo>
                <a:lnTo>
                  <a:pt x="30097" y="2806"/>
                </a:lnTo>
                <a:cubicBezTo>
                  <a:pt x="30097" y="2816"/>
                  <a:pt x="30096" y="2826"/>
                  <a:pt x="30094" y="2837"/>
                </a:cubicBezTo>
                <a:cubicBezTo>
                  <a:pt x="30092" y="2847"/>
                  <a:pt x="30089" y="2857"/>
                  <a:pt x="30085" y="2866"/>
                </a:cubicBezTo>
                <a:cubicBezTo>
                  <a:pt x="30081" y="2876"/>
                  <a:pt x="30076" y="2885"/>
                  <a:pt x="30070" y="2894"/>
                </a:cubicBezTo>
                <a:cubicBezTo>
                  <a:pt x="30065" y="2902"/>
                  <a:pt x="30058" y="2911"/>
                  <a:pt x="30051" y="2918"/>
                </a:cubicBezTo>
                <a:cubicBezTo>
                  <a:pt x="30043" y="2925"/>
                  <a:pt x="30035" y="2932"/>
                  <a:pt x="30027" y="2938"/>
                </a:cubicBezTo>
                <a:cubicBezTo>
                  <a:pt x="30018" y="2943"/>
                  <a:pt x="30009" y="2948"/>
                  <a:pt x="29999" y="2952"/>
                </a:cubicBezTo>
                <a:cubicBezTo>
                  <a:pt x="29989" y="2956"/>
                  <a:pt x="29980" y="2959"/>
                  <a:pt x="29969" y="2961"/>
                </a:cubicBezTo>
                <a:cubicBezTo>
                  <a:pt x="29959" y="2963"/>
                  <a:pt x="29949" y="2964"/>
                  <a:pt x="29938" y="2964"/>
                </a:cubicBezTo>
                <a:lnTo>
                  <a:pt x="0" y="2964"/>
                </a:lnTo>
                <a:close/>
              </a:path>
            </a:pathLst>
          </a:custGeom>
          <a:solidFill>
            <a:srgbClr val="FFF6E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Forma libre 102"/>
          <p:cNvSpPr/>
          <p:nvPr/>
        </p:nvSpPr>
        <p:spPr>
          <a:xfrm>
            <a:off x="666720" y="4790880"/>
            <a:ext cx="47880" cy="1067040"/>
          </a:xfrm>
          <a:custGeom>
            <a:avLst/>
            <a:gdLst/>
            <a:ahLst/>
            <a:cxnLst/>
            <a:rect l="0" t="0" r="r" b="b"/>
            <a:pathLst>
              <a:path w="133" h="2964">
                <a:moveTo>
                  <a:pt x="0" y="0"/>
                </a:moveTo>
                <a:lnTo>
                  <a:pt x="133" y="0"/>
                </a:lnTo>
                <a:lnTo>
                  <a:pt x="133" y="2964"/>
                </a:lnTo>
                <a:lnTo>
                  <a:pt x="0" y="2964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CuadroTexto 103"/>
          <p:cNvSpPr txBox="1"/>
          <p:nvPr/>
        </p:nvSpPr>
        <p:spPr>
          <a:xfrm>
            <a:off x="666720" y="1015560"/>
            <a:ext cx="42818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«El paciente toma metformina»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CuadroTexto 104"/>
          <p:cNvSpPr txBox="1"/>
          <p:nvPr/>
        </p:nvSpPr>
        <p:spPr>
          <a:xfrm>
            <a:off x="666720" y="1687320"/>
            <a:ext cx="5149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Esa frase, en datos, puede signiﬁcar cosas distintas: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CuadroTexto 105"/>
          <p:cNvSpPr txBox="1"/>
          <p:nvPr/>
        </p:nvSpPr>
        <p:spPr>
          <a:xfrm>
            <a:off x="879840" y="2247480"/>
            <a:ext cx="2100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Lo que ves en la fuente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Forma libre 106"/>
          <p:cNvSpPr/>
          <p:nvPr/>
        </p:nvSpPr>
        <p:spPr>
          <a:xfrm>
            <a:off x="799920" y="2657160"/>
            <a:ext cx="2067120" cy="228960"/>
          </a:xfrm>
          <a:custGeom>
            <a:avLst/>
            <a:gdLst/>
            <a:ahLst/>
            <a:cxnLst/>
            <a:rect l="0" t="0" r="r" b="b"/>
            <a:pathLst>
              <a:path w="5742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637" y="0"/>
                </a:lnTo>
                <a:cubicBezTo>
                  <a:pt x="5651" y="0"/>
                  <a:pt x="5664" y="3"/>
                  <a:pt x="5677" y="8"/>
                </a:cubicBezTo>
                <a:cubicBezTo>
                  <a:pt x="5690" y="14"/>
                  <a:pt x="5702" y="21"/>
                  <a:pt x="5711" y="31"/>
                </a:cubicBezTo>
                <a:cubicBezTo>
                  <a:pt x="5721" y="41"/>
                  <a:pt x="5729" y="53"/>
                  <a:pt x="5734" y="66"/>
                </a:cubicBezTo>
                <a:cubicBezTo>
                  <a:pt x="5740" y="79"/>
                  <a:pt x="5742" y="92"/>
                  <a:pt x="5742" y="106"/>
                </a:cubicBezTo>
                <a:lnTo>
                  <a:pt x="5742" y="530"/>
                </a:lnTo>
                <a:cubicBezTo>
                  <a:pt x="5742" y="544"/>
                  <a:pt x="5740" y="558"/>
                  <a:pt x="5734" y="571"/>
                </a:cubicBezTo>
                <a:cubicBezTo>
                  <a:pt x="5729" y="584"/>
                  <a:pt x="5721" y="595"/>
                  <a:pt x="5711" y="605"/>
                </a:cubicBezTo>
                <a:cubicBezTo>
                  <a:pt x="5702" y="615"/>
                  <a:pt x="5690" y="623"/>
                  <a:pt x="5677" y="628"/>
                </a:cubicBezTo>
                <a:cubicBezTo>
                  <a:pt x="5664" y="634"/>
                  <a:pt x="5651" y="636"/>
                  <a:pt x="5637" y="636"/>
                </a:cubicBezTo>
                <a:lnTo>
                  <a:pt x="106" y="636"/>
                </a:lnTo>
                <a:cubicBezTo>
                  <a:pt x="92" y="636"/>
                  <a:pt x="78" y="634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CuadroTexto 107"/>
          <p:cNvSpPr txBox="1"/>
          <p:nvPr/>
        </p:nvSpPr>
        <p:spPr>
          <a:xfrm>
            <a:off x="3494880" y="2247480"/>
            <a:ext cx="18525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Lo que realmente 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CuadroTexto 108"/>
          <p:cNvSpPr txBox="1"/>
          <p:nvPr/>
        </p:nvSpPr>
        <p:spPr>
          <a:xfrm>
            <a:off x="857160" y="2678760"/>
            <a:ext cx="19458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GLUCOPHAGE 850MG TAB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Forma libre 109"/>
          <p:cNvSpPr/>
          <p:nvPr/>
        </p:nvSpPr>
        <p:spPr>
          <a:xfrm>
            <a:off x="799920" y="3076560"/>
            <a:ext cx="2257920" cy="228960"/>
          </a:xfrm>
          <a:custGeom>
            <a:avLst/>
            <a:gdLst/>
            <a:ahLst/>
            <a:cxnLst/>
            <a:rect l="0" t="0" r="r" b="b"/>
            <a:pathLst>
              <a:path w="6272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2"/>
                </a:cubicBezTo>
                <a:cubicBezTo>
                  <a:pt x="41" y="22"/>
                  <a:pt x="52" y="14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6166" y="0"/>
                </a:lnTo>
                <a:cubicBezTo>
                  <a:pt x="6180" y="0"/>
                  <a:pt x="6193" y="2"/>
                  <a:pt x="6206" y="8"/>
                </a:cubicBezTo>
                <a:cubicBezTo>
                  <a:pt x="6219" y="14"/>
                  <a:pt x="6231" y="22"/>
                  <a:pt x="6241" y="32"/>
                </a:cubicBezTo>
                <a:cubicBezTo>
                  <a:pt x="6251" y="41"/>
                  <a:pt x="6258" y="53"/>
                  <a:pt x="6264" y="66"/>
                </a:cubicBezTo>
                <a:cubicBezTo>
                  <a:pt x="6269" y="79"/>
                  <a:pt x="6272" y="92"/>
                  <a:pt x="6272" y="106"/>
                </a:cubicBezTo>
                <a:lnTo>
                  <a:pt x="6272" y="530"/>
                </a:lnTo>
                <a:cubicBezTo>
                  <a:pt x="6272" y="544"/>
                  <a:pt x="6269" y="557"/>
                  <a:pt x="6264" y="570"/>
                </a:cubicBezTo>
                <a:cubicBezTo>
                  <a:pt x="6258" y="583"/>
                  <a:pt x="6251" y="595"/>
                  <a:pt x="6241" y="605"/>
                </a:cubicBezTo>
                <a:cubicBezTo>
                  <a:pt x="6231" y="614"/>
                  <a:pt x="6219" y="622"/>
                  <a:pt x="6206" y="627"/>
                </a:cubicBezTo>
                <a:cubicBezTo>
                  <a:pt x="6193" y="633"/>
                  <a:pt x="6180" y="636"/>
                  <a:pt x="6166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7"/>
                </a:cubicBezTo>
                <a:cubicBezTo>
                  <a:pt x="52" y="622"/>
                  <a:pt x="41" y="614"/>
                  <a:pt x="31" y="605"/>
                </a:cubicBezTo>
                <a:cubicBezTo>
                  <a:pt x="21" y="595"/>
                  <a:pt x="13" y="583"/>
                  <a:pt x="8" y="570"/>
                </a:cubicBezTo>
                <a:cubicBezTo>
                  <a:pt x="3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CuadroTexto 110"/>
          <p:cNvSpPr txBox="1"/>
          <p:nvPr/>
        </p:nvSpPr>
        <p:spPr>
          <a:xfrm>
            <a:off x="3316320" y="2647440"/>
            <a:ext cx="18630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marca + dosis + forma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CuadroTexto 111"/>
          <p:cNvSpPr txBox="1"/>
          <p:nvPr/>
        </p:nvSpPr>
        <p:spPr>
          <a:xfrm>
            <a:off x="857160" y="3097800"/>
            <a:ext cx="21405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METFORMINA CLORHIDRATO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Forma libre 112"/>
          <p:cNvSpPr/>
          <p:nvPr/>
        </p:nvSpPr>
        <p:spPr>
          <a:xfrm>
            <a:off x="799920" y="3495600"/>
            <a:ext cx="1581480" cy="228960"/>
          </a:xfrm>
          <a:custGeom>
            <a:avLst/>
            <a:gdLst/>
            <a:ahLst/>
            <a:cxnLst/>
            <a:rect l="0" t="0" r="r" b="b"/>
            <a:pathLst>
              <a:path w="4393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4286" y="0"/>
                </a:lnTo>
                <a:cubicBezTo>
                  <a:pt x="4300" y="0"/>
                  <a:pt x="4314" y="2"/>
                  <a:pt x="4327" y="8"/>
                </a:cubicBezTo>
                <a:cubicBezTo>
                  <a:pt x="4340" y="13"/>
                  <a:pt x="4351" y="21"/>
                  <a:pt x="4361" y="31"/>
                </a:cubicBezTo>
                <a:cubicBezTo>
                  <a:pt x="4372" y="41"/>
                  <a:pt x="4380" y="52"/>
                  <a:pt x="4385" y="65"/>
                </a:cubicBezTo>
                <a:cubicBezTo>
                  <a:pt x="4390" y="78"/>
                  <a:pt x="4393" y="92"/>
                  <a:pt x="4393" y="106"/>
                </a:cubicBezTo>
                <a:lnTo>
                  <a:pt x="4393" y="530"/>
                </a:lnTo>
                <a:cubicBezTo>
                  <a:pt x="4393" y="544"/>
                  <a:pt x="4390" y="557"/>
                  <a:pt x="4385" y="570"/>
                </a:cubicBezTo>
                <a:cubicBezTo>
                  <a:pt x="4380" y="583"/>
                  <a:pt x="4372" y="595"/>
                  <a:pt x="4361" y="605"/>
                </a:cubicBezTo>
                <a:cubicBezTo>
                  <a:pt x="4351" y="615"/>
                  <a:pt x="4340" y="622"/>
                  <a:pt x="4327" y="628"/>
                </a:cubicBezTo>
                <a:cubicBezTo>
                  <a:pt x="4314" y="633"/>
                  <a:pt x="4300" y="636"/>
                  <a:pt x="4286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3" y="583"/>
                  <a:pt x="8" y="570"/>
                </a:cubicBezTo>
                <a:cubicBezTo>
                  <a:pt x="3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CuadroTexto 113"/>
          <p:cNvSpPr txBox="1"/>
          <p:nvPr/>
        </p:nvSpPr>
        <p:spPr>
          <a:xfrm>
            <a:off x="3316320" y="3066840"/>
            <a:ext cx="19062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sal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no el ingrediente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CuadroTexto 114"/>
          <p:cNvSpPr txBox="1"/>
          <p:nvPr/>
        </p:nvSpPr>
        <p:spPr>
          <a:xfrm>
            <a:off x="857160" y="3516840"/>
            <a:ext cx="1459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JANUMET 50/1000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Forma libre 115"/>
          <p:cNvSpPr/>
          <p:nvPr/>
        </p:nvSpPr>
        <p:spPr>
          <a:xfrm>
            <a:off x="799920" y="3904920"/>
            <a:ext cx="1581480" cy="228960"/>
          </a:xfrm>
          <a:custGeom>
            <a:avLst/>
            <a:gdLst/>
            <a:ahLst/>
            <a:cxnLst/>
            <a:rect l="0" t="0" r="r" b="b"/>
            <a:pathLst>
              <a:path w="4393" h="636">
                <a:moveTo>
                  <a:pt x="0" y="531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4286" y="0"/>
                </a:lnTo>
                <a:cubicBezTo>
                  <a:pt x="4300" y="0"/>
                  <a:pt x="4314" y="3"/>
                  <a:pt x="4327" y="8"/>
                </a:cubicBezTo>
                <a:cubicBezTo>
                  <a:pt x="4340" y="14"/>
                  <a:pt x="4351" y="21"/>
                  <a:pt x="4361" y="31"/>
                </a:cubicBezTo>
                <a:cubicBezTo>
                  <a:pt x="4372" y="41"/>
                  <a:pt x="4380" y="53"/>
                  <a:pt x="4385" y="66"/>
                </a:cubicBezTo>
                <a:cubicBezTo>
                  <a:pt x="4390" y="79"/>
                  <a:pt x="4393" y="92"/>
                  <a:pt x="4393" y="106"/>
                </a:cubicBezTo>
                <a:lnTo>
                  <a:pt x="4393" y="531"/>
                </a:lnTo>
                <a:cubicBezTo>
                  <a:pt x="4393" y="545"/>
                  <a:pt x="4390" y="558"/>
                  <a:pt x="4385" y="571"/>
                </a:cubicBezTo>
                <a:cubicBezTo>
                  <a:pt x="4380" y="584"/>
                  <a:pt x="4372" y="595"/>
                  <a:pt x="4361" y="605"/>
                </a:cubicBezTo>
                <a:cubicBezTo>
                  <a:pt x="4351" y="615"/>
                  <a:pt x="4340" y="623"/>
                  <a:pt x="4327" y="628"/>
                </a:cubicBezTo>
                <a:cubicBezTo>
                  <a:pt x="4314" y="634"/>
                  <a:pt x="4300" y="636"/>
                  <a:pt x="4286" y="636"/>
                </a:cubicBezTo>
                <a:lnTo>
                  <a:pt x="106" y="636"/>
                </a:lnTo>
                <a:cubicBezTo>
                  <a:pt x="92" y="636"/>
                  <a:pt x="78" y="634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3" y="558"/>
                  <a:pt x="0" y="545"/>
                  <a:pt x="0" y="531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CuadroTexto 116"/>
          <p:cNvSpPr txBox="1"/>
          <p:nvPr/>
        </p:nvSpPr>
        <p:spPr>
          <a:xfrm>
            <a:off x="3316320" y="3485880"/>
            <a:ext cx="21427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metformina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+ sitagliptina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CuadroTexto 117"/>
          <p:cNvSpPr txBox="1"/>
          <p:nvPr/>
        </p:nvSpPr>
        <p:spPr>
          <a:xfrm>
            <a:off x="857160" y="3926520"/>
            <a:ext cx="1459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Met 1g VO c/12h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Forma libre 118"/>
          <p:cNvSpPr/>
          <p:nvPr/>
        </p:nvSpPr>
        <p:spPr>
          <a:xfrm>
            <a:off x="799920" y="4324320"/>
            <a:ext cx="800280" cy="228960"/>
          </a:xfrm>
          <a:custGeom>
            <a:avLst/>
            <a:gdLst/>
            <a:ahLst/>
            <a:cxnLst/>
            <a:rect l="0" t="0" r="r" b="b"/>
            <a:pathLst>
              <a:path w="2223" h="636">
                <a:moveTo>
                  <a:pt x="0" y="530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2118" y="0"/>
                </a:lnTo>
                <a:cubicBezTo>
                  <a:pt x="2132" y="0"/>
                  <a:pt x="2145" y="2"/>
                  <a:pt x="2158" y="8"/>
                </a:cubicBezTo>
                <a:cubicBezTo>
                  <a:pt x="2171" y="13"/>
                  <a:pt x="2183" y="21"/>
                  <a:pt x="2193" y="31"/>
                </a:cubicBezTo>
                <a:cubicBezTo>
                  <a:pt x="2202" y="41"/>
                  <a:pt x="2210" y="52"/>
                  <a:pt x="2215" y="65"/>
                </a:cubicBezTo>
                <a:cubicBezTo>
                  <a:pt x="2221" y="78"/>
                  <a:pt x="2223" y="91"/>
                  <a:pt x="2223" y="105"/>
                </a:cubicBezTo>
                <a:lnTo>
                  <a:pt x="2223" y="530"/>
                </a:lnTo>
                <a:cubicBezTo>
                  <a:pt x="2223" y="544"/>
                  <a:pt x="2221" y="557"/>
                  <a:pt x="2215" y="570"/>
                </a:cubicBezTo>
                <a:cubicBezTo>
                  <a:pt x="2210" y="583"/>
                  <a:pt x="2202" y="595"/>
                  <a:pt x="2193" y="605"/>
                </a:cubicBezTo>
                <a:cubicBezTo>
                  <a:pt x="2183" y="615"/>
                  <a:pt x="2171" y="622"/>
                  <a:pt x="2158" y="628"/>
                </a:cubicBezTo>
                <a:cubicBezTo>
                  <a:pt x="2145" y="633"/>
                  <a:pt x="2132" y="636"/>
                  <a:pt x="2118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3" y="583"/>
                  <a:pt x="8" y="570"/>
                </a:cubicBezTo>
                <a:cubicBezTo>
                  <a:pt x="3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CuadroTexto 119"/>
          <p:cNvSpPr txBox="1"/>
          <p:nvPr/>
        </p:nvSpPr>
        <p:spPr>
          <a:xfrm>
            <a:off x="3316320" y="3895200"/>
            <a:ext cx="17578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texto libre del médico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CuadroTexto 120"/>
          <p:cNvSpPr txBox="1"/>
          <p:nvPr/>
        </p:nvSpPr>
        <p:spPr>
          <a:xfrm>
            <a:off x="857160" y="4345560"/>
            <a:ext cx="6814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A10BA02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CuadroTexto 121"/>
          <p:cNvSpPr txBox="1"/>
          <p:nvPr/>
        </p:nvSpPr>
        <p:spPr>
          <a:xfrm>
            <a:off x="3316320" y="4314600"/>
            <a:ext cx="2209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una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clase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no un producto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CuadroTexto 122"/>
          <p:cNvSpPr txBox="1"/>
          <p:nvPr/>
        </p:nvSpPr>
        <p:spPr>
          <a:xfrm>
            <a:off x="885960" y="4944960"/>
            <a:ext cx="10400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Todas esas ﬁlas deben poder contarse como «expuesto a metformina», y ninguna de ellas se parece a las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CuadroTexto 123"/>
          <p:cNvSpPr txBox="1"/>
          <p:nvPr/>
        </p:nvSpPr>
        <p:spPr>
          <a:xfrm>
            <a:off x="885960" y="5287680"/>
            <a:ext cx="3672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demás. Ése es el trabajo de RxNorm.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CuadroTexto 12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CuadroTexto 12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CuadroTexto 126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Forma libre 12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Forma libre 12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Forma libre 12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Forma libre 130"/>
          <p:cNvSpPr/>
          <p:nvPr/>
        </p:nvSpPr>
        <p:spPr>
          <a:xfrm>
            <a:off x="666720" y="394308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Forma libre 131"/>
          <p:cNvSpPr/>
          <p:nvPr/>
        </p:nvSpPr>
        <p:spPr>
          <a:xfrm>
            <a:off x="666720" y="394308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Forma libre 132"/>
          <p:cNvSpPr/>
          <p:nvPr/>
        </p:nvSpPr>
        <p:spPr>
          <a:xfrm>
            <a:off x="914040" y="28000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CuadroTexto 133"/>
          <p:cNvSpPr txBox="1"/>
          <p:nvPr/>
        </p:nvSpPr>
        <p:spPr>
          <a:xfrm>
            <a:off x="666720" y="2015640"/>
            <a:ext cx="38728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 que cambia entre países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Forma libre 134"/>
          <p:cNvSpPr/>
          <p:nvPr/>
        </p:nvSpPr>
        <p:spPr>
          <a:xfrm>
            <a:off x="914040" y="32000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CuadroTexto 135"/>
          <p:cNvSpPr txBox="1"/>
          <p:nvPr/>
        </p:nvSpPr>
        <p:spPr>
          <a:xfrm>
            <a:off x="1123920" y="2687400"/>
            <a:ext cx="69904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ingrediente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es universal: metformina es metformina en todas partes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Forma libre 136"/>
          <p:cNvSpPr/>
          <p:nvPr/>
        </p:nvSpPr>
        <p:spPr>
          <a:xfrm>
            <a:off x="914040" y="36003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CuadroTexto 137"/>
          <p:cNvSpPr txBox="1"/>
          <p:nvPr/>
        </p:nvSpPr>
        <p:spPr>
          <a:xfrm>
            <a:off x="1123920" y="3087720"/>
            <a:ext cx="70765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producto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no lo es: presentaciones, dosis y marcas cambian por país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CuadroTexto 138"/>
          <p:cNvSpPr txBox="1"/>
          <p:nvPr/>
        </p:nvSpPr>
        <p:spPr>
          <a:xfrm>
            <a:off x="1123920" y="3487680"/>
            <a:ext cx="9982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RxNorm nació con el mercado de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EUA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; para el resto del mundo, OMOP publica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RxNorm Extension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CuadroTexto 139"/>
          <p:cNvSpPr txBox="1"/>
          <p:nvPr/>
        </p:nvSpPr>
        <p:spPr>
          <a:xfrm>
            <a:off x="905040" y="4097160"/>
            <a:ext cx="100569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Regla práctica: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cuenta ingredientes, no productos.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Un estudio que compara países y se deﬁne por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CuadroTexto 140"/>
          <p:cNvSpPr txBox="1"/>
          <p:nvPr/>
        </p:nvSpPr>
        <p:spPr>
          <a:xfrm>
            <a:off x="905040" y="4440240"/>
            <a:ext cx="2909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productos no es comparable.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CuadroTexto 14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CuadroTexto 14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CuadroTexto 143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Forma libre 14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Forma libre 14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Forma libre 14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CuadroTexto 147"/>
          <p:cNvSpPr txBox="1"/>
          <p:nvPr/>
        </p:nvSpPr>
        <p:spPr>
          <a:xfrm>
            <a:off x="3629520" y="3063960"/>
            <a:ext cx="504972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2. RxNorm por dentro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CuadroTexto 14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CuadroTexto 14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CuadroTexto 150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Forma libre 15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Forma libre 15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Forma libre 15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Forma libre 154"/>
          <p:cNvSpPr/>
          <p:nvPr/>
        </p:nvSpPr>
        <p:spPr>
          <a:xfrm>
            <a:off x="676080" y="2085840"/>
            <a:ext cx="1524240" cy="410040"/>
          </a:xfrm>
          <a:custGeom>
            <a:avLst/>
            <a:gdLst/>
            <a:ahLst/>
            <a:cxnLst/>
            <a:rect l="0" t="0" r="r" b="b"/>
            <a:pathLst>
              <a:path w="4234" h="1139">
                <a:moveTo>
                  <a:pt x="0" y="0"/>
                </a:moveTo>
                <a:lnTo>
                  <a:pt x="4234" y="0"/>
                </a:lnTo>
                <a:lnTo>
                  <a:pt x="423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Forma libre 155"/>
          <p:cNvSpPr/>
          <p:nvPr/>
        </p:nvSpPr>
        <p:spPr>
          <a:xfrm>
            <a:off x="2199960" y="2085840"/>
            <a:ext cx="2781720" cy="410040"/>
          </a:xfrm>
          <a:custGeom>
            <a:avLst/>
            <a:gdLst/>
            <a:ahLst/>
            <a:cxnLst/>
            <a:rect l="0" t="0" r="r" b="b"/>
            <a:pathLst>
              <a:path w="7727" h="1139">
                <a:moveTo>
                  <a:pt x="0" y="0"/>
                </a:moveTo>
                <a:lnTo>
                  <a:pt x="7727" y="0"/>
                </a:lnTo>
                <a:lnTo>
                  <a:pt x="77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Forma libre 156"/>
          <p:cNvSpPr/>
          <p:nvPr/>
        </p:nvSpPr>
        <p:spPr>
          <a:xfrm>
            <a:off x="4981320" y="2085840"/>
            <a:ext cx="4753440" cy="410040"/>
          </a:xfrm>
          <a:custGeom>
            <a:avLst/>
            <a:gdLst/>
            <a:ahLst/>
            <a:cxnLst/>
            <a:rect l="0" t="0" r="r" b="b"/>
            <a:pathLst>
              <a:path w="13204" h="1139">
                <a:moveTo>
                  <a:pt x="0" y="0"/>
                </a:moveTo>
                <a:lnTo>
                  <a:pt x="13204" y="0"/>
                </a:lnTo>
                <a:lnTo>
                  <a:pt x="1320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Forma libre 157"/>
          <p:cNvSpPr/>
          <p:nvPr/>
        </p:nvSpPr>
        <p:spPr>
          <a:xfrm>
            <a:off x="676080" y="2085840"/>
            <a:ext cx="1524240" cy="410040"/>
          </a:xfrm>
          <a:custGeom>
            <a:avLst/>
            <a:gdLst/>
            <a:ahLst/>
            <a:cxnLst/>
            <a:rect l="0" t="0" r="r" b="b"/>
            <a:pathLst>
              <a:path w="4234" h="1139">
                <a:moveTo>
                  <a:pt x="0" y="0"/>
                </a:moveTo>
                <a:lnTo>
                  <a:pt x="4234" y="0"/>
                </a:lnTo>
                <a:lnTo>
                  <a:pt x="423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Forma libre 158"/>
          <p:cNvSpPr/>
          <p:nvPr/>
        </p:nvSpPr>
        <p:spPr>
          <a:xfrm>
            <a:off x="2199960" y="2085840"/>
            <a:ext cx="2781720" cy="410040"/>
          </a:xfrm>
          <a:custGeom>
            <a:avLst/>
            <a:gdLst/>
            <a:ahLst/>
            <a:cxnLst/>
            <a:rect l="0" t="0" r="r" b="b"/>
            <a:pathLst>
              <a:path w="7727" h="1139">
                <a:moveTo>
                  <a:pt x="0" y="0"/>
                </a:moveTo>
                <a:lnTo>
                  <a:pt x="7727" y="0"/>
                </a:lnTo>
                <a:lnTo>
                  <a:pt x="77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Forma libre 159"/>
          <p:cNvSpPr/>
          <p:nvPr/>
        </p:nvSpPr>
        <p:spPr>
          <a:xfrm>
            <a:off x="4981320" y="2085840"/>
            <a:ext cx="4753440" cy="410040"/>
          </a:xfrm>
          <a:custGeom>
            <a:avLst/>
            <a:gdLst/>
            <a:ahLst/>
            <a:cxnLst/>
            <a:rect l="0" t="0" r="r" b="b"/>
            <a:pathLst>
              <a:path w="13204" h="1139">
                <a:moveTo>
                  <a:pt x="0" y="0"/>
                </a:moveTo>
                <a:lnTo>
                  <a:pt x="13204" y="0"/>
                </a:lnTo>
                <a:lnTo>
                  <a:pt x="13204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Forma libre 160"/>
          <p:cNvSpPr/>
          <p:nvPr/>
        </p:nvSpPr>
        <p:spPr>
          <a:xfrm>
            <a:off x="676080" y="2495520"/>
            <a:ext cx="1524240" cy="419400"/>
          </a:xfrm>
          <a:custGeom>
            <a:avLst/>
            <a:gdLst/>
            <a:ahLst/>
            <a:cxnLst/>
            <a:rect l="0" t="0" r="r" b="b"/>
            <a:pathLst>
              <a:path w="4234" h="1165">
                <a:moveTo>
                  <a:pt x="0" y="0"/>
                </a:moveTo>
                <a:lnTo>
                  <a:pt x="4234" y="0"/>
                </a:lnTo>
                <a:lnTo>
                  <a:pt x="423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Forma libre 161"/>
          <p:cNvSpPr/>
          <p:nvPr/>
        </p:nvSpPr>
        <p:spPr>
          <a:xfrm>
            <a:off x="2199960" y="2495520"/>
            <a:ext cx="2781720" cy="419400"/>
          </a:xfrm>
          <a:custGeom>
            <a:avLst/>
            <a:gdLst/>
            <a:ahLst/>
            <a:cxnLst/>
            <a:rect l="0" t="0" r="r" b="b"/>
            <a:pathLst>
              <a:path w="7727" h="1165">
                <a:moveTo>
                  <a:pt x="0" y="0"/>
                </a:moveTo>
                <a:lnTo>
                  <a:pt x="7727" y="0"/>
                </a:lnTo>
                <a:lnTo>
                  <a:pt x="77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Forma libre 162"/>
          <p:cNvSpPr/>
          <p:nvPr/>
        </p:nvSpPr>
        <p:spPr>
          <a:xfrm>
            <a:off x="4981320" y="2495520"/>
            <a:ext cx="4753440" cy="419400"/>
          </a:xfrm>
          <a:custGeom>
            <a:avLst/>
            <a:gdLst/>
            <a:ahLst/>
            <a:cxnLst/>
            <a:rect l="0" t="0" r="r" b="b"/>
            <a:pathLst>
              <a:path w="13204" h="1165">
                <a:moveTo>
                  <a:pt x="0" y="0"/>
                </a:moveTo>
                <a:lnTo>
                  <a:pt x="13204" y="0"/>
                </a:lnTo>
                <a:lnTo>
                  <a:pt x="1320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Forma libre 163"/>
          <p:cNvSpPr/>
          <p:nvPr/>
        </p:nvSpPr>
        <p:spPr>
          <a:xfrm>
            <a:off x="676080" y="2914560"/>
            <a:ext cx="1524240" cy="419400"/>
          </a:xfrm>
          <a:custGeom>
            <a:avLst/>
            <a:gdLst/>
            <a:ahLst/>
            <a:cxnLst/>
            <a:rect l="0" t="0" r="r" b="b"/>
            <a:pathLst>
              <a:path w="4234" h="1165">
                <a:moveTo>
                  <a:pt x="0" y="0"/>
                </a:moveTo>
                <a:lnTo>
                  <a:pt x="4234" y="0"/>
                </a:lnTo>
                <a:lnTo>
                  <a:pt x="423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Forma libre 164"/>
          <p:cNvSpPr/>
          <p:nvPr/>
        </p:nvSpPr>
        <p:spPr>
          <a:xfrm>
            <a:off x="2199960" y="2914560"/>
            <a:ext cx="2781720" cy="419400"/>
          </a:xfrm>
          <a:custGeom>
            <a:avLst/>
            <a:gdLst/>
            <a:ahLst/>
            <a:cxnLst/>
            <a:rect l="0" t="0" r="r" b="b"/>
            <a:pathLst>
              <a:path w="7727" h="1165">
                <a:moveTo>
                  <a:pt x="0" y="0"/>
                </a:moveTo>
                <a:lnTo>
                  <a:pt x="7727" y="0"/>
                </a:lnTo>
                <a:lnTo>
                  <a:pt x="77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Forma libre 165"/>
          <p:cNvSpPr/>
          <p:nvPr/>
        </p:nvSpPr>
        <p:spPr>
          <a:xfrm>
            <a:off x="4981320" y="2914560"/>
            <a:ext cx="4753440" cy="419400"/>
          </a:xfrm>
          <a:custGeom>
            <a:avLst/>
            <a:gdLst/>
            <a:ahLst/>
            <a:cxnLst/>
            <a:rect l="0" t="0" r="r" b="b"/>
            <a:pathLst>
              <a:path w="13204" h="1165">
                <a:moveTo>
                  <a:pt x="0" y="0"/>
                </a:moveTo>
                <a:lnTo>
                  <a:pt x="13204" y="0"/>
                </a:lnTo>
                <a:lnTo>
                  <a:pt x="1320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Forma libre 166"/>
          <p:cNvSpPr/>
          <p:nvPr/>
        </p:nvSpPr>
        <p:spPr>
          <a:xfrm>
            <a:off x="676080" y="3333600"/>
            <a:ext cx="1524240" cy="419400"/>
          </a:xfrm>
          <a:custGeom>
            <a:avLst/>
            <a:gdLst/>
            <a:ahLst/>
            <a:cxnLst/>
            <a:rect l="0" t="0" r="r" b="b"/>
            <a:pathLst>
              <a:path w="4234" h="1165">
                <a:moveTo>
                  <a:pt x="0" y="0"/>
                </a:moveTo>
                <a:lnTo>
                  <a:pt x="4234" y="0"/>
                </a:lnTo>
                <a:lnTo>
                  <a:pt x="423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Forma libre 167"/>
          <p:cNvSpPr/>
          <p:nvPr/>
        </p:nvSpPr>
        <p:spPr>
          <a:xfrm>
            <a:off x="2199960" y="3333600"/>
            <a:ext cx="2781720" cy="419400"/>
          </a:xfrm>
          <a:custGeom>
            <a:avLst/>
            <a:gdLst/>
            <a:ahLst/>
            <a:cxnLst/>
            <a:rect l="0" t="0" r="r" b="b"/>
            <a:pathLst>
              <a:path w="7727" h="1165">
                <a:moveTo>
                  <a:pt x="0" y="0"/>
                </a:moveTo>
                <a:lnTo>
                  <a:pt x="7727" y="0"/>
                </a:lnTo>
                <a:lnTo>
                  <a:pt x="77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Forma libre 168"/>
          <p:cNvSpPr/>
          <p:nvPr/>
        </p:nvSpPr>
        <p:spPr>
          <a:xfrm>
            <a:off x="4981320" y="3333600"/>
            <a:ext cx="4753440" cy="419400"/>
          </a:xfrm>
          <a:custGeom>
            <a:avLst/>
            <a:gdLst/>
            <a:ahLst/>
            <a:cxnLst/>
            <a:rect l="0" t="0" r="r" b="b"/>
            <a:pathLst>
              <a:path w="13204" h="1165">
                <a:moveTo>
                  <a:pt x="0" y="0"/>
                </a:moveTo>
                <a:lnTo>
                  <a:pt x="13204" y="0"/>
                </a:lnTo>
                <a:lnTo>
                  <a:pt x="1320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Forma libre 169"/>
          <p:cNvSpPr/>
          <p:nvPr/>
        </p:nvSpPr>
        <p:spPr>
          <a:xfrm>
            <a:off x="676080" y="3752640"/>
            <a:ext cx="1524240" cy="419400"/>
          </a:xfrm>
          <a:custGeom>
            <a:avLst/>
            <a:gdLst/>
            <a:ahLst/>
            <a:cxnLst/>
            <a:rect l="0" t="0" r="r" b="b"/>
            <a:pathLst>
              <a:path w="4234" h="1165">
                <a:moveTo>
                  <a:pt x="0" y="0"/>
                </a:moveTo>
                <a:lnTo>
                  <a:pt x="4234" y="0"/>
                </a:lnTo>
                <a:lnTo>
                  <a:pt x="423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Forma libre 170"/>
          <p:cNvSpPr/>
          <p:nvPr/>
        </p:nvSpPr>
        <p:spPr>
          <a:xfrm>
            <a:off x="2199960" y="3752640"/>
            <a:ext cx="2781720" cy="419400"/>
          </a:xfrm>
          <a:custGeom>
            <a:avLst/>
            <a:gdLst/>
            <a:ahLst/>
            <a:cxnLst/>
            <a:rect l="0" t="0" r="r" b="b"/>
            <a:pathLst>
              <a:path w="7727" h="1165">
                <a:moveTo>
                  <a:pt x="0" y="0"/>
                </a:moveTo>
                <a:lnTo>
                  <a:pt x="7727" y="0"/>
                </a:lnTo>
                <a:lnTo>
                  <a:pt x="77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Forma libre 171"/>
          <p:cNvSpPr/>
          <p:nvPr/>
        </p:nvSpPr>
        <p:spPr>
          <a:xfrm>
            <a:off x="4981320" y="3752640"/>
            <a:ext cx="4753440" cy="419400"/>
          </a:xfrm>
          <a:custGeom>
            <a:avLst/>
            <a:gdLst/>
            <a:ahLst/>
            <a:cxnLst/>
            <a:rect l="0" t="0" r="r" b="b"/>
            <a:pathLst>
              <a:path w="13204" h="1165">
                <a:moveTo>
                  <a:pt x="0" y="0"/>
                </a:moveTo>
                <a:lnTo>
                  <a:pt x="13204" y="0"/>
                </a:lnTo>
                <a:lnTo>
                  <a:pt x="1320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Forma libre 172"/>
          <p:cNvSpPr/>
          <p:nvPr/>
        </p:nvSpPr>
        <p:spPr>
          <a:xfrm>
            <a:off x="676080" y="4171680"/>
            <a:ext cx="1524240" cy="419400"/>
          </a:xfrm>
          <a:custGeom>
            <a:avLst/>
            <a:gdLst/>
            <a:ahLst/>
            <a:cxnLst/>
            <a:rect l="0" t="0" r="r" b="b"/>
            <a:pathLst>
              <a:path w="4234" h="1165">
                <a:moveTo>
                  <a:pt x="0" y="0"/>
                </a:moveTo>
                <a:lnTo>
                  <a:pt x="4234" y="0"/>
                </a:lnTo>
                <a:lnTo>
                  <a:pt x="423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Forma libre 173"/>
          <p:cNvSpPr/>
          <p:nvPr/>
        </p:nvSpPr>
        <p:spPr>
          <a:xfrm>
            <a:off x="2199960" y="4171680"/>
            <a:ext cx="2781720" cy="419400"/>
          </a:xfrm>
          <a:custGeom>
            <a:avLst/>
            <a:gdLst/>
            <a:ahLst/>
            <a:cxnLst/>
            <a:rect l="0" t="0" r="r" b="b"/>
            <a:pathLst>
              <a:path w="7727" h="1165">
                <a:moveTo>
                  <a:pt x="0" y="0"/>
                </a:moveTo>
                <a:lnTo>
                  <a:pt x="7727" y="0"/>
                </a:lnTo>
                <a:lnTo>
                  <a:pt x="77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Forma libre 174"/>
          <p:cNvSpPr/>
          <p:nvPr/>
        </p:nvSpPr>
        <p:spPr>
          <a:xfrm>
            <a:off x="4981320" y="4171680"/>
            <a:ext cx="4753440" cy="419400"/>
          </a:xfrm>
          <a:custGeom>
            <a:avLst/>
            <a:gdLst/>
            <a:ahLst/>
            <a:cxnLst/>
            <a:rect l="0" t="0" r="r" b="b"/>
            <a:pathLst>
              <a:path w="13204" h="1165">
                <a:moveTo>
                  <a:pt x="0" y="0"/>
                </a:moveTo>
                <a:lnTo>
                  <a:pt x="13204" y="0"/>
                </a:lnTo>
                <a:lnTo>
                  <a:pt x="1320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Forma libre 175"/>
          <p:cNvSpPr/>
          <p:nvPr/>
        </p:nvSpPr>
        <p:spPr>
          <a:xfrm>
            <a:off x="676080" y="4590720"/>
            <a:ext cx="1524240" cy="419760"/>
          </a:xfrm>
          <a:custGeom>
            <a:avLst/>
            <a:gdLst/>
            <a:ahLst/>
            <a:cxnLst/>
            <a:rect l="0" t="0" r="r" b="b"/>
            <a:pathLst>
              <a:path w="4234" h="1166">
                <a:moveTo>
                  <a:pt x="0" y="0"/>
                </a:moveTo>
                <a:lnTo>
                  <a:pt x="4234" y="0"/>
                </a:lnTo>
                <a:lnTo>
                  <a:pt x="4234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Forma libre 176"/>
          <p:cNvSpPr/>
          <p:nvPr/>
        </p:nvSpPr>
        <p:spPr>
          <a:xfrm>
            <a:off x="2199960" y="4590720"/>
            <a:ext cx="2781720" cy="419760"/>
          </a:xfrm>
          <a:custGeom>
            <a:avLst/>
            <a:gdLst/>
            <a:ahLst/>
            <a:cxnLst/>
            <a:rect l="0" t="0" r="r" b="b"/>
            <a:pathLst>
              <a:path w="7727" h="1166">
                <a:moveTo>
                  <a:pt x="0" y="0"/>
                </a:moveTo>
                <a:lnTo>
                  <a:pt x="7727" y="0"/>
                </a:lnTo>
                <a:lnTo>
                  <a:pt x="77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Forma libre 177"/>
          <p:cNvSpPr/>
          <p:nvPr/>
        </p:nvSpPr>
        <p:spPr>
          <a:xfrm>
            <a:off x="4981320" y="4590720"/>
            <a:ext cx="4753440" cy="419760"/>
          </a:xfrm>
          <a:custGeom>
            <a:avLst/>
            <a:gdLst/>
            <a:ahLst/>
            <a:cxnLst/>
            <a:rect l="0" t="0" r="r" b="b"/>
            <a:pathLst>
              <a:path w="13204" h="1166">
                <a:moveTo>
                  <a:pt x="0" y="0"/>
                </a:moveTo>
                <a:lnTo>
                  <a:pt x="13204" y="0"/>
                </a:lnTo>
                <a:lnTo>
                  <a:pt x="13204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Forma libre 178"/>
          <p:cNvSpPr/>
          <p:nvPr/>
        </p:nvSpPr>
        <p:spPr>
          <a:xfrm>
            <a:off x="676080" y="5010120"/>
            <a:ext cx="1524240" cy="419400"/>
          </a:xfrm>
          <a:custGeom>
            <a:avLst/>
            <a:gdLst/>
            <a:ahLst/>
            <a:cxnLst/>
            <a:rect l="0" t="0" r="r" b="b"/>
            <a:pathLst>
              <a:path w="4234" h="1165">
                <a:moveTo>
                  <a:pt x="0" y="0"/>
                </a:moveTo>
                <a:lnTo>
                  <a:pt x="4234" y="0"/>
                </a:lnTo>
                <a:lnTo>
                  <a:pt x="423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Forma libre 179"/>
          <p:cNvSpPr/>
          <p:nvPr/>
        </p:nvSpPr>
        <p:spPr>
          <a:xfrm>
            <a:off x="2199960" y="5010120"/>
            <a:ext cx="2781720" cy="419400"/>
          </a:xfrm>
          <a:custGeom>
            <a:avLst/>
            <a:gdLst/>
            <a:ahLst/>
            <a:cxnLst/>
            <a:rect l="0" t="0" r="r" b="b"/>
            <a:pathLst>
              <a:path w="7727" h="1165">
                <a:moveTo>
                  <a:pt x="0" y="0"/>
                </a:moveTo>
                <a:lnTo>
                  <a:pt x="7727" y="0"/>
                </a:lnTo>
                <a:lnTo>
                  <a:pt x="77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Forma libre 180"/>
          <p:cNvSpPr/>
          <p:nvPr/>
        </p:nvSpPr>
        <p:spPr>
          <a:xfrm>
            <a:off x="4981320" y="5010120"/>
            <a:ext cx="4753440" cy="419400"/>
          </a:xfrm>
          <a:custGeom>
            <a:avLst/>
            <a:gdLst/>
            <a:ahLst/>
            <a:cxnLst/>
            <a:rect l="0" t="0" r="r" b="b"/>
            <a:pathLst>
              <a:path w="13204" h="1165">
                <a:moveTo>
                  <a:pt x="0" y="0"/>
                </a:moveTo>
                <a:lnTo>
                  <a:pt x="13204" y="0"/>
                </a:lnTo>
                <a:lnTo>
                  <a:pt x="13204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Forma libre 181"/>
          <p:cNvSpPr/>
          <p:nvPr/>
        </p:nvSpPr>
        <p:spPr>
          <a:xfrm>
            <a:off x="666720" y="20761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Forma libre 182"/>
          <p:cNvSpPr/>
          <p:nvPr/>
        </p:nvSpPr>
        <p:spPr>
          <a:xfrm>
            <a:off x="666720" y="2076120"/>
            <a:ext cx="1533600" cy="10080"/>
          </a:xfrm>
          <a:custGeom>
            <a:avLst/>
            <a:gdLst/>
            <a:ahLst/>
            <a:cxnLst/>
            <a:rect l="0" t="0" r="r" b="b"/>
            <a:pathLst>
              <a:path w="4260" h="28">
                <a:moveTo>
                  <a:pt x="0" y="0"/>
                </a:moveTo>
                <a:lnTo>
                  <a:pt x="4260" y="0"/>
                </a:lnTo>
                <a:lnTo>
                  <a:pt x="42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Forma libre 183"/>
          <p:cNvSpPr/>
          <p:nvPr/>
        </p:nvSpPr>
        <p:spPr>
          <a:xfrm>
            <a:off x="2190600" y="20761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Forma libre 184"/>
          <p:cNvSpPr/>
          <p:nvPr/>
        </p:nvSpPr>
        <p:spPr>
          <a:xfrm>
            <a:off x="2199960" y="2076120"/>
            <a:ext cx="2791440" cy="10080"/>
          </a:xfrm>
          <a:custGeom>
            <a:avLst/>
            <a:gdLst/>
            <a:ahLst/>
            <a:cxnLst/>
            <a:rect l="0" t="0" r="r" b="b"/>
            <a:pathLst>
              <a:path w="7754" h="28">
                <a:moveTo>
                  <a:pt x="0" y="0"/>
                </a:moveTo>
                <a:lnTo>
                  <a:pt x="7754" y="0"/>
                </a:lnTo>
                <a:lnTo>
                  <a:pt x="77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Forma libre 185"/>
          <p:cNvSpPr/>
          <p:nvPr/>
        </p:nvSpPr>
        <p:spPr>
          <a:xfrm>
            <a:off x="4981320" y="207612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Forma libre 186"/>
          <p:cNvSpPr/>
          <p:nvPr/>
        </p:nvSpPr>
        <p:spPr>
          <a:xfrm>
            <a:off x="4991040" y="2076120"/>
            <a:ext cx="4743720" cy="10080"/>
          </a:xfrm>
          <a:custGeom>
            <a:avLst/>
            <a:gdLst/>
            <a:ahLst/>
            <a:cxnLst/>
            <a:rect l="0" t="0" r="r" b="b"/>
            <a:pathLst>
              <a:path w="13177" h="28">
                <a:moveTo>
                  <a:pt x="0" y="0"/>
                </a:moveTo>
                <a:lnTo>
                  <a:pt x="13177" y="0"/>
                </a:lnTo>
                <a:lnTo>
                  <a:pt x="131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Forma libre 187"/>
          <p:cNvSpPr/>
          <p:nvPr/>
        </p:nvSpPr>
        <p:spPr>
          <a:xfrm>
            <a:off x="9724680" y="207612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Forma libre 188"/>
          <p:cNvSpPr/>
          <p:nvPr/>
        </p:nvSpPr>
        <p:spPr>
          <a:xfrm>
            <a:off x="666720" y="2485800"/>
            <a:ext cx="1533600" cy="10080"/>
          </a:xfrm>
          <a:custGeom>
            <a:avLst/>
            <a:gdLst/>
            <a:ahLst/>
            <a:cxnLst/>
            <a:rect l="0" t="0" r="r" b="b"/>
            <a:pathLst>
              <a:path w="4260" h="28">
                <a:moveTo>
                  <a:pt x="0" y="0"/>
                </a:moveTo>
                <a:lnTo>
                  <a:pt x="4260" y="0"/>
                </a:lnTo>
                <a:lnTo>
                  <a:pt x="42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Forma libre 189"/>
          <p:cNvSpPr/>
          <p:nvPr/>
        </p:nvSpPr>
        <p:spPr>
          <a:xfrm>
            <a:off x="2199960" y="2485800"/>
            <a:ext cx="2791440" cy="10080"/>
          </a:xfrm>
          <a:custGeom>
            <a:avLst/>
            <a:gdLst/>
            <a:ahLst/>
            <a:cxnLst/>
            <a:rect l="0" t="0" r="r" b="b"/>
            <a:pathLst>
              <a:path w="7754" h="28">
                <a:moveTo>
                  <a:pt x="0" y="0"/>
                </a:moveTo>
                <a:lnTo>
                  <a:pt x="7754" y="0"/>
                </a:lnTo>
                <a:lnTo>
                  <a:pt x="77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Forma libre 190"/>
          <p:cNvSpPr/>
          <p:nvPr/>
        </p:nvSpPr>
        <p:spPr>
          <a:xfrm>
            <a:off x="4991040" y="2485800"/>
            <a:ext cx="4743720" cy="10080"/>
          </a:xfrm>
          <a:custGeom>
            <a:avLst/>
            <a:gdLst/>
            <a:ahLst/>
            <a:cxnLst/>
            <a:rect l="0" t="0" r="r" b="b"/>
            <a:pathLst>
              <a:path w="13177" h="28">
                <a:moveTo>
                  <a:pt x="0" y="0"/>
                </a:moveTo>
                <a:lnTo>
                  <a:pt x="13177" y="0"/>
                </a:lnTo>
                <a:lnTo>
                  <a:pt x="131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Forma libre 191"/>
          <p:cNvSpPr/>
          <p:nvPr/>
        </p:nvSpPr>
        <p:spPr>
          <a:xfrm>
            <a:off x="666720" y="2495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Forma libre 192"/>
          <p:cNvSpPr/>
          <p:nvPr/>
        </p:nvSpPr>
        <p:spPr>
          <a:xfrm>
            <a:off x="2190600" y="24955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Forma libre 193"/>
          <p:cNvSpPr/>
          <p:nvPr/>
        </p:nvSpPr>
        <p:spPr>
          <a:xfrm>
            <a:off x="4981320" y="24955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Forma libre 194"/>
          <p:cNvSpPr/>
          <p:nvPr/>
        </p:nvSpPr>
        <p:spPr>
          <a:xfrm>
            <a:off x="9724680" y="24955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Forma libre 195"/>
          <p:cNvSpPr/>
          <p:nvPr/>
        </p:nvSpPr>
        <p:spPr>
          <a:xfrm>
            <a:off x="666720" y="2914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Forma libre 196"/>
          <p:cNvSpPr/>
          <p:nvPr/>
        </p:nvSpPr>
        <p:spPr>
          <a:xfrm>
            <a:off x="666720" y="2904840"/>
            <a:ext cx="1533600" cy="10080"/>
          </a:xfrm>
          <a:custGeom>
            <a:avLst/>
            <a:gdLst/>
            <a:ahLst/>
            <a:cxnLst/>
            <a:rect l="0" t="0" r="r" b="b"/>
            <a:pathLst>
              <a:path w="4260" h="28">
                <a:moveTo>
                  <a:pt x="0" y="0"/>
                </a:moveTo>
                <a:lnTo>
                  <a:pt x="4260" y="0"/>
                </a:lnTo>
                <a:lnTo>
                  <a:pt x="42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Forma libre 197"/>
          <p:cNvSpPr/>
          <p:nvPr/>
        </p:nvSpPr>
        <p:spPr>
          <a:xfrm>
            <a:off x="2190600" y="29145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Forma libre 198"/>
          <p:cNvSpPr/>
          <p:nvPr/>
        </p:nvSpPr>
        <p:spPr>
          <a:xfrm>
            <a:off x="2199960" y="2904840"/>
            <a:ext cx="2791440" cy="10080"/>
          </a:xfrm>
          <a:custGeom>
            <a:avLst/>
            <a:gdLst/>
            <a:ahLst/>
            <a:cxnLst/>
            <a:rect l="0" t="0" r="r" b="b"/>
            <a:pathLst>
              <a:path w="7754" h="28">
                <a:moveTo>
                  <a:pt x="0" y="0"/>
                </a:moveTo>
                <a:lnTo>
                  <a:pt x="7754" y="0"/>
                </a:lnTo>
                <a:lnTo>
                  <a:pt x="77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Forma libre 199"/>
          <p:cNvSpPr/>
          <p:nvPr/>
        </p:nvSpPr>
        <p:spPr>
          <a:xfrm>
            <a:off x="4981320" y="29145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Forma libre 200"/>
          <p:cNvSpPr/>
          <p:nvPr/>
        </p:nvSpPr>
        <p:spPr>
          <a:xfrm>
            <a:off x="4991040" y="2904840"/>
            <a:ext cx="4743720" cy="10080"/>
          </a:xfrm>
          <a:custGeom>
            <a:avLst/>
            <a:gdLst/>
            <a:ahLst/>
            <a:cxnLst/>
            <a:rect l="0" t="0" r="r" b="b"/>
            <a:pathLst>
              <a:path w="13177" h="28">
                <a:moveTo>
                  <a:pt x="0" y="0"/>
                </a:moveTo>
                <a:lnTo>
                  <a:pt x="13177" y="0"/>
                </a:lnTo>
                <a:lnTo>
                  <a:pt x="131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Forma libre 201"/>
          <p:cNvSpPr/>
          <p:nvPr/>
        </p:nvSpPr>
        <p:spPr>
          <a:xfrm>
            <a:off x="9724680" y="29145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Forma libre 202"/>
          <p:cNvSpPr/>
          <p:nvPr/>
        </p:nvSpPr>
        <p:spPr>
          <a:xfrm>
            <a:off x="666720" y="3333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Forma libre 203"/>
          <p:cNvSpPr/>
          <p:nvPr/>
        </p:nvSpPr>
        <p:spPr>
          <a:xfrm>
            <a:off x="666720" y="3323880"/>
            <a:ext cx="1533600" cy="10080"/>
          </a:xfrm>
          <a:custGeom>
            <a:avLst/>
            <a:gdLst/>
            <a:ahLst/>
            <a:cxnLst/>
            <a:rect l="0" t="0" r="r" b="b"/>
            <a:pathLst>
              <a:path w="4260" h="28">
                <a:moveTo>
                  <a:pt x="0" y="0"/>
                </a:moveTo>
                <a:lnTo>
                  <a:pt x="4260" y="0"/>
                </a:lnTo>
                <a:lnTo>
                  <a:pt x="42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Forma libre 204"/>
          <p:cNvSpPr/>
          <p:nvPr/>
        </p:nvSpPr>
        <p:spPr>
          <a:xfrm>
            <a:off x="2190600" y="3333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Forma libre 205"/>
          <p:cNvSpPr/>
          <p:nvPr/>
        </p:nvSpPr>
        <p:spPr>
          <a:xfrm>
            <a:off x="2199960" y="3323880"/>
            <a:ext cx="2791440" cy="10080"/>
          </a:xfrm>
          <a:custGeom>
            <a:avLst/>
            <a:gdLst/>
            <a:ahLst/>
            <a:cxnLst/>
            <a:rect l="0" t="0" r="r" b="b"/>
            <a:pathLst>
              <a:path w="7754" h="28">
                <a:moveTo>
                  <a:pt x="0" y="0"/>
                </a:moveTo>
                <a:lnTo>
                  <a:pt x="7754" y="0"/>
                </a:lnTo>
                <a:lnTo>
                  <a:pt x="77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Forma libre 206"/>
          <p:cNvSpPr/>
          <p:nvPr/>
        </p:nvSpPr>
        <p:spPr>
          <a:xfrm>
            <a:off x="4981320" y="33336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Forma libre 207"/>
          <p:cNvSpPr/>
          <p:nvPr/>
        </p:nvSpPr>
        <p:spPr>
          <a:xfrm>
            <a:off x="4991040" y="3323880"/>
            <a:ext cx="4743720" cy="10080"/>
          </a:xfrm>
          <a:custGeom>
            <a:avLst/>
            <a:gdLst/>
            <a:ahLst/>
            <a:cxnLst/>
            <a:rect l="0" t="0" r="r" b="b"/>
            <a:pathLst>
              <a:path w="13177" h="28">
                <a:moveTo>
                  <a:pt x="0" y="0"/>
                </a:moveTo>
                <a:lnTo>
                  <a:pt x="13177" y="0"/>
                </a:lnTo>
                <a:lnTo>
                  <a:pt x="131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Forma libre 208"/>
          <p:cNvSpPr/>
          <p:nvPr/>
        </p:nvSpPr>
        <p:spPr>
          <a:xfrm>
            <a:off x="9724680" y="33336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Forma libre 209"/>
          <p:cNvSpPr/>
          <p:nvPr/>
        </p:nvSpPr>
        <p:spPr>
          <a:xfrm>
            <a:off x="666720" y="37526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Forma libre 210"/>
          <p:cNvSpPr/>
          <p:nvPr/>
        </p:nvSpPr>
        <p:spPr>
          <a:xfrm>
            <a:off x="666720" y="3743280"/>
            <a:ext cx="1533600" cy="9720"/>
          </a:xfrm>
          <a:custGeom>
            <a:avLst/>
            <a:gdLst/>
            <a:ahLst/>
            <a:cxnLst/>
            <a:rect l="0" t="0" r="r" b="b"/>
            <a:pathLst>
              <a:path w="4260" h="27">
                <a:moveTo>
                  <a:pt x="0" y="0"/>
                </a:moveTo>
                <a:lnTo>
                  <a:pt x="4260" y="0"/>
                </a:lnTo>
                <a:lnTo>
                  <a:pt x="42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Forma libre 211"/>
          <p:cNvSpPr/>
          <p:nvPr/>
        </p:nvSpPr>
        <p:spPr>
          <a:xfrm>
            <a:off x="2190600" y="37526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Forma libre 212"/>
          <p:cNvSpPr/>
          <p:nvPr/>
        </p:nvSpPr>
        <p:spPr>
          <a:xfrm>
            <a:off x="2199960" y="3743280"/>
            <a:ext cx="2791440" cy="9720"/>
          </a:xfrm>
          <a:custGeom>
            <a:avLst/>
            <a:gdLst/>
            <a:ahLst/>
            <a:cxnLst/>
            <a:rect l="0" t="0" r="r" b="b"/>
            <a:pathLst>
              <a:path w="7754" h="27">
                <a:moveTo>
                  <a:pt x="0" y="0"/>
                </a:moveTo>
                <a:lnTo>
                  <a:pt x="7754" y="0"/>
                </a:lnTo>
                <a:lnTo>
                  <a:pt x="77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Forma libre 213"/>
          <p:cNvSpPr/>
          <p:nvPr/>
        </p:nvSpPr>
        <p:spPr>
          <a:xfrm>
            <a:off x="4981320" y="37526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Forma libre 214"/>
          <p:cNvSpPr/>
          <p:nvPr/>
        </p:nvSpPr>
        <p:spPr>
          <a:xfrm>
            <a:off x="4991040" y="3743280"/>
            <a:ext cx="4743720" cy="9720"/>
          </a:xfrm>
          <a:custGeom>
            <a:avLst/>
            <a:gdLst/>
            <a:ahLst/>
            <a:cxnLst/>
            <a:rect l="0" t="0" r="r" b="b"/>
            <a:pathLst>
              <a:path w="13177" h="27">
                <a:moveTo>
                  <a:pt x="0" y="0"/>
                </a:moveTo>
                <a:lnTo>
                  <a:pt x="13177" y="0"/>
                </a:lnTo>
                <a:lnTo>
                  <a:pt x="131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Forma libre 215"/>
          <p:cNvSpPr/>
          <p:nvPr/>
        </p:nvSpPr>
        <p:spPr>
          <a:xfrm>
            <a:off x="9724680" y="37526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Forma libre 216"/>
          <p:cNvSpPr/>
          <p:nvPr/>
        </p:nvSpPr>
        <p:spPr>
          <a:xfrm>
            <a:off x="666720" y="41716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Forma libre 217"/>
          <p:cNvSpPr/>
          <p:nvPr/>
        </p:nvSpPr>
        <p:spPr>
          <a:xfrm>
            <a:off x="666720" y="4162320"/>
            <a:ext cx="1533600" cy="9720"/>
          </a:xfrm>
          <a:custGeom>
            <a:avLst/>
            <a:gdLst/>
            <a:ahLst/>
            <a:cxnLst/>
            <a:rect l="0" t="0" r="r" b="b"/>
            <a:pathLst>
              <a:path w="4260" h="27">
                <a:moveTo>
                  <a:pt x="0" y="0"/>
                </a:moveTo>
                <a:lnTo>
                  <a:pt x="4260" y="0"/>
                </a:lnTo>
                <a:lnTo>
                  <a:pt x="42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Forma libre 218"/>
          <p:cNvSpPr/>
          <p:nvPr/>
        </p:nvSpPr>
        <p:spPr>
          <a:xfrm>
            <a:off x="2190600" y="41716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Forma libre 219"/>
          <p:cNvSpPr/>
          <p:nvPr/>
        </p:nvSpPr>
        <p:spPr>
          <a:xfrm>
            <a:off x="2199960" y="4162320"/>
            <a:ext cx="2791440" cy="9720"/>
          </a:xfrm>
          <a:custGeom>
            <a:avLst/>
            <a:gdLst/>
            <a:ahLst/>
            <a:cxnLst/>
            <a:rect l="0" t="0" r="r" b="b"/>
            <a:pathLst>
              <a:path w="7754" h="27">
                <a:moveTo>
                  <a:pt x="0" y="0"/>
                </a:moveTo>
                <a:lnTo>
                  <a:pt x="7754" y="0"/>
                </a:lnTo>
                <a:lnTo>
                  <a:pt x="77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Forma libre 220"/>
          <p:cNvSpPr/>
          <p:nvPr/>
        </p:nvSpPr>
        <p:spPr>
          <a:xfrm>
            <a:off x="4981320" y="41716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Forma libre 221"/>
          <p:cNvSpPr/>
          <p:nvPr/>
        </p:nvSpPr>
        <p:spPr>
          <a:xfrm>
            <a:off x="4991040" y="4162320"/>
            <a:ext cx="4743720" cy="9720"/>
          </a:xfrm>
          <a:custGeom>
            <a:avLst/>
            <a:gdLst/>
            <a:ahLst/>
            <a:cxnLst/>
            <a:rect l="0" t="0" r="r" b="b"/>
            <a:pathLst>
              <a:path w="13177" h="27">
                <a:moveTo>
                  <a:pt x="0" y="0"/>
                </a:moveTo>
                <a:lnTo>
                  <a:pt x="13177" y="0"/>
                </a:lnTo>
                <a:lnTo>
                  <a:pt x="131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Forma libre 222"/>
          <p:cNvSpPr/>
          <p:nvPr/>
        </p:nvSpPr>
        <p:spPr>
          <a:xfrm>
            <a:off x="9724680" y="41716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Forma libre 223"/>
          <p:cNvSpPr/>
          <p:nvPr/>
        </p:nvSpPr>
        <p:spPr>
          <a:xfrm>
            <a:off x="666720" y="45907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Forma libre 224"/>
          <p:cNvSpPr/>
          <p:nvPr/>
        </p:nvSpPr>
        <p:spPr>
          <a:xfrm>
            <a:off x="666720" y="4581360"/>
            <a:ext cx="1533600" cy="9720"/>
          </a:xfrm>
          <a:custGeom>
            <a:avLst/>
            <a:gdLst/>
            <a:ahLst/>
            <a:cxnLst/>
            <a:rect l="0" t="0" r="r" b="b"/>
            <a:pathLst>
              <a:path w="4260" h="27">
                <a:moveTo>
                  <a:pt x="0" y="0"/>
                </a:moveTo>
                <a:lnTo>
                  <a:pt x="4260" y="0"/>
                </a:lnTo>
                <a:lnTo>
                  <a:pt x="42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Forma libre 225"/>
          <p:cNvSpPr/>
          <p:nvPr/>
        </p:nvSpPr>
        <p:spPr>
          <a:xfrm>
            <a:off x="2190600" y="459072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Forma libre 226"/>
          <p:cNvSpPr/>
          <p:nvPr/>
        </p:nvSpPr>
        <p:spPr>
          <a:xfrm>
            <a:off x="2199960" y="4581360"/>
            <a:ext cx="2791440" cy="9720"/>
          </a:xfrm>
          <a:custGeom>
            <a:avLst/>
            <a:gdLst/>
            <a:ahLst/>
            <a:cxnLst/>
            <a:rect l="0" t="0" r="r" b="b"/>
            <a:pathLst>
              <a:path w="7754" h="27">
                <a:moveTo>
                  <a:pt x="0" y="0"/>
                </a:moveTo>
                <a:lnTo>
                  <a:pt x="7754" y="0"/>
                </a:lnTo>
                <a:lnTo>
                  <a:pt x="77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Forma libre 227"/>
          <p:cNvSpPr/>
          <p:nvPr/>
        </p:nvSpPr>
        <p:spPr>
          <a:xfrm>
            <a:off x="4981320" y="459072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Forma libre 228"/>
          <p:cNvSpPr/>
          <p:nvPr/>
        </p:nvSpPr>
        <p:spPr>
          <a:xfrm>
            <a:off x="4991040" y="4581360"/>
            <a:ext cx="4743720" cy="9720"/>
          </a:xfrm>
          <a:custGeom>
            <a:avLst/>
            <a:gdLst/>
            <a:ahLst/>
            <a:cxnLst/>
            <a:rect l="0" t="0" r="r" b="b"/>
            <a:pathLst>
              <a:path w="13177" h="27">
                <a:moveTo>
                  <a:pt x="0" y="0"/>
                </a:moveTo>
                <a:lnTo>
                  <a:pt x="13177" y="0"/>
                </a:lnTo>
                <a:lnTo>
                  <a:pt x="131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Forma libre 229"/>
          <p:cNvSpPr/>
          <p:nvPr/>
        </p:nvSpPr>
        <p:spPr>
          <a:xfrm>
            <a:off x="9724680" y="459072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Forma libre 230"/>
          <p:cNvSpPr/>
          <p:nvPr/>
        </p:nvSpPr>
        <p:spPr>
          <a:xfrm>
            <a:off x="666720" y="50101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Forma libre 231"/>
          <p:cNvSpPr/>
          <p:nvPr/>
        </p:nvSpPr>
        <p:spPr>
          <a:xfrm>
            <a:off x="666720" y="5000400"/>
            <a:ext cx="1533600" cy="10080"/>
          </a:xfrm>
          <a:custGeom>
            <a:avLst/>
            <a:gdLst/>
            <a:ahLst/>
            <a:cxnLst/>
            <a:rect l="0" t="0" r="r" b="b"/>
            <a:pathLst>
              <a:path w="4260" h="28">
                <a:moveTo>
                  <a:pt x="0" y="0"/>
                </a:moveTo>
                <a:lnTo>
                  <a:pt x="4260" y="0"/>
                </a:lnTo>
                <a:lnTo>
                  <a:pt x="42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Forma libre 232"/>
          <p:cNvSpPr/>
          <p:nvPr/>
        </p:nvSpPr>
        <p:spPr>
          <a:xfrm>
            <a:off x="2190600" y="50101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Forma libre 233"/>
          <p:cNvSpPr/>
          <p:nvPr/>
        </p:nvSpPr>
        <p:spPr>
          <a:xfrm>
            <a:off x="2199960" y="5000400"/>
            <a:ext cx="2791440" cy="10080"/>
          </a:xfrm>
          <a:custGeom>
            <a:avLst/>
            <a:gdLst/>
            <a:ahLst/>
            <a:cxnLst/>
            <a:rect l="0" t="0" r="r" b="b"/>
            <a:pathLst>
              <a:path w="7754" h="28">
                <a:moveTo>
                  <a:pt x="0" y="0"/>
                </a:moveTo>
                <a:lnTo>
                  <a:pt x="7754" y="0"/>
                </a:lnTo>
                <a:lnTo>
                  <a:pt x="77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Forma libre 234"/>
          <p:cNvSpPr/>
          <p:nvPr/>
        </p:nvSpPr>
        <p:spPr>
          <a:xfrm>
            <a:off x="4981320" y="50101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Forma libre 235"/>
          <p:cNvSpPr/>
          <p:nvPr/>
        </p:nvSpPr>
        <p:spPr>
          <a:xfrm>
            <a:off x="4991040" y="5000400"/>
            <a:ext cx="4743720" cy="10080"/>
          </a:xfrm>
          <a:custGeom>
            <a:avLst/>
            <a:gdLst/>
            <a:ahLst/>
            <a:cxnLst/>
            <a:rect l="0" t="0" r="r" b="b"/>
            <a:pathLst>
              <a:path w="13177" h="28">
                <a:moveTo>
                  <a:pt x="0" y="0"/>
                </a:moveTo>
                <a:lnTo>
                  <a:pt x="13177" y="0"/>
                </a:lnTo>
                <a:lnTo>
                  <a:pt x="131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Forma libre 236"/>
          <p:cNvSpPr/>
          <p:nvPr/>
        </p:nvSpPr>
        <p:spPr>
          <a:xfrm>
            <a:off x="9724680" y="50101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Forma libre 237"/>
          <p:cNvSpPr/>
          <p:nvPr/>
        </p:nvSpPr>
        <p:spPr>
          <a:xfrm>
            <a:off x="666720" y="5419440"/>
            <a:ext cx="1533600" cy="10080"/>
          </a:xfrm>
          <a:custGeom>
            <a:avLst/>
            <a:gdLst/>
            <a:ahLst/>
            <a:cxnLst/>
            <a:rect l="0" t="0" r="r" b="b"/>
            <a:pathLst>
              <a:path w="4260" h="28">
                <a:moveTo>
                  <a:pt x="0" y="0"/>
                </a:moveTo>
                <a:lnTo>
                  <a:pt x="4260" y="0"/>
                </a:lnTo>
                <a:lnTo>
                  <a:pt x="42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Forma libre 238"/>
          <p:cNvSpPr/>
          <p:nvPr/>
        </p:nvSpPr>
        <p:spPr>
          <a:xfrm>
            <a:off x="2199960" y="5419440"/>
            <a:ext cx="2791440" cy="10080"/>
          </a:xfrm>
          <a:custGeom>
            <a:avLst/>
            <a:gdLst/>
            <a:ahLst/>
            <a:cxnLst/>
            <a:rect l="0" t="0" r="r" b="b"/>
            <a:pathLst>
              <a:path w="7754" h="28">
                <a:moveTo>
                  <a:pt x="0" y="0"/>
                </a:moveTo>
                <a:lnTo>
                  <a:pt x="7754" y="0"/>
                </a:lnTo>
                <a:lnTo>
                  <a:pt x="77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Forma libre 239"/>
          <p:cNvSpPr/>
          <p:nvPr/>
        </p:nvSpPr>
        <p:spPr>
          <a:xfrm>
            <a:off x="4991040" y="5419440"/>
            <a:ext cx="4743720" cy="10080"/>
          </a:xfrm>
          <a:custGeom>
            <a:avLst/>
            <a:gdLst/>
            <a:ahLst/>
            <a:cxnLst/>
            <a:rect l="0" t="0" r="r" b="b"/>
            <a:pathLst>
              <a:path w="13177" h="28">
                <a:moveTo>
                  <a:pt x="0" y="0"/>
                </a:moveTo>
                <a:lnTo>
                  <a:pt x="13177" y="0"/>
                </a:lnTo>
                <a:lnTo>
                  <a:pt x="1317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CuadroTexto 240"/>
          <p:cNvSpPr txBox="1"/>
          <p:nvPr/>
        </p:nvSpPr>
        <p:spPr>
          <a:xfrm>
            <a:off x="666720" y="948960"/>
            <a:ext cx="46659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 identificador y muchos niveles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CuadroTexto 241"/>
          <p:cNvSpPr txBox="1"/>
          <p:nvPr/>
        </p:nvSpPr>
        <p:spPr>
          <a:xfrm>
            <a:off x="666720" y="1620720"/>
            <a:ext cx="6622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identiﬁcador es el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RxCUI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 Lo que cambia es el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term type (TTY)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CuadroTexto 242"/>
          <p:cNvSpPr txBox="1"/>
          <p:nvPr/>
        </p:nvSpPr>
        <p:spPr>
          <a:xfrm>
            <a:off x="1253520" y="2180880"/>
            <a:ext cx="3607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TTY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CuadroTexto 243"/>
          <p:cNvSpPr txBox="1"/>
          <p:nvPr/>
        </p:nvSpPr>
        <p:spPr>
          <a:xfrm>
            <a:off x="3271680" y="2180880"/>
            <a:ext cx="635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Qué 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CuadroTexto 244"/>
          <p:cNvSpPr txBox="1"/>
          <p:nvPr/>
        </p:nvSpPr>
        <p:spPr>
          <a:xfrm>
            <a:off x="6986520" y="2180880"/>
            <a:ext cx="740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Ejemplo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CuadroTexto 245"/>
          <p:cNvSpPr txBox="1"/>
          <p:nvPr/>
        </p:nvSpPr>
        <p:spPr>
          <a:xfrm>
            <a:off x="799920" y="2590560"/>
            <a:ext cx="1980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IN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Forma libre 246"/>
          <p:cNvSpPr/>
          <p:nvPr/>
        </p:nvSpPr>
        <p:spPr>
          <a:xfrm>
            <a:off x="5114880" y="2600280"/>
            <a:ext cx="505080" cy="228960"/>
          </a:xfrm>
          <a:custGeom>
            <a:avLst/>
            <a:gdLst/>
            <a:ahLst/>
            <a:cxnLst/>
            <a:rect l="0" t="0" r="r" b="b"/>
            <a:pathLst>
              <a:path w="1403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2" y="79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1297" y="0"/>
                </a:lnTo>
                <a:cubicBezTo>
                  <a:pt x="1311" y="0"/>
                  <a:pt x="1325" y="2"/>
                  <a:pt x="1338" y="8"/>
                </a:cubicBezTo>
                <a:cubicBezTo>
                  <a:pt x="1351" y="13"/>
                  <a:pt x="1362" y="21"/>
                  <a:pt x="1372" y="31"/>
                </a:cubicBezTo>
                <a:cubicBezTo>
                  <a:pt x="1382" y="41"/>
                  <a:pt x="1389" y="52"/>
                  <a:pt x="1395" y="65"/>
                </a:cubicBezTo>
                <a:cubicBezTo>
                  <a:pt x="1400" y="79"/>
                  <a:pt x="1403" y="92"/>
                  <a:pt x="1403" y="106"/>
                </a:cubicBezTo>
                <a:lnTo>
                  <a:pt x="1403" y="530"/>
                </a:lnTo>
                <a:cubicBezTo>
                  <a:pt x="1403" y="544"/>
                  <a:pt x="1400" y="557"/>
                  <a:pt x="1395" y="570"/>
                </a:cubicBezTo>
                <a:cubicBezTo>
                  <a:pt x="1389" y="583"/>
                  <a:pt x="1382" y="595"/>
                  <a:pt x="1372" y="605"/>
                </a:cubicBezTo>
                <a:cubicBezTo>
                  <a:pt x="1362" y="615"/>
                  <a:pt x="1351" y="622"/>
                  <a:pt x="1338" y="628"/>
                </a:cubicBezTo>
                <a:cubicBezTo>
                  <a:pt x="1325" y="633"/>
                  <a:pt x="1311" y="636"/>
                  <a:pt x="1297" y="636"/>
                </a:cubicBezTo>
                <a:lnTo>
                  <a:pt x="105" y="636"/>
                </a:lnTo>
                <a:cubicBezTo>
                  <a:pt x="91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3" y="583"/>
                  <a:pt x="8" y="570"/>
                </a:cubicBezTo>
                <a:cubicBezTo>
                  <a:pt x="2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CuadroTexto 247"/>
          <p:cNvSpPr txBox="1"/>
          <p:nvPr/>
        </p:nvSpPr>
        <p:spPr>
          <a:xfrm>
            <a:off x="2324160" y="2590560"/>
            <a:ext cx="9039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ingrediente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CuadroTexto 248"/>
          <p:cNvSpPr txBox="1"/>
          <p:nvPr/>
        </p:nvSpPr>
        <p:spPr>
          <a:xfrm>
            <a:off x="5168520" y="2621520"/>
            <a:ext cx="389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6809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CuadroTexto 249"/>
          <p:cNvSpPr txBox="1"/>
          <p:nvPr/>
        </p:nvSpPr>
        <p:spPr>
          <a:xfrm>
            <a:off x="5615640" y="2590560"/>
            <a:ext cx="8791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metformin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CuadroTexto 250"/>
          <p:cNvSpPr txBox="1"/>
          <p:nvPr/>
        </p:nvSpPr>
        <p:spPr>
          <a:xfrm>
            <a:off x="799920" y="3009600"/>
            <a:ext cx="3250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PIN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CuadroTexto 251"/>
          <p:cNvSpPr txBox="1"/>
          <p:nvPr/>
        </p:nvSpPr>
        <p:spPr>
          <a:xfrm>
            <a:off x="2324160" y="3009600"/>
            <a:ext cx="22874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ingrediente preciso (con sal)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CuadroTexto 252"/>
          <p:cNvSpPr txBox="1"/>
          <p:nvPr/>
        </p:nvSpPr>
        <p:spPr>
          <a:xfrm>
            <a:off x="5111280" y="3009600"/>
            <a:ext cx="19908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metformin hydrochloride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CuadroTexto 253"/>
          <p:cNvSpPr txBox="1"/>
          <p:nvPr/>
        </p:nvSpPr>
        <p:spPr>
          <a:xfrm>
            <a:off x="799920" y="3428640"/>
            <a:ext cx="519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SCDF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Forma libre 254"/>
          <p:cNvSpPr/>
          <p:nvPr/>
        </p:nvSpPr>
        <p:spPr>
          <a:xfrm>
            <a:off x="5114880" y="3438360"/>
            <a:ext cx="695520" cy="228960"/>
          </a:xfrm>
          <a:custGeom>
            <a:avLst/>
            <a:gdLst/>
            <a:ahLst/>
            <a:cxnLst/>
            <a:rect l="0" t="0" r="r" b="b"/>
            <a:pathLst>
              <a:path w="1932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826" y="0"/>
                </a:lnTo>
                <a:cubicBezTo>
                  <a:pt x="1840" y="0"/>
                  <a:pt x="1854" y="3"/>
                  <a:pt x="1867" y="8"/>
                </a:cubicBezTo>
                <a:cubicBezTo>
                  <a:pt x="1880" y="13"/>
                  <a:pt x="1891" y="21"/>
                  <a:pt x="1901" y="31"/>
                </a:cubicBezTo>
                <a:cubicBezTo>
                  <a:pt x="1911" y="41"/>
                  <a:pt x="1919" y="52"/>
                  <a:pt x="1924" y="65"/>
                </a:cubicBezTo>
                <a:cubicBezTo>
                  <a:pt x="1929" y="78"/>
                  <a:pt x="1932" y="92"/>
                  <a:pt x="1932" y="106"/>
                </a:cubicBezTo>
                <a:lnTo>
                  <a:pt x="1932" y="530"/>
                </a:lnTo>
                <a:cubicBezTo>
                  <a:pt x="1932" y="544"/>
                  <a:pt x="1929" y="558"/>
                  <a:pt x="1924" y="571"/>
                </a:cubicBezTo>
                <a:cubicBezTo>
                  <a:pt x="1919" y="584"/>
                  <a:pt x="1911" y="595"/>
                  <a:pt x="1901" y="605"/>
                </a:cubicBezTo>
                <a:cubicBezTo>
                  <a:pt x="1891" y="615"/>
                  <a:pt x="1880" y="623"/>
                  <a:pt x="1867" y="628"/>
                </a:cubicBezTo>
                <a:cubicBezTo>
                  <a:pt x="1854" y="633"/>
                  <a:pt x="1840" y="636"/>
                  <a:pt x="1826" y="636"/>
                </a:cubicBezTo>
                <a:lnTo>
                  <a:pt x="105" y="636"/>
                </a:lnTo>
                <a:cubicBezTo>
                  <a:pt x="91" y="636"/>
                  <a:pt x="78" y="633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2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CuadroTexto 255"/>
          <p:cNvSpPr txBox="1"/>
          <p:nvPr/>
        </p:nvSpPr>
        <p:spPr>
          <a:xfrm>
            <a:off x="2324160" y="3428640"/>
            <a:ext cx="10310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forma clínica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CuadroTexto 256"/>
          <p:cNvSpPr txBox="1"/>
          <p:nvPr/>
        </p:nvSpPr>
        <p:spPr>
          <a:xfrm>
            <a:off x="5168520" y="3459600"/>
            <a:ext cx="5842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372803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CuadroTexto 257"/>
          <p:cNvSpPr txBox="1"/>
          <p:nvPr/>
        </p:nvSpPr>
        <p:spPr>
          <a:xfrm>
            <a:off x="5810760" y="3428640"/>
            <a:ext cx="18248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metformin Oral Tablet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CuadroTexto 258"/>
          <p:cNvSpPr txBox="1"/>
          <p:nvPr/>
        </p:nvSpPr>
        <p:spPr>
          <a:xfrm>
            <a:off x="799920" y="3847680"/>
            <a:ext cx="4068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SCD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Forma libre 259"/>
          <p:cNvSpPr/>
          <p:nvPr/>
        </p:nvSpPr>
        <p:spPr>
          <a:xfrm>
            <a:off x="5114880" y="3857400"/>
            <a:ext cx="695520" cy="228960"/>
          </a:xfrm>
          <a:custGeom>
            <a:avLst/>
            <a:gdLst/>
            <a:ahLst/>
            <a:cxnLst/>
            <a:rect l="0" t="0" r="r" b="b"/>
            <a:pathLst>
              <a:path w="1932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826" y="0"/>
                </a:lnTo>
                <a:cubicBezTo>
                  <a:pt x="1840" y="0"/>
                  <a:pt x="1854" y="3"/>
                  <a:pt x="1867" y="8"/>
                </a:cubicBezTo>
                <a:cubicBezTo>
                  <a:pt x="1880" y="14"/>
                  <a:pt x="1891" y="21"/>
                  <a:pt x="1901" y="31"/>
                </a:cubicBezTo>
                <a:cubicBezTo>
                  <a:pt x="1911" y="41"/>
                  <a:pt x="1919" y="52"/>
                  <a:pt x="1924" y="65"/>
                </a:cubicBezTo>
                <a:cubicBezTo>
                  <a:pt x="1929" y="78"/>
                  <a:pt x="1932" y="92"/>
                  <a:pt x="1932" y="106"/>
                </a:cubicBezTo>
                <a:lnTo>
                  <a:pt x="1932" y="530"/>
                </a:lnTo>
                <a:cubicBezTo>
                  <a:pt x="1932" y="544"/>
                  <a:pt x="1929" y="558"/>
                  <a:pt x="1924" y="571"/>
                </a:cubicBezTo>
                <a:cubicBezTo>
                  <a:pt x="1919" y="584"/>
                  <a:pt x="1911" y="595"/>
                  <a:pt x="1901" y="605"/>
                </a:cubicBezTo>
                <a:cubicBezTo>
                  <a:pt x="1891" y="615"/>
                  <a:pt x="1880" y="623"/>
                  <a:pt x="1867" y="628"/>
                </a:cubicBezTo>
                <a:cubicBezTo>
                  <a:pt x="1854" y="633"/>
                  <a:pt x="1840" y="636"/>
                  <a:pt x="1826" y="636"/>
                </a:cubicBezTo>
                <a:lnTo>
                  <a:pt x="105" y="636"/>
                </a:lnTo>
                <a:cubicBezTo>
                  <a:pt x="91" y="636"/>
                  <a:pt x="78" y="633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2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CuadroTexto 260"/>
          <p:cNvSpPr txBox="1"/>
          <p:nvPr/>
        </p:nvSpPr>
        <p:spPr>
          <a:xfrm>
            <a:off x="2324160" y="3847680"/>
            <a:ext cx="22521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producto clínico (con dosis)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CuadroTexto 261"/>
          <p:cNvSpPr txBox="1"/>
          <p:nvPr/>
        </p:nvSpPr>
        <p:spPr>
          <a:xfrm>
            <a:off x="5168520" y="3878640"/>
            <a:ext cx="5842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861004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CuadroTexto 262"/>
          <p:cNvSpPr txBox="1"/>
          <p:nvPr/>
        </p:nvSpPr>
        <p:spPr>
          <a:xfrm>
            <a:off x="5810760" y="3847680"/>
            <a:ext cx="38167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metformin hydrochloride 1000 MG Oral Tablet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CuadroTexto 263"/>
          <p:cNvSpPr txBox="1"/>
          <p:nvPr/>
        </p:nvSpPr>
        <p:spPr>
          <a:xfrm>
            <a:off x="799920" y="4266720"/>
            <a:ext cx="3996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SBD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Forma libre 264"/>
          <p:cNvSpPr/>
          <p:nvPr/>
        </p:nvSpPr>
        <p:spPr>
          <a:xfrm>
            <a:off x="5114880" y="4276440"/>
            <a:ext cx="695520" cy="228960"/>
          </a:xfrm>
          <a:custGeom>
            <a:avLst/>
            <a:gdLst/>
            <a:ahLst/>
            <a:cxnLst/>
            <a:rect l="0" t="0" r="r" b="b"/>
            <a:pathLst>
              <a:path w="1932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826" y="0"/>
                </a:lnTo>
                <a:cubicBezTo>
                  <a:pt x="1840" y="0"/>
                  <a:pt x="1854" y="3"/>
                  <a:pt x="1867" y="8"/>
                </a:cubicBezTo>
                <a:cubicBezTo>
                  <a:pt x="1880" y="14"/>
                  <a:pt x="1891" y="21"/>
                  <a:pt x="1901" y="31"/>
                </a:cubicBezTo>
                <a:cubicBezTo>
                  <a:pt x="1911" y="41"/>
                  <a:pt x="1919" y="53"/>
                  <a:pt x="1924" y="66"/>
                </a:cubicBezTo>
                <a:cubicBezTo>
                  <a:pt x="1929" y="79"/>
                  <a:pt x="1932" y="92"/>
                  <a:pt x="1932" y="106"/>
                </a:cubicBezTo>
                <a:lnTo>
                  <a:pt x="1932" y="530"/>
                </a:lnTo>
                <a:cubicBezTo>
                  <a:pt x="1932" y="544"/>
                  <a:pt x="1929" y="558"/>
                  <a:pt x="1924" y="571"/>
                </a:cubicBezTo>
                <a:cubicBezTo>
                  <a:pt x="1919" y="584"/>
                  <a:pt x="1911" y="595"/>
                  <a:pt x="1901" y="605"/>
                </a:cubicBezTo>
                <a:cubicBezTo>
                  <a:pt x="1891" y="615"/>
                  <a:pt x="1880" y="623"/>
                  <a:pt x="1867" y="628"/>
                </a:cubicBezTo>
                <a:cubicBezTo>
                  <a:pt x="1854" y="634"/>
                  <a:pt x="1840" y="636"/>
                  <a:pt x="1826" y="636"/>
                </a:cubicBezTo>
                <a:lnTo>
                  <a:pt x="105" y="636"/>
                </a:lnTo>
                <a:cubicBezTo>
                  <a:pt x="91" y="636"/>
                  <a:pt x="78" y="634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5"/>
                  <a:pt x="13" y="584"/>
                  <a:pt x="8" y="571"/>
                </a:cubicBezTo>
                <a:cubicBezTo>
                  <a:pt x="2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CuadroTexto 265"/>
          <p:cNvSpPr txBox="1"/>
          <p:nvPr/>
        </p:nvSpPr>
        <p:spPr>
          <a:xfrm>
            <a:off x="2324160" y="4266720"/>
            <a:ext cx="15782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producto de marca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CuadroTexto 266"/>
          <p:cNvSpPr txBox="1"/>
          <p:nvPr/>
        </p:nvSpPr>
        <p:spPr>
          <a:xfrm>
            <a:off x="5168520" y="4298040"/>
            <a:ext cx="5842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861006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Forma libre 267"/>
          <p:cNvSpPr/>
          <p:nvPr/>
        </p:nvSpPr>
        <p:spPr>
          <a:xfrm>
            <a:off x="6105240" y="4276440"/>
            <a:ext cx="1286280" cy="228960"/>
          </a:xfrm>
          <a:custGeom>
            <a:avLst/>
            <a:gdLst/>
            <a:ahLst/>
            <a:cxnLst/>
            <a:rect l="0" t="0" r="r" b="b"/>
            <a:pathLst>
              <a:path w="3573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3467" y="0"/>
                </a:lnTo>
                <a:cubicBezTo>
                  <a:pt x="3481" y="0"/>
                  <a:pt x="3495" y="3"/>
                  <a:pt x="3508" y="8"/>
                </a:cubicBezTo>
                <a:cubicBezTo>
                  <a:pt x="3521" y="14"/>
                  <a:pt x="3532" y="21"/>
                  <a:pt x="3542" y="31"/>
                </a:cubicBezTo>
                <a:cubicBezTo>
                  <a:pt x="3552" y="41"/>
                  <a:pt x="3560" y="53"/>
                  <a:pt x="3565" y="66"/>
                </a:cubicBezTo>
                <a:cubicBezTo>
                  <a:pt x="3570" y="79"/>
                  <a:pt x="3573" y="92"/>
                  <a:pt x="3573" y="106"/>
                </a:cubicBezTo>
                <a:lnTo>
                  <a:pt x="3573" y="530"/>
                </a:lnTo>
                <a:cubicBezTo>
                  <a:pt x="3573" y="544"/>
                  <a:pt x="3570" y="558"/>
                  <a:pt x="3565" y="571"/>
                </a:cubicBezTo>
                <a:cubicBezTo>
                  <a:pt x="3560" y="584"/>
                  <a:pt x="3552" y="595"/>
                  <a:pt x="3542" y="605"/>
                </a:cubicBezTo>
                <a:cubicBezTo>
                  <a:pt x="3532" y="615"/>
                  <a:pt x="3521" y="623"/>
                  <a:pt x="3508" y="628"/>
                </a:cubicBezTo>
                <a:cubicBezTo>
                  <a:pt x="3495" y="634"/>
                  <a:pt x="3481" y="636"/>
                  <a:pt x="3467" y="636"/>
                </a:cubicBezTo>
                <a:lnTo>
                  <a:pt x="106" y="636"/>
                </a:lnTo>
                <a:cubicBezTo>
                  <a:pt x="92" y="636"/>
                  <a:pt x="79" y="634"/>
                  <a:pt x="66" y="628"/>
                </a:cubicBezTo>
                <a:cubicBezTo>
                  <a:pt x="53" y="623"/>
                  <a:pt x="41" y="615"/>
                  <a:pt x="31" y="605"/>
                </a:cubicBezTo>
                <a:cubicBezTo>
                  <a:pt x="21" y="595"/>
                  <a:pt x="14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CuadroTexto 268"/>
          <p:cNvSpPr txBox="1"/>
          <p:nvPr/>
        </p:nvSpPr>
        <p:spPr>
          <a:xfrm>
            <a:off x="5810760" y="4266720"/>
            <a:ext cx="2970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… 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CuadroTexto 269"/>
          <p:cNvSpPr txBox="1"/>
          <p:nvPr/>
        </p:nvSpPr>
        <p:spPr>
          <a:xfrm>
            <a:off x="6164280" y="4298040"/>
            <a:ext cx="11678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[Glucophage]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CuadroTexto 270"/>
          <p:cNvSpPr txBox="1"/>
          <p:nvPr/>
        </p:nvSpPr>
        <p:spPr>
          <a:xfrm>
            <a:off x="799920" y="4685760"/>
            <a:ext cx="2761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Forma libre 271"/>
          <p:cNvSpPr/>
          <p:nvPr/>
        </p:nvSpPr>
        <p:spPr>
          <a:xfrm>
            <a:off x="5114880" y="4695480"/>
            <a:ext cx="695520" cy="228960"/>
          </a:xfrm>
          <a:custGeom>
            <a:avLst/>
            <a:gdLst/>
            <a:ahLst/>
            <a:cxnLst/>
            <a:rect l="0" t="0" r="r" b="b"/>
            <a:pathLst>
              <a:path w="1932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1" y="0"/>
                  <a:pt x="105" y="0"/>
                </a:cubicBezTo>
                <a:lnTo>
                  <a:pt x="1826" y="0"/>
                </a:lnTo>
                <a:cubicBezTo>
                  <a:pt x="1840" y="0"/>
                  <a:pt x="1854" y="3"/>
                  <a:pt x="1867" y="9"/>
                </a:cubicBezTo>
                <a:cubicBezTo>
                  <a:pt x="1880" y="14"/>
                  <a:pt x="1891" y="22"/>
                  <a:pt x="1901" y="31"/>
                </a:cubicBezTo>
                <a:cubicBezTo>
                  <a:pt x="1911" y="41"/>
                  <a:pt x="1919" y="53"/>
                  <a:pt x="1924" y="66"/>
                </a:cubicBezTo>
                <a:cubicBezTo>
                  <a:pt x="1929" y="79"/>
                  <a:pt x="1932" y="92"/>
                  <a:pt x="1932" y="106"/>
                </a:cubicBezTo>
                <a:lnTo>
                  <a:pt x="1932" y="530"/>
                </a:lnTo>
                <a:cubicBezTo>
                  <a:pt x="1932" y="544"/>
                  <a:pt x="1929" y="557"/>
                  <a:pt x="1924" y="570"/>
                </a:cubicBezTo>
                <a:cubicBezTo>
                  <a:pt x="1919" y="583"/>
                  <a:pt x="1911" y="596"/>
                  <a:pt x="1901" y="605"/>
                </a:cubicBezTo>
                <a:cubicBezTo>
                  <a:pt x="1891" y="615"/>
                  <a:pt x="1880" y="623"/>
                  <a:pt x="1867" y="628"/>
                </a:cubicBezTo>
                <a:cubicBezTo>
                  <a:pt x="1854" y="634"/>
                  <a:pt x="1840" y="636"/>
                  <a:pt x="1826" y="636"/>
                </a:cubicBezTo>
                <a:lnTo>
                  <a:pt x="105" y="636"/>
                </a:lnTo>
                <a:cubicBezTo>
                  <a:pt x="91" y="636"/>
                  <a:pt x="78" y="634"/>
                  <a:pt x="65" y="628"/>
                </a:cubicBezTo>
                <a:cubicBezTo>
                  <a:pt x="52" y="623"/>
                  <a:pt x="41" y="615"/>
                  <a:pt x="31" y="605"/>
                </a:cubicBezTo>
                <a:cubicBezTo>
                  <a:pt x="21" y="596"/>
                  <a:pt x="13" y="583"/>
                  <a:pt x="8" y="570"/>
                </a:cubicBezTo>
                <a:cubicBezTo>
                  <a:pt x="2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CuadroTexto 272"/>
          <p:cNvSpPr txBox="1"/>
          <p:nvPr/>
        </p:nvSpPr>
        <p:spPr>
          <a:xfrm>
            <a:off x="2324160" y="4685760"/>
            <a:ext cx="14652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nombre de marca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CuadroTexto 273"/>
          <p:cNvSpPr txBox="1"/>
          <p:nvPr/>
        </p:nvSpPr>
        <p:spPr>
          <a:xfrm>
            <a:off x="5168520" y="4717080"/>
            <a:ext cx="5842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151827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CuadroTexto 274"/>
          <p:cNvSpPr txBox="1"/>
          <p:nvPr/>
        </p:nvSpPr>
        <p:spPr>
          <a:xfrm>
            <a:off x="5810760" y="4685760"/>
            <a:ext cx="10526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Glucophage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CuadroTexto 275"/>
          <p:cNvSpPr txBox="1"/>
          <p:nvPr/>
        </p:nvSpPr>
        <p:spPr>
          <a:xfrm>
            <a:off x="799920" y="5105160"/>
            <a:ext cx="12675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GPCK / BPCK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CuadroTexto 276"/>
          <p:cNvSpPr txBox="1"/>
          <p:nvPr/>
        </p:nvSpPr>
        <p:spPr>
          <a:xfrm>
            <a:off x="2324160" y="5105160"/>
            <a:ext cx="25340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presentaciones empaquetadas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CuadroTexto 277"/>
          <p:cNvSpPr txBox="1"/>
          <p:nvPr/>
        </p:nvSpPr>
        <p:spPr>
          <a:xfrm>
            <a:off x="5111280" y="5105160"/>
            <a:ext cx="20325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kits, blísters combinados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CuadroTexto 278"/>
          <p:cNvSpPr txBox="1"/>
          <p:nvPr/>
        </p:nvSpPr>
        <p:spPr>
          <a:xfrm>
            <a:off x="666720" y="5643000"/>
            <a:ext cx="3377160" cy="244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62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Consulta en RxNav, septiembre 2026.</a:t>
            </a:r>
            <a:endParaRPr lang="es-E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CuadroTexto 27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CuadroTexto 28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CuadroTexto 281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Forma libre 28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Forma libre 28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Forma libre 28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Forma libre 285"/>
          <p:cNvSpPr/>
          <p:nvPr/>
        </p:nvSpPr>
        <p:spPr>
          <a:xfrm>
            <a:off x="666720" y="443844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Forma libre 286"/>
          <p:cNvSpPr/>
          <p:nvPr/>
        </p:nvSpPr>
        <p:spPr>
          <a:xfrm>
            <a:off x="666720" y="443844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CuadroTexto 287"/>
          <p:cNvSpPr txBox="1"/>
          <p:nvPr/>
        </p:nvSpPr>
        <p:spPr>
          <a:xfrm>
            <a:off x="666720" y="1520640"/>
            <a:ext cx="37530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 ingrediente, un abanico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Forma libre 291"/>
          <p:cNvSpPr/>
          <p:nvPr/>
        </p:nvSpPr>
        <p:spPr>
          <a:xfrm>
            <a:off x="2247840" y="2705040"/>
            <a:ext cx="933840" cy="266760"/>
          </a:xfrm>
          <a:custGeom>
            <a:avLst/>
            <a:gdLst/>
            <a:ahLst/>
            <a:cxnLst/>
            <a:rect l="0" t="0" r="r" b="b"/>
            <a:pathLst>
              <a:path w="2594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2488" y="0"/>
                </a:lnTo>
                <a:cubicBezTo>
                  <a:pt x="2502" y="0"/>
                  <a:pt x="2515" y="2"/>
                  <a:pt x="2528" y="8"/>
                </a:cubicBezTo>
                <a:cubicBezTo>
                  <a:pt x="2541" y="13"/>
                  <a:pt x="2553" y="21"/>
                  <a:pt x="2563" y="31"/>
                </a:cubicBezTo>
                <a:cubicBezTo>
                  <a:pt x="2573" y="41"/>
                  <a:pt x="2580" y="52"/>
                  <a:pt x="2586" y="65"/>
                </a:cubicBezTo>
                <a:cubicBezTo>
                  <a:pt x="2591" y="78"/>
                  <a:pt x="2594" y="91"/>
                  <a:pt x="2594" y="105"/>
                </a:cubicBezTo>
                <a:lnTo>
                  <a:pt x="2594" y="636"/>
                </a:lnTo>
                <a:cubicBezTo>
                  <a:pt x="2594" y="650"/>
                  <a:pt x="2591" y="663"/>
                  <a:pt x="2586" y="676"/>
                </a:cubicBezTo>
                <a:cubicBezTo>
                  <a:pt x="2580" y="689"/>
                  <a:pt x="2573" y="701"/>
                  <a:pt x="2563" y="711"/>
                </a:cubicBezTo>
                <a:cubicBezTo>
                  <a:pt x="2553" y="720"/>
                  <a:pt x="2541" y="728"/>
                  <a:pt x="2528" y="733"/>
                </a:cubicBezTo>
                <a:cubicBezTo>
                  <a:pt x="2515" y="739"/>
                  <a:pt x="2502" y="741"/>
                  <a:pt x="2488" y="741"/>
                </a:cubicBezTo>
                <a:lnTo>
                  <a:pt x="105" y="741"/>
                </a:lnTo>
                <a:cubicBezTo>
                  <a:pt x="91" y="741"/>
                  <a:pt x="78" y="739"/>
                  <a:pt x="65" y="733"/>
                </a:cubicBezTo>
                <a:cubicBezTo>
                  <a:pt x="52" y="728"/>
                  <a:pt x="41" y="720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CuadroTexto 292"/>
          <p:cNvSpPr txBox="1"/>
          <p:nvPr/>
        </p:nvSpPr>
        <p:spPr>
          <a:xfrm>
            <a:off x="666720" y="2687400"/>
            <a:ext cx="15832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metformin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CuadroTexto 293"/>
          <p:cNvSpPr txBox="1"/>
          <p:nvPr/>
        </p:nvSpPr>
        <p:spPr>
          <a:xfrm>
            <a:off x="2306880" y="2724840"/>
            <a:ext cx="822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IN 6809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Forma libre 294"/>
          <p:cNvSpPr/>
          <p:nvPr/>
        </p:nvSpPr>
        <p:spPr>
          <a:xfrm>
            <a:off x="914040" y="32954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CuadroTexto 295"/>
          <p:cNvSpPr txBox="1"/>
          <p:nvPr/>
        </p:nvSpPr>
        <p:spPr>
          <a:xfrm>
            <a:off x="3183120" y="2687400"/>
            <a:ext cx="2198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) cuelgan, en RxNorm: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Forma libre 296"/>
          <p:cNvSpPr/>
          <p:nvPr/>
        </p:nvSpPr>
        <p:spPr>
          <a:xfrm>
            <a:off x="914040" y="36954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CuadroTexto 297"/>
          <p:cNvSpPr txBox="1"/>
          <p:nvPr/>
        </p:nvSpPr>
        <p:spPr>
          <a:xfrm>
            <a:off x="1123920" y="3182760"/>
            <a:ext cx="80082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21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formas clínicas (SCDF) — tableta, tableta de liberación prolongada, solución…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Forma libre 298"/>
          <p:cNvSpPr/>
          <p:nvPr/>
        </p:nvSpPr>
        <p:spPr>
          <a:xfrm>
            <a:off x="914040" y="409572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19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CuadroTexto 299"/>
          <p:cNvSpPr txBox="1"/>
          <p:nvPr/>
        </p:nvSpPr>
        <p:spPr>
          <a:xfrm>
            <a:off x="1123920" y="3582720"/>
            <a:ext cx="5001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decenas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 productos con dosis especíﬁca (SCD)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CuadroTexto 300"/>
          <p:cNvSpPr txBox="1"/>
          <p:nvPr/>
        </p:nvSpPr>
        <p:spPr>
          <a:xfrm>
            <a:off x="1123920" y="3983040"/>
            <a:ext cx="75510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14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nombres de marca (BN) — Glucophage, Janumet, Synjardy, Invokamet…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Forma libre 301"/>
          <p:cNvSpPr/>
          <p:nvPr/>
        </p:nvSpPr>
        <p:spPr>
          <a:xfrm>
            <a:off x="2428560" y="4609800"/>
            <a:ext cx="1877040" cy="267120"/>
          </a:xfrm>
          <a:custGeom>
            <a:avLst/>
            <a:gdLst/>
            <a:ahLst/>
            <a:cxnLst/>
            <a:rect l="0" t="0" r="r" b="b"/>
            <a:pathLst>
              <a:path w="5214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5108" y="0"/>
                </a:lnTo>
                <a:cubicBezTo>
                  <a:pt x="5122" y="0"/>
                  <a:pt x="5135" y="3"/>
                  <a:pt x="5148" y="8"/>
                </a:cubicBezTo>
                <a:cubicBezTo>
                  <a:pt x="5161" y="14"/>
                  <a:pt x="5173" y="21"/>
                  <a:pt x="5183" y="31"/>
                </a:cubicBezTo>
                <a:cubicBezTo>
                  <a:pt x="5193" y="41"/>
                  <a:pt x="5200" y="53"/>
                  <a:pt x="5206" y="66"/>
                </a:cubicBezTo>
                <a:cubicBezTo>
                  <a:pt x="5211" y="79"/>
                  <a:pt x="5214" y="92"/>
                  <a:pt x="5214" y="106"/>
                </a:cubicBezTo>
                <a:lnTo>
                  <a:pt x="5214" y="636"/>
                </a:lnTo>
                <a:cubicBezTo>
                  <a:pt x="5214" y="650"/>
                  <a:pt x="5211" y="664"/>
                  <a:pt x="5206" y="677"/>
                </a:cubicBezTo>
                <a:cubicBezTo>
                  <a:pt x="5200" y="690"/>
                  <a:pt x="5193" y="701"/>
                  <a:pt x="5183" y="711"/>
                </a:cubicBezTo>
                <a:cubicBezTo>
                  <a:pt x="5173" y="721"/>
                  <a:pt x="5161" y="729"/>
                  <a:pt x="5148" y="734"/>
                </a:cubicBezTo>
                <a:cubicBezTo>
                  <a:pt x="5135" y="739"/>
                  <a:pt x="5122" y="742"/>
                  <a:pt x="5108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CuadroTexto 302"/>
          <p:cNvSpPr txBox="1"/>
          <p:nvPr/>
        </p:nvSpPr>
        <p:spPr>
          <a:xfrm>
            <a:off x="905040" y="4592520"/>
            <a:ext cx="1529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Si ﬁltras por un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CuadroTexto 303"/>
          <p:cNvSpPr txBox="1"/>
          <p:nvPr/>
        </p:nvSpPr>
        <p:spPr>
          <a:xfrm>
            <a:off x="2490480" y="4629960"/>
            <a:ext cx="17622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drug_concept_id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CuadroTexto 304"/>
          <p:cNvSpPr txBox="1"/>
          <p:nvPr/>
        </p:nvSpPr>
        <p:spPr>
          <a:xfrm>
            <a:off x="4302360" y="4592520"/>
            <a:ext cx="68896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de producto, te pierdes los otros ochenta. Por eso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siempre se sube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CuadroTexto 305"/>
          <p:cNvSpPr txBox="1"/>
          <p:nvPr/>
        </p:nvSpPr>
        <p:spPr>
          <a:xfrm>
            <a:off x="905040" y="4935240"/>
            <a:ext cx="15498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al ingrediente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CuadroTexto 30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CuadroTexto 30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CuadroTexto 308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2344328-CFC4-41DB-47A7-E9C48F3092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530" y="570509"/>
            <a:ext cx="10011760" cy="571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344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Forma libre 30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Forma libre 31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Forma libre 31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CuadroTexto 312"/>
          <p:cNvSpPr txBox="1"/>
          <p:nvPr/>
        </p:nvSpPr>
        <p:spPr>
          <a:xfrm>
            <a:off x="1942200" y="3063960"/>
            <a:ext cx="855792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3. ATC: clasificar en vez de identificar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CuadroTexto 31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CuadroTexto 31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CuadroTexto 315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Forma libre 31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Forma libre 31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Forma libre 31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Forma libre 319"/>
          <p:cNvSpPr/>
          <p:nvPr/>
        </p:nvSpPr>
        <p:spPr>
          <a:xfrm>
            <a:off x="671400" y="2043000"/>
            <a:ext cx="10849320" cy="1629000"/>
          </a:xfrm>
          <a:custGeom>
            <a:avLst/>
            <a:gdLst/>
            <a:ahLst/>
            <a:cxnLst/>
            <a:rect l="0" t="0" r="r" b="b"/>
            <a:pathLst>
              <a:path w="30137" h="4525">
                <a:moveTo>
                  <a:pt x="0" y="4327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4327"/>
                </a:lnTo>
                <a:cubicBezTo>
                  <a:pt x="30137" y="4340"/>
                  <a:pt x="30136" y="4353"/>
                  <a:pt x="30133" y="4365"/>
                </a:cubicBezTo>
                <a:cubicBezTo>
                  <a:pt x="30130" y="4378"/>
                  <a:pt x="30127" y="4391"/>
                  <a:pt x="30122" y="4403"/>
                </a:cubicBezTo>
                <a:cubicBezTo>
                  <a:pt x="30117" y="4415"/>
                  <a:pt x="30111" y="4426"/>
                  <a:pt x="30103" y="4437"/>
                </a:cubicBezTo>
                <a:cubicBezTo>
                  <a:pt x="30096" y="4448"/>
                  <a:pt x="30088" y="4458"/>
                  <a:pt x="30079" y="4467"/>
                </a:cubicBezTo>
                <a:cubicBezTo>
                  <a:pt x="30070" y="4476"/>
                  <a:pt x="30059" y="4485"/>
                  <a:pt x="30049" y="4492"/>
                </a:cubicBezTo>
                <a:cubicBezTo>
                  <a:pt x="30038" y="4499"/>
                  <a:pt x="30026" y="4505"/>
                  <a:pt x="30014" y="4510"/>
                </a:cubicBezTo>
                <a:cubicBezTo>
                  <a:pt x="30002" y="4515"/>
                  <a:pt x="29990" y="4519"/>
                  <a:pt x="29977" y="4521"/>
                </a:cubicBezTo>
                <a:cubicBezTo>
                  <a:pt x="29964" y="4524"/>
                  <a:pt x="29951" y="4525"/>
                  <a:pt x="29938" y="4525"/>
                </a:cubicBezTo>
                <a:lnTo>
                  <a:pt x="198" y="4525"/>
                </a:lnTo>
                <a:cubicBezTo>
                  <a:pt x="185" y="4525"/>
                  <a:pt x="172" y="4524"/>
                  <a:pt x="160" y="4521"/>
                </a:cubicBezTo>
                <a:cubicBezTo>
                  <a:pt x="147" y="4519"/>
                  <a:pt x="134" y="4515"/>
                  <a:pt x="122" y="4510"/>
                </a:cubicBezTo>
                <a:cubicBezTo>
                  <a:pt x="110" y="4505"/>
                  <a:pt x="99" y="4499"/>
                  <a:pt x="88" y="4492"/>
                </a:cubicBezTo>
                <a:cubicBezTo>
                  <a:pt x="77" y="4485"/>
                  <a:pt x="67" y="4476"/>
                  <a:pt x="58" y="4467"/>
                </a:cubicBezTo>
                <a:cubicBezTo>
                  <a:pt x="49" y="4458"/>
                  <a:pt x="40" y="4448"/>
                  <a:pt x="33" y="4437"/>
                </a:cubicBezTo>
                <a:cubicBezTo>
                  <a:pt x="26" y="4426"/>
                  <a:pt x="20" y="4415"/>
                  <a:pt x="15" y="4403"/>
                </a:cubicBezTo>
                <a:cubicBezTo>
                  <a:pt x="10" y="4391"/>
                  <a:pt x="6" y="4378"/>
                  <a:pt x="4" y="4365"/>
                </a:cubicBezTo>
                <a:cubicBezTo>
                  <a:pt x="1" y="4353"/>
                  <a:pt x="0" y="4340"/>
                  <a:pt x="0" y="432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Forma libre 320"/>
          <p:cNvSpPr/>
          <p:nvPr/>
        </p:nvSpPr>
        <p:spPr>
          <a:xfrm>
            <a:off x="671400" y="2043000"/>
            <a:ext cx="10849320" cy="1629000"/>
          </a:xfrm>
          <a:custGeom>
            <a:avLst/>
            <a:gdLst/>
            <a:ahLst/>
            <a:cxnLst/>
            <a:rect l="0" t="0" r="r" b="b"/>
            <a:pathLst>
              <a:path w="30137" h="4525">
                <a:moveTo>
                  <a:pt x="0" y="4327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4327"/>
                </a:lnTo>
                <a:cubicBezTo>
                  <a:pt x="30137" y="4340"/>
                  <a:pt x="30136" y="4353"/>
                  <a:pt x="30133" y="4365"/>
                </a:cubicBezTo>
                <a:cubicBezTo>
                  <a:pt x="30130" y="4378"/>
                  <a:pt x="30127" y="4391"/>
                  <a:pt x="30122" y="4403"/>
                </a:cubicBezTo>
                <a:cubicBezTo>
                  <a:pt x="30117" y="4415"/>
                  <a:pt x="30111" y="4426"/>
                  <a:pt x="30103" y="4437"/>
                </a:cubicBezTo>
                <a:cubicBezTo>
                  <a:pt x="30096" y="4448"/>
                  <a:pt x="30088" y="4458"/>
                  <a:pt x="30079" y="4467"/>
                </a:cubicBezTo>
                <a:cubicBezTo>
                  <a:pt x="30070" y="4476"/>
                  <a:pt x="30059" y="4485"/>
                  <a:pt x="30049" y="4492"/>
                </a:cubicBezTo>
                <a:cubicBezTo>
                  <a:pt x="30038" y="4499"/>
                  <a:pt x="30026" y="4505"/>
                  <a:pt x="30014" y="4510"/>
                </a:cubicBezTo>
                <a:cubicBezTo>
                  <a:pt x="30002" y="4515"/>
                  <a:pt x="29990" y="4519"/>
                  <a:pt x="29977" y="4521"/>
                </a:cubicBezTo>
                <a:cubicBezTo>
                  <a:pt x="29964" y="4524"/>
                  <a:pt x="29951" y="4525"/>
                  <a:pt x="29938" y="4525"/>
                </a:cubicBezTo>
                <a:lnTo>
                  <a:pt x="198" y="4525"/>
                </a:lnTo>
                <a:cubicBezTo>
                  <a:pt x="185" y="4525"/>
                  <a:pt x="172" y="4524"/>
                  <a:pt x="160" y="4521"/>
                </a:cubicBezTo>
                <a:cubicBezTo>
                  <a:pt x="147" y="4519"/>
                  <a:pt x="134" y="4515"/>
                  <a:pt x="122" y="4510"/>
                </a:cubicBezTo>
                <a:cubicBezTo>
                  <a:pt x="110" y="4505"/>
                  <a:pt x="99" y="4499"/>
                  <a:pt x="88" y="4492"/>
                </a:cubicBezTo>
                <a:cubicBezTo>
                  <a:pt x="77" y="4485"/>
                  <a:pt x="67" y="4476"/>
                  <a:pt x="58" y="4467"/>
                </a:cubicBezTo>
                <a:cubicBezTo>
                  <a:pt x="49" y="4458"/>
                  <a:pt x="40" y="4448"/>
                  <a:pt x="33" y="4437"/>
                </a:cubicBezTo>
                <a:cubicBezTo>
                  <a:pt x="26" y="4426"/>
                  <a:pt x="20" y="4415"/>
                  <a:pt x="15" y="4403"/>
                </a:cubicBezTo>
                <a:cubicBezTo>
                  <a:pt x="10" y="4391"/>
                  <a:pt x="6" y="4378"/>
                  <a:pt x="4" y="4365"/>
                </a:cubicBezTo>
                <a:cubicBezTo>
                  <a:pt x="1" y="4353"/>
                  <a:pt x="0" y="4340"/>
                  <a:pt x="0" y="432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CuadroTexto 321"/>
          <p:cNvSpPr txBox="1"/>
          <p:nvPr/>
        </p:nvSpPr>
        <p:spPr>
          <a:xfrm>
            <a:off x="666720" y="1406160"/>
            <a:ext cx="48884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Cinco niveles, un propósito distinto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CuadroTexto 322"/>
          <p:cNvSpPr txBox="1"/>
          <p:nvPr/>
        </p:nvSpPr>
        <p:spPr>
          <a:xfrm>
            <a:off x="866880" y="2223000"/>
            <a:ext cx="6988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          Tracto alimentario y metabolismo          (anatómico)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CuadroTexto 323"/>
          <p:cNvSpPr txBox="1"/>
          <p:nvPr/>
        </p:nvSpPr>
        <p:spPr>
          <a:xfrm>
            <a:off x="866880" y="2489400"/>
            <a:ext cx="7206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A10       Fármacos usados en diabetes               (terapéutico)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CuadroTexto 324"/>
          <p:cNvSpPr txBox="1"/>
          <p:nvPr/>
        </p:nvSpPr>
        <p:spPr>
          <a:xfrm>
            <a:off x="866880" y="2746800"/>
            <a:ext cx="7425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A10B     Hipoglucemiantes, excl. insulinas         (farmacológico)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CuadroTexto 325"/>
          <p:cNvSpPr txBox="1"/>
          <p:nvPr/>
        </p:nvSpPr>
        <p:spPr>
          <a:xfrm>
            <a:off x="866880" y="3013560"/>
            <a:ext cx="67701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A10BA   Biguanidas                                (químico)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Forma libre 326"/>
          <p:cNvSpPr/>
          <p:nvPr/>
        </p:nvSpPr>
        <p:spPr>
          <a:xfrm>
            <a:off x="914040" y="39812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2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CuadroTexto 327"/>
          <p:cNvSpPr txBox="1"/>
          <p:nvPr/>
        </p:nvSpPr>
        <p:spPr>
          <a:xfrm>
            <a:off x="866880" y="3270600"/>
            <a:ext cx="6988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A10BA02  metformina                              (sustancia)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Forma libre 328"/>
          <p:cNvSpPr/>
          <p:nvPr/>
        </p:nvSpPr>
        <p:spPr>
          <a:xfrm>
            <a:off x="914040" y="43812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CuadroTexto 329"/>
          <p:cNvSpPr txBox="1"/>
          <p:nvPr/>
        </p:nvSpPr>
        <p:spPr>
          <a:xfrm>
            <a:off x="1123920" y="3868560"/>
            <a:ext cx="4839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ATC clasiﬁca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; RxNorm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identiﬁca un producto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Forma libre 330"/>
          <p:cNvSpPr/>
          <p:nvPr/>
        </p:nvSpPr>
        <p:spPr>
          <a:xfrm>
            <a:off x="3219120" y="4286160"/>
            <a:ext cx="2686680" cy="267120"/>
          </a:xfrm>
          <a:custGeom>
            <a:avLst/>
            <a:gdLst/>
            <a:ahLst/>
            <a:cxnLst/>
            <a:rect l="0" t="0" r="r" b="b"/>
            <a:pathLst>
              <a:path w="7463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7357" y="0"/>
                </a:lnTo>
                <a:cubicBezTo>
                  <a:pt x="7371" y="0"/>
                  <a:pt x="7384" y="2"/>
                  <a:pt x="7397" y="8"/>
                </a:cubicBezTo>
                <a:cubicBezTo>
                  <a:pt x="7410" y="13"/>
                  <a:pt x="7422" y="21"/>
                  <a:pt x="7432" y="31"/>
                </a:cubicBezTo>
                <a:cubicBezTo>
                  <a:pt x="7442" y="41"/>
                  <a:pt x="7449" y="52"/>
                  <a:pt x="7455" y="65"/>
                </a:cubicBezTo>
                <a:cubicBezTo>
                  <a:pt x="7460" y="78"/>
                  <a:pt x="7463" y="92"/>
                  <a:pt x="7463" y="106"/>
                </a:cubicBezTo>
                <a:lnTo>
                  <a:pt x="7463" y="636"/>
                </a:lnTo>
                <a:cubicBezTo>
                  <a:pt x="7463" y="650"/>
                  <a:pt x="7460" y="663"/>
                  <a:pt x="7455" y="676"/>
                </a:cubicBezTo>
                <a:cubicBezTo>
                  <a:pt x="7449" y="689"/>
                  <a:pt x="7442" y="701"/>
                  <a:pt x="7432" y="711"/>
                </a:cubicBezTo>
                <a:cubicBezTo>
                  <a:pt x="7422" y="721"/>
                  <a:pt x="7410" y="728"/>
                  <a:pt x="7397" y="734"/>
                </a:cubicBezTo>
                <a:cubicBezTo>
                  <a:pt x="7384" y="739"/>
                  <a:pt x="7371" y="742"/>
                  <a:pt x="7357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8"/>
                  <a:pt x="41" y="721"/>
                  <a:pt x="31" y="711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CuadroTexto 331"/>
          <p:cNvSpPr txBox="1"/>
          <p:nvPr/>
        </p:nvSpPr>
        <p:spPr>
          <a:xfrm>
            <a:off x="1123920" y="4268520"/>
            <a:ext cx="2149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En OMOP, ATC tiene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CuadroTexto 332"/>
          <p:cNvSpPr txBox="1"/>
          <p:nvPr/>
        </p:nvSpPr>
        <p:spPr>
          <a:xfrm>
            <a:off x="3279240" y="4305960"/>
            <a:ext cx="25844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standard_concept = 'C'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Forma libre 333"/>
          <p:cNvSpPr/>
          <p:nvPr/>
        </p:nvSpPr>
        <p:spPr>
          <a:xfrm>
            <a:off x="914040" y="478152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CuadroTexto 334"/>
          <p:cNvSpPr txBox="1"/>
          <p:nvPr/>
        </p:nvSpPr>
        <p:spPr>
          <a:xfrm>
            <a:off x="5910120" y="4268520"/>
            <a:ext cx="31539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clasiﬁcación, no estándar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Forma libre 335"/>
          <p:cNvSpPr/>
          <p:nvPr/>
        </p:nvSpPr>
        <p:spPr>
          <a:xfrm>
            <a:off x="3371760" y="4686120"/>
            <a:ext cx="1867320" cy="267120"/>
          </a:xfrm>
          <a:custGeom>
            <a:avLst/>
            <a:gdLst/>
            <a:ahLst/>
            <a:cxnLst/>
            <a:rect l="0" t="0" r="r" b="b"/>
            <a:pathLst>
              <a:path w="5187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081" y="0"/>
                </a:lnTo>
                <a:cubicBezTo>
                  <a:pt x="5095" y="0"/>
                  <a:pt x="5108" y="3"/>
                  <a:pt x="5121" y="8"/>
                </a:cubicBezTo>
                <a:cubicBezTo>
                  <a:pt x="5134" y="13"/>
                  <a:pt x="5146" y="21"/>
                  <a:pt x="5156" y="31"/>
                </a:cubicBezTo>
                <a:cubicBezTo>
                  <a:pt x="5166" y="41"/>
                  <a:pt x="5173" y="52"/>
                  <a:pt x="5179" y="65"/>
                </a:cubicBezTo>
                <a:cubicBezTo>
                  <a:pt x="5184" y="78"/>
                  <a:pt x="5187" y="92"/>
                  <a:pt x="5187" y="106"/>
                </a:cubicBezTo>
                <a:lnTo>
                  <a:pt x="5187" y="635"/>
                </a:lnTo>
                <a:cubicBezTo>
                  <a:pt x="5187" y="649"/>
                  <a:pt x="5184" y="663"/>
                  <a:pt x="5179" y="676"/>
                </a:cubicBezTo>
                <a:cubicBezTo>
                  <a:pt x="5173" y="689"/>
                  <a:pt x="5166" y="701"/>
                  <a:pt x="5156" y="711"/>
                </a:cubicBezTo>
                <a:cubicBezTo>
                  <a:pt x="5146" y="721"/>
                  <a:pt x="5134" y="728"/>
                  <a:pt x="5121" y="734"/>
                </a:cubicBezTo>
                <a:cubicBezTo>
                  <a:pt x="5108" y="739"/>
                  <a:pt x="5095" y="742"/>
                  <a:pt x="5081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CuadroTexto 336"/>
          <p:cNvSpPr txBox="1"/>
          <p:nvPr/>
        </p:nvSpPr>
        <p:spPr>
          <a:xfrm>
            <a:off x="1123920" y="4668840"/>
            <a:ext cx="2262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No pongas un ATC en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CuadroTexto 337"/>
          <p:cNvSpPr txBox="1"/>
          <p:nvPr/>
        </p:nvSpPr>
        <p:spPr>
          <a:xfrm>
            <a:off x="3427200" y="4705920"/>
            <a:ext cx="17622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drug_concept_id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CuadroTexto 338"/>
          <p:cNvSpPr txBox="1"/>
          <p:nvPr/>
        </p:nvSpPr>
        <p:spPr>
          <a:xfrm>
            <a:off x="5239080" y="4668840"/>
            <a:ext cx="3607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úsalo para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llegar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a los ingredientes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CuadroTexto 339"/>
          <p:cNvSpPr txBox="1"/>
          <p:nvPr/>
        </p:nvSpPr>
        <p:spPr>
          <a:xfrm>
            <a:off x="666720" y="5185800"/>
            <a:ext cx="6784560" cy="244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62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Ejemplo tomado de la propia documentación del WHO Collaborating Centre.</a:t>
            </a:r>
            <a:endParaRPr lang="es-E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CuadroTexto 34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CuadroTexto 34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CuadroTexto 34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Forma libre 34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Forma libre 34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Forma libre 34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Forma libre 346"/>
          <p:cNvSpPr/>
          <p:nvPr/>
        </p:nvSpPr>
        <p:spPr>
          <a:xfrm>
            <a:off x="676080" y="2438280"/>
            <a:ext cx="2181600" cy="410040"/>
          </a:xfrm>
          <a:custGeom>
            <a:avLst/>
            <a:gdLst/>
            <a:ahLst/>
            <a:cxnLst/>
            <a:rect l="0" t="0" r="r" b="b"/>
            <a:pathLst>
              <a:path w="6060" h="1139">
                <a:moveTo>
                  <a:pt x="0" y="0"/>
                </a:moveTo>
                <a:lnTo>
                  <a:pt x="6060" y="0"/>
                </a:lnTo>
                <a:lnTo>
                  <a:pt x="606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Forma libre 347"/>
          <p:cNvSpPr/>
          <p:nvPr/>
        </p:nvSpPr>
        <p:spPr>
          <a:xfrm>
            <a:off x="2857320" y="2438280"/>
            <a:ext cx="2696040" cy="410040"/>
          </a:xfrm>
          <a:custGeom>
            <a:avLst/>
            <a:gdLst/>
            <a:ahLst/>
            <a:cxnLst/>
            <a:rect l="0" t="0" r="r" b="b"/>
            <a:pathLst>
              <a:path w="7489" h="1139">
                <a:moveTo>
                  <a:pt x="0" y="0"/>
                </a:moveTo>
                <a:lnTo>
                  <a:pt x="7489" y="0"/>
                </a:lnTo>
                <a:lnTo>
                  <a:pt x="748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Forma libre 348"/>
          <p:cNvSpPr/>
          <p:nvPr/>
        </p:nvSpPr>
        <p:spPr>
          <a:xfrm>
            <a:off x="5553000" y="2438280"/>
            <a:ext cx="3171960" cy="410040"/>
          </a:xfrm>
          <a:custGeom>
            <a:avLst/>
            <a:gdLst/>
            <a:ahLst/>
            <a:cxnLst/>
            <a:rect l="0" t="0" r="r" b="b"/>
            <a:pathLst>
              <a:path w="8811" h="1139">
                <a:moveTo>
                  <a:pt x="0" y="0"/>
                </a:moveTo>
                <a:lnTo>
                  <a:pt x="8811" y="0"/>
                </a:lnTo>
                <a:lnTo>
                  <a:pt x="881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Forma libre 349"/>
          <p:cNvSpPr/>
          <p:nvPr/>
        </p:nvSpPr>
        <p:spPr>
          <a:xfrm>
            <a:off x="676080" y="2438280"/>
            <a:ext cx="2181600" cy="410040"/>
          </a:xfrm>
          <a:custGeom>
            <a:avLst/>
            <a:gdLst/>
            <a:ahLst/>
            <a:cxnLst/>
            <a:rect l="0" t="0" r="r" b="b"/>
            <a:pathLst>
              <a:path w="6060" h="1139">
                <a:moveTo>
                  <a:pt x="0" y="0"/>
                </a:moveTo>
                <a:lnTo>
                  <a:pt x="6060" y="0"/>
                </a:lnTo>
                <a:lnTo>
                  <a:pt x="606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Forma libre 350"/>
          <p:cNvSpPr/>
          <p:nvPr/>
        </p:nvSpPr>
        <p:spPr>
          <a:xfrm>
            <a:off x="2857320" y="2438280"/>
            <a:ext cx="2696040" cy="410040"/>
          </a:xfrm>
          <a:custGeom>
            <a:avLst/>
            <a:gdLst/>
            <a:ahLst/>
            <a:cxnLst/>
            <a:rect l="0" t="0" r="r" b="b"/>
            <a:pathLst>
              <a:path w="7489" h="1139">
                <a:moveTo>
                  <a:pt x="0" y="0"/>
                </a:moveTo>
                <a:lnTo>
                  <a:pt x="7489" y="0"/>
                </a:lnTo>
                <a:lnTo>
                  <a:pt x="748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Forma libre 351"/>
          <p:cNvSpPr/>
          <p:nvPr/>
        </p:nvSpPr>
        <p:spPr>
          <a:xfrm>
            <a:off x="5553000" y="2438280"/>
            <a:ext cx="3171960" cy="410040"/>
          </a:xfrm>
          <a:custGeom>
            <a:avLst/>
            <a:gdLst/>
            <a:ahLst/>
            <a:cxnLst/>
            <a:rect l="0" t="0" r="r" b="b"/>
            <a:pathLst>
              <a:path w="8811" h="1139">
                <a:moveTo>
                  <a:pt x="0" y="0"/>
                </a:moveTo>
                <a:lnTo>
                  <a:pt x="8811" y="0"/>
                </a:lnTo>
                <a:lnTo>
                  <a:pt x="881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Forma libre 352"/>
          <p:cNvSpPr/>
          <p:nvPr/>
        </p:nvSpPr>
        <p:spPr>
          <a:xfrm>
            <a:off x="676080" y="2847960"/>
            <a:ext cx="2181600" cy="419400"/>
          </a:xfrm>
          <a:custGeom>
            <a:avLst/>
            <a:gdLst/>
            <a:ahLst/>
            <a:cxnLst/>
            <a:rect l="0" t="0" r="r" b="b"/>
            <a:pathLst>
              <a:path w="6060" h="1165">
                <a:moveTo>
                  <a:pt x="0" y="0"/>
                </a:moveTo>
                <a:lnTo>
                  <a:pt x="6060" y="0"/>
                </a:lnTo>
                <a:lnTo>
                  <a:pt x="606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Forma libre 353"/>
          <p:cNvSpPr/>
          <p:nvPr/>
        </p:nvSpPr>
        <p:spPr>
          <a:xfrm>
            <a:off x="2857320" y="2847960"/>
            <a:ext cx="2696040" cy="419400"/>
          </a:xfrm>
          <a:custGeom>
            <a:avLst/>
            <a:gdLst/>
            <a:ahLst/>
            <a:cxnLst/>
            <a:rect l="0" t="0" r="r" b="b"/>
            <a:pathLst>
              <a:path w="7489" h="1165">
                <a:moveTo>
                  <a:pt x="0" y="0"/>
                </a:moveTo>
                <a:lnTo>
                  <a:pt x="7489" y="0"/>
                </a:lnTo>
                <a:lnTo>
                  <a:pt x="748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Forma libre 354"/>
          <p:cNvSpPr/>
          <p:nvPr/>
        </p:nvSpPr>
        <p:spPr>
          <a:xfrm>
            <a:off x="5553000" y="2847960"/>
            <a:ext cx="3171960" cy="419400"/>
          </a:xfrm>
          <a:custGeom>
            <a:avLst/>
            <a:gdLst/>
            <a:ahLst/>
            <a:cxnLst/>
            <a:rect l="0" t="0" r="r" b="b"/>
            <a:pathLst>
              <a:path w="8811" h="1165">
                <a:moveTo>
                  <a:pt x="0" y="0"/>
                </a:moveTo>
                <a:lnTo>
                  <a:pt x="8811" y="0"/>
                </a:lnTo>
                <a:lnTo>
                  <a:pt x="881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Forma libre 355"/>
          <p:cNvSpPr/>
          <p:nvPr/>
        </p:nvSpPr>
        <p:spPr>
          <a:xfrm>
            <a:off x="676080" y="3267000"/>
            <a:ext cx="2181600" cy="409680"/>
          </a:xfrm>
          <a:custGeom>
            <a:avLst/>
            <a:gdLst/>
            <a:ahLst/>
            <a:cxnLst/>
            <a:rect l="0" t="0" r="r" b="b"/>
            <a:pathLst>
              <a:path w="6060" h="1138">
                <a:moveTo>
                  <a:pt x="0" y="0"/>
                </a:moveTo>
                <a:lnTo>
                  <a:pt x="6060" y="0"/>
                </a:lnTo>
                <a:lnTo>
                  <a:pt x="6060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Forma libre 356"/>
          <p:cNvSpPr/>
          <p:nvPr/>
        </p:nvSpPr>
        <p:spPr>
          <a:xfrm>
            <a:off x="2857320" y="3267000"/>
            <a:ext cx="2696040" cy="409680"/>
          </a:xfrm>
          <a:custGeom>
            <a:avLst/>
            <a:gdLst/>
            <a:ahLst/>
            <a:cxnLst/>
            <a:rect l="0" t="0" r="r" b="b"/>
            <a:pathLst>
              <a:path w="7489" h="1138">
                <a:moveTo>
                  <a:pt x="0" y="0"/>
                </a:moveTo>
                <a:lnTo>
                  <a:pt x="7489" y="0"/>
                </a:lnTo>
                <a:lnTo>
                  <a:pt x="7489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Forma libre 357"/>
          <p:cNvSpPr/>
          <p:nvPr/>
        </p:nvSpPr>
        <p:spPr>
          <a:xfrm>
            <a:off x="5553000" y="3267000"/>
            <a:ext cx="3171960" cy="409680"/>
          </a:xfrm>
          <a:custGeom>
            <a:avLst/>
            <a:gdLst/>
            <a:ahLst/>
            <a:cxnLst/>
            <a:rect l="0" t="0" r="r" b="b"/>
            <a:pathLst>
              <a:path w="8811" h="1138">
                <a:moveTo>
                  <a:pt x="0" y="0"/>
                </a:moveTo>
                <a:lnTo>
                  <a:pt x="8811" y="0"/>
                </a:lnTo>
                <a:lnTo>
                  <a:pt x="8811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Forma libre 358"/>
          <p:cNvSpPr/>
          <p:nvPr/>
        </p:nvSpPr>
        <p:spPr>
          <a:xfrm>
            <a:off x="676080" y="3676320"/>
            <a:ext cx="2181600" cy="410040"/>
          </a:xfrm>
          <a:custGeom>
            <a:avLst/>
            <a:gdLst/>
            <a:ahLst/>
            <a:cxnLst/>
            <a:rect l="0" t="0" r="r" b="b"/>
            <a:pathLst>
              <a:path w="6060" h="1139">
                <a:moveTo>
                  <a:pt x="0" y="0"/>
                </a:moveTo>
                <a:lnTo>
                  <a:pt x="6060" y="0"/>
                </a:lnTo>
                <a:lnTo>
                  <a:pt x="606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Forma libre 359"/>
          <p:cNvSpPr/>
          <p:nvPr/>
        </p:nvSpPr>
        <p:spPr>
          <a:xfrm>
            <a:off x="2857320" y="3676320"/>
            <a:ext cx="2696040" cy="410040"/>
          </a:xfrm>
          <a:custGeom>
            <a:avLst/>
            <a:gdLst/>
            <a:ahLst/>
            <a:cxnLst/>
            <a:rect l="0" t="0" r="r" b="b"/>
            <a:pathLst>
              <a:path w="7489" h="1139">
                <a:moveTo>
                  <a:pt x="0" y="0"/>
                </a:moveTo>
                <a:lnTo>
                  <a:pt x="7489" y="0"/>
                </a:lnTo>
                <a:lnTo>
                  <a:pt x="748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Forma libre 360"/>
          <p:cNvSpPr/>
          <p:nvPr/>
        </p:nvSpPr>
        <p:spPr>
          <a:xfrm>
            <a:off x="5553000" y="3676320"/>
            <a:ext cx="3171960" cy="410040"/>
          </a:xfrm>
          <a:custGeom>
            <a:avLst/>
            <a:gdLst/>
            <a:ahLst/>
            <a:cxnLst/>
            <a:rect l="0" t="0" r="r" b="b"/>
            <a:pathLst>
              <a:path w="8811" h="1139">
                <a:moveTo>
                  <a:pt x="0" y="0"/>
                </a:moveTo>
                <a:lnTo>
                  <a:pt x="8811" y="0"/>
                </a:lnTo>
                <a:lnTo>
                  <a:pt x="881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Forma libre 361"/>
          <p:cNvSpPr/>
          <p:nvPr/>
        </p:nvSpPr>
        <p:spPr>
          <a:xfrm>
            <a:off x="676080" y="4086000"/>
            <a:ext cx="2181600" cy="410040"/>
          </a:xfrm>
          <a:custGeom>
            <a:avLst/>
            <a:gdLst/>
            <a:ahLst/>
            <a:cxnLst/>
            <a:rect l="0" t="0" r="r" b="b"/>
            <a:pathLst>
              <a:path w="6060" h="1139">
                <a:moveTo>
                  <a:pt x="0" y="0"/>
                </a:moveTo>
                <a:lnTo>
                  <a:pt x="6060" y="0"/>
                </a:lnTo>
                <a:lnTo>
                  <a:pt x="606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Forma libre 362"/>
          <p:cNvSpPr/>
          <p:nvPr/>
        </p:nvSpPr>
        <p:spPr>
          <a:xfrm>
            <a:off x="2857320" y="4086000"/>
            <a:ext cx="2696040" cy="410040"/>
          </a:xfrm>
          <a:custGeom>
            <a:avLst/>
            <a:gdLst/>
            <a:ahLst/>
            <a:cxnLst/>
            <a:rect l="0" t="0" r="r" b="b"/>
            <a:pathLst>
              <a:path w="7489" h="1139">
                <a:moveTo>
                  <a:pt x="0" y="0"/>
                </a:moveTo>
                <a:lnTo>
                  <a:pt x="7489" y="0"/>
                </a:lnTo>
                <a:lnTo>
                  <a:pt x="7489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Forma libre 363"/>
          <p:cNvSpPr/>
          <p:nvPr/>
        </p:nvSpPr>
        <p:spPr>
          <a:xfrm>
            <a:off x="5553000" y="4086000"/>
            <a:ext cx="3171960" cy="410040"/>
          </a:xfrm>
          <a:custGeom>
            <a:avLst/>
            <a:gdLst/>
            <a:ahLst/>
            <a:cxnLst/>
            <a:rect l="0" t="0" r="r" b="b"/>
            <a:pathLst>
              <a:path w="8811" h="1139">
                <a:moveTo>
                  <a:pt x="0" y="0"/>
                </a:moveTo>
                <a:lnTo>
                  <a:pt x="8811" y="0"/>
                </a:lnTo>
                <a:lnTo>
                  <a:pt x="881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Forma libre 364"/>
          <p:cNvSpPr/>
          <p:nvPr/>
        </p:nvSpPr>
        <p:spPr>
          <a:xfrm>
            <a:off x="666720" y="24382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Forma libre 365"/>
          <p:cNvSpPr/>
          <p:nvPr/>
        </p:nvSpPr>
        <p:spPr>
          <a:xfrm>
            <a:off x="666720" y="2438280"/>
            <a:ext cx="2200320" cy="9720"/>
          </a:xfrm>
          <a:custGeom>
            <a:avLst/>
            <a:gdLst/>
            <a:ahLst/>
            <a:cxnLst/>
            <a:rect l="0" t="0" r="r" b="b"/>
            <a:pathLst>
              <a:path w="6112" h="27">
                <a:moveTo>
                  <a:pt x="0" y="0"/>
                </a:moveTo>
                <a:lnTo>
                  <a:pt x="6112" y="0"/>
                </a:lnTo>
                <a:lnTo>
                  <a:pt x="61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Forma libre 366"/>
          <p:cNvSpPr/>
          <p:nvPr/>
        </p:nvSpPr>
        <p:spPr>
          <a:xfrm>
            <a:off x="2857320" y="24382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Forma libre 367"/>
          <p:cNvSpPr/>
          <p:nvPr/>
        </p:nvSpPr>
        <p:spPr>
          <a:xfrm>
            <a:off x="2866680" y="2438280"/>
            <a:ext cx="2696040" cy="9720"/>
          </a:xfrm>
          <a:custGeom>
            <a:avLst/>
            <a:gdLst/>
            <a:ahLst/>
            <a:cxnLst/>
            <a:rect l="0" t="0" r="r" b="b"/>
            <a:pathLst>
              <a:path w="7489" h="27">
                <a:moveTo>
                  <a:pt x="0" y="0"/>
                </a:moveTo>
                <a:lnTo>
                  <a:pt x="7489" y="0"/>
                </a:lnTo>
                <a:lnTo>
                  <a:pt x="74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Forma libre 368"/>
          <p:cNvSpPr/>
          <p:nvPr/>
        </p:nvSpPr>
        <p:spPr>
          <a:xfrm>
            <a:off x="5553000" y="24382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Forma libre 369"/>
          <p:cNvSpPr/>
          <p:nvPr/>
        </p:nvSpPr>
        <p:spPr>
          <a:xfrm>
            <a:off x="5562360" y="2438280"/>
            <a:ext cx="3162600" cy="9720"/>
          </a:xfrm>
          <a:custGeom>
            <a:avLst/>
            <a:gdLst/>
            <a:ahLst/>
            <a:cxnLst/>
            <a:rect l="0" t="0" r="r" b="b"/>
            <a:pathLst>
              <a:path w="8785" h="27">
                <a:moveTo>
                  <a:pt x="0" y="0"/>
                </a:moveTo>
                <a:lnTo>
                  <a:pt x="8785" y="0"/>
                </a:lnTo>
                <a:lnTo>
                  <a:pt x="87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Forma libre 370"/>
          <p:cNvSpPr/>
          <p:nvPr/>
        </p:nvSpPr>
        <p:spPr>
          <a:xfrm>
            <a:off x="8715240" y="24382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Forma libre 371"/>
          <p:cNvSpPr/>
          <p:nvPr/>
        </p:nvSpPr>
        <p:spPr>
          <a:xfrm>
            <a:off x="666720" y="2847960"/>
            <a:ext cx="2200320" cy="9720"/>
          </a:xfrm>
          <a:custGeom>
            <a:avLst/>
            <a:gdLst/>
            <a:ahLst/>
            <a:cxnLst/>
            <a:rect l="0" t="0" r="r" b="b"/>
            <a:pathLst>
              <a:path w="6112" h="27">
                <a:moveTo>
                  <a:pt x="0" y="0"/>
                </a:moveTo>
                <a:lnTo>
                  <a:pt x="6112" y="0"/>
                </a:lnTo>
                <a:lnTo>
                  <a:pt x="61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Forma libre 372"/>
          <p:cNvSpPr/>
          <p:nvPr/>
        </p:nvSpPr>
        <p:spPr>
          <a:xfrm>
            <a:off x="2866680" y="2847960"/>
            <a:ext cx="2696040" cy="9720"/>
          </a:xfrm>
          <a:custGeom>
            <a:avLst/>
            <a:gdLst/>
            <a:ahLst/>
            <a:cxnLst/>
            <a:rect l="0" t="0" r="r" b="b"/>
            <a:pathLst>
              <a:path w="7489" h="27">
                <a:moveTo>
                  <a:pt x="0" y="0"/>
                </a:moveTo>
                <a:lnTo>
                  <a:pt x="7489" y="0"/>
                </a:lnTo>
                <a:lnTo>
                  <a:pt x="74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Forma libre 373"/>
          <p:cNvSpPr/>
          <p:nvPr/>
        </p:nvSpPr>
        <p:spPr>
          <a:xfrm>
            <a:off x="5562360" y="2847960"/>
            <a:ext cx="3162600" cy="9720"/>
          </a:xfrm>
          <a:custGeom>
            <a:avLst/>
            <a:gdLst/>
            <a:ahLst/>
            <a:cxnLst/>
            <a:rect l="0" t="0" r="r" b="b"/>
            <a:pathLst>
              <a:path w="8785" h="27">
                <a:moveTo>
                  <a:pt x="0" y="0"/>
                </a:moveTo>
                <a:lnTo>
                  <a:pt x="8785" y="0"/>
                </a:lnTo>
                <a:lnTo>
                  <a:pt x="87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Forma libre 374"/>
          <p:cNvSpPr/>
          <p:nvPr/>
        </p:nvSpPr>
        <p:spPr>
          <a:xfrm>
            <a:off x="666720" y="28573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Forma libre 375"/>
          <p:cNvSpPr/>
          <p:nvPr/>
        </p:nvSpPr>
        <p:spPr>
          <a:xfrm>
            <a:off x="2857320" y="28573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Forma libre 376"/>
          <p:cNvSpPr/>
          <p:nvPr/>
        </p:nvSpPr>
        <p:spPr>
          <a:xfrm>
            <a:off x="5553000" y="28573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Forma libre 377"/>
          <p:cNvSpPr/>
          <p:nvPr/>
        </p:nvSpPr>
        <p:spPr>
          <a:xfrm>
            <a:off x="8715240" y="28573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Forma libre 378"/>
          <p:cNvSpPr/>
          <p:nvPr/>
        </p:nvSpPr>
        <p:spPr>
          <a:xfrm>
            <a:off x="666720" y="327636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Forma libre 379"/>
          <p:cNvSpPr/>
          <p:nvPr/>
        </p:nvSpPr>
        <p:spPr>
          <a:xfrm>
            <a:off x="666720" y="3267000"/>
            <a:ext cx="2200320" cy="9720"/>
          </a:xfrm>
          <a:custGeom>
            <a:avLst/>
            <a:gdLst/>
            <a:ahLst/>
            <a:cxnLst/>
            <a:rect l="0" t="0" r="r" b="b"/>
            <a:pathLst>
              <a:path w="6112" h="27">
                <a:moveTo>
                  <a:pt x="0" y="0"/>
                </a:moveTo>
                <a:lnTo>
                  <a:pt x="6112" y="0"/>
                </a:lnTo>
                <a:lnTo>
                  <a:pt x="61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Forma libre 380"/>
          <p:cNvSpPr/>
          <p:nvPr/>
        </p:nvSpPr>
        <p:spPr>
          <a:xfrm>
            <a:off x="2857320" y="327636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Forma libre 381"/>
          <p:cNvSpPr/>
          <p:nvPr/>
        </p:nvSpPr>
        <p:spPr>
          <a:xfrm>
            <a:off x="2866680" y="3267000"/>
            <a:ext cx="2696040" cy="9720"/>
          </a:xfrm>
          <a:custGeom>
            <a:avLst/>
            <a:gdLst/>
            <a:ahLst/>
            <a:cxnLst/>
            <a:rect l="0" t="0" r="r" b="b"/>
            <a:pathLst>
              <a:path w="7489" h="27">
                <a:moveTo>
                  <a:pt x="0" y="0"/>
                </a:moveTo>
                <a:lnTo>
                  <a:pt x="7489" y="0"/>
                </a:lnTo>
                <a:lnTo>
                  <a:pt x="74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Forma libre 382"/>
          <p:cNvSpPr/>
          <p:nvPr/>
        </p:nvSpPr>
        <p:spPr>
          <a:xfrm>
            <a:off x="5553000" y="327636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Forma libre 383"/>
          <p:cNvSpPr/>
          <p:nvPr/>
        </p:nvSpPr>
        <p:spPr>
          <a:xfrm>
            <a:off x="5562360" y="3267000"/>
            <a:ext cx="3162600" cy="9720"/>
          </a:xfrm>
          <a:custGeom>
            <a:avLst/>
            <a:gdLst/>
            <a:ahLst/>
            <a:cxnLst/>
            <a:rect l="0" t="0" r="r" b="b"/>
            <a:pathLst>
              <a:path w="8785" h="27">
                <a:moveTo>
                  <a:pt x="0" y="0"/>
                </a:moveTo>
                <a:lnTo>
                  <a:pt x="8785" y="0"/>
                </a:lnTo>
                <a:lnTo>
                  <a:pt x="87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Forma libre 384"/>
          <p:cNvSpPr/>
          <p:nvPr/>
        </p:nvSpPr>
        <p:spPr>
          <a:xfrm>
            <a:off x="8715240" y="327636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Forma libre 385"/>
          <p:cNvSpPr/>
          <p:nvPr/>
        </p:nvSpPr>
        <p:spPr>
          <a:xfrm>
            <a:off x="666720" y="36860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Forma libre 386"/>
          <p:cNvSpPr/>
          <p:nvPr/>
        </p:nvSpPr>
        <p:spPr>
          <a:xfrm>
            <a:off x="666720" y="3676320"/>
            <a:ext cx="2200320" cy="10080"/>
          </a:xfrm>
          <a:custGeom>
            <a:avLst/>
            <a:gdLst/>
            <a:ahLst/>
            <a:cxnLst/>
            <a:rect l="0" t="0" r="r" b="b"/>
            <a:pathLst>
              <a:path w="6112" h="28">
                <a:moveTo>
                  <a:pt x="0" y="0"/>
                </a:moveTo>
                <a:lnTo>
                  <a:pt x="6112" y="0"/>
                </a:lnTo>
                <a:lnTo>
                  <a:pt x="61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Forma libre 387"/>
          <p:cNvSpPr/>
          <p:nvPr/>
        </p:nvSpPr>
        <p:spPr>
          <a:xfrm>
            <a:off x="2857320" y="36860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Forma libre 388"/>
          <p:cNvSpPr/>
          <p:nvPr/>
        </p:nvSpPr>
        <p:spPr>
          <a:xfrm>
            <a:off x="2866680" y="3676320"/>
            <a:ext cx="2696040" cy="10080"/>
          </a:xfrm>
          <a:custGeom>
            <a:avLst/>
            <a:gdLst/>
            <a:ahLst/>
            <a:cxnLst/>
            <a:rect l="0" t="0" r="r" b="b"/>
            <a:pathLst>
              <a:path w="7489" h="28">
                <a:moveTo>
                  <a:pt x="0" y="0"/>
                </a:moveTo>
                <a:lnTo>
                  <a:pt x="7489" y="0"/>
                </a:lnTo>
                <a:lnTo>
                  <a:pt x="748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Forma libre 389"/>
          <p:cNvSpPr/>
          <p:nvPr/>
        </p:nvSpPr>
        <p:spPr>
          <a:xfrm>
            <a:off x="5553000" y="36860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Forma libre 390"/>
          <p:cNvSpPr/>
          <p:nvPr/>
        </p:nvSpPr>
        <p:spPr>
          <a:xfrm>
            <a:off x="5562360" y="3676320"/>
            <a:ext cx="3162600" cy="10080"/>
          </a:xfrm>
          <a:custGeom>
            <a:avLst/>
            <a:gdLst/>
            <a:ahLst/>
            <a:cxnLst/>
            <a:rect l="0" t="0" r="r" b="b"/>
            <a:pathLst>
              <a:path w="8785" h="28">
                <a:moveTo>
                  <a:pt x="0" y="0"/>
                </a:moveTo>
                <a:lnTo>
                  <a:pt x="8785" y="0"/>
                </a:lnTo>
                <a:lnTo>
                  <a:pt x="87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Forma libre 391"/>
          <p:cNvSpPr/>
          <p:nvPr/>
        </p:nvSpPr>
        <p:spPr>
          <a:xfrm>
            <a:off x="8715240" y="36860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Forma libre 392"/>
          <p:cNvSpPr/>
          <p:nvPr/>
        </p:nvSpPr>
        <p:spPr>
          <a:xfrm>
            <a:off x="666720" y="409572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Forma libre 393"/>
          <p:cNvSpPr/>
          <p:nvPr/>
        </p:nvSpPr>
        <p:spPr>
          <a:xfrm>
            <a:off x="666720" y="4086000"/>
            <a:ext cx="2200320" cy="10080"/>
          </a:xfrm>
          <a:custGeom>
            <a:avLst/>
            <a:gdLst/>
            <a:ahLst/>
            <a:cxnLst/>
            <a:rect l="0" t="0" r="r" b="b"/>
            <a:pathLst>
              <a:path w="6112" h="28">
                <a:moveTo>
                  <a:pt x="0" y="0"/>
                </a:moveTo>
                <a:lnTo>
                  <a:pt x="6112" y="0"/>
                </a:lnTo>
                <a:lnTo>
                  <a:pt x="611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Forma libre 394"/>
          <p:cNvSpPr/>
          <p:nvPr/>
        </p:nvSpPr>
        <p:spPr>
          <a:xfrm>
            <a:off x="2857320" y="409572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Forma libre 395"/>
          <p:cNvSpPr/>
          <p:nvPr/>
        </p:nvSpPr>
        <p:spPr>
          <a:xfrm>
            <a:off x="2866680" y="4086000"/>
            <a:ext cx="2696040" cy="10080"/>
          </a:xfrm>
          <a:custGeom>
            <a:avLst/>
            <a:gdLst/>
            <a:ahLst/>
            <a:cxnLst/>
            <a:rect l="0" t="0" r="r" b="b"/>
            <a:pathLst>
              <a:path w="7489" h="28">
                <a:moveTo>
                  <a:pt x="0" y="0"/>
                </a:moveTo>
                <a:lnTo>
                  <a:pt x="7489" y="0"/>
                </a:lnTo>
                <a:lnTo>
                  <a:pt x="748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Forma libre 396"/>
          <p:cNvSpPr/>
          <p:nvPr/>
        </p:nvSpPr>
        <p:spPr>
          <a:xfrm>
            <a:off x="5553000" y="409572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Forma libre 397"/>
          <p:cNvSpPr/>
          <p:nvPr/>
        </p:nvSpPr>
        <p:spPr>
          <a:xfrm>
            <a:off x="5562360" y="4086000"/>
            <a:ext cx="3162600" cy="10080"/>
          </a:xfrm>
          <a:custGeom>
            <a:avLst/>
            <a:gdLst/>
            <a:ahLst/>
            <a:cxnLst/>
            <a:rect l="0" t="0" r="r" b="b"/>
            <a:pathLst>
              <a:path w="8785" h="28">
                <a:moveTo>
                  <a:pt x="0" y="0"/>
                </a:moveTo>
                <a:lnTo>
                  <a:pt x="8785" y="0"/>
                </a:lnTo>
                <a:lnTo>
                  <a:pt x="87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Forma libre 398"/>
          <p:cNvSpPr/>
          <p:nvPr/>
        </p:nvSpPr>
        <p:spPr>
          <a:xfrm>
            <a:off x="8715240" y="409572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Forma libre 399"/>
          <p:cNvSpPr/>
          <p:nvPr/>
        </p:nvSpPr>
        <p:spPr>
          <a:xfrm>
            <a:off x="666720" y="4495680"/>
            <a:ext cx="2200320" cy="9720"/>
          </a:xfrm>
          <a:custGeom>
            <a:avLst/>
            <a:gdLst/>
            <a:ahLst/>
            <a:cxnLst/>
            <a:rect l="0" t="0" r="r" b="b"/>
            <a:pathLst>
              <a:path w="6112" h="27">
                <a:moveTo>
                  <a:pt x="0" y="0"/>
                </a:moveTo>
                <a:lnTo>
                  <a:pt x="6112" y="0"/>
                </a:lnTo>
                <a:lnTo>
                  <a:pt x="61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Forma libre 400"/>
          <p:cNvSpPr/>
          <p:nvPr/>
        </p:nvSpPr>
        <p:spPr>
          <a:xfrm>
            <a:off x="2866680" y="4495680"/>
            <a:ext cx="2696040" cy="9720"/>
          </a:xfrm>
          <a:custGeom>
            <a:avLst/>
            <a:gdLst/>
            <a:ahLst/>
            <a:cxnLst/>
            <a:rect l="0" t="0" r="r" b="b"/>
            <a:pathLst>
              <a:path w="7489" h="27">
                <a:moveTo>
                  <a:pt x="0" y="0"/>
                </a:moveTo>
                <a:lnTo>
                  <a:pt x="7489" y="0"/>
                </a:lnTo>
                <a:lnTo>
                  <a:pt x="74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Forma libre 401"/>
          <p:cNvSpPr/>
          <p:nvPr/>
        </p:nvSpPr>
        <p:spPr>
          <a:xfrm>
            <a:off x="5562360" y="4495680"/>
            <a:ext cx="3162600" cy="9720"/>
          </a:xfrm>
          <a:custGeom>
            <a:avLst/>
            <a:gdLst/>
            <a:ahLst/>
            <a:cxnLst/>
            <a:rect l="0" t="0" r="r" b="b"/>
            <a:pathLst>
              <a:path w="8785" h="27">
                <a:moveTo>
                  <a:pt x="0" y="0"/>
                </a:moveTo>
                <a:lnTo>
                  <a:pt x="8785" y="0"/>
                </a:lnTo>
                <a:lnTo>
                  <a:pt x="87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Forma libre 402"/>
          <p:cNvSpPr/>
          <p:nvPr/>
        </p:nvSpPr>
        <p:spPr>
          <a:xfrm>
            <a:off x="666720" y="465768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Forma libre 403"/>
          <p:cNvSpPr/>
          <p:nvPr/>
        </p:nvSpPr>
        <p:spPr>
          <a:xfrm>
            <a:off x="666720" y="465768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CuadroTexto 404"/>
          <p:cNvSpPr txBox="1"/>
          <p:nvPr/>
        </p:nvSpPr>
        <p:spPr>
          <a:xfrm>
            <a:off x="666720" y="1301400"/>
            <a:ext cx="56581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Dos caminos hasta el mismo ingrediente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CuadroTexto 408"/>
          <p:cNvSpPr txBox="1"/>
          <p:nvPr/>
        </p:nvSpPr>
        <p:spPr>
          <a:xfrm>
            <a:off x="4021560" y="2542680"/>
            <a:ext cx="3888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ATC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CuadroTexto 409"/>
          <p:cNvSpPr txBox="1"/>
          <p:nvPr/>
        </p:nvSpPr>
        <p:spPr>
          <a:xfrm>
            <a:off x="6766560" y="2542680"/>
            <a:ext cx="7448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RxNorm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CuadroTexto 410"/>
          <p:cNvSpPr txBox="1"/>
          <p:nvPr/>
        </p:nvSpPr>
        <p:spPr>
          <a:xfrm>
            <a:off x="799920" y="2943000"/>
            <a:ext cx="19382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Pregunta que responde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CuadroTexto 411"/>
          <p:cNvSpPr txBox="1"/>
          <p:nvPr/>
        </p:nvSpPr>
        <p:spPr>
          <a:xfrm>
            <a:off x="2988000" y="2952360"/>
            <a:ext cx="24386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«¿qué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clase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 fármaco es?»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CuadroTexto 412"/>
          <p:cNvSpPr txBox="1"/>
          <p:nvPr/>
        </p:nvSpPr>
        <p:spPr>
          <a:xfrm>
            <a:off x="5683320" y="2952360"/>
            <a:ext cx="29152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«¿qué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producto</a:t>
            </a:r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es exactamente?»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CuadroTexto 413"/>
          <p:cNvSpPr txBox="1"/>
          <p:nvPr/>
        </p:nvSpPr>
        <p:spPr>
          <a:xfrm>
            <a:off x="799920" y="3362040"/>
            <a:ext cx="8276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En OMOP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Forma libre 414"/>
          <p:cNvSpPr/>
          <p:nvPr/>
        </p:nvSpPr>
        <p:spPr>
          <a:xfrm>
            <a:off x="4066920" y="3371760"/>
            <a:ext cx="410040" cy="228960"/>
          </a:xfrm>
          <a:custGeom>
            <a:avLst/>
            <a:gdLst/>
            <a:ahLst/>
            <a:cxnLst/>
            <a:rect l="0" t="0" r="r" b="b"/>
            <a:pathLst>
              <a:path w="1139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1033" y="0"/>
                </a:lnTo>
                <a:cubicBezTo>
                  <a:pt x="1047" y="0"/>
                  <a:pt x="1061" y="2"/>
                  <a:pt x="1074" y="8"/>
                </a:cubicBezTo>
                <a:cubicBezTo>
                  <a:pt x="1087" y="13"/>
                  <a:pt x="1098" y="21"/>
                  <a:pt x="1108" y="31"/>
                </a:cubicBezTo>
                <a:cubicBezTo>
                  <a:pt x="1118" y="41"/>
                  <a:pt x="1125" y="52"/>
                  <a:pt x="1131" y="65"/>
                </a:cubicBezTo>
                <a:cubicBezTo>
                  <a:pt x="1136" y="78"/>
                  <a:pt x="1139" y="92"/>
                  <a:pt x="1139" y="106"/>
                </a:cubicBezTo>
                <a:lnTo>
                  <a:pt x="1139" y="530"/>
                </a:lnTo>
                <a:cubicBezTo>
                  <a:pt x="1139" y="544"/>
                  <a:pt x="1136" y="557"/>
                  <a:pt x="1131" y="570"/>
                </a:cubicBezTo>
                <a:cubicBezTo>
                  <a:pt x="1125" y="583"/>
                  <a:pt x="1118" y="595"/>
                  <a:pt x="1108" y="605"/>
                </a:cubicBezTo>
                <a:cubicBezTo>
                  <a:pt x="1098" y="615"/>
                  <a:pt x="1087" y="622"/>
                  <a:pt x="1074" y="628"/>
                </a:cubicBezTo>
                <a:cubicBezTo>
                  <a:pt x="1061" y="633"/>
                  <a:pt x="1047" y="636"/>
                  <a:pt x="1033" y="636"/>
                </a:cubicBezTo>
                <a:lnTo>
                  <a:pt x="106" y="636"/>
                </a:lnTo>
                <a:cubicBezTo>
                  <a:pt x="92" y="636"/>
                  <a:pt x="79" y="633"/>
                  <a:pt x="66" y="628"/>
                </a:cubicBezTo>
                <a:cubicBezTo>
                  <a:pt x="53" y="622"/>
                  <a:pt x="41" y="615"/>
                  <a:pt x="31" y="605"/>
                </a:cubicBezTo>
                <a:cubicBezTo>
                  <a:pt x="21" y="595"/>
                  <a:pt x="14" y="583"/>
                  <a:pt x="8" y="570"/>
                </a:cubicBezTo>
                <a:cubicBezTo>
                  <a:pt x="3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CuadroTexto 415"/>
          <p:cNvSpPr txBox="1"/>
          <p:nvPr/>
        </p:nvSpPr>
        <p:spPr>
          <a:xfrm>
            <a:off x="2988000" y="3362040"/>
            <a:ext cx="10839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clasiﬁcación (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CuadroTexto 416"/>
          <p:cNvSpPr txBox="1"/>
          <p:nvPr/>
        </p:nvSpPr>
        <p:spPr>
          <a:xfrm>
            <a:off x="4128480" y="3393000"/>
            <a:ext cx="2923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'C'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CuadroTexto 417"/>
          <p:cNvSpPr txBox="1"/>
          <p:nvPr/>
        </p:nvSpPr>
        <p:spPr>
          <a:xfrm>
            <a:off x="4478400" y="336204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Forma libre 418"/>
          <p:cNvSpPr/>
          <p:nvPr/>
        </p:nvSpPr>
        <p:spPr>
          <a:xfrm>
            <a:off x="6495840" y="3371760"/>
            <a:ext cx="410040" cy="228960"/>
          </a:xfrm>
          <a:custGeom>
            <a:avLst/>
            <a:gdLst/>
            <a:ahLst/>
            <a:cxnLst/>
            <a:rect l="0" t="0" r="r" b="b"/>
            <a:pathLst>
              <a:path w="1139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1033" y="0"/>
                </a:lnTo>
                <a:cubicBezTo>
                  <a:pt x="1047" y="0"/>
                  <a:pt x="1060" y="2"/>
                  <a:pt x="1073" y="8"/>
                </a:cubicBezTo>
                <a:cubicBezTo>
                  <a:pt x="1086" y="13"/>
                  <a:pt x="1098" y="21"/>
                  <a:pt x="1108" y="31"/>
                </a:cubicBezTo>
                <a:cubicBezTo>
                  <a:pt x="1118" y="41"/>
                  <a:pt x="1125" y="52"/>
                  <a:pt x="1131" y="65"/>
                </a:cubicBezTo>
                <a:cubicBezTo>
                  <a:pt x="1136" y="78"/>
                  <a:pt x="1139" y="92"/>
                  <a:pt x="1139" y="106"/>
                </a:cubicBezTo>
                <a:lnTo>
                  <a:pt x="1139" y="530"/>
                </a:lnTo>
                <a:cubicBezTo>
                  <a:pt x="1139" y="544"/>
                  <a:pt x="1136" y="557"/>
                  <a:pt x="1131" y="570"/>
                </a:cubicBezTo>
                <a:cubicBezTo>
                  <a:pt x="1125" y="583"/>
                  <a:pt x="1118" y="595"/>
                  <a:pt x="1108" y="605"/>
                </a:cubicBezTo>
                <a:cubicBezTo>
                  <a:pt x="1098" y="615"/>
                  <a:pt x="1086" y="622"/>
                  <a:pt x="1073" y="628"/>
                </a:cubicBezTo>
                <a:cubicBezTo>
                  <a:pt x="1060" y="633"/>
                  <a:pt x="1047" y="636"/>
                  <a:pt x="1033" y="636"/>
                </a:cubicBezTo>
                <a:lnTo>
                  <a:pt x="106" y="636"/>
                </a:lnTo>
                <a:cubicBezTo>
                  <a:pt x="92" y="636"/>
                  <a:pt x="78" y="633"/>
                  <a:pt x="65" y="628"/>
                </a:cubicBezTo>
                <a:cubicBezTo>
                  <a:pt x="52" y="622"/>
                  <a:pt x="41" y="615"/>
                  <a:pt x="31" y="605"/>
                </a:cubicBezTo>
                <a:cubicBezTo>
                  <a:pt x="21" y="595"/>
                  <a:pt x="14" y="583"/>
                  <a:pt x="8" y="570"/>
                </a:cubicBezTo>
                <a:cubicBezTo>
                  <a:pt x="3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CuadroTexto 419"/>
          <p:cNvSpPr txBox="1"/>
          <p:nvPr/>
        </p:nvSpPr>
        <p:spPr>
          <a:xfrm>
            <a:off x="5683320" y="3362040"/>
            <a:ext cx="8157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estándar (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CuadroTexto 420"/>
          <p:cNvSpPr txBox="1"/>
          <p:nvPr/>
        </p:nvSpPr>
        <p:spPr>
          <a:xfrm>
            <a:off x="6555600" y="3393000"/>
            <a:ext cx="29232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'S'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CuadroTexto 421"/>
          <p:cNvSpPr txBox="1"/>
          <p:nvPr/>
        </p:nvSpPr>
        <p:spPr>
          <a:xfrm>
            <a:off x="6905160" y="3362040"/>
            <a:ext cx="190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CuadroTexto 422"/>
          <p:cNvSpPr txBox="1"/>
          <p:nvPr/>
        </p:nvSpPr>
        <p:spPr>
          <a:xfrm>
            <a:off x="799920" y="3771360"/>
            <a:ext cx="9853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Se usa para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CuadroTexto 423"/>
          <p:cNvSpPr txBox="1"/>
          <p:nvPr/>
        </p:nvSpPr>
        <p:spPr>
          <a:xfrm>
            <a:off x="2988000" y="3771360"/>
            <a:ext cx="21920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seleccionar </a:t>
            </a:r>
            <a:r>
              <a:rPr lang="es-ES" sz="1500" b="0" i="1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todos los IECA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CuadroTexto 424"/>
          <p:cNvSpPr txBox="1"/>
          <p:nvPr/>
        </p:nvSpPr>
        <p:spPr>
          <a:xfrm>
            <a:off x="5683320" y="3771360"/>
            <a:ext cx="17971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contar exposición real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CuadroTexto 425"/>
          <p:cNvSpPr txBox="1"/>
          <p:nvPr/>
        </p:nvSpPr>
        <p:spPr>
          <a:xfrm>
            <a:off x="799920" y="4181040"/>
            <a:ext cx="8618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Baja hasta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CuadroTexto 426"/>
          <p:cNvSpPr txBox="1"/>
          <p:nvPr/>
        </p:nvSpPr>
        <p:spPr>
          <a:xfrm>
            <a:off x="2988000" y="4181040"/>
            <a:ext cx="10911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ingrediente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CuadroTexto 427"/>
          <p:cNvSpPr txBox="1"/>
          <p:nvPr/>
        </p:nvSpPr>
        <p:spPr>
          <a:xfrm>
            <a:off x="5683320" y="4181040"/>
            <a:ext cx="9640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empaque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Forma libre 428"/>
          <p:cNvSpPr/>
          <p:nvPr/>
        </p:nvSpPr>
        <p:spPr>
          <a:xfrm>
            <a:off x="904680" y="5171760"/>
            <a:ext cx="1991160" cy="267120"/>
          </a:xfrm>
          <a:custGeom>
            <a:avLst/>
            <a:gdLst/>
            <a:ahLst/>
            <a:cxnLst/>
            <a:rect l="0" t="0" r="r" b="b"/>
            <a:pathLst>
              <a:path w="5531" h="742">
                <a:moveTo>
                  <a:pt x="0" y="636"/>
                </a:moveTo>
                <a:lnTo>
                  <a:pt x="0" y="107"/>
                </a:lnTo>
                <a:cubicBezTo>
                  <a:pt x="0" y="93"/>
                  <a:pt x="3" y="80"/>
                  <a:pt x="8" y="67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425" y="0"/>
                </a:lnTo>
                <a:cubicBezTo>
                  <a:pt x="5439" y="0"/>
                  <a:pt x="5453" y="3"/>
                  <a:pt x="5465" y="8"/>
                </a:cubicBezTo>
                <a:cubicBezTo>
                  <a:pt x="5478" y="14"/>
                  <a:pt x="5490" y="21"/>
                  <a:pt x="5500" y="31"/>
                </a:cubicBezTo>
                <a:cubicBezTo>
                  <a:pt x="5510" y="41"/>
                  <a:pt x="5517" y="53"/>
                  <a:pt x="5523" y="67"/>
                </a:cubicBezTo>
                <a:cubicBezTo>
                  <a:pt x="5528" y="80"/>
                  <a:pt x="5531" y="93"/>
                  <a:pt x="5531" y="107"/>
                </a:cubicBezTo>
                <a:lnTo>
                  <a:pt x="5531" y="636"/>
                </a:lnTo>
                <a:cubicBezTo>
                  <a:pt x="5531" y="650"/>
                  <a:pt x="5528" y="664"/>
                  <a:pt x="5523" y="677"/>
                </a:cubicBezTo>
                <a:cubicBezTo>
                  <a:pt x="5517" y="690"/>
                  <a:pt x="5510" y="701"/>
                  <a:pt x="5500" y="711"/>
                </a:cubicBezTo>
                <a:cubicBezTo>
                  <a:pt x="5490" y="721"/>
                  <a:pt x="5478" y="729"/>
                  <a:pt x="5465" y="734"/>
                </a:cubicBezTo>
                <a:cubicBezTo>
                  <a:pt x="5453" y="740"/>
                  <a:pt x="5439" y="742"/>
                  <a:pt x="5425" y="742"/>
                </a:cubicBezTo>
                <a:lnTo>
                  <a:pt x="106" y="742"/>
                </a:lnTo>
                <a:cubicBezTo>
                  <a:pt x="92" y="742"/>
                  <a:pt x="78" y="740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CuadroTexto 429"/>
          <p:cNvSpPr txBox="1"/>
          <p:nvPr/>
        </p:nvSpPr>
        <p:spPr>
          <a:xfrm>
            <a:off x="905040" y="4811400"/>
            <a:ext cx="101592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En la práctica los combinas: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entras por ATC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, aterrizas en ingredientes, y de ahí bajas a productos con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CuadroTexto 430"/>
          <p:cNvSpPr txBox="1"/>
          <p:nvPr/>
        </p:nvSpPr>
        <p:spPr>
          <a:xfrm>
            <a:off x="961920" y="5191920"/>
            <a:ext cx="18799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CONCEPT_ANCESTOR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CuadroTexto 431"/>
          <p:cNvSpPr txBox="1"/>
          <p:nvPr/>
        </p:nvSpPr>
        <p:spPr>
          <a:xfrm>
            <a:off x="2891160" y="515448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CuadroTexto 43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CuadroTexto 43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CuadroTexto 434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2B5BBF0-34CF-F2E4-B5BC-156256F49E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383" y="440777"/>
            <a:ext cx="10801321" cy="624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196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Forma libre 43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Forma libre 43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Forma libre 43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CuadroTexto 438"/>
          <p:cNvSpPr txBox="1"/>
          <p:nvPr/>
        </p:nvSpPr>
        <p:spPr>
          <a:xfrm>
            <a:off x="3369240" y="3063960"/>
            <a:ext cx="558216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4. LOINC y sus seis ejes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CuadroTexto 43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CuadroTexto 44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CuadroTexto 44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Forma libre 44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Forma libre 44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Forma libre 44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Forma libre 445"/>
          <p:cNvSpPr/>
          <p:nvPr/>
        </p:nvSpPr>
        <p:spPr>
          <a:xfrm>
            <a:off x="671400" y="2233440"/>
            <a:ext cx="10849320" cy="2153160"/>
          </a:xfrm>
          <a:custGeom>
            <a:avLst/>
            <a:gdLst/>
            <a:ahLst/>
            <a:cxnLst/>
            <a:rect l="0" t="0" r="r" b="b"/>
            <a:pathLst>
              <a:path w="30137" h="5981">
                <a:moveTo>
                  <a:pt x="0" y="578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5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5782"/>
                </a:lnTo>
                <a:cubicBezTo>
                  <a:pt x="30137" y="5795"/>
                  <a:pt x="30136" y="5808"/>
                  <a:pt x="30133" y="5821"/>
                </a:cubicBezTo>
                <a:cubicBezTo>
                  <a:pt x="30130" y="5834"/>
                  <a:pt x="30127" y="5846"/>
                  <a:pt x="30122" y="5858"/>
                </a:cubicBezTo>
                <a:cubicBezTo>
                  <a:pt x="30117" y="5870"/>
                  <a:pt x="30111" y="5882"/>
                  <a:pt x="30103" y="5892"/>
                </a:cubicBezTo>
                <a:cubicBezTo>
                  <a:pt x="30096" y="5903"/>
                  <a:pt x="30088" y="5913"/>
                  <a:pt x="30079" y="5922"/>
                </a:cubicBezTo>
                <a:cubicBezTo>
                  <a:pt x="30070" y="5932"/>
                  <a:pt x="30059" y="5940"/>
                  <a:pt x="30049" y="5947"/>
                </a:cubicBezTo>
                <a:cubicBezTo>
                  <a:pt x="30038" y="5954"/>
                  <a:pt x="30026" y="5960"/>
                  <a:pt x="30014" y="5965"/>
                </a:cubicBezTo>
                <a:cubicBezTo>
                  <a:pt x="30002" y="5970"/>
                  <a:pt x="29990" y="5974"/>
                  <a:pt x="29977" y="5977"/>
                </a:cubicBezTo>
                <a:cubicBezTo>
                  <a:pt x="29964" y="5979"/>
                  <a:pt x="29951" y="5981"/>
                  <a:pt x="29938" y="5981"/>
                </a:cubicBezTo>
                <a:lnTo>
                  <a:pt x="198" y="5981"/>
                </a:lnTo>
                <a:cubicBezTo>
                  <a:pt x="185" y="5981"/>
                  <a:pt x="172" y="5979"/>
                  <a:pt x="160" y="5977"/>
                </a:cubicBezTo>
                <a:cubicBezTo>
                  <a:pt x="147" y="5974"/>
                  <a:pt x="134" y="5970"/>
                  <a:pt x="122" y="5965"/>
                </a:cubicBezTo>
                <a:cubicBezTo>
                  <a:pt x="110" y="5960"/>
                  <a:pt x="99" y="5954"/>
                  <a:pt x="88" y="5947"/>
                </a:cubicBezTo>
                <a:cubicBezTo>
                  <a:pt x="77" y="5940"/>
                  <a:pt x="67" y="5932"/>
                  <a:pt x="58" y="5922"/>
                </a:cubicBezTo>
                <a:cubicBezTo>
                  <a:pt x="49" y="5913"/>
                  <a:pt x="40" y="5903"/>
                  <a:pt x="33" y="5892"/>
                </a:cubicBezTo>
                <a:cubicBezTo>
                  <a:pt x="26" y="5882"/>
                  <a:pt x="20" y="5870"/>
                  <a:pt x="15" y="5858"/>
                </a:cubicBezTo>
                <a:cubicBezTo>
                  <a:pt x="10" y="5846"/>
                  <a:pt x="6" y="5834"/>
                  <a:pt x="4" y="5821"/>
                </a:cubicBezTo>
                <a:cubicBezTo>
                  <a:pt x="1" y="5808"/>
                  <a:pt x="0" y="5795"/>
                  <a:pt x="0" y="578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Forma libre 446"/>
          <p:cNvSpPr/>
          <p:nvPr/>
        </p:nvSpPr>
        <p:spPr>
          <a:xfrm>
            <a:off x="671400" y="2233440"/>
            <a:ext cx="10849320" cy="2153160"/>
          </a:xfrm>
          <a:custGeom>
            <a:avLst/>
            <a:gdLst/>
            <a:ahLst/>
            <a:cxnLst/>
            <a:rect l="0" t="0" r="r" b="b"/>
            <a:pathLst>
              <a:path w="30137" h="5981">
                <a:moveTo>
                  <a:pt x="0" y="578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5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5782"/>
                </a:lnTo>
                <a:cubicBezTo>
                  <a:pt x="30137" y="5795"/>
                  <a:pt x="30136" y="5808"/>
                  <a:pt x="30133" y="5821"/>
                </a:cubicBezTo>
                <a:cubicBezTo>
                  <a:pt x="30130" y="5834"/>
                  <a:pt x="30127" y="5846"/>
                  <a:pt x="30122" y="5858"/>
                </a:cubicBezTo>
                <a:cubicBezTo>
                  <a:pt x="30117" y="5870"/>
                  <a:pt x="30111" y="5882"/>
                  <a:pt x="30103" y="5892"/>
                </a:cubicBezTo>
                <a:cubicBezTo>
                  <a:pt x="30096" y="5903"/>
                  <a:pt x="30088" y="5913"/>
                  <a:pt x="30079" y="5922"/>
                </a:cubicBezTo>
                <a:cubicBezTo>
                  <a:pt x="30070" y="5932"/>
                  <a:pt x="30059" y="5940"/>
                  <a:pt x="30049" y="5947"/>
                </a:cubicBezTo>
                <a:cubicBezTo>
                  <a:pt x="30038" y="5954"/>
                  <a:pt x="30026" y="5960"/>
                  <a:pt x="30014" y="5965"/>
                </a:cubicBezTo>
                <a:cubicBezTo>
                  <a:pt x="30002" y="5970"/>
                  <a:pt x="29990" y="5974"/>
                  <a:pt x="29977" y="5977"/>
                </a:cubicBezTo>
                <a:cubicBezTo>
                  <a:pt x="29964" y="5979"/>
                  <a:pt x="29951" y="5981"/>
                  <a:pt x="29938" y="5981"/>
                </a:cubicBezTo>
                <a:lnTo>
                  <a:pt x="198" y="5981"/>
                </a:lnTo>
                <a:cubicBezTo>
                  <a:pt x="185" y="5981"/>
                  <a:pt x="172" y="5979"/>
                  <a:pt x="160" y="5977"/>
                </a:cubicBezTo>
                <a:cubicBezTo>
                  <a:pt x="147" y="5974"/>
                  <a:pt x="134" y="5970"/>
                  <a:pt x="122" y="5965"/>
                </a:cubicBezTo>
                <a:cubicBezTo>
                  <a:pt x="110" y="5960"/>
                  <a:pt x="99" y="5954"/>
                  <a:pt x="88" y="5947"/>
                </a:cubicBezTo>
                <a:cubicBezTo>
                  <a:pt x="77" y="5940"/>
                  <a:pt x="67" y="5932"/>
                  <a:pt x="58" y="5922"/>
                </a:cubicBezTo>
                <a:cubicBezTo>
                  <a:pt x="49" y="5913"/>
                  <a:pt x="40" y="5903"/>
                  <a:pt x="33" y="5892"/>
                </a:cubicBezTo>
                <a:cubicBezTo>
                  <a:pt x="26" y="5882"/>
                  <a:pt x="20" y="5870"/>
                  <a:pt x="15" y="5858"/>
                </a:cubicBezTo>
                <a:cubicBezTo>
                  <a:pt x="10" y="5846"/>
                  <a:pt x="6" y="5834"/>
                  <a:pt x="4" y="5821"/>
                </a:cubicBezTo>
                <a:cubicBezTo>
                  <a:pt x="1" y="5808"/>
                  <a:pt x="0" y="5795"/>
                  <a:pt x="0" y="578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CuadroTexto 447"/>
          <p:cNvSpPr txBox="1"/>
          <p:nvPr/>
        </p:nvSpPr>
        <p:spPr>
          <a:xfrm>
            <a:off x="666720" y="1587240"/>
            <a:ext cx="42699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 código LOINC es una frase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CuadroTexto 448"/>
          <p:cNvSpPr txBox="1"/>
          <p:nvPr/>
        </p:nvSpPr>
        <p:spPr>
          <a:xfrm>
            <a:off x="866880" y="2413440"/>
            <a:ext cx="67701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4548-4   Hemoglobin A1c/Hemoglobin.total : MFr : Pt : Bld : Qn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CuadroTexto 449"/>
          <p:cNvSpPr txBox="1"/>
          <p:nvPr/>
        </p:nvSpPr>
        <p:spPr>
          <a:xfrm>
            <a:off x="866880" y="2680200"/>
            <a:ext cx="67701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└── Component ────────────────┘   │     │     │     │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CuadroTexto 450"/>
          <p:cNvSpPr txBox="1"/>
          <p:nvPr/>
        </p:nvSpPr>
        <p:spPr>
          <a:xfrm>
            <a:off x="866880" y="2937240"/>
            <a:ext cx="67701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Property (fracción de masa) ──┘     │     │     │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CuadroTexto 451"/>
          <p:cNvSpPr txBox="1"/>
          <p:nvPr/>
        </p:nvSpPr>
        <p:spPr>
          <a:xfrm>
            <a:off x="866880" y="3204000"/>
            <a:ext cx="67701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Time (puntual, no temporizado) ─────┘     │     │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CuadroTexto 452"/>
          <p:cNvSpPr txBox="1"/>
          <p:nvPr/>
        </p:nvSpPr>
        <p:spPr>
          <a:xfrm>
            <a:off x="866880" y="3461040"/>
            <a:ext cx="6661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System (sangre) ─────────────────────────┘     │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CuadroTexto 453"/>
          <p:cNvSpPr txBox="1"/>
          <p:nvPr/>
        </p:nvSpPr>
        <p:spPr>
          <a:xfrm>
            <a:off x="866880" y="3727800"/>
            <a:ext cx="6661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Scale (cuantitativo) ──────────────────────────┘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Forma libre 454"/>
          <p:cNvSpPr/>
          <p:nvPr/>
        </p:nvSpPr>
        <p:spPr>
          <a:xfrm>
            <a:off x="914040" y="46954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CuadroTexto 455"/>
          <p:cNvSpPr txBox="1"/>
          <p:nvPr/>
        </p:nvSpPr>
        <p:spPr>
          <a:xfrm>
            <a:off x="866880" y="3984840"/>
            <a:ext cx="3057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Method: (vacío)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Forma libre 456"/>
          <p:cNvSpPr/>
          <p:nvPr/>
        </p:nvSpPr>
        <p:spPr>
          <a:xfrm>
            <a:off x="914040" y="509580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CuadroTexto 457"/>
          <p:cNvSpPr txBox="1"/>
          <p:nvPr/>
        </p:nvSpPr>
        <p:spPr>
          <a:xfrm>
            <a:off x="1123920" y="4582800"/>
            <a:ext cx="61488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Los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seis ejes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deﬁnen el código. Cambia uno y es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otro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código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CuadroTexto 458"/>
          <p:cNvSpPr txBox="1"/>
          <p:nvPr/>
        </p:nvSpPr>
        <p:spPr>
          <a:xfrm>
            <a:off x="1123920" y="4983120"/>
            <a:ext cx="5277086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sexto eje, </a:t>
            </a:r>
            <a:r>
              <a:rPr lang="es-ES" sz="1800" b="1" u="none" strike="noStrike" dirty="0" err="1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Method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suele estar vacío: es opcional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CuadroTexto 45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CuadroTexto 46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CuadroTexto 46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Forma libre 46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Forma libre 46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Forma libre 46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Forma libre 465"/>
          <p:cNvSpPr/>
          <p:nvPr/>
        </p:nvSpPr>
        <p:spPr>
          <a:xfrm>
            <a:off x="676080" y="2104920"/>
            <a:ext cx="962280" cy="409680"/>
          </a:xfrm>
          <a:custGeom>
            <a:avLst/>
            <a:gdLst/>
            <a:ahLst/>
            <a:cxnLst/>
            <a:rect l="0" t="0" r="r" b="b"/>
            <a:pathLst>
              <a:path w="2673" h="1138">
                <a:moveTo>
                  <a:pt x="0" y="0"/>
                </a:moveTo>
                <a:lnTo>
                  <a:pt x="2673" y="0"/>
                </a:lnTo>
                <a:lnTo>
                  <a:pt x="2673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Forma libre 466"/>
          <p:cNvSpPr/>
          <p:nvPr/>
        </p:nvSpPr>
        <p:spPr>
          <a:xfrm>
            <a:off x="1638000" y="2104920"/>
            <a:ext cx="1648440" cy="409680"/>
          </a:xfrm>
          <a:custGeom>
            <a:avLst/>
            <a:gdLst/>
            <a:ahLst/>
            <a:cxnLst/>
            <a:rect l="0" t="0" r="r" b="b"/>
            <a:pathLst>
              <a:path w="4579" h="1138">
                <a:moveTo>
                  <a:pt x="0" y="0"/>
                </a:moveTo>
                <a:lnTo>
                  <a:pt x="4579" y="0"/>
                </a:lnTo>
                <a:lnTo>
                  <a:pt x="4579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Forma libre 467"/>
          <p:cNvSpPr/>
          <p:nvPr/>
        </p:nvSpPr>
        <p:spPr>
          <a:xfrm>
            <a:off x="3286080" y="2104920"/>
            <a:ext cx="2781360" cy="409680"/>
          </a:xfrm>
          <a:custGeom>
            <a:avLst/>
            <a:gdLst/>
            <a:ahLst/>
            <a:cxnLst/>
            <a:rect l="0" t="0" r="r" b="b"/>
            <a:pathLst>
              <a:path w="7726" h="1138">
                <a:moveTo>
                  <a:pt x="0" y="0"/>
                </a:moveTo>
                <a:lnTo>
                  <a:pt x="7726" y="0"/>
                </a:lnTo>
                <a:lnTo>
                  <a:pt x="7726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Forma libre 468"/>
          <p:cNvSpPr/>
          <p:nvPr/>
        </p:nvSpPr>
        <p:spPr>
          <a:xfrm>
            <a:off x="676080" y="2104920"/>
            <a:ext cx="962280" cy="409680"/>
          </a:xfrm>
          <a:custGeom>
            <a:avLst/>
            <a:gdLst/>
            <a:ahLst/>
            <a:cxnLst/>
            <a:rect l="0" t="0" r="r" b="b"/>
            <a:pathLst>
              <a:path w="2673" h="1138">
                <a:moveTo>
                  <a:pt x="0" y="0"/>
                </a:moveTo>
                <a:lnTo>
                  <a:pt x="2673" y="0"/>
                </a:lnTo>
                <a:lnTo>
                  <a:pt x="2673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Forma libre 469"/>
          <p:cNvSpPr/>
          <p:nvPr/>
        </p:nvSpPr>
        <p:spPr>
          <a:xfrm>
            <a:off x="1638000" y="2104920"/>
            <a:ext cx="1648440" cy="409680"/>
          </a:xfrm>
          <a:custGeom>
            <a:avLst/>
            <a:gdLst/>
            <a:ahLst/>
            <a:cxnLst/>
            <a:rect l="0" t="0" r="r" b="b"/>
            <a:pathLst>
              <a:path w="4579" h="1138">
                <a:moveTo>
                  <a:pt x="0" y="0"/>
                </a:moveTo>
                <a:lnTo>
                  <a:pt x="4579" y="0"/>
                </a:lnTo>
                <a:lnTo>
                  <a:pt x="4579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Forma libre 470"/>
          <p:cNvSpPr/>
          <p:nvPr/>
        </p:nvSpPr>
        <p:spPr>
          <a:xfrm>
            <a:off x="3286080" y="2104920"/>
            <a:ext cx="2781360" cy="409680"/>
          </a:xfrm>
          <a:custGeom>
            <a:avLst/>
            <a:gdLst/>
            <a:ahLst/>
            <a:cxnLst/>
            <a:rect l="0" t="0" r="r" b="b"/>
            <a:pathLst>
              <a:path w="7726" h="1138">
                <a:moveTo>
                  <a:pt x="0" y="0"/>
                </a:moveTo>
                <a:lnTo>
                  <a:pt x="7726" y="0"/>
                </a:lnTo>
                <a:lnTo>
                  <a:pt x="7726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Forma libre 471"/>
          <p:cNvSpPr/>
          <p:nvPr/>
        </p:nvSpPr>
        <p:spPr>
          <a:xfrm>
            <a:off x="676080" y="2514240"/>
            <a:ext cx="962280" cy="419760"/>
          </a:xfrm>
          <a:custGeom>
            <a:avLst/>
            <a:gdLst/>
            <a:ahLst/>
            <a:cxnLst/>
            <a:rect l="0" t="0" r="r" b="b"/>
            <a:pathLst>
              <a:path w="2673" h="1166">
                <a:moveTo>
                  <a:pt x="0" y="0"/>
                </a:moveTo>
                <a:lnTo>
                  <a:pt x="2673" y="0"/>
                </a:lnTo>
                <a:lnTo>
                  <a:pt x="2673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Forma libre 472"/>
          <p:cNvSpPr/>
          <p:nvPr/>
        </p:nvSpPr>
        <p:spPr>
          <a:xfrm>
            <a:off x="1638000" y="2514240"/>
            <a:ext cx="1648440" cy="419760"/>
          </a:xfrm>
          <a:custGeom>
            <a:avLst/>
            <a:gdLst/>
            <a:ahLst/>
            <a:cxnLst/>
            <a:rect l="0" t="0" r="r" b="b"/>
            <a:pathLst>
              <a:path w="4579" h="1166">
                <a:moveTo>
                  <a:pt x="0" y="0"/>
                </a:moveTo>
                <a:lnTo>
                  <a:pt x="4579" y="0"/>
                </a:lnTo>
                <a:lnTo>
                  <a:pt x="4579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Forma libre 473"/>
          <p:cNvSpPr/>
          <p:nvPr/>
        </p:nvSpPr>
        <p:spPr>
          <a:xfrm>
            <a:off x="3286080" y="2514240"/>
            <a:ext cx="2781360" cy="419760"/>
          </a:xfrm>
          <a:custGeom>
            <a:avLst/>
            <a:gdLst/>
            <a:ahLst/>
            <a:cxnLst/>
            <a:rect l="0" t="0" r="r" b="b"/>
            <a:pathLst>
              <a:path w="7726" h="1166">
                <a:moveTo>
                  <a:pt x="0" y="0"/>
                </a:moveTo>
                <a:lnTo>
                  <a:pt x="7726" y="0"/>
                </a:lnTo>
                <a:lnTo>
                  <a:pt x="7726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Forma libre 474"/>
          <p:cNvSpPr/>
          <p:nvPr/>
        </p:nvSpPr>
        <p:spPr>
          <a:xfrm>
            <a:off x="676080" y="2933640"/>
            <a:ext cx="962280" cy="419400"/>
          </a:xfrm>
          <a:custGeom>
            <a:avLst/>
            <a:gdLst/>
            <a:ahLst/>
            <a:cxnLst/>
            <a:rect l="0" t="0" r="r" b="b"/>
            <a:pathLst>
              <a:path w="2673" h="1165">
                <a:moveTo>
                  <a:pt x="0" y="0"/>
                </a:moveTo>
                <a:lnTo>
                  <a:pt x="2673" y="0"/>
                </a:lnTo>
                <a:lnTo>
                  <a:pt x="267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Forma libre 475"/>
          <p:cNvSpPr/>
          <p:nvPr/>
        </p:nvSpPr>
        <p:spPr>
          <a:xfrm>
            <a:off x="1638000" y="2933640"/>
            <a:ext cx="1648440" cy="419400"/>
          </a:xfrm>
          <a:custGeom>
            <a:avLst/>
            <a:gdLst/>
            <a:ahLst/>
            <a:cxnLst/>
            <a:rect l="0" t="0" r="r" b="b"/>
            <a:pathLst>
              <a:path w="4579" h="1165">
                <a:moveTo>
                  <a:pt x="0" y="0"/>
                </a:moveTo>
                <a:lnTo>
                  <a:pt x="4579" y="0"/>
                </a:lnTo>
                <a:lnTo>
                  <a:pt x="457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Forma libre 476"/>
          <p:cNvSpPr/>
          <p:nvPr/>
        </p:nvSpPr>
        <p:spPr>
          <a:xfrm>
            <a:off x="3286080" y="2933640"/>
            <a:ext cx="2781360" cy="419400"/>
          </a:xfrm>
          <a:custGeom>
            <a:avLst/>
            <a:gdLst/>
            <a:ahLst/>
            <a:cxnLst/>
            <a:rect l="0" t="0" r="r" b="b"/>
            <a:pathLst>
              <a:path w="7726" h="1165">
                <a:moveTo>
                  <a:pt x="0" y="0"/>
                </a:moveTo>
                <a:lnTo>
                  <a:pt x="7726" y="0"/>
                </a:lnTo>
                <a:lnTo>
                  <a:pt x="772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Forma libre 477"/>
          <p:cNvSpPr/>
          <p:nvPr/>
        </p:nvSpPr>
        <p:spPr>
          <a:xfrm>
            <a:off x="676080" y="3352680"/>
            <a:ext cx="962280" cy="419400"/>
          </a:xfrm>
          <a:custGeom>
            <a:avLst/>
            <a:gdLst/>
            <a:ahLst/>
            <a:cxnLst/>
            <a:rect l="0" t="0" r="r" b="b"/>
            <a:pathLst>
              <a:path w="2673" h="1165">
                <a:moveTo>
                  <a:pt x="0" y="0"/>
                </a:moveTo>
                <a:lnTo>
                  <a:pt x="2673" y="0"/>
                </a:lnTo>
                <a:lnTo>
                  <a:pt x="267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Forma libre 478"/>
          <p:cNvSpPr/>
          <p:nvPr/>
        </p:nvSpPr>
        <p:spPr>
          <a:xfrm>
            <a:off x="1638000" y="3352680"/>
            <a:ext cx="1648440" cy="419400"/>
          </a:xfrm>
          <a:custGeom>
            <a:avLst/>
            <a:gdLst/>
            <a:ahLst/>
            <a:cxnLst/>
            <a:rect l="0" t="0" r="r" b="b"/>
            <a:pathLst>
              <a:path w="4579" h="1165">
                <a:moveTo>
                  <a:pt x="0" y="0"/>
                </a:moveTo>
                <a:lnTo>
                  <a:pt x="4579" y="0"/>
                </a:lnTo>
                <a:lnTo>
                  <a:pt x="457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Forma libre 479"/>
          <p:cNvSpPr/>
          <p:nvPr/>
        </p:nvSpPr>
        <p:spPr>
          <a:xfrm>
            <a:off x="3286080" y="3352680"/>
            <a:ext cx="2781360" cy="419400"/>
          </a:xfrm>
          <a:custGeom>
            <a:avLst/>
            <a:gdLst/>
            <a:ahLst/>
            <a:cxnLst/>
            <a:rect l="0" t="0" r="r" b="b"/>
            <a:pathLst>
              <a:path w="7726" h="1165">
                <a:moveTo>
                  <a:pt x="0" y="0"/>
                </a:moveTo>
                <a:lnTo>
                  <a:pt x="7726" y="0"/>
                </a:lnTo>
                <a:lnTo>
                  <a:pt x="772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Forma libre 480"/>
          <p:cNvSpPr/>
          <p:nvPr/>
        </p:nvSpPr>
        <p:spPr>
          <a:xfrm>
            <a:off x="676080" y="3771720"/>
            <a:ext cx="962280" cy="419400"/>
          </a:xfrm>
          <a:custGeom>
            <a:avLst/>
            <a:gdLst/>
            <a:ahLst/>
            <a:cxnLst/>
            <a:rect l="0" t="0" r="r" b="b"/>
            <a:pathLst>
              <a:path w="2673" h="1165">
                <a:moveTo>
                  <a:pt x="0" y="0"/>
                </a:moveTo>
                <a:lnTo>
                  <a:pt x="2673" y="0"/>
                </a:lnTo>
                <a:lnTo>
                  <a:pt x="267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Forma libre 481"/>
          <p:cNvSpPr/>
          <p:nvPr/>
        </p:nvSpPr>
        <p:spPr>
          <a:xfrm>
            <a:off x="1638000" y="3771720"/>
            <a:ext cx="1648440" cy="419400"/>
          </a:xfrm>
          <a:custGeom>
            <a:avLst/>
            <a:gdLst/>
            <a:ahLst/>
            <a:cxnLst/>
            <a:rect l="0" t="0" r="r" b="b"/>
            <a:pathLst>
              <a:path w="4579" h="1165">
                <a:moveTo>
                  <a:pt x="0" y="0"/>
                </a:moveTo>
                <a:lnTo>
                  <a:pt x="4579" y="0"/>
                </a:lnTo>
                <a:lnTo>
                  <a:pt x="4579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Forma libre 482"/>
          <p:cNvSpPr/>
          <p:nvPr/>
        </p:nvSpPr>
        <p:spPr>
          <a:xfrm>
            <a:off x="3286080" y="3771720"/>
            <a:ext cx="2781360" cy="419400"/>
          </a:xfrm>
          <a:custGeom>
            <a:avLst/>
            <a:gdLst/>
            <a:ahLst/>
            <a:cxnLst/>
            <a:rect l="0" t="0" r="r" b="b"/>
            <a:pathLst>
              <a:path w="7726" h="1165">
                <a:moveTo>
                  <a:pt x="0" y="0"/>
                </a:moveTo>
                <a:lnTo>
                  <a:pt x="7726" y="0"/>
                </a:lnTo>
                <a:lnTo>
                  <a:pt x="7726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Forma libre 483"/>
          <p:cNvSpPr/>
          <p:nvPr/>
        </p:nvSpPr>
        <p:spPr>
          <a:xfrm>
            <a:off x="666720" y="20952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Forma libre 484"/>
          <p:cNvSpPr/>
          <p:nvPr/>
        </p:nvSpPr>
        <p:spPr>
          <a:xfrm>
            <a:off x="666720" y="2095200"/>
            <a:ext cx="981360" cy="10080"/>
          </a:xfrm>
          <a:custGeom>
            <a:avLst/>
            <a:gdLst/>
            <a:ahLst/>
            <a:cxnLst/>
            <a:rect l="0" t="0" r="r" b="b"/>
            <a:pathLst>
              <a:path w="2726" h="28">
                <a:moveTo>
                  <a:pt x="0" y="0"/>
                </a:moveTo>
                <a:lnTo>
                  <a:pt x="2726" y="0"/>
                </a:lnTo>
                <a:lnTo>
                  <a:pt x="27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Forma libre 485"/>
          <p:cNvSpPr/>
          <p:nvPr/>
        </p:nvSpPr>
        <p:spPr>
          <a:xfrm>
            <a:off x="1638000" y="20952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Forma libre 486"/>
          <p:cNvSpPr/>
          <p:nvPr/>
        </p:nvSpPr>
        <p:spPr>
          <a:xfrm>
            <a:off x="1647720" y="2095200"/>
            <a:ext cx="1648080" cy="10080"/>
          </a:xfrm>
          <a:custGeom>
            <a:avLst/>
            <a:gdLst/>
            <a:ahLst/>
            <a:cxnLst/>
            <a:rect l="0" t="0" r="r" b="b"/>
            <a:pathLst>
              <a:path w="4578" h="28">
                <a:moveTo>
                  <a:pt x="0" y="0"/>
                </a:moveTo>
                <a:lnTo>
                  <a:pt x="4578" y="0"/>
                </a:lnTo>
                <a:lnTo>
                  <a:pt x="457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Forma libre 487"/>
          <p:cNvSpPr/>
          <p:nvPr/>
        </p:nvSpPr>
        <p:spPr>
          <a:xfrm>
            <a:off x="3286080" y="20952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Forma libre 488"/>
          <p:cNvSpPr/>
          <p:nvPr/>
        </p:nvSpPr>
        <p:spPr>
          <a:xfrm>
            <a:off x="3295440" y="2095200"/>
            <a:ext cx="2772000" cy="10080"/>
          </a:xfrm>
          <a:custGeom>
            <a:avLst/>
            <a:gdLst/>
            <a:ahLst/>
            <a:cxnLst/>
            <a:rect l="0" t="0" r="r" b="b"/>
            <a:pathLst>
              <a:path w="7700" h="28">
                <a:moveTo>
                  <a:pt x="0" y="0"/>
                </a:moveTo>
                <a:lnTo>
                  <a:pt x="7700" y="0"/>
                </a:lnTo>
                <a:lnTo>
                  <a:pt x="77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Forma libre 489"/>
          <p:cNvSpPr/>
          <p:nvPr/>
        </p:nvSpPr>
        <p:spPr>
          <a:xfrm>
            <a:off x="6057720" y="20952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Forma libre 490"/>
          <p:cNvSpPr/>
          <p:nvPr/>
        </p:nvSpPr>
        <p:spPr>
          <a:xfrm>
            <a:off x="666720" y="2504880"/>
            <a:ext cx="981360" cy="9720"/>
          </a:xfrm>
          <a:custGeom>
            <a:avLst/>
            <a:gdLst/>
            <a:ahLst/>
            <a:cxnLst/>
            <a:rect l="0" t="0" r="r" b="b"/>
            <a:pathLst>
              <a:path w="2726" h="27">
                <a:moveTo>
                  <a:pt x="0" y="0"/>
                </a:moveTo>
                <a:lnTo>
                  <a:pt x="2726" y="0"/>
                </a:lnTo>
                <a:lnTo>
                  <a:pt x="27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Forma libre 491"/>
          <p:cNvSpPr/>
          <p:nvPr/>
        </p:nvSpPr>
        <p:spPr>
          <a:xfrm>
            <a:off x="1647720" y="2504880"/>
            <a:ext cx="1648080" cy="9720"/>
          </a:xfrm>
          <a:custGeom>
            <a:avLst/>
            <a:gdLst/>
            <a:ahLst/>
            <a:cxnLst/>
            <a:rect l="0" t="0" r="r" b="b"/>
            <a:pathLst>
              <a:path w="4578" h="27">
                <a:moveTo>
                  <a:pt x="0" y="0"/>
                </a:moveTo>
                <a:lnTo>
                  <a:pt x="4578" y="0"/>
                </a:lnTo>
                <a:lnTo>
                  <a:pt x="45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Forma libre 492"/>
          <p:cNvSpPr/>
          <p:nvPr/>
        </p:nvSpPr>
        <p:spPr>
          <a:xfrm>
            <a:off x="3295440" y="2504880"/>
            <a:ext cx="2772000" cy="9720"/>
          </a:xfrm>
          <a:custGeom>
            <a:avLst/>
            <a:gdLst/>
            <a:ahLst/>
            <a:cxnLst/>
            <a:rect l="0" t="0" r="r" b="b"/>
            <a:pathLst>
              <a:path w="7700" h="27">
                <a:moveTo>
                  <a:pt x="0" y="0"/>
                </a:moveTo>
                <a:lnTo>
                  <a:pt x="7700" y="0"/>
                </a:lnTo>
                <a:lnTo>
                  <a:pt x="77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Forma libre 493"/>
          <p:cNvSpPr/>
          <p:nvPr/>
        </p:nvSpPr>
        <p:spPr>
          <a:xfrm>
            <a:off x="666720" y="251424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Forma libre 494"/>
          <p:cNvSpPr/>
          <p:nvPr/>
        </p:nvSpPr>
        <p:spPr>
          <a:xfrm>
            <a:off x="1638000" y="251424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Forma libre 495"/>
          <p:cNvSpPr/>
          <p:nvPr/>
        </p:nvSpPr>
        <p:spPr>
          <a:xfrm>
            <a:off x="3286080" y="251424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Forma libre 496"/>
          <p:cNvSpPr/>
          <p:nvPr/>
        </p:nvSpPr>
        <p:spPr>
          <a:xfrm>
            <a:off x="6057720" y="251424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Forma libre 497"/>
          <p:cNvSpPr/>
          <p:nvPr/>
        </p:nvSpPr>
        <p:spPr>
          <a:xfrm>
            <a:off x="666720" y="29336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Forma libre 498"/>
          <p:cNvSpPr/>
          <p:nvPr/>
        </p:nvSpPr>
        <p:spPr>
          <a:xfrm>
            <a:off x="666720" y="2923920"/>
            <a:ext cx="981360" cy="10080"/>
          </a:xfrm>
          <a:custGeom>
            <a:avLst/>
            <a:gdLst/>
            <a:ahLst/>
            <a:cxnLst/>
            <a:rect l="0" t="0" r="r" b="b"/>
            <a:pathLst>
              <a:path w="2726" h="28">
                <a:moveTo>
                  <a:pt x="0" y="0"/>
                </a:moveTo>
                <a:lnTo>
                  <a:pt x="2726" y="0"/>
                </a:lnTo>
                <a:lnTo>
                  <a:pt x="27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Forma libre 499"/>
          <p:cNvSpPr/>
          <p:nvPr/>
        </p:nvSpPr>
        <p:spPr>
          <a:xfrm>
            <a:off x="1638000" y="29336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Forma libre 500"/>
          <p:cNvSpPr/>
          <p:nvPr/>
        </p:nvSpPr>
        <p:spPr>
          <a:xfrm>
            <a:off x="1647720" y="2923920"/>
            <a:ext cx="1648080" cy="10080"/>
          </a:xfrm>
          <a:custGeom>
            <a:avLst/>
            <a:gdLst/>
            <a:ahLst/>
            <a:cxnLst/>
            <a:rect l="0" t="0" r="r" b="b"/>
            <a:pathLst>
              <a:path w="4578" h="28">
                <a:moveTo>
                  <a:pt x="0" y="0"/>
                </a:moveTo>
                <a:lnTo>
                  <a:pt x="4578" y="0"/>
                </a:lnTo>
                <a:lnTo>
                  <a:pt x="457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Forma libre 501"/>
          <p:cNvSpPr/>
          <p:nvPr/>
        </p:nvSpPr>
        <p:spPr>
          <a:xfrm>
            <a:off x="3286080" y="29336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Forma libre 502"/>
          <p:cNvSpPr/>
          <p:nvPr/>
        </p:nvSpPr>
        <p:spPr>
          <a:xfrm>
            <a:off x="3295440" y="2923920"/>
            <a:ext cx="2772000" cy="10080"/>
          </a:xfrm>
          <a:custGeom>
            <a:avLst/>
            <a:gdLst/>
            <a:ahLst/>
            <a:cxnLst/>
            <a:rect l="0" t="0" r="r" b="b"/>
            <a:pathLst>
              <a:path w="7700" h="28">
                <a:moveTo>
                  <a:pt x="0" y="0"/>
                </a:moveTo>
                <a:lnTo>
                  <a:pt x="7700" y="0"/>
                </a:lnTo>
                <a:lnTo>
                  <a:pt x="77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Forma libre 503"/>
          <p:cNvSpPr/>
          <p:nvPr/>
        </p:nvSpPr>
        <p:spPr>
          <a:xfrm>
            <a:off x="6057720" y="29336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Forma libre 504"/>
          <p:cNvSpPr/>
          <p:nvPr/>
        </p:nvSpPr>
        <p:spPr>
          <a:xfrm>
            <a:off x="666720" y="33526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Forma libre 505"/>
          <p:cNvSpPr/>
          <p:nvPr/>
        </p:nvSpPr>
        <p:spPr>
          <a:xfrm>
            <a:off x="666720" y="3342960"/>
            <a:ext cx="981360" cy="10080"/>
          </a:xfrm>
          <a:custGeom>
            <a:avLst/>
            <a:gdLst/>
            <a:ahLst/>
            <a:cxnLst/>
            <a:rect l="0" t="0" r="r" b="b"/>
            <a:pathLst>
              <a:path w="2726" h="28">
                <a:moveTo>
                  <a:pt x="0" y="0"/>
                </a:moveTo>
                <a:lnTo>
                  <a:pt x="2726" y="0"/>
                </a:lnTo>
                <a:lnTo>
                  <a:pt x="272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Forma libre 506"/>
          <p:cNvSpPr/>
          <p:nvPr/>
        </p:nvSpPr>
        <p:spPr>
          <a:xfrm>
            <a:off x="1638000" y="33526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Forma libre 507"/>
          <p:cNvSpPr/>
          <p:nvPr/>
        </p:nvSpPr>
        <p:spPr>
          <a:xfrm>
            <a:off x="1647720" y="3342960"/>
            <a:ext cx="1648080" cy="10080"/>
          </a:xfrm>
          <a:custGeom>
            <a:avLst/>
            <a:gdLst/>
            <a:ahLst/>
            <a:cxnLst/>
            <a:rect l="0" t="0" r="r" b="b"/>
            <a:pathLst>
              <a:path w="4578" h="28">
                <a:moveTo>
                  <a:pt x="0" y="0"/>
                </a:moveTo>
                <a:lnTo>
                  <a:pt x="4578" y="0"/>
                </a:lnTo>
                <a:lnTo>
                  <a:pt x="457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Forma libre 508"/>
          <p:cNvSpPr/>
          <p:nvPr/>
        </p:nvSpPr>
        <p:spPr>
          <a:xfrm>
            <a:off x="3286080" y="33526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Forma libre 509"/>
          <p:cNvSpPr/>
          <p:nvPr/>
        </p:nvSpPr>
        <p:spPr>
          <a:xfrm>
            <a:off x="3295440" y="3342960"/>
            <a:ext cx="2772000" cy="10080"/>
          </a:xfrm>
          <a:custGeom>
            <a:avLst/>
            <a:gdLst/>
            <a:ahLst/>
            <a:cxnLst/>
            <a:rect l="0" t="0" r="r" b="b"/>
            <a:pathLst>
              <a:path w="7700" h="28">
                <a:moveTo>
                  <a:pt x="0" y="0"/>
                </a:moveTo>
                <a:lnTo>
                  <a:pt x="7700" y="0"/>
                </a:lnTo>
                <a:lnTo>
                  <a:pt x="77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Forma libre 510"/>
          <p:cNvSpPr/>
          <p:nvPr/>
        </p:nvSpPr>
        <p:spPr>
          <a:xfrm>
            <a:off x="6057720" y="33526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Forma libre 511"/>
          <p:cNvSpPr/>
          <p:nvPr/>
        </p:nvSpPr>
        <p:spPr>
          <a:xfrm>
            <a:off x="666720" y="37717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Forma libre 512"/>
          <p:cNvSpPr/>
          <p:nvPr/>
        </p:nvSpPr>
        <p:spPr>
          <a:xfrm>
            <a:off x="666720" y="3762360"/>
            <a:ext cx="981360" cy="9720"/>
          </a:xfrm>
          <a:custGeom>
            <a:avLst/>
            <a:gdLst/>
            <a:ahLst/>
            <a:cxnLst/>
            <a:rect l="0" t="0" r="r" b="b"/>
            <a:pathLst>
              <a:path w="2726" h="27">
                <a:moveTo>
                  <a:pt x="0" y="0"/>
                </a:moveTo>
                <a:lnTo>
                  <a:pt x="2726" y="0"/>
                </a:lnTo>
                <a:lnTo>
                  <a:pt x="27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Forma libre 513"/>
          <p:cNvSpPr/>
          <p:nvPr/>
        </p:nvSpPr>
        <p:spPr>
          <a:xfrm>
            <a:off x="1638000" y="37717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Forma libre 514"/>
          <p:cNvSpPr/>
          <p:nvPr/>
        </p:nvSpPr>
        <p:spPr>
          <a:xfrm>
            <a:off x="1647720" y="3762360"/>
            <a:ext cx="1648080" cy="9720"/>
          </a:xfrm>
          <a:custGeom>
            <a:avLst/>
            <a:gdLst/>
            <a:ahLst/>
            <a:cxnLst/>
            <a:rect l="0" t="0" r="r" b="b"/>
            <a:pathLst>
              <a:path w="4578" h="27">
                <a:moveTo>
                  <a:pt x="0" y="0"/>
                </a:moveTo>
                <a:lnTo>
                  <a:pt x="4578" y="0"/>
                </a:lnTo>
                <a:lnTo>
                  <a:pt x="45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Forma libre 515"/>
          <p:cNvSpPr/>
          <p:nvPr/>
        </p:nvSpPr>
        <p:spPr>
          <a:xfrm>
            <a:off x="3286080" y="37717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Forma libre 516"/>
          <p:cNvSpPr/>
          <p:nvPr/>
        </p:nvSpPr>
        <p:spPr>
          <a:xfrm>
            <a:off x="3295440" y="3762360"/>
            <a:ext cx="2772000" cy="9720"/>
          </a:xfrm>
          <a:custGeom>
            <a:avLst/>
            <a:gdLst/>
            <a:ahLst/>
            <a:cxnLst/>
            <a:rect l="0" t="0" r="r" b="b"/>
            <a:pathLst>
              <a:path w="7700" h="27">
                <a:moveTo>
                  <a:pt x="0" y="0"/>
                </a:moveTo>
                <a:lnTo>
                  <a:pt x="7700" y="0"/>
                </a:lnTo>
                <a:lnTo>
                  <a:pt x="77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Forma libre 517"/>
          <p:cNvSpPr/>
          <p:nvPr/>
        </p:nvSpPr>
        <p:spPr>
          <a:xfrm>
            <a:off x="6057720" y="37717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Forma libre 518"/>
          <p:cNvSpPr/>
          <p:nvPr/>
        </p:nvSpPr>
        <p:spPr>
          <a:xfrm>
            <a:off x="666720" y="4181400"/>
            <a:ext cx="981360" cy="9720"/>
          </a:xfrm>
          <a:custGeom>
            <a:avLst/>
            <a:gdLst/>
            <a:ahLst/>
            <a:cxnLst/>
            <a:rect l="0" t="0" r="r" b="b"/>
            <a:pathLst>
              <a:path w="2726" h="27">
                <a:moveTo>
                  <a:pt x="0" y="0"/>
                </a:moveTo>
                <a:lnTo>
                  <a:pt x="2726" y="0"/>
                </a:lnTo>
                <a:lnTo>
                  <a:pt x="27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Forma libre 519"/>
          <p:cNvSpPr/>
          <p:nvPr/>
        </p:nvSpPr>
        <p:spPr>
          <a:xfrm>
            <a:off x="1647720" y="4181400"/>
            <a:ext cx="1648080" cy="9720"/>
          </a:xfrm>
          <a:custGeom>
            <a:avLst/>
            <a:gdLst/>
            <a:ahLst/>
            <a:cxnLst/>
            <a:rect l="0" t="0" r="r" b="b"/>
            <a:pathLst>
              <a:path w="4578" h="27">
                <a:moveTo>
                  <a:pt x="0" y="0"/>
                </a:moveTo>
                <a:lnTo>
                  <a:pt x="4578" y="0"/>
                </a:lnTo>
                <a:lnTo>
                  <a:pt x="457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Forma libre 520"/>
          <p:cNvSpPr/>
          <p:nvPr/>
        </p:nvSpPr>
        <p:spPr>
          <a:xfrm>
            <a:off x="3295440" y="4181400"/>
            <a:ext cx="2772000" cy="9720"/>
          </a:xfrm>
          <a:custGeom>
            <a:avLst/>
            <a:gdLst/>
            <a:ahLst/>
            <a:cxnLst/>
            <a:rect l="0" t="0" r="r" b="b"/>
            <a:pathLst>
              <a:path w="7700" h="27">
                <a:moveTo>
                  <a:pt x="0" y="0"/>
                </a:moveTo>
                <a:lnTo>
                  <a:pt x="7700" y="0"/>
                </a:lnTo>
                <a:lnTo>
                  <a:pt x="77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Forma libre 521"/>
          <p:cNvSpPr/>
          <p:nvPr/>
        </p:nvSpPr>
        <p:spPr>
          <a:xfrm>
            <a:off x="666720" y="4838400"/>
            <a:ext cx="10858680" cy="572040"/>
          </a:xfrm>
          <a:custGeom>
            <a:avLst/>
            <a:gdLst/>
            <a:ahLst/>
            <a:cxnLst/>
            <a:rect l="0" t="0" r="r" b="b"/>
            <a:pathLst>
              <a:path w="30163" h="1589">
                <a:moveTo>
                  <a:pt x="0" y="0"/>
                </a:moveTo>
                <a:lnTo>
                  <a:pt x="30163" y="0"/>
                </a:lnTo>
                <a:lnTo>
                  <a:pt x="3016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Forma libre 522"/>
          <p:cNvSpPr/>
          <p:nvPr/>
        </p:nvSpPr>
        <p:spPr>
          <a:xfrm>
            <a:off x="666720" y="4838400"/>
            <a:ext cx="47880" cy="572040"/>
          </a:xfrm>
          <a:custGeom>
            <a:avLst/>
            <a:gdLst/>
            <a:ahLst/>
            <a:cxnLst/>
            <a:rect l="0" t="0" r="r" b="b"/>
            <a:pathLst>
              <a:path w="133" h="1589">
                <a:moveTo>
                  <a:pt x="0" y="0"/>
                </a:moveTo>
                <a:lnTo>
                  <a:pt x="133" y="0"/>
                </a:lnTo>
                <a:lnTo>
                  <a:pt x="13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CuadroTexto 523"/>
          <p:cNvSpPr txBox="1"/>
          <p:nvPr/>
        </p:nvSpPr>
        <p:spPr>
          <a:xfrm>
            <a:off x="666720" y="1463400"/>
            <a:ext cx="49420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mismo estudio, códigos distintos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CuadroTexto 524"/>
          <p:cNvSpPr txBox="1"/>
          <p:nvPr/>
        </p:nvSpPr>
        <p:spPr>
          <a:xfrm>
            <a:off x="856800" y="2199960"/>
            <a:ext cx="600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LOINC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CuadroTexto 525"/>
          <p:cNvSpPr txBox="1"/>
          <p:nvPr/>
        </p:nvSpPr>
        <p:spPr>
          <a:xfrm>
            <a:off x="2118240" y="2199960"/>
            <a:ext cx="695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Method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CuadroTexto 526"/>
          <p:cNvSpPr txBox="1"/>
          <p:nvPr/>
        </p:nvSpPr>
        <p:spPr>
          <a:xfrm>
            <a:off x="3956400" y="2199960"/>
            <a:ext cx="14396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Lo que signiﬁca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CuadroTexto 527"/>
          <p:cNvSpPr txBox="1"/>
          <p:nvPr/>
        </p:nvSpPr>
        <p:spPr>
          <a:xfrm>
            <a:off x="799920" y="2609640"/>
            <a:ext cx="607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4548-4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CuadroTexto 528"/>
          <p:cNvSpPr txBox="1"/>
          <p:nvPr/>
        </p:nvSpPr>
        <p:spPr>
          <a:xfrm>
            <a:off x="1770480" y="2609640"/>
            <a:ext cx="526680" cy="22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i="1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(vacío)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CuadroTexto 529"/>
          <p:cNvSpPr txBox="1"/>
          <p:nvPr/>
        </p:nvSpPr>
        <p:spPr>
          <a:xfrm>
            <a:off x="3418200" y="2609640"/>
            <a:ext cx="25167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HbA1c, sin importar el método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CuadroTexto 530"/>
          <p:cNvSpPr txBox="1"/>
          <p:nvPr/>
        </p:nvSpPr>
        <p:spPr>
          <a:xfrm>
            <a:off x="799920" y="3028680"/>
            <a:ext cx="713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17855-8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CuadroTexto 531"/>
          <p:cNvSpPr txBox="1"/>
          <p:nvPr/>
        </p:nvSpPr>
        <p:spPr>
          <a:xfrm>
            <a:off x="1770480" y="3028680"/>
            <a:ext cx="11192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by calculation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CuadroTexto 532"/>
          <p:cNvSpPr txBox="1"/>
          <p:nvPr/>
        </p:nvSpPr>
        <p:spPr>
          <a:xfrm>
            <a:off x="3418200" y="3028680"/>
            <a:ext cx="13982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HbA1c calculada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CuadroTexto 533"/>
          <p:cNvSpPr txBox="1"/>
          <p:nvPr/>
        </p:nvSpPr>
        <p:spPr>
          <a:xfrm>
            <a:off x="799920" y="3447720"/>
            <a:ext cx="713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17856-6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CuadroTexto 534"/>
          <p:cNvSpPr txBox="1"/>
          <p:nvPr/>
        </p:nvSpPr>
        <p:spPr>
          <a:xfrm>
            <a:off x="1770480" y="3447720"/>
            <a:ext cx="7416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by HPLC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CuadroTexto 535"/>
          <p:cNvSpPr txBox="1"/>
          <p:nvPr/>
        </p:nvSpPr>
        <p:spPr>
          <a:xfrm>
            <a:off x="3418200" y="3447720"/>
            <a:ext cx="20829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HbA1c por cromatografía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CuadroTexto 536"/>
          <p:cNvSpPr txBox="1"/>
          <p:nvPr/>
        </p:nvSpPr>
        <p:spPr>
          <a:xfrm>
            <a:off x="799920" y="3866760"/>
            <a:ext cx="713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59261-8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CuadroTexto 537"/>
          <p:cNvSpPr txBox="1"/>
          <p:nvPr/>
        </p:nvSpPr>
        <p:spPr>
          <a:xfrm>
            <a:off x="1770480" y="3866760"/>
            <a:ext cx="13946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by IFCC protocol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CuadroTexto 538"/>
          <p:cNvSpPr txBox="1"/>
          <p:nvPr/>
        </p:nvSpPr>
        <p:spPr>
          <a:xfrm>
            <a:off x="3418200" y="3866760"/>
            <a:ext cx="22345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HbA1c estandarizada IFCC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CuadroTexto 539"/>
          <p:cNvSpPr txBox="1"/>
          <p:nvPr/>
        </p:nvSpPr>
        <p:spPr>
          <a:xfrm>
            <a:off x="666720" y="4383000"/>
            <a:ext cx="9996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Dos hospitales pueden codiﬁcar «la misma» HbA1c con códigos distintos —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y los dos tienen razón.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CuadroTexto 540"/>
          <p:cNvSpPr txBox="1"/>
          <p:nvPr/>
        </p:nvSpPr>
        <p:spPr>
          <a:xfrm>
            <a:off x="905040" y="4992480"/>
            <a:ext cx="7285649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Consecuencia: un concept set de un </a:t>
            </a:r>
            <a:r>
              <a:rPr lang="es-ES" dirty="0" err="1">
                <a:solidFill>
                  <a:srgbClr val="59636E"/>
                </a:solidFill>
                <a:latin typeface="HelveticaNeue"/>
                <a:ea typeface="HelveticaNeue"/>
              </a:rPr>
              <a:t>lab</a:t>
            </a:r>
            <a:r>
              <a:rPr lang="es-ES" sz="1800" b="0" u="none" strike="noStrike" dirty="0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casi nunca es un solo código.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CuadroTexto 54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CuadroTexto 54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CuadroTexto 54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Forma libre 54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Forma libre 54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Forma libre 54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Forma libre 547"/>
          <p:cNvSpPr/>
          <p:nvPr/>
        </p:nvSpPr>
        <p:spPr>
          <a:xfrm>
            <a:off x="676080" y="2476440"/>
            <a:ext cx="857520" cy="409680"/>
          </a:xfrm>
          <a:custGeom>
            <a:avLst/>
            <a:gdLst/>
            <a:ahLst/>
            <a:cxnLst/>
            <a:rect l="0" t="0" r="r" b="b"/>
            <a:pathLst>
              <a:path w="2382" h="1138">
                <a:moveTo>
                  <a:pt x="0" y="0"/>
                </a:moveTo>
                <a:lnTo>
                  <a:pt x="2382" y="0"/>
                </a:lnTo>
                <a:lnTo>
                  <a:pt x="2382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Forma libre 548"/>
          <p:cNvSpPr/>
          <p:nvPr/>
        </p:nvSpPr>
        <p:spPr>
          <a:xfrm>
            <a:off x="1533240" y="2476440"/>
            <a:ext cx="4277160" cy="409680"/>
          </a:xfrm>
          <a:custGeom>
            <a:avLst/>
            <a:gdLst/>
            <a:ahLst/>
            <a:cxnLst/>
            <a:rect l="0" t="0" r="r" b="b"/>
            <a:pathLst>
              <a:path w="11881" h="1138">
                <a:moveTo>
                  <a:pt x="0" y="0"/>
                </a:moveTo>
                <a:lnTo>
                  <a:pt x="11881" y="0"/>
                </a:lnTo>
                <a:lnTo>
                  <a:pt x="11881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Forma libre 549"/>
          <p:cNvSpPr/>
          <p:nvPr/>
        </p:nvSpPr>
        <p:spPr>
          <a:xfrm>
            <a:off x="676080" y="2476440"/>
            <a:ext cx="857520" cy="409680"/>
          </a:xfrm>
          <a:custGeom>
            <a:avLst/>
            <a:gdLst/>
            <a:ahLst/>
            <a:cxnLst/>
            <a:rect l="0" t="0" r="r" b="b"/>
            <a:pathLst>
              <a:path w="2382" h="1138">
                <a:moveTo>
                  <a:pt x="0" y="0"/>
                </a:moveTo>
                <a:lnTo>
                  <a:pt x="2382" y="0"/>
                </a:lnTo>
                <a:lnTo>
                  <a:pt x="2382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Forma libre 550"/>
          <p:cNvSpPr/>
          <p:nvPr/>
        </p:nvSpPr>
        <p:spPr>
          <a:xfrm>
            <a:off x="1533240" y="2476440"/>
            <a:ext cx="4277160" cy="409680"/>
          </a:xfrm>
          <a:custGeom>
            <a:avLst/>
            <a:gdLst/>
            <a:ahLst/>
            <a:cxnLst/>
            <a:rect l="0" t="0" r="r" b="b"/>
            <a:pathLst>
              <a:path w="11881" h="1138">
                <a:moveTo>
                  <a:pt x="0" y="0"/>
                </a:moveTo>
                <a:lnTo>
                  <a:pt x="11881" y="0"/>
                </a:lnTo>
                <a:lnTo>
                  <a:pt x="11881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Forma libre 551"/>
          <p:cNvSpPr/>
          <p:nvPr/>
        </p:nvSpPr>
        <p:spPr>
          <a:xfrm>
            <a:off x="676080" y="2885760"/>
            <a:ext cx="857520" cy="419760"/>
          </a:xfrm>
          <a:custGeom>
            <a:avLst/>
            <a:gdLst/>
            <a:ahLst/>
            <a:cxnLst/>
            <a:rect l="0" t="0" r="r" b="b"/>
            <a:pathLst>
              <a:path w="2382" h="1166">
                <a:moveTo>
                  <a:pt x="0" y="0"/>
                </a:moveTo>
                <a:lnTo>
                  <a:pt x="2382" y="0"/>
                </a:lnTo>
                <a:lnTo>
                  <a:pt x="2382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Forma libre 552"/>
          <p:cNvSpPr/>
          <p:nvPr/>
        </p:nvSpPr>
        <p:spPr>
          <a:xfrm>
            <a:off x="1533240" y="2885760"/>
            <a:ext cx="4277160" cy="419760"/>
          </a:xfrm>
          <a:custGeom>
            <a:avLst/>
            <a:gdLst/>
            <a:ahLst/>
            <a:cxnLst/>
            <a:rect l="0" t="0" r="r" b="b"/>
            <a:pathLst>
              <a:path w="11881" h="1166">
                <a:moveTo>
                  <a:pt x="0" y="0"/>
                </a:moveTo>
                <a:lnTo>
                  <a:pt x="11881" y="0"/>
                </a:lnTo>
                <a:lnTo>
                  <a:pt x="11881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Forma libre 553"/>
          <p:cNvSpPr/>
          <p:nvPr/>
        </p:nvSpPr>
        <p:spPr>
          <a:xfrm>
            <a:off x="676080" y="3305160"/>
            <a:ext cx="857520" cy="419400"/>
          </a:xfrm>
          <a:custGeom>
            <a:avLst/>
            <a:gdLst/>
            <a:ahLst/>
            <a:cxnLst/>
            <a:rect l="0" t="0" r="r" b="b"/>
            <a:pathLst>
              <a:path w="2382" h="1165">
                <a:moveTo>
                  <a:pt x="0" y="0"/>
                </a:moveTo>
                <a:lnTo>
                  <a:pt x="2382" y="0"/>
                </a:lnTo>
                <a:lnTo>
                  <a:pt x="238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Forma libre 554"/>
          <p:cNvSpPr/>
          <p:nvPr/>
        </p:nvSpPr>
        <p:spPr>
          <a:xfrm>
            <a:off x="1533240" y="3305160"/>
            <a:ext cx="4277160" cy="419400"/>
          </a:xfrm>
          <a:custGeom>
            <a:avLst/>
            <a:gdLst/>
            <a:ahLst/>
            <a:cxnLst/>
            <a:rect l="0" t="0" r="r" b="b"/>
            <a:pathLst>
              <a:path w="11881" h="1165">
                <a:moveTo>
                  <a:pt x="0" y="0"/>
                </a:moveTo>
                <a:lnTo>
                  <a:pt x="11881" y="0"/>
                </a:lnTo>
                <a:lnTo>
                  <a:pt x="1188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Forma libre 555"/>
          <p:cNvSpPr/>
          <p:nvPr/>
        </p:nvSpPr>
        <p:spPr>
          <a:xfrm>
            <a:off x="676080" y="3724200"/>
            <a:ext cx="857520" cy="419400"/>
          </a:xfrm>
          <a:custGeom>
            <a:avLst/>
            <a:gdLst/>
            <a:ahLst/>
            <a:cxnLst/>
            <a:rect l="0" t="0" r="r" b="b"/>
            <a:pathLst>
              <a:path w="2382" h="1165">
                <a:moveTo>
                  <a:pt x="0" y="0"/>
                </a:moveTo>
                <a:lnTo>
                  <a:pt x="2382" y="0"/>
                </a:lnTo>
                <a:lnTo>
                  <a:pt x="238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Forma libre 556"/>
          <p:cNvSpPr/>
          <p:nvPr/>
        </p:nvSpPr>
        <p:spPr>
          <a:xfrm>
            <a:off x="1533240" y="3724200"/>
            <a:ext cx="4277160" cy="419400"/>
          </a:xfrm>
          <a:custGeom>
            <a:avLst/>
            <a:gdLst/>
            <a:ahLst/>
            <a:cxnLst/>
            <a:rect l="0" t="0" r="r" b="b"/>
            <a:pathLst>
              <a:path w="11881" h="1165">
                <a:moveTo>
                  <a:pt x="0" y="0"/>
                </a:moveTo>
                <a:lnTo>
                  <a:pt x="11881" y="0"/>
                </a:lnTo>
                <a:lnTo>
                  <a:pt x="1188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Forma libre 557"/>
          <p:cNvSpPr/>
          <p:nvPr/>
        </p:nvSpPr>
        <p:spPr>
          <a:xfrm>
            <a:off x="666720" y="24667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Forma libre 558"/>
          <p:cNvSpPr/>
          <p:nvPr/>
        </p:nvSpPr>
        <p:spPr>
          <a:xfrm>
            <a:off x="666720" y="2466720"/>
            <a:ext cx="876600" cy="10080"/>
          </a:xfrm>
          <a:custGeom>
            <a:avLst/>
            <a:gdLst/>
            <a:ahLst/>
            <a:cxnLst/>
            <a:rect l="0" t="0" r="r" b="b"/>
            <a:pathLst>
              <a:path w="2435" h="28">
                <a:moveTo>
                  <a:pt x="0" y="0"/>
                </a:moveTo>
                <a:lnTo>
                  <a:pt x="2435" y="0"/>
                </a:lnTo>
                <a:lnTo>
                  <a:pt x="24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Forma libre 559"/>
          <p:cNvSpPr/>
          <p:nvPr/>
        </p:nvSpPr>
        <p:spPr>
          <a:xfrm>
            <a:off x="1533240" y="24667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Forma libre 560"/>
          <p:cNvSpPr/>
          <p:nvPr/>
        </p:nvSpPr>
        <p:spPr>
          <a:xfrm>
            <a:off x="1542960" y="2466720"/>
            <a:ext cx="4267440" cy="10080"/>
          </a:xfrm>
          <a:custGeom>
            <a:avLst/>
            <a:gdLst/>
            <a:ahLst/>
            <a:cxnLst/>
            <a:rect l="0" t="0" r="r" b="b"/>
            <a:pathLst>
              <a:path w="11854" h="28">
                <a:moveTo>
                  <a:pt x="0" y="0"/>
                </a:moveTo>
                <a:lnTo>
                  <a:pt x="11854" y="0"/>
                </a:lnTo>
                <a:lnTo>
                  <a:pt x="118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Forma libre 561"/>
          <p:cNvSpPr/>
          <p:nvPr/>
        </p:nvSpPr>
        <p:spPr>
          <a:xfrm>
            <a:off x="5800680" y="24667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Forma libre 562"/>
          <p:cNvSpPr/>
          <p:nvPr/>
        </p:nvSpPr>
        <p:spPr>
          <a:xfrm>
            <a:off x="666720" y="2876400"/>
            <a:ext cx="876600" cy="9720"/>
          </a:xfrm>
          <a:custGeom>
            <a:avLst/>
            <a:gdLst/>
            <a:ahLst/>
            <a:cxnLst/>
            <a:rect l="0" t="0" r="r" b="b"/>
            <a:pathLst>
              <a:path w="2435" h="27">
                <a:moveTo>
                  <a:pt x="0" y="0"/>
                </a:moveTo>
                <a:lnTo>
                  <a:pt x="2435" y="0"/>
                </a:lnTo>
                <a:lnTo>
                  <a:pt x="243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Forma libre 563"/>
          <p:cNvSpPr/>
          <p:nvPr/>
        </p:nvSpPr>
        <p:spPr>
          <a:xfrm>
            <a:off x="1542960" y="2876400"/>
            <a:ext cx="4267440" cy="9720"/>
          </a:xfrm>
          <a:custGeom>
            <a:avLst/>
            <a:gdLst/>
            <a:ahLst/>
            <a:cxnLst/>
            <a:rect l="0" t="0" r="r" b="b"/>
            <a:pathLst>
              <a:path w="11854" h="27">
                <a:moveTo>
                  <a:pt x="0" y="0"/>
                </a:moveTo>
                <a:lnTo>
                  <a:pt x="11854" y="0"/>
                </a:lnTo>
                <a:lnTo>
                  <a:pt x="118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Forma libre 564"/>
          <p:cNvSpPr/>
          <p:nvPr/>
        </p:nvSpPr>
        <p:spPr>
          <a:xfrm>
            <a:off x="666720" y="288576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Forma libre 565"/>
          <p:cNvSpPr/>
          <p:nvPr/>
        </p:nvSpPr>
        <p:spPr>
          <a:xfrm>
            <a:off x="1533240" y="2885760"/>
            <a:ext cx="10080" cy="419760"/>
          </a:xfrm>
          <a:custGeom>
            <a:avLst/>
            <a:gdLst/>
            <a:ahLst/>
            <a:cxnLst/>
            <a:rect l="0" t="0" r="r" b="b"/>
            <a:pathLst>
              <a:path w="28" h="1166">
                <a:moveTo>
                  <a:pt x="0" y="0"/>
                </a:moveTo>
                <a:lnTo>
                  <a:pt x="28" y="0"/>
                </a:lnTo>
                <a:lnTo>
                  <a:pt x="28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Forma libre 566"/>
          <p:cNvSpPr/>
          <p:nvPr/>
        </p:nvSpPr>
        <p:spPr>
          <a:xfrm>
            <a:off x="5800680" y="2885760"/>
            <a:ext cx="9720" cy="419760"/>
          </a:xfrm>
          <a:custGeom>
            <a:avLst/>
            <a:gdLst/>
            <a:ahLst/>
            <a:cxnLst/>
            <a:rect l="0" t="0" r="r" b="b"/>
            <a:pathLst>
              <a:path w="27" h="1166">
                <a:moveTo>
                  <a:pt x="0" y="0"/>
                </a:moveTo>
                <a:lnTo>
                  <a:pt x="27" y="0"/>
                </a:lnTo>
                <a:lnTo>
                  <a:pt x="27" y="1166"/>
                </a:lnTo>
                <a:lnTo>
                  <a:pt x="0" y="116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Forma libre 567"/>
          <p:cNvSpPr/>
          <p:nvPr/>
        </p:nvSpPr>
        <p:spPr>
          <a:xfrm>
            <a:off x="666720" y="33051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Forma libre 568"/>
          <p:cNvSpPr/>
          <p:nvPr/>
        </p:nvSpPr>
        <p:spPr>
          <a:xfrm>
            <a:off x="666720" y="3295440"/>
            <a:ext cx="876600" cy="10080"/>
          </a:xfrm>
          <a:custGeom>
            <a:avLst/>
            <a:gdLst/>
            <a:ahLst/>
            <a:cxnLst/>
            <a:rect l="0" t="0" r="r" b="b"/>
            <a:pathLst>
              <a:path w="2435" h="28">
                <a:moveTo>
                  <a:pt x="0" y="0"/>
                </a:moveTo>
                <a:lnTo>
                  <a:pt x="2435" y="0"/>
                </a:lnTo>
                <a:lnTo>
                  <a:pt x="24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Forma libre 569"/>
          <p:cNvSpPr/>
          <p:nvPr/>
        </p:nvSpPr>
        <p:spPr>
          <a:xfrm>
            <a:off x="1533240" y="33051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Forma libre 570"/>
          <p:cNvSpPr/>
          <p:nvPr/>
        </p:nvSpPr>
        <p:spPr>
          <a:xfrm>
            <a:off x="1542960" y="3295440"/>
            <a:ext cx="4267440" cy="10080"/>
          </a:xfrm>
          <a:custGeom>
            <a:avLst/>
            <a:gdLst/>
            <a:ahLst/>
            <a:cxnLst/>
            <a:rect l="0" t="0" r="r" b="b"/>
            <a:pathLst>
              <a:path w="11854" h="28">
                <a:moveTo>
                  <a:pt x="0" y="0"/>
                </a:moveTo>
                <a:lnTo>
                  <a:pt x="11854" y="0"/>
                </a:lnTo>
                <a:lnTo>
                  <a:pt x="118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Forma libre 571"/>
          <p:cNvSpPr/>
          <p:nvPr/>
        </p:nvSpPr>
        <p:spPr>
          <a:xfrm>
            <a:off x="5800680" y="33051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Forma libre 572"/>
          <p:cNvSpPr/>
          <p:nvPr/>
        </p:nvSpPr>
        <p:spPr>
          <a:xfrm>
            <a:off x="666720" y="37242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Forma libre 573"/>
          <p:cNvSpPr/>
          <p:nvPr/>
        </p:nvSpPr>
        <p:spPr>
          <a:xfrm>
            <a:off x="666720" y="3714480"/>
            <a:ext cx="876600" cy="10080"/>
          </a:xfrm>
          <a:custGeom>
            <a:avLst/>
            <a:gdLst/>
            <a:ahLst/>
            <a:cxnLst/>
            <a:rect l="0" t="0" r="r" b="b"/>
            <a:pathLst>
              <a:path w="2435" h="28">
                <a:moveTo>
                  <a:pt x="0" y="0"/>
                </a:moveTo>
                <a:lnTo>
                  <a:pt x="2435" y="0"/>
                </a:lnTo>
                <a:lnTo>
                  <a:pt x="24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Forma libre 574"/>
          <p:cNvSpPr/>
          <p:nvPr/>
        </p:nvSpPr>
        <p:spPr>
          <a:xfrm>
            <a:off x="1533240" y="37242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Forma libre 575"/>
          <p:cNvSpPr/>
          <p:nvPr/>
        </p:nvSpPr>
        <p:spPr>
          <a:xfrm>
            <a:off x="1542960" y="3714480"/>
            <a:ext cx="4267440" cy="10080"/>
          </a:xfrm>
          <a:custGeom>
            <a:avLst/>
            <a:gdLst/>
            <a:ahLst/>
            <a:cxnLst/>
            <a:rect l="0" t="0" r="r" b="b"/>
            <a:pathLst>
              <a:path w="11854" h="28">
                <a:moveTo>
                  <a:pt x="0" y="0"/>
                </a:moveTo>
                <a:lnTo>
                  <a:pt x="11854" y="0"/>
                </a:lnTo>
                <a:lnTo>
                  <a:pt x="118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Forma libre 576"/>
          <p:cNvSpPr/>
          <p:nvPr/>
        </p:nvSpPr>
        <p:spPr>
          <a:xfrm>
            <a:off x="5800680" y="37242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Forma libre 577"/>
          <p:cNvSpPr/>
          <p:nvPr/>
        </p:nvSpPr>
        <p:spPr>
          <a:xfrm>
            <a:off x="666720" y="4133520"/>
            <a:ext cx="876600" cy="10080"/>
          </a:xfrm>
          <a:custGeom>
            <a:avLst/>
            <a:gdLst/>
            <a:ahLst/>
            <a:cxnLst/>
            <a:rect l="0" t="0" r="r" b="b"/>
            <a:pathLst>
              <a:path w="2435" h="28">
                <a:moveTo>
                  <a:pt x="0" y="0"/>
                </a:moveTo>
                <a:lnTo>
                  <a:pt x="2435" y="0"/>
                </a:lnTo>
                <a:lnTo>
                  <a:pt x="243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Forma libre 578"/>
          <p:cNvSpPr/>
          <p:nvPr/>
        </p:nvSpPr>
        <p:spPr>
          <a:xfrm>
            <a:off x="1542960" y="4133520"/>
            <a:ext cx="4267440" cy="10080"/>
          </a:xfrm>
          <a:custGeom>
            <a:avLst/>
            <a:gdLst/>
            <a:ahLst/>
            <a:cxnLst/>
            <a:rect l="0" t="0" r="r" b="b"/>
            <a:pathLst>
              <a:path w="11854" h="28">
                <a:moveTo>
                  <a:pt x="0" y="0"/>
                </a:moveTo>
                <a:lnTo>
                  <a:pt x="11854" y="0"/>
                </a:lnTo>
                <a:lnTo>
                  <a:pt x="118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CuadroTexto 579"/>
          <p:cNvSpPr txBox="1"/>
          <p:nvPr/>
        </p:nvSpPr>
        <p:spPr>
          <a:xfrm>
            <a:off x="666720" y="1834920"/>
            <a:ext cx="56887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Los tres que vas a usar todo el semestre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CuadroTexto 580"/>
          <p:cNvSpPr txBox="1"/>
          <p:nvPr/>
        </p:nvSpPr>
        <p:spPr>
          <a:xfrm>
            <a:off x="803880" y="2571480"/>
            <a:ext cx="600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LOINC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CuadroTexto 581"/>
          <p:cNvSpPr txBox="1"/>
          <p:nvPr/>
        </p:nvSpPr>
        <p:spPr>
          <a:xfrm>
            <a:off x="3355200" y="2571480"/>
            <a:ext cx="6354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Analito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CuadroTexto 582"/>
          <p:cNvSpPr txBox="1"/>
          <p:nvPr/>
        </p:nvSpPr>
        <p:spPr>
          <a:xfrm>
            <a:off x="799920" y="2980800"/>
            <a:ext cx="607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4548-4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CuadroTexto 583"/>
          <p:cNvSpPr txBox="1"/>
          <p:nvPr/>
        </p:nvSpPr>
        <p:spPr>
          <a:xfrm>
            <a:off x="1664640" y="2980800"/>
            <a:ext cx="40201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Hemoglobina A1c / hemoglobina total, en sangre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CuadroTexto 584"/>
          <p:cNvSpPr txBox="1"/>
          <p:nvPr/>
        </p:nvSpPr>
        <p:spPr>
          <a:xfrm>
            <a:off x="799920" y="3400200"/>
            <a:ext cx="607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2160-0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CuadroTexto 585"/>
          <p:cNvSpPr txBox="1"/>
          <p:nvPr/>
        </p:nvSpPr>
        <p:spPr>
          <a:xfrm>
            <a:off x="1664640" y="3400200"/>
            <a:ext cx="37411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Creatinina [masa/volumen] en suero o plasma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CuadroTexto 586"/>
          <p:cNvSpPr txBox="1"/>
          <p:nvPr/>
        </p:nvSpPr>
        <p:spPr>
          <a:xfrm>
            <a:off x="799920" y="3819240"/>
            <a:ext cx="607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2345-7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Forma libre 587"/>
          <p:cNvSpPr/>
          <p:nvPr/>
        </p:nvSpPr>
        <p:spPr>
          <a:xfrm>
            <a:off x="914040" y="44481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200" y="159"/>
                  <a:pt x="192" y="170"/>
                  <a:pt x="182" y="180"/>
                </a:cubicBezTo>
                <a:cubicBezTo>
                  <a:pt x="172" y="190"/>
                  <a:pt x="161" y="198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8"/>
                  <a:pt x="41" y="190"/>
                  <a:pt x="31" y="180"/>
                </a:cubicBezTo>
                <a:cubicBezTo>
                  <a:pt x="22" y="170"/>
                  <a:pt x="14" y="159"/>
                  <a:pt x="9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0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CuadroTexto 588"/>
          <p:cNvSpPr txBox="1"/>
          <p:nvPr/>
        </p:nvSpPr>
        <p:spPr>
          <a:xfrm>
            <a:off x="1664640" y="3819240"/>
            <a:ext cx="35928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Glucosa [masa/volumen] en suero o plasma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Forma libre 589"/>
          <p:cNvSpPr/>
          <p:nvPr/>
        </p:nvSpPr>
        <p:spPr>
          <a:xfrm>
            <a:off x="914040" y="484812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5" y="147"/>
                </a:cubicBezTo>
                <a:cubicBezTo>
                  <a:pt x="200" y="160"/>
                  <a:pt x="192" y="172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CuadroTexto 590"/>
          <p:cNvSpPr txBox="1"/>
          <p:nvPr/>
        </p:nvSpPr>
        <p:spPr>
          <a:xfrm>
            <a:off x="1123920" y="4335480"/>
            <a:ext cx="74664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Los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Top 2000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 LOINC cubren la enorme mayoría de los resultados reales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CuadroTexto 591"/>
          <p:cNvSpPr txBox="1"/>
          <p:nvPr/>
        </p:nvSpPr>
        <p:spPr>
          <a:xfrm>
            <a:off x="1123920" y="4735440"/>
            <a:ext cx="4967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Empieza por ahí antes de buscar códigos exóticos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CuadroTexto 59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CuadroTexto 59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CuadroTexto 594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Forma libre 59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Forma libre 59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Forma libre 59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CuadroTexto 598"/>
          <p:cNvSpPr txBox="1"/>
          <p:nvPr/>
        </p:nvSpPr>
        <p:spPr>
          <a:xfrm>
            <a:off x="3837960" y="3063960"/>
            <a:ext cx="460764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5. Unidades: UCUM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CuadroTexto 59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CuadroTexto 60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CuadroTexto 60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Forma libre 60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Forma libre 60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Forma libre 60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Forma libre 605"/>
          <p:cNvSpPr/>
          <p:nvPr/>
        </p:nvSpPr>
        <p:spPr>
          <a:xfrm>
            <a:off x="666720" y="414324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Forma libre 606"/>
          <p:cNvSpPr/>
          <p:nvPr/>
        </p:nvSpPr>
        <p:spPr>
          <a:xfrm>
            <a:off x="666720" y="414324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Forma libre 607"/>
          <p:cNvSpPr/>
          <p:nvPr/>
        </p:nvSpPr>
        <p:spPr>
          <a:xfrm>
            <a:off x="914040" y="260028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CuadroTexto 608"/>
          <p:cNvSpPr txBox="1"/>
          <p:nvPr/>
        </p:nvSpPr>
        <p:spPr>
          <a:xfrm>
            <a:off x="666720" y="1815840"/>
            <a:ext cx="74271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código dice qué se midió; la unidad, en qué escala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Forma libre 609"/>
          <p:cNvSpPr/>
          <p:nvPr/>
        </p:nvSpPr>
        <p:spPr>
          <a:xfrm>
            <a:off x="8234100" y="2466720"/>
            <a:ext cx="1876680" cy="267120"/>
          </a:xfrm>
          <a:custGeom>
            <a:avLst/>
            <a:gdLst/>
            <a:ahLst/>
            <a:cxnLst/>
            <a:rect l="0" t="0" r="r" b="b"/>
            <a:pathLst>
              <a:path w="5213" h="742">
                <a:moveTo>
                  <a:pt x="0" y="636"/>
                </a:moveTo>
                <a:lnTo>
                  <a:pt x="0" y="107"/>
                </a:lnTo>
                <a:cubicBezTo>
                  <a:pt x="0" y="93"/>
                  <a:pt x="3" y="79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107" y="0"/>
                </a:lnTo>
                <a:cubicBezTo>
                  <a:pt x="5121" y="0"/>
                  <a:pt x="5135" y="3"/>
                  <a:pt x="5148" y="8"/>
                </a:cubicBezTo>
                <a:cubicBezTo>
                  <a:pt x="5161" y="13"/>
                  <a:pt x="5172" y="21"/>
                  <a:pt x="5182" y="31"/>
                </a:cubicBezTo>
                <a:cubicBezTo>
                  <a:pt x="5192" y="41"/>
                  <a:pt x="5200" y="52"/>
                  <a:pt x="5205" y="65"/>
                </a:cubicBezTo>
                <a:cubicBezTo>
                  <a:pt x="5211" y="79"/>
                  <a:pt x="5213" y="93"/>
                  <a:pt x="5213" y="107"/>
                </a:cubicBezTo>
                <a:lnTo>
                  <a:pt x="5213" y="636"/>
                </a:lnTo>
                <a:cubicBezTo>
                  <a:pt x="5213" y="650"/>
                  <a:pt x="5211" y="664"/>
                  <a:pt x="5205" y="677"/>
                </a:cubicBezTo>
                <a:cubicBezTo>
                  <a:pt x="5200" y="690"/>
                  <a:pt x="5192" y="701"/>
                  <a:pt x="5182" y="711"/>
                </a:cubicBezTo>
                <a:cubicBezTo>
                  <a:pt x="5172" y="721"/>
                  <a:pt x="5161" y="728"/>
                  <a:pt x="5148" y="734"/>
                </a:cubicBezTo>
                <a:cubicBezTo>
                  <a:pt x="5135" y="739"/>
                  <a:pt x="5121" y="742"/>
                  <a:pt x="5107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CuadroTexto 610"/>
          <p:cNvSpPr txBox="1"/>
          <p:nvPr/>
        </p:nvSpPr>
        <p:spPr>
          <a:xfrm>
            <a:off x="1123920" y="2487600"/>
            <a:ext cx="6786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UCUM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es el estándar de unidades, y en OMOP es el vocabulario de 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Forma libre 611"/>
          <p:cNvSpPr/>
          <p:nvPr/>
        </p:nvSpPr>
        <p:spPr>
          <a:xfrm>
            <a:off x="914040" y="3000240"/>
            <a:ext cx="76680" cy="77040"/>
          </a:xfrm>
          <a:custGeom>
            <a:avLst/>
            <a:gdLst/>
            <a:ahLst/>
            <a:cxnLst/>
            <a:rect l="0" t="0" r="r" b="b"/>
            <a:pathLst>
              <a:path w="213" h="214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4"/>
                  <a:pt x="107" y="214"/>
                </a:cubicBezTo>
                <a:cubicBezTo>
                  <a:pt x="92" y="214"/>
                  <a:pt x="79" y="210"/>
                  <a:pt x="66" y="204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4"/>
                  <a:pt x="92" y="0"/>
                  <a:pt x="107" y="0"/>
                </a:cubicBezTo>
                <a:cubicBezTo>
                  <a:pt x="121" y="0"/>
                  <a:pt x="135" y="4"/>
                  <a:pt x="148" y="9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CuadroTexto 612"/>
          <p:cNvSpPr txBox="1"/>
          <p:nvPr/>
        </p:nvSpPr>
        <p:spPr>
          <a:xfrm>
            <a:off x="8234100" y="2487600"/>
            <a:ext cx="17622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 dirty="0" err="1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unit_concept_id</a:t>
            </a:r>
            <a:endParaRPr lang="es-ES" sz="15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Forma libre 613"/>
          <p:cNvSpPr/>
          <p:nvPr/>
        </p:nvSpPr>
        <p:spPr>
          <a:xfrm>
            <a:off x="3638520" y="2904840"/>
            <a:ext cx="704880" cy="267120"/>
          </a:xfrm>
          <a:custGeom>
            <a:avLst/>
            <a:gdLst/>
            <a:ahLst/>
            <a:cxnLst/>
            <a:rect l="0" t="0" r="r" b="b"/>
            <a:pathLst>
              <a:path w="1958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853" y="0"/>
                </a:lnTo>
                <a:cubicBezTo>
                  <a:pt x="1867" y="0"/>
                  <a:pt x="1880" y="3"/>
                  <a:pt x="1893" y="8"/>
                </a:cubicBezTo>
                <a:cubicBezTo>
                  <a:pt x="1906" y="14"/>
                  <a:pt x="1918" y="21"/>
                  <a:pt x="1928" y="31"/>
                </a:cubicBezTo>
                <a:cubicBezTo>
                  <a:pt x="1937" y="41"/>
                  <a:pt x="1945" y="53"/>
                  <a:pt x="1950" y="66"/>
                </a:cubicBezTo>
                <a:cubicBezTo>
                  <a:pt x="1956" y="79"/>
                  <a:pt x="1958" y="92"/>
                  <a:pt x="1958" y="106"/>
                </a:cubicBezTo>
                <a:lnTo>
                  <a:pt x="1958" y="636"/>
                </a:lnTo>
                <a:cubicBezTo>
                  <a:pt x="1958" y="650"/>
                  <a:pt x="1956" y="664"/>
                  <a:pt x="1950" y="677"/>
                </a:cubicBezTo>
                <a:cubicBezTo>
                  <a:pt x="1945" y="690"/>
                  <a:pt x="1937" y="701"/>
                  <a:pt x="1928" y="711"/>
                </a:cubicBezTo>
                <a:cubicBezTo>
                  <a:pt x="1918" y="721"/>
                  <a:pt x="1906" y="729"/>
                  <a:pt x="1893" y="734"/>
                </a:cubicBezTo>
                <a:cubicBezTo>
                  <a:pt x="1880" y="739"/>
                  <a:pt x="1867" y="742"/>
                  <a:pt x="1853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CuadroTexto 614"/>
          <p:cNvSpPr txBox="1"/>
          <p:nvPr/>
        </p:nvSpPr>
        <p:spPr>
          <a:xfrm>
            <a:off x="1123920" y="2887560"/>
            <a:ext cx="2519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Sintaxis sin ambigüedad: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CuadroTexto 615"/>
          <p:cNvSpPr txBox="1"/>
          <p:nvPr/>
        </p:nvSpPr>
        <p:spPr>
          <a:xfrm>
            <a:off x="3700080" y="2925000"/>
            <a:ext cx="587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mg/dL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Forma libre 616"/>
          <p:cNvSpPr/>
          <p:nvPr/>
        </p:nvSpPr>
        <p:spPr>
          <a:xfrm>
            <a:off x="4466880" y="2904840"/>
            <a:ext cx="819720" cy="267120"/>
          </a:xfrm>
          <a:custGeom>
            <a:avLst/>
            <a:gdLst/>
            <a:ahLst/>
            <a:cxnLst/>
            <a:rect l="0" t="0" r="r" b="b"/>
            <a:pathLst>
              <a:path w="2277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lnTo>
                  <a:pt x="2171" y="0"/>
                </a:lnTo>
                <a:cubicBezTo>
                  <a:pt x="2185" y="0"/>
                  <a:pt x="2199" y="3"/>
                  <a:pt x="2212" y="8"/>
                </a:cubicBezTo>
                <a:cubicBezTo>
                  <a:pt x="2225" y="14"/>
                  <a:pt x="2236" y="21"/>
                  <a:pt x="2246" y="31"/>
                </a:cubicBezTo>
                <a:cubicBezTo>
                  <a:pt x="2256" y="41"/>
                  <a:pt x="2263" y="53"/>
                  <a:pt x="2269" y="66"/>
                </a:cubicBezTo>
                <a:cubicBezTo>
                  <a:pt x="2274" y="79"/>
                  <a:pt x="2277" y="92"/>
                  <a:pt x="2277" y="106"/>
                </a:cubicBezTo>
                <a:lnTo>
                  <a:pt x="2277" y="636"/>
                </a:lnTo>
                <a:cubicBezTo>
                  <a:pt x="2277" y="650"/>
                  <a:pt x="2274" y="664"/>
                  <a:pt x="2269" y="677"/>
                </a:cubicBezTo>
                <a:cubicBezTo>
                  <a:pt x="2263" y="690"/>
                  <a:pt x="2256" y="701"/>
                  <a:pt x="2246" y="711"/>
                </a:cubicBezTo>
                <a:cubicBezTo>
                  <a:pt x="2236" y="721"/>
                  <a:pt x="2225" y="729"/>
                  <a:pt x="2212" y="734"/>
                </a:cubicBezTo>
                <a:cubicBezTo>
                  <a:pt x="2199" y="739"/>
                  <a:pt x="2185" y="742"/>
                  <a:pt x="2171" y="742"/>
                </a:cubicBezTo>
                <a:lnTo>
                  <a:pt x="107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2" y="701"/>
                  <a:pt x="14" y="690"/>
                  <a:pt x="9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CuadroTexto 617"/>
          <p:cNvSpPr txBox="1"/>
          <p:nvPr/>
        </p:nvSpPr>
        <p:spPr>
          <a:xfrm>
            <a:off x="4342320" y="288756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CuadroTexto 618"/>
          <p:cNvSpPr txBox="1"/>
          <p:nvPr/>
        </p:nvSpPr>
        <p:spPr>
          <a:xfrm>
            <a:off x="4526640" y="2925000"/>
            <a:ext cx="705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mmol/L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Forma libre 619"/>
          <p:cNvSpPr/>
          <p:nvPr/>
        </p:nvSpPr>
        <p:spPr>
          <a:xfrm>
            <a:off x="5410080" y="2904840"/>
            <a:ext cx="1057680" cy="267120"/>
          </a:xfrm>
          <a:custGeom>
            <a:avLst/>
            <a:gdLst/>
            <a:ahLst/>
            <a:cxnLst/>
            <a:rect l="0" t="0" r="r" b="b"/>
            <a:pathLst>
              <a:path w="2938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832" y="0"/>
                </a:lnTo>
                <a:cubicBezTo>
                  <a:pt x="2846" y="0"/>
                  <a:pt x="2859" y="3"/>
                  <a:pt x="2872" y="8"/>
                </a:cubicBezTo>
                <a:cubicBezTo>
                  <a:pt x="2885" y="14"/>
                  <a:pt x="2897" y="21"/>
                  <a:pt x="2907" y="31"/>
                </a:cubicBezTo>
                <a:cubicBezTo>
                  <a:pt x="2917" y="41"/>
                  <a:pt x="2924" y="53"/>
                  <a:pt x="2930" y="66"/>
                </a:cubicBezTo>
                <a:cubicBezTo>
                  <a:pt x="2935" y="79"/>
                  <a:pt x="2938" y="92"/>
                  <a:pt x="2938" y="106"/>
                </a:cubicBezTo>
                <a:lnTo>
                  <a:pt x="2938" y="636"/>
                </a:lnTo>
                <a:cubicBezTo>
                  <a:pt x="2938" y="650"/>
                  <a:pt x="2935" y="664"/>
                  <a:pt x="2930" y="677"/>
                </a:cubicBezTo>
                <a:cubicBezTo>
                  <a:pt x="2924" y="690"/>
                  <a:pt x="2917" y="701"/>
                  <a:pt x="2907" y="711"/>
                </a:cubicBezTo>
                <a:cubicBezTo>
                  <a:pt x="2897" y="721"/>
                  <a:pt x="2885" y="729"/>
                  <a:pt x="2872" y="734"/>
                </a:cubicBezTo>
                <a:cubicBezTo>
                  <a:pt x="2859" y="739"/>
                  <a:pt x="2846" y="742"/>
                  <a:pt x="2832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CuadroTexto 620"/>
          <p:cNvSpPr txBox="1"/>
          <p:nvPr/>
        </p:nvSpPr>
        <p:spPr>
          <a:xfrm>
            <a:off x="5285880" y="288756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CuadroTexto 621"/>
          <p:cNvSpPr txBox="1"/>
          <p:nvPr/>
        </p:nvSpPr>
        <p:spPr>
          <a:xfrm>
            <a:off x="5470200" y="2925000"/>
            <a:ext cx="940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mmol/mol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Forma libre 622"/>
          <p:cNvSpPr/>
          <p:nvPr/>
        </p:nvSpPr>
        <p:spPr>
          <a:xfrm>
            <a:off x="6591240" y="2904840"/>
            <a:ext cx="933840" cy="267120"/>
          </a:xfrm>
          <a:custGeom>
            <a:avLst/>
            <a:gdLst/>
            <a:ahLst/>
            <a:cxnLst/>
            <a:rect l="0" t="0" r="r" b="b"/>
            <a:pathLst>
              <a:path w="2594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488" y="0"/>
                </a:lnTo>
                <a:cubicBezTo>
                  <a:pt x="2502" y="0"/>
                  <a:pt x="2515" y="3"/>
                  <a:pt x="2528" y="8"/>
                </a:cubicBezTo>
                <a:cubicBezTo>
                  <a:pt x="2541" y="14"/>
                  <a:pt x="2553" y="21"/>
                  <a:pt x="2563" y="31"/>
                </a:cubicBezTo>
                <a:cubicBezTo>
                  <a:pt x="2573" y="41"/>
                  <a:pt x="2580" y="53"/>
                  <a:pt x="2586" y="66"/>
                </a:cubicBezTo>
                <a:cubicBezTo>
                  <a:pt x="2591" y="79"/>
                  <a:pt x="2594" y="92"/>
                  <a:pt x="2594" y="106"/>
                </a:cubicBezTo>
                <a:lnTo>
                  <a:pt x="2594" y="636"/>
                </a:lnTo>
                <a:cubicBezTo>
                  <a:pt x="2594" y="650"/>
                  <a:pt x="2591" y="664"/>
                  <a:pt x="2586" y="677"/>
                </a:cubicBezTo>
                <a:cubicBezTo>
                  <a:pt x="2580" y="690"/>
                  <a:pt x="2573" y="701"/>
                  <a:pt x="2563" y="711"/>
                </a:cubicBezTo>
                <a:cubicBezTo>
                  <a:pt x="2553" y="721"/>
                  <a:pt x="2541" y="729"/>
                  <a:pt x="2528" y="734"/>
                </a:cubicBezTo>
                <a:cubicBezTo>
                  <a:pt x="2515" y="739"/>
                  <a:pt x="2502" y="742"/>
                  <a:pt x="2488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CuadroTexto 623"/>
          <p:cNvSpPr txBox="1"/>
          <p:nvPr/>
        </p:nvSpPr>
        <p:spPr>
          <a:xfrm>
            <a:off x="6463440" y="288756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Forma libre 624"/>
          <p:cNvSpPr/>
          <p:nvPr/>
        </p:nvSpPr>
        <p:spPr>
          <a:xfrm>
            <a:off x="914040" y="34002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CuadroTexto 625"/>
          <p:cNvSpPr txBox="1"/>
          <p:nvPr/>
        </p:nvSpPr>
        <p:spPr>
          <a:xfrm>
            <a:off x="6647760" y="2925000"/>
            <a:ext cx="822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10*3/uL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Forma libre 626"/>
          <p:cNvSpPr/>
          <p:nvPr/>
        </p:nvSpPr>
        <p:spPr>
          <a:xfrm>
            <a:off x="2238120" y="3305160"/>
            <a:ext cx="695880" cy="266760"/>
          </a:xfrm>
          <a:custGeom>
            <a:avLst/>
            <a:gdLst/>
            <a:ahLst/>
            <a:cxnLst/>
            <a:rect l="0" t="0" r="r" b="b"/>
            <a:pathLst>
              <a:path w="1933" h="741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5"/>
                </a:cubicBezTo>
                <a:cubicBezTo>
                  <a:pt x="14" y="52"/>
                  <a:pt x="21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1827" y="0"/>
                </a:lnTo>
                <a:cubicBezTo>
                  <a:pt x="1841" y="0"/>
                  <a:pt x="1854" y="2"/>
                  <a:pt x="1867" y="8"/>
                </a:cubicBezTo>
                <a:cubicBezTo>
                  <a:pt x="1880" y="13"/>
                  <a:pt x="1892" y="21"/>
                  <a:pt x="1902" y="31"/>
                </a:cubicBezTo>
                <a:cubicBezTo>
                  <a:pt x="1912" y="40"/>
                  <a:pt x="1919" y="52"/>
                  <a:pt x="1925" y="65"/>
                </a:cubicBezTo>
                <a:cubicBezTo>
                  <a:pt x="1930" y="79"/>
                  <a:pt x="1933" y="92"/>
                  <a:pt x="1933" y="106"/>
                </a:cubicBezTo>
                <a:lnTo>
                  <a:pt x="1933" y="636"/>
                </a:lnTo>
                <a:cubicBezTo>
                  <a:pt x="1933" y="650"/>
                  <a:pt x="1930" y="663"/>
                  <a:pt x="1925" y="676"/>
                </a:cubicBezTo>
                <a:cubicBezTo>
                  <a:pt x="1919" y="689"/>
                  <a:pt x="1912" y="700"/>
                  <a:pt x="1902" y="710"/>
                </a:cubicBezTo>
                <a:cubicBezTo>
                  <a:pt x="1892" y="720"/>
                  <a:pt x="1880" y="728"/>
                  <a:pt x="1867" y="733"/>
                </a:cubicBezTo>
                <a:cubicBezTo>
                  <a:pt x="1854" y="739"/>
                  <a:pt x="1841" y="741"/>
                  <a:pt x="1827" y="741"/>
                </a:cubicBezTo>
                <a:lnTo>
                  <a:pt x="106" y="741"/>
                </a:lnTo>
                <a:cubicBezTo>
                  <a:pt x="92" y="741"/>
                  <a:pt x="79" y="739"/>
                  <a:pt x="66" y="733"/>
                </a:cubicBezTo>
                <a:cubicBezTo>
                  <a:pt x="53" y="728"/>
                  <a:pt x="41" y="720"/>
                  <a:pt x="31" y="710"/>
                </a:cubicBezTo>
                <a:cubicBezTo>
                  <a:pt x="21" y="700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CuadroTexto 627"/>
          <p:cNvSpPr txBox="1"/>
          <p:nvPr/>
        </p:nvSpPr>
        <p:spPr>
          <a:xfrm>
            <a:off x="1123920" y="3287520"/>
            <a:ext cx="1114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Creatinina: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CuadroTexto 628"/>
          <p:cNvSpPr txBox="1"/>
          <p:nvPr/>
        </p:nvSpPr>
        <p:spPr>
          <a:xfrm>
            <a:off x="2290680" y="3324960"/>
            <a:ext cx="587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mg/dL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Forma libre 629"/>
          <p:cNvSpPr/>
          <p:nvPr/>
        </p:nvSpPr>
        <p:spPr>
          <a:xfrm>
            <a:off x="4714560" y="3305160"/>
            <a:ext cx="819720" cy="266760"/>
          </a:xfrm>
          <a:custGeom>
            <a:avLst/>
            <a:gdLst/>
            <a:ahLst/>
            <a:cxnLst/>
            <a:rect l="0" t="0" r="r" b="b"/>
            <a:pathLst>
              <a:path w="2277" h="741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5"/>
                </a:cubicBezTo>
                <a:cubicBezTo>
                  <a:pt x="14" y="52"/>
                  <a:pt x="21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2171" y="0"/>
                </a:lnTo>
                <a:cubicBezTo>
                  <a:pt x="2185" y="0"/>
                  <a:pt x="2198" y="2"/>
                  <a:pt x="2211" y="8"/>
                </a:cubicBezTo>
                <a:cubicBezTo>
                  <a:pt x="2224" y="13"/>
                  <a:pt x="2236" y="21"/>
                  <a:pt x="2246" y="31"/>
                </a:cubicBezTo>
                <a:cubicBezTo>
                  <a:pt x="2256" y="40"/>
                  <a:pt x="2263" y="52"/>
                  <a:pt x="2269" y="65"/>
                </a:cubicBezTo>
                <a:cubicBezTo>
                  <a:pt x="2274" y="79"/>
                  <a:pt x="2277" y="92"/>
                  <a:pt x="2277" y="106"/>
                </a:cubicBezTo>
                <a:lnTo>
                  <a:pt x="2277" y="636"/>
                </a:lnTo>
                <a:cubicBezTo>
                  <a:pt x="2277" y="650"/>
                  <a:pt x="2274" y="663"/>
                  <a:pt x="2269" y="676"/>
                </a:cubicBezTo>
                <a:cubicBezTo>
                  <a:pt x="2263" y="689"/>
                  <a:pt x="2256" y="700"/>
                  <a:pt x="2246" y="710"/>
                </a:cubicBezTo>
                <a:cubicBezTo>
                  <a:pt x="2236" y="720"/>
                  <a:pt x="2224" y="728"/>
                  <a:pt x="2211" y="733"/>
                </a:cubicBezTo>
                <a:cubicBezTo>
                  <a:pt x="2198" y="739"/>
                  <a:pt x="2185" y="741"/>
                  <a:pt x="2171" y="741"/>
                </a:cubicBezTo>
                <a:lnTo>
                  <a:pt x="106" y="741"/>
                </a:lnTo>
                <a:cubicBezTo>
                  <a:pt x="92" y="741"/>
                  <a:pt x="79" y="739"/>
                  <a:pt x="66" y="733"/>
                </a:cubicBezTo>
                <a:cubicBezTo>
                  <a:pt x="53" y="728"/>
                  <a:pt x="41" y="720"/>
                  <a:pt x="31" y="710"/>
                </a:cubicBezTo>
                <a:cubicBezTo>
                  <a:pt x="21" y="700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CuadroTexto 630"/>
          <p:cNvSpPr txBox="1"/>
          <p:nvPr/>
        </p:nvSpPr>
        <p:spPr>
          <a:xfrm>
            <a:off x="2932920" y="3287520"/>
            <a:ext cx="1784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(México, EUA) vs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CuadroTexto 631"/>
          <p:cNvSpPr txBox="1"/>
          <p:nvPr/>
        </p:nvSpPr>
        <p:spPr>
          <a:xfrm>
            <a:off x="4774320" y="3324960"/>
            <a:ext cx="705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umol/L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Forma libre 632"/>
          <p:cNvSpPr/>
          <p:nvPr/>
        </p:nvSpPr>
        <p:spPr>
          <a:xfrm>
            <a:off x="914040" y="38001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CuadroTexto 633"/>
          <p:cNvSpPr txBox="1"/>
          <p:nvPr/>
        </p:nvSpPr>
        <p:spPr>
          <a:xfrm>
            <a:off x="5533560" y="3287520"/>
            <a:ext cx="25941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(Europa) —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factor ≈ 88.4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Forma libre 634"/>
          <p:cNvSpPr/>
          <p:nvPr/>
        </p:nvSpPr>
        <p:spPr>
          <a:xfrm>
            <a:off x="1933560" y="3705120"/>
            <a:ext cx="228960" cy="267120"/>
          </a:xfrm>
          <a:custGeom>
            <a:avLst/>
            <a:gdLst/>
            <a:ahLst/>
            <a:cxnLst/>
            <a:rect l="0" t="0" r="r" b="b"/>
            <a:pathLst>
              <a:path w="636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530" y="0"/>
                </a:lnTo>
                <a:cubicBezTo>
                  <a:pt x="544" y="0"/>
                  <a:pt x="557" y="2"/>
                  <a:pt x="570" y="8"/>
                </a:cubicBezTo>
                <a:cubicBezTo>
                  <a:pt x="583" y="13"/>
                  <a:pt x="595" y="21"/>
                  <a:pt x="605" y="31"/>
                </a:cubicBezTo>
                <a:cubicBezTo>
                  <a:pt x="614" y="41"/>
                  <a:pt x="622" y="52"/>
                  <a:pt x="627" y="65"/>
                </a:cubicBezTo>
                <a:cubicBezTo>
                  <a:pt x="633" y="78"/>
                  <a:pt x="636" y="92"/>
                  <a:pt x="636" y="106"/>
                </a:cubicBezTo>
                <a:lnTo>
                  <a:pt x="636" y="636"/>
                </a:lnTo>
                <a:cubicBezTo>
                  <a:pt x="636" y="650"/>
                  <a:pt x="633" y="663"/>
                  <a:pt x="627" y="676"/>
                </a:cubicBezTo>
                <a:cubicBezTo>
                  <a:pt x="622" y="689"/>
                  <a:pt x="614" y="701"/>
                  <a:pt x="605" y="711"/>
                </a:cubicBezTo>
                <a:cubicBezTo>
                  <a:pt x="595" y="721"/>
                  <a:pt x="583" y="728"/>
                  <a:pt x="570" y="734"/>
                </a:cubicBezTo>
                <a:cubicBezTo>
                  <a:pt x="557" y="739"/>
                  <a:pt x="544" y="742"/>
                  <a:pt x="530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8"/>
                  <a:pt x="41" y="721"/>
                  <a:pt x="32" y="711"/>
                </a:cubicBezTo>
                <a:cubicBezTo>
                  <a:pt x="22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CuadroTexto 635"/>
          <p:cNvSpPr txBox="1"/>
          <p:nvPr/>
        </p:nvSpPr>
        <p:spPr>
          <a:xfrm>
            <a:off x="1123920" y="3687480"/>
            <a:ext cx="809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HbA1c: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CuadroTexto 636"/>
          <p:cNvSpPr txBox="1"/>
          <p:nvPr/>
        </p:nvSpPr>
        <p:spPr>
          <a:xfrm>
            <a:off x="1990080" y="3724920"/>
            <a:ext cx="194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%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Forma libre 637"/>
          <p:cNvSpPr/>
          <p:nvPr/>
        </p:nvSpPr>
        <p:spPr>
          <a:xfrm>
            <a:off x="3295440" y="3705120"/>
            <a:ext cx="1057680" cy="267120"/>
          </a:xfrm>
          <a:custGeom>
            <a:avLst/>
            <a:gdLst/>
            <a:ahLst/>
            <a:cxnLst/>
            <a:rect l="0" t="0" r="r" b="b"/>
            <a:pathLst>
              <a:path w="2938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2832" y="0"/>
                </a:lnTo>
                <a:cubicBezTo>
                  <a:pt x="2846" y="0"/>
                  <a:pt x="2860" y="2"/>
                  <a:pt x="2873" y="8"/>
                </a:cubicBezTo>
                <a:cubicBezTo>
                  <a:pt x="2886" y="13"/>
                  <a:pt x="2897" y="21"/>
                  <a:pt x="2907" y="31"/>
                </a:cubicBezTo>
                <a:cubicBezTo>
                  <a:pt x="2917" y="41"/>
                  <a:pt x="2925" y="52"/>
                  <a:pt x="2930" y="65"/>
                </a:cubicBezTo>
                <a:cubicBezTo>
                  <a:pt x="2935" y="78"/>
                  <a:pt x="2938" y="92"/>
                  <a:pt x="2938" y="106"/>
                </a:cubicBezTo>
                <a:lnTo>
                  <a:pt x="2938" y="636"/>
                </a:lnTo>
                <a:cubicBezTo>
                  <a:pt x="2938" y="650"/>
                  <a:pt x="2935" y="663"/>
                  <a:pt x="2930" y="676"/>
                </a:cubicBezTo>
                <a:cubicBezTo>
                  <a:pt x="2925" y="689"/>
                  <a:pt x="2917" y="701"/>
                  <a:pt x="2907" y="711"/>
                </a:cubicBezTo>
                <a:cubicBezTo>
                  <a:pt x="2897" y="721"/>
                  <a:pt x="2886" y="728"/>
                  <a:pt x="2873" y="734"/>
                </a:cubicBezTo>
                <a:cubicBezTo>
                  <a:pt x="2860" y="739"/>
                  <a:pt x="2846" y="742"/>
                  <a:pt x="2832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CuadroTexto 638"/>
          <p:cNvSpPr txBox="1"/>
          <p:nvPr/>
        </p:nvSpPr>
        <p:spPr>
          <a:xfrm>
            <a:off x="2164320" y="3687480"/>
            <a:ext cx="1135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(NGSP) vs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CuadroTexto 639"/>
          <p:cNvSpPr txBox="1"/>
          <p:nvPr/>
        </p:nvSpPr>
        <p:spPr>
          <a:xfrm>
            <a:off x="3356640" y="3724920"/>
            <a:ext cx="940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mmol/mol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CuadroTexto 640"/>
          <p:cNvSpPr txBox="1"/>
          <p:nvPr/>
        </p:nvSpPr>
        <p:spPr>
          <a:xfrm>
            <a:off x="4349880" y="3687480"/>
            <a:ext cx="669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(IFCC)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Forma libre 641"/>
          <p:cNvSpPr/>
          <p:nvPr/>
        </p:nvSpPr>
        <p:spPr>
          <a:xfrm>
            <a:off x="3857400" y="4314600"/>
            <a:ext cx="1876680" cy="267120"/>
          </a:xfrm>
          <a:custGeom>
            <a:avLst/>
            <a:gdLst/>
            <a:ahLst/>
            <a:cxnLst/>
            <a:rect l="0" t="0" r="r" b="b"/>
            <a:pathLst>
              <a:path w="5213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108" y="0"/>
                </a:lnTo>
                <a:cubicBezTo>
                  <a:pt x="5122" y="0"/>
                  <a:pt x="5135" y="3"/>
                  <a:pt x="5148" y="8"/>
                </a:cubicBezTo>
                <a:cubicBezTo>
                  <a:pt x="5161" y="14"/>
                  <a:pt x="5172" y="21"/>
                  <a:pt x="5182" y="31"/>
                </a:cubicBezTo>
                <a:cubicBezTo>
                  <a:pt x="5192" y="41"/>
                  <a:pt x="5200" y="52"/>
                  <a:pt x="5205" y="65"/>
                </a:cubicBezTo>
                <a:cubicBezTo>
                  <a:pt x="5211" y="78"/>
                  <a:pt x="5213" y="92"/>
                  <a:pt x="5213" y="106"/>
                </a:cubicBezTo>
                <a:lnTo>
                  <a:pt x="5213" y="636"/>
                </a:lnTo>
                <a:cubicBezTo>
                  <a:pt x="5213" y="650"/>
                  <a:pt x="5211" y="664"/>
                  <a:pt x="5205" y="677"/>
                </a:cubicBezTo>
                <a:cubicBezTo>
                  <a:pt x="5200" y="690"/>
                  <a:pt x="5192" y="701"/>
                  <a:pt x="5182" y="711"/>
                </a:cubicBezTo>
                <a:cubicBezTo>
                  <a:pt x="5172" y="721"/>
                  <a:pt x="5161" y="729"/>
                  <a:pt x="5148" y="734"/>
                </a:cubicBezTo>
                <a:cubicBezTo>
                  <a:pt x="5135" y="739"/>
                  <a:pt x="5122" y="742"/>
                  <a:pt x="5108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CuadroTexto 642"/>
          <p:cNvSpPr txBox="1"/>
          <p:nvPr/>
        </p:nvSpPr>
        <p:spPr>
          <a:xfrm>
            <a:off x="905040" y="4297320"/>
            <a:ext cx="2960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Antes de promediar cualquier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CuadroTexto 643"/>
          <p:cNvSpPr txBox="1"/>
          <p:nvPr/>
        </p:nvSpPr>
        <p:spPr>
          <a:xfrm>
            <a:off x="3917880" y="4334400"/>
            <a:ext cx="17622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value_as_number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CuadroTexto 644"/>
          <p:cNvSpPr txBox="1"/>
          <p:nvPr/>
        </p:nvSpPr>
        <p:spPr>
          <a:xfrm>
            <a:off x="5729760" y="4297320"/>
            <a:ext cx="5020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,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agrupa por unidad y mira el histograma.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Si 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CuadroTexto 645"/>
          <p:cNvSpPr txBox="1"/>
          <p:nvPr/>
        </p:nvSpPr>
        <p:spPr>
          <a:xfrm>
            <a:off x="905040" y="4640040"/>
            <a:ext cx="2837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bimodal, ya sabes qué pasó.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CuadroTexto 64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CuadroTexto 64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CuadroTexto 64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Forma libre 64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Forma libre 65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Forma libre 65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CuadroTexto 652"/>
          <p:cNvSpPr txBox="1"/>
          <p:nvPr/>
        </p:nvSpPr>
        <p:spPr>
          <a:xfrm>
            <a:off x="2400120" y="3063960"/>
            <a:ext cx="755244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6. Consultas prácticas en OMOP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CuadroTexto 65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CuadroTexto 65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CuadroTexto 655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Forma libre 65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Forma libre 65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Forma libre 65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Forma libre 659"/>
          <p:cNvSpPr/>
          <p:nvPr/>
        </p:nvSpPr>
        <p:spPr>
          <a:xfrm>
            <a:off x="671400" y="1785600"/>
            <a:ext cx="10849320" cy="3210480"/>
          </a:xfrm>
          <a:custGeom>
            <a:avLst/>
            <a:gdLst/>
            <a:ahLst/>
            <a:cxnLst/>
            <a:rect l="0" t="0" r="r" b="b"/>
            <a:pathLst>
              <a:path w="30137" h="8918">
                <a:moveTo>
                  <a:pt x="0" y="8719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1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8719"/>
                </a:lnTo>
                <a:cubicBezTo>
                  <a:pt x="30137" y="8732"/>
                  <a:pt x="30136" y="8745"/>
                  <a:pt x="30133" y="8758"/>
                </a:cubicBezTo>
                <a:cubicBezTo>
                  <a:pt x="30130" y="8771"/>
                  <a:pt x="30127" y="8783"/>
                  <a:pt x="30122" y="8795"/>
                </a:cubicBezTo>
                <a:cubicBezTo>
                  <a:pt x="30117" y="8807"/>
                  <a:pt x="30111" y="8819"/>
                  <a:pt x="30103" y="8830"/>
                </a:cubicBezTo>
                <a:cubicBezTo>
                  <a:pt x="30096" y="8841"/>
                  <a:pt x="30088" y="8851"/>
                  <a:pt x="30079" y="8860"/>
                </a:cubicBezTo>
                <a:cubicBezTo>
                  <a:pt x="30070" y="8869"/>
                  <a:pt x="30059" y="8877"/>
                  <a:pt x="30049" y="8884"/>
                </a:cubicBezTo>
                <a:cubicBezTo>
                  <a:pt x="30038" y="8892"/>
                  <a:pt x="30026" y="8898"/>
                  <a:pt x="30014" y="8903"/>
                </a:cubicBezTo>
                <a:cubicBezTo>
                  <a:pt x="30002" y="8908"/>
                  <a:pt x="29990" y="8912"/>
                  <a:pt x="29977" y="8914"/>
                </a:cubicBezTo>
                <a:cubicBezTo>
                  <a:pt x="29964" y="8917"/>
                  <a:pt x="29951" y="8918"/>
                  <a:pt x="29938" y="8918"/>
                </a:cubicBezTo>
                <a:lnTo>
                  <a:pt x="198" y="8918"/>
                </a:lnTo>
                <a:cubicBezTo>
                  <a:pt x="185" y="8918"/>
                  <a:pt x="172" y="8917"/>
                  <a:pt x="160" y="8914"/>
                </a:cubicBezTo>
                <a:cubicBezTo>
                  <a:pt x="147" y="8912"/>
                  <a:pt x="134" y="8908"/>
                  <a:pt x="122" y="8903"/>
                </a:cubicBezTo>
                <a:cubicBezTo>
                  <a:pt x="110" y="8898"/>
                  <a:pt x="99" y="8892"/>
                  <a:pt x="88" y="8884"/>
                </a:cubicBezTo>
                <a:cubicBezTo>
                  <a:pt x="77" y="8877"/>
                  <a:pt x="67" y="8869"/>
                  <a:pt x="58" y="8860"/>
                </a:cubicBezTo>
                <a:cubicBezTo>
                  <a:pt x="49" y="8851"/>
                  <a:pt x="40" y="8841"/>
                  <a:pt x="33" y="8830"/>
                </a:cubicBezTo>
                <a:cubicBezTo>
                  <a:pt x="26" y="8819"/>
                  <a:pt x="20" y="8807"/>
                  <a:pt x="15" y="8795"/>
                </a:cubicBezTo>
                <a:cubicBezTo>
                  <a:pt x="10" y="8783"/>
                  <a:pt x="6" y="8771"/>
                  <a:pt x="4" y="8758"/>
                </a:cubicBezTo>
                <a:cubicBezTo>
                  <a:pt x="1" y="8745"/>
                  <a:pt x="0" y="8732"/>
                  <a:pt x="0" y="8719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Forma libre 660"/>
          <p:cNvSpPr/>
          <p:nvPr/>
        </p:nvSpPr>
        <p:spPr>
          <a:xfrm>
            <a:off x="671400" y="1785600"/>
            <a:ext cx="10849320" cy="3210480"/>
          </a:xfrm>
          <a:custGeom>
            <a:avLst/>
            <a:gdLst/>
            <a:ahLst/>
            <a:cxnLst/>
            <a:rect l="0" t="0" r="r" b="b"/>
            <a:pathLst>
              <a:path w="30137" h="8918">
                <a:moveTo>
                  <a:pt x="0" y="8719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1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8719"/>
                </a:lnTo>
                <a:cubicBezTo>
                  <a:pt x="30137" y="8732"/>
                  <a:pt x="30136" y="8745"/>
                  <a:pt x="30133" y="8758"/>
                </a:cubicBezTo>
                <a:cubicBezTo>
                  <a:pt x="30130" y="8771"/>
                  <a:pt x="30127" y="8783"/>
                  <a:pt x="30122" y="8795"/>
                </a:cubicBezTo>
                <a:cubicBezTo>
                  <a:pt x="30117" y="8807"/>
                  <a:pt x="30111" y="8819"/>
                  <a:pt x="30103" y="8830"/>
                </a:cubicBezTo>
                <a:cubicBezTo>
                  <a:pt x="30096" y="8841"/>
                  <a:pt x="30088" y="8851"/>
                  <a:pt x="30079" y="8860"/>
                </a:cubicBezTo>
                <a:cubicBezTo>
                  <a:pt x="30070" y="8869"/>
                  <a:pt x="30059" y="8877"/>
                  <a:pt x="30049" y="8884"/>
                </a:cubicBezTo>
                <a:cubicBezTo>
                  <a:pt x="30038" y="8892"/>
                  <a:pt x="30026" y="8898"/>
                  <a:pt x="30014" y="8903"/>
                </a:cubicBezTo>
                <a:cubicBezTo>
                  <a:pt x="30002" y="8908"/>
                  <a:pt x="29990" y="8912"/>
                  <a:pt x="29977" y="8914"/>
                </a:cubicBezTo>
                <a:cubicBezTo>
                  <a:pt x="29964" y="8917"/>
                  <a:pt x="29951" y="8918"/>
                  <a:pt x="29938" y="8918"/>
                </a:cubicBezTo>
                <a:lnTo>
                  <a:pt x="198" y="8918"/>
                </a:lnTo>
                <a:cubicBezTo>
                  <a:pt x="185" y="8918"/>
                  <a:pt x="172" y="8917"/>
                  <a:pt x="160" y="8914"/>
                </a:cubicBezTo>
                <a:cubicBezTo>
                  <a:pt x="147" y="8912"/>
                  <a:pt x="134" y="8908"/>
                  <a:pt x="122" y="8903"/>
                </a:cubicBezTo>
                <a:cubicBezTo>
                  <a:pt x="110" y="8898"/>
                  <a:pt x="99" y="8892"/>
                  <a:pt x="88" y="8884"/>
                </a:cubicBezTo>
                <a:cubicBezTo>
                  <a:pt x="77" y="8877"/>
                  <a:pt x="67" y="8869"/>
                  <a:pt x="58" y="8860"/>
                </a:cubicBezTo>
                <a:cubicBezTo>
                  <a:pt x="49" y="8851"/>
                  <a:pt x="40" y="8841"/>
                  <a:pt x="33" y="8830"/>
                </a:cubicBezTo>
                <a:cubicBezTo>
                  <a:pt x="26" y="8819"/>
                  <a:pt x="20" y="8807"/>
                  <a:pt x="15" y="8795"/>
                </a:cubicBezTo>
                <a:cubicBezTo>
                  <a:pt x="10" y="8783"/>
                  <a:pt x="6" y="8771"/>
                  <a:pt x="4" y="8758"/>
                </a:cubicBezTo>
                <a:cubicBezTo>
                  <a:pt x="1" y="8745"/>
                  <a:pt x="0" y="8732"/>
                  <a:pt x="0" y="871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Forma libre 661"/>
          <p:cNvSpPr/>
          <p:nvPr/>
        </p:nvSpPr>
        <p:spPr>
          <a:xfrm>
            <a:off x="666720" y="5152680"/>
            <a:ext cx="10858680" cy="572040"/>
          </a:xfrm>
          <a:custGeom>
            <a:avLst/>
            <a:gdLst/>
            <a:ahLst/>
            <a:cxnLst/>
            <a:rect l="0" t="0" r="r" b="b"/>
            <a:pathLst>
              <a:path w="30163" h="1589">
                <a:moveTo>
                  <a:pt x="0" y="0"/>
                </a:moveTo>
                <a:lnTo>
                  <a:pt x="30163" y="0"/>
                </a:lnTo>
                <a:lnTo>
                  <a:pt x="3016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Forma libre 662"/>
          <p:cNvSpPr/>
          <p:nvPr/>
        </p:nvSpPr>
        <p:spPr>
          <a:xfrm>
            <a:off x="666720" y="5152680"/>
            <a:ext cx="47880" cy="572040"/>
          </a:xfrm>
          <a:custGeom>
            <a:avLst/>
            <a:gdLst/>
            <a:ahLst/>
            <a:cxnLst/>
            <a:rect l="0" t="0" r="r" b="b"/>
            <a:pathLst>
              <a:path w="133" h="1589">
                <a:moveTo>
                  <a:pt x="0" y="0"/>
                </a:moveTo>
                <a:lnTo>
                  <a:pt x="133" y="0"/>
                </a:lnTo>
                <a:lnTo>
                  <a:pt x="13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CuadroTexto 663"/>
          <p:cNvSpPr txBox="1"/>
          <p:nvPr/>
        </p:nvSpPr>
        <p:spPr>
          <a:xfrm>
            <a:off x="666720" y="1149120"/>
            <a:ext cx="48409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Los cuatro patrones que necesitas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CuadroTexto 664"/>
          <p:cNvSpPr txBox="1"/>
          <p:nvPr/>
        </p:nvSpPr>
        <p:spPr>
          <a:xfrm>
            <a:off x="866880" y="1965600"/>
            <a:ext cx="37130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1. De un producto a su ingrediente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CuadroTexto 665"/>
          <p:cNvSpPr txBox="1"/>
          <p:nvPr/>
        </p:nvSpPr>
        <p:spPr>
          <a:xfrm>
            <a:off x="866880" y="2232360"/>
            <a:ext cx="84081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DRUG_EXPOSURE → CONCEPT_ANCESTOR → CONCEPT (concept_class_id='Ingredient')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CuadroTexto 666"/>
          <p:cNvSpPr txBox="1"/>
          <p:nvPr/>
        </p:nvSpPr>
        <p:spPr>
          <a:xfrm>
            <a:off x="866880" y="2756160"/>
            <a:ext cx="4149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2. De una clase ATC a sus ingredientes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CuadroTexto 667"/>
          <p:cNvSpPr txBox="1"/>
          <p:nvPr/>
        </p:nvSpPr>
        <p:spPr>
          <a:xfrm>
            <a:off x="866880" y="3013560"/>
            <a:ext cx="7206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CONCEPT (vocabulary_id='ATC') → CONCEPT_ANCESTOR → ingredientes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CuadroTexto 668"/>
          <p:cNvSpPr txBox="1"/>
          <p:nvPr/>
        </p:nvSpPr>
        <p:spPr>
          <a:xfrm>
            <a:off x="866880" y="3537360"/>
            <a:ext cx="5023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3. De un ingrediente a todo lo que se dispensó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CuadroTexto 669"/>
          <p:cNvSpPr txBox="1"/>
          <p:nvPr/>
        </p:nvSpPr>
        <p:spPr>
          <a:xfrm>
            <a:off x="866880" y="3804120"/>
            <a:ext cx="78620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ingrediente → CONCEPT_ANCESTOR → todos los drug_concept_id de la base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CuadroTexto 670"/>
          <p:cNvSpPr txBox="1"/>
          <p:nvPr/>
        </p:nvSpPr>
        <p:spPr>
          <a:xfrm>
            <a:off x="866880" y="4327920"/>
            <a:ext cx="26211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4. Auditoría de unidades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CuadroTexto 671"/>
          <p:cNvSpPr txBox="1"/>
          <p:nvPr/>
        </p:nvSpPr>
        <p:spPr>
          <a:xfrm>
            <a:off x="866880" y="4584960"/>
            <a:ext cx="75344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MEASUREMENT × unit_concept_id, agrupado por measurement_concept_id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Forma libre 672"/>
          <p:cNvSpPr/>
          <p:nvPr/>
        </p:nvSpPr>
        <p:spPr>
          <a:xfrm>
            <a:off x="3076560" y="5324400"/>
            <a:ext cx="1981440" cy="267120"/>
          </a:xfrm>
          <a:custGeom>
            <a:avLst/>
            <a:gdLst/>
            <a:ahLst/>
            <a:cxnLst/>
            <a:rect l="0" t="0" r="r" b="b"/>
            <a:pathLst>
              <a:path w="5504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0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5398" y="0"/>
                </a:lnTo>
                <a:cubicBezTo>
                  <a:pt x="5412" y="0"/>
                  <a:pt x="5426" y="2"/>
                  <a:pt x="5439" y="8"/>
                </a:cubicBezTo>
                <a:cubicBezTo>
                  <a:pt x="5452" y="13"/>
                  <a:pt x="5463" y="21"/>
                  <a:pt x="5473" y="31"/>
                </a:cubicBezTo>
                <a:cubicBezTo>
                  <a:pt x="5483" y="41"/>
                  <a:pt x="5490" y="52"/>
                  <a:pt x="5496" y="65"/>
                </a:cubicBezTo>
                <a:cubicBezTo>
                  <a:pt x="5501" y="78"/>
                  <a:pt x="5504" y="92"/>
                  <a:pt x="5504" y="106"/>
                </a:cubicBezTo>
                <a:lnTo>
                  <a:pt x="5504" y="636"/>
                </a:lnTo>
                <a:cubicBezTo>
                  <a:pt x="5504" y="650"/>
                  <a:pt x="5501" y="663"/>
                  <a:pt x="5496" y="676"/>
                </a:cubicBezTo>
                <a:cubicBezTo>
                  <a:pt x="5490" y="689"/>
                  <a:pt x="5483" y="701"/>
                  <a:pt x="5473" y="711"/>
                </a:cubicBezTo>
                <a:cubicBezTo>
                  <a:pt x="5463" y="720"/>
                  <a:pt x="5452" y="728"/>
                  <a:pt x="5439" y="733"/>
                </a:cubicBezTo>
                <a:cubicBezTo>
                  <a:pt x="5426" y="739"/>
                  <a:pt x="5412" y="742"/>
                  <a:pt x="5398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3"/>
                </a:cubicBezTo>
                <a:cubicBezTo>
                  <a:pt x="52" y="728"/>
                  <a:pt x="40" y="720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CuadroTexto 673"/>
          <p:cNvSpPr txBox="1"/>
          <p:nvPr/>
        </p:nvSpPr>
        <p:spPr>
          <a:xfrm>
            <a:off x="905040" y="5306760"/>
            <a:ext cx="2172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Los cuatro pasan por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CuadroTexto 674"/>
          <p:cNvSpPr txBox="1"/>
          <p:nvPr/>
        </p:nvSpPr>
        <p:spPr>
          <a:xfrm>
            <a:off x="3130200" y="5344200"/>
            <a:ext cx="18799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CONCEPT_ANCESTOR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CuadroTexto 675"/>
          <p:cNvSpPr txBox="1"/>
          <p:nvPr/>
        </p:nvSpPr>
        <p:spPr>
          <a:xfrm>
            <a:off x="5059440" y="5306760"/>
            <a:ext cx="6169959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. La próxima sesión 16 explicamos </a:t>
            </a:r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por qué</a:t>
            </a:r>
            <a:r>
              <a:rPr lang="es-ES" sz="1800" b="0" u="none" strike="noStrike" dirty="0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esa tabla existe.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CuadroTexto 67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CuadroTexto 67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CuadroTexto 67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Forma libre 69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Forma libre 70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Forma libre 70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CuadroTexto 702"/>
          <p:cNvSpPr txBox="1"/>
          <p:nvPr/>
        </p:nvSpPr>
        <p:spPr>
          <a:xfrm>
            <a:off x="752040" y="2730600"/>
            <a:ext cx="1093932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7. Cuando tu catálogo local no existe en ningún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CuadroTexto 703"/>
          <p:cNvSpPr txBox="1"/>
          <p:nvPr/>
        </p:nvSpPr>
        <p:spPr>
          <a:xfrm>
            <a:off x="5114520" y="3397320"/>
            <a:ext cx="20062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estándar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CuadroTexto 70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CuadroTexto 70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CuadroTexto 706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Forma libre 70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Forma libre 70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Forma libre 70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Forma libre 710"/>
          <p:cNvSpPr/>
          <p:nvPr/>
        </p:nvSpPr>
        <p:spPr>
          <a:xfrm>
            <a:off x="671400" y="1861920"/>
            <a:ext cx="10849320" cy="581400"/>
          </a:xfrm>
          <a:custGeom>
            <a:avLst/>
            <a:gdLst/>
            <a:ahLst/>
            <a:cxnLst/>
            <a:rect l="0" t="0" r="r" b="b"/>
            <a:pathLst>
              <a:path w="30137" h="1615">
                <a:moveTo>
                  <a:pt x="0" y="1417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1417"/>
                </a:lnTo>
                <a:cubicBezTo>
                  <a:pt x="30137" y="1430"/>
                  <a:pt x="30136" y="1443"/>
                  <a:pt x="30133" y="1455"/>
                </a:cubicBezTo>
                <a:cubicBezTo>
                  <a:pt x="30130" y="1468"/>
                  <a:pt x="30127" y="1481"/>
                  <a:pt x="30122" y="1493"/>
                </a:cubicBezTo>
                <a:cubicBezTo>
                  <a:pt x="30117" y="1505"/>
                  <a:pt x="30111" y="1516"/>
                  <a:pt x="30103" y="1527"/>
                </a:cubicBezTo>
                <a:cubicBezTo>
                  <a:pt x="30096" y="1538"/>
                  <a:pt x="30088" y="1548"/>
                  <a:pt x="30079" y="1557"/>
                </a:cubicBezTo>
                <a:cubicBezTo>
                  <a:pt x="30070" y="1566"/>
                  <a:pt x="30059" y="1574"/>
                  <a:pt x="30049" y="1582"/>
                </a:cubicBezTo>
                <a:cubicBezTo>
                  <a:pt x="30038" y="1589"/>
                  <a:pt x="30026" y="1595"/>
                  <a:pt x="30014" y="1600"/>
                </a:cubicBezTo>
                <a:cubicBezTo>
                  <a:pt x="30002" y="1605"/>
                  <a:pt x="29990" y="1609"/>
                  <a:pt x="29977" y="1611"/>
                </a:cubicBezTo>
                <a:cubicBezTo>
                  <a:pt x="29964" y="1614"/>
                  <a:pt x="29951" y="1615"/>
                  <a:pt x="29938" y="1615"/>
                </a:cubicBezTo>
                <a:lnTo>
                  <a:pt x="198" y="1615"/>
                </a:lnTo>
                <a:cubicBezTo>
                  <a:pt x="185" y="1615"/>
                  <a:pt x="172" y="1614"/>
                  <a:pt x="160" y="1611"/>
                </a:cubicBezTo>
                <a:cubicBezTo>
                  <a:pt x="147" y="1609"/>
                  <a:pt x="134" y="1605"/>
                  <a:pt x="122" y="1600"/>
                </a:cubicBezTo>
                <a:cubicBezTo>
                  <a:pt x="110" y="1595"/>
                  <a:pt x="99" y="1589"/>
                  <a:pt x="88" y="1582"/>
                </a:cubicBezTo>
                <a:cubicBezTo>
                  <a:pt x="77" y="1574"/>
                  <a:pt x="67" y="1566"/>
                  <a:pt x="58" y="1557"/>
                </a:cubicBezTo>
                <a:cubicBezTo>
                  <a:pt x="49" y="1548"/>
                  <a:pt x="40" y="1538"/>
                  <a:pt x="33" y="1527"/>
                </a:cubicBezTo>
                <a:cubicBezTo>
                  <a:pt x="26" y="1516"/>
                  <a:pt x="20" y="1505"/>
                  <a:pt x="15" y="1493"/>
                </a:cubicBezTo>
                <a:cubicBezTo>
                  <a:pt x="10" y="1481"/>
                  <a:pt x="6" y="1468"/>
                  <a:pt x="4" y="1455"/>
                </a:cubicBezTo>
                <a:cubicBezTo>
                  <a:pt x="1" y="1443"/>
                  <a:pt x="0" y="1430"/>
                  <a:pt x="0" y="141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Forma libre 711"/>
          <p:cNvSpPr/>
          <p:nvPr/>
        </p:nvSpPr>
        <p:spPr>
          <a:xfrm>
            <a:off x="671400" y="1861920"/>
            <a:ext cx="10849320" cy="581400"/>
          </a:xfrm>
          <a:custGeom>
            <a:avLst/>
            <a:gdLst/>
            <a:ahLst/>
            <a:cxnLst/>
            <a:rect l="0" t="0" r="r" b="b"/>
            <a:pathLst>
              <a:path w="30137" h="1615">
                <a:moveTo>
                  <a:pt x="0" y="1417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1417"/>
                </a:lnTo>
                <a:cubicBezTo>
                  <a:pt x="30137" y="1430"/>
                  <a:pt x="30136" y="1443"/>
                  <a:pt x="30133" y="1455"/>
                </a:cubicBezTo>
                <a:cubicBezTo>
                  <a:pt x="30130" y="1468"/>
                  <a:pt x="30127" y="1481"/>
                  <a:pt x="30122" y="1493"/>
                </a:cubicBezTo>
                <a:cubicBezTo>
                  <a:pt x="30117" y="1505"/>
                  <a:pt x="30111" y="1516"/>
                  <a:pt x="30103" y="1527"/>
                </a:cubicBezTo>
                <a:cubicBezTo>
                  <a:pt x="30096" y="1538"/>
                  <a:pt x="30088" y="1548"/>
                  <a:pt x="30079" y="1557"/>
                </a:cubicBezTo>
                <a:cubicBezTo>
                  <a:pt x="30070" y="1566"/>
                  <a:pt x="30059" y="1574"/>
                  <a:pt x="30049" y="1582"/>
                </a:cubicBezTo>
                <a:cubicBezTo>
                  <a:pt x="30038" y="1589"/>
                  <a:pt x="30026" y="1595"/>
                  <a:pt x="30014" y="1600"/>
                </a:cubicBezTo>
                <a:cubicBezTo>
                  <a:pt x="30002" y="1605"/>
                  <a:pt x="29990" y="1609"/>
                  <a:pt x="29977" y="1611"/>
                </a:cubicBezTo>
                <a:cubicBezTo>
                  <a:pt x="29964" y="1614"/>
                  <a:pt x="29951" y="1615"/>
                  <a:pt x="29938" y="1615"/>
                </a:cubicBezTo>
                <a:lnTo>
                  <a:pt x="198" y="1615"/>
                </a:lnTo>
                <a:cubicBezTo>
                  <a:pt x="185" y="1615"/>
                  <a:pt x="172" y="1614"/>
                  <a:pt x="160" y="1611"/>
                </a:cubicBezTo>
                <a:cubicBezTo>
                  <a:pt x="147" y="1609"/>
                  <a:pt x="134" y="1605"/>
                  <a:pt x="122" y="1600"/>
                </a:cubicBezTo>
                <a:cubicBezTo>
                  <a:pt x="110" y="1595"/>
                  <a:pt x="99" y="1589"/>
                  <a:pt x="88" y="1582"/>
                </a:cubicBezTo>
                <a:cubicBezTo>
                  <a:pt x="77" y="1574"/>
                  <a:pt x="67" y="1566"/>
                  <a:pt x="58" y="1557"/>
                </a:cubicBezTo>
                <a:cubicBezTo>
                  <a:pt x="49" y="1548"/>
                  <a:pt x="40" y="1538"/>
                  <a:pt x="33" y="1527"/>
                </a:cubicBezTo>
                <a:cubicBezTo>
                  <a:pt x="26" y="1516"/>
                  <a:pt x="20" y="1505"/>
                  <a:pt x="15" y="1493"/>
                </a:cubicBezTo>
                <a:cubicBezTo>
                  <a:pt x="10" y="1481"/>
                  <a:pt x="6" y="1468"/>
                  <a:pt x="4" y="1455"/>
                </a:cubicBezTo>
                <a:cubicBezTo>
                  <a:pt x="1" y="1443"/>
                  <a:pt x="0" y="1430"/>
                  <a:pt x="0" y="141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CuadroTexto 712"/>
          <p:cNvSpPr txBox="1"/>
          <p:nvPr/>
        </p:nvSpPr>
        <p:spPr>
          <a:xfrm>
            <a:off x="4897800" y="730080"/>
            <a:ext cx="24541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D9822B"/>
                </a:solidFill>
                <a:effectLst/>
                <a:uFillTx/>
                <a:latin typeface="HelveticaNeue"/>
                <a:ea typeface="HelveticaNeue"/>
              </a:rPr>
              <a:t>El caso mexicano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CuadroTexto 713"/>
          <p:cNvSpPr txBox="1"/>
          <p:nvPr/>
        </p:nvSpPr>
        <p:spPr>
          <a:xfrm>
            <a:off x="2811960" y="1401480"/>
            <a:ext cx="6572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Un catálogo de farmacia hospitalaria mexicano trae claves propias: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CuadroTexto 714"/>
          <p:cNvSpPr txBox="1"/>
          <p:nvPr/>
        </p:nvSpPr>
        <p:spPr>
          <a:xfrm>
            <a:off x="2500200" y="2041920"/>
            <a:ext cx="7206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010.000.1042.00   METFORMINA TABLETA 850 MG   (Cuadro Básico, CSG)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CuadroTexto 715"/>
          <p:cNvSpPr txBox="1"/>
          <p:nvPr/>
        </p:nvSpPr>
        <p:spPr>
          <a:xfrm>
            <a:off x="2965680" y="2639880"/>
            <a:ext cx="6297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Eso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no</a:t>
            </a:r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 es un RxCUI, ni un ATC, ni un código de nada estándar.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CuadroTexto 716"/>
          <p:cNvSpPr txBox="1"/>
          <p:nvPr/>
        </p:nvSpPr>
        <p:spPr>
          <a:xfrm>
            <a:off x="5386680" y="3135240"/>
            <a:ext cx="1419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Qué se hace: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CuadroTexto 717"/>
          <p:cNvSpPr txBox="1"/>
          <p:nvPr/>
        </p:nvSpPr>
        <p:spPr>
          <a:xfrm>
            <a:off x="869760" y="3630600"/>
            <a:ext cx="254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1.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CuadroTexto 718"/>
          <p:cNvSpPr txBox="1"/>
          <p:nvPr/>
        </p:nvSpPr>
        <p:spPr>
          <a:xfrm>
            <a:off x="3627000" y="3630600"/>
            <a:ext cx="5399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Normalizar el texto (mayúsculas, acentos, abreviaturas)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CuadroTexto 719"/>
          <p:cNvSpPr txBox="1"/>
          <p:nvPr/>
        </p:nvSpPr>
        <p:spPr>
          <a:xfrm>
            <a:off x="869760" y="4030560"/>
            <a:ext cx="254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CuadroTexto 720"/>
          <p:cNvSpPr txBox="1"/>
          <p:nvPr/>
        </p:nvSpPr>
        <p:spPr>
          <a:xfrm>
            <a:off x="3129120" y="4030560"/>
            <a:ext cx="6411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Usagi</a:t>
            </a:r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 propone candidatos por similitud de texto contra ATHENA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CuadroTexto 721"/>
          <p:cNvSpPr txBox="1"/>
          <p:nvPr/>
        </p:nvSpPr>
        <p:spPr>
          <a:xfrm>
            <a:off x="869760" y="4430520"/>
            <a:ext cx="254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CuadroTexto 722"/>
          <p:cNvSpPr txBox="1"/>
          <p:nvPr/>
        </p:nvSpPr>
        <p:spPr>
          <a:xfrm>
            <a:off x="2918160" y="4430520"/>
            <a:ext cx="68176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Un humano con criterio clínico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acepta, corrige o rechaza</a:t>
            </a:r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 cada uno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CuadroTexto 723"/>
          <p:cNvSpPr txBox="1"/>
          <p:nvPr/>
        </p:nvSpPr>
        <p:spPr>
          <a:xfrm>
            <a:off x="869760" y="4830480"/>
            <a:ext cx="254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4.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Forma libre 724"/>
          <p:cNvSpPr/>
          <p:nvPr/>
        </p:nvSpPr>
        <p:spPr>
          <a:xfrm>
            <a:off x="5762520" y="4848120"/>
            <a:ext cx="2572200" cy="267120"/>
          </a:xfrm>
          <a:custGeom>
            <a:avLst/>
            <a:gdLst/>
            <a:ahLst/>
            <a:cxnLst/>
            <a:rect l="0" t="0" r="r" b="b"/>
            <a:pathLst>
              <a:path w="7145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7039" y="0"/>
                </a:lnTo>
                <a:cubicBezTo>
                  <a:pt x="7053" y="0"/>
                  <a:pt x="7066" y="2"/>
                  <a:pt x="7079" y="8"/>
                </a:cubicBezTo>
                <a:cubicBezTo>
                  <a:pt x="7092" y="13"/>
                  <a:pt x="7104" y="21"/>
                  <a:pt x="7114" y="31"/>
                </a:cubicBezTo>
                <a:cubicBezTo>
                  <a:pt x="7123" y="41"/>
                  <a:pt x="7131" y="52"/>
                  <a:pt x="7136" y="65"/>
                </a:cubicBezTo>
                <a:cubicBezTo>
                  <a:pt x="7142" y="78"/>
                  <a:pt x="7145" y="92"/>
                  <a:pt x="7145" y="106"/>
                </a:cubicBezTo>
                <a:lnTo>
                  <a:pt x="7145" y="636"/>
                </a:lnTo>
                <a:cubicBezTo>
                  <a:pt x="7145" y="650"/>
                  <a:pt x="7142" y="663"/>
                  <a:pt x="7136" y="676"/>
                </a:cubicBezTo>
                <a:cubicBezTo>
                  <a:pt x="7131" y="689"/>
                  <a:pt x="7123" y="701"/>
                  <a:pt x="7114" y="711"/>
                </a:cubicBezTo>
                <a:cubicBezTo>
                  <a:pt x="7104" y="721"/>
                  <a:pt x="7092" y="728"/>
                  <a:pt x="7079" y="734"/>
                </a:cubicBezTo>
                <a:cubicBezTo>
                  <a:pt x="7066" y="739"/>
                  <a:pt x="7053" y="742"/>
                  <a:pt x="7039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CuadroTexto 725"/>
          <p:cNvSpPr txBox="1"/>
          <p:nvPr/>
        </p:nvSpPr>
        <p:spPr>
          <a:xfrm>
            <a:off x="3110040" y="4830480"/>
            <a:ext cx="2660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Lo aceptado se guarda en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CuadroTexto 726"/>
          <p:cNvSpPr txBox="1"/>
          <p:nvPr/>
        </p:nvSpPr>
        <p:spPr>
          <a:xfrm>
            <a:off x="5822640" y="4867920"/>
            <a:ext cx="24670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SOURCE_TO_CONCEPT_MAP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CuadroTexto 727"/>
          <p:cNvSpPr txBox="1"/>
          <p:nvPr/>
        </p:nvSpPr>
        <p:spPr>
          <a:xfrm>
            <a:off x="8336520" y="4830480"/>
            <a:ext cx="1203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, versionado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CuadroTexto 72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CuadroTexto 73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CuadroTexto 73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Forma libre 69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Forma libre 70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Forma libre 70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CuadroTexto 70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CuadroTexto 70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CuadroTexto 706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F683C4E-77D9-F260-909C-D5169DE191B8}"/>
              </a:ext>
            </a:extLst>
          </p:cNvPr>
          <p:cNvSpPr txBox="1"/>
          <p:nvPr/>
        </p:nvSpPr>
        <p:spPr>
          <a:xfrm>
            <a:off x="1417510" y="3113460"/>
            <a:ext cx="8521564" cy="6463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 dirty="0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8. Concept sets de fármacos y </a:t>
            </a:r>
            <a:r>
              <a:rPr lang="es-ES" sz="4200" dirty="0" err="1">
                <a:solidFill>
                  <a:srgbClr val="FFFFFF"/>
                </a:solidFill>
                <a:latin typeface="HelveticaNeue"/>
                <a:ea typeface="HelveticaNeue"/>
              </a:rPr>
              <a:t>labs</a:t>
            </a:r>
            <a:endParaRPr lang="es-ES" sz="4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607787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Forma libre 73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Forma libre 73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Forma libre 73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CuadroTexto 735"/>
          <p:cNvSpPr txBox="1"/>
          <p:nvPr/>
        </p:nvSpPr>
        <p:spPr>
          <a:xfrm>
            <a:off x="666720" y="1206000"/>
            <a:ext cx="16783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Dos recetas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CuadroTexto 736"/>
          <p:cNvSpPr txBox="1"/>
          <p:nvPr/>
        </p:nvSpPr>
        <p:spPr>
          <a:xfrm>
            <a:off x="666720" y="1877760"/>
            <a:ext cx="29160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«Exposición a metformina»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Forma libre 737"/>
          <p:cNvSpPr/>
          <p:nvPr/>
        </p:nvSpPr>
        <p:spPr>
          <a:xfrm>
            <a:off x="2276280" y="2390760"/>
            <a:ext cx="1162440" cy="266760"/>
          </a:xfrm>
          <a:custGeom>
            <a:avLst/>
            <a:gdLst/>
            <a:ahLst/>
            <a:cxnLst/>
            <a:rect l="0" t="0" r="r" b="b"/>
            <a:pathLst>
              <a:path w="3229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3123" y="0"/>
                </a:lnTo>
                <a:cubicBezTo>
                  <a:pt x="3137" y="0"/>
                  <a:pt x="3151" y="2"/>
                  <a:pt x="3164" y="8"/>
                </a:cubicBezTo>
                <a:cubicBezTo>
                  <a:pt x="3177" y="13"/>
                  <a:pt x="3188" y="21"/>
                  <a:pt x="3198" y="31"/>
                </a:cubicBezTo>
                <a:cubicBezTo>
                  <a:pt x="3208" y="40"/>
                  <a:pt x="3216" y="52"/>
                  <a:pt x="3221" y="65"/>
                </a:cubicBezTo>
                <a:cubicBezTo>
                  <a:pt x="3226" y="78"/>
                  <a:pt x="3229" y="91"/>
                  <a:pt x="3229" y="105"/>
                </a:cubicBezTo>
                <a:lnTo>
                  <a:pt x="3229" y="636"/>
                </a:lnTo>
                <a:cubicBezTo>
                  <a:pt x="3229" y="650"/>
                  <a:pt x="3226" y="663"/>
                  <a:pt x="3221" y="676"/>
                </a:cubicBezTo>
                <a:cubicBezTo>
                  <a:pt x="3216" y="689"/>
                  <a:pt x="3208" y="700"/>
                  <a:pt x="3198" y="710"/>
                </a:cubicBezTo>
                <a:cubicBezTo>
                  <a:pt x="3188" y="720"/>
                  <a:pt x="3177" y="728"/>
                  <a:pt x="3164" y="733"/>
                </a:cubicBezTo>
                <a:cubicBezTo>
                  <a:pt x="3151" y="739"/>
                  <a:pt x="3137" y="741"/>
                  <a:pt x="3123" y="741"/>
                </a:cubicBezTo>
                <a:lnTo>
                  <a:pt x="106" y="741"/>
                </a:lnTo>
                <a:cubicBezTo>
                  <a:pt x="92" y="741"/>
                  <a:pt x="78" y="739"/>
                  <a:pt x="65" y="733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700"/>
                  <a:pt x="13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CuadroTexto 738"/>
          <p:cNvSpPr txBox="1"/>
          <p:nvPr/>
        </p:nvSpPr>
        <p:spPr>
          <a:xfrm>
            <a:off x="869760" y="2373120"/>
            <a:ext cx="1410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Ingrediente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CuadroTexto 739"/>
          <p:cNvSpPr txBox="1"/>
          <p:nvPr/>
        </p:nvSpPr>
        <p:spPr>
          <a:xfrm>
            <a:off x="2333160" y="2410560"/>
            <a:ext cx="1057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metformin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CuadroTexto 740"/>
          <p:cNvSpPr txBox="1"/>
          <p:nvPr/>
        </p:nvSpPr>
        <p:spPr>
          <a:xfrm>
            <a:off x="3443040" y="2373120"/>
            <a:ext cx="1355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como semilla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Forma libre 741"/>
          <p:cNvSpPr/>
          <p:nvPr/>
        </p:nvSpPr>
        <p:spPr>
          <a:xfrm>
            <a:off x="4114440" y="2790720"/>
            <a:ext cx="1991160" cy="267120"/>
          </a:xfrm>
          <a:custGeom>
            <a:avLst/>
            <a:gdLst/>
            <a:ahLst/>
            <a:cxnLst/>
            <a:rect l="0" t="0" r="r" b="b"/>
            <a:pathLst>
              <a:path w="5531" h="742">
                <a:moveTo>
                  <a:pt x="0" y="636"/>
                </a:moveTo>
                <a:lnTo>
                  <a:pt x="0" y="107"/>
                </a:ln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2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5425" y="0"/>
                </a:lnTo>
                <a:cubicBezTo>
                  <a:pt x="5439" y="0"/>
                  <a:pt x="5453" y="2"/>
                  <a:pt x="5466" y="8"/>
                </a:cubicBezTo>
                <a:cubicBezTo>
                  <a:pt x="5479" y="13"/>
                  <a:pt x="5490" y="22"/>
                  <a:pt x="5500" y="32"/>
                </a:cubicBezTo>
                <a:cubicBezTo>
                  <a:pt x="5510" y="42"/>
                  <a:pt x="5518" y="53"/>
                  <a:pt x="5523" y="66"/>
                </a:cubicBezTo>
                <a:cubicBezTo>
                  <a:pt x="5529" y="79"/>
                  <a:pt x="5531" y="93"/>
                  <a:pt x="5531" y="107"/>
                </a:cubicBezTo>
                <a:lnTo>
                  <a:pt x="5531" y="636"/>
                </a:lnTo>
                <a:cubicBezTo>
                  <a:pt x="5531" y="650"/>
                  <a:pt x="5529" y="663"/>
                  <a:pt x="5523" y="676"/>
                </a:cubicBezTo>
                <a:cubicBezTo>
                  <a:pt x="5518" y="689"/>
                  <a:pt x="5510" y="701"/>
                  <a:pt x="5500" y="711"/>
                </a:cubicBezTo>
                <a:cubicBezTo>
                  <a:pt x="5490" y="721"/>
                  <a:pt x="5479" y="728"/>
                  <a:pt x="5466" y="734"/>
                </a:cubicBezTo>
                <a:cubicBezTo>
                  <a:pt x="5453" y="739"/>
                  <a:pt x="5439" y="742"/>
                  <a:pt x="5425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8"/>
                  <a:pt x="41" y="721"/>
                  <a:pt x="31" y="711"/>
                </a:cubicBezTo>
                <a:cubicBezTo>
                  <a:pt x="22" y="701"/>
                  <a:pt x="14" y="689"/>
                  <a:pt x="9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CuadroTexto 742"/>
          <p:cNvSpPr txBox="1"/>
          <p:nvPr/>
        </p:nvSpPr>
        <p:spPr>
          <a:xfrm>
            <a:off x="869760" y="2773080"/>
            <a:ext cx="3273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Todos sus descendientes con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CuadroTexto 743"/>
          <p:cNvSpPr txBox="1"/>
          <p:nvPr/>
        </p:nvSpPr>
        <p:spPr>
          <a:xfrm>
            <a:off x="4174560" y="2810520"/>
            <a:ext cx="18799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CONCEPT_ANCESTOR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CuadroTexto 744"/>
          <p:cNvSpPr txBox="1"/>
          <p:nvPr/>
        </p:nvSpPr>
        <p:spPr>
          <a:xfrm>
            <a:off x="869760" y="3173400"/>
            <a:ext cx="4997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Decide explícitamente: ¿combinaciones sí o no?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Forma libre 745"/>
          <p:cNvSpPr/>
          <p:nvPr/>
        </p:nvSpPr>
        <p:spPr>
          <a:xfrm>
            <a:off x="2733480" y="3590640"/>
            <a:ext cx="1867320" cy="267120"/>
          </a:xfrm>
          <a:custGeom>
            <a:avLst/>
            <a:gdLst/>
            <a:ahLst/>
            <a:cxnLst/>
            <a:rect l="0" t="0" r="r" b="b"/>
            <a:pathLst>
              <a:path w="5187" h="742">
                <a:moveTo>
                  <a:pt x="0" y="636"/>
                </a:moveTo>
                <a:lnTo>
                  <a:pt x="0" y="107"/>
                </a:lnTo>
                <a:cubicBezTo>
                  <a:pt x="0" y="93"/>
                  <a:pt x="3" y="80"/>
                  <a:pt x="8" y="67"/>
                </a:cubicBezTo>
                <a:cubicBezTo>
                  <a:pt x="13" y="54"/>
                  <a:pt x="21" y="42"/>
                  <a:pt x="31" y="32"/>
                </a:cubicBezTo>
                <a:cubicBezTo>
                  <a:pt x="41" y="22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081" y="0"/>
                </a:lnTo>
                <a:cubicBezTo>
                  <a:pt x="5095" y="0"/>
                  <a:pt x="5109" y="3"/>
                  <a:pt x="5122" y="8"/>
                </a:cubicBezTo>
                <a:cubicBezTo>
                  <a:pt x="5135" y="14"/>
                  <a:pt x="5146" y="22"/>
                  <a:pt x="5156" y="32"/>
                </a:cubicBezTo>
                <a:cubicBezTo>
                  <a:pt x="5166" y="42"/>
                  <a:pt x="5173" y="54"/>
                  <a:pt x="5179" y="67"/>
                </a:cubicBezTo>
                <a:cubicBezTo>
                  <a:pt x="5184" y="80"/>
                  <a:pt x="5187" y="93"/>
                  <a:pt x="5187" y="107"/>
                </a:cubicBezTo>
                <a:lnTo>
                  <a:pt x="5187" y="636"/>
                </a:lnTo>
                <a:cubicBezTo>
                  <a:pt x="5187" y="650"/>
                  <a:pt x="5184" y="664"/>
                  <a:pt x="5179" y="677"/>
                </a:cubicBezTo>
                <a:cubicBezTo>
                  <a:pt x="5173" y="690"/>
                  <a:pt x="5166" y="701"/>
                  <a:pt x="5156" y="711"/>
                </a:cubicBezTo>
                <a:cubicBezTo>
                  <a:pt x="5146" y="721"/>
                  <a:pt x="5135" y="729"/>
                  <a:pt x="5122" y="734"/>
                </a:cubicBezTo>
                <a:cubicBezTo>
                  <a:pt x="5109" y="739"/>
                  <a:pt x="5095" y="742"/>
                  <a:pt x="5081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CuadroTexto 746"/>
          <p:cNvSpPr txBox="1"/>
          <p:nvPr/>
        </p:nvSpPr>
        <p:spPr>
          <a:xfrm>
            <a:off x="869760" y="3573360"/>
            <a:ext cx="1876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Veriﬁca cuántos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CuadroTexto 747"/>
          <p:cNvSpPr txBox="1"/>
          <p:nvPr/>
        </p:nvSpPr>
        <p:spPr>
          <a:xfrm>
            <a:off x="2790360" y="3610800"/>
            <a:ext cx="17622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drug_concept_id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CuadroTexto 748"/>
          <p:cNvSpPr txBox="1"/>
          <p:nvPr/>
        </p:nvSpPr>
        <p:spPr>
          <a:xfrm>
            <a:off x="4602600" y="3573360"/>
            <a:ext cx="2473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 tu base quedan fuera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CuadroTexto 749"/>
          <p:cNvSpPr txBox="1"/>
          <p:nvPr/>
        </p:nvSpPr>
        <p:spPr>
          <a:xfrm>
            <a:off x="666720" y="4068720"/>
            <a:ext cx="30265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«Medición de función renal»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CuadroTexto 750"/>
          <p:cNvSpPr txBox="1"/>
          <p:nvPr/>
        </p:nvSpPr>
        <p:spPr>
          <a:xfrm>
            <a:off x="869760" y="4564080"/>
            <a:ext cx="7081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No es un código: es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creatinina + eGFR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cada uno con sus variantes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Forma libre 751"/>
          <p:cNvSpPr/>
          <p:nvPr/>
        </p:nvSpPr>
        <p:spPr>
          <a:xfrm>
            <a:off x="2400120" y="4981320"/>
            <a:ext cx="819360" cy="267120"/>
          </a:xfrm>
          <a:custGeom>
            <a:avLst/>
            <a:gdLst/>
            <a:ahLst/>
            <a:cxnLst/>
            <a:rect l="0" t="0" r="r" b="b"/>
            <a:pathLst>
              <a:path w="2276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171" y="0"/>
                </a:lnTo>
                <a:cubicBezTo>
                  <a:pt x="2185" y="0"/>
                  <a:pt x="2198" y="3"/>
                  <a:pt x="2211" y="8"/>
                </a:cubicBezTo>
                <a:cubicBezTo>
                  <a:pt x="2224" y="14"/>
                  <a:pt x="2235" y="21"/>
                  <a:pt x="2245" y="31"/>
                </a:cubicBezTo>
                <a:cubicBezTo>
                  <a:pt x="2255" y="41"/>
                  <a:pt x="2263" y="53"/>
                  <a:pt x="2268" y="66"/>
                </a:cubicBezTo>
                <a:cubicBezTo>
                  <a:pt x="2274" y="79"/>
                  <a:pt x="2276" y="92"/>
                  <a:pt x="2276" y="106"/>
                </a:cubicBezTo>
                <a:lnTo>
                  <a:pt x="2276" y="636"/>
                </a:lnTo>
                <a:cubicBezTo>
                  <a:pt x="2276" y="650"/>
                  <a:pt x="2274" y="664"/>
                  <a:pt x="2268" y="677"/>
                </a:cubicBezTo>
                <a:cubicBezTo>
                  <a:pt x="2263" y="690"/>
                  <a:pt x="2255" y="701"/>
                  <a:pt x="2245" y="711"/>
                </a:cubicBezTo>
                <a:cubicBezTo>
                  <a:pt x="2235" y="721"/>
                  <a:pt x="2224" y="729"/>
                  <a:pt x="2211" y="734"/>
                </a:cubicBezTo>
                <a:cubicBezTo>
                  <a:pt x="2198" y="739"/>
                  <a:pt x="2185" y="742"/>
                  <a:pt x="2171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CuadroTexto 752"/>
          <p:cNvSpPr txBox="1"/>
          <p:nvPr/>
        </p:nvSpPr>
        <p:spPr>
          <a:xfrm>
            <a:off x="869760" y="4964040"/>
            <a:ext cx="1533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Revisa el eje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CuadroTexto 753"/>
          <p:cNvSpPr txBox="1"/>
          <p:nvPr/>
        </p:nvSpPr>
        <p:spPr>
          <a:xfrm>
            <a:off x="2460240" y="5001120"/>
            <a:ext cx="705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System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CuadroTexto 754"/>
          <p:cNvSpPr txBox="1"/>
          <p:nvPr/>
        </p:nvSpPr>
        <p:spPr>
          <a:xfrm>
            <a:off x="3219480" y="4964040"/>
            <a:ext cx="2441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suero/plasma ≠ orina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CuadroTexto 755"/>
          <p:cNvSpPr txBox="1"/>
          <p:nvPr/>
        </p:nvSpPr>
        <p:spPr>
          <a:xfrm>
            <a:off x="869760" y="5364000"/>
            <a:ext cx="4680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Revisa las unidades antes de comparar nada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CuadroTexto 75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CuadroTexto 75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CuadroTexto 75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Forma libre 75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Forma libre 76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Forma libre 76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Forma libre 762"/>
          <p:cNvSpPr/>
          <p:nvPr/>
        </p:nvSpPr>
        <p:spPr>
          <a:xfrm>
            <a:off x="666720" y="394308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Forma libre 763"/>
          <p:cNvSpPr/>
          <p:nvPr/>
        </p:nvSpPr>
        <p:spPr>
          <a:xfrm>
            <a:off x="666720" y="394308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Forma libre 764"/>
          <p:cNvSpPr/>
          <p:nvPr/>
        </p:nvSpPr>
        <p:spPr>
          <a:xfrm>
            <a:off x="914040" y="28000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CuadroTexto 765"/>
          <p:cNvSpPr txBox="1"/>
          <p:nvPr/>
        </p:nvSpPr>
        <p:spPr>
          <a:xfrm>
            <a:off x="666720" y="2015640"/>
            <a:ext cx="61704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Versiona el concept set, no sólo el resultado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Forma libre 766"/>
          <p:cNvSpPr/>
          <p:nvPr/>
        </p:nvSpPr>
        <p:spPr>
          <a:xfrm>
            <a:off x="914040" y="32000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CuadroTexto 767"/>
          <p:cNvSpPr txBox="1"/>
          <p:nvPr/>
        </p:nvSpPr>
        <p:spPr>
          <a:xfrm>
            <a:off x="1123920" y="2687400"/>
            <a:ext cx="7677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vocabulario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cambia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ATHENA publica versiones nuevas varias veces al año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Forma libre 768"/>
          <p:cNvSpPr/>
          <p:nvPr/>
        </p:nvSpPr>
        <p:spPr>
          <a:xfrm>
            <a:off x="5090400" y="3115800"/>
            <a:ext cx="2457720" cy="267120"/>
          </a:xfrm>
          <a:custGeom>
            <a:avLst/>
            <a:gdLst/>
            <a:ahLst/>
            <a:cxnLst/>
            <a:rect l="0" t="0" r="r" b="b"/>
            <a:pathLst>
              <a:path w="6827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6721" y="0"/>
                </a:lnTo>
                <a:cubicBezTo>
                  <a:pt x="6735" y="0"/>
                  <a:pt x="6749" y="3"/>
                  <a:pt x="6762" y="8"/>
                </a:cubicBezTo>
                <a:cubicBezTo>
                  <a:pt x="6775" y="13"/>
                  <a:pt x="6786" y="21"/>
                  <a:pt x="6796" y="31"/>
                </a:cubicBezTo>
                <a:cubicBezTo>
                  <a:pt x="6806" y="41"/>
                  <a:pt x="6814" y="52"/>
                  <a:pt x="6819" y="65"/>
                </a:cubicBezTo>
                <a:cubicBezTo>
                  <a:pt x="6824" y="78"/>
                  <a:pt x="6827" y="92"/>
                  <a:pt x="6827" y="106"/>
                </a:cubicBezTo>
                <a:lnTo>
                  <a:pt x="6827" y="636"/>
                </a:lnTo>
                <a:cubicBezTo>
                  <a:pt x="6827" y="650"/>
                  <a:pt x="6824" y="663"/>
                  <a:pt x="6819" y="676"/>
                </a:cubicBezTo>
                <a:cubicBezTo>
                  <a:pt x="6814" y="689"/>
                  <a:pt x="6806" y="701"/>
                  <a:pt x="6796" y="711"/>
                </a:cubicBezTo>
                <a:cubicBezTo>
                  <a:pt x="6786" y="721"/>
                  <a:pt x="6775" y="728"/>
                  <a:pt x="6762" y="734"/>
                </a:cubicBezTo>
                <a:cubicBezTo>
                  <a:pt x="6749" y="739"/>
                  <a:pt x="6735" y="742"/>
                  <a:pt x="6721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CuadroTexto 769"/>
          <p:cNvSpPr txBox="1"/>
          <p:nvPr/>
        </p:nvSpPr>
        <p:spPr>
          <a:xfrm>
            <a:off x="1123920" y="3087720"/>
            <a:ext cx="3833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 concepto válido hoy puede quedar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CuadroTexto 770"/>
          <p:cNvSpPr txBox="1"/>
          <p:nvPr/>
        </p:nvSpPr>
        <p:spPr>
          <a:xfrm>
            <a:off x="5140734" y="3110400"/>
            <a:ext cx="23497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 dirty="0" err="1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invalid_reason</a:t>
            </a:r>
            <a:r>
              <a:rPr lang="es-ES" sz="1530" b="0" u="none" strike="noStrike" dirty="0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 = 'D'</a:t>
            </a:r>
            <a:endParaRPr lang="es-ES" sz="15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Forma libre 771"/>
          <p:cNvSpPr/>
          <p:nvPr/>
        </p:nvSpPr>
        <p:spPr>
          <a:xfrm>
            <a:off x="914040" y="36003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CuadroTexto 772"/>
          <p:cNvSpPr txBox="1"/>
          <p:nvPr/>
        </p:nvSpPr>
        <p:spPr>
          <a:xfrm>
            <a:off x="7410600" y="3087720"/>
            <a:ext cx="856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mañana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CuadroTexto 773"/>
          <p:cNvSpPr txBox="1"/>
          <p:nvPr/>
        </p:nvSpPr>
        <p:spPr>
          <a:xfrm>
            <a:off x="1123920" y="3487680"/>
            <a:ext cx="59616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Guarda: la </a:t>
            </a:r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consulta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la </a:t>
            </a:r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versión del vocabulario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la </a:t>
            </a:r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fecha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Forma libre 774"/>
          <p:cNvSpPr/>
          <p:nvPr/>
        </p:nvSpPr>
        <p:spPr>
          <a:xfrm>
            <a:off x="5200560" y="4114440"/>
            <a:ext cx="3152880" cy="267120"/>
          </a:xfrm>
          <a:custGeom>
            <a:avLst/>
            <a:gdLst/>
            <a:ahLst/>
            <a:cxnLst/>
            <a:rect l="0" t="0" r="r" b="b"/>
            <a:pathLst>
              <a:path w="8758" h="742">
                <a:moveTo>
                  <a:pt x="0" y="636"/>
                </a:moveTo>
                <a:lnTo>
                  <a:pt x="0" y="107"/>
                </a:ln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2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2" y="0"/>
                  <a:pt x="106" y="0"/>
                </a:cubicBezTo>
                <a:lnTo>
                  <a:pt x="8653" y="0"/>
                </a:lnTo>
                <a:cubicBezTo>
                  <a:pt x="8667" y="0"/>
                  <a:pt x="8680" y="3"/>
                  <a:pt x="8693" y="9"/>
                </a:cubicBezTo>
                <a:cubicBezTo>
                  <a:pt x="8706" y="14"/>
                  <a:pt x="8718" y="22"/>
                  <a:pt x="8727" y="31"/>
                </a:cubicBezTo>
                <a:cubicBezTo>
                  <a:pt x="8737" y="42"/>
                  <a:pt x="8745" y="54"/>
                  <a:pt x="8750" y="67"/>
                </a:cubicBezTo>
                <a:cubicBezTo>
                  <a:pt x="8756" y="80"/>
                  <a:pt x="8758" y="93"/>
                  <a:pt x="8758" y="107"/>
                </a:cubicBezTo>
                <a:lnTo>
                  <a:pt x="8758" y="636"/>
                </a:lnTo>
                <a:cubicBezTo>
                  <a:pt x="8758" y="651"/>
                  <a:pt x="8756" y="664"/>
                  <a:pt x="8750" y="677"/>
                </a:cubicBezTo>
                <a:cubicBezTo>
                  <a:pt x="8745" y="690"/>
                  <a:pt x="8737" y="701"/>
                  <a:pt x="8727" y="711"/>
                </a:cubicBezTo>
                <a:cubicBezTo>
                  <a:pt x="8718" y="721"/>
                  <a:pt x="8706" y="729"/>
                  <a:pt x="8693" y="734"/>
                </a:cubicBezTo>
                <a:cubicBezTo>
                  <a:pt x="8680" y="740"/>
                  <a:pt x="8667" y="742"/>
                  <a:pt x="8653" y="742"/>
                </a:cubicBezTo>
                <a:lnTo>
                  <a:pt x="106" y="742"/>
                </a:lnTo>
                <a:cubicBezTo>
                  <a:pt x="92" y="742"/>
                  <a:pt x="78" y="740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1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CuadroTexto 775"/>
          <p:cNvSpPr txBox="1"/>
          <p:nvPr/>
        </p:nvSpPr>
        <p:spPr>
          <a:xfrm>
            <a:off x="905040" y="4097160"/>
            <a:ext cx="4302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«Usamos metformina» no es reproducible. «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CuadroTexto 776"/>
          <p:cNvSpPr txBox="1"/>
          <p:nvPr/>
        </p:nvSpPr>
        <p:spPr>
          <a:xfrm>
            <a:off x="5255640" y="4134600"/>
            <a:ext cx="3054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concept_set_metformina.sql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CuadroTexto 777"/>
          <p:cNvSpPr txBox="1"/>
          <p:nvPr/>
        </p:nvSpPr>
        <p:spPr>
          <a:xfrm>
            <a:off x="8354520" y="4097160"/>
            <a:ext cx="2944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, vocabulario de agosto 2026,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CuadroTexto 778"/>
          <p:cNvSpPr txBox="1"/>
          <p:nvPr/>
        </p:nvSpPr>
        <p:spPr>
          <a:xfrm>
            <a:off x="905040" y="4440240"/>
            <a:ext cx="2388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412 conceptos» sí lo es.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CuadroTexto 77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CuadroTexto 78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CuadroTexto 78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Forma libre 78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Forma libre 78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Forma libre 78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CuadroTexto 785"/>
          <p:cNvSpPr txBox="1"/>
          <p:nvPr/>
        </p:nvSpPr>
        <p:spPr>
          <a:xfrm>
            <a:off x="666720" y="1863360"/>
            <a:ext cx="14443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Para llevar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CuadroTexto 786"/>
          <p:cNvSpPr txBox="1"/>
          <p:nvPr/>
        </p:nvSpPr>
        <p:spPr>
          <a:xfrm>
            <a:off x="869760" y="2535120"/>
            <a:ext cx="10569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Cuenta ingredientes, no productos.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El producto cambia entre países y entre hospitales; el ingrediente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CuadroTexto 787"/>
          <p:cNvSpPr txBox="1"/>
          <p:nvPr/>
        </p:nvSpPr>
        <p:spPr>
          <a:xfrm>
            <a:off x="1123920" y="2877840"/>
            <a:ext cx="3142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no.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CuadroTexto 788"/>
          <p:cNvSpPr txBox="1"/>
          <p:nvPr/>
        </p:nvSpPr>
        <p:spPr>
          <a:xfrm>
            <a:off x="869760" y="3373200"/>
            <a:ext cx="10450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 código LOINC es una frase de seis ejes.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Cambia uno y es otro código — por eso un analito casi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CuadroTexto 789"/>
          <p:cNvSpPr txBox="1"/>
          <p:nvPr/>
        </p:nvSpPr>
        <p:spPr>
          <a:xfrm>
            <a:off x="1123920" y="3716280"/>
            <a:ext cx="2477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nunca es un solo código.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CuadroTexto 790"/>
          <p:cNvSpPr txBox="1"/>
          <p:nvPr/>
        </p:nvSpPr>
        <p:spPr>
          <a:xfrm>
            <a:off x="869760" y="4211640"/>
            <a:ext cx="10558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mapeo local es trabajo humano auditable.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Usagi propone; tú decides; la decisión se versiona y se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CuadroTexto 791"/>
          <p:cNvSpPr txBox="1"/>
          <p:nvPr/>
        </p:nvSpPr>
        <p:spPr>
          <a:xfrm>
            <a:off x="1123920" y="4554360"/>
            <a:ext cx="788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justiﬁca.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CuadroTexto 79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CuadroTexto 79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CuadroTexto 794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Forma libre 79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Forma libre 79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Forma libre 79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CuadroTexto 798"/>
          <p:cNvSpPr txBox="1"/>
          <p:nvPr/>
        </p:nvSpPr>
        <p:spPr>
          <a:xfrm>
            <a:off x="666720" y="1834920"/>
            <a:ext cx="16005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CuadroTexto 799"/>
          <p:cNvSpPr txBox="1"/>
          <p:nvPr/>
        </p:nvSpPr>
        <p:spPr>
          <a:xfrm>
            <a:off x="666720" y="2545920"/>
            <a:ext cx="51148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02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Concept sets de medicamentos y laboratorios</a:t>
            </a:r>
            <a:endParaRPr lang="es-ES" sz="20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CuadroTexto 800"/>
          <p:cNvSpPr txBox="1"/>
          <p:nvPr/>
        </p:nvSpPr>
        <p:spPr>
          <a:xfrm>
            <a:off x="666720" y="3058920"/>
            <a:ext cx="10811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Bajar de una clase ATC a ingredientes y de ahí a todos los productos de tu base; armar el concept set de tres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CuadroTexto 801"/>
          <p:cNvSpPr txBox="1"/>
          <p:nvPr/>
        </p:nvSpPr>
        <p:spPr>
          <a:xfrm>
            <a:off x="666720" y="3402000"/>
            <a:ext cx="1066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analitos; auditar la consistencia entre código y unidad; mapear a mano un catálogo local y reportar lo que no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CuadroTexto 802"/>
          <p:cNvSpPr txBox="1"/>
          <p:nvPr/>
        </p:nvSpPr>
        <p:spPr>
          <a:xfrm>
            <a:off x="666720" y="3744720"/>
            <a:ext cx="868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se pudo.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Forma libre 803"/>
          <p:cNvSpPr/>
          <p:nvPr/>
        </p:nvSpPr>
        <p:spPr>
          <a:xfrm>
            <a:off x="1971360" y="4257360"/>
            <a:ext cx="1638720" cy="267120"/>
          </a:xfrm>
          <a:custGeom>
            <a:avLst/>
            <a:gdLst/>
            <a:ahLst/>
            <a:cxnLst/>
            <a:rect l="0" t="0" r="r" b="b"/>
            <a:pathLst>
              <a:path w="4552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4446" y="0"/>
                </a:lnTo>
                <a:cubicBezTo>
                  <a:pt x="4460" y="0"/>
                  <a:pt x="4474" y="3"/>
                  <a:pt x="4487" y="8"/>
                </a:cubicBezTo>
                <a:cubicBezTo>
                  <a:pt x="4500" y="14"/>
                  <a:pt x="4511" y="21"/>
                  <a:pt x="4521" y="31"/>
                </a:cubicBezTo>
                <a:cubicBezTo>
                  <a:pt x="4531" y="41"/>
                  <a:pt x="4539" y="53"/>
                  <a:pt x="4544" y="66"/>
                </a:cubicBezTo>
                <a:cubicBezTo>
                  <a:pt x="4550" y="79"/>
                  <a:pt x="4552" y="92"/>
                  <a:pt x="4552" y="106"/>
                </a:cubicBezTo>
                <a:lnTo>
                  <a:pt x="4552" y="636"/>
                </a:lnTo>
                <a:cubicBezTo>
                  <a:pt x="4552" y="650"/>
                  <a:pt x="4550" y="664"/>
                  <a:pt x="4544" y="677"/>
                </a:cubicBezTo>
                <a:cubicBezTo>
                  <a:pt x="4539" y="690"/>
                  <a:pt x="4531" y="701"/>
                  <a:pt x="4521" y="711"/>
                </a:cubicBezTo>
                <a:cubicBezTo>
                  <a:pt x="4511" y="721"/>
                  <a:pt x="4500" y="729"/>
                  <a:pt x="4487" y="734"/>
                </a:cubicBezTo>
                <a:cubicBezTo>
                  <a:pt x="4474" y="740"/>
                  <a:pt x="4460" y="742"/>
                  <a:pt x="4446" y="742"/>
                </a:cubicBezTo>
                <a:lnTo>
                  <a:pt x="106" y="742"/>
                </a:lnTo>
                <a:cubicBezTo>
                  <a:pt x="92" y="742"/>
                  <a:pt x="79" y="740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CuadroTexto 804"/>
          <p:cNvSpPr txBox="1"/>
          <p:nvPr/>
        </p:nvSpPr>
        <p:spPr>
          <a:xfrm>
            <a:off x="666720" y="4240080"/>
            <a:ext cx="1312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Entregable: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CuadroTexto 805"/>
          <p:cNvSpPr txBox="1"/>
          <p:nvPr/>
        </p:nvSpPr>
        <p:spPr>
          <a:xfrm>
            <a:off x="2032200" y="4277520"/>
            <a:ext cx="15274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concept_sets/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Forma libre 806"/>
          <p:cNvSpPr/>
          <p:nvPr/>
        </p:nvSpPr>
        <p:spPr>
          <a:xfrm>
            <a:off x="666720" y="4752720"/>
            <a:ext cx="5258160" cy="267120"/>
          </a:xfrm>
          <a:custGeom>
            <a:avLst/>
            <a:gdLst/>
            <a:ahLst/>
            <a:cxnLst/>
            <a:rect l="0" t="0" r="r" b="b"/>
            <a:pathLst>
              <a:path w="14606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4500" y="0"/>
                </a:lnTo>
                <a:cubicBezTo>
                  <a:pt x="14514" y="0"/>
                  <a:pt x="14527" y="3"/>
                  <a:pt x="14540" y="8"/>
                </a:cubicBezTo>
                <a:cubicBezTo>
                  <a:pt x="14553" y="14"/>
                  <a:pt x="14565" y="21"/>
                  <a:pt x="14575" y="31"/>
                </a:cubicBezTo>
                <a:cubicBezTo>
                  <a:pt x="14585" y="41"/>
                  <a:pt x="14592" y="53"/>
                  <a:pt x="14598" y="66"/>
                </a:cubicBezTo>
                <a:cubicBezTo>
                  <a:pt x="14603" y="79"/>
                  <a:pt x="14606" y="92"/>
                  <a:pt x="14606" y="106"/>
                </a:cubicBezTo>
                <a:lnTo>
                  <a:pt x="14606" y="636"/>
                </a:lnTo>
                <a:cubicBezTo>
                  <a:pt x="14606" y="650"/>
                  <a:pt x="14603" y="664"/>
                  <a:pt x="14598" y="677"/>
                </a:cubicBezTo>
                <a:cubicBezTo>
                  <a:pt x="14592" y="690"/>
                  <a:pt x="14585" y="701"/>
                  <a:pt x="14575" y="711"/>
                </a:cubicBezTo>
                <a:cubicBezTo>
                  <a:pt x="14565" y="721"/>
                  <a:pt x="14553" y="729"/>
                  <a:pt x="14540" y="734"/>
                </a:cubicBezTo>
                <a:cubicBezTo>
                  <a:pt x="14527" y="739"/>
                  <a:pt x="14514" y="742"/>
                  <a:pt x="14500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CuadroTexto 807"/>
          <p:cNvSpPr txBox="1"/>
          <p:nvPr/>
        </p:nvSpPr>
        <p:spPr>
          <a:xfrm>
            <a:off x="3610080" y="4240080"/>
            <a:ext cx="3792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versionado + reporte del mapeo local.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CuadroTexto 808"/>
          <p:cNvSpPr txBox="1"/>
          <p:nvPr/>
        </p:nvSpPr>
        <p:spPr>
          <a:xfrm>
            <a:off x="723960" y="4772520"/>
            <a:ext cx="5168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labs/s15-vocabularios-rxnorm-loinc/README.md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CuadroTexto 80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CuadroTexto 81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CuadroTexto 81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Forma libre 81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Forma libre 81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Forma libre 81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CuadroTexto 815"/>
          <p:cNvSpPr txBox="1"/>
          <p:nvPr/>
        </p:nvSpPr>
        <p:spPr>
          <a:xfrm>
            <a:off x="4672800" y="2482920"/>
            <a:ext cx="29152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¿Preguntas?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CuadroTexto 82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15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CuadroTexto 82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CuadroTexto 82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2143</Words>
  <Application>Microsoft Macintosh PowerPoint</Application>
  <PresentationFormat>Panorámica</PresentationFormat>
  <Paragraphs>349</Paragraphs>
  <Slides>30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7" baseType="lpstr">
      <vt:lpstr>Arial</vt:lpstr>
      <vt:lpstr>HelveticaNeue</vt:lpstr>
      <vt:lpstr>Menlo</vt:lpstr>
      <vt:lpstr>Symbol</vt:lpstr>
      <vt:lpstr>Times New Roman</vt:lpstr>
      <vt:lpstr>Wingdings</vt:lpstr>
      <vt:lpstr>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dc:description/>
  <cp:lastModifiedBy>Antonio Daniel Martinez Gutierrez</cp:lastModifiedBy>
  <cp:revision>9</cp:revision>
  <dcterms:modified xsi:type="dcterms:W3CDTF">2026-09-29T13:21:00Z</dcterms:modified>
  <dc:language>es-ES</dc:language>
</cp:coreProperties>
</file>