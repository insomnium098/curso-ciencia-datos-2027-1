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9155" y="1308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89548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16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Forma libre 10"/>
          <p:cNvSpPr/>
          <p:nvPr/>
        </p:nvSpPr>
        <p:spPr>
          <a:xfrm>
            <a:off x="3962160" y="3181320"/>
            <a:ext cx="3962880" cy="381240"/>
          </a:xfrm>
          <a:custGeom>
            <a:avLst/>
            <a:gdLst/>
            <a:ahLst/>
            <a:cxnLst/>
            <a:rect l="0" t="0" r="r" b="b"/>
            <a:pathLst>
              <a:path w="11008" h="1059">
                <a:moveTo>
                  <a:pt x="0" y="953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0902" y="0"/>
                </a:lnTo>
                <a:cubicBezTo>
                  <a:pt x="10916" y="0"/>
                  <a:pt x="10930" y="2"/>
                  <a:pt x="10942" y="8"/>
                </a:cubicBezTo>
                <a:cubicBezTo>
                  <a:pt x="10955" y="13"/>
                  <a:pt x="10967" y="21"/>
                  <a:pt x="10977" y="31"/>
                </a:cubicBezTo>
                <a:cubicBezTo>
                  <a:pt x="10987" y="41"/>
                  <a:pt x="10994" y="52"/>
                  <a:pt x="11000" y="65"/>
                </a:cubicBezTo>
                <a:cubicBezTo>
                  <a:pt x="11005" y="78"/>
                  <a:pt x="11008" y="91"/>
                  <a:pt x="11008" y="105"/>
                </a:cubicBezTo>
                <a:lnTo>
                  <a:pt x="11008" y="953"/>
                </a:lnTo>
                <a:cubicBezTo>
                  <a:pt x="11008" y="967"/>
                  <a:pt x="11005" y="981"/>
                  <a:pt x="11000" y="994"/>
                </a:cubicBezTo>
                <a:cubicBezTo>
                  <a:pt x="10994" y="1007"/>
                  <a:pt x="10987" y="1018"/>
                  <a:pt x="10977" y="1028"/>
                </a:cubicBezTo>
                <a:cubicBezTo>
                  <a:pt x="10967" y="1038"/>
                  <a:pt x="10955" y="1045"/>
                  <a:pt x="10942" y="1051"/>
                </a:cubicBezTo>
                <a:cubicBezTo>
                  <a:pt x="10930" y="1056"/>
                  <a:pt x="10916" y="1059"/>
                  <a:pt x="10902" y="1059"/>
                </a:cubicBezTo>
                <a:lnTo>
                  <a:pt x="106" y="1059"/>
                </a:lnTo>
                <a:cubicBezTo>
                  <a:pt x="92" y="1059"/>
                  <a:pt x="78" y="1056"/>
                  <a:pt x="65" y="1051"/>
                </a:cubicBezTo>
                <a:cubicBezTo>
                  <a:pt x="53" y="1045"/>
                  <a:pt x="41" y="1038"/>
                  <a:pt x="31" y="1028"/>
                </a:cubicBezTo>
                <a:cubicBezTo>
                  <a:pt x="21" y="1018"/>
                  <a:pt x="14" y="1007"/>
                  <a:pt x="8" y="994"/>
                </a:cubicBezTo>
                <a:cubicBezTo>
                  <a:pt x="3" y="981"/>
                  <a:pt x="0" y="967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177720"/>
            <a:ext cx="33807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Navegación Jerárquica: 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4158720" y="3175701"/>
            <a:ext cx="390924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concept_relationship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Forma libre 13"/>
          <p:cNvSpPr/>
          <p:nvPr/>
        </p:nvSpPr>
        <p:spPr>
          <a:xfrm>
            <a:off x="8411040" y="3173255"/>
            <a:ext cx="3200760" cy="381240"/>
          </a:xfrm>
          <a:custGeom>
            <a:avLst/>
            <a:gdLst/>
            <a:ahLst/>
            <a:cxnLst/>
            <a:rect l="0" t="0" r="r" b="b"/>
            <a:pathLst>
              <a:path w="8891" h="1059">
                <a:moveTo>
                  <a:pt x="0" y="953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8785" y="0"/>
                </a:lnTo>
                <a:cubicBezTo>
                  <a:pt x="8799" y="0"/>
                  <a:pt x="8813" y="2"/>
                  <a:pt x="8826" y="8"/>
                </a:cubicBezTo>
                <a:cubicBezTo>
                  <a:pt x="8839" y="13"/>
                  <a:pt x="8850" y="21"/>
                  <a:pt x="8860" y="31"/>
                </a:cubicBezTo>
                <a:cubicBezTo>
                  <a:pt x="8870" y="41"/>
                  <a:pt x="8878" y="52"/>
                  <a:pt x="8883" y="65"/>
                </a:cubicBezTo>
                <a:cubicBezTo>
                  <a:pt x="8888" y="78"/>
                  <a:pt x="8891" y="91"/>
                  <a:pt x="8891" y="105"/>
                </a:cubicBezTo>
                <a:lnTo>
                  <a:pt x="8891" y="953"/>
                </a:lnTo>
                <a:cubicBezTo>
                  <a:pt x="8891" y="967"/>
                  <a:pt x="8888" y="981"/>
                  <a:pt x="8883" y="994"/>
                </a:cubicBezTo>
                <a:cubicBezTo>
                  <a:pt x="8878" y="1007"/>
                  <a:pt x="8870" y="1018"/>
                  <a:pt x="8860" y="1028"/>
                </a:cubicBezTo>
                <a:cubicBezTo>
                  <a:pt x="8850" y="1038"/>
                  <a:pt x="8839" y="1045"/>
                  <a:pt x="8826" y="1051"/>
                </a:cubicBezTo>
                <a:cubicBezTo>
                  <a:pt x="8813" y="1056"/>
                  <a:pt x="8799" y="1059"/>
                  <a:pt x="8785" y="1059"/>
                </a:cubicBezTo>
                <a:lnTo>
                  <a:pt x="106" y="1059"/>
                </a:lnTo>
                <a:cubicBezTo>
                  <a:pt x="92" y="1059"/>
                  <a:pt x="78" y="1056"/>
                  <a:pt x="65" y="1051"/>
                </a:cubicBezTo>
                <a:cubicBezTo>
                  <a:pt x="52" y="1045"/>
                  <a:pt x="41" y="1038"/>
                  <a:pt x="31" y="1028"/>
                </a:cubicBezTo>
                <a:cubicBezTo>
                  <a:pt x="21" y="1018"/>
                  <a:pt x="13" y="1007"/>
                  <a:pt x="8" y="994"/>
                </a:cubicBezTo>
                <a:cubicBezTo>
                  <a:pt x="3" y="981"/>
                  <a:pt x="0" y="967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8009640" y="3171455"/>
            <a:ext cx="331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8484120" y="3176135"/>
            <a:ext cx="312768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concept_ancestor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666720" y="3868560"/>
            <a:ext cx="5346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III — SQL y datos clínicos estandarizados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rma libre 2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Forma libre 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Forma libre 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869760" y="3268440"/>
            <a:ext cx="6795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Distinguir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aristas directas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cierre transitivo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y saber cuál usar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Forma libre 26"/>
          <p:cNvSpPr/>
          <p:nvPr/>
        </p:nvSpPr>
        <p:spPr>
          <a:xfrm>
            <a:off x="3790800" y="3686040"/>
            <a:ext cx="1752840" cy="267120"/>
          </a:xfrm>
          <a:custGeom>
            <a:avLst/>
            <a:gdLst/>
            <a:ahLst/>
            <a:cxnLst/>
            <a:rect l="0" t="0" r="r" b="b"/>
            <a:pathLst>
              <a:path w="486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763" y="0"/>
                </a:lnTo>
                <a:cubicBezTo>
                  <a:pt x="4777" y="0"/>
                  <a:pt x="4791" y="3"/>
                  <a:pt x="4804" y="8"/>
                </a:cubicBezTo>
                <a:cubicBezTo>
                  <a:pt x="4817" y="13"/>
                  <a:pt x="4828" y="21"/>
                  <a:pt x="4838" y="31"/>
                </a:cubicBezTo>
                <a:cubicBezTo>
                  <a:pt x="4848" y="41"/>
                  <a:pt x="4856" y="52"/>
                  <a:pt x="4861" y="65"/>
                </a:cubicBezTo>
                <a:cubicBezTo>
                  <a:pt x="4867" y="78"/>
                  <a:pt x="4869" y="92"/>
                  <a:pt x="4869" y="106"/>
                </a:cubicBezTo>
                <a:lnTo>
                  <a:pt x="4869" y="636"/>
                </a:lnTo>
                <a:cubicBezTo>
                  <a:pt x="4869" y="650"/>
                  <a:pt x="4867" y="663"/>
                  <a:pt x="4861" y="676"/>
                </a:cubicBezTo>
                <a:cubicBezTo>
                  <a:pt x="4856" y="689"/>
                  <a:pt x="4848" y="701"/>
                  <a:pt x="4838" y="711"/>
                </a:cubicBezTo>
                <a:cubicBezTo>
                  <a:pt x="4828" y="721"/>
                  <a:pt x="4817" y="728"/>
                  <a:pt x="4804" y="734"/>
                </a:cubicBezTo>
                <a:cubicBezTo>
                  <a:pt x="4791" y="739"/>
                  <a:pt x="4777" y="742"/>
                  <a:pt x="4763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869760" y="3668400"/>
            <a:ext cx="2931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Recorrer una jerarquía con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3849840" y="3705840"/>
            <a:ext cx="1644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WITH RECURSIVE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Forma libre 29"/>
          <p:cNvSpPr/>
          <p:nvPr/>
        </p:nvSpPr>
        <p:spPr>
          <a:xfrm>
            <a:off x="6210000" y="3686040"/>
            <a:ext cx="1981800" cy="267120"/>
          </a:xfrm>
          <a:custGeom>
            <a:avLst/>
            <a:gdLst/>
            <a:ahLst/>
            <a:cxnLst/>
            <a:rect l="0" t="0" r="r" b="b"/>
            <a:pathLst>
              <a:path w="550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399" y="0"/>
                </a:lnTo>
                <a:cubicBezTo>
                  <a:pt x="5413" y="0"/>
                  <a:pt x="5426" y="3"/>
                  <a:pt x="5439" y="8"/>
                </a:cubicBezTo>
                <a:cubicBezTo>
                  <a:pt x="5452" y="13"/>
                  <a:pt x="5464" y="21"/>
                  <a:pt x="5474" y="31"/>
                </a:cubicBezTo>
                <a:cubicBezTo>
                  <a:pt x="5484" y="41"/>
                  <a:pt x="5491" y="52"/>
                  <a:pt x="5497" y="65"/>
                </a:cubicBezTo>
                <a:cubicBezTo>
                  <a:pt x="5502" y="78"/>
                  <a:pt x="5505" y="92"/>
                  <a:pt x="5505" y="106"/>
                </a:cubicBezTo>
                <a:lnTo>
                  <a:pt x="5505" y="636"/>
                </a:lnTo>
                <a:cubicBezTo>
                  <a:pt x="5505" y="650"/>
                  <a:pt x="5502" y="663"/>
                  <a:pt x="5497" y="676"/>
                </a:cubicBezTo>
                <a:cubicBezTo>
                  <a:pt x="5491" y="689"/>
                  <a:pt x="5484" y="701"/>
                  <a:pt x="5474" y="711"/>
                </a:cubicBezTo>
                <a:cubicBezTo>
                  <a:pt x="5464" y="721"/>
                  <a:pt x="5452" y="728"/>
                  <a:pt x="5439" y="734"/>
                </a:cubicBezTo>
                <a:cubicBezTo>
                  <a:pt x="5426" y="739"/>
                  <a:pt x="5413" y="742"/>
                  <a:pt x="5399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5544720" y="3668400"/>
            <a:ext cx="665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con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6267240" y="3705840"/>
            <a:ext cx="187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CONCEPT_ANCESTOR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869760" y="4068720"/>
            <a:ext cx="6403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Explicar por qué tu concept set incluyó algo que no esperabas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869760" y="4468680"/>
            <a:ext cx="6263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Escribir consultas de vocabulario que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tarden diez minutos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orma libre 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Forma libre 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Forma libre 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Forma libre 40"/>
          <p:cNvSpPr/>
          <p:nvPr/>
        </p:nvSpPr>
        <p:spPr>
          <a:xfrm>
            <a:off x="666720" y="511488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Forma libre 41"/>
          <p:cNvSpPr/>
          <p:nvPr/>
        </p:nvSpPr>
        <p:spPr>
          <a:xfrm>
            <a:off x="666720" y="511488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869760" y="1858680"/>
            <a:ext cx="4218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Dos formas de representar una jerarquía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Forma libre 44"/>
          <p:cNvSpPr/>
          <p:nvPr/>
        </p:nvSpPr>
        <p:spPr>
          <a:xfrm>
            <a:off x="1123920" y="2276280"/>
            <a:ext cx="2457720" cy="267120"/>
          </a:xfrm>
          <a:custGeom>
            <a:avLst/>
            <a:gdLst/>
            <a:ahLst/>
            <a:cxnLst/>
            <a:rect l="0" t="0" r="r" b="b"/>
            <a:pathLst>
              <a:path w="6827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6721" y="0"/>
                </a:lnTo>
                <a:cubicBezTo>
                  <a:pt x="6735" y="0"/>
                  <a:pt x="6749" y="3"/>
                  <a:pt x="6761" y="8"/>
                </a:cubicBezTo>
                <a:cubicBezTo>
                  <a:pt x="6774" y="13"/>
                  <a:pt x="6786" y="21"/>
                  <a:pt x="6796" y="31"/>
                </a:cubicBezTo>
                <a:cubicBezTo>
                  <a:pt x="6806" y="41"/>
                  <a:pt x="6813" y="52"/>
                  <a:pt x="6819" y="65"/>
                </a:cubicBezTo>
                <a:cubicBezTo>
                  <a:pt x="6824" y="78"/>
                  <a:pt x="6827" y="92"/>
                  <a:pt x="6827" y="106"/>
                </a:cubicBezTo>
                <a:lnTo>
                  <a:pt x="6827" y="635"/>
                </a:lnTo>
                <a:cubicBezTo>
                  <a:pt x="6827" y="649"/>
                  <a:pt x="6824" y="663"/>
                  <a:pt x="6819" y="676"/>
                </a:cubicBezTo>
                <a:cubicBezTo>
                  <a:pt x="6813" y="689"/>
                  <a:pt x="6806" y="700"/>
                  <a:pt x="6796" y="711"/>
                </a:cubicBezTo>
                <a:cubicBezTo>
                  <a:pt x="6786" y="721"/>
                  <a:pt x="6774" y="728"/>
                  <a:pt x="6761" y="734"/>
                </a:cubicBezTo>
                <a:cubicBezTo>
                  <a:pt x="6749" y="739"/>
                  <a:pt x="6735" y="742"/>
                  <a:pt x="6721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CuadroTexto 45"/>
          <p:cNvSpPr txBox="1"/>
          <p:nvPr/>
        </p:nvSpPr>
        <p:spPr>
          <a:xfrm>
            <a:off x="869760" y="225900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CuadroTexto 46"/>
          <p:cNvSpPr txBox="1"/>
          <p:nvPr/>
        </p:nvSpPr>
        <p:spPr>
          <a:xfrm>
            <a:off x="1181160" y="2296080"/>
            <a:ext cx="2349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CONCEPT_RELATIONSHIP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3578040" y="2259000"/>
            <a:ext cx="1101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las aristas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Forma libre 48"/>
          <p:cNvSpPr/>
          <p:nvPr/>
        </p:nvSpPr>
        <p:spPr>
          <a:xfrm>
            <a:off x="1123920" y="2676240"/>
            <a:ext cx="1990800" cy="267120"/>
          </a:xfrm>
          <a:custGeom>
            <a:avLst/>
            <a:gdLst/>
            <a:ahLst/>
            <a:cxnLst/>
            <a:rect l="0" t="0" r="r" b="b"/>
            <a:pathLst>
              <a:path w="5530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5425" y="0"/>
                </a:lnTo>
                <a:cubicBezTo>
                  <a:pt x="5439" y="0"/>
                  <a:pt x="5452" y="3"/>
                  <a:pt x="5465" y="8"/>
                </a:cubicBezTo>
                <a:cubicBezTo>
                  <a:pt x="5478" y="14"/>
                  <a:pt x="5489" y="21"/>
                  <a:pt x="5499" y="31"/>
                </a:cubicBezTo>
                <a:cubicBezTo>
                  <a:pt x="5509" y="41"/>
                  <a:pt x="5517" y="53"/>
                  <a:pt x="5522" y="66"/>
                </a:cubicBezTo>
                <a:cubicBezTo>
                  <a:pt x="5528" y="79"/>
                  <a:pt x="5530" y="92"/>
                  <a:pt x="5530" y="106"/>
                </a:cubicBezTo>
                <a:lnTo>
                  <a:pt x="5530" y="636"/>
                </a:lnTo>
                <a:cubicBezTo>
                  <a:pt x="5530" y="650"/>
                  <a:pt x="5528" y="664"/>
                  <a:pt x="5522" y="677"/>
                </a:cubicBezTo>
                <a:cubicBezTo>
                  <a:pt x="5517" y="690"/>
                  <a:pt x="5509" y="701"/>
                  <a:pt x="5499" y="711"/>
                </a:cubicBezTo>
                <a:cubicBezTo>
                  <a:pt x="5489" y="721"/>
                  <a:pt x="5478" y="729"/>
                  <a:pt x="5465" y="734"/>
                </a:cubicBezTo>
                <a:cubicBezTo>
                  <a:pt x="5452" y="739"/>
                  <a:pt x="5439" y="742"/>
                  <a:pt x="5425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869760" y="265896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1181160" y="2696400"/>
            <a:ext cx="187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CONCEPT_ANCESTOR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3110040" y="2658960"/>
            <a:ext cx="826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el atajo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CuadroTexto 52"/>
          <p:cNvSpPr txBox="1"/>
          <p:nvPr/>
        </p:nvSpPr>
        <p:spPr>
          <a:xfrm>
            <a:off x="869760" y="3058920"/>
            <a:ext cx="2728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SQL recursivo: cuándo sí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869760" y="3458880"/>
            <a:ext cx="4349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Poli-jerarquía: un concepto, varios padres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869760" y="3859200"/>
            <a:ext cx="3401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Concept sets por descendencia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CuadroTexto 55"/>
          <p:cNvSpPr txBox="1"/>
          <p:nvPr/>
        </p:nvSpPr>
        <p:spPr>
          <a:xfrm>
            <a:off x="869760" y="4259160"/>
            <a:ext cx="4671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Depuración: «¿por qué entró este paciente?»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CuadroTexto 56"/>
          <p:cNvSpPr txBox="1"/>
          <p:nvPr/>
        </p:nvSpPr>
        <p:spPr>
          <a:xfrm>
            <a:off x="869760" y="4659120"/>
            <a:ext cx="1491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8. Rendimiento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Forma libre 57"/>
          <p:cNvSpPr/>
          <p:nvPr/>
        </p:nvSpPr>
        <p:spPr>
          <a:xfrm>
            <a:off x="4829040" y="5286240"/>
            <a:ext cx="1867320" cy="267120"/>
          </a:xfrm>
          <a:custGeom>
            <a:avLst/>
            <a:gdLst/>
            <a:ahLst/>
            <a:cxnLst/>
            <a:rect l="0" t="0" r="r" b="b"/>
            <a:pathLst>
              <a:path w="518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081" y="0"/>
                </a:lnTo>
                <a:cubicBezTo>
                  <a:pt x="5095" y="0"/>
                  <a:pt x="5108" y="3"/>
                  <a:pt x="5121" y="8"/>
                </a:cubicBezTo>
                <a:cubicBezTo>
                  <a:pt x="5134" y="13"/>
                  <a:pt x="5146" y="21"/>
                  <a:pt x="5156" y="31"/>
                </a:cubicBezTo>
                <a:cubicBezTo>
                  <a:pt x="5166" y="41"/>
                  <a:pt x="5173" y="52"/>
                  <a:pt x="5179" y="65"/>
                </a:cubicBezTo>
                <a:cubicBezTo>
                  <a:pt x="5184" y="78"/>
                  <a:pt x="5187" y="92"/>
                  <a:pt x="5187" y="106"/>
                </a:cubicBezTo>
                <a:lnTo>
                  <a:pt x="5187" y="636"/>
                </a:lnTo>
                <a:cubicBezTo>
                  <a:pt x="5187" y="650"/>
                  <a:pt x="5184" y="663"/>
                  <a:pt x="5179" y="676"/>
                </a:cubicBezTo>
                <a:cubicBezTo>
                  <a:pt x="5173" y="689"/>
                  <a:pt x="5166" y="701"/>
                  <a:pt x="5156" y="711"/>
                </a:cubicBezTo>
                <a:cubicBezTo>
                  <a:pt x="5146" y="721"/>
                  <a:pt x="5134" y="728"/>
                  <a:pt x="5121" y="734"/>
                </a:cubicBezTo>
                <a:cubicBezTo>
                  <a:pt x="5108" y="739"/>
                  <a:pt x="5095" y="742"/>
                  <a:pt x="5081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CuadroTexto 58"/>
          <p:cNvSpPr txBox="1"/>
          <p:nvPr/>
        </p:nvSpPr>
        <p:spPr>
          <a:xfrm>
            <a:off x="905040" y="5268600"/>
            <a:ext cx="3925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jerarquías en acción, con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4883400" y="5306040"/>
            <a:ext cx="1762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EXPLAIN ANALYZE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CuadroTexto 6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CuadroTexto 6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CuadroTexto 62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orma libre 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Forma libre 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orma libre 6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1301760" y="3063960"/>
            <a:ext cx="98420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Dos formas de representar una jerarquía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CuadroTexto 6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CuadroTexto 6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rma libre 7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Forma libre 7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Forma libre 7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Forma libre 73"/>
          <p:cNvSpPr/>
          <p:nvPr/>
        </p:nvSpPr>
        <p:spPr>
          <a:xfrm>
            <a:off x="666720" y="399096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Forma libre 74"/>
          <p:cNvSpPr/>
          <p:nvPr/>
        </p:nvSpPr>
        <p:spPr>
          <a:xfrm>
            <a:off x="666720" y="399096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CuadroTexto 75"/>
          <p:cNvSpPr txBox="1"/>
          <p:nvPr/>
        </p:nvSpPr>
        <p:spPr>
          <a:xfrm>
            <a:off x="666720" y="1968120"/>
            <a:ext cx="2135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Aristas o atajos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Forma libre 78"/>
          <p:cNvSpPr/>
          <p:nvPr/>
        </p:nvSpPr>
        <p:spPr>
          <a:xfrm>
            <a:off x="914040" y="32479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orma libre 79"/>
          <p:cNvSpPr/>
          <p:nvPr/>
        </p:nvSpPr>
        <p:spPr>
          <a:xfrm>
            <a:off x="1123920" y="3152520"/>
            <a:ext cx="2457720" cy="267120"/>
          </a:xfrm>
          <a:custGeom>
            <a:avLst/>
            <a:gdLst/>
            <a:ahLst/>
            <a:cxnLst/>
            <a:rect l="0" t="0" r="r" b="b"/>
            <a:pathLst>
              <a:path w="682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6721" y="0"/>
                </a:lnTo>
                <a:cubicBezTo>
                  <a:pt x="6735" y="0"/>
                  <a:pt x="6749" y="3"/>
                  <a:pt x="6761" y="8"/>
                </a:cubicBezTo>
                <a:cubicBezTo>
                  <a:pt x="6774" y="14"/>
                  <a:pt x="6786" y="21"/>
                  <a:pt x="6796" y="31"/>
                </a:cubicBezTo>
                <a:cubicBezTo>
                  <a:pt x="6806" y="41"/>
                  <a:pt x="6813" y="53"/>
                  <a:pt x="6819" y="66"/>
                </a:cubicBezTo>
                <a:cubicBezTo>
                  <a:pt x="6824" y="79"/>
                  <a:pt x="6827" y="92"/>
                  <a:pt x="6827" y="106"/>
                </a:cubicBezTo>
                <a:lnTo>
                  <a:pt x="6827" y="636"/>
                </a:lnTo>
                <a:cubicBezTo>
                  <a:pt x="6827" y="650"/>
                  <a:pt x="6824" y="664"/>
                  <a:pt x="6819" y="677"/>
                </a:cubicBezTo>
                <a:cubicBezTo>
                  <a:pt x="6813" y="690"/>
                  <a:pt x="6806" y="701"/>
                  <a:pt x="6796" y="711"/>
                </a:cubicBezTo>
                <a:cubicBezTo>
                  <a:pt x="6786" y="721"/>
                  <a:pt x="6774" y="729"/>
                  <a:pt x="6761" y="734"/>
                </a:cubicBezTo>
                <a:cubicBezTo>
                  <a:pt x="6749" y="739"/>
                  <a:pt x="6735" y="742"/>
                  <a:pt x="6721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CuadroTexto 81"/>
          <p:cNvSpPr txBox="1"/>
          <p:nvPr/>
        </p:nvSpPr>
        <p:spPr>
          <a:xfrm>
            <a:off x="1181160" y="3172320"/>
            <a:ext cx="2349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CONCEPT_RELATIONSHIP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CuadroTexto 82"/>
          <p:cNvSpPr txBox="1"/>
          <p:nvPr/>
        </p:nvSpPr>
        <p:spPr>
          <a:xfrm>
            <a:off x="3578040" y="3135240"/>
            <a:ext cx="3599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guarda las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aristas directas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padre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CuadroTexto 83"/>
          <p:cNvSpPr txBox="1"/>
          <p:nvPr/>
        </p:nvSpPr>
        <p:spPr>
          <a:xfrm>
            <a:off x="7164360" y="314604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Forma libre 84"/>
          <p:cNvSpPr/>
          <p:nvPr/>
        </p:nvSpPr>
        <p:spPr>
          <a:xfrm>
            <a:off x="914040" y="3647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Forma libre 85"/>
          <p:cNvSpPr/>
          <p:nvPr/>
        </p:nvSpPr>
        <p:spPr>
          <a:xfrm>
            <a:off x="1123920" y="3552480"/>
            <a:ext cx="1990800" cy="267120"/>
          </a:xfrm>
          <a:custGeom>
            <a:avLst/>
            <a:gdLst/>
            <a:ahLst/>
            <a:cxnLst/>
            <a:rect l="0" t="0" r="r" b="b"/>
            <a:pathLst>
              <a:path w="5530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lnTo>
                  <a:pt x="5425" y="0"/>
                </a:lnTo>
                <a:cubicBezTo>
                  <a:pt x="5439" y="0"/>
                  <a:pt x="5452" y="3"/>
                  <a:pt x="5465" y="9"/>
                </a:cubicBezTo>
                <a:cubicBezTo>
                  <a:pt x="5478" y="14"/>
                  <a:pt x="5489" y="22"/>
                  <a:pt x="5499" y="31"/>
                </a:cubicBezTo>
                <a:cubicBezTo>
                  <a:pt x="5509" y="41"/>
                  <a:pt x="5517" y="53"/>
                  <a:pt x="5522" y="66"/>
                </a:cubicBezTo>
                <a:cubicBezTo>
                  <a:pt x="5528" y="79"/>
                  <a:pt x="5530" y="92"/>
                  <a:pt x="5530" y="106"/>
                </a:cubicBezTo>
                <a:lnTo>
                  <a:pt x="5530" y="636"/>
                </a:lnTo>
                <a:cubicBezTo>
                  <a:pt x="5530" y="650"/>
                  <a:pt x="5528" y="664"/>
                  <a:pt x="5522" y="677"/>
                </a:cubicBezTo>
                <a:cubicBezTo>
                  <a:pt x="5517" y="690"/>
                  <a:pt x="5509" y="701"/>
                  <a:pt x="5499" y="711"/>
                </a:cubicBezTo>
                <a:cubicBezTo>
                  <a:pt x="5489" y="721"/>
                  <a:pt x="5478" y="729"/>
                  <a:pt x="5465" y="734"/>
                </a:cubicBezTo>
                <a:cubicBezTo>
                  <a:pt x="5452" y="740"/>
                  <a:pt x="5439" y="742"/>
                  <a:pt x="5425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CuadroTexto 86"/>
          <p:cNvSpPr txBox="1"/>
          <p:nvPr/>
        </p:nvSpPr>
        <p:spPr>
          <a:xfrm>
            <a:off x="7392960" y="3135240"/>
            <a:ext cx="2100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hijo, un salto a la vez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CuadroTexto 87"/>
          <p:cNvSpPr txBox="1"/>
          <p:nvPr/>
        </p:nvSpPr>
        <p:spPr>
          <a:xfrm>
            <a:off x="1181160" y="3572640"/>
            <a:ext cx="187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CONCEPT_ANCESTOR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CuadroTexto 88"/>
          <p:cNvSpPr txBox="1"/>
          <p:nvPr/>
        </p:nvSpPr>
        <p:spPr>
          <a:xfrm>
            <a:off x="3110040" y="3535200"/>
            <a:ext cx="3603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guarda 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cierre transitivo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abuelo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CuadroTexto 89"/>
          <p:cNvSpPr txBox="1"/>
          <p:nvPr/>
        </p:nvSpPr>
        <p:spPr>
          <a:xfrm>
            <a:off x="6705000" y="354600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CuadroTexto 90"/>
          <p:cNvSpPr txBox="1"/>
          <p:nvPr/>
        </p:nvSpPr>
        <p:spPr>
          <a:xfrm>
            <a:off x="6933600" y="3535200"/>
            <a:ext cx="1931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nieto, precalculado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CuadroTexto 91"/>
          <p:cNvSpPr txBox="1"/>
          <p:nvPr/>
        </p:nvSpPr>
        <p:spPr>
          <a:xfrm>
            <a:off x="905040" y="4144680"/>
            <a:ext cx="9511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La segunda no añade información: es la primera, ya recorrida. Existe porque recorrer millones 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CuadroTexto 92"/>
          <p:cNvSpPr txBox="1"/>
          <p:nvPr/>
        </p:nvSpPr>
        <p:spPr>
          <a:xfrm>
            <a:off x="905040" y="4487760"/>
            <a:ext cx="4192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conceptos en cada consulta sale carísimo.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C456FF0-E1FD-D6D1-8A3D-5A81C0E84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90" y="862833"/>
            <a:ext cx="10943548" cy="513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60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Forma libre 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Forma libre 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orma libre 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Forma libre 99"/>
          <p:cNvSpPr/>
          <p:nvPr/>
        </p:nvSpPr>
        <p:spPr>
          <a:xfrm>
            <a:off x="676080" y="2152440"/>
            <a:ext cx="3600720" cy="410040"/>
          </a:xfrm>
          <a:custGeom>
            <a:avLst/>
            <a:gdLst/>
            <a:ahLst/>
            <a:cxnLst/>
            <a:rect l="0" t="0" r="r" b="b"/>
            <a:pathLst>
              <a:path w="10002" h="1139">
                <a:moveTo>
                  <a:pt x="0" y="0"/>
                </a:moveTo>
                <a:lnTo>
                  <a:pt x="10002" y="0"/>
                </a:lnTo>
                <a:lnTo>
                  <a:pt x="1000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Forma libre 100"/>
          <p:cNvSpPr/>
          <p:nvPr/>
        </p:nvSpPr>
        <p:spPr>
          <a:xfrm>
            <a:off x="4276440" y="2152440"/>
            <a:ext cx="3458160" cy="410040"/>
          </a:xfrm>
          <a:custGeom>
            <a:avLst/>
            <a:gdLst/>
            <a:ahLst/>
            <a:cxnLst/>
            <a:rect l="0" t="0" r="r" b="b"/>
            <a:pathLst>
              <a:path w="9606" h="1139">
                <a:moveTo>
                  <a:pt x="0" y="0"/>
                </a:moveTo>
                <a:lnTo>
                  <a:pt x="9606" y="0"/>
                </a:lnTo>
                <a:lnTo>
                  <a:pt x="960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Forma libre 101"/>
          <p:cNvSpPr/>
          <p:nvPr/>
        </p:nvSpPr>
        <p:spPr>
          <a:xfrm>
            <a:off x="676080" y="2152440"/>
            <a:ext cx="3600720" cy="410040"/>
          </a:xfrm>
          <a:custGeom>
            <a:avLst/>
            <a:gdLst/>
            <a:ahLst/>
            <a:cxnLst/>
            <a:rect l="0" t="0" r="r" b="b"/>
            <a:pathLst>
              <a:path w="10002" h="1139">
                <a:moveTo>
                  <a:pt x="0" y="0"/>
                </a:moveTo>
                <a:lnTo>
                  <a:pt x="10002" y="0"/>
                </a:lnTo>
                <a:lnTo>
                  <a:pt x="1000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orma libre 102"/>
          <p:cNvSpPr/>
          <p:nvPr/>
        </p:nvSpPr>
        <p:spPr>
          <a:xfrm>
            <a:off x="4276440" y="2152440"/>
            <a:ext cx="3458160" cy="410040"/>
          </a:xfrm>
          <a:custGeom>
            <a:avLst/>
            <a:gdLst/>
            <a:ahLst/>
            <a:cxnLst/>
            <a:rect l="0" t="0" r="r" b="b"/>
            <a:pathLst>
              <a:path w="9606" h="1139">
                <a:moveTo>
                  <a:pt x="0" y="0"/>
                </a:moveTo>
                <a:lnTo>
                  <a:pt x="9606" y="0"/>
                </a:lnTo>
                <a:lnTo>
                  <a:pt x="960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Forma libre 103"/>
          <p:cNvSpPr/>
          <p:nvPr/>
        </p:nvSpPr>
        <p:spPr>
          <a:xfrm>
            <a:off x="676080" y="2562120"/>
            <a:ext cx="3600720" cy="409680"/>
          </a:xfrm>
          <a:custGeom>
            <a:avLst/>
            <a:gdLst/>
            <a:ahLst/>
            <a:cxnLst/>
            <a:rect l="0" t="0" r="r" b="b"/>
            <a:pathLst>
              <a:path w="10002" h="1138">
                <a:moveTo>
                  <a:pt x="0" y="0"/>
                </a:moveTo>
                <a:lnTo>
                  <a:pt x="10002" y="0"/>
                </a:lnTo>
                <a:lnTo>
                  <a:pt x="1000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Forma libre 104"/>
          <p:cNvSpPr/>
          <p:nvPr/>
        </p:nvSpPr>
        <p:spPr>
          <a:xfrm>
            <a:off x="4276440" y="2562120"/>
            <a:ext cx="3458160" cy="409680"/>
          </a:xfrm>
          <a:custGeom>
            <a:avLst/>
            <a:gdLst/>
            <a:ahLst/>
            <a:cxnLst/>
            <a:rect l="0" t="0" r="r" b="b"/>
            <a:pathLst>
              <a:path w="9606" h="1138">
                <a:moveTo>
                  <a:pt x="0" y="0"/>
                </a:moveTo>
                <a:lnTo>
                  <a:pt x="9606" y="0"/>
                </a:lnTo>
                <a:lnTo>
                  <a:pt x="960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Forma libre 105"/>
          <p:cNvSpPr/>
          <p:nvPr/>
        </p:nvSpPr>
        <p:spPr>
          <a:xfrm>
            <a:off x="676080" y="2971440"/>
            <a:ext cx="3600720" cy="419760"/>
          </a:xfrm>
          <a:custGeom>
            <a:avLst/>
            <a:gdLst/>
            <a:ahLst/>
            <a:cxnLst/>
            <a:rect l="0" t="0" r="r" b="b"/>
            <a:pathLst>
              <a:path w="10002" h="1166">
                <a:moveTo>
                  <a:pt x="0" y="0"/>
                </a:moveTo>
                <a:lnTo>
                  <a:pt x="10002" y="0"/>
                </a:lnTo>
                <a:lnTo>
                  <a:pt x="10002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orma libre 106"/>
          <p:cNvSpPr/>
          <p:nvPr/>
        </p:nvSpPr>
        <p:spPr>
          <a:xfrm>
            <a:off x="4276440" y="2971440"/>
            <a:ext cx="3458160" cy="419760"/>
          </a:xfrm>
          <a:custGeom>
            <a:avLst/>
            <a:gdLst/>
            <a:ahLst/>
            <a:cxnLst/>
            <a:rect l="0" t="0" r="r" b="b"/>
            <a:pathLst>
              <a:path w="9606" h="1166">
                <a:moveTo>
                  <a:pt x="0" y="0"/>
                </a:moveTo>
                <a:lnTo>
                  <a:pt x="9606" y="0"/>
                </a:lnTo>
                <a:lnTo>
                  <a:pt x="9606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Forma libre 107"/>
          <p:cNvSpPr/>
          <p:nvPr/>
        </p:nvSpPr>
        <p:spPr>
          <a:xfrm>
            <a:off x="676080" y="3390840"/>
            <a:ext cx="3600720" cy="409680"/>
          </a:xfrm>
          <a:custGeom>
            <a:avLst/>
            <a:gdLst/>
            <a:ahLst/>
            <a:cxnLst/>
            <a:rect l="0" t="0" r="r" b="b"/>
            <a:pathLst>
              <a:path w="10002" h="1138">
                <a:moveTo>
                  <a:pt x="0" y="0"/>
                </a:moveTo>
                <a:lnTo>
                  <a:pt x="10002" y="0"/>
                </a:lnTo>
                <a:lnTo>
                  <a:pt x="1000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Forma libre 108"/>
          <p:cNvSpPr/>
          <p:nvPr/>
        </p:nvSpPr>
        <p:spPr>
          <a:xfrm>
            <a:off x="4276440" y="3390840"/>
            <a:ext cx="3458160" cy="409680"/>
          </a:xfrm>
          <a:custGeom>
            <a:avLst/>
            <a:gdLst/>
            <a:ahLst/>
            <a:cxnLst/>
            <a:rect l="0" t="0" r="r" b="b"/>
            <a:pathLst>
              <a:path w="9606" h="1138">
                <a:moveTo>
                  <a:pt x="0" y="0"/>
                </a:moveTo>
                <a:lnTo>
                  <a:pt x="9606" y="0"/>
                </a:lnTo>
                <a:lnTo>
                  <a:pt x="960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orma libre 109"/>
          <p:cNvSpPr/>
          <p:nvPr/>
        </p:nvSpPr>
        <p:spPr>
          <a:xfrm>
            <a:off x="676080" y="3800160"/>
            <a:ext cx="3600720" cy="410040"/>
          </a:xfrm>
          <a:custGeom>
            <a:avLst/>
            <a:gdLst/>
            <a:ahLst/>
            <a:cxnLst/>
            <a:rect l="0" t="0" r="r" b="b"/>
            <a:pathLst>
              <a:path w="10002" h="1139">
                <a:moveTo>
                  <a:pt x="0" y="0"/>
                </a:moveTo>
                <a:lnTo>
                  <a:pt x="10002" y="0"/>
                </a:lnTo>
                <a:lnTo>
                  <a:pt x="1000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Forma libre 110"/>
          <p:cNvSpPr/>
          <p:nvPr/>
        </p:nvSpPr>
        <p:spPr>
          <a:xfrm>
            <a:off x="4276440" y="3800160"/>
            <a:ext cx="3458160" cy="410040"/>
          </a:xfrm>
          <a:custGeom>
            <a:avLst/>
            <a:gdLst/>
            <a:ahLst/>
            <a:cxnLst/>
            <a:rect l="0" t="0" r="r" b="b"/>
            <a:pathLst>
              <a:path w="9606" h="1139">
                <a:moveTo>
                  <a:pt x="0" y="0"/>
                </a:moveTo>
                <a:lnTo>
                  <a:pt x="9606" y="0"/>
                </a:lnTo>
                <a:lnTo>
                  <a:pt x="960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orma libre 111"/>
          <p:cNvSpPr/>
          <p:nvPr/>
        </p:nvSpPr>
        <p:spPr>
          <a:xfrm>
            <a:off x="676080" y="4209840"/>
            <a:ext cx="3600720" cy="419400"/>
          </a:xfrm>
          <a:custGeom>
            <a:avLst/>
            <a:gdLst/>
            <a:ahLst/>
            <a:cxnLst/>
            <a:rect l="0" t="0" r="r" b="b"/>
            <a:pathLst>
              <a:path w="10002" h="1165">
                <a:moveTo>
                  <a:pt x="0" y="0"/>
                </a:moveTo>
                <a:lnTo>
                  <a:pt x="10002" y="0"/>
                </a:lnTo>
                <a:lnTo>
                  <a:pt x="1000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orma libre 112"/>
          <p:cNvSpPr/>
          <p:nvPr/>
        </p:nvSpPr>
        <p:spPr>
          <a:xfrm>
            <a:off x="4276440" y="4209840"/>
            <a:ext cx="3458160" cy="419400"/>
          </a:xfrm>
          <a:custGeom>
            <a:avLst/>
            <a:gdLst/>
            <a:ahLst/>
            <a:cxnLst/>
            <a:rect l="0" t="0" r="r" b="b"/>
            <a:pathLst>
              <a:path w="9606" h="1165">
                <a:moveTo>
                  <a:pt x="0" y="0"/>
                </a:moveTo>
                <a:lnTo>
                  <a:pt x="9606" y="0"/>
                </a:lnTo>
                <a:lnTo>
                  <a:pt x="960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orma libre 113"/>
          <p:cNvSpPr/>
          <p:nvPr/>
        </p:nvSpPr>
        <p:spPr>
          <a:xfrm>
            <a:off x="666720" y="2152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orma libre 114"/>
          <p:cNvSpPr/>
          <p:nvPr/>
        </p:nvSpPr>
        <p:spPr>
          <a:xfrm>
            <a:off x="666720" y="2152440"/>
            <a:ext cx="3619800" cy="10080"/>
          </a:xfrm>
          <a:custGeom>
            <a:avLst/>
            <a:gdLst/>
            <a:ahLst/>
            <a:cxnLst/>
            <a:rect l="0" t="0" r="r" b="b"/>
            <a:pathLst>
              <a:path w="10055" h="28">
                <a:moveTo>
                  <a:pt x="0" y="0"/>
                </a:moveTo>
                <a:lnTo>
                  <a:pt x="10055" y="0"/>
                </a:lnTo>
                <a:lnTo>
                  <a:pt x="10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orma libre 115"/>
          <p:cNvSpPr/>
          <p:nvPr/>
        </p:nvSpPr>
        <p:spPr>
          <a:xfrm>
            <a:off x="4276440" y="21524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Forma libre 116"/>
          <p:cNvSpPr/>
          <p:nvPr/>
        </p:nvSpPr>
        <p:spPr>
          <a:xfrm>
            <a:off x="4286160" y="2152440"/>
            <a:ext cx="3457800" cy="10080"/>
          </a:xfrm>
          <a:custGeom>
            <a:avLst/>
            <a:gdLst/>
            <a:ahLst/>
            <a:cxnLst/>
            <a:rect l="0" t="0" r="r" b="b"/>
            <a:pathLst>
              <a:path w="9605" h="28">
                <a:moveTo>
                  <a:pt x="0" y="0"/>
                </a:moveTo>
                <a:lnTo>
                  <a:pt x="9605" y="0"/>
                </a:lnTo>
                <a:lnTo>
                  <a:pt x="96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Forma libre 117"/>
          <p:cNvSpPr/>
          <p:nvPr/>
        </p:nvSpPr>
        <p:spPr>
          <a:xfrm>
            <a:off x="7734240" y="2152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Forma libre 118"/>
          <p:cNvSpPr/>
          <p:nvPr/>
        </p:nvSpPr>
        <p:spPr>
          <a:xfrm>
            <a:off x="666720" y="2562120"/>
            <a:ext cx="3619800" cy="9720"/>
          </a:xfrm>
          <a:custGeom>
            <a:avLst/>
            <a:gdLst/>
            <a:ahLst/>
            <a:cxn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Forma libre 119"/>
          <p:cNvSpPr/>
          <p:nvPr/>
        </p:nvSpPr>
        <p:spPr>
          <a:xfrm>
            <a:off x="4286160" y="2562120"/>
            <a:ext cx="3457800" cy="9720"/>
          </a:xfrm>
          <a:custGeom>
            <a:avLst/>
            <a:gdLst/>
            <a:ahLst/>
            <a:cxnLst/>
            <a:rect l="0" t="0" r="r" b="b"/>
            <a:pathLst>
              <a:path w="9605" h="27">
                <a:moveTo>
                  <a:pt x="0" y="0"/>
                </a:moveTo>
                <a:lnTo>
                  <a:pt x="9605" y="0"/>
                </a:lnTo>
                <a:lnTo>
                  <a:pt x="96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Forma libre 120"/>
          <p:cNvSpPr/>
          <p:nvPr/>
        </p:nvSpPr>
        <p:spPr>
          <a:xfrm>
            <a:off x="666720" y="25714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Forma libre 121"/>
          <p:cNvSpPr/>
          <p:nvPr/>
        </p:nvSpPr>
        <p:spPr>
          <a:xfrm>
            <a:off x="4276440" y="25714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orma libre 122"/>
          <p:cNvSpPr/>
          <p:nvPr/>
        </p:nvSpPr>
        <p:spPr>
          <a:xfrm>
            <a:off x="7734240" y="25714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Forma libre 123"/>
          <p:cNvSpPr/>
          <p:nvPr/>
        </p:nvSpPr>
        <p:spPr>
          <a:xfrm>
            <a:off x="666720" y="29811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Forma libre 124"/>
          <p:cNvSpPr/>
          <p:nvPr/>
        </p:nvSpPr>
        <p:spPr>
          <a:xfrm>
            <a:off x="666720" y="2971440"/>
            <a:ext cx="3619800" cy="10440"/>
          </a:xfrm>
          <a:custGeom>
            <a:avLst/>
            <a:gdLst/>
            <a:ahLst/>
            <a:cxnLst/>
            <a:rect l="0" t="0" r="r" b="b"/>
            <a:pathLst>
              <a:path w="10055" h="29">
                <a:moveTo>
                  <a:pt x="0" y="0"/>
                </a:moveTo>
                <a:lnTo>
                  <a:pt x="10055" y="0"/>
                </a:lnTo>
                <a:lnTo>
                  <a:pt x="1005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Forma libre 125"/>
          <p:cNvSpPr/>
          <p:nvPr/>
        </p:nvSpPr>
        <p:spPr>
          <a:xfrm>
            <a:off x="4276440" y="29811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Forma libre 126"/>
          <p:cNvSpPr/>
          <p:nvPr/>
        </p:nvSpPr>
        <p:spPr>
          <a:xfrm>
            <a:off x="4286160" y="2971440"/>
            <a:ext cx="3457800" cy="10440"/>
          </a:xfrm>
          <a:custGeom>
            <a:avLst/>
            <a:gdLst/>
            <a:ahLst/>
            <a:cxnLst/>
            <a:rect l="0" t="0" r="r" b="b"/>
            <a:pathLst>
              <a:path w="9605" h="29">
                <a:moveTo>
                  <a:pt x="0" y="0"/>
                </a:moveTo>
                <a:lnTo>
                  <a:pt x="9605" y="0"/>
                </a:lnTo>
                <a:lnTo>
                  <a:pt x="960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Forma libre 127"/>
          <p:cNvSpPr/>
          <p:nvPr/>
        </p:nvSpPr>
        <p:spPr>
          <a:xfrm>
            <a:off x="7734240" y="29811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Forma libre 128"/>
          <p:cNvSpPr/>
          <p:nvPr/>
        </p:nvSpPr>
        <p:spPr>
          <a:xfrm>
            <a:off x="666720" y="34002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Forma libre 129"/>
          <p:cNvSpPr/>
          <p:nvPr/>
        </p:nvSpPr>
        <p:spPr>
          <a:xfrm>
            <a:off x="666720" y="3390840"/>
            <a:ext cx="3619800" cy="9720"/>
          </a:xfrm>
          <a:custGeom>
            <a:avLst/>
            <a:gdLst/>
            <a:ahLst/>
            <a:cxn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Forma libre 130"/>
          <p:cNvSpPr/>
          <p:nvPr/>
        </p:nvSpPr>
        <p:spPr>
          <a:xfrm>
            <a:off x="4276440" y="34002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Forma libre 131"/>
          <p:cNvSpPr/>
          <p:nvPr/>
        </p:nvSpPr>
        <p:spPr>
          <a:xfrm>
            <a:off x="4286160" y="3390840"/>
            <a:ext cx="3457800" cy="9720"/>
          </a:xfrm>
          <a:custGeom>
            <a:avLst/>
            <a:gdLst/>
            <a:ahLst/>
            <a:cxnLst/>
            <a:rect l="0" t="0" r="r" b="b"/>
            <a:pathLst>
              <a:path w="9605" h="27">
                <a:moveTo>
                  <a:pt x="0" y="0"/>
                </a:moveTo>
                <a:lnTo>
                  <a:pt x="9605" y="0"/>
                </a:lnTo>
                <a:lnTo>
                  <a:pt x="96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Forma libre 132"/>
          <p:cNvSpPr/>
          <p:nvPr/>
        </p:nvSpPr>
        <p:spPr>
          <a:xfrm>
            <a:off x="7734240" y="34002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Forma libre 133"/>
          <p:cNvSpPr/>
          <p:nvPr/>
        </p:nvSpPr>
        <p:spPr>
          <a:xfrm>
            <a:off x="666720" y="3809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Forma libre 134"/>
          <p:cNvSpPr/>
          <p:nvPr/>
        </p:nvSpPr>
        <p:spPr>
          <a:xfrm>
            <a:off x="666720" y="3800160"/>
            <a:ext cx="3619800" cy="10080"/>
          </a:xfrm>
          <a:custGeom>
            <a:avLst/>
            <a:gdLst/>
            <a:ahLst/>
            <a:cxnLst/>
            <a:rect l="0" t="0" r="r" b="b"/>
            <a:pathLst>
              <a:path w="10055" h="28">
                <a:moveTo>
                  <a:pt x="0" y="0"/>
                </a:moveTo>
                <a:lnTo>
                  <a:pt x="10055" y="0"/>
                </a:lnTo>
                <a:lnTo>
                  <a:pt x="10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Forma libre 135"/>
          <p:cNvSpPr/>
          <p:nvPr/>
        </p:nvSpPr>
        <p:spPr>
          <a:xfrm>
            <a:off x="4276440" y="38098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Forma libre 136"/>
          <p:cNvSpPr/>
          <p:nvPr/>
        </p:nvSpPr>
        <p:spPr>
          <a:xfrm>
            <a:off x="4286160" y="3800160"/>
            <a:ext cx="3457800" cy="10080"/>
          </a:xfrm>
          <a:custGeom>
            <a:avLst/>
            <a:gdLst/>
            <a:ahLst/>
            <a:cxnLst/>
            <a:rect l="0" t="0" r="r" b="b"/>
            <a:pathLst>
              <a:path w="9605" h="28">
                <a:moveTo>
                  <a:pt x="0" y="0"/>
                </a:moveTo>
                <a:lnTo>
                  <a:pt x="9605" y="0"/>
                </a:lnTo>
                <a:lnTo>
                  <a:pt x="96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Forma libre 137"/>
          <p:cNvSpPr/>
          <p:nvPr/>
        </p:nvSpPr>
        <p:spPr>
          <a:xfrm>
            <a:off x="7734240" y="3809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Forma libre 138"/>
          <p:cNvSpPr/>
          <p:nvPr/>
        </p:nvSpPr>
        <p:spPr>
          <a:xfrm>
            <a:off x="666720" y="4219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Forma libre 139"/>
          <p:cNvSpPr/>
          <p:nvPr/>
        </p:nvSpPr>
        <p:spPr>
          <a:xfrm>
            <a:off x="666720" y="4209840"/>
            <a:ext cx="3619800" cy="10080"/>
          </a:xfrm>
          <a:custGeom>
            <a:avLst/>
            <a:gdLst/>
            <a:ahLst/>
            <a:cxnLst/>
            <a:rect l="0" t="0" r="r" b="b"/>
            <a:pathLst>
              <a:path w="10055" h="28">
                <a:moveTo>
                  <a:pt x="0" y="0"/>
                </a:moveTo>
                <a:lnTo>
                  <a:pt x="10055" y="0"/>
                </a:lnTo>
                <a:lnTo>
                  <a:pt x="10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Forma libre 140"/>
          <p:cNvSpPr/>
          <p:nvPr/>
        </p:nvSpPr>
        <p:spPr>
          <a:xfrm>
            <a:off x="4276440" y="4219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Forma libre 141"/>
          <p:cNvSpPr/>
          <p:nvPr/>
        </p:nvSpPr>
        <p:spPr>
          <a:xfrm>
            <a:off x="4286160" y="4209840"/>
            <a:ext cx="3457800" cy="10080"/>
          </a:xfrm>
          <a:custGeom>
            <a:avLst/>
            <a:gdLst/>
            <a:ahLst/>
            <a:cxnLst/>
            <a:rect l="0" t="0" r="r" b="b"/>
            <a:pathLst>
              <a:path w="9605" h="28">
                <a:moveTo>
                  <a:pt x="0" y="0"/>
                </a:moveTo>
                <a:lnTo>
                  <a:pt x="9605" y="0"/>
                </a:lnTo>
                <a:lnTo>
                  <a:pt x="96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Forma libre 142"/>
          <p:cNvSpPr/>
          <p:nvPr/>
        </p:nvSpPr>
        <p:spPr>
          <a:xfrm>
            <a:off x="7734240" y="4219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Forma libre 143"/>
          <p:cNvSpPr/>
          <p:nvPr/>
        </p:nvSpPr>
        <p:spPr>
          <a:xfrm>
            <a:off x="666720" y="4628880"/>
            <a:ext cx="3619800" cy="10080"/>
          </a:xfrm>
          <a:custGeom>
            <a:avLst/>
            <a:gdLst/>
            <a:ahLst/>
            <a:cxnLst/>
            <a:rect l="0" t="0" r="r" b="b"/>
            <a:pathLst>
              <a:path w="10055" h="28">
                <a:moveTo>
                  <a:pt x="0" y="0"/>
                </a:moveTo>
                <a:lnTo>
                  <a:pt x="10055" y="0"/>
                </a:lnTo>
                <a:lnTo>
                  <a:pt x="10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Forma libre 144"/>
          <p:cNvSpPr/>
          <p:nvPr/>
        </p:nvSpPr>
        <p:spPr>
          <a:xfrm>
            <a:off x="4286160" y="4628880"/>
            <a:ext cx="3457800" cy="10080"/>
          </a:xfrm>
          <a:custGeom>
            <a:avLst/>
            <a:gdLst/>
            <a:ahLst/>
            <a:cxnLst/>
            <a:rect l="0" t="0" r="r" b="b"/>
            <a:pathLst>
              <a:path w="9605" h="28">
                <a:moveTo>
                  <a:pt x="0" y="0"/>
                </a:moveTo>
                <a:lnTo>
                  <a:pt x="9605" y="0"/>
                </a:lnTo>
                <a:lnTo>
                  <a:pt x="96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Forma libre 145"/>
          <p:cNvSpPr/>
          <p:nvPr/>
        </p:nvSpPr>
        <p:spPr>
          <a:xfrm>
            <a:off x="666720" y="479088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Forma libre 146"/>
          <p:cNvSpPr/>
          <p:nvPr/>
        </p:nvSpPr>
        <p:spPr>
          <a:xfrm>
            <a:off x="666720" y="479088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CuadroTexto 147"/>
          <p:cNvSpPr txBox="1"/>
          <p:nvPr/>
        </p:nvSpPr>
        <p:spPr>
          <a:xfrm>
            <a:off x="666720" y="1510920"/>
            <a:ext cx="13233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Cuál usar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CuadroTexto 148"/>
          <p:cNvSpPr txBox="1"/>
          <p:nvPr/>
        </p:nvSpPr>
        <p:spPr>
          <a:xfrm>
            <a:off x="2028240" y="2257200"/>
            <a:ext cx="896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Quieres…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5829840" y="2257200"/>
            <a:ext cx="353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Usa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Forma libre 150"/>
          <p:cNvSpPr/>
          <p:nvPr/>
        </p:nvSpPr>
        <p:spPr>
          <a:xfrm>
            <a:off x="4410000" y="2666880"/>
            <a:ext cx="1667160" cy="228960"/>
          </a:xfrm>
          <a:custGeom>
            <a:avLst/>
            <a:gdLst/>
            <a:ahLst/>
            <a:cxnLst/>
            <a:rect l="0" t="0" r="r" b="b"/>
            <a:pathLst>
              <a:path w="4631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525" y="0"/>
                </a:lnTo>
                <a:cubicBezTo>
                  <a:pt x="4539" y="0"/>
                  <a:pt x="4553" y="3"/>
                  <a:pt x="4566" y="8"/>
                </a:cubicBezTo>
                <a:cubicBezTo>
                  <a:pt x="4579" y="13"/>
                  <a:pt x="4590" y="21"/>
                  <a:pt x="4600" y="31"/>
                </a:cubicBezTo>
                <a:cubicBezTo>
                  <a:pt x="4610" y="41"/>
                  <a:pt x="4617" y="52"/>
                  <a:pt x="4623" y="65"/>
                </a:cubicBezTo>
                <a:cubicBezTo>
                  <a:pt x="4628" y="78"/>
                  <a:pt x="4631" y="92"/>
                  <a:pt x="4631" y="106"/>
                </a:cubicBezTo>
                <a:lnTo>
                  <a:pt x="4631" y="530"/>
                </a:lnTo>
                <a:cubicBezTo>
                  <a:pt x="4631" y="544"/>
                  <a:pt x="4628" y="558"/>
                  <a:pt x="4623" y="570"/>
                </a:cubicBezTo>
                <a:cubicBezTo>
                  <a:pt x="4617" y="583"/>
                  <a:pt x="4610" y="595"/>
                  <a:pt x="4600" y="605"/>
                </a:cubicBezTo>
                <a:cubicBezTo>
                  <a:pt x="4590" y="615"/>
                  <a:pt x="4579" y="622"/>
                  <a:pt x="4566" y="628"/>
                </a:cubicBezTo>
                <a:cubicBezTo>
                  <a:pt x="4553" y="633"/>
                  <a:pt x="4539" y="636"/>
                  <a:pt x="4525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2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CuadroTexto 151"/>
          <p:cNvSpPr txBox="1"/>
          <p:nvPr/>
        </p:nvSpPr>
        <p:spPr>
          <a:xfrm>
            <a:off x="799920" y="2657160"/>
            <a:ext cx="3349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todos los descendientes de un concepto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CuadroTexto 152"/>
          <p:cNvSpPr txBox="1"/>
          <p:nvPr/>
        </p:nvSpPr>
        <p:spPr>
          <a:xfrm>
            <a:off x="4462920" y="2688120"/>
            <a:ext cx="15570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CONCEPT_ANCESTOR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Forma libre 153"/>
          <p:cNvSpPr/>
          <p:nvPr/>
        </p:nvSpPr>
        <p:spPr>
          <a:xfrm>
            <a:off x="4410000" y="3076560"/>
            <a:ext cx="2057760" cy="228960"/>
          </a:xfrm>
          <a:custGeom>
            <a:avLst/>
            <a:gdLst/>
            <a:ahLst/>
            <a:cxnLst/>
            <a:rect l="0" t="0" r="r" b="b"/>
            <a:pathLst>
              <a:path w="5716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2"/>
                </a:cubicBezTo>
                <a:cubicBezTo>
                  <a:pt x="41" y="22"/>
                  <a:pt x="52" y="14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5610" y="0"/>
                </a:lnTo>
                <a:cubicBezTo>
                  <a:pt x="5624" y="0"/>
                  <a:pt x="5637" y="2"/>
                  <a:pt x="5650" y="8"/>
                </a:cubicBezTo>
                <a:cubicBezTo>
                  <a:pt x="5663" y="14"/>
                  <a:pt x="5675" y="22"/>
                  <a:pt x="5685" y="32"/>
                </a:cubicBezTo>
                <a:cubicBezTo>
                  <a:pt x="5695" y="41"/>
                  <a:pt x="5702" y="53"/>
                  <a:pt x="5708" y="66"/>
                </a:cubicBezTo>
                <a:cubicBezTo>
                  <a:pt x="5713" y="79"/>
                  <a:pt x="5716" y="92"/>
                  <a:pt x="5716" y="106"/>
                </a:cubicBezTo>
                <a:lnTo>
                  <a:pt x="5716" y="530"/>
                </a:lnTo>
                <a:cubicBezTo>
                  <a:pt x="5716" y="544"/>
                  <a:pt x="5713" y="557"/>
                  <a:pt x="5708" y="570"/>
                </a:cubicBezTo>
                <a:cubicBezTo>
                  <a:pt x="5702" y="583"/>
                  <a:pt x="5695" y="595"/>
                  <a:pt x="5685" y="605"/>
                </a:cubicBezTo>
                <a:cubicBezTo>
                  <a:pt x="5675" y="614"/>
                  <a:pt x="5663" y="622"/>
                  <a:pt x="5650" y="627"/>
                </a:cubicBezTo>
                <a:cubicBezTo>
                  <a:pt x="5637" y="633"/>
                  <a:pt x="5624" y="636"/>
                  <a:pt x="5610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7"/>
                </a:cubicBezTo>
                <a:cubicBezTo>
                  <a:pt x="52" y="622"/>
                  <a:pt x="41" y="614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2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CuadroTexto 154"/>
          <p:cNvSpPr txBox="1"/>
          <p:nvPr/>
        </p:nvSpPr>
        <p:spPr>
          <a:xfrm>
            <a:off x="799920" y="3076200"/>
            <a:ext cx="3017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padre inmediato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un concepto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CuadroTexto 155"/>
          <p:cNvSpPr txBox="1"/>
          <p:nvPr/>
        </p:nvSpPr>
        <p:spPr>
          <a:xfrm>
            <a:off x="4462920" y="3097800"/>
            <a:ext cx="19458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CONCEPT_RELATIONSHIP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Forma libre 156"/>
          <p:cNvSpPr/>
          <p:nvPr/>
        </p:nvSpPr>
        <p:spPr>
          <a:xfrm>
            <a:off x="6572160" y="3076560"/>
            <a:ext cx="695520" cy="228960"/>
          </a:xfrm>
          <a:custGeom>
            <a:avLst/>
            <a:gdLst/>
            <a:ahLst/>
            <a:cxnLst/>
            <a:rect l="0" t="0" r="r" b="b"/>
            <a:pathLst>
              <a:path w="193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2"/>
                </a:cubicBezTo>
                <a:cubicBezTo>
                  <a:pt x="41" y="22"/>
                  <a:pt x="52" y="14"/>
                  <a:pt x="65" y="8"/>
                </a:cubicBezTo>
                <a:cubicBezTo>
                  <a:pt x="78" y="2"/>
                  <a:pt x="93" y="0"/>
                  <a:pt x="107" y="0"/>
                </a:cubicBezTo>
                <a:lnTo>
                  <a:pt x="1826" y="0"/>
                </a:lnTo>
                <a:cubicBezTo>
                  <a:pt x="1840" y="0"/>
                  <a:pt x="1854" y="2"/>
                  <a:pt x="1867" y="8"/>
                </a:cubicBezTo>
                <a:cubicBezTo>
                  <a:pt x="1880" y="14"/>
                  <a:pt x="1891" y="22"/>
                  <a:pt x="1901" y="32"/>
                </a:cubicBezTo>
                <a:cubicBezTo>
                  <a:pt x="1911" y="41"/>
                  <a:pt x="1919" y="53"/>
                  <a:pt x="1924" y="66"/>
                </a:cubicBezTo>
                <a:cubicBezTo>
                  <a:pt x="1930" y="79"/>
                  <a:pt x="1932" y="92"/>
                  <a:pt x="1932" y="106"/>
                </a:cubicBezTo>
                <a:lnTo>
                  <a:pt x="1932" y="530"/>
                </a:lnTo>
                <a:cubicBezTo>
                  <a:pt x="1932" y="544"/>
                  <a:pt x="1930" y="557"/>
                  <a:pt x="1924" y="570"/>
                </a:cubicBezTo>
                <a:cubicBezTo>
                  <a:pt x="1919" y="583"/>
                  <a:pt x="1911" y="595"/>
                  <a:pt x="1901" y="605"/>
                </a:cubicBezTo>
                <a:cubicBezTo>
                  <a:pt x="1891" y="614"/>
                  <a:pt x="1880" y="622"/>
                  <a:pt x="1867" y="627"/>
                </a:cubicBezTo>
                <a:cubicBezTo>
                  <a:pt x="1854" y="633"/>
                  <a:pt x="1840" y="636"/>
                  <a:pt x="1826" y="636"/>
                </a:cubicBezTo>
                <a:lnTo>
                  <a:pt x="107" y="636"/>
                </a:lnTo>
                <a:cubicBezTo>
                  <a:pt x="93" y="636"/>
                  <a:pt x="78" y="633"/>
                  <a:pt x="65" y="627"/>
                </a:cubicBezTo>
                <a:cubicBezTo>
                  <a:pt x="52" y="622"/>
                  <a:pt x="41" y="614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2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CuadroTexto 157"/>
          <p:cNvSpPr txBox="1"/>
          <p:nvPr/>
        </p:nvSpPr>
        <p:spPr>
          <a:xfrm>
            <a:off x="6469920" y="306684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CuadroTexto 158"/>
          <p:cNvSpPr txBox="1"/>
          <p:nvPr/>
        </p:nvSpPr>
        <p:spPr>
          <a:xfrm>
            <a:off x="6626160" y="3097800"/>
            <a:ext cx="584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'Is a'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CuadroTexto 159"/>
          <p:cNvSpPr txBox="1"/>
          <p:nvPr/>
        </p:nvSpPr>
        <p:spPr>
          <a:xfrm>
            <a:off x="7268400" y="306684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Forma libre 160"/>
          <p:cNvSpPr/>
          <p:nvPr/>
        </p:nvSpPr>
        <p:spPr>
          <a:xfrm>
            <a:off x="4410000" y="3495600"/>
            <a:ext cx="2057760" cy="228960"/>
          </a:xfrm>
          <a:custGeom>
            <a:avLst/>
            <a:gdLst/>
            <a:ahLst/>
            <a:cxnLst/>
            <a:rect l="0" t="0" r="r" b="b"/>
            <a:pathLst>
              <a:path w="5716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5610" y="0"/>
                </a:lnTo>
                <a:cubicBezTo>
                  <a:pt x="5624" y="0"/>
                  <a:pt x="5637" y="2"/>
                  <a:pt x="5650" y="8"/>
                </a:cubicBezTo>
                <a:cubicBezTo>
                  <a:pt x="5663" y="13"/>
                  <a:pt x="5675" y="21"/>
                  <a:pt x="5685" y="31"/>
                </a:cubicBezTo>
                <a:cubicBezTo>
                  <a:pt x="5695" y="41"/>
                  <a:pt x="5702" y="52"/>
                  <a:pt x="5708" y="65"/>
                </a:cubicBezTo>
                <a:cubicBezTo>
                  <a:pt x="5713" y="78"/>
                  <a:pt x="5716" y="92"/>
                  <a:pt x="5716" y="106"/>
                </a:cubicBezTo>
                <a:lnTo>
                  <a:pt x="5716" y="530"/>
                </a:lnTo>
                <a:cubicBezTo>
                  <a:pt x="5716" y="544"/>
                  <a:pt x="5713" y="557"/>
                  <a:pt x="5708" y="570"/>
                </a:cubicBezTo>
                <a:cubicBezTo>
                  <a:pt x="5702" y="583"/>
                  <a:pt x="5695" y="595"/>
                  <a:pt x="5685" y="605"/>
                </a:cubicBezTo>
                <a:cubicBezTo>
                  <a:pt x="5675" y="615"/>
                  <a:pt x="5663" y="622"/>
                  <a:pt x="5650" y="628"/>
                </a:cubicBezTo>
                <a:cubicBezTo>
                  <a:pt x="5637" y="633"/>
                  <a:pt x="5624" y="636"/>
                  <a:pt x="5610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2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CuadroTexto 161"/>
          <p:cNvSpPr txBox="1"/>
          <p:nvPr/>
        </p:nvSpPr>
        <p:spPr>
          <a:xfrm>
            <a:off x="799920" y="3485880"/>
            <a:ext cx="2264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traducir ICD-10 a SNOMED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CuadroTexto 162"/>
          <p:cNvSpPr txBox="1"/>
          <p:nvPr/>
        </p:nvSpPr>
        <p:spPr>
          <a:xfrm>
            <a:off x="4462920" y="3516840"/>
            <a:ext cx="19458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CONCEPT_RELATIONSHIP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Forma libre 163"/>
          <p:cNvSpPr/>
          <p:nvPr/>
        </p:nvSpPr>
        <p:spPr>
          <a:xfrm>
            <a:off x="6572160" y="3495600"/>
            <a:ext cx="990720" cy="228960"/>
          </a:xfrm>
          <a:custGeom>
            <a:avLst/>
            <a:gdLst/>
            <a:ahLst/>
            <a:cxnLst/>
            <a:rect l="0" t="0" r="r" b="b"/>
            <a:pathLst>
              <a:path w="275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647" y="0"/>
                </a:lnTo>
                <a:cubicBezTo>
                  <a:pt x="2661" y="0"/>
                  <a:pt x="2674" y="2"/>
                  <a:pt x="2687" y="8"/>
                </a:cubicBezTo>
                <a:cubicBezTo>
                  <a:pt x="2700" y="13"/>
                  <a:pt x="2711" y="21"/>
                  <a:pt x="2721" y="31"/>
                </a:cubicBezTo>
                <a:cubicBezTo>
                  <a:pt x="2731" y="41"/>
                  <a:pt x="2739" y="52"/>
                  <a:pt x="2744" y="65"/>
                </a:cubicBezTo>
                <a:cubicBezTo>
                  <a:pt x="2750" y="78"/>
                  <a:pt x="2752" y="92"/>
                  <a:pt x="2752" y="106"/>
                </a:cubicBezTo>
                <a:lnTo>
                  <a:pt x="2752" y="530"/>
                </a:lnTo>
                <a:cubicBezTo>
                  <a:pt x="2752" y="544"/>
                  <a:pt x="2750" y="557"/>
                  <a:pt x="2744" y="570"/>
                </a:cubicBezTo>
                <a:cubicBezTo>
                  <a:pt x="2739" y="583"/>
                  <a:pt x="2731" y="595"/>
                  <a:pt x="2721" y="605"/>
                </a:cubicBezTo>
                <a:cubicBezTo>
                  <a:pt x="2711" y="615"/>
                  <a:pt x="2700" y="622"/>
                  <a:pt x="2687" y="628"/>
                </a:cubicBezTo>
                <a:cubicBezTo>
                  <a:pt x="2674" y="633"/>
                  <a:pt x="2661" y="636"/>
                  <a:pt x="264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2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CuadroTexto 164"/>
          <p:cNvSpPr txBox="1"/>
          <p:nvPr/>
        </p:nvSpPr>
        <p:spPr>
          <a:xfrm>
            <a:off x="6469920" y="348588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CuadroTexto 165"/>
          <p:cNvSpPr txBox="1"/>
          <p:nvPr/>
        </p:nvSpPr>
        <p:spPr>
          <a:xfrm>
            <a:off x="6626160" y="3516840"/>
            <a:ext cx="875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'Maps to'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CuadroTexto 166"/>
          <p:cNvSpPr txBox="1"/>
          <p:nvPr/>
        </p:nvSpPr>
        <p:spPr>
          <a:xfrm>
            <a:off x="7560720" y="348588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CuadroTexto 167"/>
          <p:cNvSpPr txBox="1"/>
          <p:nvPr/>
        </p:nvSpPr>
        <p:spPr>
          <a:xfrm>
            <a:off x="799920" y="3895200"/>
            <a:ext cx="2410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ingrediente de un producto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CuadroTexto 168"/>
          <p:cNvSpPr txBox="1"/>
          <p:nvPr/>
        </p:nvSpPr>
        <p:spPr>
          <a:xfrm>
            <a:off x="4406040" y="3895200"/>
            <a:ext cx="2975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cualquiera de las dos, según el salto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Forma libre 169"/>
          <p:cNvSpPr/>
          <p:nvPr/>
        </p:nvSpPr>
        <p:spPr>
          <a:xfrm>
            <a:off x="4410000" y="4314600"/>
            <a:ext cx="2057760" cy="228960"/>
          </a:xfrm>
          <a:custGeom>
            <a:avLst/>
            <a:gdLst/>
            <a:ahLst/>
            <a:cxnLst/>
            <a:rect l="0" t="0" r="r" b="b"/>
            <a:pathLst>
              <a:path w="5716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610" y="0"/>
                </a:lnTo>
                <a:cubicBezTo>
                  <a:pt x="5624" y="0"/>
                  <a:pt x="5637" y="3"/>
                  <a:pt x="5650" y="8"/>
                </a:cubicBezTo>
                <a:cubicBezTo>
                  <a:pt x="5663" y="14"/>
                  <a:pt x="5675" y="21"/>
                  <a:pt x="5685" y="31"/>
                </a:cubicBezTo>
                <a:cubicBezTo>
                  <a:pt x="5695" y="41"/>
                  <a:pt x="5702" y="52"/>
                  <a:pt x="5708" y="65"/>
                </a:cubicBezTo>
                <a:cubicBezTo>
                  <a:pt x="5713" y="78"/>
                  <a:pt x="5716" y="92"/>
                  <a:pt x="5716" y="106"/>
                </a:cubicBezTo>
                <a:lnTo>
                  <a:pt x="5716" y="530"/>
                </a:lnTo>
                <a:cubicBezTo>
                  <a:pt x="5716" y="544"/>
                  <a:pt x="5713" y="558"/>
                  <a:pt x="5708" y="571"/>
                </a:cubicBezTo>
                <a:cubicBezTo>
                  <a:pt x="5702" y="584"/>
                  <a:pt x="5695" y="595"/>
                  <a:pt x="5685" y="605"/>
                </a:cubicBezTo>
                <a:cubicBezTo>
                  <a:pt x="5675" y="615"/>
                  <a:pt x="5663" y="623"/>
                  <a:pt x="5650" y="628"/>
                </a:cubicBezTo>
                <a:cubicBezTo>
                  <a:pt x="5637" y="633"/>
                  <a:pt x="5624" y="636"/>
                  <a:pt x="5610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2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CuadroTexto 170"/>
          <p:cNvSpPr txBox="1"/>
          <p:nvPr/>
        </p:nvSpPr>
        <p:spPr>
          <a:xfrm>
            <a:off x="799920" y="4314600"/>
            <a:ext cx="2820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recorrer una relación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jerárquica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CuadroTexto 171"/>
          <p:cNvSpPr txBox="1"/>
          <p:nvPr/>
        </p:nvSpPr>
        <p:spPr>
          <a:xfrm>
            <a:off x="4462920" y="4335840"/>
            <a:ext cx="19458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CONCEPT_RELATIONSHIP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CuadroTexto 172"/>
          <p:cNvSpPr txBox="1"/>
          <p:nvPr/>
        </p:nvSpPr>
        <p:spPr>
          <a:xfrm>
            <a:off x="6469920" y="4304880"/>
            <a:ext cx="975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+ recursión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CuadroTexto 173"/>
          <p:cNvSpPr txBox="1"/>
          <p:nvPr/>
        </p:nvSpPr>
        <p:spPr>
          <a:xfrm>
            <a:off x="905040" y="4944960"/>
            <a:ext cx="6799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Regla: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 es jerárquico y estándar, ancestor. Si no, relationship.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CuadroTexto 17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CuadroTexto 17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CuadroTexto 17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Forma libre 17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Forma libre 1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Forma libre 17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Forma libre 180"/>
          <p:cNvSpPr/>
          <p:nvPr/>
        </p:nvSpPr>
        <p:spPr>
          <a:xfrm>
            <a:off x="1866600" y="3066840"/>
            <a:ext cx="6534720" cy="619560"/>
          </a:xfrm>
          <a:custGeom>
            <a:avLst/>
            <a:gdLst/>
            <a:ahLst/>
            <a:cxnLst/>
            <a:rect l="0" t="0" r="r" b="b"/>
            <a:pathLst>
              <a:path w="18152" h="1721">
                <a:moveTo>
                  <a:pt x="0" y="161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8046" y="0"/>
                </a:lnTo>
                <a:cubicBezTo>
                  <a:pt x="18060" y="0"/>
                  <a:pt x="18073" y="3"/>
                  <a:pt x="18086" y="8"/>
                </a:cubicBezTo>
                <a:cubicBezTo>
                  <a:pt x="18099" y="14"/>
                  <a:pt x="18111" y="21"/>
                  <a:pt x="18121" y="31"/>
                </a:cubicBezTo>
                <a:cubicBezTo>
                  <a:pt x="18131" y="41"/>
                  <a:pt x="18138" y="52"/>
                  <a:pt x="18144" y="65"/>
                </a:cubicBezTo>
                <a:cubicBezTo>
                  <a:pt x="18149" y="78"/>
                  <a:pt x="18152" y="92"/>
                  <a:pt x="18152" y="106"/>
                </a:cubicBezTo>
                <a:lnTo>
                  <a:pt x="18152" y="1615"/>
                </a:lnTo>
                <a:cubicBezTo>
                  <a:pt x="18152" y="1629"/>
                  <a:pt x="18149" y="1643"/>
                  <a:pt x="18144" y="1656"/>
                </a:cubicBezTo>
                <a:cubicBezTo>
                  <a:pt x="18138" y="1669"/>
                  <a:pt x="18131" y="1680"/>
                  <a:pt x="18121" y="1690"/>
                </a:cubicBezTo>
                <a:cubicBezTo>
                  <a:pt x="18111" y="1700"/>
                  <a:pt x="18099" y="1707"/>
                  <a:pt x="18086" y="1713"/>
                </a:cubicBezTo>
                <a:cubicBezTo>
                  <a:pt x="18073" y="1718"/>
                  <a:pt x="18060" y="1721"/>
                  <a:pt x="18046" y="1721"/>
                </a:cubicBezTo>
                <a:lnTo>
                  <a:pt x="106" y="1721"/>
                </a:lnTo>
                <a:cubicBezTo>
                  <a:pt x="92" y="1721"/>
                  <a:pt x="79" y="1718"/>
                  <a:pt x="66" y="1713"/>
                </a:cubicBezTo>
                <a:cubicBezTo>
                  <a:pt x="53" y="1707"/>
                  <a:pt x="41" y="1700"/>
                  <a:pt x="31" y="1690"/>
                </a:cubicBezTo>
                <a:cubicBezTo>
                  <a:pt x="21" y="1680"/>
                  <a:pt x="14" y="1669"/>
                  <a:pt x="8" y="1656"/>
                </a:cubicBezTo>
                <a:cubicBezTo>
                  <a:pt x="3" y="1643"/>
                  <a:pt x="0" y="1629"/>
                  <a:pt x="0" y="161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CuadroTexto 181"/>
          <p:cNvSpPr txBox="1"/>
          <p:nvPr/>
        </p:nvSpPr>
        <p:spPr>
          <a:xfrm>
            <a:off x="1293120" y="3054600"/>
            <a:ext cx="594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CuadroTexto 182"/>
          <p:cNvSpPr txBox="1"/>
          <p:nvPr/>
        </p:nvSpPr>
        <p:spPr>
          <a:xfrm>
            <a:off x="1976760" y="3067200"/>
            <a:ext cx="6423480" cy="622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CONCEPT_RELATIONSHIP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CuadroTexto 183"/>
          <p:cNvSpPr txBox="1"/>
          <p:nvPr/>
        </p:nvSpPr>
        <p:spPr>
          <a:xfrm>
            <a:off x="8399520" y="3054600"/>
            <a:ext cx="25689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: las aristas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CuadroTexto 18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CuadroTexto 18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CuadroTexto 18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Forma libre 18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Forma libre 18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Forma libre 18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Forma libre 190"/>
          <p:cNvSpPr/>
          <p:nvPr/>
        </p:nvSpPr>
        <p:spPr>
          <a:xfrm>
            <a:off x="671400" y="1452240"/>
            <a:ext cx="10849320" cy="1896120"/>
          </a:xfrm>
          <a:custGeom>
            <a:avLst/>
            <a:gdLst/>
            <a:ahLst/>
            <a:cxnLst/>
            <a:rect l="0" t="0" r="r" b="b"/>
            <a:pathLst>
              <a:path w="30137" h="5267">
                <a:moveTo>
                  <a:pt x="0" y="506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068"/>
                </a:lnTo>
                <a:cubicBezTo>
                  <a:pt x="30137" y="5081"/>
                  <a:pt x="30136" y="5094"/>
                  <a:pt x="30133" y="5107"/>
                </a:cubicBezTo>
                <a:cubicBezTo>
                  <a:pt x="30130" y="5120"/>
                  <a:pt x="30127" y="5132"/>
                  <a:pt x="30122" y="5144"/>
                </a:cubicBezTo>
                <a:cubicBezTo>
                  <a:pt x="30117" y="5156"/>
                  <a:pt x="30111" y="5168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8"/>
                  <a:pt x="30059" y="5226"/>
                  <a:pt x="30049" y="5233"/>
                </a:cubicBezTo>
                <a:cubicBezTo>
                  <a:pt x="30038" y="5240"/>
                  <a:pt x="30026" y="5247"/>
                  <a:pt x="30014" y="5251"/>
                </a:cubicBezTo>
                <a:cubicBezTo>
                  <a:pt x="30002" y="5256"/>
                  <a:pt x="29990" y="5260"/>
                  <a:pt x="29977" y="5263"/>
                </a:cubicBezTo>
                <a:cubicBezTo>
                  <a:pt x="29964" y="5265"/>
                  <a:pt x="29951" y="5267"/>
                  <a:pt x="29938" y="5267"/>
                </a:cubicBezTo>
                <a:lnTo>
                  <a:pt x="198" y="5267"/>
                </a:lnTo>
                <a:cubicBezTo>
                  <a:pt x="185" y="5267"/>
                  <a:pt x="172" y="5265"/>
                  <a:pt x="160" y="5263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7"/>
                  <a:pt x="99" y="5240"/>
                  <a:pt x="88" y="5233"/>
                </a:cubicBezTo>
                <a:cubicBezTo>
                  <a:pt x="77" y="5226"/>
                  <a:pt x="67" y="5218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8"/>
                  <a:pt x="20" y="5156"/>
                  <a:pt x="15" y="5144"/>
                </a:cubicBezTo>
                <a:cubicBezTo>
                  <a:pt x="10" y="5132"/>
                  <a:pt x="6" y="5120"/>
                  <a:pt x="4" y="5107"/>
                </a:cubicBezTo>
                <a:cubicBezTo>
                  <a:pt x="1" y="5094"/>
                  <a:pt x="0" y="5081"/>
                  <a:pt x="0" y="506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Forma libre 191"/>
          <p:cNvSpPr/>
          <p:nvPr/>
        </p:nvSpPr>
        <p:spPr>
          <a:xfrm>
            <a:off x="671400" y="1452240"/>
            <a:ext cx="10849320" cy="1896120"/>
          </a:xfrm>
          <a:custGeom>
            <a:avLst/>
            <a:gdLst/>
            <a:ahLst/>
            <a:cxnLst/>
            <a:rect l="0" t="0" r="r" b="b"/>
            <a:pathLst>
              <a:path w="30137" h="5267">
                <a:moveTo>
                  <a:pt x="0" y="506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068"/>
                </a:lnTo>
                <a:cubicBezTo>
                  <a:pt x="30137" y="5081"/>
                  <a:pt x="30136" y="5094"/>
                  <a:pt x="30133" y="5107"/>
                </a:cubicBezTo>
                <a:cubicBezTo>
                  <a:pt x="30130" y="5120"/>
                  <a:pt x="30127" y="5132"/>
                  <a:pt x="30122" y="5144"/>
                </a:cubicBezTo>
                <a:cubicBezTo>
                  <a:pt x="30117" y="5156"/>
                  <a:pt x="30111" y="5168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8"/>
                  <a:pt x="30059" y="5226"/>
                  <a:pt x="30049" y="5233"/>
                </a:cubicBezTo>
                <a:cubicBezTo>
                  <a:pt x="30038" y="5240"/>
                  <a:pt x="30026" y="5247"/>
                  <a:pt x="30014" y="5251"/>
                </a:cubicBezTo>
                <a:cubicBezTo>
                  <a:pt x="30002" y="5256"/>
                  <a:pt x="29990" y="5260"/>
                  <a:pt x="29977" y="5263"/>
                </a:cubicBezTo>
                <a:cubicBezTo>
                  <a:pt x="29964" y="5265"/>
                  <a:pt x="29951" y="5267"/>
                  <a:pt x="29938" y="5267"/>
                </a:cubicBezTo>
                <a:lnTo>
                  <a:pt x="198" y="5267"/>
                </a:lnTo>
                <a:cubicBezTo>
                  <a:pt x="185" y="5267"/>
                  <a:pt x="172" y="5265"/>
                  <a:pt x="160" y="5263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7"/>
                  <a:pt x="99" y="5240"/>
                  <a:pt x="88" y="5233"/>
                </a:cubicBezTo>
                <a:cubicBezTo>
                  <a:pt x="77" y="5226"/>
                  <a:pt x="67" y="5218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8"/>
                  <a:pt x="20" y="5156"/>
                  <a:pt x="15" y="5144"/>
                </a:cubicBezTo>
                <a:cubicBezTo>
                  <a:pt x="10" y="5132"/>
                  <a:pt x="6" y="5120"/>
                  <a:pt x="4" y="5107"/>
                </a:cubicBezTo>
                <a:cubicBezTo>
                  <a:pt x="1" y="5094"/>
                  <a:pt x="0" y="5081"/>
                  <a:pt x="0" y="506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Forma libre 192"/>
          <p:cNvSpPr/>
          <p:nvPr/>
        </p:nvSpPr>
        <p:spPr>
          <a:xfrm>
            <a:off x="676080" y="4009680"/>
            <a:ext cx="2410200" cy="410040"/>
          </a:xfrm>
          <a:custGeom>
            <a:avLst/>
            <a:gdLst/>
            <a:ahLst/>
            <a:cxnLst/>
            <a:rect l="0" t="0" r="r" b="b"/>
            <a:pathLst>
              <a:path w="6695" h="1139">
                <a:moveTo>
                  <a:pt x="0" y="0"/>
                </a:moveTo>
                <a:lnTo>
                  <a:pt x="6695" y="0"/>
                </a:lnTo>
                <a:lnTo>
                  <a:pt x="669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Forma libre 193"/>
          <p:cNvSpPr/>
          <p:nvPr/>
        </p:nvSpPr>
        <p:spPr>
          <a:xfrm>
            <a:off x="3085920" y="4009680"/>
            <a:ext cx="3391200" cy="410040"/>
          </a:xfrm>
          <a:custGeom>
            <a:avLst/>
            <a:gdLst/>
            <a:ahLst/>
            <a:cxnLst/>
            <a:rect l="0" t="0" r="r" b="b"/>
            <a:pathLst>
              <a:path w="9420" h="1139">
                <a:moveTo>
                  <a:pt x="0" y="0"/>
                </a:moveTo>
                <a:lnTo>
                  <a:pt x="9420" y="0"/>
                </a:lnTo>
                <a:lnTo>
                  <a:pt x="942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Forma libre 194"/>
          <p:cNvSpPr/>
          <p:nvPr/>
        </p:nvSpPr>
        <p:spPr>
          <a:xfrm>
            <a:off x="676080" y="4009680"/>
            <a:ext cx="2410200" cy="410040"/>
          </a:xfrm>
          <a:custGeom>
            <a:avLst/>
            <a:gdLst/>
            <a:ahLst/>
            <a:cxnLst/>
            <a:rect l="0" t="0" r="r" b="b"/>
            <a:pathLst>
              <a:path w="6695" h="1139">
                <a:moveTo>
                  <a:pt x="0" y="0"/>
                </a:moveTo>
                <a:lnTo>
                  <a:pt x="6695" y="0"/>
                </a:lnTo>
                <a:lnTo>
                  <a:pt x="669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Forma libre 195"/>
          <p:cNvSpPr/>
          <p:nvPr/>
        </p:nvSpPr>
        <p:spPr>
          <a:xfrm>
            <a:off x="3085920" y="4009680"/>
            <a:ext cx="3391200" cy="410040"/>
          </a:xfrm>
          <a:custGeom>
            <a:avLst/>
            <a:gdLst/>
            <a:ahLst/>
            <a:cxnLst/>
            <a:rect l="0" t="0" r="r" b="b"/>
            <a:pathLst>
              <a:path w="9420" h="1139">
                <a:moveTo>
                  <a:pt x="0" y="0"/>
                </a:moveTo>
                <a:lnTo>
                  <a:pt x="9420" y="0"/>
                </a:lnTo>
                <a:lnTo>
                  <a:pt x="942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Forma libre 196"/>
          <p:cNvSpPr/>
          <p:nvPr/>
        </p:nvSpPr>
        <p:spPr>
          <a:xfrm>
            <a:off x="676080" y="4419360"/>
            <a:ext cx="2410200" cy="410040"/>
          </a:xfrm>
          <a:custGeom>
            <a:avLst/>
            <a:gdLst/>
            <a:ahLst/>
            <a:cxnLst/>
            <a:rect l="0" t="0" r="r" b="b"/>
            <a:pathLst>
              <a:path w="6695" h="1139">
                <a:moveTo>
                  <a:pt x="0" y="0"/>
                </a:moveTo>
                <a:lnTo>
                  <a:pt x="6695" y="0"/>
                </a:lnTo>
                <a:lnTo>
                  <a:pt x="669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Forma libre 197"/>
          <p:cNvSpPr/>
          <p:nvPr/>
        </p:nvSpPr>
        <p:spPr>
          <a:xfrm>
            <a:off x="3085920" y="4419360"/>
            <a:ext cx="3391200" cy="410040"/>
          </a:xfrm>
          <a:custGeom>
            <a:avLst/>
            <a:gdLst/>
            <a:ahLst/>
            <a:cxnLst/>
            <a:rect l="0" t="0" r="r" b="b"/>
            <a:pathLst>
              <a:path w="9420" h="1139">
                <a:moveTo>
                  <a:pt x="0" y="0"/>
                </a:moveTo>
                <a:lnTo>
                  <a:pt x="9420" y="0"/>
                </a:lnTo>
                <a:lnTo>
                  <a:pt x="942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Forma libre 198"/>
          <p:cNvSpPr/>
          <p:nvPr/>
        </p:nvSpPr>
        <p:spPr>
          <a:xfrm>
            <a:off x="676080" y="4829040"/>
            <a:ext cx="2410200" cy="410040"/>
          </a:xfrm>
          <a:custGeom>
            <a:avLst/>
            <a:gdLst/>
            <a:ahLst/>
            <a:cxnLst/>
            <a:rect l="0" t="0" r="r" b="b"/>
            <a:pathLst>
              <a:path w="6695" h="1139">
                <a:moveTo>
                  <a:pt x="0" y="0"/>
                </a:moveTo>
                <a:lnTo>
                  <a:pt x="6695" y="0"/>
                </a:lnTo>
                <a:lnTo>
                  <a:pt x="669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Forma libre 199"/>
          <p:cNvSpPr/>
          <p:nvPr/>
        </p:nvSpPr>
        <p:spPr>
          <a:xfrm>
            <a:off x="3085920" y="4829040"/>
            <a:ext cx="3391200" cy="410040"/>
          </a:xfrm>
          <a:custGeom>
            <a:avLst/>
            <a:gdLst/>
            <a:ahLst/>
            <a:cxnLst/>
            <a:rect l="0" t="0" r="r" b="b"/>
            <a:pathLst>
              <a:path w="9420" h="1139">
                <a:moveTo>
                  <a:pt x="0" y="0"/>
                </a:moveTo>
                <a:lnTo>
                  <a:pt x="9420" y="0"/>
                </a:lnTo>
                <a:lnTo>
                  <a:pt x="942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Forma libre 200"/>
          <p:cNvSpPr/>
          <p:nvPr/>
        </p:nvSpPr>
        <p:spPr>
          <a:xfrm>
            <a:off x="676080" y="5238720"/>
            <a:ext cx="2410200" cy="409680"/>
          </a:xfrm>
          <a:custGeom>
            <a:avLst/>
            <a:gdLst/>
            <a:ahLst/>
            <a:cxnLst/>
            <a:rect l="0" t="0" r="r" b="b"/>
            <a:pathLst>
              <a:path w="6695" h="1138">
                <a:moveTo>
                  <a:pt x="0" y="0"/>
                </a:moveTo>
                <a:lnTo>
                  <a:pt x="6695" y="0"/>
                </a:lnTo>
                <a:lnTo>
                  <a:pt x="669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Forma libre 201"/>
          <p:cNvSpPr/>
          <p:nvPr/>
        </p:nvSpPr>
        <p:spPr>
          <a:xfrm>
            <a:off x="3085920" y="5238720"/>
            <a:ext cx="3391200" cy="409680"/>
          </a:xfrm>
          <a:custGeom>
            <a:avLst/>
            <a:gdLst/>
            <a:ahLst/>
            <a:cxnLst/>
            <a:rect l="0" t="0" r="r" b="b"/>
            <a:pathLst>
              <a:path w="9420" h="1138">
                <a:moveTo>
                  <a:pt x="0" y="0"/>
                </a:moveTo>
                <a:lnTo>
                  <a:pt x="9420" y="0"/>
                </a:lnTo>
                <a:lnTo>
                  <a:pt x="942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Forma libre 202"/>
          <p:cNvSpPr/>
          <p:nvPr/>
        </p:nvSpPr>
        <p:spPr>
          <a:xfrm>
            <a:off x="676080" y="5648040"/>
            <a:ext cx="2410200" cy="410040"/>
          </a:xfrm>
          <a:custGeom>
            <a:avLst/>
            <a:gdLst/>
            <a:ahLst/>
            <a:cxnLst/>
            <a:rect l="0" t="0" r="r" b="b"/>
            <a:pathLst>
              <a:path w="6695" h="1139">
                <a:moveTo>
                  <a:pt x="0" y="0"/>
                </a:moveTo>
                <a:lnTo>
                  <a:pt x="6695" y="0"/>
                </a:lnTo>
                <a:lnTo>
                  <a:pt x="669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Forma libre 203"/>
          <p:cNvSpPr/>
          <p:nvPr/>
        </p:nvSpPr>
        <p:spPr>
          <a:xfrm>
            <a:off x="3085920" y="5648040"/>
            <a:ext cx="3391200" cy="410040"/>
          </a:xfrm>
          <a:custGeom>
            <a:avLst/>
            <a:gdLst/>
            <a:ahLst/>
            <a:cxnLst/>
            <a:rect l="0" t="0" r="r" b="b"/>
            <a:pathLst>
              <a:path w="9420" h="1139">
                <a:moveTo>
                  <a:pt x="0" y="0"/>
                </a:moveTo>
                <a:lnTo>
                  <a:pt x="9420" y="0"/>
                </a:lnTo>
                <a:lnTo>
                  <a:pt x="942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Forma libre 204"/>
          <p:cNvSpPr/>
          <p:nvPr/>
        </p:nvSpPr>
        <p:spPr>
          <a:xfrm>
            <a:off x="666720" y="4000320"/>
            <a:ext cx="9720" cy="429120"/>
          </a:xfrm>
          <a:custGeom>
            <a:avLst/>
            <a:gdLst/>
            <a:ahLst/>
            <a:cxn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Forma libre 205"/>
          <p:cNvSpPr/>
          <p:nvPr/>
        </p:nvSpPr>
        <p:spPr>
          <a:xfrm>
            <a:off x="666720" y="4000320"/>
            <a:ext cx="2428920" cy="9720"/>
          </a:xfrm>
          <a:custGeom>
            <a:avLst/>
            <a:gdLst/>
            <a:ahLst/>
            <a:cxn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Forma libre 206"/>
          <p:cNvSpPr/>
          <p:nvPr/>
        </p:nvSpPr>
        <p:spPr>
          <a:xfrm>
            <a:off x="3085920" y="4000320"/>
            <a:ext cx="9720" cy="429120"/>
          </a:xfrm>
          <a:custGeom>
            <a:avLst/>
            <a:gdLst/>
            <a:ahLst/>
            <a:cxn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Forma libre 207"/>
          <p:cNvSpPr/>
          <p:nvPr/>
        </p:nvSpPr>
        <p:spPr>
          <a:xfrm>
            <a:off x="3095280" y="4000320"/>
            <a:ext cx="3391560" cy="9720"/>
          </a:xfrm>
          <a:custGeom>
            <a:avLst/>
            <a:gdLst/>
            <a:ahLst/>
            <a:cxnLst/>
            <a:rect l="0" t="0" r="r" b="b"/>
            <a:pathLst>
              <a:path w="9421" h="27">
                <a:moveTo>
                  <a:pt x="0" y="0"/>
                </a:moveTo>
                <a:lnTo>
                  <a:pt x="9421" y="0"/>
                </a:lnTo>
                <a:lnTo>
                  <a:pt x="94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orma libre 208"/>
          <p:cNvSpPr/>
          <p:nvPr/>
        </p:nvSpPr>
        <p:spPr>
          <a:xfrm>
            <a:off x="6476760" y="4000320"/>
            <a:ext cx="10080" cy="429120"/>
          </a:xfrm>
          <a:custGeom>
            <a:avLst/>
            <a:gdLst/>
            <a:ahLst/>
            <a:cxn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Forma libre 209"/>
          <p:cNvSpPr/>
          <p:nvPr/>
        </p:nvSpPr>
        <p:spPr>
          <a:xfrm>
            <a:off x="666720" y="4419360"/>
            <a:ext cx="2428920" cy="10080"/>
          </a:xfrm>
          <a:custGeom>
            <a:avLst/>
            <a:gdLst/>
            <a:ahLst/>
            <a:cxnLst/>
            <a:rect l="0" t="0" r="r" b="b"/>
            <a:pathLst>
              <a:path w="6747" h="28">
                <a:moveTo>
                  <a:pt x="0" y="0"/>
                </a:moveTo>
                <a:lnTo>
                  <a:pt x="6747" y="0"/>
                </a:lnTo>
                <a:lnTo>
                  <a:pt x="6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Forma libre 210"/>
          <p:cNvSpPr/>
          <p:nvPr/>
        </p:nvSpPr>
        <p:spPr>
          <a:xfrm>
            <a:off x="3095280" y="4419360"/>
            <a:ext cx="3391560" cy="10080"/>
          </a:xfrm>
          <a:custGeom>
            <a:avLst/>
            <a:gdLst/>
            <a:ahLst/>
            <a:cxnLst/>
            <a:rect l="0" t="0" r="r" b="b"/>
            <a:pathLst>
              <a:path w="9421" h="28">
                <a:moveTo>
                  <a:pt x="0" y="0"/>
                </a:moveTo>
                <a:lnTo>
                  <a:pt x="9421" y="0"/>
                </a:lnTo>
                <a:lnTo>
                  <a:pt x="94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Forma libre 211"/>
          <p:cNvSpPr/>
          <p:nvPr/>
        </p:nvSpPr>
        <p:spPr>
          <a:xfrm>
            <a:off x="666720" y="442908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orma libre 212"/>
          <p:cNvSpPr/>
          <p:nvPr/>
        </p:nvSpPr>
        <p:spPr>
          <a:xfrm>
            <a:off x="3085920" y="442908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Forma libre 213"/>
          <p:cNvSpPr/>
          <p:nvPr/>
        </p:nvSpPr>
        <p:spPr>
          <a:xfrm>
            <a:off x="6476760" y="442908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Forma libre 214"/>
          <p:cNvSpPr/>
          <p:nvPr/>
        </p:nvSpPr>
        <p:spPr>
          <a:xfrm>
            <a:off x="666720" y="48384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Forma libre 215"/>
          <p:cNvSpPr/>
          <p:nvPr/>
        </p:nvSpPr>
        <p:spPr>
          <a:xfrm>
            <a:off x="666720" y="4829040"/>
            <a:ext cx="2428920" cy="9720"/>
          </a:xfrm>
          <a:custGeom>
            <a:avLst/>
            <a:gdLst/>
            <a:ahLst/>
            <a:cxn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Forma libre 216"/>
          <p:cNvSpPr/>
          <p:nvPr/>
        </p:nvSpPr>
        <p:spPr>
          <a:xfrm>
            <a:off x="3085920" y="48384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Forma libre 217"/>
          <p:cNvSpPr/>
          <p:nvPr/>
        </p:nvSpPr>
        <p:spPr>
          <a:xfrm>
            <a:off x="3095280" y="4829040"/>
            <a:ext cx="3391560" cy="9720"/>
          </a:xfrm>
          <a:custGeom>
            <a:avLst/>
            <a:gdLst/>
            <a:ahLst/>
            <a:cxnLst/>
            <a:rect l="0" t="0" r="r" b="b"/>
            <a:pathLst>
              <a:path w="9421" h="27">
                <a:moveTo>
                  <a:pt x="0" y="0"/>
                </a:moveTo>
                <a:lnTo>
                  <a:pt x="9421" y="0"/>
                </a:lnTo>
                <a:lnTo>
                  <a:pt x="94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Forma libre 218"/>
          <p:cNvSpPr/>
          <p:nvPr/>
        </p:nvSpPr>
        <p:spPr>
          <a:xfrm>
            <a:off x="6476760" y="48384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Forma libre 219"/>
          <p:cNvSpPr/>
          <p:nvPr/>
        </p:nvSpPr>
        <p:spPr>
          <a:xfrm>
            <a:off x="666720" y="52480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Forma libre 220"/>
          <p:cNvSpPr/>
          <p:nvPr/>
        </p:nvSpPr>
        <p:spPr>
          <a:xfrm>
            <a:off x="666720" y="5238720"/>
            <a:ext cx="2428920" cy="9720"/>
          </a:xfrm>
          <a:custGeom>
            <a:avLst/>
            <a:gdLst/>
            <a:ahLst/>
            <a:cxn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Forma libre 221"/>
          <p:cNvSpPr/>
          <p:nvPr/>
        </p:nvSpPr>
        <p:spPr>
          <a:xfrm>
            <a:off x="3085920" y="52480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Forma libre 222"/>
          <p:cNvSpPr/>
          <p:nvPr/>
        </p:nvSpPr>
        <p:spPr>
          <a:xfrm>
            <a:off x="3095280" y="5238720"/>
            <a:ext cx="3391560" cy="9720"/>
          </a:xfrm>
          <a:custGeom>
            <a:avLst/>
            <a:gdLst/>
            <a:ahLst/>
            <a:cxnLst/>
            <a:rect l="0" t="0" r="r" b="b"/>
            <a:pathLst>
              <a:path w="9421" h="27">
                <a:moveTo>
                  <a:pt x="0" y="0"/>
                </a:moveTo>
                <a:lnTo>
                  <a:pt x="9421" y="0"/>
                </a:lnTo>
                <a:lnTo>
                  <a:pt x="94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Forma libre 223"/>
          <p:cNvSpPr/>
          <p:nvPr/>
        </p:nvSpPr>
        <p:spPr>
          <a:xfrm>
            <a:off x="6476760" y="52480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Forma libre 224"/>
          <p:cNvSpPr/>
          <p:nvPr/>
        </p:nvSpPr>
        <p:spPr>
          <a:xfrm>
            <a:off x="666720" y="56577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orma libre 225"/>
          <p:cNvSpPr/>
          <p:nvPr/>
        </p:nvSpPr>
        <p:spPr>
          <a:xfrm>
            <a:off x="666720" y="5648040"/>
            <a:ext cx="2428920" cy="10080"/>
          </a:xfrm>
          <a:custGeom>
            <a:avLst/>
            <a:gdLst/>
            <a:ahLst/>
            <a:cxnLst/>
            <a:rect l="0" t="0" r="r" b="b"/>
            <a:pathLst>
              <a:path w="6747" h="28">
                <a:moveTo>
                  <a:pt x="0" y="0"/>
                </a:moveTo>
                <a:lnTo>
                  <a:pt x="6747" y="0"/>
                </a:lnTo>
                <a:lnTo>
                  <a:pt x="6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Forma libre 226"/>
          <p:cNvSpPr/>
          <p:nvPr/>
        </p:nvSpPr>
        <p:spPr>
          <a:xfrm>
            <a:off x="3085920" y="56577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Forma libre 227"/>
          <p:cNvSpPr/>
          <p:nvPr/>
        </p:nvSpPr>
        <p:spPr>
          <a:xfrm>
            <a:off x="3095280" y="5648040"/>
            <a:ext cx="3391560" cy="10080"/>
          </a:xfrm>
          <a:custGeom>
            <a:avLst/>
            <a:gdLst/>
            <a:ahLst/>
            <a:cxnLst/>
            <a:rect l="0" t="0" r="r" b="b"/>
            <a:pathLst>
              <a:path w="9421" h="28">
                <a:moveTo>
                  <a:pt x="0" y="0"/>
                </a:moveTo>
                <a:lnTo>
                  <a:pt x="9421" y="0"/>
                </a:lnTo>
                <a:lnTo>
                  <a:pt x="94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Forma libre 228"/>
          <p:cNvSpPr/>
          <p:nvPr/>
        </p:nvSpPr>
        <p:spPr>
          <a:xfrm>
            <a:off x="6476760" y="56577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Forma libre 229"/>
          <p:cNvSpPr/>
          <p:nvPr/>
        </p:nvSpPr>
        <p:spPr>
          <a:xfrm>
            <a:off x="666720" y="6057720"/>
            <a:ext cx="2428920" cy="9720"/>
          </a:xfrm>
          <a:custGeom>
            <a:avLst/>
            <a:gdLst/>
            <a:ahLst/>
            <a:cxn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Forma libre 230"/>
          <p:cNvSpPr/>
          <p:nvPr/>
        </p:nvSpPr>
        <p:spPr>
          <a:xfrm>
            <a:off x="3095280" y="6057720"/>
            <a:ext cx="3391560" cy="9720"/>
          </a:xfrm>
          <a:custGeom>
            <a:avLst/>
            <a:gdLst/>
            <a:ahLst/>
            <a:cxnLst/>
            <a:rect l="0" t="0" r="r" b="b"/>
            <a:pathLst>
              <a:path w="9421" h="27">
                <a:moveTo>
                  <a:pt x="0" y="0"/>
                </a:moveTo>
                <a:lnTo>
                  <a:pt x="9421" y="0"/>
                </a:lnTo>
                <a:lnTo>
                  <a:pt x="94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CuadroTexto 231"/>
          <p:cNvSpPr txBox="1"/>
          <p:nvPr/>
        </p:nvSpPr>
        <p:spPr>
          <a:xfrm>
            <a:off x="666720" y="806040"/>
            <a:ext cx="42577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Cuatro columnas y dos fechas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CuadroTexto 232"/>
          <p:cNvSpPr txBox="1"/>
          <p:nvPr/>
        </p:nvSpPr>
        <p:spPr>
          <a:xfrm>
            <a:off x="866880" y="1632240"/>
            <a:ext cx="2948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concept_id_1      el origen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CuadroTexto 233"/>
          <p:cNvSpPr txBox="1"/>
          <p:nvPr/>
        </p:nvSpPr>
        <p:spPr>
          <a:xfrm>
            <a:off x="866880" y="1899000"/>
            <a:ext cx="3057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concept_id_2      el destino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CuadroTexto 234"/>
          <p:cNvSpPr txBox="1"/>
          <p:nvPr/>
        </p:nvSpPr>
        <p:spPr>
          <a:xfrm>
            <a:off x="866880" y="2156040"/>
            <a:ext cx="4258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relationship_id   qué tipo de arista 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CuadroTexto 235"/>
          <p:cNvSpPr txBox="1"/>
          <p:nvPr/>
        </p:nvSpPr>
        <p:spPr>
          <a:xfrm>
            <a:off x="866880" y="2422800"/>
            <a:ext cx="3822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valid_start_date  desde cuándo vale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CuadroTexto 236"/>
          <p:cNvSpPr txBox="1"/>
          <p:nvPr/>
        </p:nvSpPr>
        <p:spPr>
          <a:xfrm>
            <a:off x="866880" y="2680200"/>
            <a:ext cx="3276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valid_end_date    hasta cuándo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CuadroTexto 237"/>
          <p:cNvSpPr txBox="1"/>
          <p:nvPr/>
        </p:nvSpPr>
        <p:spPr>
          <a:xfrm>
            <a:off x="866880" y="2946600"/>
            <a:ext cx="4258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invalid_reason    NULL si sigue vigente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Forma libre 238"/>
          <p:cNvSpPr/>
          <p:nvPr/>
        </p:nvSpPr>
        <p:spPr>
          <a:xfrm>
            <a:off x="1095120" y="4114440"/>
            <a:ext cx="1572120" cy="228960"/>
          </a:xfrm>
          <a:custGeom>
            <a:avLst/>
            <a:gdLst/>
            <a:ahLst/>
            <a:cxnLst/>
            <a:rect l="0" t="0" r="r" b="b"/>
            <a:pathLst>
              <a:path w="4367" h="636">
                <a:moveTo>
                  <a:pt x="0" y="531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4261" y="0"/>
                </a:lnTo>
                <a:cubicBezTo>
                  <a:pt x="4275" y="0"/>
                  <a:pt x="4289" y="3"/>
                  <a:pt x="4301" y="9"/>
                </a:cubicBezTo>
                <a:cubicBezTo>
                  <a:pt x="4314" y="14"/>
                  <a:pt x="4326" y="22"/>
                  <a:pt x="4336" y="31"/>
                </a:cubicBezTo>
                <a:cubicBezTo>
                  <a:pt x="4346" y="41"/>
                  <a:pt x="4353" y="53"/>
                  <a:pt x="4359" y="66"/>
                </a:cubicBezTo>
                <a:cubicBezTo>
                  <a:pt x="4364" y="79"/>
                  <a:pt x="4367" y="92"/>
                  <a:pt x="4367" y="106"/>
                </a:cubicBezTo>
                <a:lnTo>
                  <a:pt x="4367" y="531"/>
                </a:lnTo>
                <a:cubicBezTo>
                  <a:pt x="4367" y="545"/>
                  <a:pt x="4364" y="558"/>
                  <a:pt x="4359" y="571"/>
                </a:cubicBezTo>
                <a:cubicBezTo>
                  <a:pt x="4353" y="584"/>
                  <a:pt x="4346" y="596"/>
                  <a:pt x="4336" y="606"/>
                </a:cubicBezTo>
                <a:cubicBezTo>
                  <a:pt x="4326" y="615"/>
                  <a:pt x="4314" y="623"/>
                  <a:pt x="4301" y="628"/>
                </a:cubicBezTo>
                <a:cubicBezTo>
                  <a:pt x="4289" y="634"/>
                  <a:pt x="4275" y="636"/>
                  <a:pt x="4261" y="636"/>
                </a:cubicBezTo>
                <a:lnTo>
                  <a:pt x="106" y="636"/>
                </a:lnTo>
                <a:cubicBezTo>
                  <a:pt x="92" y="636"/>
                  <a:pt x="79" y="634"/>
                  <a:pt x="66" y="628"/>
                </a:cubicBezTo>
                <a:cubicBezTo>
                  <a:pt x="53" y="623"/>
                  <a:pt x="41" y="615"/>
                  <a:pt x="31" y="606"/>
                </a:cubicBezTo>
                <a:cubicBezTo>
                  <a:pt x="21" y="596"/>
                  <a:pt x="14" y="584"/>
                  <a:pt x="8" y="571"/>
                </a:cubicBezTo>
                <a:cubicBezTo>
                  <a:pt x="3" y="558"/>
                  <a:pt x="0" y="545"/>
                  <a:pt x="0" y="531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CuadroTexto 239"/>
          <p:cNvSpPr txBox="1"/>
          <p:nvPr/>
        </p:nvSpPr>
        <p:spPr>
          <a:xfrm>
            <a:off x="666720" y="3544920"/>
            <a:ext cx="2621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Las que más vas a usar: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CuadroTexto 240"/>
          <p:cNvSpPr txBox="1"/>
          <p:nvPr/>
        </p:nvSpPr>
        <p:spPr>
          <a:xfrm>
            <a:off x="1149840" y="4136040"/>
            <a:ext cx="1459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relationship_id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Forma libre 241"/>
          <p:cNvSpPr/>
          <p:nvPr/>
        </p:nvSpPr>
        <p:spPr>
          <a:xfrm>
            <a:off x="799920" y="4524120"/>
            <a:ext cx="991080" cy="228960"/>
          </a:xfrm>
          <a:custGeom>
            <a:avLst/>
            <a:gdLst/>
            <a:ahLst/>
            <a:cxnLst/>
            <a:rect l="0" t="0" r="r" b="b"/>
            <a:pathLst>
              <a:path w="275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647" y="0"/>
                </a:lnTo>
                <a:cubicBezTo>
                  <a:pt x="2661" y="0"/>
                  <a:pt x="2674" y="3"/>
                  <a:pt x="2687" y="8"/>
                </a:cubicBezTo>
                <a:cubicBezTo>
                  <a:pt x="2700" y="14"/>
                  <a:pt x="2712" y="21"/>
                  <a:pt x="2722" y="31"/>
                </a:cubicBezTo>
                <a:cubicBezTo>
                  <a:pt x="2732" y="41"/>
                  <a:pt x="2739" y="53"/>
                  <a:pt x="2745" y="66"/>
                </a:cubicBezTo>
                <a:cubicBezTo>
                  <a:pt x="2750" y="79"/>
                  <a:pt x="2753" y="92"/>
                  <a:pt x="2753" y="106"/>
                </a:cubicBezTo>
                <a:lnTo>
                  <a:pt x="2753" y="530"/>
                </a:lnTo>
                <a:cubicBezTo>
                  <a:pt x="2753" y="544"/>
                  <a:pt x="2750" y="558"/>
                  <a:pt x="2745" y="571"/>
                </a:cubicBezTo>
                <a:cubicBezTo>
                  <a:pt x="2739" y="584"/>
                  <a:pt x="2732" y="595"/>
                  <a:pt x="2722" y="605"/>
                </a:cubicBezTo>
                <a:cubicBezTo>
                  <a:pt x="2712" y="615"/>
                  <a:pt x="2700" y="623"/>
                  <a:pt x="2687" y="628"/>
                </a:cubicBezTo>
                <a:cubicBezTo>
                  <a:pt x="2674" y="634"/>
                  <a:pt x="2661" y="636"/>
                  <a:pt x="2647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CuadroTexto 242"/>
          <p:cNvSpPr txBox="1"/>
          <p:nvPr/>
        </p:nvSpPr>
        <p:spPr>
          <a:xfrm>
            <a:off x="4380120" y="4104720"/>
            <a:ext cx="812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Para qué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CuadroTexto 243"/>
          <p:cNvSpPr txBox="1"/>
          <p:nvPr/>
        </p:nvSpPr>
        <p:spPr>
          <a:xfrm>
            <a:off x="857160" y="4545720"/>
            <a:ext cx="875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'Maps to'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Forma libre 244"/>
          <p:cNvSpPr/>
          <p:nvPr/>
        </p:nvSpPr>
        <p:spPr>
          <a:xfrm>
            <a:off x="799920" y="4933800"/>
            <a:ext cx="695520" cy="228960"/>
          </a:xfrm>
          <a:custGeom>
            <a:avLst/>
            <a:gdLst/>
            <a:ahLst/>
            <a:cxnLst/>
            <a:rect l="0" t="0" r="r" b="b"/>
            <a:pathLst>
              <a:path w="1932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827" y="0"/>
                </a:lnTo>
                <a:cubicBezTo>
                  <a:pt x="1841" y="0"/>
                  <a:pt x="1854" y="3"/>
                  <a:pt x="1867" y="8"/>
                </a:cubicBezTo>
                <a:cubicBezTo>
                  <a:pt x="1880" y="13"/>
                  <a:pt x="1892" y="21"/>
                  <a:pt x="1901" y="31"/>
                </a:cubicBezTo>
                <a:cubicBezTo>
                  <a:pt x="1911" y="41"/>
                  <a:pt x="1919" y="52"/>
                  <a:pt x="1924" y="65"/>
                </a:cubicBezTo>
                <a:cubicBezTo>
                  <a:pt x="1930" y="78"/>
                  <a:pt x="1932" y="92"/>
                  <a:pt x="1932" y="106"/>
                </a:cubicBezTo>
                <a:lnTo>
                  <a:pt x="1932" y="529"/>
                </a:lnTo>
                <a:cubicBezTo>
                  <a:pt x="1932" y="543"/>
                  <a:pt x="1930" y="557"/>
                  <a:pt x="1924" y="571"/>
                </a:cubicBezTo>
                <a:cubicBezTo>
                  <a:pt x="1919" y="584"/>
                  <a:pt x="1911" y="595"/>
                  <a:pt x="1901" y="605"/>
                </a:cubicBezTo>
                <a:cubicBezTo>
                  <a:pt x="1892" y="615"/>
                  <a:pt x="1880" y="622"/>
                  <a:pt x="1867" y="628"/>
                </a:cubicBezTo>
                <a:cubicBezTo>
                  <a:pt x="1854" y="633"/>
                  <a:pt x="1841" y="636"/>
                  <a:pt x="182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7"/>
                  <a:pt x="0" y="543"/>
                  <a:pt x="0" y="529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CuadroTexto 245"/>
          <p:cNvSpPr txBox="1"/>
          <p:nvPr/>
        </p:nvSpPr>
        <p:spPr>
          <a:xfrm>
            <a:off x="3218760" y="4514400"/>
            <a:ext cx="3134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 código fuente a concepto estándar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CuadroTexto 246"/>
          <p:cNvSpPr txBox="1"/>
          <p:nvPr/>
        </p:nvSpPr>
        <p:spPr>
          <a:xfrm>
            <a:off x="857160" y="4955040"/>
            <a:ext cx="584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'Is a'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orma libre 247"/>
          <p:cNvSpPr/>
          <p:nvPr/>
        </p:nvSpPr>
        <p:spPr>
          <a:xfrm>
            <a:off x="1666800" y="4933800"/>
            <a:ext cx="1095480" cy="228960"/>
          </a:xfrm>
          <a:custGeom>
            <a:avLst/>
            <a:gdLst/>
            <a:ahLst/>
            <a:cxnLst/>
            <a:rect l="0" t="0" r="r" b="b"/>
            <a:pathLst>
              <a:path w="3043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937" y="0"/>
                </a:lnTo>
                <a:cubicBezTo>
                  <a:pt x="2951" y="0"/>
                  <a:pt x="2964" y="3"/>
                  <a:pt x="2978" y="8"/>
                </a:cubicBezTo>
                <a:cubicBezTo>
                  <a:pt x="2991" y="13"/>
                  <a:pt x="3002" y="21"/>
                  <a:pt x="3012" y="31"/>
                </a:cubicBezTo>
                <a:cubicBezTo>
                  <a:pt x="3022" y="41"/>
                  <a:pt x="3030" y="52"/>
                  <a:pt x="3035" y="65"/>
                </a:cubicBezTo>
                <a:cubicBezTo>
                  <a:pt x="3041" y="78"/>
                  <a:pt x="3043" y="92"/>
                  <a:pt x="3043" y="106"/>
                </a:cubicBezTo>
                <a:lnTo>
                  <a:pt x="3043" y="529"/>
                </a:lnTo>
                <a:cubicBezTo>
                  <a:pt x="3043" y="543"/>
                  <a:pt x="3041" y="557"/>
                  <a:pt x="3035" y="571"/>
                </a:cubicBezTo>
                <a:cubicBezTo>
                  <a:pt x="3030" y="584"/>
                  <a:pt x="3022" y="595"/>
                  <a:pt x="3012" y="605"/>
                </a:cubicBezTo>
                <a:cubicBezTo>
                  <a:pt x="3002" y="615"/>
                  <a:pt x="2991" y="622"/>
                  <a:pt x="2978" y="628"/>
                </a:cubicBezTo>
                <a:cubicBezTo>
                  <a:pt x="2964" y="633"/>
                  <a:pt x="2951" y="636"/>
                  <a:pt x="293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2" y="557"/>
                  <a:pt x="0" y="543"/>
                  <a:pt x="0" y="529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CuadroTexto 248"/>
          <p:cNvSpPr txBox="1"/>
          <p:nvPr/>
        </p:nvSpPr>
        <p:spPr>
          <a:xfrm>
            <a:off x="1499400" y="492408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/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CuadroTexto 249"/>
          <p:cNvSpPr txBox="1"/>
          <p:nvPr/>
        </p:nvSpPr>
        <p:spPr>
          <a:xfrm>
            <a:off x="1725840" y="4955040"/>
            <a:ext cx="973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'Subsumes'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CuadroTexto 250"/>
          <p:cNvSpPr txBox="1"/>
          <p:nvPr/>
        </p:nvSpPr>
        <p:spPr>
          <a:xfrm>
            <a:off x="3218760" y="4924080"/>
            <a:ext cx="332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hijo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CuadroTexto 251"/>
          <p:cNvSpPr txBox="1"/>
          <p:nvPr/>
        </p:nvSpPr>
        <p:spPr>
          <a:xfrm>
            <a:off x="3550680" y="4933080"/>
            <a:ext cx="191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CuadroTexto 252"/>
          <p:cNvSpPr txBox="1"/>
          <p:nvPr/>
        </p:nvSpPr>
        <p:spPr>
          <a:xfrm>
            <a:off x="3741120" y="4924080"/>
            <a:ext cx="1229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padre / padre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CuadroTexto 253"/>
          <p:cNvSpPr txBox="1"/>
          <p:nvPr/>
        </p:nvSpPr>
        <p:spPr>
          <a:xfrm>
            <a:off x="4962240" y="4933080"/>
            <a:ext cx="191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orma libre 254"/>
          <p:cNvSpPr/>
          <p:nvPr/>
        </p:nvSpPr>
        <p:spPr>
          <a:xfrm>
            <a:off x="799920" y="5343480"/>
            <a:ext cx="1676880" cy="228960"/>
          </a:xfrm>
          <a:custGeom>
            <a:avLst/>
            <a:gdLst/>
            <a:ahLst/>
            <a:cxnLst/>
            <a:rect l="0" t="0" r="r" b="b"/>
            <a:pathLst>
              <a:path w="465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7" y="0"/>
                </a:cubicBezTo>
                <a:lnTo>
                  <a:pt x="4552" y="0"/>
                </a:lnTo>
                <a:cubicBezTo>
                  <a:pt x="4566" y="0"/>
                  <a:pt x="4579" y="2"/>
                  <a:pt x="4592" y="8"/>
                </a:cubicBezTo>
                <a:cubicBezTo>
                  <a:pt x="4605" y="13"/>
                  <a:pt x="4617" y="21"/>
                  <a:pt x="4627" y="31"/>
                </a:cubicBezTo>
                <a:cubicBezTo>
                  <a:pt x="4637" y="41"/>
                  <a:pt x="4644" y="52"/>
                  <a:pt x="4650" y="66"/>
                </a:cubicBezTo>
                <a:cubicBezTo>
                  <a:pt x="4655" y="79"/>
                  <a:pt x="4658" y="92"/>
                  <a:pt x="4658" y="106"/>
                </a:cubicBezTo>
                <a:lnTo>
                  <a:pt x="4658" y="530"/>
                </a:lnTo>
                <a:cubicBezTo>
                  <a:pt x="4658" y="544"/>
                  <a:pt x="4655" y="557"/>
                  <a:pt x="4650" y="570"/>
                </a:cubicBezTo>
                <a:cubicBezTo>
                  <a:pt x="4644" y="583"/>
                  <a:pt x="4637" y="595"/>
                  <a:pt x="4627" y="605"/>
                </a:cubicBezTo>
                <a:cubicBezTo>
                  <a:pt x="4617" y="615"/>
                  <a:pt x="4605" y="622"/>
                  <a:pt x="4592" y="628"/>
                </a:cubicBezTo>
                <a:cubicBezTo>
                  <a:pt x="4579" y="633"/>
                  <a:pt x="4566" y="636"/>
                  <a:pt x="4552" y="636"/>
                </a:cubicBezTo>
                <a:lnTo>
                  <a:pt x="107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CuadroTexto 255"/>
          <p:cNvSpPr txBox="1"/>
          <p:nvPr/>
        </p:nvSpPr>
        <p:spPr>
          <a:xfrm>
            <a:off x="5152680" y="4924080"/>
            <a:ext cx="332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hijo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CuadroTexto 256"/>
          <p:cNvSpPr txBox="1"/>
          <p:nvPr/>
        </p:nvSpPr>
        <p:spPr>
          <a:xfrm>
            <a:off x="857160" y="5364720"/>
            <a:ext cx="15570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'Has ingredient'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Forma libre 257"/>
          <p:cNvSpPr/>
          <p:nvPr/>
        </p:nvSpPr>
        <p:spPr>
          <a:xfrm>
            <a:off x="799920" y="5752800"/>
            <a:ext cx="2162520" cy="228960"/>
          </a:xfrm>
          <a:custGeom>
            <a:avLst/>
            <a:gdLst/>
            <a:ahLst/>
            <a:cxnLst/>
            <a:rect l="0" t="0" r="r" b="b"/>
            <a:pathLst>
              <a:path w="6007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901" y="0"/>
                </a:lnTo>
                <a:cubicBezTo>
                  <a:pt x="5915" y="0"/>
                  <a:pt x="5929" y="3"/>
                  <a:pt x="5942" y="8"/>
                </a:cubicBezTo>
                <a:cubicBezTo>
                  <a:pt x="5955" y="14"/>
                  <a:pt x="5966" y="21"/>
                  <a:pt x="5976" y="31"/>
                </a:cubicBezTo>
                <a:cubicBezTo>
                  <a:pt x="5986" y="41"/>
                  <a:pt x="5994" y="53"/>
                  <a:pt x="5999" y="66"/>
                </a:cubicBezTo>
                <a:cubicBezTo>
                  <a:pt x="6004" y="79"/>
                  <a:pt x="6007" y="92"/>
                  <a:pt x="6007" y="106"/>
                </a:cubicBezTo>
                <a:lnTo>
                  <a:pt x="6007" y="530"/>
                </a:lnTo>
                <a:cubicBezTo>
                  <a:pt x="6007" y="545"/>
                  <a:pt x="6004" y="558"/>
                  <a:pt x="5999" y="571"/>
                </a:cubicBezTo>
                <a:cubicBezTo>
                  <a:pt x="5994" y="584"/>
                  <a:pt x="5986" y="595"/>
                  <a:pt x="5976" y="605"/>
                </a:cubicBezTo>
                <a:cubicBezTo>
                  <a:pt x="5966" y="615"/>
                  <a:pt x="5955" y="623"/>
                  <a:pt x="5942" y="628"/>
                </a:cubicBezTo>
                <a:cubicBezTo>
                  <a:pt x="5929" y="634"/>
                  <a:pt x="5915" y="636"/>
                  <a:pt x="5901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5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CuadroTexto 258"/>
          <p:cNvSpPr txBox="1"/>
          <p:nvPr/>
        </p:nvSpPr>
        <p:spPr>
          <a:xfrm>
            <a:off x="3218760" y="5333760"/>
            <a:ext cx="2442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 producto a principio activo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CuadroTexto 259"/>
          <p:cNvSpPr txBox="1"/>
          <p:nvPr/>
        </p:nvSpPr>
        <p:spPr>
          <a:xfrm>
            <a:off x="857160" y="5774400"/>
            <a:ext cx="20430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'Concept replaced by'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CuadroTexto 260"/>
          <p:cNvSpPr txBox="1"/>
          <p:nvPr/>
        </p:nvSpPr>
        <p:spPr>
          <a:xfrm>
            <a:off x="3218760" y="5743080"/>
            <a:ext cx="3021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 concepto retirado a su reemplazo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CuadroTexto 26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CuadroTexto 26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CuadroTexto 263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Forma libre 2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Forma libre 26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orma libre 26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Forma libre 267"/>
          <p:cNvSpPr/>
          <p:nvPr/>
        </p:nvSpPr>
        <p:spPr>
          <a:xfrm>
            <a:off x="676080" y="2447640"/>
            <a:ext cx="2610360" cy="410040"/>
          </a:xfrm>
          <a:custGeom>
            <a:avLst/>
            <a:gdLst/>
            <a:ahLst/>
            <a:cxnLst/>
            <a:rect l="0" t="0" r="r" b="b"/>
            <a:pathLst>
              <a:path w="7251" h="1139">
                <a:moveTo>
                  <a:pt x="0" y="0"/>
                </a:moveTo>
                <a:lnTo>
                  <a:pt x="7251" y="0"/>
                </a:lnTo>
                <a:lnTo>
                  <a:pt x="72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Forma libre 268"/>
          <p:cNvSpPr/>
          <p:nvPr/>
        </p:nvSpPr>
        <p:spPr>
          <a:xfrm>
            <a:off x="3286080" y="2447640"/>
            <a:ext cx="3391200" cy="410040"/>
          </a:xfrm>
          <a:custGeom>
            <a:avLst/>
            <a:gdLst/>
            <a:ahLst/>
            <a:cxnLst/>
            <a:rect l="0" t="0" r="r" b="b"/>
            <a:pathLst>
              <a:path w="9420" h="1139">
                <a:moveTo>
                  <a:pt x="0" y="0"/>
                </a:moveTo>
                <a:lnTo>
                  <a:pt x="9420" y="0"/>
                </a:lnTo>
                <a:lnTo>
                  <a:pt x="942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Forma libre 269"/>
          <p:cNvSpPr/>
          <p:nvPr/>
        </p:nvSpPr>
        <p:spPr>
          <a:xfrm>
            <a:off x="676080" y="2447640"/>
            <a:ext cx="2610360" cy="410040"/>
          </a:xfrm>
          <a:custGeom>
            <a:avLst/>
            <a:gdLst/>
            <a:ahLst/>
            <a:cxnLst/>
            <a:rect l="0" t="0" r="r" b="b"/>
            <a:pathLst>
              <a:path w="7251" h="1139">
                <a:moveTo>
                  <a:pt x="0" y="0"/>
                </a:moveTo>
                <a:lnTo>
                  <a:pt x="7251" y="0"/>
                </a:lnTo>
                <a:lnTo>
                  <a:pt x="72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Forma libre 270"/>
          <p:cNvSpPr/>
          <p:nvPr/>
        </p:nvSpPr>
        <p:spPr>
          <a:xfrm>
            <a:off x="3286080" y="2447640"/>
            <a:ext cx="3391200" cy="410040"/>
          </a:xfrm>
          <a:custGeom>
            <a:avLst/>
            <a:gdLst/>
            <a:ahLst/>
            <a:cxnLst/>
            <a:rect l="0" t="0" r="r" b="b"/>
            <a:pathLst>
              <a:path w="9420" h="1139">
                <a:moveTo>
                  <a:pt x="0" y="0"/>
                </a:moveTo>
                <a:lnTo>
                  <a:pt x="9420" y="0"/>
                </a:lnTo>
                <a:lnTo>
                  <a:pt x="942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Forma libre 271"/>
          <p:cNvSpPr/>
          <p:nvPr/>
        </p:nvSpPr>
        <p:spPr>
          <a:xfrm>
            <a:off x="676080" y="2857320"/>
            <a:ext cx="2610360" cy="410040"/>
          </a:xfrm>
          <a:custGeom>
            <a:avLst/>
            <a:gdLst/>
            <a:ahLst/>
            <a:cxnLst/>
            <a:rect l="0" t="0" r="r" b="b"/>
            <a:pathLst>
              <a:path w="7251" h="1139">
                <a:moveTo>
                  <a:pt x="0" y="0"/>
                </a:moveTo>
                <a:lnTo>
                  <a:pt x="7251" y="0"/>
                </a:lnTo>
                <a:lnTo>
                  <a:pt x="72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Forma libre 272"/>
          <p:cNvSpPr/>
          <p:nvPr/>
        </p:nvSpPr>
        <p:spPr>
          <a:xfrm>
            <a:off x="3286080" y="2857320"/>
            <a:ext cx="3391200" cy="410040"/>
          </a:xfrm>
          <a:custGeom>
            <a:avLst/>
            <a:gdLst/>
            <a:ahLst/>
            <a:cxnLst/>
            <a:rect l="0" t="0" r="r" b="b"/>
            <a:pathLst>
              <a:path w="9420" h="1139">
                <a:moveTo>
                  <a:pt x="0" y="0"/>
                </a:moveTo>
                <a:lnTo>
                  <a:pt x="9420" y="0"/>
                </a:lnTo>
                <a:lnTo>
                  <a:pt x="942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Forma libre 273"/>
          <p:cNvSpPr/>
          <p:nvPr/>
        </p:nvSpPr>
        <p:spPr>
          <a:xfrm>
            <a:off x="676080" y="3267000"/>
            <a:ext cx="2610360" cy="409680"/>
          </a:xfrm>
          <a:custGeom>
            <a:avLst/>
            <a:gdLst/>
            <a:ahLst/>
            <a:cxnLst/>
            <a:rect l="0" t="0" r="r" b="b"/>
            <a:pathLst>
              <a:path w="7251" h="1138">
                <a:moveTo>
                  <a:pt x="0" y="0"/>
                </a:moveTo>
                <a:lnTo>
                  <a:pt x="7251" y="0"/>
                </a:lnTo>
                <a:lnTo>
                  <a:pt x="725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Forma libre 274"/>
          <p:cNvSpPr/>
          <p:nvPr/>
        </p:nvSpPr>
        <p:spPr>
          <a:xfrm>
            <a:off x="3286080" y="3267000"/>
            <a:ext cx="3391200" cy="409680"/>
          </a:xfrm>
          <a:custGeom>
            <a:avLst/>
            <a:gdLst/>
            <a:ahLst/>
            <a:cxnLst/>
            <a:rect l="0" t="0" r="r" b="b"/>
            <a:pathLst>
              <a:path w="9420" h="1138">
                <a:moveTo>
                  <a:pt x="0" y="0"/>
                </a:moveTo>
                <a:lnTo>
                  <a:pt x="9420" y="0"/>
                </a:lnTo>
                <a:lnTo>
                  <a:pt x="942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Forma libre 275"/>
          <p:cNvSpPr/>
          <p:nvPr/>
        </p:nvSpPr>
        <p:spPr>
          <a:xfrm>
            <a:off x="676080" y="3676320"/>
            <a:ext cx="2610360" cy="410040"/>
          </a:xfrm>
          <a:custGeom>
            <a:avLst/>
            <a:gdLst/>
            <a:ahLst/>
            <a:cxnLst/>
            <a:rect l="0" t="0" r="r" b="b"/>
            <a:pathLst>
              <a:path w="7251" h="1139">
                <a:moveTo>
                  <a:pt x="0" y="0"/>
                </a:moveTo>
                <a:lnTo>
                  <a:pt x="7251" y="0"/>
                </a:lnTo>
                <a:lnTo>
                  <a:pt x="72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Forma libre 276"/>
          <p:cNvSpPr/>
          <p:nvPr/>
        </p:nvSpPr>
        <p:spPr>
          <a:xfrm>
            <a:off x="3286080" y="3676320"/>
            <a:ext cx="3391200" cy="410040"/>
          </a:xfrm>
          <a:custGeom>
            <a:avLst/>
            <a:gdLst/>
            <a:ahLst/>
            <a:cxnLst/>
            <a:rect l="0" t="0" r="r" b="b"/>
            <a:pathLst>
              <a:path w="9420" h="1139">
                <a:moveTo>
                  <a:pt x="0" y="0"/>
                </a:moveTo>
                <a:lnTo>
                  <a:pt x="9420" y="0"/>
                </a:lnTo>
                <a:lnTo>
                  <a:pt x="942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Forma libre 277"/>
          <p:cNvSpPr/>
          <p:nvPr/>
        </p:nvSpPr>
        <p:spPr>
          <a:xfrm>
            <a:off x="676080" y="4086000"/>
            <a:ext cx="2610360" cy="419400"/>
          </a:xfrm>
          <a:custGeom>
            <a:avLst/>
            <a:gdLst/>
            <a:ahLst/>
            <a:cxnLst/>
            <a:rect l="0" t="0" r="r" b="b"/>
            <a:pathLst>
              <a:path w="7251" h="1165">
                <a:moveTo>
                  <a:pt x="0" y="0"/>
                </a:moveTo>
                <a:lnTo>
                  <a:pt x="7251" y="0"/>
                </a:lnTo>
                <a:lnTo>
                  <a:pt x="725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Forma libre 278"/>
          <p:cNvSpPr/>
          <p:nvPr/>
        </p:nvSpPr>
        <p:spPr>
          <a:xfrm>
            <a:off x="3286080" y="4086000"/>
            <a:ext cx="3391200" cy="419400"/>
          </a:xfrm>
          <a:custGeom>
            <a:avLst/>
            <a:gdLst/>
            <a:ahLst/>
            <a:cxnLst/>
            <a:rect l="0" t="0" r="r" b="b"/>
            <a:pathLst>
              <a:path w="9420" h="1165">
                <a:moveTo>
                  <a:pt x="0" y="0"/>
                </a:moveTo>
                <a:lnTo>
                  <a:pt x="9420" y="0"/>
                </a:lnTo>
                <a:lnTo>
                  <a:pt x="942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Forma libre 279"/>
          <p:cNvSpPr/>
          <p:nvPr/>
        </p:nvSpPr>
        <p:spPr>
          <a:xfrm>
            <a:off x="666720" y="24382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Forma libre 280"/>
          <p:cNvSpPr/>
          <p:nvPr/>
        </p:nvSpPr>
        <p:spPr>
          <a:xfrm>
            <a:off x="666720" y="2438280"/>
            <a:ext cx="2619720" cy="9720"/>
          </a:xfrm>
          <a:custGeom>
            <a:avLst/>
            <a:gdLst/>
            <a:ahLst/>
            <a:cxn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Forma libre 281"/>
          <p:cNvSpPr/>
          <p:nvPr/>
        </p:nvSpPr>
        <p:spPr>
          <a:xfrm>
            <a:off x="3276360" y="24382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Forma libre 282"/>
          <p:cNvSpPr/>
          <p:nvPr/>
        </p:nvSpPr>
        <p:spPr>
          <a:xfrm>
            <a:off x="3286080" y="2438280"/>
            <a:ext cx="3391200" cy="9720"/>
          </a:xfrm>
          <a:custGeom>
            <a:avLst/>
            <a:gdLst/>
            <a:ahLst/>
            <a:cxnLst/>
            <a:rect l="0" t="0" r="r" b="b"/>
            <a:pathLst>
              <a:path w="9420" h="27">
                <a:moveTo>
                  <a:pt x="0" y="0"/>
                </a:moveTo>
                <a:lnTo>
                  <a:pt x="9420" y="0"/>
                </a:lnTo>
                <a:lnTo>
                  <a:pt x="9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Forma libre 283"/>
          <p:cNvSpPr/>
          <p:nvPr/>
        </p:nvSpPr>
        <p:spPr>
          <a:xfrm>
            <a:off x="6667200" y="24382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Forma libre 284"/>
          <p:cNvSpPr/>
          <p:nvPr/>
        </p:nvSpPr>
        <p:spPr>
          <a:xfrm>
            <a:off x="666720" y="2847960"/>
            <a:ext cx="2619720" cy="9720"/>
          </a:xfrm>
          <a:custGeom>
            <a:avLst/>
            <a:gdLst/>
            <a:ahLst/>
            <a:cxn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Forma libre 285"/>
          <p:cNvSpPr/>
          <p:nvPr/>
        </p:nvSpPr>
        <p:spPr>
          <a:xfrm>
            <a:off x="3286080" y="2847960"/>
            <a:ext cx="3391200" cy="9720"/>
          </a:xfrm>
          <a:custGeom>
            <a:avLst/>
            <a:gdLst/>
            <a:ahLst/>
            <a:cxnLst/>
            <a:rect l="0" t="0" r="r" b="b"/>
            <a:pathLst>
              <a:path w="9420" h="27">
                <a:moveTo>
                  <a:pt x="0" y="0"/>
                </a:moveTo>
                <a:lnTo>
                  <a:pt x="9420" y="0"/>
                </a:lnTo>
                <a:lnTo>
                  <a:pt x="9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Forma libre 286"/>
          <p:cNvSpPr/>
          <p:nvPr/>
        </p:nvSpPr>
        <p:spPr>
          <a:xfrm>
            <a:off x="666720" y="28573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Forma libre 287"/>
          <p:cNvSpPr/>
          <p:nvPr/>
        </p:nvSpPr>
        <p:spPr>
          <a:xfrm>
            <a:off x="3276360" y="28573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Forma libre 288"/>
          <p:cNvSpPr/>
          <p:nvPr/>
        </p:nvSpPr>
        <p:spPr>
          <a:xfrm>
            <a:off x="6667200" y="28573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Forma libre 289"/>
          <p:cNvSpPr/>
          <p:nvPr/>
        </p:nvSpPr>
        <p:spPr>
          <a:xfrm>
            <a:off x="666720" y="326700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Forma libre 290"/>
          <p:cNvSpPr/>
          <p:nvPr/>
        </p:nvSpPr>
        <p:spPr>
          <a:xfrm>
            <a:off x="666720" y="3257280"/>
            <a:ext cx="2619720" cy="10080"/>
          </a:xfrm>
          <a:custGeom>
            <a:avLst/>
            <a:gdLst/>
            <a:ahLst/>
            <a:cxn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Forma libre 291"/>
          <p:cNvSpPr/>
          <p:nvPr/>
        </p:nvSpPr>
        <p:spPr>
          <a:xfrm>
            <a:off x="3276360" y="326700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Forma libre 292"/>
          <p:cNvSpPr/>
          <p:nvPr/>
        </p:nvSpPr>
        <p:spPr>
          <a:xfrm>
            <a:off x="3286080" y="3257280"/>
            <a:ext cx="3391200" cy="10080"/>
          </a:xfrm>
          <a:custGeom>
            <a:avLst/>
            <a:gdLst/>
            <a:ahLst/>
            <a:cxnLst/>
            <a:rect l="0" t="0" r="r" b="b"/>
            <a:pathLst>
              <a:path w="9420" h="28">
                <a:moveTo>
                  <a:pt x="0" y="0"/>
                </a:moveTo>
                <a:lnTo>
                  <a:pt x="9420" y="0"/>
                </a:lnTo>
                <a:lnTo>
                  <a:pt x="94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Forma libre 293"/>
          <p:cNvSpPr/>
          <p:nvPr/>
        </p:nvSpPr>
        <p:spPr>
          <a:xfrm>
            <a:off x="6667200" y="326700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Forma libre 294"/>
          <p:cNvSpPr/>
          <p:nvPr/>
        </p:nvSpPr>
        <p:spPr>
          <a:xfrm>
            <a:off x="666720" y="36763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Forma libre 295"/>
          <p:cNvSpPr/>
          <p:nvPr/>
        </p:nvSpPr>
        <p:spPr>
          <a:xfrm>
            <a:off x="666720" y="3666960"/>
            <a:ext cx="2619720" cy="9720"/>
          </a:xfrm>
          <a:custGeom>
            <a:avLst/>
            <a:gdLst/>
            <a:ahLst/>
            <a:cxn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Forma libre 296"/>
          <p:cNvSpPr/>
          <p:nvPr/>
        </p:nvSpPr>
        <p:spPr>
          <a:xfrm>
            <a:off x="3276360" y="36763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Forma libre 297"/>
          <p:cNvSpPr/>
          <p:nvPr/>
        </p:nvSpPr>
        <p:spPr>
          <a:xfrm>
            <a:off x="3286080" y="3666960"/>
            <a:ext cx="3391200" cy="9720"/>
          </a:xfrm>
          <a:custGeom>
            <a:avLst/>
            <a:gdLst/>
            <a:ahLst/>
            <a:cxnLst/>
            <a:rect l="0" t="0" r="r" b="b"/>
            <a:pathLst>
              <a:path w="9420" h="27">
                <a:moveTo>
                  <a:pt x="0" y="0"/>
                </a:moveTo>
                <a:lnTo>
                  <a:pt x="9420" y="0"/>
                </a:lnTo>
                <a:lnTo>
                  <a:pt x="9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Forma libre 298"/>
          <p:cNvSpPr/>
          <p:nvPr/>
        </p:nvSpPr>
        <p:spPr>
          <a:xfrm>
            <a:off x="6667200" y="36763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Forma libre 299"/>
          <p:cNvSpPr/>
          <p:nvPr/>
        </p:nvSpPr>
        <p:spPr>
          <a:xfrm>
            <a:off x="666720" y="4086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Forma libre 300"/>
          <p:cNvSpPr/>
          <p:nvPr/>
        </p:nvSpPr>
        <p:spPr>
          <a:xfrm>
            <a:off x="666720" y="4076640"/>
            <a:ext cx="2619720" cy="9720"/>
          </a:xfrm>
          <a:custGeom>
            <a:avLst/>
            <a:gdLst/>
            <a:ahLst/>
            <a:cxn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orma libre 301"/>
          <p:cNvSpPr/>
          <p:nvPr/>
        </p:nvSpPr>
        <p:spPr>
          <a:xfrm>
            <a:off x="3276360" y="40860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Forma libre 302"/>
          <p:cNvSpPr/>
          <p:nvPr/>
        </p:nvSpPr>
        <p:spPr>
          <a:xfrm>
            <a:off x="3286080" y="4076640"/>
            <a:ext cx="3391200" cy="9720"/>
          </a:xfrm>
          <a:custGeom>
            <a:avLst/>
            <a:gdLst/>
            <a:ahLst/>
            <a:cxnLst/>
            <a:rect l="0" t="0" r="r" b="b"/>
            <a:pathLst>
              <a:path w="9420" h="27">
                <a:moveTo>
                  <a:pt x="0" y="0"/>
                </a:moveTo>
                <a:lnTo>
                  <a:pt x="9420" y="0"/>
                </a:lnTo>
                <a:lnTo>
                  <a:pt x="9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orma libre 303"/>
          <p:cNvSpPr/>
          <p:nvPr/>
        </p:nvSpPr>
        <p:spPr>
          <a:xfrm>
            <a:off x="6667200" y="40860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Forma libre 304"/>
          <p:cNvSpPr/>
          <p:nvPr/>
        </p:nvSpPr>
        <p:spPr>
          <a:xfrm>
            <a:off x="666720" y="4495680"/>
            <a:ext cx="2619720" cy="9720"/>
          </a:xfrm>
          <a:custGeom>
            <a:avLst/>
            <a:gdLst/>
            <a:ahLst/>
            <a:cxn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Forma libre 305"/>
          <p:cNvSpPr/>
          <p:nvPr/>
        </p:nvSpPr>
        <p:spPr>
          <a:xfrm>
            <a:off x="3286080" y="4495680"/>
            <a:ext cx="3391200" cy="9720"/>
          </a:xfrm>
          <a:custGeom>
            <a:avLst/>
            <a:gdLst/>
            <a:ahLst/>
            <a:cxnLst/>
            <a:rect l="0" t="0" r="r" b="b"/>
            <a:pathLst>
              <a:path w="9420" h="27">
                <a:moveTo>
                  <a:pt x="0" y="0"/>
                </a:moveTo>
                <a:lnTo>
                  <a:pt x="9420" y="0"/>
                </a:lnTo>
                <a:lnTo>
                  <a:pt x="9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Forma libre 306"/>
          <p:cNvSpPr/>
          <p:nvPr/>
        </p:nvSpPr>
        <p:spPr>
          <a:xfrm>
            <a:off x="666720" y="465768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Forma libre 307"/>
          <p:cNvSpPr/>
          <p:nvPr/>
        </p:nvSpPr>
        <p:spPr>
          <a:xfrm>
            <a:off x="666720" y="465768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Forma libre 308"/>
          <p:cNvSpPr/>
          <p:nvPr/>
        </p:nvSpPr>
        <p:spPr>
          <a:xfrm>
            <a:off x="4676760" y="1304640"/>
            <a:ext cx="2428920" cy="381600"/>
          </a:xfrm>
          <a:custGeom>
            <a:avLst/>
            <a:gdLst/>
            <a:ahLst/>
            <a:cxnLst/>
            <a:rect l="0" t="0" r="r" b="b"/>
            <a:pathLst>
              <a:path w="6747" h="1060">
                <a:moveTo>
                  <a:pt x="0" y="954"/>
                </a:moveTo>
                <a:lnTo>
                  <a:pt x="0" y="107"/>
                </a:ln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0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6642" y="0"/>
                </a:lnTo>
                <a:cubicBezTo>
                  <a:pt x="6656" y="0"/>
                  <a:pt x="6669" y="3"/>
                  <a:pt x="6682" y="8"/>
                </a:cubicBezTo>
                <a:cubicBezTo>
                  <a:pt x="6695" y="14"/>
                  <a:pt x="6706" y="21"/>
                  <a:pt x="6716" y="31"/>
                </a:cubicBezTo>
                <a:cubicBezTo>
                  <a:pt x="6726" y="41"/>
                  <a:pt x="6734" y="53"/>
                  <a:pt x="6739" y="66"/>
                </a:cubicBezTo>
                <a:cubicBezTo>
                  <a:pt x="6745" y="79"/>
                  <a:pt x="6747" y="93"/>
                  <a:pt x="6747" y="107"/>
                </a:cubicBezTo>
                <a:lnTo>
                  <a:pt x="6747" y="954"/>
                </a:lnTo>
                <a:cubicBezTo>
                  <a:pt x="6747" y="968"/>
                  <a:pt x="6745" y="981"/>
                  <a:pt x="6739" y="994"/>
                </a:cubicBezTo>
                <a:cubicBezTo>
                  <a:pt x="6734" y="1007"/>
                  <a:pt x="6726" y="1019"/>
                  <a:pt x="6716" y="1029"/>
                </a:cubicBezTo>
                <a:cubicBezTo>
                  <a:pt x="6706" y="1039"/>
                  <a:pt x="6695" y="1046"/>
                  <a:pt x="6682" y="1052"/>
                </a:cubicBezTo>
                <a:cubicBezTo>
                  <a:pt x="6669" y="1057"/>
                  <a:pt x="6656" y="1060"/>
                  <a:pt x="6642" y="1060"/>
                </a:cubicBezTo>
                <a:lnTo>
                  <a:pt x="105" y="1060"/>
                </a:lnTo>
                <a:cubicBezTo>
                  <a:pt x="91" y="1060"/>
                  <a:pt x="78" y="1057"/>
                  <a:pt x="65" y="1052"/>
                </a:cubicBezTo>
                <a:cubicBezTo>
                  <a:pt x="52" y="1046"/>
                  <a:pt x="40" y="1039"/>
                  <a:pt x="31" y="1029"/>
                </a:cubicBezTo>
                <a:cubicBezTo>
                  <a:pt x="21" y="1019"/>
                  <a:pt x="13" y="1007"/>
                  <a:pt x="8" y="994"/>
                </a:cubicBezTo>
                <a:cubicBezTo>
                  <a:pt x="2" y="981"/>
                  <a:pt x="0" y="968"/>
                  <a:pt x="0" y="954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CuadroTexto 309"/>
          <p:cNvSpPr txBox="1"/>
          <p:nvPr/>
        </p:nvSpPr>
        <p:spPr>
          <a:xfrm>
            <a:off x="666720" y="1301400"/>
            <a:ext cx="41202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tabla que casi nadie abre: 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CuadroTexto 310"/>
          <p:cNvSpPr txBox="1"/>
          <p:nvPr/>
        </p:nvSpPr>
        <p:spPr>
          <a:xfrm>
            <a:off x="4738320" y="1309320"/>
            <a:ext cx="234576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RELATIONSHIP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CuadroTexto 311"/>
          <p:cNvSpPr txBox="1"/>
          <p:nvPr/>
        </p:nvSpPr>
        <p:spPr>
          <a:xfrm>
            <a:off x="666720" y="1982520"/>
            <a:ext cx="7151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 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catálogo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tipos de arista. Sus banderas explican todo lo demás: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CuadroTexto 312"/>
          <p:cNvSpPr txBox="1"/>
          <p:nvPr/>
        </p:nvSpPr>
        <p:spPr>
          <a:xfrm>
            <a:off x="1650240" y="2542680"/>
            <a:ext cx="656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Campo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Forma libre 313"/>
          <p:cNvSpPr/>
          <p:nvPr/>
        </p:nvSpPr>
        <p:spPr>
          <a:xfrm>
            <a:off x="799920" y="2952720"/>
            <a:ext cx="1771920" cy="228960"/>
          </a:xfrm>
          <a:custGeom>
            <a:avLst/>
            <a:gdLst/>
            <a:ahLst/>
            <a:cxnLst/>
            <a:rect l="0" t="0" r="r" b="b"/>
            <a:pathLst>
              <a:path w="4922" h="636">
                <a:moveTo>
                  <a:pt x="0" y="530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816" y="0"/>
                </a:lnTo>
                <a:cubicBezTo>
                  <a:pt x="4830" y="0"/>
                  <a:pt x="4844" y="2"/>
                  <a:pt x="4857" y="8"/>
                </a:cubicBezTo>
                <a:cubicBezTo>
                  <a:pt x="4870" y="13"/>
                  <a:pt x="4881" y="21"/>
                  <a:pt x="4891" y="31"/>
                </a:cubicBezTo>
                <a:cubicBezTo>
                  <a:pt x="4901" y="41"/>
                  <a:pt x="4909" y="52"/>
                  <a:pt x="4914" y="65"/>
                </a:cubicBezTo>
                <a:cubicBezTo>
                  <a:pt x="4920" y="78"/>
                  <a:pt x="4922" y="91"/>
                  <a:pt x="4922" y="105"/>
                </a:cubicBezTo>
                <a:lnTo>
                  <a:pt x="4922" y="530"/>
                </a:lnTo>
                <a:cubicBezTo>
                  <a:pt x="4922" y="544"/>
                  <a:pt x="4920" y="557"/>
                  <a:pt x="4914" y="570"/>
                </a:cubicBezTo>
                <a:cubicBezTo>
                  <a:pt x="4909" y="583"/>
                  <a:pt x="4901" y="595"/>
                  <a:pt x="4891" y="605"/>
                </a:cubicBezTo>
                <a:cubicBezTo>
                  <a:pt x="4881" y="615"/>
                  <a:pt x="4870" y="622"/>
                  <a:pt x="4857" y="628"/>
                </a:cubicBezTo>
                <a:cubicBezTo>
                  <a:pt x="4844" y="633"/>
                  <a:pt x="4830" y="636"/>
                  <a:pt x="4816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CuadroTexto 314"/>
          <p:cNvSpPr txBox="1"/>
          <p:nvPr/>
        </p:nvSpPr>
        <p:spPr>
          <a:xfrm>
            <a:off x="4575600" y="2542680"/>
            <a:ext cx="808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dice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CuadroTexto 315"/>
          <p:cNvSpPr txBox="1"/>
          <p:nvPr/>
        </p:nvSpPr>
        <p:spPr>
          <a:xfrm>
            <a:off x="857160" y="2973960"/>
            <a:ext cx="1654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relationship_name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Forma libre 316"/>
          <p:cNvSpPr/>
          <p:nvPr/>
        </p:nvSpPr>
        <p:spPr>
          <a:xfrm>
            <a:off x="799920" y="3362040"/>
            <a:ext cx="2352960" cy="228960"/>
          </a:xfrm>
          <a:custGeom>
            <a:avLst/>
            <a:gdLst/>
            <a:ahLst/>
            <a:cxnLst/>
            <a:rect l="0" t="0" r="r" b="b"/>
            <a:pathLst>
              <a:path w="6536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6430" y="0"/>
                </a:lnTo>
                <a:cubicBezTo>
                  <a:pt x="6444" y="0"/>
                  <a:pt x="6458" y="3"/>
                  <a:pt x="6471" y="8"/>
                </a:cubicBezTo>
                <a:cubicBezTo>
                  <a:pt x="6484" y="14"/>
                  <a:pt x="6495" y="21"/>
                  <a:pt x="6505" y="31"/>
                </a:cubicBezTo>
                <a:cubicBezTo>
                  <a:pt x="6515" y="41"/>
                  <a:pt x="6523" y="53"/>
                  <a:pt x="6528" y="66"/>
                </a:cubicBezTo>
                <a:cubicBezTo>
                  <a:pt x="6534" y="79"/>
                  <a:pt x="6536" y="92"/>
                  <a:pt x="6536" y="106"/>
                </a:cubicBezTo>
                <a:lnTo>
                  <a:pt x="6536" y="530"/>
                </a:lnTo>
                <a:cubicBezTo>
                  <a:pt x="6536" y="544"/>
                  <a:pt x="6534" y="558"/>
                  <a:pt x="6528" y="571"/>
                </a:cubicBezTo>
                <a:cubicBezTo>
                  <a:pt x="6523" y="584"/>
                  <a:pt x="6515" y="595"/>
                  <a:pt x="6505" y="605"/>
                </a:cubicBezTo>
                <a:cubicBezTo>
                  <a:pt x="6495" y="615"/>
                  <a:pt x="6484" y="623"/>
                  <a:pt x="6471" y="628"/>
                </a:cubicBezTo>
                <a:cubicBezTo>
                  <a:pt x="6458" y="634"/>
                  <a:pt x="6444" y="636"/>
                  <a:pt x="6430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CuadroTexto 317"/>
          <p:cNvSpPr txBox="1"/>
          <p:nvPr/>
        </p:nvSpPr>
        <p:spPr>
          <a:xfrm>
            <a:off x="3413880" y="2943000"/>
            <a:ext cx="1394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nombre legible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CuadroTexto 318"/>
          <p:cNvSpPr txBox="1"/>
          <p:nvPr/>
        </p:nvSpPr>
        <p:spPr>
          <a:xfrm>
            <a:off x="857160" y="3383640"/>
            <a:ext cx="22377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reverse_relationship_id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Forma libre 319"/>
          <p:cNvSpPr/>
          <p:nvPr/>
        </p:nvSpPr>
        <p:spPr>
          <a:xfrm>
            <a:off x="799920" y="3771720"/>
            <a:ext cx="1581480" cy="228960"/>
          </a:xfrm>
          <a:custGeom>
            <a:avLst/>
            <a:gdLst/>
            <a:ahLst/>
            <a:cxnLst/>
            <a:rect l="0" t="0" r="r" b="b"/>
            <a:pathLst>
              <a:path w="4393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286" y="0"/>
                </a:lnTo>
                <a:cubicBezTo>
                  <a:pt x="4300" y="0"/>
                  <a:pt x="4314" y="3"/>
                  <a:pt x="4327" y="8"/>
                </a:cubicBezTo>
                <a:cubicBezTo>
                  <a:pt x="4340" y="13"/>
                  <a:pt x="4351" y="21"/>
                  <a:pt x="4361" y="31"/>
                </a:cubicBezTo>
                <a:cubicBezTo>
                  <a:pt x="4372" y="41"/>
                  <a:pt x="4380" y="52"/>
                  <a:pt x="4385" y="65"/>
                </a:cubicBezTo>
                <a:cubicBezTo>
                  <a:pt x="4390" y="78"/>
                  <a:pt x="4393" y="92"/>
                  <a:pt x="4393" y="106"/>
                </a:cubicBezTo>
                <a:lnTo>
                  <a:pt x="4393" y="529"/>
                </a:lnTo>
                <a:cubicBezTo>
                  <a:pt x="4393" y="543"/>
                  <a:pt x="4390" y="557"/>
                  <a:pt x="4385" y="570"/>
                </a:cubicBezTo>
                <a:cubicBezTo>
                  <a:pt x="4380" y="583"/>
                  <a:pt x="4372" y="594"/>
                  <a:pt x="4361" y="604"/>
                </a:cubicBezTo>
                <a:cubicBezTo>
                  <a:pt x="4351" y="614"/>
                  <a:pt x="4340" y="623"/>
                  <a:pt x="4327" y="628"/>
                </a:cubicBezTo>
                <a:cubicBezTo>
                  <a:pt x="4314" y="633"/>
                  <a:pt x="4300" y="636"/>
                  <a:pt x="4286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4"/>
                  <a:pt x="31" y="604"/>
                </a:cubicBezTo>
                <a:cubicBezTo>
                  <a:pt x="21" y="594"/>
                  <a:pt x="13" y="583"/>
                  <a:pt x="8" y="570"/>
                </a:cubicBezTo>
                <a:cubicBezTo>
                  <a:pt x="3" y="557"/>
                  <a:pt x="0" y="543"/>
                  <a:pt x="0" y="529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CuadroTexto 320"/>
          <p:cNvSpPr txBox="1"/>
          <p:nvPr/>
        </p:nvSpPr>
        <p:spPr>
          <a:xfrm>
            <a:off x="3413880" y="3352320"/>
            <a:ext cx="1888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cuál es la arista inversa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CuadroTexto 321"/>
          <p:cNvSpPr txBox="1"/>
          <p:nvPr/>
        </p:nvSpPr>
        <p:spPr>
          <a:xfrm>
            <a:off x="857160" y="3792960"/>
            <a:ext cx="1459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is_hierarchical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Forma libre 322"/>
          <p:cNvSpPr/>
          <p:nvPr/>
        </p:nvSpPr>
        <p:spPr>
          <a:xfrm>
            <a:off x="799920" y="4190760"/>
            <a:ext cx="1676880" cy="228960"/>
          </a:xfrm>
          <a:custGeom>
            <a:avLst/>
            <a:gdLst/>
            <a:ahLst/>
            <a:cxnLst/>
            <a:rect l="0" t="0" r="r" b="b"/>
            <a:pathLst>
              <a:path w="4658" h="636">
                <a:moveTo>
                  <a:pt x="0" y="530"/>
                </a:moveTo>
                <a:lnTo>
                  <a:pt x="0" y="107"/>
                </a:lnTo>
                <a:cubicBezTo>
                  <a:pt x="0" y="93"/>
                  <a:pt x="3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7" y="0"/>
                </a:cubicBezTo>
                <a:lnTo>
                  <a:pt x="4552" y="0"/>
                </a:lnTo>
                <a:cubicBezTo>
                  <a:pt x="4566" y="0"/>
                  <a:pt x="4579" y="3"/>
                  <a:pt x="4592" y="8"/>
                </a:cubicBezTo>
                <a:cubicBezTo>
                  <a:pt x="4605" y="14"/>
                  <a:pt x="4617" y="21"/>
                  <a:pt x="4627" y="31"/>
                </a:cubicBezTo>
                <a:cubicBezTo>
                  <a:pt x="4637" y="41"/>
                  <a:pt x="4644" y="53"/>
                  <a:pt x="4650" y="65"/>
                </a:cubicBezTo>
                <a:cubicBezTo>
                  <a:pt x="4655" y="78"/>
                  <a:pt x="4658" y="93"/>
                  <a:pt x="4658" y="107"/>
                </a:cubicBezTo>
                <a:lnTo>
                  <a:pt x="4658" y="530"/>
                </a:lnTo>
                <a:cubicBezTo>
                  <a:pt x="4658" y="544"/>
                  <a:pt x="4655" y="558"/>
                  <a:pt x="4650" y="571"/>
                </a:cubicBezTo>
                <a:cubicBezTo>
                  <a:pt x="4644" y="584"/>
                  <a:pt x="4637" y="595"/>
                  <a:pt x="4627" y="605"/>
                </a:cubicBezTo>
                <a:cubicBezTo>
                  <a:pt x="4617" y="615"/>
                  <a:pt x="4605" y="623"/>
                  <a:pt x="4592" y="628"/>
                </a:cubicBezTo>
                <a:cubicBezTo>
                  <a:pt x="4579" y="633"/>
                  <a:pt x="4566" y="636"/>
                  <a:pt x="4552" y="636"/>
                </a:cubicBezTo>
                <a:lnTo>
                  <a:pt x="107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CuadroTexto 323"/>
          <p:cNvSpPr txBox="1"/>
          <p:nvPr/>
        </p:nvSpPr>
        <p:spPr>
          <a:xfrm>
            <a:off x="3413880" y="3762000"/>
            <a:ext cx="2294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 es una relación padre-hijo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CuadroTexto 324"/>
          <p:cNvSpPr txBox="1"/>
          <p:nvPr/>
        </p:nvSpPr>
        <p:spPr>
          <a:xfrm>
            <a:off x="857160" y="4212360"/>
            <a:ext cx="15570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defines_ancestry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Forma libre 325"/>
          <p:cNvSpPr/>
          <p:nvPr/>
        </p:nvSpPr>
        <p:spPr>
          <a:xfrm>
            <a:off x="4867200" y="4190760"/>
            <a:ext cx="1676520" cy="228960"/>
          </a:xfrm>
          <a:custGeom>
            <a:avLst/>
            <a:gdLst/>
            <a:ahLst/>
            <a:cxnLst/>
            <a:rect l="0" t="0" r="r" b="b"/>
            <a:pathLst>
              <a:path w="4657" h="636">
                <a:moveTo>
                  <a:pt x="0" y="530"/>
                </a:moveTo>
                <a:lnTo>
                  <a:pt x="0" y="107"/>
                </a:lnTo>
                <a:cubicBezTo>
                  <a:pt x="0" y="93"/>
                  <a:pt x="2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552" y="0"/>
                </a:lnTo>
                <a:cubicBezTo>
                  <a:pt x="4566" y="0"/>
                  <a:pt x="4579" y="3"/>
                  <a:pt x="4592" y="8"/>
                </a:cubicBezTo>
                <a:cubicBezTo>
                  <a:pt x="4605" y="14"/>
                  <a:pt x="4616" y="21"/>
                  <a:pt x="4626" y="31"/>
                </a:cubicBezTo>
                <a:cubicBezTo>
                  <a:pt x="4636" y="41"/>
                  <a:pt x="4644" y="53"/>
                  <a:pt x="4649" y="65"/>
                </a:cubicBezTo>
                <a:cubicBezTo>
                  <a:pt x="4655" y="78"/>
                  <a:pt x="4657" y="93"/>
                  <a:pt x="4657" y="107"/>
                </a:cubicBezTo>
                <a:lnTo>
                  <a:pt x="4657" y="530"/>
                </a:lnTo>
                <a:cubicBezTo>
                  <a:pt x="4657" y="544"/>
                  <a:pt x="4655" y="558"/>
                  <a:pt x="4649" y="571"/>
                </a:cubicBezTo>
                <a:cubicBezTo>
                  <a:pt x="4644" y="584"/>
                  <a:pt x="4636" y="595"/>
                  <a:pt x="4626" y="605"/>
                </a:cubicBezTo>
                <a:cubicBezTo>
                  <a:pt x="4616" y="615"/>
                  <a:pt x="4605" y="623"/>
                  <a:pt x="4592" y="628"/>
                </a:cubicBezTo>
                <a:cubicBezTo>
                  <a:pt x="4579" y="633"/>
                  <a:pt x="4566" y="636"/>
                  <a:pt x="4552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2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CuadroTexto 326"/>
          <p:cNvSpPr txBox="1"/>
          <p:nvPr/>
        </p:nvSpPr>
        <p:spPr>
          <a:xfrm>
            <a:off x="3413880" y="4181040"/>
            <a:ext cx="1458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 entra o no en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CuadroTexto 327"/>
          <p:cNvSpPr txBox="1"/>
          <p:nvPr/>
        </p:nvSpPr>
        <p:spPr>
          <a:xfrm>
            <a:off x="4928040" y="4212360"/>
            <a:ext cx="15570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CONCEPT_ANCESTOR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CuadroTexto 328"/>
          <p:cNvSpPr txBox="1"/>
          <p:nvPr/>
        </p:nvSpPr>
        <p:spPr>
          <a:xfrm>
            <a:off x="905040" y="4811400"/>
            <a:ext cx="10185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Cuando te preguntes «¿por qué esta relación no aparece en ancestor?», la respuesta está en estas 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CuadroTexto 329"/>
          <p:cNvSpPr txBox="1"/>
          <p:nvPr/>
        </p:nvSpPr>
        <p:spPr>
          <a:xfrm>
            <a:off x="905040" y="5154480"/>
            <a:ext cx="987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banderas.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CuadroTexto 33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CuadroTexto 33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CuadroTexto 332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Forma libre 3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Forma libre 3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Forma libre 3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Forma libre 336"/>
          <p:cNvSpPr/>
          <p:nvPr/>
        </p:nvSpPr>
        <p:spPr>
          <a:xfrm>
            <a:off x="2819160" y="3066840"/>
            <a:ext cx="5258160" cy="619560"/>
          </a:xfrm>
          <a:custGeom>
            <a:avLst/>
            <a:gdLst/>
            <a:ahLst/>
            <a:cxnLst/>
            <a:rect l="0" t="0" r="r" b="b"/>
            <a:pathLst>
              <a:path w="14606" h="1721">
                <a:moveTo>
                  <a:pt x="0" y="161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4500" y="0"/>
                </a:lnTo>
                <a:cubicBezTo>
                  <a:pt x="14514" y="0"/>
                  <a:pt x="14528" y="3"/>
                  <a:pt x="14541" y="8"/>
                </a:cubicBezTo>
                <a:cubicBezTo>
                  <a:pt x="14554" y="14"/>
                  <a:pt x="14565" y="21"/>
                  <a:pt x="14575" y="31"/>
                </a:cubicBezTo>
                <a:cubicBezTo>
                  <a:pt x="14585" y="41"/>
                  <a:pt x="14593" y="52"/>
                  <a:pt x="14598" y="65"/>
                </a:cubicBezTo>
                <a:cubicBezTo>
                  <a:pt x="14603" y="78"/>
                  <a:pt x="14606" y="92"/>
                  <a:pt x="14606" y="106"/>
                </a:cubicBezTo>
                <a:lnTo>
                  <a:pt x="14606" y="1615"/>
                </a:lnTo>
                <a:cubicBezTo>
                  <a:pt x="14606" y="1629"/>
                  <a:pt x="14603" y="1643"/>
                  <a:pt x="14598" y="1656"/>
                </a:cubicBezTo>
                <a:cubicBezTo>
                  <a:pt x="14593" y="1669"/>
                  <a:pt x="14585" y="1680"/>
                  <a:pt x="14575" y="1690"/>
                </a:cubicBezTo>
                <a:cubicBezTo>
                  <a:pt x="14565" y="1700"/>
                  <a:pt x="14554" y="1707"/>
                  <a:pt x="14541" y="1713"/>
                </a:cubicBezTo>
                <a:cubicBezTo>
                  <a:pt x="14528" y="1718"/>
                  <a:pt x="14514" y="1721"/>
                  <a:pt x="14500" y="1721"/>
                </a:cubicBezTo>
                <a:lnTo>
                  <a:pt x="106" y="1721"/>
                </a:lnTo>
                <a:cubicBezTo>
                  <a:pt x="92" y="1721"/>
                  <a:pt x="78" y="1718"/>
                  <a:pt x="65" y="1713"/>
                </a:cubicBezTo>
                <a:cubicBezTo>
                  <a:pt x="53" y="1707"/>
                  <a:pt x="41" y="1700"/>
                  <a:pt x="31" y="1690"/>
                </a:cubicBezTo>
                <a:cubicBezTo>
                  <a:pt x="21" y="1680"/>
                  <a:pt x="14" y="1669"/>
                  <a:pt x="8" y="1656"/>
                </a:cubicBezTo>
                <a:cubicBezTo>
                  <a:pt x="3" y="1643"/>
                  <a:pt x="0" y="1629"/>
                  <a:pt x="0" y="161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CuadroTexto 337"/>
          <p:cNvSpPr txBox="1"/>
          <p:nvPr/>
        </p:nvSpPr>
        <p:spPr>
          <a:xfrm>
            <a:off x="2237400" y="3054600"/>
            <a:ext cx="594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CuadroTexto 338"/>
          <p:cNvSpPr txBox="1"/>
          <p:nvPr/>
        </p:nvSpPr>
        <p:spPr>
          <a:xfrm>
            <a:off x="2921040" y="3067200"/>
            <a:ext cx="5139000" cy="622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CONCEPT_ANCESTOR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CuadroTexto 339"/>
          <p:cNvSpPr txBox="1"/>
          <p:nvPr/>
        </p:nvSpPr>
        <p:spPr>
          <a:xfrm>
            <a:off x="8080560" y="3054600"/>
            <a:ext cx="19278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: el atajo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CuadroTexto 34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CuadroTexto 34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CuadroTexto 34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Forma libre 3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Forma libre 3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Forma libre 3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Forma libre 346"/>
          <p:cNvSpPr/>
          <p:nvPr/>
        </p:nvSpPr>
        <p:spPr>
          <a:xfrm>
            <a:off x="671400" y="217620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3613"/>
                </a:lnTo>
                <a:cubicBezTo>
                  <a:pt x="30137" y="3626"/>
                  <a:pt x="30136" y="3639"/>
                  <a:pt x="30133" y="3652"/>
                </a:cubicBezTo>
                <a:cubicBezTo>
                  <a:pt x="30130" y="3664"/>
                  <a:pt x="30127" y="3677"/>
                  <a:pt x="30122" y="3689"/>
                </a:cubicBezTo>
                <a:cubicBezTo>
                  <a:pt x="30117" y="3701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1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1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1"/>
                  <a:pt x="15" y="3689"/>
                </a:cubicBezTo>
                <a:cubicBezTo>
                  <a:pt x="10" y="3677"/>
                  <a:pt x="6" y="3664"/>
                  <a:pt x="4" y="3652"/>
                </a:cubicBezTo>
                <a:cubicBezTo>
                  <a:pt x="1" y="3639"/>
                  <a:pt x="0" y="3626"/>
                  <a:pt x="0" y="361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orma libre 347"/>
          <p:cNvSpPr/>
          <p:nvPr/>
        </p:nvSpPr>
        <p:spPr>
          <a:xfrm>
            <a:off x="671400" y="217620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3613"/>
                </a:lnTo>
                <a:cubicBezTo>
                  <a:pt x="30137" y="3626"/>
                  <a:pt x="30136" y="3639"/>
                  <a:pt x="30133" y="3652"/>
                </a:cubicBezTo>
                <a:cubicBezTo>
                  <a:pt x="30130" y="3664"/>
                  <a:pt x="30127" y="3677"/>
                  <a:pt x="30122" y="3689"/>
                </a:cubicBezTo>
                <a:cubicBezTo>
                  <a:pt x="30117" y="3701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1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1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1"/>
                  <a:pt x="15" y="3689"/>
                </a:cubicBezTo>
                <a:cubicBezTo>
                  <a:pt x="10" y="3677"/>
                  <a:pt x="6" y="3664"/>
                  <a:pt x="4" y="3652"/>
                </a:cubicBezTo>
                <a:cubicBezTo>
                  <a:pt x="1" y="3639"/>
                  <a:pt x="0" y="3626"/>
                  <a:pt x="0" y="361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CuadroTexto 348"/>
          <p:cNvSpPr txBox="1"/>
          <p:nvPr/>
        </p:nvSpPr>
        <p:spPr>
          <a:xfrm>
            <a:off x="666720" y="1530000"/>
            <a:ext cx="50335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Cuatro columnas, dos de ellas raras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CuadroTexto 349"/>
          <p:cNvSpPr txBox="1"/>
          <p:nvPr/>
        </p:nvSpPr>
        <p:spPr>
          <a:xfrm>
            <a:off x="866880" y="2356200"/>
            <a:ext cx="4258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ancestor_concept_id        el de arriba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CuadroTexto 350"/>
          <p:cNvSpPr txBox="1"/>
          <p:nvPr/>
        </p:nvSpPr>
        <p:spPr>
          <a:xfrm>
            <a:off x="866880" y="2622960"/>
            <a:ext cx="4149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descendant_concept_id      el de abajo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CuadroTexto 351"/>
          <p:cNvSpPr txBox="1"/>
          <p:nvPr/>
        </p:nvSpPr>
        <p:spPr>
          <a:xfrm>
            <a:off x="866880" y="2880000"/>
            <a:ext cx="6333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min_levels_of_separation   el camino MÁS CORTO entre ellos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CuadroTexto 352"/>
          <p:cNvSpPr txBox="1"/>
          <p:nvPr/>
        </p:nvSpPr>
        <p:spPr>
          <a:xfrm>
            <a:off x="866880" y="3146760"/>
            <a:ext cx="5023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max_levels_of_separation   el camino MÁS LARGO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orma libre 353"/>
          <p:cNvSpPr/>
          <p:nvPr/>
        </p:nvSpPr>
        <p:spPr>
          <a:xfrm>
            <a:off x="914040" y="43527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orma libre 354"/>
          <p:cNvSpPr/>
          <p:nvPr/>
        </p:nvSpPr>
        <p:spPr>
          <a:xfrm>
            <a:off x="1123920" y="4257360"/>
            <a:ext cx="1638360" cy="267120"/>
          </a:xfrm>
          <a:custGeom>
            <a:avLst/>
            <a:gdLst/>
            <a:ahLst/>
            <a:cxnLst/>
            <a:rect l="0" t="0" r="r" b="b"/>
            <a:pathLst>
              <a:path w="455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4446" y="0"/>
                </a:lnTo>
                <a:cubicBezTo>
                  <a:pt x="4460" y="0"/>
                  <a:pt x="4473" y="3"/>
                  <a:pt x="4486" y="8"/>
                </a:cubicBezTo>
                <a:cubicBezTo>
                  <a:pt x="4499" y="14"/>
                  <a:pt x="4510" y="21"/>
                  <a:pt x="4520" y="31"/>
                </a:cubicBezTo>
                <a:cubicBezTo>
                  <a:pt x="4530" y="41"/>
                  <a:pt x="4538" y="53"/>
                  <a:pt x="4543" y="66"/>
                </a:cubicBezTo>
                <a:cubicBezTo>
                  <a:pt x="4549" y="79"/>
                  <a:pt x="4551" y="92"/>
                  <a:pt x="4551" y="106"/>
                </a:cubicBezTo>
                <a:lnTo>
                  <a:pt x="4551" y="636"/>
                </a:lnTo>
                <a:cubicBezTo>
                  <a:pt x="4551" y="650"/>
                  <a:pt x="4549" y="664"/>
                  <a:pt x="4543" y="677"/>
                </a:cubicBezTo>
                <a:cubicBezTo>
                  <a:pt x="4538" y="690"/>
                  <a:pt x="4530" y="701"/>
                  <a:pt x="4520" y="711"/>
                </a:cubicBezTo>
                <a:cubicBezTo>
                  <a:pt x="4510" y="721"/>
                  <a:pt x="4499" y="729"/>
                  <a:pt x="4486" y="734"/>
                </a:cubicBezTo>
                <a:cubicBezTo>
                  <a:pt x="4473" y="740"/>
                  <a:pt x="4460" y="742"/>
                  <a:pt x="4446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CuadroTexto 355"/>
          <p:cNvSpPr txBox="1"/>
          <p:nvPr/>
        </p:nvSpPr>
        <p:spPr>
          <a:xfrm>
            <a:off x="666720" y="3744720"/>
            <a:ext cx="10521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¿Dos distancias? Sí: en una poli-jerarquía hay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varios caminos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entre dos conceptos, y no miden lo mismo.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CuadroTexto 356"/>
          <p:cNvSpPr txBox="1"/>
          <p:nvPr/>
        </p:nvSpPr>
        <p:spPr>
          <a:xfrm>
            <a:off x="1181160" y="427752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min = max = 0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CuadroTexto 357"/>
          <p:cNvSpPr txBox="1"/>
          <p:nvPr/>
        </p:nvSpPr>
        <p:spPr>
          <a:xfrm>
            <a:off x="2759040" y="424008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CuadroTexto 358"/>
          <p:cNvSpPr txBox="1"/>
          <p:nvPr/>
        </p:nvSpPr>
        <p:spPr>
          <a:xfrm>
            <a:off x="2822760" y="425088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Forma libre 359"/>
          <p:cNvSpPr/>
          <p:nvPr/>
        </p:nvSpPr>
        <p:spPr>
          <a:xfrm>
            <a:off x="914040" y="47527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orma libre 360"/>
          <p:cNvSpPr/>
          <p:nvPr/>
        </p:nvSpPr>
        <p:spPr>
          <a:xfrm>
            <a:off x="1123920" y="4657680"/>
            <a:ext cx="933480" cy="266760"/>
          </a:xfrm>
          <a:custGeom>
            <a:avLst/>
            <a:gdLst/>
            <a:ahLst/>
            <a:cxnLst/>
            <a:rect l="0" t="0" r="r" b="b"/>
            <a:pathLst>
              <a:path w="2593" h="741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2" y="14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488" y="0"/>
                </a:lnTo>
                <a:cubicBezTo>
                  <a:pt x="2502" y="0"/>
                  <a:pt x="2515" y="2"/>
                  <a:pt x="2528" y="8"/>
                </a:cubicBezTo>
                <a:cubicBezTo>
                  <a:pt x="2541" y="14"/>
                  <a:pt x="2553" y="22"/>
                  <a:pt x="2563" y="32"/>
                </a:cubicBezTo>
                <a:cubicBezTo>
                  <a:pt x="2572" y="42"/>
                  <a:pt x="2580" y="53"/>
                  <a:pt x="2585" y="66"/>
                </a:cubicBezTo>
                <a:cubicBezTo>
                  <a:pt x="2591" y="79"/>
                  <a:pt x="2593" y="92"/>
                  <a:pt x="2593" y="106"/>
                </a:cubicBezTo>
                <a:lnTo>
                  <a:pt x="2593" y="636"/>
                </a:lnTo>
                <a:cubicBezTo>
                  <a:pt x="2593" y="650"/>
                  <a:pt x="2591" y="663"/>
                  <a:pt x="2585" y="676"/>
                </a:cubicBezTo>
                <a:cubicBezTo>
                  <a:pt x="2580" y="689"/>
                  <a:pt x="2572" y="701"/>
                  <a:pt x="2563" y="710"/>
                </a:cubicBezTo>
                <a:cubicBezTo>
                  <a:pt x="2553" y="720"/>
                  <a:pt x="2541" y="728"/>
                  <a:pt x="2528" y="733"/>
                </a:cubicBezTo>
                <a:cubicBezTo>
                  <a:pt x="2515" y="739"/>
                  <a:pt x="2502" y="741"/>
                  <a:pt x="2488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CuadroTexto 361"/>
          <p:cNvSpPr txBox="1"/>
          <p:nvPr/>
        </p:nvSpPr>
        <p:spPr>
          <a:xfrm>
            <a:off x="3051360" y="4240080"/>
            <a:ext cx="2782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 concepto consigo mismo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CuadroTexto 362"/>
          <p:cNvSpPr txBox="1"/>
          <p:nvPr/>
        </p:nvSpPr>
        <p:spPr>
          <a:xfrm>
            <a:off x="1181160" y="467748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min = 1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CuadroTexto 363"/>
          <p:cNvSpPr txBox="1"/>
          <p:nvPr/>
        </p:nvSpPr>
        <p:spPr>
          <a:xfrm>
            <a:off x="2057400" y="464004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CuadroTexto 364"/>
          <p:cNvSpPr txBox="1"/>
          <p:nvPr/>
        </p:nvSpPr>
        <p:spPr>
          <a:xfrm>
            <a:off x="2120760" y="465084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Forma libre 365"/>
          <p:cNvSpPr/>
          <p:nvPr/>
        </p:nvSpPr>
        <p:spPr>
          <a:xfrm>
            <a:off x="914040" y="51526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orma libre 366"/>
          <p:cNvSpPr/>
          <p:nvPr/>
        </p:nvSpPr>
        <p:spPr>
          <a:xfrm>
            <a:off x="1123920" y="5057640"/>
            <a:ext cx="1171800" cy="267120"/>
          </a:xfrm>
          <a:custGeom>
            <a:avLst/>
            <a:gdLst/>
            <a:ahLst/>
            <a:cxnLst/>
            <a:rect l="0" t="0" r="r" b="b"/>
            <a:pathLst>
              <a:path w="325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149" y="0"/>
                </a:lnTo>
                <a:cubicBezTo>
                  <a:pt x="3163" y="0"/>
                  <a:pt x="3177" y="3"/>
                  <a:pt x="3190" y="8"/>
                </a:cubicBezTo>
                <a:cubicBezTo>
                  <a:pt x="3203" y="13"/>
                  <a:pt x="3214" y="21"/>
                  <a:pt x="3224" y="31"/>
                </a:cubicBezTo>
                <a:cubicBezTo>
                  <a:pt x="3234" y="41"/>
                  <a:pt x="3242" y="52"/>
                  <a:pt x="3247" y="65"/>
                </a:cubicBezTo>
                <a:cubicBezTo>
                  <a:pt x="3252" y="78"/>
                  <a:pt x="3255" y="92"/>
                  <a:pt x="3255" y="106"/>
                </a:cubicBezTo>
                <a:lnTo>
                  <a:pt x="3255" y="636"/>
                </a:lnTo>
                <a:cubicBezTo>
                  <a:pt x="3255" y="650"/>
                  <a:pt x="3252" y="663"/>
                  <a:pt x="3247" y="676"/>
                </a:cubicBezTo>
                <a:cubicBezTo>
                  <a:pt x="3242" y="689"/>
                  <a:pt x="3234" y="701"/>
                  <a:pt x="3224" y="711"/>
                </a:cubicBezTo>
                <a:cubicBezTo>
                  <a:pt x="3214" y="721"/>
                  <a:pt x="3203" y="728"/>
                  <a:pt x="3190" y="734"/>
                </a:cubicBezTo>
                <a:cubicBezTo>
                  <a:pt x="3177" y="739"/>
                  <a:pt x="3163" y="742"/>
                  <a:pt x="3149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CuadroTexto 367"/>
          <p:cNvSpPr txBox="1"/>
          <p:nvPr/>
        </p:nvSpPr>
        <p:spPr>
          <a:xfrm>
            <a:off x="2349360" y="4640040"/>
            <a:ext cx="1377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padre directo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CuadroTexto 368"/>
          <p:cNvSpPr txBox="1"/>
          <p:nvPr/>
        </p:nvSpPr>
        <p:spPr>
          <a:xfrm>
            <a:off x="1181160" y="507744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min ≠ max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CuadroTexto 369"/>
          <p:cNvSpPr txBox="1"/>
          <p:nvPr/>
        </p:nvSpPr>
        <p:spPr>
          <a:xfrm>
            <a:off x="2291040" y="504000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CuadroTexto 370"/>
          <p:cNvSpPr txBox="1"/>
          <p:nvPr/>
        </p:nvSpPr>
        <p:spPr>
          <a:xfrm>
            <a:off x="2354760" y="505080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CuadroTexto 371"/>
          <p:cNvSpPr txBox="1"/>
          <p:nvPr/>
        </p:nvSpPr>
        <p:spPr>
          <a:xfrm>
            <a:off x="2583360" y="5040000"/>
            <a:ext cx="2804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llegas por más de una rama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CuadroTexto 37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CuadroTexto 37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CuadroTexto 37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Forma libre 3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Forma libre 37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Forma libre 37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Forma libre 378"/>
          <p:cNvSpPr/>
          <p:nvPr/>
        </p:nvSpPr>
        <p:spPr>
          <a:xfrm>
            <a:off x="690480" y="4552920"/>
            <a:ext cx="10834920" cy="1067040"/>
          </a:xfrm>
          <a:custGeom>
            <a:avLst/>
            <a:gdLst/>
            <a:ahLst/>
            <a:cxnLst/>
            <a:rect l="0" t="0" r="r" b="b"/>
            <a:pathLst>
              <a:path w="30097" h="2964">
                <a:moveTo>
                  <a:pt x="0" y="2964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6"/>
                </a:cubicBezTo>
                <a:cubicBezTo>
                  <a:pt x="30035" y="32"/>
                  <a:pt x="30043" y="39"/>
                  <a:pt x="30051" y="46"/>
                </a:cubicBezTo>
                <a:cubicBezTo>
                  <a:pt x="30058" y="53"/>
                  <a:pt x="30065" y="61"/>
                  <a:pt x="30070" y="70"/>
                </a:cubicBezTo>
                <a:cubicBezTo>
                  <a:pt x="30076" y="79"/>
                  <a:pt x="30081" y="88"/>
                  <a:pt x="30085" y="98"/>
                </a:cubicBezTo>
                <a:cubicBezTo>
                  <a:pt x="30089" y="107"/>
                  <a:pt x="30092" y="117"/>
                  <a:pt x="30094" y="127"/>
                </a:cubicBezTo>
                <a:cubicBezTo>
                  <a:pt x="30096" y="138"/>
                  <a:pt x="30097" y="148"/>
                  <a:pt x="30097" y="158"/>
                </a:cubicBezTo>
                <a:lnTo>
                  <a:pt x="30097" y="2805"/>
                </a:lnTo>
                <a:cubicBezTo>
                  <a:pt x="30097" y="2816"/>
                  <a:pt x="30096" y="2826"/>
                  <a:pt x="30094" y="2836"/>
                </a:cubicBezTo>
                <a:cubicBezTo>
                  <a:pt x="30092" y="2846"/>
                  <a:pt x="30089" y="2856"/>
                  <a:pt x="30085" y="2866"/>
                </a:cubicBezTo>
                <a:cubicBezTo>
                  <a:pt x="30081" y="2876"/>
                  <a:pt x="30076" y="2885"/>
                  <a:pt x="30070" y="2893"/>
                </a:cubicBezTo>
                <a:cubicBezTo>
                  <a:pt x="30065" y="2902"/>
                  <a:pt x="30058" y="2910"/>
                  <a:pt x="30051" y="2917"/>
                </a:cubicBezTo>
                <a:cubicBezTo>
                  <a:pt x="30043" y="2925"/>
                  <a:pt x="30035" y="2931"/>
                  <a:pt x="30027" y="2937"/>
                </a:cubicBezTo>
                <a:cubicBezTo>
                  <a:pt x="30018" y="2943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3"/>
                  <a:pt x="29949" y="2964"/>
                  <a:pt x="29938" y="2964"/>
                </a:cubicBezTo>
                <a:lnTo>
                  <a:pt x="0" y="2964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Forma libre 379"/>
          <p:cNvSpPr/>
          <p:nvPr/>
        </p:nvSpPr>
        <p:spPr>
          <a:xfrm>
            <a:off x="666720" y="4552920"/>
            <a:ext cx="47880" cy="1067040"/>
          </a:xfrm>
          <a:custGeom>
            <a:avLst/>
            <a:gdLst/>
            <a:ahLst/>
            <a:cxnLst/>
            <a:rect l="0" t="0" r="r" b="b"/>
            <a:pathLst>
              <a:path w="133" h="2964">
                <a:moveTo>
                  <a:pt x="0" y="0"/>
                </a:moveTo>
                <a:lnTo>
                  <a:pt x="133" y="0"/>
                </a:lnTo>
                <a:lnTo>
                  <a:pt x="133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CuadroTexto 380"/>
          <p:cNvSpPr txBox="1"/>
          <p:nvPr/>
        </p:nvSpPr>
        <p:spPr>
          <a:xfrm>
            <a:off x="666720" y="1253880"/>
            <a:ext cx="47149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Las cuatro reglas que sorprenden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CuadroTexto 381"/>
          <p:cNvSpPr txBox="1"/>
          <p:nvPr/>
        </p:nvSpPr>
        <p:spPr>
          <a:xfrm>
            <a:off x="869760" y="1925640"/>
            <a:ext cx="5871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Todo concepto es ancestro de sí mismo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con nivel 0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CuadroTexto 382"/>
          <p:cNvSpPr txBox="1"/>
          <p:nvPr/>
        </p:nvSpPr>
        <p:spPr>
          <a:xfrm>
            <a:off x="6711480" y="193608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CuadroTexto 383"/>
          <p:cNvSpPr txBox="1"/>
          <p:nvPr/>
        </p:nvSpPr>
        <p:spPr>
          <a:xfrm>
            <a:off x="6940080" y="1925640"/>
            <a:ext cx="4353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 no lo sabes, cuentas de más o de menos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CuadroTexto 384"/>
          <p:cNvSpPr txBox="1"/>
          <p:nvPr/>
        </p:nvSpPr>
        <p:spPr>
          <a:xfrm>
            <a:off x="1123920" y="2268360"/>
            <a:ext cx="1804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según cómo ﬁltres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Forma libre 385"/>
          <p:cNvSpPr/>
          <p:nvPr/>
        </p:nvSpPr>
        <p:spPr>
          <a:xfrm>
            <a:off x="5219640" y="2781000"/>
            <a:ext cx="1162440" cy="267120"/>
          </a:xfrm>
          <a:custGeom>
            <a:avLst/>
            <a:gdLst/>
            <a:ahLst/>
            <a:cxnLst/>
            <a:rect l="0" t="0" r="r" b="b"/>
            <a:pathLst>
              <a:path w="3229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123" y="0"/>
                </a:lnTo>
                <a:cubicBezTo>
                  <a:pt x="3137" y="0"/>
                  <a:pt x="3150" y="3"/>
                  <a:pt x="3163" y="8"/>
                </a:cubicBezTo>
                <a:cubicBezTo>
                  <a:pt x="3176" y="14"/>
                  <a:pt x="3188" y="21"/>
                  <a:pt x="3198" y="31"/>
                </a:cubicBezTo>
                <a:cubicBezTo>
                  <a:pt x="3208" y="41"/>
                  <a:pt x="3215" y="54"/>
                  <a:pt x="3221" y="67"/>
                </a:cubicBezTo>
                <a:cubicBezTo>
                  <a:pt x="3226" y="80"/>
                  <a:pt x="3229" y="93"/>
                  <a:pt x="3229" y="107"/>
                </a:cubicBezTo>
                <a:lnTo>
                  <a:pt x="3229" y="636"/>
                </a:lnTo>
                <a:cubicBezTo>
                  <a:pt x="3229" y="650"/>
                  <a:pt x="3226" y="664"/>
                  <a:pt x="3221" y="677"/>
                </a:cubicBezTo>
                <a:cubicBezTo>
                  <a:pt x="3215" y="690"/>
                  <a:pt x="3208" y="701"/>
                  <a:pt x="3198" y="711"/>
                </a:cubicBezTo>
                <a:cubicBezTo>
                  <a:pt x="3188" y="721"/>
                  <a:pt x="3176" y="729"/>
                  <a:pt x="3163" y="734"/>
                </a:cubicBezTo>
                <a:cubicBezTo>
                  <a:pt x="3150" y="739"/>
                  <a:pt x="3137" y="742"/>
                  <a:pt x="3123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2" y="721"/>
                  <a:pt x="32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CuadroTexto 386"/>
          <p:cNvSpPr txBox="1"/>
          <p:nvPr/>
        </p:nvSpPr>
        <p:spPr>
          <a:xfrm>
            <a:off x="869760" y="2763720"/>
            <a:ext cx="4356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Sólo contiene relaciones jerárquicas.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CuadroTexto 387"/>
          <p:cNvSpPr txBox="1"/>
          <p:nvPr/>
        </p:nvSpPr>
        <p:spPr>
          <a:xfrm>
            <a:off x="5274360" y="280116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'Maps to'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CuadroTexto 388"/>
          <p:cNvSpPr txBox="1"/>
          <p:nvPr/>
        </p:nvSpPr>
        <p:spPr>
          <a:xfrm>
            <a:off x="6384600" y="2763720"/>
            <a:ext cx="1271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no está aquí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CuadroTexto 389"/>
          <p:cNvSpPr txBox="1"/>
          <p:nvPr/>
        </p:nvSpPr>
        <p:spPr>
          <a:xfrm>
            <a:off x="869760" y="3259080"/>
            <a:ext cx="10625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Sólo conecta conceptos estándar.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Tus códigos ICD-10 de origen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aparecen: primero mapea, luego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CuadroTexto 390"/>
          <p:cNvSpPr txBox="1"/>
          <p:nvPr/>
        </p:nvSpPr>
        <p:spPr>
          <a:xfrm>
            <a:off x="1123920" y="3601800"/>
            <a:ext cx="1012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desciende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CuadroTexto 391"/>
          <p:cNvSpPr txBox="1"/>
          <p:nvPr/>
        </p:nvSpPr>
        <p:spPr>
          <a:xfrm>
            <a:off x="869760" y="4097160"/>
            <a:ext cx="6797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Está precalculada.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 el vocabulario cambia, hay que regenerarla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CuadroTexto 392"/>
          <p:cNvSpPr txBox="1"/>
          <p:nvPr/>
        </p:nvSpPr>
        <p:spPr>
          <a:xfrm>
            <a:off x="885960" y="4706640"/>
            <a:ext cx="9968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Las cuatro producen el mismo síntoma en el laboratorio: «mi concept set devuelve un número que 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CuadroTexto 393"/>
          <p:cNvSpPr txBox="1"/>
          <p:nvPr/>
        </p:nvSpPr>
        <p:spPr>
          <a:xfrm>
            <a:off x="885960" y="5049720"/>
            <a:ext cx="3562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cuadra». Casi siempre es la 1 o la 3.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CuadroTexto 39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CuadroTexto 39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CuadroTexto 39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Forma libre 3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Forma libre 3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Forma libre 3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CuadroTexto 400"/>
          <p:cNvSpPr txBox="1"/>
          <p:nvPr/>
        </p:nvSpPr>
        <p:spPr>
          <a:xfrm>
            <a:off x="2990880" y="3063960"/>
            <a:ext cx="63640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SQL recursivo: cuándo sí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CuadroTexto 40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CuadroTexto 40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CuadroTexto 40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Forma libre 40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Forma libre 40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Forma libre 40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Forma libre 407"/>
          <p:cNvSpPr/>
          <p:nvPr/>
        </p:nvSpPr>
        <p:spPr>
          <a:xfrm>
            <a:off x="671400" y="1290600"/>
            <a:ext cx="10849320" cy="2419560"/>
          </a:xfrm>
          <a:custGeom>
            <a:avLst/>
            <a:gdLst/>
            <a:ahLst/>
            <a:cxnLst/>
            <a:rect l="0" t="0" r="r" b="b"/>
            <a:pathLst>
              <a:path w="30137" h="6721">
                <a:moveTo>
                  <a:pt x="0" y="652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6523"/>
                </a:lnTo>
                <a:cubicBezTo>
                  <a:pt x="30137" y="6536"/>
                  <a:pt x="30136" y="6549"/>
                  <a:pt x="30133" y="6561"/>
                </a:cubicBezTo>
                <a:cubicBezTo>
                  <a:pt x="30130" y="6574"/>
                  <a:pt x="30127" y="6586"/>
                  <a:pt x="30122" y="6599"/>
                </a:cubicBezTo>
                <a:cubicBezTo>
                  <a:pt x="30117" y="6611"/>
                  <a:pt x="30111" y="6622"/>
                  <a:pt x="30103" y="6633"/>
                </a:cubicBezTo>
                <a:cubicBezTo>
                  <a:pt x="30096" y="6644"/>
                  <a:pt x="30088" y="6654"/>
                  <a:pt x="30079" y="6663"/>
                </a:cubicBezTo>
                <a:cubicBezTo>
                  <a:pt x="30070" y="6672"/>
                  <a:pt x="30059" y="6680"/>
                  <a:pt x="30049" y="6688"/>
                </a:cubicBezTo>
                <a:cubicBezTo>
                  <a:pt x="30038" y="6695"/>
                  <a:pt x="30026" y="6701"/>
                  <a:pt x="30014" y="6706"/>
                </a:cubicBezTo>
                <a:cubicBezTo>
                  <a:pt x="30002" y="6711"/>
                  <a:pt x="29990" y="6715"/>
                  <a:pt x="29977" y="6717"/>
                </a:cubicBezTo>
                <a:cubicBezTo>
                  <a:pt x="29964" y="6720"/>
                  <a:pt x="29951" y="6721"/>
                  <a:pt x="29938" y="6721"/>
                </a:cubicBezTo>
                <a:lnTo>
                  <a:pt x="198" y="6721"/>
                </a:lnTo>
                <a:cubicBezTo>
                  <a:pt x="185" y="6721"/>
                  <a:pt x="172" y="6720"/>
                  <a:pt x="160" y="6717"/>
                </a:cubicBezTo>
                <a:cubicBezTo>
                  <a:pt x="147" y="6715"/>
                  <a:pt x="134" y="6711"/>
                  <a:pt x="122" y="6706"/>
                </a:cubicBezTo>
                <a:cubicBezTo>
                  <a:pt x="110" y="6701"/>
                  <a:pt x="99" y="6695"/>
                  <a:pt x="88" y="6688"/>
                </a:cubicBezTo>
                <a:cubicBezTo>
                  <a:pt x="77" y="6680"/>
                  <a:pt x="67" y="6672"/>
                  <a:pt x="58" y="6663"/>
                </a:cubicBezTo>
                <a:cubicBezTo>
                  <a:pt x="49" y="6654"/>
                  <a:pt x="40" y="6644"/>
                  <a:pt x="33" y="6633"/>
                </a:cubicBezTo>
                <a:cubicBezTo>
                  <a:pt x="26" y="6622"/>
                  <a:pt x="20" y="6611"/>
                  <a:pt x="15" y="6599"/>
                </a:cubicBezTo>
                <a:cubicBezTo>
                  <a:pt x="10" y="6586"/>
                  <a:pt x="6" y="6574"/>
                  <a:pt x="4" y="6561"/>
                </a:cubicBezTo>
                <a:cubicBezTo>
                  <a:pt x="1" y="6549"/>
                  <a:pt x="0" y="6536"/>
                  <a:pt x="0" y="652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Forma libre 408"/>
          <p:cNvSpPr/>
          <p:nvPr/>
        </p:nvSpPr>
        <p:spPr>
          <a:xfrm>
            <a:off x="671400" y="1290600"/>
            <a:ext cx="10849320" cy="2419560"/>
          </a:xfrm>
          <a:custGeom>
            <a:avLst/>
            <a:gdLst/>
            <a:ahLst/>
            <a:cxnLst/>
            <a:rect l="0" t="0" r="r" b="b"/>
            <a:pathLst>
              <a:path w="30137" h="6721">
                <a:moveTo>
                  <a:pt x="0" y="652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6523"/>
                </a:lnTo>
                <a:cubicBezTo>
                  <a:pt x="30137" y="6536"/>
                  <a:pt x="30136" y="6549"/>
                  <a:pt x="30133" y="6561"/>
                </a:cubicBezTo>
                <a:cubicBezTo>
                  <a:pt x="30130" y="6574"/>
                  <a:pt x="30127" y="6586"/>
                  <a:pt x="30122" y="6599"/>
                </a:cubicBezTo>
                <a:cubicBezTo>
                  <a:pt x="30117" y="6611"/>
                  <a:pt x="30111" y="6622"/>
                  <a:pt x="30103" y="6633"/>
                </a:cubicBezTo>
                <a:cubicBezTo>
                  <a:pt x="30096" y="6644"/>
                  <a:pt x="30088" y="6654"/>
                  <a:pt x="30079" y="6663"/>
                </a:cubicBezTo>
                <a:cubicBezTo>
                  <a:pt x="30070" y="6672"/>
                  <a:pt x="30059" y="6680"/>
                  <a:pt x="30049" y="6688"/>
                </a:cubicBezTo>
                <a:cubicBezTo>
                  <a:pt x="30038" y="6695"/>
                  <a:pt x="30026" y="6701"/>
                  <a:pt x="30014" y="6706"/>
                </a:cubicBezTo>
                <a:cubicBezTo>
                  <a:pt x="30002" y="6711"/>
                  <a:pt x="29990" y="6715"/>
                  <a:pt x="29977" y="6717"/>
                </a:cubicBezTo>
                <a:cubicBezTo>
                  <a:pt x="29964" y="6720"/>
                  <a:pt x="29951" y="6721"/>
                  <a:pt x="29938" y="6721"/>
                </a:cubicBezTo>
                <a:lnTo>
                  <a:pt x="198" y="6721"/>
                </a:lnTo>
                <a:cubicBezTo>
                  <a:pt x="185" y="6721"/>
                  <a:pt x="172" y="6720"/>
                  <a:pt x="160" y="6717"/>
                </a:cubicBezTo>
                <a:cubicBezTo>
                  <a:pt x="147" y="6715"/>
                  <a:pt x="134" y="6711"/>
                  <a:pt x="122" y="6706"/>
                </a:cubicBezTo>
                <a:cubicBezTo>
                  <a:pt x="110" y="6701"/>
                  <a:pt x="99" y="6695"/>
                  <a:pt x="88" y="6688"/>
                </a:cubicBezTo>
                <a:cubicBezTo>
                  <a:pt x="77" y="6680"/>
                  <a:pt x="67" y="6672"/>
                  <a:pt x="58" y="6663"/>
                </a:cubicBezTo>
                <a:cubicBezTo>
                  <a:pt x="49" y="6654"/>
                  <a:pt x="40" y="6644"/>
                  <a:pt x="33" y="6633"/>
                </a:cubicBezTo>
                <a:cubicBezTo>
                  <a:pt x="26" y="6622"/>
                  <a:pt x="20" y="6611"/>
                  <a:pt x="15" y="6599"/>
                </a:cubicBezTo>
                <a:cubicBezTo>
                  <a:pt x="10" y="6586"/>
                  <a:pt x="6" y="6574"/>
                  <a:pt x="4" y="6561"/>
                </a:cubicBezTo>
                <a:cubicBezTo>
                  <a:pt x="1" y="6549"/>
                  <a:pt x="0" y="6536"/>
                  <a:pt x="0" y="652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Forma libre 409"/>
          <p:cNvSpPr/>
          <p:nvPr/>
        </p:nvSpPr>
        <p:spPr>
          <a:xfrm>
            <a:off x="666720" y="565776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Forma libre 410"/>
          <p:cNvSpPr/>
          <p:nvPr/>
        </p:nvSpPr>
        <p:spPr>
          <a:xfrm>
            <a:off x="666720" y="565776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Forma libre 411"/>
          <p:cNvSpPr/>
          <p:nvPr/>
        </p:nvSpPr>
        <p:spPr>
          <a:xfrm>
            <a:off x="2904840" y="647640"/>
            <a:ext cx="2819880" cy="381240"/>
          </a:xfrm>
          <a:custGeom>
            <a:avLst/>
            <a:gdLst/>
            <a:ahLst/>
            <a:cxnLst/>
            <a:rect l="0" t="0" r="r" b="b"/>
            <a:pathLst>
              <a:path w="7833" h="1059">
                <a:moveTo>
                  <a:pt x="0" y="953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7727" y="0"/>
                </a:lnTo>
                <a:cubicBezTo>
                  <a:pt x="7741" y="0"/>
                  <a:pt x="7755" y="2"/>
                  <a:pt x="7768" y="8"/>
                </a:cubicBezTo>
                <a:cubicBezTo>
                  <a:pt x="7781" y="13"/>
                  <a:pt x="7792" y="21"/>
                  <a:pt x="7802" y="31"/>
                </a:cubicBezTo>
                <a:cubicBezTo>
                  <a:pt x="7812" y="41"/>
                  <a:pt x="7820" y="52"/>
                  <a:pt x="7825" y="65"/>
                </a:cubicBezTo>
                <a:cubicBezTo>
                  <a:pt x="7830" y="78"/>
                  <a:pt x="7833" y="91"/>
                  <a:pt x="7833" y="105"/>
                </a:cubicBezTo>
                <a:lnTo>
                  <a:pt x="7833" y="953"/>
                </a:lnTo>
                <a:cubicBezTo>
                  <a:pt x="7833" y="967"/>
                  <a:pt x="7830" y="981"/>
                  <a:pt x="7825" y="994"/>
                </a:cubicBezTo>
                <a:cubicBezTo>
                  <a:pt x="7820" y="1007"/>
                  <a:pt x="7812" y="1018"/>
                  <a:pt x="7802" y="1028"/>
                </a:cubicBezTo>
                <a:cubicBezTo>
                  <a:pt x="7792" y="1038"/>
                  <a:pt x="7781" y="1046"/>
                  <a:pt x="7768" y="1051"/>
                </a:cubicBezTo>
                <a:cubicBezTo>
                  <a:pt x="7755" y="1056"/>
                  <a:pt x="7741" y="1059"/>
                  <a:pt x="7727" y="1059"/>
                </a:cubicBezTo>
                <a:lnTo>
                  <a:pt x="106" y="1059"/>
                </a:lnTo>
                <a:cubicBezTo>
                  <a:pt x="92" y="1059"/>
                  <a:pt x="79" y="1056"/>
                  <a:pt x="66" y="1051"/>
                </a:cubicBezTo>
                <a:cubicBezTo>
                  <a:pt x="53" y="1046"/>
                  <a:pt x="41" y="1038"/>
                  <a:pt x="31" y="1028"/>
                </a:cubicBezTo>
                <a:cubicBezTo>
                  <a:pt x="21" y="1018"/>
                  <a:pt x="14" y="1007"/>
                  <a:pt x="8" y="994"/>
                </a:cubicBezTo>
                <a:cubicBezTo>
                  <a:pt x="3" y="981"/>
                  <a:pt x="0" y="967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CuadroTexto 412"/>
          <p:cNvSpPr txBox="1"/>
          <p:nvPr/>
        </p:nvSpPr>
        <p:spPr>
          <a:xfrm>
            <a:off x="666720" y="644040"/>
            <a:ext cx="22975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Anatomía de un 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CuadroTexto 413"/>
          <p:cNvSpPr txBox="1"/>
          <p:nvPr/>
        </p:nvSpPr>
        <p:spPr>
          <a:xfrm>
            <a:off x="2974320" y="651960"/>
            <a:ext cx="273672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WITH RECURSIVE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CuadroTexto 414"/>
          <p:cNvSpPr txBox="1"/>
          <p:nvPr/>
        </p:nvSpPr>
        <p:spPr>
          <a:xfrm>
            <a:off x="866880" y="1470240"/>
            <a:ext cx="2730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WITH RECURSIVE arbol AS 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CuadroTexto 415"/>
          <p:cNvSpPr txBox="1"/>
          <p:nvPr/>
        </p:nvSpPr>
        <p:spPr>
          <a:xfrm>
            <a:off x="866880" y="1737000"/>
            <a:ext cx="3603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-- caso base: de dónde partes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CuadroTexto 416"/>
          <p:cNvSpPr txBox="1"/>
          <p:nvPr/>
        </p:nvSpPr>
        <p:spPr>
          <a:xfrm>
            <a:off x="866880" y="1994400"/>
            <a:ext cx="1529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SELECT ...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CuadroTexto 417"/>
          <p:cNvSpPr txBox="1"/>
          <p:nvPr/>
        </p:nvSpPr>
        <p:spPr>
          <a:xfrm>
            <a:off x="866880" y="2260800"/>
            <a:ext cx="1420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UNION ALL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CuadroTexto 418"/>
          <p:cNvSpPr txBox="1"/>
          <p:nvPr/>
        </p:nvSpPr>
        <p:spPr>
          <a:xfrm>
            <a:off x="866880" y="2518200"/>
            <a:ext cx="4695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-- paso recursivo: se une consigo mismo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CuadroTexto 419"/>
          <p:cNvSpPr txBox="1"/>
          <p:nvPr/>
        </p:nvSpPr>
        <p:spPr>
          <a:xfrm>
            <a:off x="866880" y="2784960"/>
            <a:ext cx="6333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SELECT ... FROM concept_relationship JOIN arbol ON ...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CuadroTexto 420"/>
          <p:cNvSpPr txBox="1"/>
          <p:nvPr/>
        </p:nvSpPr>
        <p:spPr>
          <a:xfrm>
            <a:off x="866880" y="3042000"/>
            <a:ext cx="4477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WHERE  nivel &lt; 10          ← el freno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CuadroTexto 421"/>
          <p:cNvSpPr txBox="1"/>
          <p:nvPr/>
        </p:nvSpPr>
        <p:spPr>
          <a:xfrm>
            <a:off x="866880" y="3308760"/>
            <a:ext cx="180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Forma libre 422"/>
          <p:cNvSpPr/>
          <p:nvPr/>
        </p:nvSpPr>
        <p:spPr>
          <a:xfrm>
            <a:off x="914040" y="45147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CuadroTexto 423"/>
          <p:cNvSpPr txBox="1"/>
          <p:nvPr/>
        </p:nvSpPr>
        <p:spPr>
          <a:xfrm>
            <a:off x="666720" y="3906720"/>
            <a:ext cx="2274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Cuándo vale la pena: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Forma libre 424"/>
          <p:cNvSpPr/>
          <p:nvPr/>
        </p:nvSpPr>
        <p:spPr>
          <a:xfrm>
            <a:off x="914040" y="49147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CuadroTexto 425"/>
          <p:cNvSpPr txBox="1"/>
          <p:nvPr/>
        </p:nvSpPr>
        <p:spPr>
          <a:xfrm>
            <a:off x="1123920" y="4402080"/>
            <a:ext cx="5146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relaciones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jerárquicas (que no están en ancestor)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Forma libre 426"/>
          <p:cNvSpPr/>
          <p:nvPr/>
        </p:nvSpPr>
        <p:spPr>
          <a:xfrm>
            <a:off x="914040" y="53146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CuadroTexto 427"/>
          <p:cNvSpPr txBox="1"/>
          <p:nvPr/>
        </p:nvSpPr>
        <p:spPr>
          <a:xfrm>
            <a:off x="1123920" y="4802040"/>
            <a:ext cx="5979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vocabularios locales que tú construiste y no tienen ancestros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CuadroTexto 428"/>
          <p:cNvSpPr txBox="1"/>
          <p:nvPr/>
        </p:nvSpPr>
        <p:spPr>
          <a:xfrm>
            <a:off x="1123920" y="5202000"/>
            <a:ext cx="4839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cuando necesitas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camino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no sólo el conjunto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CuadroTexto 429"/>
          <p:cNvSpPr txBox="1"/>
          <p:nvPr/>
        </p:nvSpPr>
        <p:spPr>
          <a:xfrm>
            <a:off x="905040" y="5811840"/>
            <a:ext cx="10222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Sin un freno de profundidad y sin control de ciclos, una recursiva sobre un grafo con ciclos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termina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CuadroTexto 43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CuadroTexto 43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CuadroTexto 43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Forma libre 4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Forma libre 4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Forma libre 4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CuadroTexto 436"/>
          <p:cNvSpPr txBox="1"/>
          <p:nvPr/>
        </p:nvSpPr>
        <p:spPr>
          <a:xfrm>
            <a:off x="1151640" y="3063960"/>
            <a:ext cx="101487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Poli-jerarquía: un concepto, varios padres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CuadroTexto 43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CuadroTexto 43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CuadroTexto 43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Forma libre 4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Forma libre 4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Forma libre 4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orma libre 443"/>
          <p:cNvSpPr/>
          <p:nvPr/>
        </p:nvSpPr>
        <p:spPr>
          <a:xfrm>
            <a:off x="666720" y="465768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Forma libre 444"/>
          <p:cNvSpPr/>
          <p:nvPr/>
        </p:nvSpPr>
        <p:spPr>
          <a:xfrm>
            <a:off x="666720" y="465768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CuadroTexto 445"/>
          <p:cNvSpPr txBox="1"/>
          <p:nvPr/>
        </p:nvSpPr>
        <p:spPr>
          <a:xfrm>
            <a:off x="666720" y="1301400"/>
            <a:ext cx="51354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mismo concepto por dos caminos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Forma libre 446"/>
          <p:cNvSpPr/>
          <p:nvPr/>
        </p:nvSpPr>
        <p:spPr>
          <a:xfrm>
            <a:off x="1323720" y="2009520"/>
            <a:ext cx="3486600" cy="238680"/>
          </a:xfrm>
          <a:custGeom>
            <a:avLst/>
            <a:gdLst/>
            <a:ahLst/>
            <a:cxnLst/>
            <a:rect l="0" t="0" r="r" b="b"/>
            <a:pathLst>
              <a:path w="9685" h="663">
                <a:moveTo>
                  <a:pt x="0" y="557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9579" y="0"/>
                </a:lnTo>
                <a:cubicBezTo>
                  <a:pt x="9593" y="0"/>
                  <a:pt x="9607" y="3"/>
                  <a:pt x="9620" y="8"/>
                </a:cubicBezTo>
                <a:cubicBezTo>
                  <a:pt x="9633" y="14"/>
                  <a:pt x="9644" y="21"/>
                  <a:pt x="9654" y="31"/>
                </a:cubicBezTo>
                <a:cubicBezTo>
                  <a:pt x="9664" y="42"/>
                  <a:pt x="9672" y="54"/>
                  <a:pt x="9677" y="67"/>
                </a:cubicBezTo>
                <a:cubicBezTo>
                  <a:pt x="9682" y="80"/>
                  <a:pt x="9685" y="93"/>
                  <a:pt x="9685" y="107"/>
                </a:cubicBezTo>
                <a:lnTo>
                  <a:pt x="9685" y="557"/>
                </a:lnTo>
                <a:cubicBezTo>
                  <a:pt x="9685" y="571"/>
                  <a:pt x="9682" y="584"/>
                  <a:pt x="9677" y="597"/>
                </a:cubicBezTo>
                <a:cubicBezTo>
                  <a:pt x="9672" y="610"/>
                  <a:pt x="9664" y="622"/>
                  <a:pt x="9654" y="632"/>
                </a:cubicBezTo>
                <a:cubicBezTo>
                  <a:pt x="9644" y="642"/>
                  <a:pt x="9633" y="649"/>
                  <a:pt x="9620" y="655"/>
                </a:cubicBezTo>
                <a:cubicBezTo>
                  <a:pt x="9607" y="660"/>
                  <a:pt x="9593" y="663"/>
                  <a:pt x="9579" y="663"/>
                </a:cubicBezTo>
                <a:lnTo>
                  <a:pt x="106" y="663"/>
                </a:lnTo>
                <a:cubicBezTo>
                  <a:pt x="92" y="663"/>
                  <a:pt x="79" y="660"/>
                  <a:pt x="66" y="655"/>
                </a:cubicBezTo>
                <a:cubicBezTo>
                  <a:pt x="53" y="649"/>
                  <a:pt x="41" y="642"/>
                  <a:pt x="31" y="632"/>
                </a:cubicBezTo>
                <a:cubicBezTo>
                  <a:pt x="21" y="622"/>
                  <a:pt x="14" y="610"/>
                  <a:pt x="8" y="597"/>
                </a:cubicBezTo>
                <a:cubicBezTo>
                  <a:pt x="3" y="584"/>
                  <a:pt x="0" y="571"/>
                  <a:pt x="0" y="557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CuadroTexto 447"/>
          <p:cNvSpPr txBox="1"/>
          <p:nvPr/>
        </p:nvSpPr>
        <p:spPr>
          <a:xfrm>
            <a:off x="666720" y="1994760"/>
            <a:ext cx="660240" cy="24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62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Figura: </a:t>
            </a:r>
            <a:endParaRPr lang="es-E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Forma libre 448"/>
          <p:cNvSpPr/>
          <p:nvPr/>
        </p:nvSpPr>
        <p:spPr>
          <a:xfrm>
            <a:off x="666720" y="2485800"/>
            <a:ext cx="2333880" cy="267120"/>
          </a:xfrm>
          <a:custGeom>
            <a:avLst/>
            <a:gdLst/>
            <a:ahLst/>
            <a:cxnLst/>
            <a:rect l="0" t="0" r="r" b="b"/>
            <a:pathLst>
              <a:path w="648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6377" y="0"/>
                </a:lnTo>
                <a:cubicBezTo>
                  <a:pt x="6391" y="0"/>
                  <a:pt x="6405" y="3"/>
                  <a:pt x="6418" y="8"/>
                </a:cubicBezTo>
                <a:cubicBezTo>
                  <a:pt x="6431" y="14"/>
                  <a:pt x="6442" y="21"/>
                  <a:pt x="6452" y="31"/>
                </a:cubicBezTo>
                <a:cubicBezTo>
                  <a:pt x="6462" y="41"/>
                  <a:pt x="6469" y="52"/>
                  <a:pt x="6475" y="65"/>
                </a:cubicBezTo>
                <a:cubicBezTo>
                  <a:pt x="6480" y="78"/>
                  <a:pt x="6483" y="92"/>
                  <a:pt x="6483" y="106"/>
                </a:cubicBezTo>
                <a:lnTo>
                  <a:pt x="6483" y="636"/>
                </a:lnTo>
                <a:cubicBezTo>
                  <a:pt x="6483" y="650"/>
                  <a:pt x="6480" y="664"/>
                  <a:pt x="6475" y="677"/>
                </a:cubicBezTo>
                <a:cubicBezTo>
                  <a:pt x="6469" y="690"/>
                  <a:pt x="6462" y="701"/>
                  <a:pt x="6452" y="711"/>
                </a:cubicBezTo>
                <a:cubicBezTo>
                  <a:pt x="6442" y="721"/>
                  <a:pt x="6431" y="729"/>
                  <a:pt x="6418" y="734"/>
                </a:cubicBezTo>
                <a:cubicBezTo>
                  <a:pt x="6405" y="739"/>
                  <a:pt x="6391" y="742"/>
                  <a:pt x="6377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CuadroTexto 449"/>
          <p:cNvSpPr txBox="1"/>
          <p:nvPr/>
        </p:nvSpPr>
        <p:spPr>
          <a:xfrm>
            <a:off x="1383480" y="2028600"/>
            <a:ext cx="33771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7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figuras/s16/02-polijerarquia.png</a:t>
            </a:r>
            <a:endParaRPr lang="es-E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CuadroTexto 450"/>
          <p:cNvSpPr txBox="1"/>
          <p:nvPr/>
        </p:nvSpPr>
        <p:spPr>
          <a:xfrm>
            <a:off x="723960" y="2505600"/>
            <a:ext cx="2232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Neumonía bacteriana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Forma libre 451"/>
          <p:cNvSpPr/>
          <p:nvPr/>
        </p:nvSpPr>
        <p:spPr>
          <a:xfrm>
            <a:off x="914040" y="30765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09"/>
                  <a:pt x="121" y="212"/>
                  <a:pt x="107" y="212"/>
                </a:cubicBezTo>
                <a:cubicBezTo>
                  <a:pt x="92" y="212"/>
                  <a:pt x="79" y="209"/>
                  <a:pt x="66" y="203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CuadroTexto 452"/>
          <p:cNvSpPr txBox="1"/>
          <p:nvPr/>
        </p:nvSpPr>
        <p:spPr>
          <a:xfrm>
            <a:off x="3003840" y="2468520"/>
            <a:ext cx="1301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 la vez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Forma libre 453"/>
          <p:cNvSpPr/>
          <p:nvPr/>
        </p:nvSpPr>
        <p:spPr>
          <a:xfrm>
            <a:off x="914040" y="34765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CuadroTexto 454"/>
          <p:cNvSpPr txBox="1"/>
          <p:nvPr/>
        </p:nvSpPr>
        <p:spPr>
          <a:xfrm>
            <a:off x="1123920" y="2963880"/>
            <a:ext cx="2920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enfermedad infecciosa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CuadroTexto 455"/>
          <p:cNvSpPr txBox="1"/>
          <p:nvPr/>
        </p:nvSpPr>
        <p:spPr>
          <a:xfrm>
            <a:off x="1123920" y="3363840"/>
            <a:ext cx="4372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enfermedad del aparato respiratorio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CuadroTexto 456"/>
          <p:cNvSpPr txBox="1"/>
          <p:nvPr/>
        </p:nvSpPr>
        <p:spPr>
          <a:xfrm>
            <a:off x="666720" y="3859200"/>
            <a:ext cx="10424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 es un error del vocabulario: es la realidad clínica. SNOMED lo permite porque un árbol no alcanza para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CuadroTexto 457"/>
          <p:cNvSpPr txBox="1"/>
          <p:nvPr/>
        </p:nvSpPr>
        <p:spPr>
          <a:xfrm>
            <a:off x="666720" y="4201920"/>
            <a:ext cx="2575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describir una enfermedad.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Forma libre 458"/>
          <p:cNvSpPr/>
          <p:nvPr/>
        </p:nvSpPr>
        <p:spPr>
          <a:xfrm>
            <a:off x="904680" y="5171760"/>
            <a:ext cx="1047960" cy="267120"/>
          </a:xfrm>
          <a:custGeom>
            <a:avLst/>
            <a:gdLst/>
            <a:ahLst/>
            <a:cxnLst/>
            <a:rect l="0" t="0" r="r" b="b"/>
            <a:pathLst>
              <a:path w="2911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806" y="0"/>
                </a:lnTo>
                <a:cubicBezTo>
                  <a:pt x="2820" y="0"/>
                  <a:pt x="2833" y="3"/>
                  <a:pt x="2846" y="8"/>
                </a:cubicBezTo>
                <a:cubicBezTo>
                  <a:pt x="2859" y="14"/>
                  <a:pt x="2871" y="21"/>
                  <a:pt x="2880" y="31"/>
                </a:cubicBezTo>
                <a:cubicBezTo>
                  <a:pt x="2890" y="41"/>
                  <a:pt x="2898" y="53"/>
                  <a:pt x="2903" y="67"/>
                </a:cubicBezTo>
                <a:cubicBezTo>
                  <a:pt x="2909" y="80"/>
                  <a:pt x="2911" y="93"/>
                  <a:pt x="2911" y="107"/>
                </a:cubicBezTo>
                <a:lnTo>
                  <a:pt x="2911" y="636"/>
                </a:lnTo>
                <a:cubicBezTo>
                  <a:pt x="2911" y="650"/>
                  <a:pt x="2909" y="664"/>
                  <a:pt x="2903" y="677"/>
                </a:cubicBezTo>
                <a:cubicBezTo>
                  <a:pt x="2898" y="690"/>
                  <a:pt x="2890" y="701"/>
                  <a:pt x="2880" y="711"/>
                </a:cubicBezTo>
                <a:cubicBezTo>
                  <a:pt x="2871" y="721"/>
                  <a:pt x="2859" y="729"/>
                  <a:pt x="2846" y="734"/>
                </a:cubicBezTo>
                <a:cubicBezTo>
                  <a:pt x="2833" y="740"/>
                  <a:pt x="2820" y="742"/>
                  <a:pt x="2806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CuadroTexto 459"/>
          <p:cNvSpPr txBox="1"/>
          <p:nvPr/>
        </p:nvSpPr>
        <p:spPr>
          <a:xfrm>
            <a:off x="905040" y="4811400"/>
            <a:ext cx="10212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Consecuencia inmediata: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si tu concept set incluye las dos ramas, ese concepto llega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dos veces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Sin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CuadroTexto 460"/>
          <p:cNvSpPr txBox="1"/>
          <p:nvPr/>
        </p:nvSpPr>
        <p:spPr>
          <a:xfrm>
            <a:off x="961920" y="519192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DISTINCT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CuadroTexto 461"/>
          <p:cNvSpPr txBox="1"/>
          <p:nvPr/>
        </p:nvSpPr>
        <p:spPr>
          <a:xfrm>
            <a:off x="1955160" y="5154480"/>
            <a:ext cx="2210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, tus conteos se inﬂan.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CuadroTexto 46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CuadroTexto 46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CuadroTexto 46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Forma libre 46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Forma libre 46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Forma libre 46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CuadroTexto 468"/>
          <p:cNvSpPr txBox="1"/>
          <p:nvPr/>
        </p:nvSpPr>
        <p:spPr>
          <a:xfrm>
            <a:off x="2214000" y="3063960"/>
            <a:ext cx="79351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Concept sets por descendencia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CuadroTexto 46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CuadroTexto 47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CuadroTexto 47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Forma libre 47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Forma libre 47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Forma libre 47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Forma libre 475"/>
          <p:cNvSpPr/>
          <p:nvPr/>
        </p:nvSpPr>
        <p:spPr>
          <a:xfrm>
            <a:off x="671400" y="178560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2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1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1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2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Forma libre 476"/>
          <p:cNvSpPr/>
          <p:nvPr/>
        </p:nvSpPr>
        <p:spPr>
          <a:xfrm>
            <a:off x="671400" y="178560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2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1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1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2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Forma libre 477"/>
          <p:cNvSpPr/>
          <p:nvPr/>
        </p:nvSpPr>
        <p:spPr>
          <a:xfrm>
            <a:off x="671400" y="354780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Forma libre 478"/>
          <p:cNvSpPr/>
          <p:nvPr/>
        </p:nvSpPr>
        <p:spPr>
          <a:xfrm>
            <a:off x="671400" y="354780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Forma libre 479"/>
          <p:cNvSpPr/>
          <p:nvPr/>
        </p:nvSpPr>
        <p:spPr>
          <a:xfrm>
            <a:off x="666720" y="480996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Forma libre 480"/>
          <p:cNvSpPr/>
          <p:nvPr/>
        </p:nvSpPr>
        <p:spPr>
          <a:xfrm>
            <a:off x="666720" y="480996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CuadroTexto 481"/>
          <p:cNvSpPr txBox="1"/>
          <p:nvPr/>
        </p:nvSpPr>
        <p:spPr>
          <a:xfrm>
            <a:off x="666720" y="1149120"/>
            <a:ext cx="25621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patrón estándar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CuadroTexto 482"/>
          <p:cNvSpPr txBox="1"/>
          <p:nvPr/>
        </p:nvSpPr>
        <p:spPr>
          <a:xfrm>
            <a:off x="866880" y="1965600"/>
            <a:ext cx="2293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conceptos incluidos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CuadroTexto 483"/>
          <p:cNvSpPr txBox="1"/>
          <p:nvPr/>
        </p:nvSpPr>
        <p:spPr>
          <a:xfrm>
            <a:off x="866880" y="2232360"/>
            <a:ext cx="3494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 (semillas + sus descendientes)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CuadroTexto 484"/>
          <p:cNvSpPr txBox="1"/>
          <p:nvPr/>
        </p:nvSpPr>
        <p:spPr>
          <a:xfrm>
            <a:off x="866880" y="2489400"/>
            <a:ext cx="3822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− (exclusiones + sus descendientes)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CuadroTexto 485"/>
          <p:cNvSpPr txBox="1"/>
          <p:nvPr/>
        </p:nvSpPr>
        <p:spPr>
          <a:xfrm>
            <a:off x="666720" y="3087720"/>
            <a:ext cx="5457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Después hay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paso más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que casi siempre se olvida: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CuadroTexto 486"/>
          <p:cNvSpPr txBox="1"/>
          <p:nvPr/>
        </p:nvSpPr>
        <p:spPr>
          <a:xfrm>
            <a:off x="866880" y="3727800"/>
            <a:ext cx="3057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conceptos estándar incluidos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CuadroTexto 487"/>
          <p:cNvSpPr txBox="1"/>
          <p:nvPr/>
        </p:nvSpPr>
        <p:spPr>
          <a:xfrm>
            <a:off x="866880" y="3994560"/>
            <a:ext cx="2512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→ 'Maps to' al revés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CuadroTexto 488"/>
          <p:cNvSpPr txBox="1"/>
          <p:nvPr/>
        </p:nvSpPr>
        <p:spPr>
          <a:xfrm>
            <a:off x="866880" y="4251600"/>
            <a:ext cx="6770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→ los source_concept_id que REALMENTE aparecen en tus datos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CuadroTexto 489"/>
          <p:cNvSpPr txBox="1"/>
          <p:nvPr/>
        </p:nvSpPr>
        <p:spPr>
          <a:xfrm>
            <a:off x="905040" y="4964040"/>
            <a:ext cx="9761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Tu concept set puede tener 3 000 conceptos y tu base contener sólo 40 de ellos. Ese número —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CuadroTexto 490"/>
          <p:cNvSpPr txBox="1"/>
          <p:nvPr/>
        </p:nvSpPr>
        <p:spPr>
          <a:xfrm>
            <a:off x="905040" y="5306760"/>
            <a:ext cx="3553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cobertura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— es parte del resultado.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CuadroTexto 49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CuadroTexto 49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CuadroTexto 49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Forma libre 4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Forma libre 4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Forma libre 4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CuadroTexto 497"/>
          <p:cNvSpPr txBox="1"/>
          <p:nvPr/>
        </p:nvSpPr>
        <p:spPr>
          <a:xfrm>
            <a:off x="769320" y="3063960"/>
            <a:ext cx="108997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Depuración: «¿por qué entró este paciente?»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CuadroTexto 49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CuadroTexto 49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CuadroTexto 50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Forma libre 5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Forma libre 5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Forma libre 5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Forma libre 504"/>
          <p:cNvSpPr/>
          <p:nvPr/>
        </p:nvSpPr>
        <p:spPr>
          <a:xfrm>
            <a:off x="671400" y="251928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7"/>
                </a:lnTo>
                <a:cubicBezTo>
                  <a:pt x="30137" y="5081"/>
                  <a:pt x="30136" y="5093"/>
                  <a:pt x="30133" y="5106"/>
                </a:cubicBezTo>
                <a:cubicBezTo>
                  <a:pt x="30130" y="5119"/>
                  <a:pt x="30127" y="5131"/>
                  <a:pt x="30122" y="5143"/>
                </a:cubicBezTo>
                <a:cubicBezTo>
                  <a:pt x="30117" y="5155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7"/>
                  <a:pt x="30059" y="5225"/>
                  <a:pt x="30049" y="5232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2"/>
                </a:cubicBezTo>
                <a:cubicBezTo>
                  <a:pt x="29964" y="5265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5"/>
                  <a:pt x="160" y="5262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2"/>
                </a:cubicBezTo>
                <a:cubicBezTo>
                  <a:pt x="77" y="5225"/>
                  <a:pt x="67" y="5217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5"/>
                  <a:pt x="15" y="5143"/>
                </a:cubicBezTo>
                <a:cubicBezTo>
                  <a:pt x="10" y="5131"/>
                  <a:pt x="6" y="5119"/>
                  <a:pt x="4" y="5106"/>
                </a:cubicBezTo>
                <a:cubicBezTo>
                  <a:pt x="1" y="5093"/>
                  <a:pt x="0" y="5081"/>
                  <a:pt x="0" y="506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Forma libre 505"/>
          <p:cNvSpPr/>
          <p:nvPr/>
        </p:nvSpPr>
        <p:spPr>
          <a:xfrm>
            <a:off x="671400" y="251928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7"/>
                </a:lnTo>
                <a:cubicBezTo>
                  <a:pt x="30137" y="5081"/>
                  <a:pt x="30136" y="5093"/>
                  <a:pt x="30133" y="5106"/>
                </a:cubicBezTo>
                <a:cubicBezTo>
                  <a:pt x="30130" y="5119"/>
                  <a:pt x="30127" y="5131"/>
                  <a:pt x="30122" y="5143"/>
                </a:cubicBezTo>
                <a:cubicBezTo>
                  <a:pt x="30117" y="5155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7"/>
                  <a:pt x="30059" y="5225"/>
                  <a:pt x="30049" y="5232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2"/>
                </a:cubicBezTo>
                <a:cubicBezTo>
                  <a:pt x="29964" y="5265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5"/>
                  <a:pt x="160" y="5262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2"/>
                </a:cubicBezTo>
                <a:cubicBezTo>
                  <a:pt x="77" y="5225"/>
                  <a:pt x="67" y="5217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5"/>
                  <a:pt x="15" y="5143"/>
                </a:cubicBezTo>
                <a:cubicBezTo>
                  <a:pt x="10" y="5131"/>
                  <a:pt x="6" y="5119"/>
                  <a:pt x="4" y="5106"/>
                </a:cubicBezTo>
                <a:cubicBezTo>
                  <a:pt x="1" y="5093"/>
                  <a:pt x="0" y="5081"/>
                  <a:pt x="0" y="506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Forma libre 506"/>
          <p:cNvSpPr/>
          <p:nvPr/>
        </p:nvSpPr>
        <p:spPr>
          <a:xfrm>
            <a:off x="666720" y="457164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Forma libre 507"/>
          <p:cNvSpPr/>
          <p:nvPr/>
        </p:nvSpPr>
        <p:spPr>
          <a:xfrm>
            <a:off x="666720" y="457164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CuadroTexto 508"/>
          <p:cNvSpPr txBox="1"/>
          <p:nvPr/>
        </p:nvSpPr>
        <p:spPr>
          <a:xfrm>
            <a:off x="666720" y="1387080"/>
            <a:ext cx="40114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Rastrear el camino completo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CuadroTexto 509"/>
          <p:cNvSpPr txBox="1"/>
          <p:nvPr/>
        </p:nvSpPr>
        <p:spPr>
          <a:xfrm>
            <a:off x="666720" y="2058840"/>
            <a:ext cx="10427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Cuando un paciente aparece en tu cohorte y no debería, la consulta de diagnóstico recorre esto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al revés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CuadroTexto 510"/>
          <p:cNvSpPr txBox="1"/>
          <p:nvPr/>
        </p:nvSpPr>
        <p:spPr>
          <a:xfrm>
            <a:off x="866880" y="2698920"/>
            <a:ext cx="874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paciente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CuadroTexto 511"/>
          <p:cNvSpPr txBox="1"/>
          <p:nvPr/>
        </p:nvSpPr>
        <p:spPr>
          <a:xfrm>
            <a:off x="866880" y="2965680"/>
            <a:ext cx="6114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→ CONDITION_OCCURRENCE           ¿qué evento lo metió?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CuadroTexto 512"/>
          <p:cNvSpPr txBox="1"/>
          <p:nvPr/>
        </p:nvSpPr>
        <p:spPr>
          <a:xfrm>
            <a:off x="866880" y="3223080"/>
            <a:ext cx="6879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→ condition_source_concept_id    ¿qué código traía la fuente?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CuadroTexto 513"/>
          <p:cNvSpPr txBox="1"/>
          <p:nvPr/>
        </p:nvSpPr>
        <p:spPr>
          <a:xfrm>
            <a:off x="866880" y="3489480"/>
            <a:ext cx="6224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→ 'Maps to'                      ¿a qué estándar mapeó?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CuadroTexto 514"/>
          <p:cNvSpPr txBox="1"/>
          <p:nvPr/>
        </p:nvSpPr>
        <p:spPr>
          <a:xfrm>
            <a:off x="866880" y="3746880"/>
            <a:ext cx="7097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→ CONCEPT_ANCESTOR               ¿qué ancestro tuyo lo capturó?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CuadroTexto 515"/>
          <p:cNvSpPr txBox="1"/>
          <p:nvPr/>
        </p:nvSpPr>
        <p:spPr>
          <a:xfrm>
            <a:off x="866880" y="4013640"/>
            <a:ext cx="5350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→ tu concept set                 ¿por qué rama?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CuadroTexto 516"/>
          <p:cNvSpPr txBox="1"/>
          <p:nvPr/>
        </p:nvSpPr>
        <p:spPr>
          <a:xfrm>
            <a:off x="905040" y="4725720"/>
            <a:ext cx="10342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Ten esta consulta escrita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antes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de que alguien te pregunte. Te la van a preguntar: en el comité de tesis 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CuadroTexto 517"/>
          <p:cNvSpPr txBox="1"/>
          <p:nvPr/>
        </p:nvSpPr>
        <p:spPr>
          <a:xfrm>
            <a:off x="905040" y="5068800"/>
            <a:ext cx="2732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en la revisión de un artículo.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CuadroTexto 51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CuadroTexto 51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CuadroTexto 52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Forma libre 5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Forma libre 5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Forma libre 5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Forma libre 524"/>
          <p:cNvSpPr/>
          <p:nvPr/>
        </p:nvSpPr>
        <p:spPr>
          <a:xfrm>
            <a:off x="676080" y="2647800"/>
            <a:ext cx="2410200" cy="410040"/>
          </a:xfrm>
          <a:custGeom>
            <a:avLst/>
            <a:gdLst/>
            <a:ahLst/>
            <a:cxnLst/>
            <a:rect l="0" t="0" r="r" b="b"/>
            <a:pathLst>
              <a:path w="6695" h="1139">
                <a:moveTo>
                  <a:pt x="0" y="0"/>
                </a:moveTo>
                <a:lnTo>
                  <a:pt x="6695" y="0"/>
                </a:lnTo>
                <a:lnTo>
                  <a:pt x="669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Forma libre 525"/>
          <p:cNvSpPr/>
          <p:nvPr/>
        </p:nvSpPr>
        <p:spPr>
          <a:xfrm>
            <a:off x="3085920" y="2647800"/>
            <a:ext cx="3200760" cy="410040"/>
          </a:xfrm>
          <a:custGeom>
            <a:avLst/>
            <a:gdLst/>
            <a:ahLst/>
            <a:cxnLst/>
            <a:rect l="0" t="0" r="r" b="b"/>
            <a:pathLst>
              <a:path w="8891" h="1139">
                <a:moveTo>
                  <a:pt x="0" y="0"/>
                </a:moveTo>
                <a:lnTo>
                  <a:pt x="8891" y="0"/>
                </a:lnTo>
                <a:lnTo>
                  <a:pt x="889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Forma libre 526"/>
          <p:cNvSpPr/>
          <p:nvPr/>
        </p:nvSpPr>
        <p:spPr>
          <a:xfrm>
            <a:off x="676080" y="2647800"/>
            <a:ext cx="2410200" cy="410040"/>
          </a:xfrm>
          <a:custGeom>
            <a:avLst/>
            <a:gdLst/>
            <a:ahLst/>
            <a:cxnLst/>
            <a:rect l="0" t="0" r="r" b="b"/>
            <a:pathLst>
              <a:path w="6695" h="1139">
                <a:moveTo>
                  <a:pt x="0" y="0"/>
                </a:moveTo>
                <a:lnTo>
                  <a:pt x="6695" y="0"/>
                </a:lnTo>
                <a:lnTo>
                  <a:pt x="669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Forma libre 527"/>
          <p:cNvSpPr/>
          <p:nvPr/>
        </p:nvSpPr>
        <p:spPr>
          <a:xfrm>
            <a:off x="3085920" y="2647800"/>
            <a:ext cx="3200760" cy="410040"/>
          </a:xfrm>
          <a:custGeom>
            <a:avLst/>
            <a:gdLst/>
            <a:ahLst/>
            <a:cxnLst/>
            <a:rect l="0" t="0" r="r" b="b"/>
            <a:pathLst>
              <a:path w="8891" h="1139">
                <a:moveTo>
                  <a:pt x="0" y="0"/>
                </a:moveTo>
                <a:lnTo>
                  <a:pt x="8891" y="0"/>
                </a:lnTo>
                <a:lnTo>
                  <a:pt x="889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Forma libre 528"/>
          <p:cNvSpPr/>
          <p:nvPr/>
        </p:nvSpPr>
        <p:spPr>
          <a:xfrm>
            <a:off x="676080" y="3057480"/>
            <a:ext cx="2410200" cy="409680"/>
          </a:xfrm>
          <a:custGeom>
            <a:avLst/>
            <a:gdLst/>
            <a:ahLst/>
            <a:cxnLst/>
            <a:rect l="0" t="0" r="r" b="b"/>
            <a:pathLst>
              <a:path w="6695" h="1138">
                <a:moveTo>
                  <a:pt x="0" y="0"/>
                </a:moveTo>
                <a:lnTo>
                  <a:pt x="6695" y="0"/>
                </a:lnTo>
                <a:lnTo>
                  <a:pt x="669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Forma libre 529"/>
          <p:cNvSpPr/>
          <p:nvPr/>
        </p:nvSpPr>
        <p:spPr>
          <a:xfrm>
            <a:off x="3085920" y="3057480"/>
            <a:ext cx="3200760" cy="409680"/>
          </a:xfrm>
          <a:custGeom>
            <a:avLst/>
            <a:gdLst/>
            <a:ahLst/>
            <a:cxnLst/>
            <a:rect l="0" t="0" r="r" b="b"/>
            <a:pathLst>
              <a:path w="8891" h="1138">
                <a:moveTo>
                  <a:pt x="0" y="0"/>
                </a:moveTo>
                <a:lnTo>
                  <a:pt x="8891" y="0"/>
                </a:lnTo>
                <a:lnTo>
                  <a:pt x="889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Forma libre 530"/>
          <p:cNvSpPr/>
          <p:nvPr/>
        </p:nvSpPr>
        <p:spPr>
          <a:xfrm>
            <a:off x="676080" y="3466800"/>
            <a:ext cx="2410200" cy="419400"/>
          </a:xfrm>
          <a:custGeom>
            <a:avLst/>
            <a:gdLst/>
            <a:ahLst/>
            <a:cxnLst/>
            <a:rect l="0" t="0" r="r" b="b"/>
            <a:pathLst>
              <a:path w="6695" h="1165">
                <a:moveTo>
                  <a:pt x="0" y="0"/>
                </a:moveTo>
                <a:lnTo>
                  <a:pt x="6695" y="0"/>
                </a:lnTo>
                <a:lnTo>
                  <a:pt x="669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Forma libre 531"/>
          <p:cNvSpPr/>
          <p:nvPr/>
        </p:nvSpPr>
        <p:spPr>
          <a:xfrm>
            <a:off x="3085920" y="3466800"/>
            <a:ext cx="3200760" cy="419400"/>
          </a:xfrm>
          <a:custGeom>
            <a:avLst/>
            <a:gdLst/>
            <a:ahLst/>
            <a:cxnLst/>
            <a:rect l="0" t="0" r="r" b="b"/>
            <a:pathLst>
              <a:path w="8891" h="1165">
                <a:moveTo>
                  <a:pt x="0" y="0"/>
                </a:moveTo>
                <a:lnTo>
                  <a:pt x="8891" y="0"/>
                </a:lnTo>
                <a:lnTo>
                  <a:pt x="889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Forma libre 532"/>
          <p:cNvSpPr/>
          <p:nvPr/>
        </p:nvSpPr>
        <p:spPr>
          <a:xfrm>
            <a:off x="676080" y="3885840"/>
            <a:ext cx="2410200" cy="410040"/>
          </a:xfrm>
          <a:custGeom>
            <a:avLst/>
            <a:gdLst/>
            <a:ahLst/>
            <a:cxnLst/>
            <a:rect l="0" t="0" r="r" b="b"/>
            <a:pathLst>
              <a:path w="6695" h="1139">
                <a:moveTo>
                  <a:pt x="0" y="0"/>
                </a:moveTo>
                <a:lnTo>
                  <a:pt x="6695" y="0"/>
                </a:lnTo>
                <a:lnTo>
                  <a:pt x="669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Forma libre 533"/>
          <p:cNvSpPr/>
          <p:nvPr/>
        </p:nvSpPr>
        <p:spPr>
          <a:xfrm>
            <a:off x="3085920" y="3885840"/>
            <a:ext cx="3200760" cy="410040"/>
          </a:xfrm>
          <a:custGeom>
            <a:avLst/>
            <a:gdLst/>
            <a:ahLst/>
            <a:cxnLst/>
            <a:rect l="0" t="0" r="r" b="b"/>
            <a:pathLst>
              <a:path w="8891" h="1139">
                <a:moveTo>
                  <a:pt x="0" y="0"/>
                </a:moveTo>
                <a:lnTo>
                  <a:pt x="8891" y="0"/>
                </a:lnTo>
                <a:lnTo>
                  <a:pt x="889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Forma libre 534"/>
          <p:cNvSpPr/>
          <p:nvPr/>
        </p:nvSpPr>
        <p:spPr>
          <a:xfrm>
            <a:off x="666720" y="263808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Forma libre 535"/>
          <p:cNvSpPr/>
          <p:nvPr/>
        </p:nvSpPr>
        <p:spPr>
          <a:xfrm>
            <a:off x="666720" y="2638080"/>
            <a:ext cx="2428920" cy="10080"/>
          </a:xfrm>
          <a:custGeom>
            <a:avLst/>
            <a:gdLst/>
            <a:ahLst/>
            <a:cxnLst/>
            <a:rect l="0" t="0" r="r" b="b"/>
            <a:pathLst>
              <a:path w="6747" h="28">
                <a:moveTo>
                  <a:pt x="0" y="0"/>
                </a:moveTo>
                <a:lnTo>
                  <a:pt x="6747" y="0"/>
                </a:lnTo>
                <a:lnTo>
                  <a:pt x="6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Forma libre 536"/>
          <p:cNvSpPr/>
          <p:nvPr/>
        </p:nvSpPr>
        <p:spPr>
          <a:xfrm>
            <a:off x="3085920" y="263808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Forma libre 537"/>
          <p:cNvSpPr/>
          <p:nvPr/>
        </p:nvSpPr>
        <p:spPr>
          <a:xfrm>
            <a:off x="3095280" y="2638080"/>
            <a:ext cx="3191400" cy="10080"/>
          </a:xfrm>
          <a:custGeom>
            <a:avLst/>
            <a:gdLst/>
            <a:ahLst/>
            <a:cxnLst/>
            <a:rect l="0" t="0" r="r" b="b"/>
            <a:pathLst>
              <a:path w="8865" h="28">
                <a:moveTo>
                  <a:pt x="0" y="0"/>
                </a:moveTo>
                <a:lnTo>
                  <a:pt x="8865" y="0"/>
                </a:lnTo>
                <a:lnTo>
                  <a:pt x="88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Forma libre 538"/>
          <p:cNvSpPr/>
          <p:nvPr/>
        </p:nvSpPr>
        <p:spPr>
          <a:xfrm>
            <a:off x="6276960" y="263808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Forma libre 539"/>
          <p:cNvSpPr/>
          <p:nvPr/>
        </p:nvSpPr>
        <p:spPr>
          <a:xfrm>
            <a:off x="666720" y="3047760"/>
            <a:ext cx="2428920" cy="10080"/>
          </a:xfrm>
          <a:custGeom>
            <a:avLst/>
            <a:gdLst/>
            <a:ahLst/>
            <a:cxnLst/>
            <a:rect l="0" t="0" r="r" b="b"/>
            <a:pathLst>
              <a:path w="6747" h="28">
                <a:moveTo>
                  <a:pt x="0" y="0"/>
                </a:moveTo>
                <a:lnTo>
                  <a:pt x="6747" y="0"/>
                </a:lnTo>
                <a:lnTo>
                  <a:pt x="6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Forma libre 540"/>
          <p:cNvSpPr/>
          <p:nvPr/>
        </p:nvSpPr>
        <p:spPr>
          <a:xfrm>
            <a:off x="3095280" y="3047760"/>
            <a:ext cx="3191400" cy="10080"/>
          </a:xfrm>
          <a:custGeom>
            <a:avLst/>
            <a:gdLst/>
            <a:ahLst/>
            <a:cxnLst/>
            <a:rect l="0" t="0" r="r" b="b"/>
            <a:pathLst>
              <a:path w="8865" h="28">
                <a:moveTo>
                  <a:pt x="0" y="0"/>
                </a:moveTo>
                <a:lnTo>
                  <a:pt x="8865" y="0"/>
                </a:lnTo>
                <a:lnTo>
                  <a:pt x="88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Forma libre 541"/>
          <p:cNvSpPr/>
          <p:nvPr/>
        </p:nvSpPr>
        <p:spPr>
          <a:xfrm>
            <a:off x="666720" y="305748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Forma libre 542"/>
          <p:cNvSpPr/>
          <p:nvPr/>
        </p:nvSpPr>
        <p:spPr>
          <a:xfrm>
            <a:off x="3085920" y="305748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Forma libre 543"/>
          <p:cNvSpPr/>
          <p:nvPr/>
        </p:nvSpPr>
        <p:spPr>
          <a:xfrm>
            <a:off x="6276960" y="305748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Forma libre 544"/>
          <p:cNvSpPr/>
          <p:nvPr/>
        </p:nvSpPr>
        <p:spPr>
          <a:xfrm>
            <a:off x="666720" y="34668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Forma libre 545"/>
          <p:cNvSpPr/>
          <p:nvPr/>
        </p:nvSpPr>
        <p:spPr>
          <a:xfrm>
            <a:off x="666720" y="3457440"/>
            <a:ext cx="2428920" cy="9720"/>
          </a:xfrm>
          <a:custGeom>
            <a:avLst/>
            <a:gdLst/>
            <a:ahLst/>
            <a:cxn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Forma libre 546"/>
          <p:cNvSpPr/>
          <p:nvPr/>
        </p:nvSpPr>
        <p:spPr>
          <a:xfrm>
            <a:off x="3085920" y="34668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Forma libre 547"/>
          <p:cNvSpPr/>
          <p:nvPr/>
        </p:nvSpPr>
        <p:spPr>
          <a:xfrm>
            <a:off x="3095280" y="3457440"/>
            <a:ext cx="3191400" cy="9720"/>
          </a:xfrm>
          <a:custGeom>
            <a:avLst/>
            <a:gdLst/>
            <a:ahLst/>
            <a:cxnLst/>
            <a:rect l="0" t="0" r="r" b="b"/>
            <a:pathLst>
              <a:path w="8865" h="27">
                <a:moveTo>
                  <a:pt x="0" y="0"/>
                </a:moveTo>
                <a:lnTo>
                  <a:pt x="8865" y="0"/>
                </a:lnTo>
                <a:lnTo>
                  <a:pt x="88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Forma libre 548"/>
          <p:cNvSpPr/>
          <p:nvPr/>
        </p:nvSpPr>
        <p:spPr>
          <a:xfrm>
            <a:off x="6276960" y="34668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Forma libre 549"/>
          <p:cNvSpPr/>
          <p:nvPr/>
        </p:nvSpPr>
        <p:spPr>
          <a:xfrm>
            <a:off x="666720" y="38858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Forma libre 550"/>
          <p:cNvSpPr/>
          <p:nvPr/>
        </p:nvSpPr>
        <p:spPr>
          <a:xfrm>
            <a:off x="666720" y="3876480"/>
            <a:ext cx="2428920" cy="9720"/>
          </a:xfrm>
          <a:custGeom>
            <a:avLst/>
            <a:gdLst/>
            <a:ahLst/>
            <a:cxn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Forma libre 551"/>
          <p:cNvSpPr/>
          <p:nvPr/>
        </p:nvSpPr>
        <p:spPr>
          <a:xfrm>
            <a:off x="3085920" y="38858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Forma libre 552"/>
          <p:cNvSpPr/>
          <p:nvPr/>
        </p:nvSpPr>
        <p:spPr>
          <a:xfrm>
            <a:off x="3095280" y="3876480"/>
            <a:ext cx="3191400" cy="9720"/>
          </a:xfrm>
          <a:custGeom>
            <a:avLst/>
            <a:gdLst/>
            <a:ahLst/>
            <a:cxnLst/>
            <a:rect l="0" t="0" r="r" b="b"/>
            <a:pathLst>
              <a:path w="8865" h="27">
                <a:moveTo>
                  <a:pt x="0" y="0"/>
                </a:moveTo>
                <a:lnTo>
                  <a:pt x="8865" y="0"/>
                </a:lnTo>
                <a:lnTo>
                  <a:pt x="88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Forma libre 553"/>
          <p:cNvSpPr/>
          <p:nvPr/>
        </p:nvSpPr>
        <p:spPr>
          <a:xfrm>
            <a:off x="6276960" y="38858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Forma libre 554"/>
          <p:cNvSpPr/>
          <p:nvPr/>
        </p:nvSpPr>
        <p:spPr>
          <a:xfrm>
            <a:off x="666720" y="4286160"/>
            <a:ext cx="2428920" cy="9720"/>
          </a:xfrm>
          <a:custGeom>
            <a:avLst/>
            <a:gdLst/>
            <a:ahLst/>
            <a:cxn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Forma libre 555"/>
          <p:cNvSpPr/>
          <p:nvPr/>
        </p:nvSpPr>
        <p:spPr>
          <a:xfrm>
            <a:off x="3095280" y="4286160"/>
            <a:ext cx="3191400" cy="9720"/>
          </a:xfrm>
          <a:custGeom>
            <a:avLst/>
            <a:gdLst/>
            <a:ahLst/>
            <a:cxnLst/>
            <a:rect l="0" t="0" r="r" b="b"/>
            <a:pathLst>
              <a:path w="8865" h="27">
                <a:moveTo>
                  <a:pt x="0" y="0"/>
                </a:moveTo>
                <a:lnTo>
                  <a:pt x="8865" y="0"/>
                </a:lnTo>
                <a:lnTo>
                  <a:pt x="88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Forma libre 556"/>
          <p:cNvSpPr/>
          <p:nvPr/>
        </p:nvSpPr>
        <p:spPr>
          <a:xfrm>
            <a:off x="666720" y="444816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Forma libre 557"/>
          <p:cNvSpPr/>
          <p:nvPr/>
        </p:nvSpPr>
        <p:spPr>
          <a:xfrm>
            <a:off x="666720" y="444816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CuadroTexto 558"/>
          <p:cNvSpPr txBox="1"/>
          <p:nvPr/>
        </p:nvSpPr>
        <p:spPr>
          <a:xfrm>
            <a:off x="666720" y="1510920"/>
            <a:ext cx="40834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Conceptos que ya no existen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CuadroTexto 559"/>
          <p:cNvSpPr txBox="1"/>
          <p:nvPr/>
        </p:nvSpPr>
        <p:spPr>
          <a:xfrm>
            <a:off x="666720" y="2182680"/>
            <a:ext cx="5721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vocabulario se actualiza y algunos conceptos se retiran: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CuadroTexto 560"/>
          <p:cNvSpPr txBox="1"/>
          <p:nvPr/>
        </p:nvSpPr>
        <p:spPr>
          <a:xfrm>
            <a:off x="1628640" y="2742840"/>
            <a:ext cx="505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Señal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Forma libre 561"/>
          <p:cNvSpPr/>
          <p:nvPr/>
        </p:nvSpPr>
        <p:spPr>
          <a:xfrm>
            <a:off x="799920" y="3152520"/>
            <a:ext cx="2067120" cy="228960"/>
          </a:xfrm>
          <a:custGeom>
            <a:avLst/>
            <a:gdLst/>
            <a:ahLst/>
            <a:cxnLst/>
            <a:rect l="0" t="0" r="r" b="b"/>
            <a:pathLst>
              <a:path w="574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637" y="0"/>
                </a:lnTo>
                <a:cubicBezTo>
                  <a:pt x="5651" y="0"/>
                  <a:pt x="5664" y="3"/>
                  <a:pt x="5677" y="8"/>
                </a:cubicBezTo>
                <a:cubicBezTo>
                  <a:pt x="5690" y="14"/>
                  <a:pt x="5702" y="21"/>
                  <a:pt x="5711" y="31"/>
                </a:cubicBezTo>
                <a:cubicBezTo>
                  <a:pt x="5721" y="41"/>
                  <a:pt x="5729" y="53"/>
                  <a:pt x="5734" y="66"/>
                </a:cubicBezTo>
                <a:cubicBezTo>
                  <a:pt x="5740" y="79"/>
                  <a:pt x="5742" y="92"/>
                  <a:pt x="5742" y="106"/>
                </a:cubicBezTo>
                <a:lnTo>
                  <a:pt x="5742" y="530"/>
                </a:lnTo>
                <a:cubicBezTo>
                  <a:pt x="5742" y="544"/>
                  <a:pt x="5740" y="558"/>
                  <a:pt x="5734" y="571"/>
                </a:cubicBezTo>
                <a:cubicBezTo>
                  <a:pt x="5729" y="584"/>
                  <a:pt x="5721" y="595"/>
                  <a:pt x="5711" y="605"/>
                </a:cubicBezTo>
                <a:cubicBezTo>
                  <a:pt x="5702" y="615"/>
                  <a:pt x="5690" y="623"/>
                  <a:pt x="5677" y="628"/>
                </a:cubicBezTo>
                <a:cubicBezTo>
                  <a:pt x="5664" y="634"/>
                  <a:pt x="5651" y="636"/>
                  <a:pt x="5637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CuadroTexto 562"/>
          <p:cNvSpPr txBox="1"/>
          <p:nvPr/>
        </p:nvSpPr>
        <p:spPr>
          <a:xfrm>
            <a:off x="4293720" y="2742840"/>
            <a:ext cx="786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Signiﬁca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CuadroTexto 563"/>
          <p:cNvSpPr txBox="1"/>
          <p:nvPr/>
        </p:nvSpPr>
        <p:spPr>
          <a:xfrm>
            <a:off x="857160" y="3174120"/>
            <a:ext cx="19458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invalid_reason = 'D'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Forma libre 564"/>
          <p:cNvSpPr/>
          <p:nvPr/>
        </p:nvSpPr>
        <p:spPr>
          <a:xfrm>
            <a:off x="799920" y="3571560"/>
            <a:ext cx="2067120" cy="228960"/>
          </a:xfrm>
          <a:custGeom>
            <a:avLst/>
            <a:gdLst/>
            <a:ahLst/>
            <a:cxnLst/>
            <a:rect l="0" t="0" r="r" b="b"/>
            <a:pathLst>
              <a:path w="574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637" y="0"/>
                </a:lnTo>
                <a:cubicBezTo>
                  <a:pt x="5651" y="0"/>
                  <a:pt x="5664" y="3"/>
                  <a:pt x="5677" y="8"/>
                </a:cubicBezTo>
                <a:cubicBezTo>
                  <a:pt x="5690" y="14"/>
                  <a:pt x="5702" y="21"/>
                  <a:pt x="5711" y="31"/>
                </a:cubicBezTo>
                <a:cubicBezTo>
                  <a:pt x="5721" y="41"/>
                  <a:pt x="5729" y="53"/>
                  <a:pt x="5734" y="66"/>
                </a:cubicBezTo>
                <a:cubicBezTo>
                  <a:pt x="5740" y="79"/>
                  <a:pt x="5742" y="92"/>
                  <a:pt x="5742" y="106"/>
                </a:cubicBezTo>
                <a:lnTo>
                  <a:pt x="5742" y="530"/>
                </a:lnTo>
                <a:cubicBezTo>
                  <a:pt x="5742" y="545"/>
                  <a:pt x="5740" y="558"/>
                  <a:pt x="5734" y="571"/>
                </a:cubicBezTo>
                <a:cubicBezTo>
                  <a:pt x="5729" y="584"/>
                  <a:pt x="5721" y="595"/>
                  <a:pt x="5711" y="605"/>
                </a:cubicBezTo>
                <a:cubicBezTo>
                  <a:pt x="5702" y="615"/>
                  <a:pt x="5690" y="623"/>
                  <a:pt x="5677" y="628"/>
                </a:cubicBezTo>
                <a:cubicBezTo>
                  <a:pt x="5664" y="634"/>
                  <a:pt x="5651" y="636"/>
                  <a:pt x="5637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5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CuadroTexto 565"/>
          <p:cNvSpPr txBox="1"/>
          <p:nvPr/>
        </p:nvSpPr>
        <p:spPr>
          <a:xfrm>
            <a:off x="3218760" y="3142800"/>
            <a:ext cx="2947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deprecated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se retiró, sin reemplazo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CuadroTexto 566"/>
          <p:cNvSpPr txBox="1"/>
          <p:nvPr/>
        </p:nvSpPr>
        <p:spPr>
          <a:xfrm>
            <a:off x="857160" y="3593160"/>
            <a:ext cx="19458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invalid_reason = 'U'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Forma libre 567"/>
          <p:cNvSpPr/>
          <p:nvPr/>
        </p:nvSpPr>
        <p:spPr>
          <a:xfrm>
            <a:off x="799920" y="3981240"/>
            <a:ext cx="2162520" cy="228960"/>
          </a:xfrm>
          <a:custGeom>
            <a:avLst/>
            <a:gdLst/>
            <a:ahLst/>
            <a:cxnLst/>
            <a:rect l="0" t="0" r="r" b="b"/>
            <a:pathLst>
              <a:path w="6007" h="636">
                <a:moveTo>
                  <a:pt x="0" y="530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1" y="42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901" y="0"/>
                </a:lnTo>
                <a:cubicBezTo>
                  <a:pt x="5915" y="0"/>
                  <a:pt x="5929" y="3"/>
                  <a:pt x="5942" y="8"/>
                </a:cubicBezTo>
                <a:cubicBezTo>
                  <a:pt x="5955" y="14"/>
                  <a:pt x="5966" y="21"/>
                  <a:pt x="5976" y="31"/>
                </a:cubicBezTo>
                <a:cubicBezTo>
                  <a:pt x="5986" y="42"/>
                  <a:pt x="5994" y="53"/>
                  <a:pt x="5999" y="66"/>
                </a:cubicBezTo>
                <a:cubicBezTo>
                  <a:pt x="6004" y="79"/>
                  <a:pt x="6007" y="93"/>
                  <a:pt x="6007" y="107"/>
                </a:cubicBezTo>
                <a:lnTo>
                  <a:pt x="6007" y="530"/>
                </a:lnTo>
                <a:cubicBezTo>
                  <a:pt x="6007" y="544"/>
                  <a:pt x="6004" y="558"/>
                  <a:pt x="5999" y="571"/>
                </a:cubicBezTo>
                <a:cubicBezTo>
                  <a:pt x="5994" y="584"/>
                  <a:pt x="5986" y="595"/>
                  <a:pt x="5976" y="605"/>
                </a:cubicBezTo>
                <a:cubicBezTo>
                  <a:pt x="5966" y="615"/>
                  <a:pt x="5955" y="623"/>
                  <a:pt x="5942" y="628"/>
                </a:cubicBezTo>
                <a:cubicBezTo>
                  <a:pt x="5929" y="633"/>
                  <a:pt x="5915" y="636"/>
                  <a:pt x="5901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CuadroTexto 568"/>
          <p:cNvSpPr txBox="1"/>
          <p:nvPr/>
        </p:nvSpPr>
        <p:spPr>
          <a:xfrm>
            <a:off x="3218760" y="3561840"/>
            <a:ext cx="2872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updated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se retiró y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hay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reemplazo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CuadroTexto 569"/>
          <p:cNvSpPr txBox="1"/>
          <p:nvPr/>
        </p:nvSpPr>
        <p:spPr>
          <a:xfrm>
            <a:off x="857160" y="4002480"/>
            <a:ext cx="20430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'Concept replaced by'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CuadroTexto 570"/>
          <p:cNvSpPr txBox="1"/>
          <p:nvPr/>
        </p:nvSpPr>
        <p:spPr>
          <a:xfrm>
            <a:off x="3218760" y="3971520"/>
            <a:ext cx="2703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arista que te lleva al reemplazo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CuadroTexto 571"/>
          <p:cNvSpPr txBox="1"/>
          <p:nvPr/>
        </p:nvSpPr>
        <p:spPr>
          <a:xfrm>
            <a:off x="905040" y="4601880"/>
            <a:ext cx="10184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Un concept set de hace dos años puede tener conceptos muertos que ya no capturan a nadie,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sin dar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CuadroTexto 572"/>
          <p:cNvSpPr txBox="1"/>
          <p:nvPr/>
        </p:nvSpPr>
        <p:spPr>
          <a:xfrm>
            <a:off x="905040" y="4944960"/>
            <a:ext cx="3392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ningún error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Eso es lo peligroso.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CuadroTexto 57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CuadroTexto 57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CuadroTexto 57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Forma libre 57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Forma libre 57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Forma libre 5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CuadroTexto 579"/>
          <p:cNvSpPr txBox="1"/>
          <p:nvPr/>
        </p:nvSpPr>
        <p:spPr>
          <a:xfrm>
            <a:off x="4394520" y="3063960"/>
            <a:ext cx="34783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8. Rendimiento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CuadroTexto 58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CuadroTexto 58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CuadroTexto 58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Forma libre 5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Forma libre 5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Forma libre 58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Forma libre 586"/>
          <p:cNvSpPr/>
          <p:nvPr/>
        </p:nvSpPr>
        <p:spPr>
          <a:xfrm>
            <a:off x="671400" y="256680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7"/>
                  <a:pt x="30103" y="2268"/>
                </a:cubicBezTo>
                <a:cubicBezTo>
                  <a:pt x="30096" y="2278"/>
                  <a:pt x="30088" y="2288"/>
                  <a:pt x="30079" y="2298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49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49"/>
                  <a:pt x="134" y="2346"/>
                  <a:pt x="122" y="2341"/>
                </a:cubicBezTo>
                <a:cubicBezTo>
                  <a:pt x="110" y="2336"/>
                  <a:pt x="99" y="2330"/>
                  <a:pt x="88" y="2322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8"/>
                  <a:pt x="40" y="2278"/>
                  <a:pt x="33" y="2268"/>
                </a:cubicBezTo>
                <a:cubicBezTo>
                  <a:pt x="26" y="2257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Forma libre 587"/>
          <p:cNvSpPr/>
          <p:nvPr/>
        </p:nvSpPr>
        <p:spPr>
          <a:xfrm>
            <a:off x="671400" y="256680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7"/>
                  <a:pt x="30103" y="2268"/>
                </a:cubicBezTo>
                <a:cubicBezTo>
                  <a:pt x="30096" y="2278"/>
                  <a:pt x="30088" y="2288"/>
                  <a:pt x="30079" y="2298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49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49"/>
                  <a:pt x="134" y="2346"/>
                  <a:pt x="122" y="2341"/>
                </a:cubicBezTo>
                <a:cubicBezTo>
                  <a:pt x="110" y="2336"/>
                  <a:pt x="99" y="2330"/>
                  <a:pt x="88" y="2322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8"/>
                  <a:pt x="40" y="2278"/>
                  <a:pt x="33" y="2268"/>
                </a:cubicBezTo>
                <a:cubicBezTo>
                  <a:pt x="26" y="2257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Forma libre 588"/>
          <p:cNvSpPr/>
          <p:nvPr/>
        </p:nvSpPr>
        <p:spPr>
          <a:xfrm>
            <a:off x="666720" y="486720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Forma libre 589"/>
          <p:cNvSpPr/>
          <p:nvPr/>
        </p:nvSpPr>
        <p:spPr>
          <a:xfrm>
            <a:off x="666720" y="486720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CuadroTexto 590"/>
          <p:cNvSpPr txBox="1"/>
          <p:nvPr/>
        </p:nvSpPr>
        <p:spPr>
          <a:xfrm>
            <a:off x="666720" y="1434600"/>
            <a:ext cx="34527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antipatrón, y el arreglo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Forma libre 591"/>
          <p:cNvSpPr/>
          <p:nvPr/>
        </p:nvSpPr>
        <p:spPr>
          <a:xfrm>
            <a:off x="1323720" y="2143080"/>
            <a:ext cx="3381840" cy="238320"/>
          </a:xfrm>
          <a:custGeom>
            <a:avLst/>
            <a:gdLst/>
            <a:ahLst/>
            <a:cxnLst/>
            <a:rect l="0" t="0" r="r" b="b"/>
            <a:pathLst>
              <a:path w="9394" h="662">
                <a:moveTo>
                  <a:pt x="0" y="55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9288" y="0"/>
                </a:lnTo>
                <a:cubicBezTo>
                  <a:pt x="9302" y="0"/>
                  <a:pt x="9316" y="2"/>
                  <a:pt x="9329" y="8"/>
                </a:cubicBezTo>
                <a:cubicBezTo>
                  <a:pt x="9342" y="13"/>
                  <a:pt x="9353" y="21"/>
                  <a:pt x="9363" y="31"/>
                </a:cubicBezTo>
                <a:cubicBezTo>
                  <a:pt x="9373" y="41"/>
                  <a:pt x="9380" y="52"/>
                  <a:pt x="9386" y="65"/>
                </a:cubicBezTo>
                <a:cubicBezTo>
                  <a:pt x="9391" y="78"/>
                  <a:pt x="9394" y="91"/>
                  <a:pt x="9394" y="105"/>
                </a:cubicBezTo>
                <a:lnTo>
                  <a:pt x="9394" y="556"/>
                </a:lnTo>
                <a:cubicBezTo>
                  <a:pt x="9394" y="570"/>
                  <a:pt x="9391" y="584"/>
                  <a:pt x="9386" y="597"/>
                </a:cubicBezTo>
                <a:cubicBezTo>
                  <a:pt x="9380" y="610"/>
                  <a:pt x="9373" y="621"/>
                  <a:pt x="9363" y="631"/>
                </a:cubicBezTo>
                <a:cubicBezTo>
                  <a:pt x="9353" y="641"/>
                  <a:pt x="9342" y="649"/>
                  <a:pt x="9329" y="654"/>
                </a:cubicBezTo>
                <a:cubicBezTo>
                  <a:pt x="9316" y="659"/>
                  <a:pt x="9302" y="662"/>
                  <a:pt x="9288" y="662"/>
                </a:cubicBezTo>
                <a:lnTo>
                  <a:pt x="106" y="662"/>
                </a:lnTo>
                <a:cubicBezTo>
                  <a:pt x="92" y="662"/>
                  <a:pt x="79" y="659"/>
                  <a:pt x="66" y="654"/>
                </a:cubicBezTo>
                <a:cubicBezTo>
                  <a:pt x="53" y="649"/>
                  <a:pt x="41" y="641"/>
                  <a:pt x="31" y="631"/>
                </a:cubicBezTo>
                <a:cubicBezTo>
                  <a:pt x="21" y="621"/>
                  <a:pt x="14" y="610"/>
                  <a:pt x="8" y="597"/>
                </a:cubicBezTo>
                <a:cubicBezTo>
                  <a:pt x="3" y="584"/>
                  <a:pt x="0" y="570"/>
                  <a:pt x="0" y="55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CuadroTexto 592"/>
          <p:cNvSpPr txBox="1"/>
          <p:nvPr/>
        </p:nvSpPr>
        <p:spPr>
          <a:xfrm>
            <a:off x="666720" y="2128320"/>
            <a:ext cx="660240" cy="24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62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Figura: </a:t>
            </a:r>
            <a:endParaRPr lang="es-E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CuadroTexto 593"/>
          <p:cNvSpPr txBox="1"/>
          <p:nvPr/>
        </p:nvSpPr>
        <p:spPr>
          <a:xfrm>
            <a:off x="1383480" y="2161800"/>
            <a:ext cx="32716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7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figuras/s16/03-materializar.png</a:t>
            </a:r>
            <a:endParaRPr lang="es-E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CuadroTexto 594"/>
          <p:cNvSpPr txBox="1"/>
          <p:nvPr/>
        </p:nvSpPr>
        <p:spPr>
          <a:xfrm>
            <a:off x="866880" y="2746800"/>
            <a:ext cx="7316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MAL   WHERE condition_concept_id IN ( subconsulta de 40 000 filas 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Forma libre 595"/>
          <p:cNvSpPr/>
          <p:nvPr/>
        </p:nvSpPr>
        <p:spPr>
          <a:xfrm>
            <a:off x="914040" y="37242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CuadroTexto 596"/>
          <p:cNvSpPr txBox="1"/>
          <p:nvPr/>
        </p:nvSpPr>
        <p:spPr>
          <a:xfrm>
            <a:off x="866880" y="3013560"/>
            <a:ext cx="7097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BIEN  materializa el concept set en una tabla, indexa, y haz JOIN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Forma libre 597"/>
          <p:cNvSpPr/>
          <p:nvPr/>
        </p:nvSpPr>
        <p:spPr>
          <a:xfrm>
            <a:off x="914040" y="41241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CuadroTexto 598"/>
          <p:cNvSpPr txBox="1"/>
          <p:nvPr/>
        </p:nvSpPr>
        <p:spPr>
          <a:xfrm>
            <a:off x="1123920" y="3611520"/>
            <a:ext cx="7187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subconsulta grande puede reevaluarse por cada ﬁla del lado externo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Forma libre 599"/>
          <p:cNvSpPr/>
          <p:nvPr/>
        </p:nvSpPr>
        <p:spPr>
          <a:xfrm>
            <a:off x="914040" y="45241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8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8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CuadroTexto 600"/>
          <p:cNvSpPr txBox="1"/>
          <p:nvPr/>
        </p:nvSpPr>
        <p:spPr>
          <a:xfrm>
            <a:off x="1123920" y="4011480"/>
            <a:ext cx="6220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concept set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cambia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durante el análisis: calcúlalo una vez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Forma libre 601"/>
          <p:cNvSpPr/>
          <p:nvPr/>
        </p:nvSpPr>
        <p:spPr>
          <a:xfrm>
            <a:off x="2190600" y="4429080"/>
            <a:ext cx="1981440" cy="266760"/>
          </a:xfrm>
          <a:custGeom>
            <a:avLst/>
            <a:gdLst/>
            <a:ahLst/>
            <a:cxnLst/>
            <a:rect l="0" t="0" r="r" b="b"/>
            <a:pathLst>
              <a:path w="5504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5398" y="0"/>
                </a:lnTo>
                <a:cubicBezTo>
                  <a:pt x="5412" y="0"/>
                  <a:pt x="5426" y="2"/>
                  <a:pt x="5439" y="8"/>
                </a:cubicBezTo>
                <a:cubicBezTo>
                  <a:pt x="5452" y="13"/>
                  <a:pt x="5463" y="21"/>
                  <a:pt x="5473" y="31"/>
                </a:cubicBezTo>
                <a:cubicBezTo>
                  <a:pt x="5483" y="41"/>
                  <a:pt x="5491" y="52"/>
                  <a:pt x="5496" y="65"/>
                </a:cubicBezTo>
                <a:cubicBezTo>
                  <a:pt x="5502" y="78"/>
                  <a:pt x="5504" y="91"/>
                  <a:pt x="5504" y="105"/>
                </a:cubicBezTo>
                <a:lnTo>
                  <a:pt x="5504" y="635"/>
                </a:lnTo>
                <a:cubicBezTo>
                  <a:pt x="5504" y="650"/>
                  <a:pt x="5502" y="663"/>
                  <a:pt x="5496" y="676"/>
                </a:cubicBezTo>
                <a:cubicBezTo>
                  <a:pt x="5491" y="689"/>
                  <a:pt x="5483" y="701"/>
                  <a:pt x="5473" y="710"/>
                </a:cubicBezTo>
                <a:cubicBezTo>
                  <a:pt x="5463" y="720"/>
                  <a:pt x="5452" y="728"/>
                  <a:pt x="5439" y="733"/>
                </a:cubicBezTo>
                <a:cubicBezTo>
                  <a:pt x="5426" y="739"/>
                  <a:pt x="5412" y="741"/>
                  <a:pt x="5398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CuadroTexto 602"/>
          <p:cNvSpPr txBox="1"/>
          <p:nvPr/>
        </p:nvSpPr>
        <p:spPr>
          <a:xfrm>
            <a:off x="1123920" y="4411440"/>
            <a:ext cx="1063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Índices en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CuadroTexto 603"/>
          <p:cNvSpPr txBox="1"/>
          <p:nvPr/>
        </p:nvSpPr>
        <p:spPr>
          <a:xfrm>
            <a:off x="2243880" y="4448880"/>
            <a:ext cx="187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CONCEPT_ANCESTOR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Forma libre 604"/>
          <p:cNvSpPr/>
          <p:nvPr/>
        </p:nvSpPr>
        <p:spPr>
          <a:xfrm>
            <a:off x="4628880" y="4429080"/>
            <a:ext cx="2334240" cy="266760"/>
          </a:xfrm>
          <a:custGeom>
            <a:avLst/>
            <a:gdLst/>
            <a:ahLst/>
            <a:cxnLst/>
            <a:rect l="0" t="0" r="r" b="b"/>
            <a:pathLst>
              <a:path w="6484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6378" y="0"/>
                </a:lnTo>
                <a:cubicBezTo>
                  <a:pt x="6392" y="0"/>
                  <a:pt x="6405" y="2"/>
                  <a:pt x="6418" y="8"/>
                </a:cubicBezTo>
                <a:cubicBezTo>
                  <a:pt x="6431" y="13"/>
                  <a:pt x="6443" y="21"/>
                  <a:pt x="6453" y="31"/>
                </a:cubicBezTo>
                <a:cubicBezTo>
                  <a:pt x="6462" y="41"/>
                  <a:pt x="6470" y="52"/>
                  <a:pt x="6475" y="65"/>
                </a:cubicBezTo>
                <a:cubicBezTo>
                  <a:pt x="6481" y="78"/>
                  <a:pt x="6484" y="91"/>
                  <a:pt x="6484" y="105"/>
                </a:cubicBezTo>
                <a:lnTo>
                  <a:pt x="6484" y="635"/>
                </a:lnTo>
                <a:cubicBezTo>
                  <a:pt x="6484" y="650"/>
                  <a:pt x="6481" y="663"/>
                  <a:pt x="6475" y="676"/>
                </a:cubicBezTo>
                <a:cubicBezTo>
                  <a:pt x="6470" y="689"/>
                  <a:pt x="6462" y="701"/>
                  <a:pt x="6453" y="710"/>
                </a:cubicBezTo>
                <a:cubicBezTo>
                  <a:pt x="6443" y="720"/>
                  <a:pt x="6431" y="728"/>
                  <a:pt x="6418" y="733"/>
                </a:cubicBezTo>
                <a:cubicBezTo>
                  <a:pt x="6405" y="739"/>
                  <a:pt x="6392" y="741"/>
                  <a:pt x="6378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CuadroTexto 605"/>
          <p:cNvSpPr txBox="1"/>
          <p:nvPr/>
        </p:nvSpPr>
        <p:spPr>
          <a:xfrm>
            <a:off x="4172760" y="4411440"/>
            <a:ext cx="458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por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CuadroTexto 606"/>
          <p:cNvSpPr txBox="1"/>
          <p:nvPr/>
        </p:nvSpPr>
        <p:spPr>
          <a:xfrm>
            <a:off x="4687560" y="4448880"/>
            <a:ext cx="2232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ancestor_concept_id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Forma libre 607"/>
          <p:cNvSpPr/>
          <p:nvPr/>
        </p:nvSpPr>
        <p:spPr>
          <a:xfrm>
            <a:off x="7591320" y="4429080"/>
            <a:ext cx="2572200" cy="266760"/>
          </a:xfrm>
          <a:custGeom>
            <a:avLst/>
            <a:gdLst/>
            <a:ahLst/>
            <a:cxnLst/>
            <a:rect l="0" t="0" r="r" b="b"/>
            <a:pathLst>
              <a:path w="7145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7039" y="0"/>
                </a:lnTo>
                <a:cubicBezTo>
                  <a:pt x="7053" y="0"/>
                  <a:pt x="7066" y="2"/>
                  <a:pt x="7079" y="8"/>
                </a:cubicBezTo>
                <a:cubicBezTo>
                  <a:pt x="7092" y="13"/>
                  <a:pt x="7104" y="21"/>
                  <a:pt x="7114" y="31"/>
                </a:cubicBezTo>
                <a:cubicBezTo>
                  <a:pt x="7123" y="41"/>
                  <a:pt x="7131" y="52"/>
                  <a:pt x="7136" y="65"/>
                </a:cubicBezTo>
                <a:cubicBezTo>
                  <a:pt x="7142" y="78"/>
                  <a:pt x="7145" y="91"/>
                  <a:pt x="7145" y="105"/>
                </a:cubicBezTo>
                <a:lnTo>
                  <a:pt x="7145" y="635"/>
                </a:lnTo>
                <a:cubicBezTo>
                  <a:pt x="7145" y="650"/>
                  <a:pt x="7142" y="663"/>
                  <a:pt x="7136" y="676"/>
                </a:cubicBezTo>
                <a:cubicBezTo>
                  <a:pt x="7131" y="689"/>
                  <a:pt x="7123" y="701"/>
                  <a:pt x="7114" y="710"/>
                </a:cubicBezTo>
                <a:cubicBezTo>
                  <a:pt x="7104" y="720"/>
                  <a:pt x="7092" y="728"/>
                  <a:pt x="7079" y="733"/>
                </a:cubicBezTo>
                <a:cubicBezTo>
                  <a:pt x="7066" y="739"/>
                  <a:pt x="7053" y="741"/>
                  <a:pt x="7039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CuadroTexto 608"/>
          <p:cNvSpPr txBox="1"/>
          <p:nvPr/>
        </p:nvSpPr>
        <p:spPr>
          <a:xfrm>
            <a:off x="6967440" y="4411440"/>
            <a:ext cx="627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por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CuadroTexto 609"/>
          <p:cNvSpPr txBox="1"/>
          <p:nvPr/>
        </p:nvSpPr>
        <p:spPr>
          <a:xfrm>
            <a:off x="7651440" y="4448880"/>
            <a:ext cx="2467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descendant_concept_id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Forma libre 610"/>
          <p:cNvSpPr/>
          <p:nvPr/>
        </p:nvSpPr>
        <p:spPr>
          <a:xfrm>
            <a:off x="3895560" y="5038560"/>
            <a:ext cx="1867320" cy="267120"/>
          </a:xfrm>
          <a:custGeom>
            <a:avLst/>
            <a:gdLst/>
            <a:ahLst/>
            <a:cxnLst/>
            <a:rect l="0" t="0" r="r" b="b"/>
            <a:pathLst>
              <a:path w="518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081" y="0"/>
                </a:lnTo>
                <a:cubicBezTo>
                  <a:pt x="5095" y="0"/>
                  <a:pt x="5108" y="3"/>
                  <a:pt x="5121" y="8"/>
                </a:cubicBezTo>
                <a:cubicBezTo>
                  <a:pt x="5134" y="13"/>
                  <a:pt x="5146" y="21"/>
                  <a:pt x="5156" y="31"/>
                </a:cubicBezTo>
                <a:cubicBezTo>
                  <a:pt x="5166" y="41"/>
                  <a:pt x="5173" y="52"/>
                  <a:pt x="5179" y="65"/>
                </a:cubicBezTo>
                <a:cubicBezTo>
                  <a:pt x="5184" y="78"/>
                  <a:pt x="5187" y="92"/>
                  <a:pt x="5187" y="106"/>
                </a:cubicBezTo>
                <a:lnTo>
                  <a:pt x="5187" y="636"/>
                </a:lnTo>
                <a:cubicBezTo>
                  <a:pt x="5187" y="650"/>
                  <a:pt x="5184" y="663"/>
                  <a:pt x="5179" y="676"/>
                </a:cubicBezTo>
                <a:cubicBezTo>
                  <a:pt x="5173" y="689"/>
                  <a:pt x="5166" y="701"/>
                  <a:pt x="5156" y="711"/>
                </a:cubicBezTo>
                <a:cubicBezTo>
                  <a:pt x="5146" y="721"/>
                  <a:pt x="5134" y="728"/>
                  <a:pt x="5121" y="734"/>
                </a:cubicBezTo>
                <a:cubicBezTo>
                  <a:pt x="5108" y="739"/>
                  <a:pt x="5095" y="742"/>
                  <a:pt x="5081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CuadroTexto 611"/>
          <p:cNvSpPr txBox="1"/>
          <p:nvPr/>
        </p:nvSpPr>
        <p:spPr>
          <a:xfrm>
            <a:off x="905040" y="5021280"/>
            <a:ext cx="2990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En el laboratorio lo miden con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CuadroTexto 612"/>
          <p:cNvSpPr txBox="1"/>
          <p:nvPr/>
        </p:nvSpPr>
        <p:spPr>
          <a:xfrm>
            <a:off x="3952080" y="5058360"/>
            <a:ext cx="1762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EXPLAIN ANALYZE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CuadroTexto 613"/>
          <p:cNvSpPr txBox="1"/>
          <p:nvPr/>
        </p:nvSpPr>
        <p:spPr>
          <a:xfrm>
            <a:off x="5763960" y="5021280"/>
            <a:ext cx="2020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La diferencia se ve.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CuadroTexto 61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CuadroTexto 61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CuadroTexto 61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Forma libre 6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Forma libre 61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Forma libre 61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CuadroTexto 620"/>
          <p:cNvSpPr txBox="1"/>
          <p:nvPr/>
        </p:nvSpPr>
        <p:spPr>
          <a:xfrm>
            <a:off x="666720" y="203472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Forma libre 621"/>
          <p:cNvSpPr/>
          <p:nvPr/>
        </p:nvSpPr>
        <p:spPr>
          <a:xfrm>
            <a:off x="1123920" y="2724120"/>
            <a:ext cx="1990800" cy="266760"/>
          </a:xfrm>
          <a:custGeom>
            <a:avLst/>
            <a:gdLst/>
            <a:ahLst/>
            <a:cxnLst/>
            <a:rect l="0" t="0" r="r" b="b"/>
            <a:pathLst>
              <a:path w="5530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5425" y="0"/>
                </a:lnTo>
                <a:cubicBezTo>
                  <a:pt x="5439" y="0"/>
                  <a:pt x="5452" y="2"/>
                  <a:pt x="5465" y="8"/>
                </a:cubicBezTo>
                <a:cubicBezTo>
                  <a:pt x="5478" y="13"/>
                  <a:pt x="5489" y="21"/>
                  <a:pt x="5499" y="31"/>
                </a:cubicBezTo>
                <a:cubicBezTo>
                  <a:pt x="5509" y="41"/>
                  <a:pt x="5517" y="52"/>
                  <a:pt x="5522" y="65"/>
                </a:cubicBezTo>
                <a:cubicBezTo>
                  <a:pt x="5528" y="78"/>
                  <a:pt x="5530" y="91"/>
                  <a:pt x="5530" y="105"/>
                </a:cubicBezTo>
                <a:lnTo>
                  <a:pt x="5530" y="636"/>
                </a:lnTo>
                <a:cubicBezTo>
                  <a:pt x="5530" y="650"/>
                  <a:pt x="5528" y="663"/>
                  <a:pt x="5522" y="676"/>
                </a:cubicBezTo>
                <a:cubicBezTo>
                  <a:pt x="5517" y="689"/>
                  <a:pt x="5509" y="700"/>
                  <a:pt x="5499" y="710"/>
                </a:cubicBezTo>
                <a:cubicBezTo>
                  <a:pt x="5489" y="720"/>
                  <a:pt x="5478" y="728"/>
                  <a:pt x="5465" y="733"/>
                </a:cubicBezTo>
                <a:cubicBezTo>
                  <a:pt x="5452" y="739"/>
                  <a:pt x="5439" y="741"/>
                  <a:pt x="5425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CuadroTexto 622"/>
          <p:cNvSpPr txBox="1"/>
          <p:nvPr/>
        </p:nvSpPr>
        <p:spPr>
          <a:xfrm>
            <a:off x="869760" y="270648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CuadroTexto 623"/>
          <p:cNvSpPr txBox="1"/>
          <p:nvPr/>
        </p:nvSpPr>
        <p:spPr>
          <a:xfrm>
            <a:off x="1181160" y="2743920"/>
            <a:ext cx="187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CONCEPT_ANCESTOR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Forma libre 624"/>
          <p:cNvSpPr/>
          <p:nvPr/>
        </p:nvSpPr>
        <p:spPr>
          <a:xfrm>
            <a:off x="3495600" y="2724120"/>
            <a:ext cx="2448000" cy="266760"/>
          </a:xfrm>
          <a:custGeom>
            <a:avLst/>
            <a:gdLst/>
            <a:ahLst/>
            <a:cxnLst/>
            <a:rect l="0" t="0" r="r" b="b"/>
            <a:pathLst>
              <a:path w="6800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6695" y="0"/>
                </a:lnTo>
                <a:cubicBezTo>
                  <a:pt x="6709" y="0"/>
                  <a:pt x="6722" y="2"/>
                  <a:pt x="6735" y="8"/>
                </a:cubicBezTo>
                <a:cubicBezTo>
                  <a:pt x="6748" y="13"/>
                  <a:pt x="6760" y="21"/>
                  <a:pt x="6769" y="31"/>
                </a:cubicBezTo>
                <a:cubicBezTo>
                  <a:pt x="6779" y="41"/>
                  <a:pt x="6787" y="52"/>
                  <a:pt x="6792" y="65"/>
                </a:cubicBezTo>
                <a:cubicBezTo>
                  <a:pt x="6798" y="78"/>
                  <a:pt x="6800" y="91"/>
                  <a:pt x="6800" y="105"/>
                </a:cubicBezTo>
                <a:lnTo>
                  <a:pt x="6800" y="636"/>
                </a:lnTo>
                <a:cubicBezTo>
                  <a:pt x="6800" y="650"/>
                  <a:pt x="6798" y="663"/>
                  <a:pt x="6792" y="676"/>
                </a:cubicBezTo>
                <a:cubicBezTo>
                  <a:pt x="6787" y="689"/>
                  <a:pt x="6779" y="700"/>
                  <a:pt x="6769" y="710"/>
                </a:cubicBezTo>
                <a:cubicBezTo>
                  <a:pt x="6760" y="720"/>
                  <a:pt x="6748" y="728"/>
                  <a:pt x="6735" y="733"/>
                </a:cubicBezTo>
                <a:cubicBezTo>
                  <a:pt x="6722" y="739"/>
                  <a:pt x="6709" y="741"/>
                  <a:pt x="6695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CuadroTexto 625"/>
          <p:cNvSpPr txBox="1"/>
          <p:nvPr/>
        </p:nvSpPr>
        <p:spPr>
          <a:xfrm>
            <a:off x="3110040" y="2706480"/>
            <a:ext cx="381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es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CuadroTexto 626"/>
          <p:cNvSpPr txBox="1"/>
          <p:nvPr/>
        </p:nvSpPr>
        <p:spPr>
          <a:xfrm>
            <a:off x="3548520" y="2743920"/>
            <a:ext cx="2349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CONCEPT_RELATIONSHIP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CuadroTexto 627"/>
          <p:cNvSpPr txBox="1"/>
          <p:nvPr/>
        </p:nvSpPr>
        <p:spPr>
          <a:xfrm>
            <a:off x="5945400" y="2706480"/>
            <a:ext cx="4433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ya recorrida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pero sólo por las relaciones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CuadroTexto 628"/>
          <p:cNvSpPr txBox="1"/>
          <p:nvPr/>
        </p:nvSpPr>
        <p:spPr>
          <a:xfrm>
            <a:off x="1123920" y="3049560"/>
            <a:ext cx="4425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jerárquicas, y sólo entre conceptos estándar.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Forma libre 629"/>
          <p:cNvSpPr/>
          <p:nvPr/>
        </p:nvSpPr>
        <p:spPr>
          <a:xfrm>
            <a:off x="1123920" y="3904920"/>
            <a:ext cx="1047960" cy="267120"/>
          </a:xfrm>
          <a:custGeom>
            <a:avLst/>
            <a:gdLst/>
            <a:ahLst/>
            <a:cxnLst/>
            <a:rect l="0" t="0" r="r" b="b"/>
            <a:pathLst>
              <a:path w="291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805" y="0"/>
                </a:lnTo>
                <a:cubicBezTo>
                  <a:pt x="2819" y="0"/>
                  <a:pt x="2833" y="3"/>
                  <a:pt x="2846" y="8"/>
                </a:cubicBezTo>
                <a:cubicBezTo>
                  <a:pt x="2859" y="14"/>
                  <a:pt x="2870" y="21"/>
                  <a:pt x="2880" y="31"/>
                </a:cubicBezTo>
                <a:cubicBezTo>
                  <a:pt x="2890" y="41"/>
                  <a:pt x="2898" y="53"/>
                  <a:pt x="2903" y="66"/>
                </a:cubicBezTo>
                <a:cubicBezTo>
                  <a:pt x="2908" y="79"/>
                  <a:pt x="2911" y="92"/>
                  <a:pt x="2911" y="106"/>
                </a:cubicBezTo>
                <a:lnTo>
                  <a:pt x="2911" y="636"/>
                </a:lnTo>
                <a:cubicBezTo>
                  <a:pt x="2911" y="650"/>
                  <a:pt x="2908" y="664"/>
                  <a:pt x="2903" y="677"/>
                </a:cubicBezTo>
                <a:cubicBezTo>
                  <a:pt x="2898" y="690"/>
                  <a:pt x="2890" y="701"/>
                  <a:pt x="2880" y="711"/>
                </a:cubicBezTo>
                <a:cubicBezTo>
                  <a:pt x="2870" y="721"/>
                  <a:pt x="2859" y="729"/>
                  <a:pt x="2846" y="734"/>
                </a:cubicBezTo>
                <a:cubicBezTo>
                  <a:pt x="2833" y="740"/>
                  <a:pt x="2819" y="742"/>
                  <a:pt x="2805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CuadroTexto 630"/>
          <p:cNvSpPr txBox="1"/>
          <p:nvPr/>
        </p:nvSpPr>
        <p:spPr>
          <a:xfrm>
            <a:off x="869760" y="3544920"/>
            <a:ext cx="10552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concepto puede tener varios padres.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 tu conteo se inﬂa, casi siempre es poli-jerarquía y falta un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CuadroTexto 631"/>
          <p:cNvSpPr txBox="1"/>
          <p:nvPr/>
        </p:nvSpPr>
        <p:spPr>
          <a:xfrm>
            <a:off x="1181160" y="392508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DISTINCT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CuadroTexto 632"/>
          <p:cNvSpPr txBox="1"/>
          <p:nvPr/>
        </p:nvSpPr>
        <p:spPr>
          <a:xfrm>
            <a:off x="2174400" y="388764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CuadroTexto 633"/>
          <p:cNvSpPr txBox="1"/>
          <p:nvPr/>
        </p:nvSpPr>
        <p:spPr>
          <a:xfrm>
            <a:off x="869760" y="4383000"/>
            <a:ext cx="10114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Ten lista la consulta que explica por qué entró un paciente.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la pregunta que te van a hacer.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CuadroTexto 63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CuadroTexto 63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CuadroTexto 63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Forma libre 6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Forma libre 6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Forma libre 6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CuadroTexto 640"/>
          <p:cNvSpPr txBox="1"/>
          <p:nvPr/>
        </p:nvSpPr>
        <p:spPr>
          <a:xfrm>
            <a:off x="666720" y="183492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CuadroTexto 641"/>
          <p:cNvSpPr txBox="1"/>
          <p:nvPr/>
        </p:nvSpPr>
        <p:spPr>
          <a:xfrm>
            <a:off x="666720" y="2545920"/>
            <a:ext cx="22957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Jerarquías en acción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Forma libre 642"/>
          <p:cNvSpPr/>
          <p:nvPr/>
        </p:nvSpPr>
        <p:spPr>
          <a:xfrm>
            <a:off x="3952800" y="3076560"/>
            <a:ext cx="1752840" cy="266760"/>
          </a:xfrm>
          <a:custGeom>
            <a:avLst/>
            <a:gdLst/>
            <a:ahLst/>
            <a:cxnLst/>
            <a:rect l="0" t="0" r="r" b="b"/>
            <a:pathLst>
              <a:path w="4869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763" y="0"/>
                </a:lnTo>
                <a:cubicBezTo>
                  <a:pt x="4777" y="0"/>
                  <a:pt x="4791" y="2"/>
                  <a:pt x="4804" y="8"/>
                </a:cubicBezTo>
                <a:cubicBezTo>
                  <a:pt x="4817" y="13"/>
                  <a:pt x="4828" y="21"/>
                  <a:pt x="4838" y="31"/>
                </a:cubicBezTo>
                <a:cubicBezTo>
                  <a:pt x="4848" y="40"/>
                  <a:pt x="4856" y="52"/>
                  <a:pt x="4861" y="65"/>
                </a:cubicBezTo>
                <a:cubicBezTo>
                  <a:pt x="4866" y="78"/>
                  <a:pt x="4869" y="91"/>
                  <a:pt x="4869" y="105"/>
                </a:cubicBezTo>
                <a:lnTo>
                  <a:pt x="4869" y="635"/>
                </a:lnTo>
                <a:cubicBezTo>
                  <a:pt x="4869" y="649"/>
                  <a:pt x="4866" y="662"/>
                  <a:pt x="4861" y="675"/>
                </a:cubicBezTo>
                <a:cubicBezTo>
                  <a:pt x="4856" y="688"/>
                  <a:pt x="4848" y="699"/>
                  <a:pt x="4838" y="710"/>
                </a:cubicBezTo>
                <a:cubicBezTo>
                  <a:pt x="4828" y="720"/>
                  <a:pt x="4817" y="728"/>
                  <a:pt x="4804" y="733"/>
                </a:cubicBezTo>
                <a:cubicBezTo>
                  <a:pt x="4791" y="739"/>
                  <a:pt x="4777" y="741"/>
                  <a:pt x="4763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699"/>
                  <a:pt x="13" y="688"/>
                  <a:pt x="8" y="675"/>
                </a:cubicBezTo>
                <a:cubicBezTo>
                  <a:pt x="2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CuadroTexto 643"/>
          <p:cNvSpPr txBox="1"/>
          <p:nvPr/>
        </p:nvSpPr>
        <p:spPr>
          <a:xfrm>
            <a:off x="666720" y="3058920"/>
            <a:ext cx="3286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Resolver el mismo problema con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CuadroTexto 644"/>
          <p:cNvSpPr txBox="1"/>
          <p:nvPr/>
        </p:nvSpPr>
        <p:spPr>
          <a:xfrm>
            <a:off x="4005720" y="3096360"/>
            <a:ext cx="1644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WITH RECURSIVE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Forma libre 645"/>
          <p:cNvSpPr/>
          <p:nvPr/>
        </p:nvSpPr>
        <p:spPr>
          <a:xfrm>
            <a:off x="6362640" y="3076560"/>
            <a:ext cx="1990800" cy="266760"/>
          </a:xfrm>
          <a:custGeom>
            <a:avLst/>
            <a:gdLst/>
            <a:ahLst/>
            <a:cxnLst/>
            <a:rect l="0" t="0" r="r" b="b"/>
            <a:pathLst>
              <a:path w="5530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5425" y="0"/>
                </a:lnTo>
                <a:cubicBezTo>
                  <a:pt x="5439" y="0"/>
                  <a:pt x="5452" y="2"/>
                  <a:pt x="5465" y="8"/>
                </a:cubicBezTo>
                <a:cubicBezTo>
                  <a:pt x="5478" y="13"/>
                  <a:pt x="5490" y="21"/>
                  <a:pt x="5499" y="31"/>
                </a:cubicBezTo>
                <a:cubicBezTo>
                  <a:pt x="5509" y="40"/>
                  <a:pt x="5517" y="52"/>
                  <a:pt x="5522" y="65"/>
                </a:cubicBezTo>
                <a:cubicBezTo>
                  <a:pt x="5528" y="78"/>
                  <a:pt x="5530" y="91"/>
                  <a:pt x="5530" y="105"/>
                </a:cubicBezTo>
                <a:lnTo>
                  <a:pt x="5530" y="635"/>
                </a:lnTo>
                <a:cubicBezTo>
                  <a:pt x="5530" y="649"/>
                  <a:pt x="5528" y="662"/>
                  <a:pt x="5522" y="675"/>
                </a:cubicBezTo>
                <a:cubicBezTo>
                  <a:pt x="5517" y="688"/>
                  <a:pt x="5509" y="699"/>
                  <a:pt x="5499" y="710"/>
                </a:cubicBezTo>
                <a:cubicBezTo>
                  <a:pt x="5490" y="720"/>
                  <a:pt x="5478" y="728"/>
                  <a:pt x="5465" y="733"/>
                </a:cubicBezTo>
                <a:cubicBezTo>
                  <a:pt x="5452" y="739"/>
                  <a:pt x="5439" y="741"/>
                  <a:pt x="5425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699"/>
                  <a:pt x="13" y="688"/>
                  <a:pt x="8" y="675"/>
                </a:cubicBezTo>
                <a:cubicBezTo>
                  <a:pt x="2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CuadroTexto 646"/>
          <p:cNvSpPr txBox="1"/>
          <p:nvPr/>
        </p:nvSpPr>
        <p:spPr>
          <a:xfrm>
            <a:off x="5700600" y="3058920"/>
            <a:ext cx="665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con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CuadroTexto 647"/>
          <p:cNvSpPr txBox="1"/>
          <p:nvPr/>
        </p:nvSpPr>
        <p:spPr>
          <a:xfrm>
            <a:off x="6423120" y="3096360"/>
            <a:ext cx="187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CONCEPT_ANCESTOR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CuadroTexto 648"/>
          <p:cNvSpPr txBox="1"/>
          <p:nvPr/>
        </p:nvSpPr>
        <p:spPr>
          <a:xfrm>
            <a:off x="8352000" y="3058920"/>
            <a:ext cx="3045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comprobar que dan lo mismo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Forma libre 649"/>
          <p:cNvSpPr/>
          <p:nvPr/>
        </p:nvSpPr>
        <p:spPr>
          <a:xfrm>
            <a:off x="3114360" y="3419280"/>
            <a:ext cx="1867320" cy="267120"/>
          </a:xfrm>
          <a:custGeom>
            <a:avLst/>
            <a:gdLst/>
            <a:ahLst/>
            <a:cxnLst/>
            <a:rect l="0" t="0" r="r" b="b"/>
            <a:pathLst>
              <a:path w="518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081" y="0"/>
                </a:lnTo>
                <a:cubicBezTo>
                  <a:pt x="5095" y="0"/>
                  <a:pt x="5109" y="3"/>
                  <a:pt x="5122" y="8"/>
                </a:cubicBezTo>
                <a:cubicBezTo>
                  <a:pt x="5135" y="13"/>
                  <a:pt x="5146" y="21"/>
                  <a:pt x="5156" y="31"/>
                </a:cubicBezTo>
                <a:cubicBezTo>
                  <a:pt x="5166" y="41"/>
                  <a:pt x="5174" y="52"/>
                  <a:pt x="5179" y="65"/>
                </a:cubicBezTo>
                <a:cubicBezTo>
                  <a:pt x="5185" y="78"/>
                  <a:pt x="5187" y="92"/>
                  <a:pt x="5187" y="106"/>
                </a:cubicBezTo>
                <a:lnTo>
                  <a:pt x="5187" y="636"/>
                </a:lnTo>
                <a:cubicBezTo>
                  <a:pt x="5187" y="650"/>
                  <a:pt x="5185" y="664"/>
                  <a:pt x="5179" y="677"/>
                </a:cubicBezTo>
                <a:cubicBezTo>
                  <a:pt x="5174" y="690"/>
                  <a:pt x="5166" y="701"/>
                  <a:pt x="5156" y="711"/>
                </a:cubicBezTo>
                <a:cubicBezTo>
                  <a:pt x="5146" y="721"/>
                  <a:pt x="5135" y="728"/>
                  <a:pt x="5122" y="734"/>
                </a:cubicBezTo>
                <a:cubicBezTo>
                  <a:pt x="5109" y="739"/>
                  <a:pt x="5095" y="742"/>
                  <a:pt x="5081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CuadroTexto 650"/>
          <p:cNvSpPr txBox="1"/>
          <p:nvPr/>
        </p:nvSpPr>
        <p:spPr>
          <a:xfrm>
            <a:off x="666720" y="3402000"/>
            <a:ext cx="2452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y medir la diferencia con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CuadroTexto 651"/>
          <p:cNvSpPr txBox="1"/>
          <p:nvPr/>
        </p:nvSpPr>
        <p:spPr>
          <a:xfrm>
            <a:off x="3171960" y="3439080"/>
            <a:ext cx="1762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EXPLAIN ANALYZE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CuadroTexto 652"/>
          <p:cNvSpPr txBox="1"/>
          <p:nvPr/>
        </p:nvSpPr>
        <p:spPr>
          <a:xfrm>
            <a:off x="4983840" y="3402000"/>
            <a:ext cx="6132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; encontrar un caso real de poli-jerarquía en tu base; escribir 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CuadroTexto 653"/>
          <p:cNvSpPr txBox="1"/>
          <p:nvPr/>
        </p:nvSpPr>
        <p:spPr>
          <a:xfrm>
            <a:off x="666720" y="3744720"/>
            <a:ext cx="5154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consulta de depuración y cazar conceptos inválidos.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Forma libre 654"/>
          <p:cNvSpPr/>
          <p:nvPr/>
        </p:nvSpPr>
        <p:spPr>
          <a:xfrm>
            <a:off x="1971360" y="4257360"/>
            <a:ext cx="1753200" cy="267120"/>
          </a:xfrm>
          <a:custGeom>
            <a:avLst/>
            <a:gdLst/>
            <a:ahLst/>
            <a:cxnLst/>
            <a:rect l="0" t="0" r="r" b="b"/>
            <a:pathLst>
              <a:path w="4870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764" y="0"/>
                </a:lnTo>
                <a:cubicBezTo>
                  <a:pt x="4778" y="0"/>
                  <a:pt x="4791" y="3"/>
                  <a:pt x="4804" y="8"/>
                </a:cubicBezTo>
                <a:cubicBezTo>
                  <a:pt x="4817" y="14"/>
                  <a:pt x="4829" y="21"/>
                  <a:pt x="4839" y="31"/>
                </a:cubicBezTo>
                <a:cubicBezTo>
                  <a:pt x="4849" y="41"/>
                  <a:pt x="4856" y="53"/>
                  <a:pt x="4862" y="66"/>
                </a:cubicBezTo>
                <a:cubicBezTo>
                  <a:pt x="4867" y="79"/>
                  <a:pt x="4870" y="92"/>
                  <a:pt x="4870" y="106"/>
                </a:cubicBezTo>
                <a:lnTo>
                  <a:pt x="4870" y="636"/>
                </a:lnTo>
                <a:cubicBezTo>
                  <a:pt x="4870" y="650"/>
                  <a:pt x="4867" y="664"/>
                  <a:pt x="4862" y="677"/>
                </a:cubicBezTo>
                <a:cubicBezTo>
                  <a:pt x="4856" y="690"/>
                  <a:pt x="4849" y="701"/>
                  <a:pt x="4839" y="711"/>
                </a:cubicBezTo>
                <a:cubicBezTo>
                  <a:pt x="4829" y="721"/>
                  <a:pt x="4817" y="729"/>
                  <a:pt x="4804" y="734"/>
                </a:cubicBezTo>
                <a:cubicBezTo>
                  <a:pt x="4791" y="740"/>
                  <a:pt x="4778" y="742"/>
                  <a:pt x="4764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CuadroTexto 655"/>
          <p:cNvSpPr txBox="1"/>
          <p:nvPr/>
        </p:nvSpPr>
        <p:spPr>
          <a:xfrm>
            <a:off x="666720" y="4240080"/>
            <a:ext cx="1312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CuadroTexto 656"/>
          <p:cNvSpPr txBox="1"/>
          <p:nvPr/>
        </p:nvSpPr>
        <p:spPr>
          <a:xfrm>
            <a:off x="2032200" y="4277520"/>
            <a:ext cx="1644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jerarquias.sql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Forma libre 657"/>
          <p:cNvSpPr/>
          <p:nvPr/>
        </p:nvSpPr>
        <p:spPr>
          <a:xfrm>
            <a:off x="666720" y="4752720"/>
            <a:ext cx="5496120" cy="267120"/>
          </a:xfrm>
          <a:custGeom>
            <a:avLst/>
            <a:gdLst/>
            <a:ahLst/>
            <a:cxnLst/>
            <a:rect l="0" t="0" r="r" b="b"/>
            <a:pathLst>
              <a:path w="1526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5161" y="0"/>
                </a:lnTo>
                <a:cubicBezTo>
                  <a:pt x="15175" y="0"/>
                  <a:pt x="15189" y="3"/>
                  <a:pt x="15202" y="8"/>
                </a:cubicBezTo>
                <a:cubicBezTo>
                  <a:pt x="15215" y="14"/>
                  <a:pt x="15226" y="21"/>
                  <a:pt x="15236" y="31"/>
                </a:cubicBezTo>
                <a:cubicBezTo>
                  <a:pt x="15246" y="41"/>
                  <a:pt x="15254" y="53"/>
                  <a:pt x="15259" y="66"/>
                </a:cubicBezTo>
                <a:cubicBezTo>
                  <a:pt x="15264" y="79"/>
                  <a:pt x="15267" y="92"/>
                  <a:pt x="15267" y="106"/>
                </a:cubicBezTo>
                <a:lnTo>
                  <a:pt x="15267" y="636"/>
                </a:lnTo>
                <a:cubicBezTo>
                  <a:pt x="15267" y="650"/>
                  <a:pt x="15264" y="664"/>
                  <a:pt x="15259" y="677"/>
                </a:cubicBezTo>
                <a:cubicBezTo>
                  <a:pt x="15254" y="690"/>
                  <a:pt x="15246" y="701"/>
                  <a:pt x="15236" y="711"/>
                </a:cubicBezTo>
                <a:cubicBezTo>
                  <a:pt x="15226" y="721"/>
                  <a:pt x="15215" y="729"/>
                  <a:pt x="15202" y="734"/>
                </a:cubicBezTo>
                <a:cubicBezTo>
                  <a:pt x="15189" y="739"/>
                  <a:pt x="15175" y="742"/>
                  <a:pt x="15161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CuadroTexto 658"/>
          <p:cNvSpPr txBox="1"/>
          <p:nvPr/>
        </p:nvSpPr>
        <p:spPr>
          <a:xfrm>
            <a:off x="3727080" y="4240080"/>
            <a:ext cx="4676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comentado + tabla de tiempos antes/después.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CuadroTexto 659"/>
          <p:cNvSpPr txBox="1"/>
          <p:nvPr/>
        </p:nvSpPr>
        <p:spPr>
          <a:xfrm>
            <a:off x="723960" y="4772520"/>
            <a:ext cx="5403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labs/s16-jerarquias-concept-ancestor/README.md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CuadroTexto 66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CuadroTexto 66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CuadroTexto 66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Forma libre 6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Forma libre 6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Forma libre 66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CuadroTexto 666"/>
          <p:cNvSpPr txBox="1"/>
          <p:nvPr/>
        </p:nvSpPr>
        <p:spPr>
          <a:xfrm>
            <a:off x="4672800" y="248292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Forma libre 667"/>
          <p:cNvSpPr/>
          <p:nvPr/>
        </p:nvSpPr>
        <p:spPr>
          <a:xfrm>
            <a:off x="4762440" y="3485880"/>
            <a:ext cx="6201000" cy="381600"/>
          </a:xfrm>
          <a:custGeom>
            <a:avLst/>
            <a:gdLst/>
            <a:ahLst/>
            <a:cxnLst/>
            <a:rect l="0" t="0" r="r" b="b"/>
            <a:pathLst>
              <a:path w="17225" h="1060">
                <a:moveTo>
                  <a:pt x="0" y="954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7225" y="0"/>
                </a:lnTo>
                <a:lnTo>
                  <a:pt x="17225" y="1060"/>
                </a:lnTo>
                <a:lnTo>
                  <a:pt x="105" y="1060"/>
                </a:lnTo>
                <a:cubicBezTo>
                  <a:pt x="91" y="1060"/>
                  <a:pt x="78" y="1057"/>
                  <a:pt x="65" y="1052"/>
                </a:cubicBezTo>
                <a:cubicBezTo>
                  <a:pt x="52" y="1046"/>
                  <a:pt x="41" y="1039"/>
                  <a:pt x="31" y="1029"/>
                </a:cubicBezTo>
                <a:cubicBezTo>
                  <a:pt x="21" y="1019"/>
                  <a:pt x="13" y="1007"/>
                  <a:pt x="8" y="994"/>
                </a:cubicBezTo>
                <a:cubicBezTo>
                  <a:pt x="2" y="981"/>
                  <a:pt x="0" y="968"/>
                  <a:pt x="0" y="954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CuadroTexto 668"/>
          <p:cNvSpPr txBox="1"/>
          <p:nvPr/>
        </p:nvSpPr>
        <p:spPr>
          <a:xfrm>
            <a:off x="1232640" y="3482640"/>
            <a:ext cx="3616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D9822B"/>
                </a:solidFill>
                <a:effectLst/>
                <a:uFillTx/>
                <a:latin typeface="HelveticaNeue"/>
                <a:ea typeface="HelveticaNeue"/>
              </a:rPr>
              <a:t>Material complementario: 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Forma libre 669"/>
          <p:cNvSpPr/>
          <p:nvPr/>
        </p:nvSpPr>
        <p:spPr>
          <a:xfrm>
            <a:off x="5010120" y="3904920"/>
            <a:ext cx="2171880" cy="381600"/>
          </a:xfrm>
          <a:custGeom>
            <a:avLst/>
            <a:gdLst/>
            <a:ahLst/>
            <a:cxnLst/>
            <a:rect l="0" t="0" r="r" b="b"/>
            <a:pathLst>
              <a:path w="6033" h="1060">
                <a:moveTo>
                  <a:pt x="0" y="0"/>
                </a:moveTo>
                <a:lnTo>
                  <a:pt x="5927" y="0"/>
                </a:lnTo>
                <a:cubicBezTo>
                  <a:pt x="5941" y="0"/>
                  <a:pt x="5955" y="3"/>
                  <a:pt x="5968" y="8"/>
                </a:cubicBezTo>
                <a:cubicBezTo>
                  <a:pt x="5981" y="14"/>
                  <a:pt x="5992" y="21"/>
                  <a:pt x="6002" y="31"/>
                </a:cubicBezTo>
                <a:cubicBezTo>
                  <a:pt x="6012" y="41"/>
                  <a:pt x="6020" y="53"/>
                  <a:pt x="6025" y="66"/>
                </a:cubicBezTo>
                <a:cubicBezTo>
                  <a:pt x="6030" y="79"/>
                  <a:pt x="6033" y="92"/>
                  <a:pt x="6033" y="106"/>
                </a:cubicBezTo>
                <a:lnTo>
                  <a:pt x="6033" y="954"/>
                </a:lnTo>
                <a:cubicBezTo>
                  <a:pt x="6033" y="968"/>
                  <a:pt x="6030" y="981"/>
                  <a:pt x="6025" y="994"/>
                </a:cubicBezTo>
                <a:cubicBezTo>
                  <a:pt x="6020" y="1007"/>
                  <a:pt x="6012" y="1019"/>
                  <a:pt x="6002" y="1029"/>
                </a:cubicBezTo>
                <a:cubicBezTo>
                  <a:pt x="5992" y="1039"/>
                  <a:pt x="5981" y="1046"/>
                  <a:pt x="5968" y="1052"/>
                </a:cubicBezTo>
                <a:cubicBezTo>
                  <a:pt x="5955" y="1057"/>
                  <a:pt x="5941" y="1060"/>
                  <a:pt x="5927" y="1060"/>
                </a:cubicBez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CuadroTexto 670"/>
          <p:cNvSpPr txBox="1"/>
          <p:nvPr/>
        </p:nvSpPr>
        <p:spPr>
          <a:xfrm>
            <a:off x="4823640" y="3490560"/>
            <a:ext cx="625464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recursos/s16-jerarquias-concept-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CuadroTexto 671"/>
          <p:cNvSpPr txBox="1"/>
          <p:nvPr/>
        </p:nvSpPr>
        <p:spPr>
          <a:xfrm>
            <a:off x="5009040" y="3909600"/>
            <a:ext cx="215064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ancestor.md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CuadroTexto 67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16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CuadroTexto 67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CuadroTexto 67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1961</Words>
  <Application>Microsoft Macintosh PowerPoint</Application>
  <PresentationFormat>Panorámica</PresentationFormat>
  <Paragraphs>328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4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2</cp:revision>
  <dcterms:modified xsi:type="dcterms:W3CDTF">2026-10-02T14:14:25Z</dcterms:modified>
  <dc:language>es-ES</dc:language>
</cp:coreProperties>
</file>