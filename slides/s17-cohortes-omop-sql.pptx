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7772400" cy="10058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8"/>
  </p:normalViewPr>
  <p:slideViewPr>
    <p:cSldViewPr snapToGrid="0">
      <p:cViewPr varScale="1">
        <p:scale>
          <a:sx n="174" d="100"/>
          <a:sy n="174" d="100"/>
        </p:scale>
        <p:origin x="18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Forma libre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Forma libre 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Forma libre 8"/>
          <p:cNvSpPr/>
          <p:nvPr/>
        </p:nvSpPr>
        <p:spPr>
          <a:xfrm>
            <a:off x="666720" y="2904840"/>
            <a:ext cx="10858680" cy="38520"/>
          </a:xfrm>
          <a:custGeom>
            <a:avLst/>
            <a:gdLst/>
            <a:ahLst/>
            <a:cxnLst/>
            <a:rect l="0" t="0" r="r" b="b"/>
            <a:pathLst>
              <a:path w="30163" h="107">
                <a:moveTo>
                  <a:pt x="0" y="0"/>
                </a:moveTo>
                <a:lnTo>
                  <a:pt x="30163" y="0"/>
                </a:lnTo>
                <a:lnTo>
                  <a:pt x="3016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666720" y="2203920"/>
            <a:ext cx="2050920" cy="56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37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Sesión 17</a:t>
            </a:r>
            <a:endParaRPr lang="es-E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666720" y="3187440"/>
            <a:ext cx="67492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Diseño de Cohortes Clínicas en OMOP con SQL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666720" y="3868560"/>
            <a:ext cx="5346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Bloque III — SQL y datos clínicos estandarizados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666720" y="4363920"/>
            <a:ext cx="6235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Dr. Antonio Daniel Martínez Gutiérrez Semestre 2027-1 · 1:30 h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rma libre 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Forma libre 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Forma libre 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666720" y="2101680"/>
            <a:ext cx="3048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Objetivos de la sesión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666720" y="2773080"/>
            <a:ext cx="3854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 terminar esta sesión serás capaz de: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869760" y="3268440"/>
            <a:ext cx="7974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Traducir una pregunta clínica en una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deﬁnición de cohorte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operacionalizable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869760" y="3668400"/>
            <a:ext cx="7385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Implementar los cuatro componentes: entrada, inclusión, salida, censura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869760" y="4068720"/>
            <a:ext cx="9511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Distinguir un diseño de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nuevo usuario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 uno de usuario prevalente, y saber por qué importa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869760" y="4468680"/>
            <a:ext cx="55756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Reconocer el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immortal time bias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antes de publicarlo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rma libre 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Forma libre 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Forma libre 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Forma libre 30"/>
          <p:cNvSpPr/>
          <p:nvPr/>
        </p:nvSpPr>
        <p:spPr>
          <a:xfrm>
            <a:off x="666720" y="511488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Forma libre 31"/>
          <p:cNvSpPr/>
          <p:nvPr/>
        </p:nvSpPr>
        <p:spPr>
          <a:xfrm>
            <a:off x="666720" y="511488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CuadroTexto 32"/>
          <p:cNvSpPr txBox="1"/>
          <p:nvPr/>
        </p:nvSpPr>
        <p:spPr>
          <a:xfrm>
            <a:off x="666720" y="1187280"/>
            <a:ext cx="1083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Agenda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869760" y="1858680"/>
            <a:ext cx="3871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Qué es —y qué no es— una cohorte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869760" y="2259000"/>
            <a:ext cx="2723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Los cuatro componentes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869760" y="2658960"/>
            <a:ext cx="4154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Un ejemplo concreto, con sus ventanas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869760" y="3058920"/>
            <a:ext cx="3676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Criterios de inclusión con ventanas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CuadroTexto 37"/>
          <p:cNvSpPr txBox="1"/>
          <p:nvPr/>
        </p:nvSpPr>
        <p:spPr>
          <a:xfrm>
            <a:off x="869760" y="3458880"/>
            <a:ext cx="3871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5. Nuevo usuario vs. usuario prevalente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CuadroTexto 38"/>
          <p:cNvSpPr txBox="1"/>
          <p:nvPr/>
        </p:nvSpPr>
        <p:spPr>
          <a:xfrm>
            <a:off x="869760" y="3859200"/>
            <a:ext cx="2283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6. Estrategias de salida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CuadroTexto 39"/>
          <p:cNvSpPr txBox="1"/>
          <p:nvPr/>
        </p:nvSpPr>
        <p:spPr>
          <a:xfrm>
            <a:off x="869760" y="4259160"/>
            <a:ext cx="3794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7. Los errores que cambian resultados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869760" y="4659120"/>
            <a:ext cx="3308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8. Cómo se escribe en la práctica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CuadroTexto 41"/>
          <p:cNvSpPr txBox="1"/>
          <p:nvPr/>
        </p:nvSpPr>
        <p:spPr>
          <a:xfrm>
            <a:off x="905040" y="5268600"/>
            <a:ext cx="64490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Laboratorio: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deﬁnir e implementar una cohorte de nuevo usuario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CuadroTexto 4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CuadroTexto 4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CuadroTexto 44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orma libre 4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Forma libre 4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Forma libre 4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1673640" y="3063960"/>
            <a:ext cx="90324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1. Qué es —y qué no es— una cohorte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CuadroTexto 51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orma libre 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Forma libre 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Forma libre 5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Forma libre 55"/>
          <p:cNvSpPr/>
          <p:nvPr/>
        </p:nvSpPr>
        <p:spPr>
          <a:xfrm>
            <a:off x="671400" y="168084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4"/>
                  <a:pt x="30133" y="2196"/>
                </a:cubicBezTo>
                <a:cubicBezTo>
                  <a:pt x="30130" y="2209"/>
                  <a:pt x="30127" y="2222"/>
                  <a:pt x="30122" y="2234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6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6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4"/>
                </a:cubicBezTo>
                <a:cubicBezTo>
                  <a:pt x="10" y="2222"/>
                  <a:pt x="6" y="2209"/>
                  <a:pt x="4" y="2196"/>
                </a:cubicBezTo>
                <a:cubicBezTo>
                  <a:pt x="1" y="2184"/>
                  <a:pt x="0" y="2171"/>
                  <a:pt x="0" y="215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Forma libre 56"/>
          <p:cNvSpPr/>
          <p:nvPr/>
        </p:nvSpPr>
        <p:spPr>
          <a:xfrm>
            <a:off x="671400" y="168084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4"/>
                  <a:pt x="30133" y="2196"/>
                </a:cubicBezTo>
                <a:cubicBezTo>
                  <a:pt x="30130" y="2209"/>
                  <a:pt x="30127" y="2222"/>
                  <a:pt x="30122" y="2234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6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6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4"/>
                </a:cubicBezTo>
                <a:cubicBezTo>
                  <a:pt x="10" y="2222"/>
                  <a:pt x="6" y="2209"/>
                  <a:pt x="4" y="2196"/>
                </a:cubicBezTo>
                <a:cubicBezTo>
                  <a:pt x="1" y="2184"/>
                  <a:pt x="0" y="2171"/>
                  <a:pt x="0" y="215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Forma libre 57"/>
          <p:cNvSpPr/>
          <p:nvPr/>
        </p:nvSpPr>
        <p:spPr>
          <a:xfrm>
            <a:off x="671400" y="3528720"/>
            <a:ext cx="10849320" cy="581400"/>
          </a:xfrm>
          <a:custGeom>
            <a:avLst/>
            <a:gdLst/>
            <a:ahLst/>
            <a:cxnLst/>
            <a:rect l="0" t="0" r="r" b="b"/>
            <a:pathLst>
              <a:path w="30137" h="1615">
                <a:moveTo>
                  <a:pt x="0" y="1417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1417"/>
                </a:lnTo>
                <a:cubicBezTo>
                  <a:pt x="30137" y="1430"/>
                  <a:pt x="30136" y="1443"/>
                  <a:pt x="30133" y="1456"/>
                </a:cubicBezTo>
                <a:cubicBezTo>
                  <a:pt x="30130" y="1468"/>
                  <a:pt x="30127" y="1481"/>
                  <a:pt x="30122" y="1493"/>
                </a:cubicBezTo>
                <a:cubicBezTo>
                  <a:pt x="30117" y="1505"/>
                  <a:pt x="30111" y="1516"/>
                  <a:pt x="30103" y="1527"/>
                </a:cubicBezTo>
                <a:cubicBezTo>
                  <a:pt x="30096" y="1538"/>
                  <a:pt x="30088" y="1548"/>
                  <a:pt x="30079" y="1557"/>
                </a:cubicBezTo>
                <a:cubicBezTo>
                  <a:pt x="30070" y="1566"/>
                  <a:pt x="30059" y="1575"/>
                  <a:pt x="30049" y="1582"/>
                </a:cubicBezTo>
                <a:cubicBezTo>
                  <a:pt x="30038" y="1589"/>
                  <a:pt x="30026" y="1595"/>
                  <a:pt x="30014" y="1600"/>
                </a:cubicBezTo>
                <a:cubicBezTo>
                  <a:pt x="30002" y="1605"/>
                  <a:pt x="29990" y="1609"/>
                  <a:pt x="29977" y="1611"/>
                </a:cubicBezTo>
                <a:cubicBezTo>
                  <a:pt x="29964" y="1614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4"/>
                  <a:pt x="160" y="1611"/>
                </a:cubicBezTo>
                <a:cubicBezTo>
                  <a:pt x="147" y="1609"/>
                  <a:pt x="134" y="1605"/>
                  <a:pt x="122" y="1600"/>
                </a:cubicBezTo>
                <a:cubicBezTo>
                  <a:pt x="110" y="1595"/>
                  <a:pt x="99" y="1589"/>
                  <a:pt x="88" y="1582"/>
                </a:cubicBezTo>
                <a:cubicBezTo>
                  <a:pt x="77" y="1575"/>
                  <a:pt x="67" y="1566"/>
                  <a:pt x="58" y="1557"/>
                </a:cubicBezTo>
                <a:cubicBezTo>
                  <a:pt x="49" y="1548"/>
                  <a:pt x="40" y="1538"/>
                  <a:pt x="33" y="1527"/>
                </a:cubicBezTo>
                <a:cubicBezTo>
                  <a:pt x="26" y="1516"/>
                  <a:pt x="20" y="1505"/>
                  <a:pt x="15" y="1493"/>
                </a:cubicBezTo>
                <a:cubicBezTo>
                  <a:pt x="10" y="1481"/>
                  <a:pt x="6" y="1468"/>
                  <a:pt x="4" y="1456"/>
                </a:cubicBezTo>
                <a:cubicBezTo>
                  <a:pt x="1" y="1443"/>
                  <a:pt x="0" y="1430"/>
                  <a:pt x="0" y="141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Forma libre 58"/>
          <p:cNvSpPr/>
          <p:nvPr/>
        </p:nvSpPr>
        <p:spPr>
          <a:xfrm>
            <a:off x="671400" y="3528720"/>
            <a:ext cx="10849320" cy="581400"/>
          </a:xfrm>
          <a:custGeom>
            <a:avLst/>
            <a:gdLst/>
            <a:ahLst/>
            <a:cxnLst/>
            <a:rect l="0" t="0" r="r" b="b"/>
            <a:pathLst>
              <a:path w="30137" h="1615">
                <a:moveTo>
                  <a:pt x="0" y="1417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1417"/>
                </a:lnTo>
                <a:cubicBezTo>
                  <a:pt x="30137" y="1430"/>
                  <a:pt x="30136" y="1443"/>
                  <a:pt x="30133" y="1456"/>
                </a:cubicBezTo>
                <a:cubicBezTo>
                  <a:pt x="30130" y="1468"/>
                  <a:pt x="30127" y="1481"/>
                  <a:pt x="30122" y="1493"/>
                </a:cubicBezTo>
                <a:cubicBezTo>
                  <a:pt x="30117" y="1505"/>
                  <a:pt x="30111" y="1516"/>
                  <a:pt x="30103" y="1527"/>
                </a:cubicBezTo>
                <a:cubicBezTo>
                  <a:pt x="30096" y="1538"/>
                  <a:pt x="30088" y="1548"/>
                  <a:pt x="30079" y="1557"/>
                </a:cubicBezTo>
                <a:cubicBezTo>
                  <a:pt x="30070" y="1566"/>
                  <a:pt x="30059" y="1575"/>
                  <a:pt x="30049" y="1582"/>
                </a:cubicBezTo>
                <a:cubicBezTo>
                  <a:pt x="30038" y="1589"/>
                  <a:pt x="30026" y="1595"/>
                  <a:pt x="30014" y="1600"/>
                </a:cubicBezTo>
                <a:cubicBezTo>
                  <a:pt x="30002" y="1605"/>
                  <a:pt x="29990" y="1609"/>
                  <a:pt x="29977" y="1611"/>
                </a:cubicBezTo>
                <a:cubicBezTo>
                  <a:pt x="29964" y="1614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4"/>
                  <a:pt x="160" y="1611"/>
                </a:cubicBezTo>
                <a:cubicBezTo>
                  <a:pt x="147" y="1609"/>
                  <a:pt x="134" y="1605"/>
                  <a:pt x="122" y="1600"/>
                </a:cubicBezTo>
                <a:cubicBezTo>
                  <a:pt x="110" y="1595"/>
                  <a:pt x="99" y="1589"/>
                  <a:pt x="88" y="1582"/>
                </a:cubicBezTo>
                <a:cubicBezTo>
                  <a:pt x="77" y="1575"/>
                  <a:pt x="67" y="1566"/>
                  <a:pt x="58" y="1557"/>
                </a:cubicBezTo>
                <a:cubicBezTo>
                  <a:pt x="49" y="1548"/>
                  <a:pt x="40" y="1538"/>
                  <a:pt x="33" y="1527"/>
                </a:cubicBezTo>
                <a:cubicBezTo>
                  <a:pt x="26" y="1516"/>
                  <a:pt x="20" y="1505"/>
                  <a:pt x="15" y="1493"/>
                </a:cubicBezTo>
                <a:cubicBezTo>
                  <a:pt x="10" y="1481"/>
                  <a:pt x="6" y="1468"/>
                  <a:pt x="4" y="1456"/>
                </a:cubicBezTo>
                <a:cubicBezTo>
                  <a:pt x="1" y="1443"/>
                  <a:pt x="0" y="1430"/>
                  <a:pt x="0" y="141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Forma libre 59"/>
          <p:cNvSpPr/>
          <p:nvPr/>
        </p:nvSpPr>
        <p:spPr>
          <a:xfrm>
            <a:off x="690480" y="4762440"/>
            <a:ext cx="10834920" cy="1067040"/>
          </a:xfrm>
          <a:custGeom>
            <a:avLst/>
            <a:gdLst/>
            <a:ahLst/>
            <a:cxnLst/>
            <a:rect l="0" t="0" r="r" b="b"/>
            <a:pathLst>
              <a:path w="30097" h="2964">
                <a:moveTo>
                  <a:pt x="0" y="2964"/>
                </a:moveTo>
                <a:lnTo>
                  <a:pt x="0" y="0"/>
                </a:lnTo>
                <a:lnTo>
                  <a:pt x="29938" y="0"/>
                </a:lnTo>
                <a:cubicBezTo>
                  <a:pt x="29949" y="0"/>
                  <a:pt x="29959" y="1"/>
                  <a:pt x="29969" y="3"/>
                </a:cubicBezTo>
                <a:cubicBezTo>
                  <a:pt x="29980" y="5"/>
                  <a:pt x="29989" y="8"/>
                  <a:pt x="29999" y="12"/>
                </a:cubicBezTo>
                <a:cubicBezTo>
                  <a:pt x="30009" y="16"/>
                  <a:pt x="30018" y="21"/>
                  <a:pt x="30027" y="26"/>
                </a:cubicBezTo>
                <a:cubicBezTo>
                  <a:pt x="30035" y="32"/>
                  <a:pt x="30043" y="39"/>
                  <a:pt x="30051" y="46"/>
                </a:cubicBezTo>
                <a:cubicBezTo>
                  <a:pt x="30058" y="54"/>
                  <a:pt x="30065" y="62"/>
                  <a:pt x="30070" y="70"/>
                </a:cubicBezTo>
                <a:cubicBezTo>
                  <a:pt x="30076" y="79"/>
                  <a:pt x="30081" y="88"/>
                  <a:pt x="30085" y="98"/>
                </a:cubicBezTo>
                <a:cubicBezTo>
                  <a:pt x="30089" y="108"/>
                  <a:pt x="30092" y="118"/>
                  <a:pt x="30094" y="128"/>
                </a:cubicBezTo>
                <a:cubicBezTo>
                  <a:pt x="30096" y="139"/>
                  <a:pt x="30097" y="149"/>
                  <a:pt x="30097" y="159"/>
                </a:cubicBezTo>
                <a:lnTo>
                  <a:pt x="30097" y="2805"/>
                </a:lnTo>
                <a:cubicBezTo>
                  <a:pt x="30097" y="2816"/>
                  <a:pt x="30096" y="2826"/>
                  <a:pt x="30094" y="2836"/>
                </a:cubicBezTo>
                <a:cubicBezTo>
                  <a:pt x="30092" y="2846"/>
                  <a:pt x="30089" y="2856"/>
                  <a:pt x="30085" y="2866"/>
                </a:cubicBezTo>
                <a:cubicBezTo>
                  <a:pt x="30081" y="2876"/>
                  <a:pt x="30076" y="2885"/>
                  <a:pt x="30070" y="2893"/>
                </a:cubicBezTo>
                <a:cubicBezTo>
                  <a:pt x="30065" y="2902"/>
                  <a:pt x="30058" y="2910"/>
                  <a:pt x="30051" y="2918"/>
                </a:cubicBezTo>
                <a:cubicBezTo>
                  <a:pt x="30043" y="2925"/>
                  <a:pt x="30035" y="2931"/>
                  <a:pt x="30027" y="2937"/>
                </a:cubicBezTo>
                <a:cubicBezTo>
                  <a:pt x="30018" y="2943"/>
                  <a:pt x="30009" y="2948"/>
                  <a:pt x="29999" y="2952"/>
                </a:cubicBezTo>
                <a:cubicBezTo>
                  <a:pt x="29989" y="2956"/>
                  <a:pt x="29980" y="2959"/>
                  <a:pt x="29969" y="2961"/>
                </a:cubicBezTo>
                <a:cubicBezTo>
                  <a:pt x="29959" y="2963"/>
                  <a:pt x="29949" y="2964"/>
                  <a:pt x="29938" y="2964"/>
                </a:cubicBezTo>
                <a:lnTo>
                  <a:pt x="0" y="2964"/>
                </a:lnTo>
                <a:close/>
              </a:path>
            </a:pathLst>
          </a:custGeom>
          <a:solidFill>
            <a:srgbClr val="FFF6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Forma libre 60"/>
          <p:cNvSpPr/>
          <p:nvPr/>
        </p:nvSpPr>
        <p:spPr>
          <a:xfrm>
            <a:off x="666720" y="4762440"/>
            <a:ext cx="47880" cy="1067040"/>
          </a:xfrm>
          <a:custGeom>
            <a:avLst/>
            <a:gdLst/>
            <a:ahLst/>
            <a:cxnLst/>
            <a:rect l="0" t="0" r="r" b="b"/>
            <a:pathLst>
              <a:path w="133" h="2964">
                <a:moveTo>
                  <a:pt x="0" y="0"/>
                </a:moveTo>
                <a:lnTo>
                  <a:pt x="133" y="0"/>
                </a:lnTo>
                <a:lnTo>
                  <a:pt x="133" y="2964"/>
                </a:lnTo>
                <a:lnTo>
                  <a:pt x="0" y="2964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CuadroTexto 61"/>
          <p:cNvSpPr txBox="1"/>
          <p:nvPr/>
        </p:nvSpPr>
        <p:spPr>
          <a:xfrm>
            <a:off x="666720" y="1044360"/>
            <a:ext cx="8394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Una consulta devuelve pacientes. Una cohorte tiene tiempo.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CuadroTexto 62"/>
          <p:cNvSpPr txBox="1"/>
          <p:nvPr/>
        </p:nvSpPr>
        <p:spPr>
          <a:xfrm>
            <a:off x="866880" y="1860840"/>
            <a:ext cx="2839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Esto NO es una cohorte: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CuadroTexto 63"/>
          <p:cNvSpPr txBox="1"/>
          <p:nvPr/>
        </p:nvSpPr>
        <p:spPr>
          <a:xfrm>
            <a:off x="866880" y="2127600"/>
            <a:ext cx="6660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DISTINCT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person_id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condition_occurrence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WHERE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...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CuadroTexto 64"/>
          <p:cNvSpPr txBox="1"/>
          <p:nvPr/>
        </p:nvSpPr>
        <p:spPr>
          <a:xfrm>
            <a:off x="666720" y="2725560"/>
            <a:ext cx="107632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cohorte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 un conjunto de personas que cumplen uno o más criterios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durante un periodo de tiempo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CuadroTexto 65"/>
          <p:cNvSpPr txBox="1"/>
          <p:nvPr/>
        </p:nvSpPr>
        <p:spPr>
          <a:xfrm>
            <a:off x="666720" y="3068640"/>
            <a:ext cx="3087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Cada miembro trae sus fechas: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CuadroTexto 66"/>
          <p:cNvSpPr txBox="1"/>
          <p:nvPr/>
        </p:nvSpPr>
        <p:spPr>
          <a:xfrm>
            <a:off x="866880" y="3708720"/>
            <a:ext cx="77529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cohort_definition_id | subject_id | cohort_start_date | cohort_end_date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CuadroTexto 67"/>
          <p:cNvSpPr txBox="1"/>
          <p:nvPr/>
        </p:nvSpPr>
        <p:spPr>
          <a:xfrm>
            <a:off x="666720" y="4306680"/>
            <a:ext cx="10637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Esas cuatro columnas son el estándar de OHDSI. Si tu resultado no las tiene, todavía no tienes una cohorte.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Forma libre 68"/>
          <p:cNvSpPr/>
          <p:nvPr/>
        </p:nvSpPr>
        <p:spPr>
          <a:xfrm>
            <a:off x="1257120" y="4933800"/>
            <a:ext cx="2105280" cy="267120"/>
          </a:xfrm>
          <a:custGeom>
            <a:avLst/>
            <a:gdLst/>
            <a:ahLst/>
            <a:cxnLst/>
            <a:rect l="0" t="0" r="r" b="b"/>
            <a:pathLst>
              <a:path w="5848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742" y="0"/>
                </a:lnTo>
                <a:cubicBezTo>
                  <a:pt x="5756" y="0"/>
                  <a:pt x="5770" y="3"/>
                  <a:pt x="5783" y="8"/>
                </a:cubicBezTo>
                <a:cubicBezTo>
                  <a:pt x="5796" y="13"/>
                  <a:pt x="5807" y="21"/>
                  <a:pt x="5817" y="31"/>
                </a:cubicBezTo>
                <a:cubicBezTo>
                  <a:pt x="5827" y="41"/>
                  <a:pt x="5835" y="52"/>
                  <a:pt x="5840" y="65"/>
                </a:cubicBezTo>
                <a:cubicBezTo>
                  <a:pt x="5846" y="78"/>
                  <a:pt x="5848" y="92"/>
                  <a:pt x="5848" y="106"/>
                </a:cubicBezTo>
                <a:lnTo>
                  <a:pt x="5848" y="635"/>
                </a:lnTo>
                <a:cubicBezTo>
                  <a:pt x="5848" y="649"/>
                  <a:pt x="5846" y="662"/>
                  <a:pt x="5840" y="675"/>
                </a:cubicBezTo>
                <a:cubicBezTo>
                  <a:pt x="5835" y="688"/>
                  <a:pt x="5827" y="700"/>
                  <a:pt x="5817" y="710"/>
                </a:cubicBezTo>
                <a:cubicBezTo>
                  <a:pt x="5807" y="720"/>
                  <a:pt x="5796" y="728"/>
                  <a:pt x="5783" y="734"/>
                </a:cubicBezTo>
                <a:cubicBezTo>
                  <a:pt x="5770" y="739"/>
                  <a:pt x="5756" y="742"/>
                  <a:pt x="5742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0"/>
                  <a:pt x="13" y="688"/>
                  <a:pt x="8" y="675"/>
                </a:cubicBezTo>
                <a:cubicBezTo>
                  <a:pt x="3" y="662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CuadroTexto 69"/>
          <p:cNvSpPr txBox="1"/>
          <p:nvPr/>
        </p:nvSpPr>
        <p:spPr>
          <a:xfrm>
            <a:off x="885960" y="4916520"/>
            <a:ext cx="373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Sin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CuadroTexto 70"/>
          <p:cNvSpPr txBox="1"/>
          <p:nvPr/>
        </p:nvSpPr>
        <p:spPr>
          <a:xfrm>
            <a:off x="1315800" y="4953600"/>
            <a:ext cx="19972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cohort_start_date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CuadroTexto 71"/>
          <p:cNvSpPr txBox="1"/>
          <p:nvPr/>
        </p:nvSpPr>
        <p:spPr>
          <a:xfrm>
            <a:off x="3361680" y="4916520"/>
            <a:ext cx="7525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no puedes calcular incidencia, ni tiempo de seguimiento, ni ajustar por nada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CuadroTexto 72"/>
          <p:cNvSpPr txBox="1"/>
          <p:nvPr/>
        </p:nvSpPr>
        <p:spPr>
          <a:xfrm>
            <a:off x="885960" y="5259240"/>
            <a:ext cx="3159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temporal. La fecha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el diseño.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CuadroTexto 7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CuadroTexto 7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CuadroTexto 75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orma libre 7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Forma libre 7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Forma libre 7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CuadroTexto 79"/>
          <p:cNvSpPr txBox="1"/>
          <p:nvPr/>
        </p:nvSpPr>
        <p:spPr>
          <a:xfrm>
            <a:off x="2990880" y="3063960"/>
            <a:ext cx="63540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2. Los cuatro componentes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CuadroTexto 8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CuadroTexto 8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CuadroTexto 82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Forma libre 8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Forma libre 8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Forma libre 8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Forma libre 86"/>
          <p:cNvSpPr/>
          <p:nvPr/>
        </p:nvSpPr>
        <p:spPr>
          <a:xfrm>
            <a:off x="676080" y="2600280"/>
            <a:ext cx="2181600" cy="409680"/>
          </a:xfrm>
          <a:custGeom>
            <a:avLst/>
            <a:gdLst/>
            <a:ahLst/>
            <a:cxnLst/>
            <a:rect l="0" t="0" r="r" b="b"/>
            <a:pathLst>
              <a:path w="6060" h="1138">
                <a:moveTo>
                  <a:pt x="0" y="0"/>
                </a:moveTo>
                <a:lnTo>
                  <a:pt x="6060" y="0"/>
                </a:lnTo>
                <a:lnTo>
                  <a:pt x="606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Forma libre 87"/>
          <p:cNvSpPr/>
          <p:nvPr/>
        </p:nvSpPr>
        <p:spPr>
          <a:xfrm>
            <a:off x="2857320" y="2600280"/>
            <a:ext cx="4019760" cy="409680"/>
          </a:xfrm>
          <a:custGeom>
            <a:avLst/>
            <a:gdLst/>
            <a:ahLst/>
            <a:cxnLst/>
            <a:rect l="0" t="0" r="r" b="b"/>
            <a:pathLst>
              <a:path w="11166" h="1138">
                <a:moveTo>
                  <a:pt x="0" y="0"/>
                </a:moveTo>
                <a:lnTo>
                  <a:pt x="11166" y="0"/>
                </a:lnTo>
                <a:lnTo>
                  <a:pt x="1116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Forma libre 88"/>
          <p:cNvSpPr/>
          <p:nvPr/>
        </p:nvSpPr>
        <p:spPr>
          <a:xfrm>
            <a:off x="676080" y="2600280"/>
            <a:ext cx="2181600" cy="409680"/>
          </a:xfrm>
          <a:custGeom>
            <a:avLst/>
            <a:gdLst/>
            <a:ahLst/>
            <a:cxnLst/>
            <a:rect l="0" t="0" r="r" b="b"/>
            <a:pathLst>
              <a:path w="6060" h="1138">
                <a:moveTo>
                  <a:pt x="0" y="0"/>
                </a:moveTo>
                <a:lnTo>
                  <a:pt x="6060" y="0"/>
                </a:lnTo>
                <a:lnTo>
                  <a:pt x="606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Forma libre 89"/>
          <p:cNvSpPr/>
          <p:nvPr/>
        </p:nvSpPr>
        <p:spPr>
          <a:xfrm>
            <a:off x="2857320" y="2600280"/>
            <a:ext cx="4019760" cy="409680"/>
          </a:xfrm>
          <a:custGeom>
            <a:avLst/>
            <a:gdLst/>
            <a:ahLst/>
            <a:cxnLst/>
            <a:rect l="0" t="0" r="r" b="b"/>
            <a:pathLst>
              <a:path w="11166" h="1138">
                <a:moveTo>
                  <a:pt x="0" y="0"/>
                </a:moveTo>
                <a:lnTo>
                  <a:pt x="11166" y="0"/>
                </a:lnTo>
                <a:lnTo>
                  <a:pt x="1116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Forma libre 90"/>
          <p:cNvSpPr/>
          <p:nvPr/>
        </p:nvSpPr>
        <p:spPr>
          <a:xfrm>
            <a:off x="676080" y="3009600"/>
            <a:ext cx="2181600" cy="419400"/>
          </a:xfrm>
          <a:custGeom>
            <a:avLst/>
            <a:gdLst/>
            <a:ahLst/>
            <a:cxnLst/>
            <a:rect l="0" t="0" r="r" b="b"/>
            <a:pathLst>
              <a:path w="6060" h="1165">
                <a:moveTo>
                  <a:pt x="0" y="0"/>
                </a:moveTo>
                <a:lnTo>
                  <a:pt x="6060" y="0"/>
                </a:lnTo>
                <a:lnTo>
                  <a:pt x="606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Forma libre 91"/>
          <p:cNvSpPr/>
          <p:nvPr/>
        </p:nvSpPr>
        <p:spPr>
          <a:xfrm>
            <a:off x="2857320" y="3009600"/>
            <a:ext cx="4019760" cy="419400"/>
          </a:xfrm>
          <a:custGeom>
            <a:avLst/>
            <a:gdLst/>
            <a:ahLst/>
            <a:cxnLst/>
            <a:rect l="0" t="0" r="r" b="b"/>
            <a:pathLst>
              <a:path w="11166" h="1165">
                <a:moveTo>
                  <a:pt x="0" y="0"/>
                </a:moveTo>
                <a:lnTo>
                  <a:pt x="11166" y="0"/>
                </a:lnTo>
                <a:lnTo>
                  <a:pt x="1116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Forma libre 92"/>
          <p:cNvSpPr/>
          <p:nvPr/>
        </p:nvSpPr>
        <p:spPr>
          <a:xfrm>
            <a:off x="676080" y="3428640"/>
            <a:ext cx="2181600" cy="419760"/>
          </a:xfrm>
          <a:custGeom>
            <a:avLst/>
            <a:gdLst/>
            <a:ahLst/>
            <a:cxnLst/>
            <a:rect l="0" t="0" r="r" b="b"/>
            <a:pathLst>
              <a:path w="6060" h="1166">
                <a:moveTo>
                  <a:pt x="0" y="0"/>
                </a:moveTo>
                <a:lnTo>
                  <a:pt x="6060" y="0"/>
                </a:lnTo>
                <a:lnTo>
                  <a:pt x="6060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Forma libre 93"/>
          <p:cNvSpPr/>
          <p:nvPr/>
        </p:nvSpPr>
        <p:spPr>
          <a:xfrm>
            <a:off x="2857320" y="3428640"/>
            <a:ext cx="4019760" cy="419760"/>
          </a:xfrm>
          <a:custGeom>
            <a:avLst/>
            <a:gdLst/>
            <a:ahLst/>
            <a:cxnLst/>
            <a:rect l="0" t="0" r="r" b="b"/>
            <a:pathLst>
              <a:path w="11166" h="1166">
                <a:moveTo>
                  <a:pt x="0" y="0"/>
                </a:moveTo>
                <a:lnTo>
                  <a:pt x="11166" y="0"/>
                </a:lnTo>
                <a:lnTo>
                  <a:pt x="11166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Forma libre 94"/>
          <p:cNvSpPr/>
          <p:nvPr/>
        </p:nvSpPr>
        <p:spPr>
          <a:xfrm>
            <a:off x="676080" y="3848040"/>
            <a:ext cx="2181600" cy="419400"/>
          </a:xfrm>
          <a:custGeom>
            <a:avLst/>
            <a:gdLst/>
            <a:ahLst/>
            <a:cxnLst/>
            <a:rect l="0" t="0" r="r" b="b"/>
            <a:pathLst>
              <a:path w="6060" h="1165">
                <a:moveTo>
                  <a:pt x="0" y="0"/>
                </a:moveTo>
                <a:lnTo>
                  <a:pt x="6060" y="0"/>
                </a:lnTo>
                <a:lnTo>
                  <a:pt x="606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Forma libre 95"/>
          <p:cNvSpPr/>
          <p:nvPr/>
        </p:nvSpPr>
        <p:spPr>
          <a:xfrm>
            <a:off x="2857320" y="3848040"/>
            <a:ext cx="4019760" cy="419400"/>
          </a:xfrm>
          <a:custGeom>
            <a:avLst/>
            <a:gdLst/>
            <a:ahLst/>
            <a:cxnLst/>
            <a:rect l="0" t="0" r="r" b="b"/>
            <a:pathLst>
              <a:path w="11166" h="1165">
                <a:moveTo>
                  <a:pt x="0" y="0"/>
                </a:moveTo>
                <a:lnTo>
                  <a:pt x="11166" y="0"/>
                </a:lnTo>
                <a:lnTo>
                  <a:pt x="1116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Forma libre 96"/>
          <p:cNvSpPr/>
          <p:nvPr/>
        </p:nvSpPr>
        <p:spPr>
          <a:xfrm>
            <a:off x="676080" y="4267080"/>
            <a:ext cx="2181600" cy="419400"/>
          </a:xfrm>
          <a:custGeom>
            <a:avLst/>
            <a:gdLst/>
            <a:ahLst/>
            <a:cxnLst/>
            <a:rect l="0" t="0" r="r" b="b"/>
            <a:pathLst>
              <a:path w="6060" h="1165">
                <a:moveTo>
                  <a:pt x="0" y="0"/>
                </a:moveTo>
                <a:lnTo>
                  <a:pt x="6060" y="0"/>
                </a:lnTo>
                <a:lnTo>
                  <a:pt x="606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Forma libre 97"/>
          <p:cNvSpPr/>
          <p:nvPr/>
        </p:nvSpPr>
        <p:spPr>
          <a:xfrm>
            <a:off x="2857320" y="4267080"/>
            <a:ext cx="4019760" cy="419400"/>
          </a:xfrm>
          <a:custGeom>
            <a:avLst/>
            <a:gdLst/>
            <a:ahLst/>
            <a:cxnLst/>
            <a:rect l="0" t="0" r="r" b="b"/>
            <a:pathLst>
              <a:path w="11166" h="1165">
                <a:moveTo>
                  <a:pt x="0" y="0"/>
                </a:moveTo>
                <a:lnTo>
                  <a:pt x="11166" y="0"/>
                </a:lnTo>
                <a:lnTo>
                  <a:pt x="1116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Forma libre 98"/>
          <p:cNvSpPr/>
          <p:nvPr/>
        </p:nvSpPr>
        <p:spPr>
          <a:xfrm>
            <a:off x="666720" y="2590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Forma libre 99"/>
          <p:cNvSpPr/>
          <p:nvPr/>
        </p:nvSpPr>
        <p:spPr>
          <a:xfrm>
            <a:off x="666720" y="2590560"/>
            <a:ext cx="2200320" cy="10080"/>
          </a:xfrm>
          <a:custGeom>
            <a:avLst/>
            <a:gdLst/>
            <a:ahLst/>
            <a:cxnLst/>
            <a:rect l="0" t="0" r="r" b="b"/>
            <a:pathLst>
              <a:path w="6112" h="28">
                <a:moveTo>
                  <a:pt x="0" y="0"/>
                </a:moveTo>
                <a:lnTo>
                  <a:pt x="6112" y="0"/>
                </a:lnTo>
                <a:lnTo>
                  <a:pt x="61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Forma libre 100"/>
          <p:cNvSpPr/>
          <p:nvPr/>
        </p:nvSpPr>
        <p:spPr>
          <a:xfrm>
            <a:off x="2857320" y="2590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Forma libre 101"/>
          <p:cNvSpPr/>
          <p:nvPr/>
        </p:nvSpPr>
        <p:spPr>
          <a:xfrm>
            <a:off x="2866680" y="2590560"/>
            <a:ext cx="4010400" cy="10080"/>
          </a:xfrm>
          <a:custGeom>
            <a:avLst/>
            <a:gdLst/>
            <a:ahLst/>
            <a:cxnLst/>
            <a:rect l="0" t="0" r="r" b="b"/>
            <a:pathLst>
              <a:path w="11140" h="28">
                <a:moveTo>
                  <a:pt x="0" y="0"/>
                </a:moveTo>
                <a:lnTo>
                  <a:pt x="11140" y="0"/>
                </a:lnTo>
                <a:lnTo>
                  <a:pt x="111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Forma libre 102"/>
          <p:cNvSpPr/>
          <p:nvPr/>
        </p:nvSpPr>
        <p:spPr>
          <a:xfrm>
            <a:off x="6867360" y="2590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Forma libre 103"/>
          <p:cNvSpPr/>
          <p:nvPr/>
        </p:nvSpPr>
        <p:spPr>
          <a:xfrm>
            <a:off x="666720" y="3000240"/>
            <a:ext cx="2200320" cy="9720"/>
          </a:xfrm>
          <a:custGeom>
            <a:avLst/>
            <a:gdLst/>
            <a:ahLst/>
            <a:cxnLst/>
            <a:rect l="0" t="0" r="r" b="b"/>
            <a:pathLst>
              <a:path w="6112" h="27">
                <a:moveTo>
                  <a:pt x="0" y="0"/>
                </a:moveTo>
                <a:lnTo>
                  <a:pt x="6112" y="0"/>
                </a:lnTo>
                <a:lnTo>
                  <a:pt x="61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Forma libre 104"/>
          <p:cNvSpPr/>
          <p:nvPr/>
        </p:nvSpPr>
        <p:spPr>
          <a:xfrm>
            <a:off x="2866680" y="3000240"/>
            <a:ext cx="4010400" cy="9720"/>
          </a:xfrm>
          <a:custGeom>
            <a:avLst/>
            <a:gdLst/>
            <a:ahLst/>
            <a:cxnLst/>
            <a:rect l="0" t="0" r="r" b="b"/>
            <a:pathLst>
              <a:path w="11140" h="27">
                <a:moveTo>
                  <a:pt x="0" y="0"/>
                </a:moveTo>
                <a:lnTo>
                  <a:pt x="11140" y="0"/>
                </a:lnTo>
                <a:lnTo>
                  <a:pt x="111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Forma libre 105"/>
          <p:cNvSpPr/>
          <p:nvPr/>
        </p:nvSpPr>
        <p:spPr>
          <a:xfrm>
            <a:off x="666720" y="3009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Forma libre 106"/>
          <p:cNvSpPr/>
          <p:nvPr/>
        </p:nvSpPr>
        <p:spPr>
          <a:xfrm>
            <a:off x="2857320" y="3009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Forma libre 107"/>
          <p:cNvSpPr/>
          <p:nvPr/>
        </p:nvSpPr>
        <p:spPr>
          <a:xfrm>
            <a:off x="6867360" y="3009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Forma libre 108"/>
          <p:cNvSpPr/>
          <p:nvPr/>
        </p:nvSpPr>
        <p:spPr>
          <a:xfrm>
            <a:off x="666720" y="342864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Forma libre 109"/>
          <p:cNvSpPr/>
          <p:nvPr/>
        </p:nvSpPr>
        <p:spPr>
          <a:xfrm>
            <a:off x="666720" y="3419280"/>
            <a:ext cx="2200320" cy="9720"/>
          </a:xfrm>
          <a:custGeom>
            <a:avLst/>
            <a:gdLst/>
            <a:ahLst/>
            <a:cxnLst/>
            <a:rect l="0" t="0" r="r" b="b"/>
            <a:pathLst>
              <a:path w="6112" h="27">
                <a:moveTo>
                  <a:pt x="0" y="0"/>
                </a:moveTo>
                <a:lnTo>
                  <a:pt x="6112" y="0"/>
                </a:lnTo>
                <a:lnTo>
                  <a:pt x="61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Forma libre 110"/>
          <p:cNvSpPr/>
          <p:nvPr/>
        </p:nvSpPr>
        <p:spPr>
          <a:xfrm>
            <a:off x="2857320" y="342864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Forma libre 111"/>
          <p:cNvSpPr/>
          <p:nvPr/>
        </p:nvSpPr>
        <p:spPr>
          <a:xfrm>
            <a:off x="2866680" y="3419280"/>
            <a:ext cx="4010400" cy="9720"/>
          </a:xfrm>
          <a:custGeom>
            <a:avLst/>
            <a:gdLst/>
            <a:ahLst/>
            <a:cxnLst/>
            <a:rect l="0" t="0" r="r" b="b"/>
            <a:pathLst>
              <a:path w="11140" h="27">
                <a:moveTo>
                  <a:pt x="0" y="0"/>
                </a:moveTo>
                <a:lnTo>
                  <a:pt x="11140" y="0"/>
                </a:lnTo>
                <a:lnTo>
                  <a:pt x="111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Forma libre 112"/>
          <p:cNvSpPr/>
          <p:nvPr/>
        </p:nvSpPr>
        <p:spPr>
          <a:xfrm>
            <a:off x="6867360" y="342864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Forma libre 113"/>
          <p:cNvSpPr/>
          <p:nvPr/>
        </p:nvSpPr>
        <p:spPr>
          <a:xfrm>
            <a:off x="666720" y="3848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Forma libre 114"/>
          <p:cNvSpPr/>
          <p:nvPr/>
        </p:nvSpPr>
        <p:spPr>
          <a:xfrm>
            <a:off x="666720" y="3838320"/>
            <a:ext cx="2200320" cy="10080"/>
          </a:xfrm>
          <a:custGeom>
            <a:avLst/>
            <a:gdLst/>
            <a:ahLst/>
            <a:cxnLst/>
            <a:rect l="0" t="0" r="r" b="b"/>
            <a:pathLst>
              <a:path w="6112" h="28">
                <a:moveTo>
                  <a:pt x="0" y="0"/>
                </a:moveTo>
                <a:lnTo>
                  <a:pt x="6112" y="0"/>
                </a:lnTo>
                <a:lnTo>
                  <a:pt x="61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Forma libre 115"/>
          <p:cNvSpPr/>
          <p:nvPr/>
        </p:nvSpPr>
        <p:spPr>
          <a:xfrm>
            <a:off x="2857320" y="3848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Forma libre 116"/>
          <p:cNvSpPr/>
          <p:nvPr/>
        </p:nvSpPr>
        <p:spPr>
          <a:xfrm>
            <a:off x="2866680" y="3838320"/>
            <a:ext cx="4010400" cy="10080"/>
          </a:xfrm>
          <a:custGeom>
            <a:avLst/>
            <a:gdLst/>
            <a:ahLst/>
            <a:cxnLst/>
            <a:rect l="0" t="0" r="r" b="b"/>
            <a:pathLst>
              <a:path w="11140" h="28">
                <a:moveTo>
                  <a:pt x="0" y="0"/>
                </a:moveTo>
                <a:lnTo>
                  <a:pt x="11140" y="0"/>
                </a:lnTo>
                <a:lnTo>
                  <a:pt x="111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Forma libre 117"/>
          <p:cNvSpPr/>
          <p:nvPr/>
        </p:nvSpPr>
        <p:spPr>
          <a:xfrm>
            <a:off x="6867360" y="3848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Forma libre 118"/>
          <p:cNvSpPr/>
          <p:nvPr/>
        </p:nvSpPr>
        <p:spPr>
          <a:xfrm>
            <a:off x="666720" y="4267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Forma libre 119"/>
          <p:cNvSpPr/>
          <p:nvPr/>
        </p:nvSpPr>
        <p:spPr>
          <a:xfrm>
            <a:off x="666720" y="4257360"/>
            <a:ext cx="2200320" cy="10080"/>
          </a:xfrm>
          <a:custGeom>
            <a:avLst/>
            <a:gdLst/>
            <a:ahLst/>
            <a:cxnLst/>
            <a:rect l="0" t="0" r="r" b="b"/>
            <a:pathLst>
              <a:path w="6112" h="28">
                <a:moveTo>
                  <a:pt x="0" y="0"/>
                </a:moveTo>
                <a:lnTo>
                  <a:pt x="6112" y="0"/>
                </a:lnTo>
                <a:lnTo>
                  <a:pt x="61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Forma libre 120"/>
          <p:cNvSpPr/>
          <p:nvPr/>
        </p:nvSpPr>
        <p:spPr>
          <a:xfrm>
            <a:off x="2857320" y="4267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Forma libre 121"/>
          <p:cNvSpPr/>
          <p:nvPr/>
        </p:nvSpPr>
        <p:spPr>
          <a:xfrm>
            <a:off x="2866680" y="4257360"/>
            <a:ext cx="4010400" cy="10080"/>
          </a:xfrm>
          <a:custGeom>
            <a:avLst/>
            <a:gdLst/>
            <a:ahLst/>
            <a:cxnLst/>
            <a:rect l="0" t="0" r="r" b="b"/>
            <a:pathLst>
              <a:path w="11140" h="28">
                <a:moveTo>
                  <a:pt x="0" y="0"/>
                </a:moveTo>
                <a:lnTo>
                  <a:pt x="11140" y="0"/>
                </a:lnTo>
                <a:lnTo>
                  <a:pt x="111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Forma libre 122"/>
          <p:cNvSpPr/>
          <p:nvPr/>
        </p:nvSpPr>
        <p:spPr>
          <a:xfrm>
            <a:off x="6867360" y="4267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Forma libre 123"/>
          <p:cNvSpPr/>
          <p:nvPr/>
        </p:nvSpPr>
        <p:spPr>
          <a:xfrm>
            <a:off x="666720" y="4676760"/>
            <a:ext cx="2200320" cy="9720"/>
          </a:xfrm>
          <a:custGeom>
            <a:avLst/>
            <a:gdLst/>
            <a:ahLst/>
            <a:cxnLst/>
            <a:rect l="0" t="0" r="r" b="b"/>
            <a:pathLst>
              <a:path w="6112" h="27">
                <a:moveTo>
                  <a:pt x="0" y="0"/>
                </a:moveTo>
                <a:lnTo>
                  <a:pt x="6112" y="0"/>
                </a:lnTo>
                <a:lnTo>
                  <a:pt x="61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Forma libre 124"/>
          <p:cNvSpPr/>
          <p:nvPr/>
        </p:nvSpPr>
        <p:spPr>
          <a:xfrm>
            <a:off x="2866680" y="4676760"/>
            <a:ext cx="4010400" cy="9720"/>
          </a:xfrm>
          <a:custGeom>
            <a:avLst/>
            <a:gdLst/>
            <a:ahLst/>
            <a:cxnLst/>
            <a:rect l="0" t="0" r="r" b="b"/>
            <a:pathLst>
              <a:path w="11140" h="27">
                <a:moveTo>
                  <a:pt x="0" y="0"/>
                </a:moveTo>
                <a:lnTo>
                  <a:pt x="11140" y="0"/>
                </a:lnTo>
                <a:lnTo>
                  <a:pt x="111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Forma libre 125"/>
          <p:cNvSpPr/>
          <p:nvPr/>
        </p:nvSpPr>
        <p:spPr>
          <a:xfrm>
            <a:off x="666720" y="4838400"/>
            <a:ext cx="10858680" cy="572040"/>
          </a:xfrm>
          <a:custGeom>
            <a:avLst/>
            <a:gdLst/>
            <a:ahLst/>
            <a:cxnLst/>
            <a:rect l="0" t="0" r="r" b="b"/>
            <a:pathLst>
              <a:path w="30163" h="1589">
                <a:moveTo>
                  <a:pt x="0" y="0"/>
                </a:moveTo>
                <a:lnTo>
                  <a:pt x="30163" y="0"/>
                </a:lnTo>
                <a:lnTo>
                  <a:pt x="3016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Forma libre 126"/>
          <p:cNvSpPr/>
          <p:nvPr/>
        </p:nvSpPr>
        <p:spPr>
          <a:xfrm>
            <a:off x="666720" y="4838400"/>
            <a:ext cx="47880" cy="572040"/>
          </a:xfrm>
          <a:custGeom>
            <a:avLst/>
            <a:gdLst/>
            <a:ahLst/>
            <a:cxnLst/>
            <a:rect l="0" t="0" r="r" b="b"/>
            <a:pathLst>
              <a:path w="133" h="1589">
                <a:moveTo>
                  <a:pt x="0" y="0"/>
                </a:moveTo>
                <a:lnTo>
                  <a:pt x="133" y="0"/>
                </a:lnTo>
                <a:lnTo>
                  <a:pt x="13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CuadroTexto 127"/>
          <p:cNvSpPr txBox="1"/>
          <p:nvPr/>
        </p:nvSpPr>
        <p:spPr>
          <a:xfrm>
            <a:off x="666720" y="1463400"/>
            <a:ext cx="47509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Entrada, inclusión, salida, censura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CuadroTexto 131"/>
          <p:cNvSpPr txBox="1"/>
          <p:nvPr/>
        </p:nvSpPr>
        <p:spPr>
          <a:xfrm>
            <a:off x="1177200" y="2695320"/>
            <a:ext cx="11754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Componente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CuadroTexto 132"/>
          <p:cNvSpPr txBox="1"/>
          <p:nvPr/>
        </p:nvSpPr>
        <p:spPr>
          <a:xfrm>
            <a:off x="3670920" y="2695320"/>
            <a:ext cx="2396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La pregunta que responde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CuadroTexto 133"/>
          <p:cNvSpPr txBox="1"/>
          <p:nvPr/>
        </p:nvSpPr>
        <p:spPr>
          <a:xfrm>
            <a:off x="799920" y="3104640"/>
            <a:ext cx="121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Evento inicial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CuadroTexto 134"/>
          <p:cNvSpPr txBox="1"/>
          <p:nvPr/>
        </p:nvSpPr>
        <p:spPr>
          <a:xfrm>
            <a:off x="2986200" y="3104640"/>
            <a:ext cx="25027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¿qué te mete, y en qué fecha?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CuadroTexto 135"/>
          <p:cNvSpPr txBox="1"/>
          <p:nvPr/>
        </p:nvSpPr>
        <p:spPr>
          <a:xfrm>
            <a:off x="799920" y="3524040"/>
            <a:ext cx="19296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Criterios de inclusión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CuadroTexto 136"/>
          <p:cNvSpPr txBox="1"/>
          <p:nvPr/>
        </p:nvSpPr>
        <p:spPr>
          <a:xfrm>
            <a:off x="2986200" y="3524040"/>
            <a:ext cx="37623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¿qué debe cumplirse alrededor de esa fecha?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CuadroTexto 137"/>
          <p:cNvSpPr txBox="1"/>
          <p:nvPr/>
        </p:nvSpPr>
        <p:spPr>
          <a:xfrm>
            <a:off x="799920" y="3943080"/>
            <a:ext cx="1795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Estrategia de salida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CuadroTexto 138"/>
          <p:cNvSpPr txBox="1"/>
          <p:nvPr/>
        </p:nvSpPr>
        <p:spPr>
          <a:xfrm>
            <a:off x="2986200" y="3943080"/>
            <a:ext cx="2506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¿cuándo dejas de pertenecer?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CuadroTexto 139"/>
          <p:cNvSpPr txBox="1"/>
          <p:nvPr/>
        </p:nvSpPr>
        <p:spPr>
          <a:xfrm>
            <a:off x="799920" y="4362120"/>
            <a:ext cx="7628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Censura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CuadroTexto 140"/>
          <p:cNvSpPr txBox="1"/>
          <p:nvPr/>
        </p:nvSpPr>
        <p:spPr>
          <a:xfrm>
            <a:off x="2986200" y="4362120"/>
            <a:ext cx="28274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¿cuándo dejamos de poder verte?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CuadroTexto 141"/>
          <p:cNvSpPr txBox="1"/>
          <p:nvPr/>
        </p:nvSpPr>
        <p:spPr>
          <a:xfrm>
            <a:off x="905040" y="4992480"/>
            <a:ext cx="97873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Los cuatro se deciden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antes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de escribir SQL. El SQL es la traducción, no el lugar donde se decide.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CuadroTexto 14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CuadroTexto 14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CuadroTexto 144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95C2A23-F887-3F3A-2E63-DB2B8ABB3B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77" y="759967"/>
            <a:ext cx="10713866" cy="550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286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Forma libre 14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Forma libre 14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Forma libre 14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CuadroTexto 148"/>
          <p:cNvSpPr txBox="1"/>
          <p:nvPr/>
        </p:nvSpPr>
        <p:spPr>
          <a:xfrm>
            <a:off x="3471480" y="3063960"/>
            <a:ext cx="53762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3. Un ejemplo concreto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CuadroTexto 14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CuadroTexto 15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CuadroTexto 151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Forma libre 1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Forma libre 1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Forma libre 15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Forma libre 155"/>
          <p:cNvSpPr/>
          <p:nvPr/>
        </p:nvSpPr>
        <p:spPr>
          <a:xfrm>
            <a:off x="676080" y="2390760"/>
            <a:ext cx="1457640" cy="409680"/>
          </a:xfrm>
          <a:custGeom>
            <a:avLst/>
            <a:gdLst/>
            <a:ahLst/>
            <a:cxnLst/>
            <a:rect l="0" t="0" r="r" b="b"/>
            <a:pathLst>
              <a:path w="4049" h="1138">
                <a:moveTo>
                  <a:pt x="0" y="0"/>
                </a:moveTo>
                <a:lnTo>
                  <a:pt x="4049" y="0"/>
                </a:lnTo>
                <a:lnTo>
                  <a:pt x="4049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Forma libre 156"/>
          <p:cNvSpPr/>
          <p:nvPr/>
        </p:nvSpPr>
        <p:spPr>
          <a:xfrm>
            <a:off x="2133360" y="2390760"/>
            <a:ext cx="2514960" cy="409680"/>
          </a:xfrm>
          <a:custGeom>
            <a:avLst/>
            <a:gdLst/>
            <a:ahLst/>
            <a:cxnLst/>
            <a:rect l="0" t="0" r="r" b="b"/>
            <a:pathLst>
              <a:path w="6986" h="1138">
                <a:moveTo>
                  <a:pt x="0" y="0"/>
                </a:moveTo>
                <a:lnTo>
                  <a:pt x="6986" y="0"/>
                </a:lnTo>
                <a:lnTo>
                  <a:pt x="698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Forma libre 157"/>
          <p:cNvSpPr/>
          <p:nvPr/>
        </p:nvSpPr>
        <p:spPr>
          <a:xfrm>
            <a:off x="4647960" y="2390760"/>
            <a:ext cx="2734200" cy="409680"/>
          </a:xfrm>
          <a:custGeom>
            <a:avLst/>
            <a:gdLst/>
            <a:ahLst/>
            <a:cxnLst/>
            <a:rect l="0" t="0" r="r" b="b"/>
            <a:pathLst>
              <a:path w="7595" h="1138">
                <a:moveTo>
                  <a:pt x="0" y="0"/>
                </a:moveTo>
                <a:lnTo>
                  <a:pt x="7595" y="0"/>
                </a:lnTo>
                <a:lnTo>
                  <a:pt x="7595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Forma libre 158"/>
          <p:cNvSpPr/>
          <p:nvPr/>
        </p:nvSpPr>
        <p:spPr>
          <a:xfrm>
            <a:off x="676080" y="2390760"/>
            <a:ext cx="1457640" cy="409680"/>
          </a:xfrm>
          <a:custGeom>
            <a:avLst/>
            <a:gdLst/>
            <a:ahLst/>
            <a:cxnLst/>
            <a:rect l="0" t="0" r="r" b="b"/>
            <a:pathLst>
              <a:path w="4049" h="1138">
                <a:moveTo>
                  <a:pt x="0" y="0"/>
                </a:moveTo>
                <a:lnTo>
                  <a:pt x="4049" y="0"/>
                </a:lnTo>
                <a:lnTo>
                  <a:pt x="4049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Forma libre 159"/>
          <p:cNvSpPr/>
          <p:nvPr/>
        </p:nvSpPr>
        <p:spPr>
          <a:xfrm>
            <a:off x="2133360" y="2390760"/>
            <a:ext cx="2514960" cy="409680"/>
          </a:xfrm>
          <a:custGeom>
            <a:avLst/>
            <a:gdLst/>
            <a:ahLst/>
            <a:cxnLst/>
            <a:rect l="0" t="0" r="r" b="b"/>
            <a:pathLst>
              <a:path w="6986" h="1138">
                <a:moveTo>
                  <a:pt x="0" y="0"/>
                </a:moveTo>
                <a:lnTo>
                  <a:pt x="6986" y="0"/>
                </a:lnTo>
                <a:lnTo>
                  <a:pt x="698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Forma libre 160"/>
          <p:cNvSpPr/>
          <p:nvPr/>
        </p:nvSpPr>
        <p:spPr>
          <a:xfrm>
            <a:off x="4647960" y="2390760"/>
            <a:ext cx="2734200" cy="409680"/>
          </a:xfrm>
          <a:custGeom>
            <a:avLst/>
            <a:gdLst/>
            <a:ahLst/>
            <a:cxnLst/>
            <a:rect l="0" t="0" r="r" b="b"/>
            <a:pathLst>
              <a:path w="7595" h="1138">
                <a:moveTo>
                  <a:pt x="0" y="0"/>
                </a:moveTo>
                <a:lnTo>
                  <a:pt x="7595" y="0"/>
                </a:lnTo>
                <a:lnTo>
                  <a:pt x="7595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Forma libre 161"/>
          <p:cNvSpPr/>
          <p:nvPr/>
        </p:nvSpPr>
        <p:spPr>
          <a:xfrm>
            <a:off x="676080" y="2800080"/>
            <a:ext cx="1457640" cy="419400"/>
          </a:xfrm>
          <a:custGeom>
            <a:avLst/>
            <a:gdLst/>
            <a:ahLst/>
            <a:cxnLst/>
            <a:rect l="0" t="0" r="r" b="b"/>
            <a:pathLst>
              <a:path w="4049" h="1165">
                <a:moveTo>
                  <a:pt x="0" y="0"/>
                </a:moveTo>
                <a:lnTo>
                  <a:pt x="4049" y="0"/>
                </a:lnTo>
                <a:lnTo>
                  <a:pt x="404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Forma libre 162"/>
          <p:cNvSpPr/>
          <p:nvPr/>
        </p:nvSpPr>
        <p:spPr>
          <a:xfrm>
            <a:off x="2133360" y="2800080"/>
            <a:ext cx="2514960" cy="419400"/>
          </a:xfrm>
          <a:custGeom>
            <a:avLst/>
            <a:gdLst/>
            <a:ahLst/>
            <a:cxnLst/>
            <a:rect l="0" t="0" r="r" b="b"/>
            <a:pathLst>
              <a:path w="6986" h="1165">
                <a:moveTo>
                  <a:pt x="0" y="0"/>
                </a:moveTo>
                <a:lnTo>
                  <a:pt x="6986" y="0"/>
                </a:lnTo>
                <a:lnTo>
                  <a:pt x="698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Forma libre 163"/>
          <p:cNvSpPr/>
          <p:nvPr/>
        </p:nvSpPr>
        <p:spPr>
          <a:xfrm>
            <a:off x="4647960" y="2800080"/>
            <a:ext cx="2734200" cy="419400"/>
          </a:xfrm>
          <a:custGeom>
            <a:avLst/>
            <a:gdLst/>
            <a:ahLst/>
            <a:cxnLst/>
            <a:rect l="0" t="0" r="r" b="b"/>
            <a:pathLst>
              <a:path w="7595" h="1165">
                <a:moveTo>
                  <a:pt x="0" y="0"/>
                </a:moveTo>
                <a:lnTo>
                  <a:pt x="7595" y="0"/>
                </a:lnTo>
                <a:lnTo>
                  <a:pt x="759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Forma libre 164"/>
          <p:cNvSpPr/>
          <p:nvPr/>
        </p:nvSpPr>
        <p:spPr>
          <a:xfrm>
            <a:off x="676080" y="3219120"/>
            <a:ext cx="1457640" cy="419760"/>
          </a:xfrm>
          <a:custGeom>
            <a:avLst/>
            <a:gdLst/>
            <a:ahLst/>
            <a:cxnLst/>
            <a:rect l="0" t="0" r="r" b="b"/>
            <a:pathLst>
              <a:path w="4049" h="1166">
                <a:moveTo>
                  <a:pt x="0" y="0"/>
                </a:moveTo>
                <a:lnTo>
                  <a:pt x="4049" y="0"/>
                </a:lnTo>
                <a:lnTo>
                  <a:pt x="4049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Forma libre 165"/>
          <p:cNvSpPr/>
          <p:nvPr/>
        </p:nvSpPr>
        <p:spPr>
          <a:xfrm>
            <a:off x="2133360" y="3219120"/>
            <a:ext cx="2514960" cy="419760"/>
          </a:xfrm>
          <a:custGeom>
            <a:avLst/>
            <a:gdLst/>
            <a:ahLst/>
            <a:cxnLst/>
            <a:rect l="0" t="0" r="r" b="b"/>
            <a:pathLst>
              <a:path w="6986" h="1166">
                <a:moveTo>
                  <a:pt x="0" y="0"/>
                </a:moveTo>
                <a:lnTo>
                  <a:pt x="6986" y="0"/>
                </a:lnTo>
                <a:lnTo>
                  <a:pt x="6986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Forma libre 166"/>
          <p:cNvSpPr/>
          <p:nvPr/>
        </p:nvSpPr>
        <p:spPr>
          <a:xfrm>
            <a:off x="4647960" y="3219120"/>
            <a:ext cx="2734200" cy="419760"/>
          </a:xfrm>
          <a:custGeom>
            <a:avLst/>
            <a:gdLst/>
            <a:ahLst/>
            <a:cxnLst/>
            <a:rect l="0" t="0" r="r" b="b"/>
            <a:pathLst>
              <a:path w="7595" h="1166">
                <a:moveTo>
                  <a:pt x="0" y="0"/>
                </a:moveTo>
                <a:lnTo>
                  <a:pt x="7595" y="0"/>
                </a:lnTo>
                <a:lnTo>
                  <a:pt x="7595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Forma libre 167"/>
          <p:cNvSpPr/>
          <p:nvPr/>
        </p:nvSpPr>
        <p:spPr>
          <a:xfrm>
            <a:off x="676080" y="3638520"/>
            <a:ext cx="1457640" cy="419400"/>
          </a:xfrm>
          <a:custGeom>
            <a:avLst/>
            <a:gdLst/>
            <a:ahLst/>
            <a:cxnLst/>
            <a:rect l="0" t="0" r="r" b="b"/>
            <a:pathLst>
              <a:path w="4049" h="1165">
                <a:moveTo>
                  <a:pt x="0" y="0"/>
                </a:moveTo>
                <a:lnTo>
                  <a:pt x="4049" y="0"/>
                </a:lnTo>
                <a:lnTo>
                  <a:pt x="404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Forma libre 168"/>
          <p:cNvSpPr/>
          <p:nvPr/>
        </p:nvSpPr>
        <p:spPr>
          <a:xfrm>
            <a:off x="2133360" y="3638520"/>
            <a:ext cx="2514960" cy="419400"/>
          </a:xfrm>
          <a:custGeom>
            <a:avLst/>
            <a:gdLst/>
            <a:ahLst/>
            <a:cxnLst/>
            <a:rect l="0" t="0" r="r" b="b"/>
            <a:pathLst>
              <a:path w="6986" h="1165">
                <a:moveTo>
                  <a:pt x="0" y="0"/>
                </a:moveTo>
                <a:lnTo>
                  <a:pt x="6986" y="0"/>
                </a:lnTo>
                <a:lnTo>
                  <a:pt x="698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Forma libre 169"/>
          <p:cNvSpPr/>
          <p:nvPr/>
        </p:nvSpPr>
        <p:spPr>
          <a:xfrm>
            <a:off x="4647960" y="3638520"/>
            <a:ext cx="2734200" cy="419400"/>
          </a:xfrm>
          <a:custGeom>
            <a:avLst/>
            <a:gdLst/>
            <a:ahLst/>
            <a:cxnLst/>
            <a:rect l="0" t="0" r="r" b="b"/>
            <a:pathLst>
              <a:path w="7595" h="1165">
                <a:moveTo>
                  <a:pt x="0" y="0"/>
                </a:moveTo>
                <a:lnTo>
                  <a:pt x="7595" y="0"/>
                </a:lnTo>
                <a:lnTo>
                  <a:pt x="759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Forma libre 170"/>
          <p:cNvSpPr/>
          <p:nvPr/>
        </p:nvSpPr>
        <p:spPr>
          <a:xfrm>
            <a:off x="676080" y="4057560"/>
            <a:ext cx="1457640" cy="419400"/>
          </a:xfrm>
          <a:custGeom>
            <a:avLst/>
            <a:gdLst/>
            <a:ahLst/>
            <a:cxnLst/>
            <a:rect l="0" t="0" r="r" b="b"/>
            <a:pathLst>
              <a:path w="4049" h="1165">
                <a:moveTo>
                  <a:pt x="0" y="0"/>
                </a:moveTo>
                <a:lnTo>
                  <a:pt x="4049" y="0"/>
                </a:lnTo>
                <a:lnTo>
                  <a:pt x="404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Forma libre 171"/>
          <p:cNvSpPr/>
          <p:nvPr/>
        </p:nvSpPr>
        <p:spPr>
          <a:xfrm>
            <a:off x="2133360" y="4057560"/>
            <a:ext cx="2514960" cy="419400"/>
          </a:xfrm>
          <a:custGeom>
            <a:avLst/>
            <a:gdLst/>
            <a:ahLst/>
            <a:cxnLst/>
            <a:rect l="0" t="0" r="r" b="b"/>
            <a:pathLst>
              <a:path w="6986" h="1165">
                <a:moveTo>
                  <a:pt x="0" y="0"/>
                </a:moveTo>
                <a:lnTo>
                  <a:pt x="6986" y="0"/>
                </a:lnTo>
                <a:lnTo>
                  <a:pt x="698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Forma libre 172"/>
          <p:cNvSpPr/>
          <p:nvPr/>
        </p:nvSpPr>
        <p:spPr>
          <a:xfrm>
            <a:off x="4647960" y="4057560"/>
            <a:ext cx="2734200" cy="419400"/>
          </a:xfrm>
          <a:custGeom>
            <a:avLst/>
            <a:gdLst/>
            <a:ahLst/>
            <a:cxnLst/>
            <a:rect l="0" t="0" r="r" b="b"/>
            <a:pathLst>
              <a:path w="7595" h="1165">
                <a:moveTo>
                  <a:pt x="0" y="0"/>
                </a:moveTo>
                <a:lnTo>
                  <a:pt x="7595" y="0"/>
                </a:lnTo>
                <a:lnTo>
                  <a:pt x="759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Forma libre 173"/>
          <p:cNvSpPr/>
          <p:nvPr/>
        </p:nvSpPr>
        <p:spPr>
          <a:xfrm>
            <a:off x="676080" y="4476600"/>
            <a:ext cx="1457640" cy="419400"/>
          </a:xfrm>
          <a:custGeom>
            <a:avLst/>
            <a:gdLst/>
            <a:ahLst/>
            <a:cxnLst/>
            <a:rect l="0" t="0" r="r" b="b"/>
            <a:pathLst>
              <a:path w="4049" h="1165">
                <a:moveTo>
                  <a:pt x="0" y="0"/>
                </a:moveTo>
                <a:lnTo>
                  <a:pt x="4049" y="0"/>
                </a:lnTo>
                <a:lnTo>
                  <a:pt x="404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Forma libre 174"/>
          <p:cNvSpPr/>
          <p:nvPr/>
        </p:nvSpPr>
        <p:spPr>
          <a:xfrm>
            <a:off x="2133360" y="4476600"/>
            <a:ext cx="2514960" cy="419400"/>
          </a:xfrm>
          <a:custGeom>
            <a:avLst/>
            <a:gdLst/>
            <a:ahLst/>
            <a:cxnLst/>
            <a:rect l="0" t="0" r="r" b="b"/>
            <a:pathLst>
              <a:path w="6986" h="1165">
                <a:moveTo>
                  <a:pt x="0" y="0"/>
                </a:moveTo>
                <a:lnTo>
                  <a:pt x="6986" y="0"/>
                </a:lnTo>
                <a:lnTo>
                  <a:pt x="698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Forma libre 175"/>
          <p:cNvSpPr/>
          <p:nvPr/>
        </p:nvSpPr>
        <p:spPr>
          <a:xfrm>
            <a:off x="4647960" y="4476600"/>
            <a:ext cx="2734200" cy="419400"/>
          </a:xfrm>
          <a:custGeom>
            <a:avLst/>
            <a:gdLst/>
            <a:ahLst/>
            <a:cxnLst/>
            <a:rect l="0" t="0" r="r" b="b"/>
            <a:pathLst>
              <a:path w="7595" h="1165">
                <a:moveTo>
                  <a:pt x="0" y="0"/>
                </a:moveTo>
                <a:lnTo>
                  <a:pt x="7595" y="0"/>
                </a:lnTo>
                <a:lnTo>
                  <a:pt x="759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Forma libre 176"/>
          <p:cNvSpPr/>
          <p:nvPr/>
        </p:nvSpPr>
        <p:spPr>
          <a:xfrm>
            <a:off x="666720" y="2381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Forma libre 177"/>
          <p:cNvSpPr/>
          <p:nvPr/>
        </p:nvSpPr>
        <p:spPr>
          <a:xfrm>
            <a:off x="666720" y="2381040"/>
            <a:ext cx="1476720" cy="10080"/>
          </a:xfrm>
          <a:custGeom>
            <a:avLst/>
            <a:gdLst/>
            <a:ahLst/>
            <a:cxnLst/>
            <a:rect l="0" t="0" r="r" b="b"/>
            <a:pathLst>
              <a:path w="4102" h="28">
                <a:moveTo>
                  <a:pt x="0" y="0"/>
                </a:moveTo>
                <a:lnTo>
                  <a:pt x="4102" y="0"/>
                </a:lnTo>
                <a:lnTo>
                  <a:pt x="410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Forma libre 178"/>
          <p:cNvSpPr/>
          <p:nvPr/>
        </p:nvSpPr>
        <p:spPr>
          <a:xfrm>
            <a:off x="2133360" y="23810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Forma libre 179"/>
          <p:cNvSpPr/>
          <p:nvPr/>
        </p:nvSpPr>
        <p:spPr>
          <a:xfrm>
            <a:off x="2143080" y="2381040"/>
            <a:ext cx="2514960" cy="10080"/>
          </a:xfrm>
          <a:custGeom>
            <a:avLst/>
            <a:gdLst/>
            <a:ahLst/>
            <a:cxnLst/>
            <a:rect l="0" t="0" r="r" b="b"/>
            <a:pathLst>
              <a:path w="6986" h="28">
                <a:moveTo>
                  <a:pt x="0" y="0"/>
                </a:moveTo>
                <a:lnTo>
                  <a:pt x="6986" y="0"/>
                </a:lnTo>
                <a:lnTo>
                  <a:pt x="69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Forma libre 180"/>
          <p:cNvSpPr/>
          <p:nvPr/>
        </p:nvSpPr>
        <p:spPr>
          <a:xfrm>
            <a:off x="4647960" y="23810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Forma libre 181"/>
          <p:cNvSpPr/>
          <p:nvPr/>
        </p:nvSpPr>
        <p:spPr>
          <a:xfrm>
            <a:off x="4657680" y="2381040"/>
            <a:ext cx="2724480" cy="10080"/>
          </a:xfrm>
          <a:custGeom>
            <a:avLst/>
            <a:gdLst/>
            <a:ahLst/>
            <a:cxnLst/>
            <a:rect l="0" t="0" r="r" b="b"/>
            <a:pathLst>
              <a:path w="7568" h="28">
                <a:moveTo>
                  <a:pt x="0" y="0"/>
                </a:moveTo>
                <a:lnTo>
                  <a:pt x="7568" y="0"/>
                </a:lnTo>
                <a:lnTo>
                  <a:pt x="75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Forma libre 182"/>
          <p:cNvSpPr/>
          <p:nvPr/>
        </p:nvSpPr>
        <p:spPr>
          <a:xfrm>
            <a:off x="7372080" y="23810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Forma libre 183"/>
          <p:cNvSpPr/>
          <p:nvPr/>
        </p:nvSpPr>
        <p:spPr>
          <a:xfrm>
            <a:off x="666720" y="2790720"/>
            <a:ext cx="1476720" cy="9720"/>
          </a:xfrm>
          <a:custGeom>
            <a:avLst/>
            <a:gdLst/>
            <a:ahLst/>
            <a:cxnLst/>
            <a:rect l="0" t="0" r="r" b="b"/>
            <a:pathLst>
              <a:path w="4102" h="27">
                <a:moveTo>
                  <a:pt x="0" y="0"/>
                </a:moveTo>
                <a:lnTo>
                  <a:pt x="4102" y="0"/>
                </a:lnTo>
                <a:lnTo>
                  <a:pt x="41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Forma libre 184"/>
          <p:cNvSpPr/>
          <p:nvPr/>
        </p:nvSpPr>
        <p:spPr>
          <a:xfrm>
            <a:off x="2143080" y="2790720"/>
            <a:ext cx="2514960" cy="9720"/>
          </a:xfrm>
          <a:custGeom>
            <a:avLst/>
            <a:gdLst/>
            <a:ahLst/>
            <a:cxnLst/>
            <a:rect l="0" t="0" r="r" b="b"/>
            <a:pathLst>
              <a:path w="6986" h="27">
                <a:moveTo>
                  <a:pt x="0" y="0"/>
                </a:moveTo>
                <a:lnTo>
                  <a:pt x="6986" y="0"/>
                </a:lnTo>
                <a:lnTo>
                  <a:pt x="69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Forma libre 185"/>
          <p:cNvSpPr/>
          <p:nvPr/>
        </p:nvSpPr>
        <p:spPr>
          <a:xfrm>
            <a:off x="4657680" y="2790720"/>
            <a:ext cx="2724480" cy="9720"/>
          </a:xfrm>
          <a:custGeom>
            <a:avLst/>
            <a:gdLst/>
            <a:ahLst/>
            <a:cxnLst/>
            <a:rect l="0" t="0" r="r" b="b"/>
            <a:pathLst>
              <a:path w="7568" h="27">
                <a:moveTo>
                  <a:pt x="0" y="0"/>
                </a:moveTo>
                <a:lnTo>
                  <a:pt x="7568" y="0"/>
                </a:lnTo>
                <a:lnTo>
                  <a:pt x="75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Forma libre 186"/>
          <p:cNvSpPr/>
          <p:nvPr/>
        </p:nvSpPr>
        <p:spPr>
          <a:xfrm>
            <a:off x="666720" y="2800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Forma libre 187"/>
          <p:cNvSpPr/>
          <p:nvPr/>
        </p:nvSpPr>
        <p:spPr>
          <a:xfrm>
            <a:off x="2133360" y="28000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Forma libre 188"/>
          <p:cNvSpPr/>
          <p:nvPr/>
        </p:nvSpPr>
        <p:spPr>
          <a:xfrm>
            <a:off x="4647960" y="28000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Forma libre 189"/>
          <p:cNvSpPr/>
          <p:nvPr/>
        </p:nvSpPr>
        <p:spPr>
          <a:xfrm>
            <a:off x="7372080" y="28000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Forma libre 190"/>
          <p:cNvSpPr/>
          <p:nvPr/>
        </p:nvSpPr>
        <p:spPr>
          <a:xfrm>
            <a:off x="666720" y="32191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Forma libre 191"/>
          <p:cNvSpPr/>
          <p:nvPr/>
        </p:nvSpPr>
        <p:spPr>
          <a:xfrm>
            <a:off x="666720" y="3209760"/>
            <a:ext cx="1476720" cy="9720"/>
          </a:xfrm>
          <a:custGeom>
            <a:avLst/>
            <a:gdLst/>
            <a:ahLst/>
            <a:cxnLst/>
            <a:rect l="0" t="0" r="r" b="b"/>
            <a:pathLst>
              <a:path w="4102" h="27">
                <a:moveTo>
                  <a:pt x="0" y="0"/>
                </a:moveTo>
                <a:lnTo>
                  <a:pt x="4102" y="0"/>
                </a:lnTo>
                <a:lnTo>
                  <a:pt x="41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Forma libre 192"/>
          <p:cNvSpPr/>
          <p:nvPr/>
        </p:nvSpPr>
        <p:spPr>
          <a:xfrm>
            <a:off x="2133360" y="321912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Forma libre 193"/>
          <p:cNvSpPr/>
          <p:nvPr/>
        </p:nvSpPr>
        <p:spPr>
          <a:xfrm>
            <a:off x="2143080" y="3209760"/>
            <a:ext cx="2514960" cy="9720"/>
          </a:xfrm>
          <a:custGeom>
            <a:avLst/>
            <a:gdLst/>
            <a:ahLst/>
            <a:cxnLst/>
            <a:rect l="0" t="0" r="r" b="b"/>
            <a:pathLst>
              <a:path w="6986" h="27">
                <a:moveTo>
                  <a:pt x="0" y="0"/>
                </a:moveTo>
                <a:lnTo>
                  <a:pt x="6986" y="0"/>
                </a:lnTo>
                <a:lnTo>
                  <a:pt x="69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Forma libre 194"/>
          <p:cNvSpPr/>
          <p:nvPr/>
        </p:nvSpPr>
        <p:spPr>
          <a:xfrm>
            <a:off x="4647960" y="321912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Forma libre 195"/>
          <p:cNvSpPr/>
          <p:nvPr/>
        </p:nvSpPr>
        <p:spPr>
          <a:xfrm>
            <a:off x="4657680" y="3209760"/>
            <a:ext cx="2724480" cy="9720"/>
          </a:xfrm>
          <a:custGeom>
            <a:avLst/>
            <a:gdLst/>
            <a:ahLst/>
            <a:cxnLst/>
            <a:rect l="0" t="0" r="r" b="b"/>
            <a:pathLst>
              <a:path w="7568" h="27">
                <a:moveTo>
                  <a:pt x="0" y="0"/>
                </a:moveTo>
                <a:lnTo>
                  <a:pt x="7568" y="0"/>
                </a:lnTo>
                <a:lnTo>
                  <a:pt x="75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Forma libre 196"/>
          <p:cNvSpPr/>
          <p:nvPr/>
        </p:nvSpPr>
        <p:spPr>
          <a:xfrm>
            <a:off x="7372080" y="321912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Forma libre 197"/>
          <p:cNvSpPr/>
          <p:nvPr/>
        </p:nvSpPr>
        <p:spPr>
          <a:xfrm>
            <a:off x="666720" y="3638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Forma libre 198"/>
          <p:cNvSpPr/>
          <p:nvPr/>
        </p:nvSpPr>
        <p:spPr>
          <a:xfrm>
            <a:off x="666720" y="3628800"/>
            <a:ext cx="1476720" cy="10080"/>
          </a:xfrm>
          <a:custGeom>
            <a:avLst/>
            <a:gdLst/>
            <a:ahLst/>
            <a:cxnLst/>
            <a:rect l="0" t="0" r="r" b="b"/>
            <a:pathLst>
              <a:path w="4102" h="28">
                <a:moveTo>
                  <a:pt x="0" y="0"/>
                </a:moveTo>
                <a:lnTo>
                  <a:pt x="4102" y="0"/>
                </a:lnTo>
                <a:lnTo>
                  <a:pt x="410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Forma libre 199"/>
          <p:cNvSpPr/>
          <p:nvPr/>
        </p:nvSpPr>
        <p:spPr>
          <a:xfrm>
            <a:off x="2133360" y="36385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Forma libre 200"/>
          <p:cNvSpPr/>
          <p:nvPr/>
        </p:nvSpPr>
        <p:spPr>
          <a:xfrm>
            <a:off x="2143080" y="3628800"/>
            <a:ext cx="2514960" cy="10080"/>
          </a:xfrm>
          <a:custGeom>
            <a:avLst/>
            <a:gdLst/>
            <a:ahLst/>
            <a:cxnLst/>
            <a:rect l="0" t="0" r="r" b="b"/>
            <a:pathLst>
              <a:path w="6986" h="28">
                <a:moveTo>
                  <a:pt x="0" y="0"/>
                </a:moveTo>
                <a:lnTo>
                  <a:pt x="6986" y="0"/>
                </a:lnTo>
                <a:lnTo>
                  <a:pt x="69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Forma libre 201"/>
          <p:cNvSpPr/>
          <p:nvPr/>
        </p:nvSpPr>
        <p:spPr>
          <a:xfrm>
            <a:off x="4647960" y="36385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Forma libre 202"/>
          <p:cNvSpPr/>
          <p:nvPr/>
        </p:nvSpPr>
        <p:spPr>
          <a:xfrm>
            <a:off x="4657680" y="3628800"/>
            <a:ext cx="2724480" cy="10080"/>
          </a:xfrm>
          <a:custGeom>
            <a:avLst/>
            <a:gdLst/>
            <a:ahLst/>
            <a:cxnLst/>
            <a:rect l="0" t="0" r="r" b="b"/>
            <a:pathLst>
              <a:path w="7568" h="28">
                <a:moveTo>
                  <a:pt x="0" y="0"/>
                </a:moveTo>
                <a:lnTo>
                  <a:pt x="7568" y="0"/>
                </a:lnTo>
                <a:lnTo>
                  <a:pt x="75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Forma libre 203"/>
          <p:cNvSpPr/>
          <p:nvPr/>
        </p:nvSpPr>
        <p:spPr>
          <a:xfrm>
            <a:off x="7372080" y="36385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Forma libre 204"/>
          <p:cNvSpPr/>
          <p:nvPr/>
        </p:nvSpPr>
        <p:spPr>
          <a:xfrm>
            <a:off x="666720" y="4057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Forma libre 205"/>
          <p:cNvSpPr/>
          <p:nvPr/>
        </p:nvSpPr>
        <p:spPr>
          <a:xfrm>
            <a:off x="666720" y="4047840"/>
            <a:ext cx="1476720" cy="10440"/>
          </a:xfrm>
          <a:custGeom>
            <a:avLst/>
            <a:gdLst/>
            <a:ahLst/>
            <a:cxnLst/>
            <a:rect l="0" t="0" r="r" b="b"/>
            <a:pathLst>
              <a:path w="4102" h="29">
                <a:moveTo>
                  <a:pt x="0" y="0"/>
                </a:moveTo>
                <a:lnTo>
                  <a:pt x="4102" y="0"/>
                </a:lnTo>
                <a:lnTo>
                  <a:pt x="4102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Forma libre 206"/>
          <p:cNvSpPr/>
          <p:nvPr/>
        </p:nvSpPr>
        <p:spPr>
          <a:xfrm>
            <a:off x="2133360" y="40575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Forma libre 207"/>
          <p:cNvSpPr/>
          <p:nvPr/>
        </p:nvSpPr>
        <p:spPr>
          <a:xfrm>
            <a:off x="2143080" y="4047840"/>
            <a:ext cx="2514960" cy="10440"/>
          </a:xfrm>
          <a:custGeom>
            <a:avLst/>
            <a:gdLst/>
            <a:ahLst/>
            <a:cxnLst/>
            <a:rect l="0" t="0" r="r" b="b"/>
            <a:pathLst>
              <a:path w="6986" h="29">
                <a:moveTo>
                  <a:pt x="0" y="0"/>
                </a:moveTo>
                <a:lnTo>
                  <a:pt x="6986" y="0"/>
                </a:lnTo>
                <a:lnTo>
                  <a:pt x="6986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Forma libre 208"/>
          <p:cNvSpPr/>
          <p:nvPr/>
        </p:nvSpPr>
        <p:spPr>
          <a:xfrm>
            <a:off x="4647960" y="40575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Forma libre 209"/>
          <p:cNvSpPr/>
          <p:nvPr/>
        </p:nvSpPr>
        <p:spPr>
          <a:xfrm>
            <a:off x="4657680" y="4047840"/>
            <a:ext cx="2724480" cy="10440"/>
          </a:xfrm>
          <a:custGeom>
            <a:avLst/>
            <a:gdLst/>
            <a:ahLst/>
            <a:cxnLst/>
            <a:rect l="0" t="0" r="r" b="b"/>
            <a:pathLst>
              <a:path w="7568" h="29">
                <a:moveTo>
                  <a:pt x="0" y="0"/>
                </a:moveTo>
                <a:lnTo>
                  <a:pt x="7568" y="0"/>
                </a:lnTo>
                <a:lnTo>
                  <a:pt x="7568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Forma libre 210"/>
          <p:cNvSpPr/>
          <p:nvPr/>
        </p:nvSpPr>
        <p:spPr>
          <a:xfrm>
            <a:off x="7372080" y="40575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Forma libre 211"/>
          <p:cNvSpPr/>
          <p:nvPr/>
        </p:nvSpPr>
        <p:spPr>
          <a:xfrm>
            <a:off x="666720" y="4476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Forma libre 212"/>
          <p:cNvSpPr/>
          <p:nvPr/>
        </p:nvSpPr>
        <p:spPr>
          <a:xfrm>
            <a:off x="666720" y="4466880"/>
            <a:ext cx="1476720" cy="10080"/>
          </a:xfrm>
          <a:custGeom>
            <a:avLst/>
            <a:gdLst/>
            <a:ahLst/>
            <a:cxnLst/>
            <a:rect l="0" t="0" r="r" b="b"/>
            <a:pathLst>
              <a:path w="4102" h="28">
                <a:moveTo>
                  <a:pt x="0" y="0"/>
                </a:moveTo>
                <a:lnTo>
                  <a:pt x="4102" y="0"/>
                </a:lnTo>
                <a:lnTo>
                  <a:pt x="410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Forma libre 213"/>
          <p:cNvSpPr/>
          <p:nvPr/>
        </p:nvSpPr>
        <p:spPr>
          <a:xfrm>
            <a:off x="2133360" y="44766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Forma libre 214"/>
          <p:cNvSpPr/>
          <p:nvPr/>
        </p:nvSpPr>
        <p:spPr>
          <a:xfrm>
            <a:off x="2143080" y="4466880"/>
            <a:ext cx="2514960" cy="10080"/>
          </a:xfrm>
          <a:custGeom>
            <a:avLst/>
            <a:gdLst/>
            <a:ahLst/>
            <a:cxnLst/>
            <a:rect l="0" t="0" r="r" b="b"/>
            <a:pathLst>
              <a:path w="6986" h="28">
                <a:moveTo>
                  <a:pt x="0" y="0"/>
                </a:moveTo>
                <a:lnTo>
                  <a:pt x="6986" y="0"/>
                </a:lnTo>
                <a:lnTo>
                  <a:pt x="69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Forma libre 215"/>
          <p:cNvSpPr/>
          <p:nvPr/>
        </p:nvSpPr>
        <p:spPr>
          <a:xfrm>
            <a:off x="4647960" y="44766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Forma libre 216"/>
          <p:cNvSpPr/>
          <p:nvPr/>
        </p:nvSpPr>
        <p:spPr>
          <a:xfrm>
            <a:off x="4657680" y="4466880"/>
            <a:ext cx="2724480" cy="10080"/>
          </a:xfrm>
          <a:custGeom>
            <a:avLst/>
            <a:gdLst/>
            <a:ahLst/>
            <a:cxnLst/>
            <a:rect l="0" t="0" r="r" b="b"/>
            <a:pathLst>
              <a:path w="7568" h="28">
                <a:moveTo>
                  <a:pt x="0" y="0"/>
                </a:moveTo>
                <a:lnTo>
                  <a:pt x="7568" y="0"/>
                </a:lnTo>
                <a:lnTo>
                  <a:pt x="75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Forma libre 217"/>
          <p:cNvSpPr/>
          <p:nvPr/>
        </p:nvSpPr>
        <p:spPr>
          <a:xfrm>
            <a:off x="7372080" y="44766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Forma libre 218"/>
          <p:cNvSpPr/>
          <p:nvPr/>
        </p:nvSpPr>
        <p:spPr>
          <a:xfrm>
            <a:off x="666720" y="4886280"/>
            <a:ext cx="1476720" cy="9720"/>
          </a:xfrm>
          <a:custGeom>
            <a:avLst/>
            <a:gdLst/>
            <a:ahLst/>
            <a:cxnLst/>
            <a:rect l="0" t="0" r="r" b="b"/>
            <a:pathLst>
              <a:path w="4102" h="27">
                <a:moveTo>
                  <a:pt x="0" y="0"/>
                </a:moveTo>
                <a:lnTo>
                  <a:pt x="4102" y="0"/>
                </a:lnTo>
                <a:lnTo>
                  <a:pt x="41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Forma libre 219"/>
          <p:cNvSpPr/>
          <p:nvPr/>
        </p:nvSpPr>
        <p:spPr>
          <a:xfrm>
            <a:off x="2143080" y="4886280"/>
            <a:ext cx="2514960" cy="9720"/>
          </a:xfrm>
          <a:custGeom>
            <a:avLst/>
            <a:gdLst/>
            <a:ahLst/>
            <a:cxnLst/>
            <a:rect l="0" t="0" r="r" b="b"/>
            <a:pathLst>
              <a:path w="6986" h="27">
                <a:moveTo>
                  <a:pt x="0" y="0"/>
                </a:moveTo>
                <a:lnTo>
                  <a:pt x="6986" y="0"/>
                </a:lnTo>
                <a:lnTo>
                  <a:pt x="69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Forma libre 220"/>
          <p:cNvSpPr/>
          <p:nvPr/>
        </p:nvSpPr>
        <p:spPr>
          <a:xfrm>
            <a:off x="4657680" y="4886280"/>
            <a:ext cx="2724480" cy="9720"/>
          </a:xfrm>
          <a:custGeom>
            <a:avLst/>
            <a:gdLst/>
            <a:ahLst/>
            <a:cxnLst/>
            <a:rect l="0" t="0" r="r" b="b"/>
            <a:pathLst>
              <a:path w="7568" h="27">
                <a:moveTo>
                  <a:pt x="0" y="0"/>
                </a:moveTo>
                <a:lnTo>
                  <a:pt x="7568" y="0"/>
                </a:lnTo>
                <a:lnTo>
                  <a:pt x="75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Forma libre 221"/>
          <p:cNvSpPr/>
          <p:nvPr/>
        </p:nvSpPr>
        <p:spPr>
          <a:xfrm>
            <a:off x="666720" y="504792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Forma libre 222"/>
          <p:cNvSpPr/>
          <p:nvPr/>
        </p:nvSpPr>
        <p:spPr>
          <a:xfrm>
            <a:off x="666720" y="504792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CuadroTexto 223"/>
          <p:cNvSpPr txBox="1"/>
          <p:nvPr/>
        </p:nvSpPr>
        <p:spPr>
          <a:xfrm>
            <a:off x="666720" y="910800"/>
            <a:ext cx="42094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 ejemplo, con sus ventanas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CuadroTexto 224"/>
          <p:cNvSpPr txBox="1"/>
          <p:nvPr/>
        </p:nvSpPr>
        <p:spPr>
          <a:xfrm>
            <a:off x="666720" y="1582560"/>
            <a:ext cx="10772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Pregunta: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adultos que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inician metformina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tras su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primer diagnóstico de diabetes tipo 2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y la mantienen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CuadroTexto 225"/>
          <p:cNvSpPr txBox="1"/>
          <p:nvPr/>
        </p:nvSpPr>
        <p:spPr>
          <a:xfrm>
            <a:off x="666720" y="1925640"/>
            <a:ext cx="1791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 menos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60 días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CuadroTexto 226"/>
          <p:cNvSpPr txBox="1"/>
          <p:nvPr/>
        </p:nvSpPr>
        <p:spPr>
          <a:xfrm>
            <a:off x="817560" y="2485800"/>
            <a:ext cx="11754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Componente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CuadroTexto 227"/>
          <p:cNvSpPr txBox="1"/>
          <p:nvPr/>
        </p:nvSpPr>
        <p:spPr>
          <a:xfrm>
            <a:off x="2856240" y="2485800"/>
            <a:ext cx="10764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En palabras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CuadroTexto 228"/>
          <p:cNvSpPr txBox="1"/>
          <p:nvPr/>
        </p:nvSpPr>
        <p:spPr>
          <a:xfrm>
            <a:off x="5459760" y="2485800"/>
            <a:ext cx="11124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En ventanas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CuadroTexto 229"/>
          <p:cNvSpPr txBox="1"/>
          <p:nvPr/>
        </p:nvSpPr>
        <p:spPr>
          <a:xfrm>
            <a:off x="799920" y="2895120"/>
            <a:ext cx="121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Evento inicial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CuadroTexto 230"/>
          <p:cNvSpPr txBox="1"/>
          <p:nvPr/>
        </p:nvSpPr>
        <p:spPr>
          <a:xfrm>
            <a:off x="2266920" y="2895120"/>
            <a:ext cx="2228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primer diagnóstico de DM2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CuadroTexto 231"/>
          <p:cNvSpPr txBox="1"/>
          <p:nvPr/>
        </p:nvSpPr>
        <p:spPr>
          <a:xfrm>
            <a:off x="4779000" y="2895120"/>
            <a:ext cx="13629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primera fecha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CuadroTexto 232"/>
          <p:cNvSpPr txBox="1"/>
          <p:nvPr/>
        </p:nvSpPr>
        <p:spPr>
          <a:xfrm>
            <a:off x="6141240" y="2904120"/>
            <a:ext cx="1911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CuadroTexto 233"/>
          <p:cNvSpPr txBox="1"/>
          <p:nvPr/>
        </p:nvSpPr>
        <p:spPr>
          <a:xfrm>
            <a:off x="6331680" y="2895120"/>
            <a:ext cx="487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día 0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CuadroTexto 234"/>
          <p:cNvSpPr txBox="1"/>
          <p:nvPr/>
        </p:nvSpPr>
        <p:spPr>
          <a:xfrm>
            <a:off x="799920" y="3314160"/>
            <a:ext cx="9810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Inclusión 1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CuadroTexto 235"/>
          <p:cNvSpPr txBox="1"/>
          <p:nvPr/>
        </p:nvSpPr>
        <p:spPr>
          <a:xfrm>
            <a:off x="2266920" y="3314160"/>
            <a:ext cx="22590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empieza metformina pronto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Forma libre 236"/>
          <p:cNvSpPr/>
          <p:nvPr/>
        </p:nvSpPr>
        <p:spPr>
          <a:xfrm>
            <a:off x="6238800" y="3323880"/>
            <a:ext cx="790920" cy="228960"/>
          </a:xfrm>
          <a:custGeom>
            <a:avLst/>
            <a:gdLst/>
            <a:ahLst/>
            <a:cxnLst/>
            <a:rect l="0" t="0" r="r" b="b"/>
            <a:pathLst>
              <a:path w="2197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lnTo>
                  <a:pt x="2091" y="0"/>
                </a:lnTo>
                <a:cubicBezTo>
                  <a:pt x="2105" y="0"/>
                  <a:pt x="2118" y="3"/>
                  <a:pt x="2131" y="9"/>
                </a:cubicBezTo>
                <a:cubicBezTo>
                  <a:pt x="2144" y="14"/>
                  <a:pt x="2156" y="22"/>
                  <a:pt x="2166" y="31"/>
                </a:cubicBezTo>
                <a:cubicBezTo>
                  <a:pt x="2176" y="41"/>
                  <a:pt x="2183" y="53"/>
                  <a:pt x="2189" y="66"/>
                </a:cubicBezTo>
                <a:cubicBezTo>
                  <a:pt x="2194" y="79"/>
                  <a:pt x="2197" y="92"/>
                  <a:pt x="2197" y="106"/>
                </a:cubicBezTo>
                <a:lnTo>
                  <a:pt x="2197" y="530"/>
                </a:lnTo>
                <a:cubicBezTo>
                  <a:pt x="2197" y="544"/>
                  <a:pt x="2194" y="557"/>
                  <a:pt x="2189" y="570"/>
                </a:cubicBezTo>
                <a:cubicBezTo>
                  <a:pt x="2183" y="583"/>
                  <a:pt x="2176" y="596"/>
                  <a:pt x="2166" y="605"/>
                </a:cubicBezTo>
                <a:cubicBezTo>
                  <a:pt x="2156" y="615"/>
                  <a:pt x="2144" y="623"/>
                  <a:pt x="2131" y="628"/>
                </a:cubicBezTo>
                <a:cubicBezTo>
                  <a:pt x="2118" y="634"/>
                  <a:pt x="2105" y="636"/>
                  <a:pt x="2091" y="636"/>
                </a:cubicBezTo>
                <a:lnTo>
                  <a:pt x="106" y="636"/>
                </a:lnTo>
                <a:cubicBezTo>
                  <a:pt x="92" y="636"/>
                  <a:pt x="78" y="634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6"/>
                  <a:pt x="13" y="583"/>
                  <a:pt x="8" y="570"/>
                </a:cubicBezTo>
                <a:cubicBezTo>
                  <a:pt x="2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CuadroTexto 237"/>
          <p:cNvSpPr txBox="1"/>
          <p:nvPr/>
        </p:nvSpPr>
        <p:spPr>
          <a:xfrm>
            <a:off x="4779000" y="3314160"/>
            <a:ext cx="14558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≥1 exposición en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CuadroTexto 238"/>
          <p:cNvSpPr txBox="1"/>
          <p:nvPr/>
        </p:nvSpPr>
        <p:spPr>
          <a:xfrm>
            <a:off x="6291360" y="3345480"/>
            <a:ext cx="6814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[0, 90]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CuadroTexto 239"/>
          <p:cNvSpPr txBox="1"/>
          <p:nvPr/>
        </p:nvSpPr>
        <p:spPr>
          <a:xfrm>
            <a:off x="799920" y="3733560"/>
            <a:ext cx="9810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Inclusión 2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CuadroTexto 240"/>
          <p:cNvSpPr txBox="1"/>
          <p:nvPr/>
        </p:nvSpPr>
        <p:spPr>
          <a:xfrm>
            <a:off x="2266920" y="3733560"/>
            <a:ext cx="10803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y la mantiene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CuadroTexto 241"/>
          <p:cNvSpPr txBox="1"/>
          <p:nvPr/>
        </p:nvSpPr>
        <p:spPr>
          <a:xfrm>
            <a:off x="4779000" y="3733560"/>
            <a:ext cx="24548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≥60 días continuos (gap 30 d)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CuadroTexto 242"/>
          <p:cNvSpPr txBox="1"/>
          <p:nvPr/>
        </p:nvSpPr>
        <p:spPr>
          <a:xfrm>
            <a:off x="799920" y="4152600"/>
            <a:ext cx="9810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Inclusión 3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CuadroTexto 243"/>
          <p:cNvSpPr txBox="1"/>
          <p:nvPr/>
        </p:nvSpPr>
        <p:spPr>
          <a:xfrm>
            <a:off x="2266920" y="4152600"/>
            <a:ext cx="752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es adulto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CuadroTexto 244"/>
          <p:cNvSpPr txBox="1"/>
          <p:nvPr/>
        </p:nvSpPr>
        <p:spPr>
          <a:xfrm>
            <a:off x="4779000" y="4152600"/>
            <a:ext cx="2439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edad ≥18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 la fecha índice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CuadroTexto 245"/>
          <p:cNvSpPr txBox="1"/>
          <p:nvPr/>
        </p:nvSpPr>
        <p:spPr>
          <a:xfrm>
            <a:off x="799920" y="4571640"/>
            <a:ext cx="557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Salida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CuadroTexto 246"/>
          <p:cNvSpPr txBox="1"/>
          <p:nvPr/>
        </p:nvSpPr>
        <p:spPr>
          <a:xfrm>
            <a:off x="2266920" y="4571640"/>
            <a:ext cx="15109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deja el tratamiento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CuadroTexto 247"/>
          <p:cNvSpPr txBox="1"/>
          <p:nvPr/>
        </p:nvSpPr>
        <p:spPr>
          <a:xfrm>
            <a:off x="4779000" y="4571640"/>
            <a:ext cx="24742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ﬁn de esa exposición continua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Forma libre 248"/>
          <p:cNvSpPr/>
          <p:nvPr/>
        </p:nvSpPr>
        <p:spPr>
          <a:xfrm>
            <a:off x="6171840" y="5219640"/>
            <a:ext cx="933840" cy="266760"/>
          </a:xfrm>
          <a:custGeom>
            <a:avLst/>
            <a:gdLst/>
            <a:ahLst/>
            <a:cxnLst/>
            <a:rect l="0" t="0" r="r" b="b"/>
            <a:pathLst>
              <a:path w="2594" h="741">
                <a:moveTo>
                  <a:pt x="0" y="635"/>
                </a:moveTo>
                <a:lnTo>
                  <a:pt x="0" y="105"/>
                </a:ln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2489" y="0"/>
                </a:lnTo>
                <a:cubicBezTo>
                  <a:pt x="2503" y="0"/>
                  <a:pt x="2516" y="2"/>
                  <a:pt x="2529" y="8"/>
                </a:cubicBezTo>
                <a:cubicBezTo>
                  <a:pt x="2542" y="13"/>
                  <a:pt x="2553" y="21"/>
                  <a:pt x="2563" y="31"/>
                </a:cubicBezTo>
                <a:cubicBezTo>
                  <a:pt x="2573" y="41"/>
                  <a:pt x="2581" y="52"/>
                  <a:pt x="2586" y="65"/>
                </a:cubicBezTo>
                <a:cubicBezTo>
                  <a:pt x="2592" y="78"/>
                  <a:pt x="2594" y="91"/>
                  <a:pt x="2594" y="105"/>
                </a:cubicBezTo>
                <a:lnTo>
                  <a:pt x="2594" y="635"/>
                </a:lnTo>
                <a:cubicBezTo>
                  <a:pt x="2594" y="649"/>
                  <a:pt x="2592" y="662"/>
                  <a:pt x="2586" y="676"/>
                </a:cubicBezTo>
                <a:cubicBezTo>
                  <a:pt x="2581" y="689"/>
                  <a:pt x="2573" y="701"/>
                  <a:pt x="2563" y="711"/>
                </a:cubicBezTo>
                <a:cubicBezTo>
                  <a:pt x="2553" y="720"/>
                  <a:pt x="2542" y="728"/>
                  <a:pt x="2529" y="733"/>
                </a:cubicBezTo>
                <a:cubicBezTo>
                  <a:pt x="2516" y="739"/>
                  <a:pt x="2503" y="741"/>
                  <a:pt x="2489" y="741"/>
                </a:cubicBezTo>
                <a:lnTo>
                  <a:pt x="106" y="741"/>
                </a:lnTo>
                <a:cubicBezTo>
                  <a:pt x="92" y="741"/>
                  <a:pt x="79" y="739"/>
                  <a:pt x="66" y="733"/>
                </a:cubicBezTo>
                <a:cubicBezTo>
                  <a:pt x="53" y="728"/>
                  <a:pt x="41" y="720"/>
                  <a:pt x="31" y="711"/>
                </a:cubicBezTo>
                <a:cubicBezTo>
                  <a:pt x="22" y="701"/>
                  <a:pt x="14" y="689"/>
                  <a:pt x="9" y="676"/>
                </a:cubicBezTo>
                <a:cubicBezTo>
                  <a:pt x="3" y="662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CuadroTexto 249"/>
          <p:cNvSpPr txBox="1"/>
          <p:nvPr/>
        </p:nvSpPr>
        <p:spPr>
          <a:xfrm>
            <a:off x="905040" y="5202000"/>
            <a:ext cx="5277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Cada renglón de la derecha es una decisión. Cambia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CuadroTexto 250"/>
          <p:cNvSpPr txBox="1"/>
          <p:nvPr/>
        </p:nvSpPr>
        <p:spPr>
          <a:xfrm>
            <a:off x="6273900" y="5239440"/>
            <a:ext cx="82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 dirty="0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[0, 90]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Forma libre 251"/>
          <p:cNvSpPr/>
          <p:nvPr/>
        </p:nvSpPr>
        <p:spPr>
          <a:xfrm>
            <a:off x="7562520" y="5219640"/>
            <a:ext cx="1048320" cy="266760"/>
          </a:xfrm>
          <a:custGeom>
            <a:avLst/>
            <a:gdLst/>
            <a:ahLst/>
            <a:cxnLst/>
            <a:rect l="0" t="0" r="r" b="b"/>
            <a:pathLst>
              <a:path w="2912" h="741">
                <a:moveTo>
                  <a:pt x="0" y="635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2806" y="0"/>
                </a:lnTo>
                <a:cubicBezTo>
                  <a:pt x="2820" y="0"/>
                  <a:pt x="2834" y="2"/>
                  <a:pt x="2846" y="8"/>
                </a:cubicBezTo>
                <a:cubicBezTo>
                  <a:pt x="2859" y="13"/>
                  <a:pt x="2871" y="21"/>
                  <a:pt x="2881" y="31"/>
                </a:cubicBezTo>
                <a:cubicBezTo>
                  <a:pt x="2891" y="41"/>
                  <a:pt x="2898" y="52"/>
                  <a:pt x="2904" y="65"/>
                </a:cubicBezTo>
                <a:cubicBezTo>
                  <a:pt x="2909" y="78"/>
                  <a:pt x="2912" y="91"/>
                  <a:pt x="2912" y="105"/>
                </a:cubicBezTo>
                <a:lnTo>
                  <a:pt x="2912" y="635"/>
                </a:lnTo>
                <a:cubicBezTo>
                  <a:pt x="2912" y="649"/>
                  <a:pt x="2909" y="662"/>
                  <a:pt x="2904" y="676"/>
                </a:cubicBezTo>
                <a:cubicBezTo>
                  <a:pt x="2898" y="689"/>
                  <a:pt x="2891" y="701"/>
                  <a:pt x="2881" y="711"/>
                </a:cubicBezTo>
                <a:cubicBezTo>
                  <a:pt x="2871" y="720"/>
                  <a:pt x="2859" y="728"/>
                  <a:pt x="2846" y="733"/>
                </a:cubicBezTo>
                <a:cubicBezTo>
                  <a:pt x="2834" y="739"/>
                  <a:pt x="2820" y="741"/>
                  <a:pt x="2806" y="741"/>
                </a:cubicBezTo>
                <a:lnTo>
                  <a:pt x="106" y="741"/>
                </a:lnTo>
                <a:cubicBezTo>
                  <a:pt x="92" y="741"/>
                  <a:pt x="79" y="739"/>
                  <a:pt x="66" y="733"/>
                </a:cubicBezTo>
                <a:cubicBezTo>
                  <a:pt x="53" y="728"/>
                  <a:pt x="41" y="720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2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CuadroTexto 252"/>
          <p:cNvSpPr txBox="1"/>
          <p:nvPr/>
        </p:nvSpPr>
        <p:spPr>
          <a:xfrm>
            <a:off x="7106760" y="5202000"/>
            <a:ext cx="458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por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CuadroTexto 253"/>
          <p:cNvSpPr txBox="1"/>
          <p:nvPr/>
        </p:nvSpPr>
        <p:spPr>
          <a:xfrm>
            <a:off x="7621560" y="5239440"/>
            <a:ext cx="94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[0, 365]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CuadroTexto 254"/>
          <p:cNvSpPr txBox="1"/>
          <p:nvPr/>
        </p:nvSpPr>
        <p:spPr>
          <a:xfrm>
            <a:off x="8614440" y="5202000"/>
            <a:ext cx="26305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y tienes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otra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cohorte, con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CuadroTexto 255"/>
          <p:cNvSpPr txBox="1"/>
          <p:nvPr/>
        </p:nvSpPr>
        <p:spPr>
          <a:xfrm>
            <a:off x="905040" y="5545080"/>
            <a:ext cx="3180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otros pacientes y otro resultado.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CuadroTexto 25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CuadroTexto 25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CuadroTexto 258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Forma libre 25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Forma libre 26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Forma libre 26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Forma libre 262"/>
          <p:cNvSpPr/>
          <p:nvPr/>
        </p:nvSpPr>
        <p:spPr>
          <a:xfrm>
            <a:off x="671400" y="2538360"/>
            <a:ext cx="10849320" cy="1629000"/>
          </a:xfrm>
          <a:custGeom>
            <a:avLst/>
            <a:gdLst/>
            <a:ahLst/>
            <a:cxnLst/>
            <a:rect l="0" t="0" r="r" b="b"/>
            <a:pathLst>
              <a:path w="30137" h="4525">
                <a:moveTo>
                  <a:pt x="0" y="432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4327"/>
                </a:lnTo>
                <a:cubicBezTo>
                  <a:pt x="30137" y="4340"/>
                  <a:pt x="30136" y="4353"/>
                  <a:pt x="30133" y="4365"/>
                </a:cubicBezTo>
                <a:cubicBezTo>
                  <a:pt x="30130" y="4378"/>
                  <a:pt x="30127" y="4390"/>
                  <a:pt x="30122" y="4403"/>
                </a:cubicBezTo>
                <a:cubicBezTo>
                  <a:pt x="30117" y="4415"/>
                  <a:pt x="30111" y="4426"/>
                  <a:pt x="30103" y="4437"/>
                </a:cubicBezTo>
                <a:cubicBezTo>
                  <a:pt x="30096" y="4448"/>
                  <a:pt x="30088" y="4458"/>
                  <a:pt x="30079" y="4467"/>
                </a:cubicBezTo>
                <a:cubicBezTo>
                  <a:pt x="30070" y="4476"/>
                  <a:pt x="30059" y="4484"/>
                  <a:pt x="30049" y="4492"/>
                </a:cubicBezTo>
                <a:cubicBezTo>
                  <a:pt x="30038" y="4499"/>
                  <a:pt x="30026" y="4505"/>
                  <a:pt x="30014" y="4510"/>
                </a:cubicBezTo>
                <a:cubicBezTo>
                  <a:pt x="30002" y="4515"/>
                  <a:pt x="29990" y="4519"/>
                  <a:pt x="29977" y="4521"/>
                </a:cubicBezTo>
                <a:cubicBezTo>
                  <a:pt x="29964" y="4524"/>
                  <a:pt x="29951" y="4525"/>
                  <a:pt x="29938" y="4525"/>
                </a:cubicBezTo>
                <a:lnTo>
                  <a:pt x="198" y="4525"/>
                </a:lnTo>
                <a:cubicBezTo>
                  <a:pt x="185" y="4525"/>
                  <a:pt x="172" y="4524"/>
                  <a:pt x="160" y="4521"/>
                </a:cubicBezTo>
                <a:cubicBezTo>
                  <a:pt x="147" y="4519"/>
                  <a:pt x="134" y="4515"/>
                  <a:pt x="122" y="4510"/>
                </a:cubicBezTo>
                <a:cubicBezTo>
                  <a:pt x="110" y="4505"/>
                  <a:pt x="99" y="4499"/>
                  <a:pt x="88" y="4492"/>
                </a:cubicBezTo>
                <a:cubicBezTo>
                  <a:pt x="77" y="4484"/>
                  <a:pt x="67" y="4476"/>
                  <a:pt x="58" y="4467"/>
                </a:cubicBezTo>
                <a:cubicBezTo>
                  <a:pt x="49" y="4458"/>
                  <a:pt x="40" y="4448"/>
                  <a:pt x="33" y="4437"/>
                </a:cubicBezTo>
                <a:cubicBezTo>
                  <a:pt x="26" y="4426"/>
                  <a:pt x="20" y="4415"/>
                  <a:pt x="15" y="4403"/>
                </a:cubicBezTo>
                <a:cubicBezTo>
                  <a:pt x="10" y="4390"/>
                  <a:pt x="6" y="4378"/>
                  <a:pt x="4" y="4365"/>
                </a:cubicBezTo>
                <a:cubicBezTo>
                  <a:pt x="1" y="4353"/>
                  <a:pt x="0" y="4340"/>
                  <a:pt x="0" y="432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Forma libre 263"/>
          <p:cNvSpPr/>
          <p:nvPr/>
        </p:nvSpPr>
        <p:spPr>
          <a:xfrm>
            <a:off x="671400" y="2538360"/>
            <a:ext cx="10849320" cy="1629000"/>
          </a:xfrm>
          <a:custGeom>
            <a:avLst/>
            <a:gdLst/>
            <a:ahLst/>
            <a:cxnLst/>
            <a:rect l="0" t="0" r="r" b="b"/>
            <a:pathLst>
              <a:path w="30137" h="4525">
                <a:moveTo>
                  <a:pt x="0" y="432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4327"/>
                </a:lnTo>
                <a:cubicBezTo>
                  <a:pt x="30137" y="4340"/>
                  <a:pt x="30136" y="4353"/>
                  <a:pt x="30133" y="4365"/>
                </a:cubicBezTo>
                <a:cubicBezTo>
                  <a:pt x="30130" y="4378"/>
                  <a:pt x="30127" y="4390"/>
                  <a:pt x="30122" y="4403"/>
                </a:cubicBezTo>
                <a:cubicBezTo>
                  <a:pt x="30117" y="4415"/>
                  <a:pt x="30111" y="4426"/>
                  <a:pt x="30103" y="4437"/>
                </a:cubicBezTo>
                <a:cubicBezTo>
                  <a:pt x="30096" y="4448"/>
                  <a:pt x="30088" y="4458"/>
                  <a:pt x="30079" y="4467"/>
                </a:cubicBezTo>
                <a:cubicBezTo>
                  <a:pt x="30070" y="4476"/>
                  <a:pt x="30059" y="4484"/>
                  <a:pt x="30049" y="4492"/>
                </a:cubicBezTo>
                <a:cubicBezTo>
                  <a:pt x="30038" y="4499"/>
                  <a:pt x="30026" y="4505"/>
                  <a:pt x="30014" y="4510"/>
                </a:cubicBezTo>
                <a:cubicBezTo>
                  <a:pt x="30002" y="4515"/>
                  <a:pt x="29990" y="4519"/>
                  <a:pt x="29977" y="4521"/>
                </a:cubicBezTo>
                <a:cubicBezTo>
                  <a:pt x="29964" y="4524"/>
                  <a:pt x="29951" y="4525"/>
                  <a:pt x="29938" y="4525"/>
                </a:cubicBezTo>
                <a:lnTo>
                  <a:pt x="198" y="4525"/>
                </a:lnTo>
                <a:cubicBezTo>
                  <a:pt x="185" y="4525"/>
                  <a:pt x="172" y="4524"/>
                  <a:pt x="160" y="4521"/>
                </a:cubicBezTo>
                <a:cubicBezTo>
                  <a:pt x="147" y="4519"/>
                  <a:pt x="134" y="4515"/>
                  <a:pt x="122" y="4510"/>
                </a:cubicBezTo>
                <a:cubicBezTo>
                  <a:pt x="110" y="4505"/>
                  <a:pt x="99" y="4499"/>
                  <a:pt x="88" y="4492"/>
                </a:cubicBezTo>
                <a:cubicBezTo>
                  <a:pt x="77" y="4484"/>
                  <a:pt x="67" y="4476"/>
                  <a:pt x="58" y="4467"/>
                </a:cubicBezTo>
                <a:cubicBezTo>
                  <a:pt x="49" y="4458"/>
                  <a:pt x="40" y="4448"/>
                  <a:pt x="33" y="4437"/>
                </a:cubicBezTo>
                <a:cubicBezTo>
                  <a:pt x="26" y="4426"/>
                  <a:pt x="20" y="4415"/>
                  <a:pt x="15" y="4403"/>
                </a:cubicBezTo>
                <a:cubicBezTo>
                  <a:pt x="10" y="4390"/>
                  <a:pt x="6" y="4378"/>
                  <a:pt x="4" y="4365"/>
                </a:cubicBezTo>
                <a:cubicBezTo>
                  <a:pt x="1" y="4353"/>
                  <a:pt x="0" y="4340"/>
                  <a:pt x="0" y="432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CuadroTexto 264"/>
          <p:cNvSpPr txBox="1"/>
          <p:nvPr/>
        </p:nvSpPr>
        <p:spPr>
          <a:xfrm>
            <a:off x="666720" y="1406160"/>
            <a:ext cx="45997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Dos requisitos que se confunden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CuadroTexto 265"/>
          <p:cNvSpPr txBox="1"/>
          <p:nvPr/>
        </p:nvSpPr>
        <p:spPr>
          <a:xfrm>
            <a:off x="666720" y="2077920"/>
            <a:ext cx="74818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Para que la fecha índice sea de verdad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 inicio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pides dos cosas distintas: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CuadroTexto 266"/>
          <p:cNvSpPr txBox="1"/>
          <p:nvPr/>
        </p:nvSpPr>
        <p:spPr>
          <a:xfrm>
            <a:off x="866880" y="2718000"/>
            <a:ext cx="7534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observación previa   ≥365 días de OBSERVATION_PERIOD antes del índice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CuadroTexto 267"/>
          <p:cNvSpPr txBox="1"/>
          <p:nvPr/>
        </p:nvSpPr>
        <p:spPr>
          <a:xfrm>
            <a:off x="866880" y="2984760"/>
            <a:ext cx="48049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    → "te estábamos viendo"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CuadroTexto 268"/>
          <p:cNvSpPr txBox="1"/>
          <p:nvPr/>
        </p:nvSpPr>
        <p:spPr>
          <a:xfrm>
            <a:off x="866880" y="3508560"/>
            <a:ext cx="6879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lavado (washout)     0 exposiciones al fármaco en esos 365 días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Forma libre 269"/>
          <p:cNvSpPr/>
          <p:nvPr/>
        </p:nvSpPr>
        <p:spPr>
          <a:xfrm>
            <a:off x="914040" y="44766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CuadroTexto 270"/>
          <p:cNvSpPr txBox="1"/>
          <p:nvPr/>
        </p:nvSpPr>
        <p:spPr>
          <a:xfrm>
            <a:off x="866880" y="3765960"/>
            <a:ext cx="4368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    → "y no lo tomabas"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Forma libre 271"/>
          <p:cNvSpPr/>
          <p:nvPr/>
        </p:nvSpPr>
        <p:spPr>
          <a:xfrm>
            <a:off x="914040" y="48765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CuadroTexto 272"/>
          <p:cNvSpPr txBox="1"/>
          <p:nvPr/>
        </p:nvSpPr>
        <p:spPr>
          <a:xfrm>
            <a:off x="1123920" y="4363920"/>
            <a:ext cx="72802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Son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dos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ﬁltros, y se reportan por separado: cada uno te cuesta pacientes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Forma libre 273"/>
          <p:cNvSpPr/>
          <p:nvPr/>
        </p:nvSpPr>
        <p:spPr>
          <a:xfrm>
            <a:off x="914040" y="52765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2"/>
                  <a:pt x="31" y="32"/>
                </a:cubicBezTo>
                <a:cubicBezTo>
                  <a:pt x="41" y="22"/>
                  <a:pt x="53" y="15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5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CuadroTexto 274"/>
          <p:cNvSpPr txBox="1"/>
          <p:nvPr/>
        </p:nvSpPr>
        <p:spPr>
          <a:xfrm>
            <a:off x="1123920" y="4763880"/>
            <a:ext cx="7783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Sin lavado, mezclas a quien empieza hoy con quien lleva ocho años tomándolo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CuadroTexto 275"/>
          <p:cNvSpPr txBox="1"/>
          <p:nvPr/>
        </p:nvSpPr>
        <p:spPr>
          <a:xfrm>
            <a:off x="1123920" y="5163840"/>
            <a:ext cx="5772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365 días es la convención. Justifícalo o cámbialo, pero dilo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CuadroTexto 27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CuadroTexto 27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CuadroTexto 27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Forma libre 27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Forma libre 28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Forma libre 28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CuadroTexto 282"/>
          <p:cNvSpPr txBox="1"/>
          <p:nvPr/>
        </p:nvSpPr>
        <p:spPr>
          <a:xfrm>
            <a:off x="1909440" y="3063960"/>
            <a:ext cx="85766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4. Criterios de inclusión con ventanas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CuadroTexto 28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CuadroTexto 28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CuadroTexto 28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Forma libre 28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Forma libre 28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Forma libre 28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Forma libre 289"/>
          <p:cNvSpPr/>
          <p:nvPr/>
        </p:nvSpPr>
        <p:spPr>
          <a:xfrm>
            <a:off x="676080" y="2190600"/>
            <a:ext cx="1962360" cy="410040"/>
          </a:xfrm>
          <a:custGeom>
            <a:avLst/>
            <a:gdLst/>
            <a:ahLst/>
            <a:cxnLst/>
            <a:rect l="0" t="0" r="r" b="b"/>
            <a:pathLst>
              <a:path w="5451" h="1139">
                <a:moveTo>
                  <a:pt x="0" y="0"/>
                </a:moveTo>
                <a:lnTo>
                  <a:pt x="5451" y="0"/>
                </a:lnTo>
                <a:lnTo>
                  <a:pt x="545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Forma libre 290"/>
          <p:cNvSpPr/>
          <p:nvPr/>
        </p:nvSpPr>
        <p:spPr>
          <a:xfrm>
            <a:off x="2638080" y="2190600"/>
            <a:ext cx="3943800" cy="410040"/>
          </a:xfrm>
          <a:custGeom>
            <a:avLst/>
            <a:gdLst/>
            <a:ahLst/>
            <a:cxnLst/>
            <a:rect l="0" t="0" r="r" b="b"/>
            <a:pathLst>
              <a:path w="10955" h="1139">
                <a:moveTo>
                  <a:pt x="0" y="0"/>
                </a:moveTo>
                <a:lnTo>
                  <a:pt x="10955" y="0"/>
                </a:lnTo>
                <a:lnTo>
                  <a:pt x="1095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Forma libre 291"/>
          <p:cNvSpPr/>
          <p:nvPr/>
        </p:nvSpPr>
        <p:spPr>
          <a:xfrm>
            <a:off x="676080" y="2190600"/>
            <a:ext cx="1962360" cy="410040"/>
          </a:xfrm>
          <a:custGeom>
            <a:avLst/>
            <a:gdLst/>
            <a:ahLst/>
            <a:cxnLst/>
            <a:rect l="0" t="0" r="r" b="b"/>
            <a:pathLst>
              <a:path w="5451" h="1139">
                <a:moveTo>
                  <a:pt x="0" y="0"/>
                </a:moveTo>
                <a:lnTo>
                  <a:pt x="5451" y="0"/>
                </a:lnTo>
                <a:lnTo>
                  <a:pt x="545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Forma libre 292"/>
          <p:cNvSpPr/>
          <p:nvPr/>
        </p:nvSpPr>
        <p:spPr>
          <a:xfrm>
            <a:off x="2638080" y="2190600"/>
            <a:ext cx="3943800" cy="410040"/>
          </a:xfrm>
          <a:custGeom>
            <a:avLst/>
            <a:gdLst/>
            <a:ahLst/>
            <a:cxnLst/>
            <a:rect l="0" t="0" r="r" b="b"/>
            <a:pathLst>
              <a:path w="10955" h="1139">
                <a:moveTo>
                  <a:pt x="0" y="0"/>
                </a:moveTo>
                <a:lnTo>
                  <a:pt x="10955" y="0"/>
                </a:lnTo>
                <a:lnTo>
                  <a:pt x="1095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Forma libre 293"/>
          <p:cNvSpPr/>
          <p:nvPr/>
        </p:nvSpPr>
        <p:spPr>
          <a:xfrm>
            <a:off x="676080" y="2600280"/>
            <a:ext cx="1962360" cy="409680"/>
          </a:xfrm>
          <a:custGeom>
            <a:avLst/>
            <a:gdLst/>
            <a:ahLst/>
            <a:cxnLst/>
            <a:rect l="0" t="0" r="r" b="b"/>
            <a:pathLst>
              <a:path w="5451" h="1138">
                <a:moveTo>
                  <a:pt x="0" y="0"/>
                </a:moveTo>
                <a:lnTo>
                  <a:pt x="5451" y="0"/>
                </a:lnTo>
                <a:lnTo>
                  <a:pt x="5451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Forma libre 294"/>
          <p:cNvSpPr/>
          <p:nvPr/>
        </p:nvSpPr>
        <p:spPr>
          <a:xfrm>
            <a:off x="2638080" y="2600280"/>
            <a:ext cx="3943800" cy="409680"/>
          </a:xfrm>
          <a:custGeom>
            <a:avLst/>
            <a:gdLst/>
            <a:ahLst/>
            <a:cxnLst/>
            <a:rect l="0" t="0" r="r" b="b"/>
            <a:pathLst>
              <a:path w="10955" h="1138">
                <a:moveTo>
                  <a:pt x="0" y="0"/>
                </a:moveTo>
                <a:lnTo>
                  <a:pt x="10955" y="0"/>
                </a:lnTo>
                <a:lnTo>
                  <a:pt x="10955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Forma libre 295"/>
          <p:cNvSpPr/>
          <p:nvPr/>
        </p:nvSpPr>
        <p:spPr>
          <a:xfrm>
            <a:off x="676080" y="3009600"/>
            <a:ext cx="1962360" cy="410040"/>
          </a:xfrm>
          <a:custGeom>
            <a:avLst/>
            <a:gdLst/>
            <a:ahLst/>
            <a:cxnLst/>
            <a:rect l="0" t="0" r="r" b="b"/>
            <a:pathLst>
              <a:path w="5451" h="1139">
                <a:moveTo>
                  <a:pt x="0" y="0"/>
                </a:moveTo>
                <a:lnTo>
                  <a:pt x="5451" y="0"/>
                </a:lnTo>
                <a:lnTo>
                  <a:pt x="545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Forma libre 296"/>
          <p:cNvSpPr/>
          <p:nvPr/>
        </p:nvSpPr>
        <p:spPr>
          <a:xfrm>
            <a:off x="2638080" y="3009600"/>
            <a:ext cx="3943800" cy="410040"/>
          </a:xfrm>
          <a:custGeom>
            <a:avLst/>
            <a:gdLst/>
            <a:ahLst/>
            <a:cxnLst/>
            <a:rect l="0" t="0" r="r" b="b"/>
            <a:pathLst>
              <a:path w="10955" h="1139">
                <a:moveTo>
                  <a:pt x="0" y="0"/>
                </a:moveTo>
                <a:lnTo>
                  <a:pt x="10955" y="0"/>
                </a:lnTo>
                <a:lnTo>
                  <a:pt x="1095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Forma libre 297"/>
          <p:cNvSpPr/>
          <p:nvPr/>
        </p:nvSpPr>
        <p:spPr>
          <a:xfrm>
            <a:off x="676080" y="3419280"/>
            <a:ext cx="1962360" cy="410040"/>
          </a:xfrm>
          <a:custGeom>
            <a:avLst/>
            <a:gdLst/>
            <a:ahLst/>
            <a:cxnLst/>
            <a:rect l="0" t="0" r="r" b="b"/>
            <a:pathLst>
              <a:path w="5451" h="1139">
                <a:moveTo>
                  <a:pt x="0" y="0"/>
                </a:moveTo>
                <a:lnTo>
                  <a:pt x="5451" y="0"/>
                </a:lnTo>
                <a:lnTo>
                  <a:pt x="545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Forma libre 298"/>
          <p:cNvSpPr/>
          <p:nvPr/>
        </p:nvSpPr>
        <p:spPr>
          <a:xfrm>
            <a:off x="2638080" y="3419280"/>
            <a:ext cx="3943800" cy="410040"/>
          </a:xfrm>
          <a:custGeom>
            <a:avLst/>
            <a:gdLst/>
            <a:ahLst/>
            <a:cxnLst/>
            <a:rect l="0" t="0" r="r" b="b"/>
            <a:pathLst>
              <a:path w="10955" h="1139">
                <a:moveTo>
                  <a:pt x="0" y="0"/>
                </a:moveTo>
                <a:lnTo>
                  <a:pt x="10955" y="0"/>
                </a:lnTo>
                <a:lnTo>
                  <a:pt x="1095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Forma libre 299"/>
          <p:cNvSpPr/>
          <p:nvPr/>
        </p:nvSpPr>
        <p:spPr>
          <a:xfrm>
            <a:off x="666720" y="218088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Forma libre 300"/>
          <p:cNvSpPr/>
          <p:nvPr/>
        </p:nvSpPr>
        <p:spPr>
          <a:xfrm>
            <a:off x="666720" y="2180880"/>
            <a:ext cx="1971720" cy="10080"/>
          </a:xfrm>
          <a:custGeom>
            <a:avLst/>
            <a:gdLst/>
            <a:ahLst/>
            <a:cxnLst/>
            <a:rect l="0" t="0" r="r" b="b"/>
            <a:pathLst>
              <a:path w="5477" h="28">
                <a:moveTo>
                  <a:pt x="0" y="0"/>
                </a:moveTo>
                <a:lnTo>
                  <a:pt x="5477" y="0"/>
                </a:lnTo>
                <a:lnTo>
                  <a:pt x="54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Forma libre 301"/>
          <p:cNvSpPr/>
          <p:nvPr/>
        </p:nvSpPr>
        <p:spPr>
          <a:xfrm>
            <a:off x="2628720" y="218088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Forma libre 302"/>
          <p:cNvSpPr/>
          <p:nvPr/>
        </p:nvSpPr>
        <p:spPr>
          <a:xfrm>
            <a:off x="2638080" y="2180880"/>
            <a:ext cx="3953520" cy="10080"/>
          </a:xfrm>
          <a:custGeom>
            <a:avLst/>
            <a:gdLst/>
            <a:ahLst/>
            <a:cxnLst/>
            <a:rect l="0" t="0" r="r" b="b"/>
            <a:pathLst>
              <a:path w="10982" h="28">
                <a:moveTo>
                  <a:pt x="0" y="0"/>
                </a:moveTo>
                <a:lnTo>
                  <a:pt x="10982" y="0"/>
                </a:lnTo>
                <a:lnTo>
                  <a:pt x="109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Forma libre 303"/>
          <p:cNvSpPr/>
          <p:nvPr/>
        </p:nvSpPr>
        <p:spPr>
          <a:xfrm>
            <a:off x="6581520" y="218088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Forma libre 304"/>
          <p:cNvSpPr/>
          <p:nvPr/>
        </p:nvSpPr>
        <p:spPr>
          <a:xfrm>
            <a:off x="666720" y="2590560"/>
            <a:ext cx="1971720" cy="10080"/>
          </a:xfrm>
          <a:custGeom>
            <a:avLst/>
            <a:gdLst/>
            <a:ahLst/>
            <a:cxnLst/>
            <a:rect l="0" t="0" r="r" b="b"/>
            <a:pathLst>
              <a:path w="5477" h="28">
                <a:moveTo>
                  <a:pt x="0" y="0"/>
                </a:moveTo>
                <a:lnTo>
                  <a:pt x="5477" y="0"/>
                </a:lnTo>
                <a:lnTo>
                  <a:pt x="54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Forma libre 305"/>
          <p:cNvSpPr/>
          <p:nvPr/>
        </p:nvSpPr>
        <p:spPr>
          <a:xfrm>
            <a:off x="2638080" y="2590560"/>
            <a:ext cx="3953520" cy="10080"/>
          </a:xfrm>
          <a:custGeom>
            <a:avLst/>
            <a:gdLst/>
            <a:ahLst/>
            <a:cxnLst/>
            <a:rect l="0" t="0" r="r" b="b"/>
            <a:pathLst>
              <a:path w="10982" h="28">
                <a:moveTo>
                  <a:pt x="0" y="0"/>
                </a:moveTo>
                <a:lnTo>
                  <a:pt x="10982" y="0"/>
                </a:lnTo>
                <a:lnTo>
                  <a:pt x="109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Forma libre 306"/>
          <p:cNvSpPr/>
          <p:nvPr/>
        </p:nvSpPr>
        <p:spPr>
          <a:xfrm>
            <a:off x="666720" y="260028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Forma libre 307"/>
          <p:cNvSpPr/>
          <p:nvPr/>
        </p:nvSpPr>
        <p:spPr>
          <a:xfrm>
            <a:off x="2628720" y="260028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Forma libre 308"/>
          <p:cNvSpPr/>
          <p:nvPr/>
        </p:nvSpPr>
        <p:spPr>
          <a:xfrm>
            <a:off x="6581520" y="260028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Forma libre 309"/>
          <p:cNvSpPr/>
          <p:nvPr/>
        </p:nvSpPr>
        <p:spPr>
          <a:xfrm>
            <a:off x="666720" y="30096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Forma libre 310"/>
          <p:cNvSpPr/>
          <p:nvPr/>
        </p:nvSpPr>
        <p:spPr>
          <a:xfrm>
            <a:off x="666720" y="3000240"/>
            <a:ext cx="1971720" cy="9720"/>
          </a:xfrm>
          <a:custGeom>
            <a:avLst/>
            <a:gdLst/>
            <a:ahLst/>
            <a:cxnLst/>
            <a:rect l="0" t="0" r="r" b="b"/>
            <a:pathLst>
              <a:path w="5477" h="27">
                <a:moveTo>
                  <a:pt x="0" y="0"/>
                </a:moveTo>
                <a:lnTo>
                  <a:pt x="5477" y="0"/>
                </a:lnTo>
                <a:lnTo>
                  <a:pt x="54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Forma libre 311"/>
          <p:cNvSpPr/>
          <p:nvPr/>
        </p:nvSpPr>
        <p:spPr>
          <a:xfrm>
            <a:off x="2628720" y="30096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Forma libre 312"/>
          <p:cNvSpPr/>
          <p:nvPr/>
        </p:nvSpPr>
        <p:spPr>
          <a:xfrm>
            <a:off x="2638080" y="3000240"/>
            <a:ext cx="3953520" cy="9720"/>
          </a:xfrm>
          <a:custGeom>
            <a:avLst/>
            <a:gdLst/>
            <a:ahLst/>
            <a:cxnLst/>
            <a:rect l="0" t="0" r="r" b="b"/>
            <a:pathLst>
              <a:path w="10982" h="27">
                <a:moveTo>
                  <a:pt x="0" y="0"/>
                </a:moveTo>
                <a:lnTo>
                  <a:pt x="10982" y="0"/>
                </a:lnTo>
                <a:lnTo>
                  <a:pt x="109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Forma libre 313"/>
          <p:cNvSpPr/>
          <p:nvPr/>
        </p:nvSpPr>
        <p:spPr>
          <a:xfrm>
            <a:off x="6581520" y="300960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Forma libre 314"/>
          <p:cNvSpPr/>
          <p:nvPr/>
        </p:nvSpPr>
        <p:spPr>
          <a:xfrm>
            <a:off x="666720" y="34192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Forma libre 315"/>
          <p:cNvSpPr/>
          <p:nvPr/>
        </p:nvSpPr>
        <p:spPr>
          <a:xfrm>
            <a:off x="666720" y="3409920"/>
            <a:ext cx="1971720" cy="9720"/>
          </a:xfrm>
          <a:custGeom>
            <a:avLst/>
            <a:gdLst/>
            <a:ahLst/>
            <a:cxnLst/>
            <a:rect l="0" t="0" r="r" b="b"/>
            <a:pathLst>
              <a:path w="5477" h="27">
                <a:moveTo>
                  <a:pt x="0" y="0"/>
                </a:moveTo>
                <a:lnTo>
                  <a:pt x="5477" y="0"/>
                </a:lnTo>
                <a:lnTo>
                  <a:pt x="54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Forma libre 316"/>
          <p:cNvSpPr/>
          <p:nvPr/>
        </p:nvSpPr>
        <p:spPr>
          <a:xfrm>
            <a:off x="2628720" y="34192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Forma libre 317"/>
          <p:cNvSpPr/>
          <p:nvPr/>
        </p:nvSpPr>
        <p:spPr>
          <a:xfrm>
            <a:off x="2638080" y="3409920"/>
            <a:ext cx="3953520" cy="9720"/>
          </a:xfrm>
          <a:custGeom>
            <a:avLst/>
            <a:gdLst/>
            <a:ahLst/>
            <a:cxnLst/>
            <a:rect l="0" t="0" r="r" b="b"/>
            <a:pathLst>
              <a:path w="10982" h="27">
                <a:moveTo>
                  <a:pt x="0" y="0"/>
                </a:moveTo>
                <a:lnTo>
                  <a:pt x="10982" y="0"/>
                </a:lnTo>
                <a:lnTo>
                  <a:pt x="109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Forma libre 318"/>
          <p:cNvSpPr/>
          <p:nvPr/>
        </p:nvSpPr>
        <p:spPr>
          <a:xfrm>
            <a:off x="6581520" y="341928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Forma libre 319"/>
          <p:cNvSpPr/>
          <p:nvPr/>
        </p:nvSpPr>
        <p:spPr>
          <a:xfrm>
            <a:off x="666720" y="3819240"/>
            <a:ext cx="1971720" cy="10080"/>
          </a:xfrm>
          <a:custGeom>
            <a:avLst/>
            <a:gdLst/>
            <a:ahLst/>
            <a:cxnLst/>
            <a:rect l="0" t="0" r="r" b="b"/>
            <a:pathLst>
              <a:path w="5477" h="28">
                <a:moveTo>
                  <a:pt x="0" y="0"/>
                </a:moveTo>
                <a:lnTo>
                  <a:pt x="5477" y="0"/>
                </a:lnTo>
                <a:lnTo>
                  <a:pt x="54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Forma libre 320"/>
          <p:cNvSpPr/>
          <p:nvPr/>
        </p:nvSpPr>
        <p:spPr>
          <a:xfrm>
            <a:off x="2638080" y="3819240"/>
            <a:ext cx="3953520" cy="10080"/>
          </a:xfrm>
          <a:custGeom>
            <a:avLst/>
            <a:gdLst/>
            <a:ahLst/>
            <a:cxnLst/>
            <a:rect l="0" t="0" r="r" b="b"/>
            <a:pathLst>
              <a:path w="10982" h="28">
                <a:moveTo>
                  <a:pt x="0" y="0"/>
                </a:moveTo>
                <a:lnTo>
                  <a:pt x="10982" y="0"/>
                </a:lnTo>
                <a:lnTo>
                  <a:pt x="109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Forma libre 321"/>
          <p:cNvSpPr/>
          <p:nvPr/>
        </p:nvSpPr>
        <p:spPr>
          <a:xfrm>
            <a:off x="671400" y="398592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4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2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7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7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2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4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Forma libre 322"/>
          <p:cNvSpPr/>
          <p:nvPr/>
        </p:nvSpPr>
        <p:spPr>
          <a:xfrm>
            <a:off x="671400" y="398592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4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2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7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7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2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4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Forma libre 323"/>
          <p:cNvSpPr/>
          <p:nvPr/>
        </p:nvSpPr>
        <p:spPr>
          <a:xfrm>
            <a:off x="666720" y="5248080"/>
            <a:ext cx="10858680" cy="572040"/>
          </a:xfrm>
          <a:custGeom>
            <a:avLst/>
            <a:gdLst/>
            <a:ahLst/>
            <a:cxnLst/>
            <a:rect l="0" t="0" r="r" b="b"/>
            <a:pathLst>
              <a:path w="30163" h="1589">
                <a:moveTo>
                  <a:pt x="0" y="0"/>
                </a:moveTo>
                <a:lnTo>
                  <a:pt x="30163" y="0"/>
                </a:lnTo>
                <a:lnTo>
                  <a:pt x="3016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Forma libre 324"/>
          <p:cNvSpPr/>
          <p:nvPr/>
        </p:nvSpPr>
        <p:spPr>
          <a:xfrm>
            <a:off x="666720" y="5248080"/>
            <a:ext cx="47880" cy="572040"/>
          </a:xfrm>
          <a:custGeom>
            <a:avLst/>
            <a:gdLst/>
            <a:ahLst/>
            <a:cxnLst/>
            <a:rect l="0" t="0" r="r" b="b"/>
            <a:pathLst>
              <a:path w="133" h="1589">
                <a:moveTo>
                  <a:pt x="0" y="0"/>
                </a:moveTo>
                <a:lnTo>
                  <a:pt x="133" y="0"/>
                </a:lnTo>
                <a:lnTo>
                  <a:pt x="13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CuadroTexto 325"/>
          <p:cNvSpPr txBox="1"/>
          <p:nvPr/>
        </p:nvSpPr>
        <p:spPr>
          <a:xfrm>
            <a:off x="666720" y="1053720"/>
            <a:ext cx="48056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Todo criterio necesita una ventana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CuadroTexto 326"/>
          <p:cNvSpPr txBox="1"/>
          <p:nvPr/>
        </p:nvSpPr>
        <p:spPr>
          <a:xfrm>
            <a:off x="666720" y="1725480"/>
            <a:ext cx="3883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criterio sin ventana no es un criterio: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CuadroTexto 327"/>
          <p:cNvSpPr txBox="1"/>
          <p:nvPr/>
        </p:nvSpPr>
        <p:spPr>
          <a:xfrm>
            <a:off x="1488240" y="2285640"/>
            <a:ext cx="331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Mal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CuadroTexto 328"/>
          <p:cNvSpPr txBox="1"/>
          <p:nvPr/>
        </p:nvSpPr>
        <p:spPr>
          <a:xfrm>
            <a:off x="4408560" y="2285640"/>
            <a:ext cx="406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Bien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CuadroTexto 329"/>
          <p:cNvSpPr txBox="1"/>
          <p:nvPr/>
        </p:nvSpPr>
        <p:spPr>
          <a:xfrm>
            <a:off x="799920" y="2685600"/>
            <a:ext cx="1306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«tiene diabetes»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Forma libre 330"/>
          <p:cNvSpPr/>
          <p:nvPr/>
        </p:nvSpPr>
        <p:spPr>
          <a:xfrm>
            <a:off x="5381280" y="2695320"/>
            <a:ext cx="991080" cy="228960"/>
          </a:xfrm>
          <a:custGeom>
            <a:avLst/>
            <a:gdLst/>
            <a:ahLst/>
            <a:cxnLst/>
            <a:rect l="0" t="0" r="r" b="b"/>
            <a:pathLst>
              <a:path w="2753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2647" y="0"/>
                </a:lnTo>
                <a:cubicBezTo>
                  <a:pt x="2661" y="0"/>
                  <a:pt x="2675" y="3"/>
                  <a:pt x="2688" y="8"/>
                </a:cubicBezTo>
                <a:cubicBezTo>
                  <a:pt x="2701" y="14"/>
                  <a:pt x="2712" y="21"/>
                  <a:pt x="2722" y="31"/>
                </a:cubicBezTo>
                <a:cubicBezTo>
                  <a:pt x="2732" y="41"/>
                  <a:pt x="2740" y="53"/>
                  <a:pt x="2745" y="66"/>
                </a:cubicBezTo>
                <a:cubicBezTo>
                  <a:pt x="2750" y="79"/>
                  <a:pt x="2753" y="92"/>
                  <a:pt x="2753" y="106"/>
                </a:cubicBezTo>
                <a:lnTo>
                  <a:pt x="2753" y="530"/>
                </a:lnTo>
                <a:cubicBezTo>
                  <a:pt x="2753" y="544"/>
                  <a:pt x="2750" y="558"/>
                  <a:pt x="2745" y="571"/>
                </a:cubicBezTo>
                <a:cubicBezTo>
                  <a:pt x="2740" y="584"/>
                  <a:pt x="2732" y="595"/>
                  <a:pt x="2722" y="605"/>
                </a:cubicBezTo>
                <a:cubicBezTo>
                  <a:pt x="2712" y="615"/>
                  <a:pt x="2701" y="623"/>
                  <a:pt x="2688" y="628"/>
                </a:cubicBezTo>
                <a:cubicBezTo>
                  <a:pt x="2675" y="634"/>
                  <a:pt x="2661" y="636"/>
                  <a:pt x="2647" y="636"/>
                </a:cubicBezTo>
                <a:lnTo>
                  <a:pt x="106" y="636"/>
                </a:lnTo>
                <a:cubicBezTo>
                  <a:pt x="92" y="636"/>
                  <a:pt x="79" y="634"/>
                  <a:pt x="66" y="628"/>
                </a:cubicBezTo>
                <a:cubicBezTo>
                  <a:pt x="53" y="623"/>
                  <a:pt x="41" y="615"/>
                  <a:pt x="31" y="605"/>
                </a:cubicBezTo>
                <a:cubicBezTo>
                  <a:pt x="22" y="595"/>
                  <a:pt x="14" y="584"/>
                  <a:pt x="9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CuadroTexto 331"/>
          <p:cNvSpPr txBox="1"/>
          <p:nvPr/>
        </p:nvSpPr>
        <p:spPr>
          <a:xfrm>
            <a:off x="2764800" y="2685600"/>
            <a:ext cx="26204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«≥1 diagnóstico de diabetes en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CuadroTexto 332"/>
          <p:cNvSpPr txBox="1"/>
          <p:nvPr/>
        </p:nvSpPr>
        <p:spPr>
          <a:xfrm>
            <a:off x="5441760" y="2716920"/>
            <a:ext cx="875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[-365, 0]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CuadroTexto 333"/>
          <p:cNvSpPr txBox="1"/>
          <p:nvPr/>
        </p:nvSpPr>
        <p:spPr>
          <a:xfrm>
            <a:off x="6376680" y="268560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»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CuadroTexto 334"/>
          <p:cNvSpPr txBox="1"/>
          <p:nvPr/>
        </p:nvSpPr>
        <p:spPr>
          <a:xfrm>
            <a:off x="799920" y="3095280"/>
            <a:ext cx="17082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«no tomaba insulina»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Forma libre 335"/>
          <p:cNvSpPr/>
          <p:nvPr/>
        </p:nvSpPr>
        <p:spPr>
          <a:xfrm>
            <a:off x="5181480" y="3105000"/>
            <a:ext cx="1095840" cy="228960"/>
          </a:xfrm>
          <a:custGeom>
            <a:avLst/>
            <a:gdLst/>
            <a:ahLst/>
            <a:cxnLst/>
            <a:rect l="0" t="0" r="r" b="b"/>
            <a:pathLst>
              <a:path w="3044" h="636">
                <a:moveTo>
                  <a:pt x="0" y="529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938" y="0"/>
                </a:lnTo>
                <a:cubicBezTo>
                  <a:pt x="2952" y="0"/>
                  <a:pt x="2965" y="3"/>
                  <a:pt x="2978" y="8"/>
                </a:cubicBezTo>
                <a:cubicBezTo>
                  <a:pt x="2991" y="13"/>
                  <a:pt x="3003" y="21"/>
                  <a:pt x="3013" y="31"/>
                </a:cubicBezTo>
                <a:cubicBezTo>
                  <a:pt x="3022" y="41"/>
                  <a:pt x="3030" y="52"/>
                  <a:pt x="3035" y="65"/>
                </a:cubicBezTo>
                <a:cubicBezTo>
                  <a:pt x="3041" y="78"/>
                  <a:pt x="3044" y="92"/>
                  <a:pt x="3044" y="106"/>
                </a:cubicBezTo>
                <a:lnTo>
                  <a:pt x="3044" y="529"/>
                </a:lnTo>
                <a:cubicBezTo>
                  <a:pt x="3044" y="543"/>
                  <a:pt x="3041" y="557"/>
                  <a:pt x="3035" y="571"/>
                </a:cubicBezTo>
                <a:cubicBezTo>
                  <a:pt x="3030" y="584"/>
                  <a:pt x="3022" y="595"/>
                  <a:pt x="3013" y="605"/>
                </a:cubicBezTo>
                <a:cubicBezTo>
                  <a:pt x="3003" y="615"/>
                  <a:pt x="2991" y="622"/>
                  <a:pt x="2978" y="628"/>
                </a:cubicBezTo>
                <a:cubicBezTo>
                  <a:pt x="2965" y="633"/>
                  <a:pt x="2952" y="636"/>
                  <a:pt x="2938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7"/>
                  <a:pt x="0" y="543"/>
                  <a:pt x="0" y="529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CuadroTexto 336"/>
          <p:cNvSpPr txBox="1"/>
          <p:nvPr/>
        </p:nvSpPr>
        <p:spPr>
          <a:xfrm>
            <a:off x="2764800" y="3095280"/>
            <a:ext cx="24213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«0 exposiciones a insulina en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CuadroTexto 337"/>
          <p:cNvSpPr txBox="1"/>
          <p:nvPr/>
        </p:nvSpPr>
        <p:spPr>
          <a:xfrm>
            <a:off x="5242680" y="3126240"/>
            <a:ext cx="973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[-365, -1]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CuadroTexto 338"/>
          <p:cNvSpPr txBox="1"/>
          <p:nvPr/>
        </p:nvSpPr>
        <p:spPr>
          <a:xfrm>
            <a:off x="6274800" y="309528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»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CuadroTexto 339"/>
          <p:cNvSpPr txBox="1"/>
          <p:nvPr/>
        </p:nvSpPr>
        <p:spPr>
          <a:xfrm>
            <a:off x="799920" y="3504960"/>
            <a:ext cx="15886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«tuvo el desenlace»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Forma libre 340"/>
          <p:cNvSpPr/>
          <p:nvPr/>
        </p:nvSpPr>
        <p:spPr>
          <a:xfrm>
            <a:off x="3981240" y="3514680"/>
            <a:ext cx="886320" cy="228960"/>
          </a:xfrm>
          <a:custGeom>
            <a:avLst/>
            <a:gdLst/>
            <a:ahLst/>
            <a:cxnLst/>
            <a:rect l="0" t="0" r="r" b="b"/>
            <a:pathLst>
              <a:path w="2462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5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lnTo>
                  <a:pt x="2356" y="0"/>
                </a:lnTo>
                <a:cubicBezTo>
                  <a:pt x="2370" y="0"/>
                  <a:pt x="2383" y="2"/>
                  <a:pt x="2396" y="8"/>
                </a:cubicBezTo>
                <a:cubicBezTo>
                  <a:pt x="2409" y="13"/>
                  <a:pt x="2421" y="21"/>
                  <a:pt x="2431" y="31"/>
                </a:cubicBezTo>
                <a:cubicBezTo>
                  <a:pt x="2441" y="41"/>
                  <a:pt x="2448" y="52"/>
                  <a:pt x="2454" y="66"/>
                </a:cubicBezTo>
                <a:cubicBezTo>
                  <a:pt x="2459" y="79"/>
                  <a:pt x="2462" y="92"/>
                  <a:pt x="2462" y="106"/>
                </a:cubicBezTo>
                <a:lnTo>
                  <a:pt x="2462" y="530"/>
                </a:lnTo>
                <a:cubicBezTo>
                  <a:pt x="2462" y="544"/>
                  <a:pt x="2459" y="557"/>
                  <a:pt x="2454" y="570"/>
                </a:cubicBezTo>
                <a:cubicBezTo>
                  <a:pt x="2448" y="583"/>
                  <a:pt x="2441" y="595"/>
                  <a:pt x="2431" y="605"/>
                </a:cubicBezTo>
                <a:cubicBezTo>
                  <a:pt x="2421" y="615"/>
                  <a:pt x="2409" y="622"/>
                  <a:pt x="2396" y="628"/>
                </a:cubicBezTo>
                <a:cubicBezTo>
                  <a:pt x="2383" y="633"/>
                  <a:pt x="2370" y="636"/>
                  <a:pt x="2356" y="636"/>
                </a:cubicBezTo>
                <a:lnTo>
                  <a:pt x="107" y="636"/>
                </a:lnTo>
                <a:cubicBezTo>
                  <a:pt x="93" y="636"/>
                  <a:pt x="79" y="633"/>
                  <a:pt x="66" y="628"/>
                </a:cubicBezTo>
                <a:cubicBezTo>
                  <a:pt x="53" y="622"/>
                  <a:pt x="42" y="615"/>
                  <a:pt x="32" y="605"/>
                </a:cubicBezTo>
                <a:cubicBezTo>
                  <a:pt x="22" y="595"/>
                  <a:pt x="15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CuadroTexto 341"/>
          <p:cNvSpPr txBox="1"/>
          <p:nvPr/>
        </p:nvSpPr>
        <p:spPr>
          <a:xfrm>
            <a:off x="2764800" y="3504960"/>
            <a:ext cx="12128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«≥1 evento en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CuadroTexto 342"/>
          <p:cNvSpPr txBox="1"/>
          <p:nvPr/>
        </p:nvSpPr>
        <p:spPr>
          <a:xfrm>
            <a:off x="4034160" y="3535920"/>
            <a:ext cx="778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[1, 365]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CuadroTexto 343"/>
          <p:cNvSpPr txBox="1"/>
          <p:nvPr/>
        </p:nvSpPr>
        <p:spPr>
          <a:xfrm>
            <a:off x="4871160" y="350496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»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CuadroTexto 344"/>
          <p:cNvSpPr txBox="1"/>
          <p:nvPr/>
        </p:nvSpPr>
        <p:spPr>
          <a:xfrm>
            <a:off x="866880" y="4165920"/>
            <a:ext cx="5678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[-365, -1]  el año previo, sin incluir el día índice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CuadroTexto 345"/>
          <p:cNvSpPr txBox="1"/>
          <p:nvPr/>
        </p:nvSpPr>
        <p:spPr>
          <a:xfrm>
            <a:off x="866880" y="4432680"/>
            <a:ext cx="4040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[0, 0]      el día índice exactamente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CuadroTexto 346"/>
          <p:cNvSpPr txBox="1"/>
          <p:nvPr/>
        </p:nvSpPr>
        <p:spPr>
          <a:xfrm>
            <a:off x="866880" y="4689720"/>
            <a:ext cx="3713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[1, 30]     los 30 días siguientes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CuadroTexto 347"/>
          <p:cNvSpPr txBox="1"/>
          <p:nvPr/>
        </p:nvSpPr>
        <p:spPr>
          <a:xfrm>
            <a:off x="905040" y="5402160"/>
            <a:ext cx="7407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Cada ventana es una decisión clínica. Si no la puedes defender, no la uses.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CuadroTexto 34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CuadroTexto 34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CuadroTexto 35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Forma libre 3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Forma libre 3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Forma libre 3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Forma libre 354"/>
          <p:cNvSpPr/>
          <p:nvPr/>
        </p:nvSpPr>
        <p:spPr>
          <a:xfrm>
            <a:off x="671400" y="2118960"/>
            <a:ext cx="10849320" cy="2153160"/>
          </a:xfrm>
          <a:custGeom>
            <a:avLst/>
            <a:gdLst/>
            <a:ahLst/>
            <a:cxnLst/>
            <a:rect l="0" t="0" r="r" b="b"/>
            <a:pathLst>
              <a:path w="30137" h="5981">
                <a:moveTo>
                  <a:pt x="0" y="5783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1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100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5783"/>
                </a:lnTo>
                <a:cubicBezTo>
                  <a:pt x="30137" y="5796"/>
                  <a:pt x="30136" y="5809"/>
                  <a:pt x="30133" y="5821"/>
                </a:cubicBezTo>
                <a:cubicBezTo>
                  <a:pt x="30130" y="5834"/>
                  <a:pt x="30127" y="5847"/>
                  <a:pt x="30122" y="5859"/>
                </a:cubicBezTo>
                <a:cubicBezTo>
                  <a:pt x="30117" y="5871"/>
                  <a:pt x="30111" y="5882"/>
                  <a:pt x="30103" y="5893"/>
                </a:cubicBezTo>
                <a:cubicBezTo>
                  <a:pt x="30096" y="5904"/>
                  <a:pt x="30088" y="5914"/>
                  <a:pt x="30079" y="5923"/>
                </a:cubicBezTo>
                <a:cubicBezTo>
                  <a:pt x="30070" y="5932"/>
                  <a:pt x="30059" y="5940"/>
                  <a:pt x="30049" y="5948"/>
                </a:cubicBezTo>
                <a:cubicBezTo>
                  <a:pt x="30038" y="5955"/>
                  <a:pt x="30026" y="5961"/>
                  <a:pt x="30014" y="5966"/>
                </a:cubicBezTo>
                <a:cubicBezTo>
                  <a:pt x="30002" y="5971"/>
                  <a:pt x="29990" y="5975"/>
                  <a:pt x="29977" y="5977"/>
                </a:cubicBezTo>
                <a:cubicBezTo>
                  <a:pt x="29964" y="5980"/>
                  <a:pt x="29951" y="5981"/>
                  <a:pt x="29938" y="5981"/>
                </a:cubicBezTo>
                <a:lnTo>
                  <a:pt x="198" y="5981"/>
                </a:lnTo>
                <a:cubicBezTo>
                  <a:pt x="185" y="5981"/>
                  <a:pt x="172" y="5980"/>
                  <a:pt x="160" y="5977"/>
                </a:cubicBezTo>
                <a:cubicBezTo>
                  <a:pt x="147" y="5975"/>
                  <a:pt x="134" y="5971"/>
                  <a:pt x="122" y="5966"/>
                </a:cubicBezTo>
                <a:cubicBezTo>
                  <a:pt x="110" y="5961"/>
                  <a:pt x="99" y="5955"/>
                  <a:pt x="88" y="5948"/>
                </a:cubicBezTo>
                <a:cubicBezTo>
                  <a:pt x="77" y="5940"/>
                  <a:pt x="67" y="5932"/>
                  <a:pt x="58" y="5923"/>
                </a:cubicBezTo>
                <a:cubicBezTo>
                  <a:pt x="49" y="5914"/>
                  <a:pt x="40" y="5904"/>
                  <a:pt x="33" y="5893"/>
                </a:cubicBezTo>
                <a:cubicBezTo>
                  <a:pt x="26" y="5882"/>
                  <a:pt x="20" y="5871"/>
                  <a:pt x="15" y="5859"/>
                </a:cubicBezTo>
                <a:cubicBezTo>
                  <a:pt x="10" y="5847"/>
                  <a:pt x="6" y="5834"/>
                  <a:pt x="4" y="5821"/>
                </a:cubicBezTo>
                <a:cubicBezTo>
                  <a:pt x="1" y="5809"/>
                  <a:pt x="0" y="5796"/>
                  <a:pt x="0" y="5783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Forma libre 355"/>
          <p:cNvSpPr/>
          <p:nvPr/>
        </p:nvSpPr>
        <p:spPr>
          <a:xfrm>
            <a:off x="671400" y="2118960"/>
            <a:ext cx="10849320" cy="2153160"/>
          </a:xfrm>
          <a:custGeom>
            <a:avLst/>
            <a:gdLst/>
            <a:ahLst/>
            <a:cxnLst/>
            <a:rect l="0" t="0" r="r" b="b"/>
            <a:pathLst>
              <a:path w="30137" h="5981">
                <a:moveTo>
                  <a:pt x="0" y="5783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1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100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5783"/>
                </a:lnTo>
                <a:cubicBezTo>
                  <a:pt x="30137" y="5796"/>
                  <a:pt x="30136" y="5809"/>
                  <a:pt x="30133" y="5821"/>
                </a:cubicBezTo>
                <a:cubicBezTo>
                  <a:pt x="30130" y="5834"/>
                  <a:pt x="30127" y="5847"/>
                  <a:pt x="30122" y="5859"/>
                </a:cubicBezTo>
                <a:cubicBezTo>
                  <a:pt x="30117" y="5871"/>
                  <a:pt x="30111" y="5882"/>
                  <a:pt x="30103" y="5893"/>
                </a:cubicBezTo>
                <a:cubicBezTo>
                  <a:pt x="30096" y="5904"/>
                  <a:pt x="30088" y="5914"/>
                  <a:pt x="30079" y="5923"/>
                </a:cubicBezTo>
                <a:cubicBezTo>
                  <a:pt x="30070" y="5932"/>
                  <a:pt x="30059" y="5940"/>
                  <a:pt x="30049" y="5948"/>
                </a:cubicBezTo>
                <a:cubicBezTo>
                  <a:pt x="30038" y="5955"/>
                  <a:pt x="30026" y="5961"/>
                  <a:pt x="30014" y="5966"/>
                </a:cubicBezTo>
                <a:cubicBezTo>
                  <a:pt x="30002" y="5971"/>
                  <a:pt x="29990" y="5975"/>
                  <a:pt x="29977" y="5977"/>
                </a:cubicBezTo>
                <a:cubicBezTo>
                  <a:pt x="29964" y="5980"/>
                  <a:pt x="29951" y="5981"/>
                  <a:pt x="29938" y="5981"/>
                </a:cubicBezTo>
                <a:lnTo>
                  <a:pt x="198" y="5981"/>
                </a:lnTo>
                <a:cubicBezTo>
                  <a:pt x="185" y="5981"/>
                  <a:pt x="172" y="5980"/>
                  <a:pt x="160" y="5977"/>
                </a:cubicBezTo>
                <a:cubicBezTo>
                  <a:pt x="147" y="5975"/>
                  <a:pt x="134" y="5971"/>
                  <a:pt x="122" y="5966"/>
                </a:cubicBezTo>
                <a:cubicBezTo>
                  <a:pt x="110" y="5961"/>
                  <a:pt x="99" y="5955"/>
                  <a:pt x="88" y="5948"/>
                </a:cubicBezTo>
                <a:cubicBezTo>
                  <a:pt x="77" y="5940"/>
                  <a:pt x="67" y="5932"/>
                  <a:pt x="58" y="5923"/>
                </a:cubicBezTo>
                <a:cubicBezTo>
                  <a:pt x="49" y="5914"/>
                  <a:pt x="40" y="5904"/>
                  <a:pt x="33" y="5893"/>
                </a:cubicBezTo>
                <a:cubicBezTo>
                  <a:pt x="26" y="5882"/>
                  <a:pt x="20" y="5871"/>
                  <a:pt x="15" y="5859"/>
                </a:cubicBezTo>
                <a:cubicBezTo>
                  <a:pt x="10" y="5847"/>
                  <a:pt x="6" y="5834"/>
                  <a:pt x="4" y="5821"/>
                </a:cubicBezTo>
                <a:cubicBezTo>
                  <a:pt x="1" y="5809"/>
                  <a:pt x="0" y="5796"/>
                  <a:pt x="0" y="578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Forma libre 358"/>
          <p:cNvSpPr/>
          <p:nvPr/>
        </p:nvSpPr>
        <p:spPr>
          <a:xfrm>
            <a:off x="666720" y="981000"/>
            <a:ext cx="1276560" cy="381240"/>
          </a:xfrm>
          <a:custGeom>
            <a:avLst/>
            <a:gdLst/>
            <a:ahLst/>
            <a:cxnLst/>
            <a:rect l="0" t="0" r="r" b="b"/>
            <a:pathLst>
              <a:path w="3546" h="1059">
                <a:moveTo>
                  <a:pt x="0" y="952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3439" y="0"/>
                </a:lnTo>
                <a:cubicBezTo>
                  <a:pt x="3453" y="0"/>
                  <a:pt x="3468" y="2"/>
                  <a:pt x="3481" y="8"/>
                </a:cubicBezTo>
                <a:cubicBezTo>
                  <a:pt x="3494" y="13"/>
                  <a:pt x="3505" y="21"/>
                  <a:pt x="3515" y="31"/>
                </a:cubicBezTo>
                <a:cubicBezTo>
                  <a:pt x="3525" y="41"/>
                  <a:pt x="3533" y="52"/>
                  <a:pt x="3538" y="65"/>
                </a:cubicBezTo>
                <a:cubicBezTo>
                  <a:pt x="3543" y="78"/>
                  <a:pt x="3546" y="92"/>
                  <a:pt x="3546" y="106"/>
                </a:cubicBezTo>
                <a:lnTo>
                  <a:pt x="3546" y="952"/>
                </a:lnTo>
                <a:cubicBezTo>
                  <a:pt x="3546" y="966"/>
                  <a:pt x="3543" y="981"/>
                  <a:pt x="3538" y="994"/>
                </a:cubicBezTo>
                <a:cubicBezTo>
                  <a:pt x="3533" y="1007"/>
                  <a:pt x="3525" y="1018"/>
                  <a:pt x="3515" y="1028"/>
                </a:cubicBezTo>
                <a:cubicBezTo>
                  <a:pt x="3505" y="1038"/>
                  <a:pt x="3494" y="1046"/>
                  <a:pt x="3481" y="1051"/>
                </a:cubicBezTo>
                <a:cubicBezTo>
                  <a:pt x="3468" y="1056"/>
                  <a:pt x="3453" y="1059"/>
                  <a:pt x="3439" y="1059"/>
                </a:cubicBezTo>
                <a:lnTo>
                  <a:pt x="105" y="1059"/>
                </a:lnTo>
                <a:cubicBezTo>
                  <a:pt x="91" y="1059"/>
                  <a:pt x="78" y="1056"/>
                  <a:pt x="65" y="1051"/>
                </a:cubicBezTo>
                <a:cubicBezTo>
                  <a:pt x="52" y="1046"/>
                  <a:pt x="41" y="1038"/>
                  <a:pt x="31" y="1028"/>
                </a:cubicBezTo>
                <a:cubicBezTo>
                  <a:pt x="21" y="1018"/>
                  <a:pt x="13" y="1007"/>
                  <a:pt x="8" y="994"/>
                </a:cubicBezTo>
                <a:cubicBezTo>
                  <a:pt x="2" y="981"/>
                  <a:pt x="0" y="966"/>
                  <a:pt x="0" y="952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CuadroTexto 359"/>
          <p:cNvSpPr txBox="1"/>
          <p:nvPr/>
        </p:nvSpPr>
        <p:spPr>
          <a:xfrm>
            <a:off x="731520" y="985320"/>
            <a:ext cx="117324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EXISTS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Forma libre 360"/>
          <p:cNvSpPr/>
          <p:nvPr/>
        </p:nvSpPr>
        <p:spPr>
          <a:xfrm>
            <a:off x="2266920" y="981000"/>
            <a:ext cx="2048040" cy="381240"/>
          </a:xfrm>
          <a:custGeom>
            <a:avLst/>
            <a:gdLst/>
            <a:ahLst/>
            <a:cxnLst/>
            <a:rect l="0" t="0" r="r" b="b"/>
            <a:pathLst>
              <a:path w="5689" h="1059">
                <a:moveTo>
                  <a:pt x="0" y="952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5583" y="0"/>
                </a:lnTo>
                <a:cubicBezTo>
                  <a:pt x="5597" y="0"/>
                  <a:pt x="5611" y="2"/>
                  <a:pt x="5624" y="8"/>
                </a:cubicBezTo>
                <a:cubicBezTo>
                  <a:pt x="5637" y="13"/>
                  <a:pt x="5648" y="21"/>
                  <a:pt x="5658" y="31"/>
                </a:cubicBezTo>
                <a:cubicBezTo>
                  <a:pt x="5668" y="41"/>
                  <a:pt x="5676" y="52"/>
                  <a:pt x="5681" y="65"/>
                </a:cubicBezTo>
                <a:cubicBezTo>
                  <a:pt x="5686" y="78"/>
                  <a:pt x="5689" y="92"/>
                  <a:pt x="5689" y="106"/>
                </a:cubicBezTo>
                <a:lnTo>
                  <a:pt x="5689" y="952"/>
                </a:lnTo>
                <a:cubicBezTo>
                  <a:pt x="5689" y="966"/>
                  <a:pt x="5686" y="981"/>
                  <a:pt x="5681" y="994"/>
                </a:cubicBezTo>
                <a:cubicBezTo>
                  <a:pt x="5676" y="1007"/>
                  <a:pt x="5668" y="1018"/>
                  <a:pt x="5658" y="1028"/>
                </a:cubicBezTo>
                <a:cubicBezTo>
                  <a:pt x="5648" y="1038"/>
                  <a:pt x="5637" y="1046"/>
                  <a:pt x="5624" y="1051"/>
                </a:cubicBezTo>
                <a:cubicBezTo>
                  <a:pt x="5611" y="1056"/>
                  <a:pt x="5597" y="1059"/>
                  <a:pt x="5583" y="1059"/>
                </a:cubicBezTo>
                <a:lnTo>
                  <a:pt x="105" y="1059"/>
                </a:lnTo>
                <a:cubicBezTo>
                  <a:pt x="91" y="1059"/>
                  <a:pt x="78" y="1056"/>
                  <a:pt x="65" y="1051"/>
                </a:cubicBezTo>
                <a:cubicBezTo>
                  <a:pt x="52" y="1046"/>
                  <a:pt x="41" y="1038"/>
                  <a:pt x="31" y="1028"/>
                </a:cubicBezTo>
                <a:cubicBezTo>
                  <a:pt x="21" y="1018"/>
                  <a:pt x="13" y="1007"/>
                  <a:pt x="8" y="994"/>
                </a:cubicBezTo>
                <a:cubicBezTo>
                  <a:pt x="2" y="981"/>
                  <a:pt x="0" y="966"/>
                  <a:pt x="0" y="952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CuadroTexto 361"/>
          <p:cNvSpPr txBox="1"/>
          <p:nvPr/>
        </p:nvSpPr>
        <p:spPr>
          <a:xfrm>
            <a:off x="1946520" y="977400"/>
            <a:ext cx="331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y 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CuadroTexto 362"/>
          <p:cNvSpPr txBox="1"/>
          <p:nvPr/>
        </p:nvSpPr>
        <p:spPr>
          <a:xfrm>
            <a:off x="2331720" y="985320"/>
            <a:ext cx="195516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NOT EXISTS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CuadroTexto 363"/>
          <p:cNvSpPr txBox="1"/>
          <p:nvPr/>
        </p:nvSpPr>
        <p:spPr>
          <a:xfrm>
            <a:off x="666720" y="1658880"/>
            <a:ext cx="6436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Los criterios de inclusión se escriben casi siempre con estos dos: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CuadroTexto 364"/>
          <p:cNvSpPr txBox="1"/>
          <p:nvPr/>
        </p:nvSpPr>
        <p:spPr>
          <a:xfrm>
            <a:off x="866880" y="2298960"/>
            <a:ext cx="5460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-- "al menos un diagnóstico de X en el año previo"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CuadroTexto 365"/>
          <p:cNvSpPr txBox="1"/>
          <p:nvPr/>
        </p:nvSpPr>
        <p:spPr>
          <a:xfrm>
            <a:off x="866880" y="2565720"/>
            <a:ext cx="3931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EXISTS ( ... co.condition_start_date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CuadroTexto 366"/>
          <p:cNvSpPr txBox="1"/>
          <p:nvPr/>
        </p:nvSpPr>
        <p:spPr>
          <a:xfrm>
            <a:off x="866880" y="2822760"/>
            <a:ext cx="48049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BETWEEN idx.cohort_start_date - 365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CuadroTexto 367"/>
          <p:cNvSpPr txBox="1"/>
          <p:nvPr/>
        </p:nvSpPr>
        <p:spPr>
          <a:xfrm>
            <a:off x="866880" y="3089520"/>
            <a:ext cx="4368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AND idx.cohort_start_date 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CuadroTexto 368"/>
          <p:cNvSpPr txBox="1"/>
          <p:nvPr/>
        </p:nvSpPr>
        <p:spPr>
          <a:xfrm>
            <a:off x="866880" y="3613320"/>
            <a:ext cx="3713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-- "ninguna exposición previa a Y"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Forma libre 369"/>
          <p:cNvSpPr/>
          <p:nvPr/>
        </p:nvSpPr>
        <p:spPr>
          <a:xfrm>
            <a:off x="914040" y="45813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Forma libre 370"/>
          <p:cNvSpPr/>
          <p:nvPr/>
        </p:nvSpPr>
        <p:spPr>
          <a:xfrm>
            <a:off x="1123920" y="4485960"/>
            <a:ext cx="819360" cy="267120"/>
          </a:xfrm>
          <a:custGeom>
            <a:avLst/>
            <a:gdLst/>
            <a:ahLst/>
            <a:cxnLst/>
            <a:rect l="0" t="0" r="r" b="b"/>
            <a:pathLst>
              <a:path w="2276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170" y="0"/>
                </a:lnTo>
                <a:cubicBezTo>
                  <a:pt x="2184" y="0"/>
                  <a:pt x="2198" y="3"/>
                  <a:pt x="2211" y="8"/>
                </a:cubicBezTo>
                <a:cubicBezTo>
                  <a:pt x="2224" y="14"/>
                  <a:pt x="2235" y="21"/>
                  <a:pt x="2245" y="31"/>
                </a:cubicBezTo>
                <a:cubicBezTo>
                  <a:pt x="2255" y="41"/>
                  <a:pt x="2263" y="53"/>
                  <a:pt x="2268" y="66"/>
                </a:cubicBezTo>
                <a:cubicBezTo>
                  <a:pt x="2273" y="79"/>
                  <a:pt x="2276" y="92"/>
                  <a:pt x="2276" y="106"/>
                </a:cubicBezTo>
                <a:lnTo>
                  <a:pt x="2276" y="636"/>
                </a:lnTo>
                <a:cubicBezTo>
                  <a:pt x="2276" y="650"/>
                  <a:pt x="2273" y="664"/>
                  <a:pt x="2268" y="677"/>
                </a:cubicBezTo>
                <a:cubicBezTo>
                  <a:pt x="2263" y="690"/>
                  <a:pt x="2255" y="701"/>
                  <a:pt x="2245" y="711"/>
                </a:cubicBezTo>
                <a:cubicBezTo>
                  <a:pt x="2235" y="721"/>
                  <a:pt x="2224" y="729"/>
                  <a:pt x="2211" y="734"/>
                </a:cubicBezTo>
                <a:cubicBezTo>
                  <a:pt x="2198" y="740"/>
                  <a:pt x="2184" y="742"/>
                  <a:pt x="2170" y="742"/>
                </a:cubicBezTo>
                <a:lnTo>
                  <a:pt x="105" y="742"/>
                </a:lnTo>
                <a:cubicBezTo>
                  <a:pt x="91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CuadroTexto 371"/>
          <p:cNvSpPr txBox="1"/>
          <p:nvPr/>
        </p:nvSpPr>
        <p:spPr>
          <a:xfrm>
            <a:off x="866880" y="3870720"/>
            <a:ext cx="19659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NOT EXISTS ( ... 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CuadroTexto 372"/>
          <p:cNvSpPr txBox="1"/>
          <p:nvPr/>
        </p:nvSpPr>
        <p:spPr>
          <a:xfrm>
            <a:off x="1181160" y="4506120"/>
            <a:ext cx="705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EXISTS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Forma libre 373"/>
          <p:cNvSpPr/>
          <p:nvPr/>
        </p:nvSpPr>
        <p:spPr>
          <a:xfrm>
            <a:off x="914040" y="49813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CuadroTexto 374"/>
          <p:cNvSpPr txBox="1"/>
          <p:nvPr/>
        </p:nvSpPr>
        <p:spPr>
          <a:xfrm>
            <a:off x="1940400" y="4468680"/>
            <a:ext cx="5496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se detiene en la primera coincidencia: no multiplica ﬁlas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Forma libre 375"/>
          <p:cNvSpPr/>
          <p:nvPr/>
        </p:nvSpPr>
        <p:spPr>
          <a:xfrm>
            <a:off x="1466640" y="4886280"/>
            <a:ext cx="581400" cy="266760"/>
          </a:xfrm>
          <a:custGeom>
            <a:avLst/>
            <a:gdLst/>
            <a:ahLst/>
            <a:cxnLst/>
            <a:rect l="0" t="0" r="r" b="b"/>
            <a:pathLst>
              <a:path w="1615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508" y="0"/>
                </a:lnTo>
                <a:cubicBezTo>
                  <a:pt x="1522" y="0"/>
                  <a:pt x="1536" y="2"/>
                  <a:pt x="1549" y="8"/>
                </a:cubicBezTo>
                <a:cubicBezTo>
                  <a:pt x="1562" y="13"/>
                  <a:pt x="1574" y="21"/>
                  <a:pt x="1584" y="31"/>
                </a:cubicBezTo>
                <a:cubicBezTo>
                  <a:pt x="1594" y="41"/>
                  <a:pt x="1602" y="52"/>
                  <a:pt x="1607" y="65"/>
                </a:cubicBezTo>
                <a:cubicBezTo>
                  <a:pt x="1612" y="78"/>
                  <a:pt x="1615" y="91"/>
                  <a:pt x="1615" y="105"/>
                </a:cubicBezTo>
                <a:lnTo>
                  <a:pt x="1615" y="636"/>
                </a:lnTo>
                <a:cubicBezTo>
                  <a:pt x="1615" y="650"/>
                  <a:pt x="1612" y="663"/>
                  <a:pt x="1607" y="676"/>
                </a:cubicBezTo>
                <a:cubicBezTo>
                  <a:pt x="1602" y="689"/>
                  <a:pt x="1594" y="701"/>
                  <a:pt x="1584" y="710"/>
                </a:cubicBezTo>
                <a:cubicBezTo>
                  <a:pt x="1574" y="720"/>
                  <a:pt x="1562" y="728"/>
                  <a:pt x="1549" y="733"/>
                </a:cubicBezTo>
                <a:cubicBezTo>
                  <a:pt x="1536" y="739"/>
                  <a:pt x="1522" y="741"/>
                  <a:pt x="1508" y="741"/>
                </a:cubicBezTo>
                <a:lnTo>
                  <a:pt x="106" y="741"/>
                </a:lnTo>
                <a:cubicBezTo>
                  <a:pt x="92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CuadroTexto 376"/>
          <p:cNvSpPr txBox="1"/>
          <p:nvPr/>
        </p:nvSpPr>
        <p:spPr>
          <a:xfrm>
            <a:off x="1123920" y="4868640"/>
            <a:ext cx="343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CuadroTexto 377"/>
          <p:cNvSpPr txBox="1"/>
          <p:nvPr/>
        </p:nvSpPr>
        <p:spPr>
          <a:xfrm>
            <a:off x="1523880" y="490608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JOIN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CuadroTexto 378"/>
          <p:cNvSpPr txBox="1"/>
          <p:nvPr/>
        </p:nvSpPr>
        <p:spPr>
          <a:xfrm>
            <a:off x="2049120" y="4868640"/>
            <a:ext cx="43192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en su lugar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sí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multiplica, y el conteo se inﬂa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CuadroTexto 38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CuadroTexto 38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CuadroTexto 38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Forma libre 38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Forma libre 38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Forma libre 38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CuadroTexto 386"/>
          <p:cNvSpPr txBox="1"/>
          <p:nvPr/>
        </p:nvSpPr>
        <p:spPr>
          <a:xfrm>
            <a:off x="1689120" y="3063960"/>
            <a:ext cx="90316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5. Nuevo usuario vs. usuario prevalente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CuadroTexto 38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CuadroTexto 38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CuadroTexto 38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Forma libre 39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Forma libre 39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Forma libre 39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Forma libre 393"/>
          <p:cNvSpPr/>
          <p:nvPr/>
        </p:nvSpPr>
        <p:spPr>
          <a:xfrm>
            <a:off x="666720" y="4609800"/>
            <a:ext cx="10858680" cy="572040"/>
          </a:xfrm>
          <a:custGeom>
            <a:avLst/>
            <a:gdLst/>
            <a:ahLst/>
            <a:cxnLst/>
            <a:rect l="0" t="0" r="r" b="b"/>
            <a:pathLst>
              <a:path w="30163" h="1589">
                <a:moveTo>
                  <a:pt x="0" y="0"/>
                </a:moveTo>
                <a:lnTo>
                  <a:pt x="30163" y="0"/>
                </a:lnTo>
                <a:lnTo>
                  <a:pt x="3016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Forma libre 394"/>
          <p:cNvSpPr/>
          <p:nvPr/>
        </p:nvSpPr>
        <p:spPr>
          <a:xfrm>
            <a:off x="666720" y="4609800"/>
            <a:ext cx="47880" cy="572040"/>
          </a:xfrm>
          <a:custGeom>
            <a:avLst/>
            <a:gdLst/>
            <a:ahLst/>
            <a:cxnLst/>
            <a:rect l="0" t="0" r="r" b="b"/>
            <a:pathLst>
              <a:path w="133" h="1589">
                <a:moveTo>
                  <a:pt x="0" y="0"/>
                </a:moveTo>
                <a:lnTo>
                  <a:pt x="133" y="0"/>
                </a:lnTo>
                <a:lnTo>
                  <a:pt x="13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CuadroTexto 395"/>
          <p:cNvSpPr txBox="1"/>
          <p:nvPr/>
        </p:nvSpPr>
        <p:spPr>
          <a:xfrm>
            <a:off x="666720" y="1692000"/>
            <a:ext cx="38491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Quién ya estaba tomándolo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Forma libre 399"/>
          <p:cNvSpPr/>
          <p:nvPr/>
        </p:nvSpPr>
        <p:spPr>
          <a:xfrm>
            <a:off x="914040" y="34668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CuadroTexto 400"/>
          <p:cNvSpPr txBox="1"/>
          <p:nvPr/>
        </p:nvSpPr>
        <p:spPr>
          <a:xfrm>
            <a:off x="666720" y="2859120"/>
            <a:ext cx="96886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Si incluyes a quien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ya llevaba años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con el tratamiento, tu cohorte está hecha de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sobrevivientes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Forma libre 401"/>
          <p:cNvSpPr/>
          <p:nvPr/>
        </p:nvSpPr>
        <p:spPr>
          <a:xfrm>
            <a:off x="914040" y="38671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CuadroTexto 402"/>
          <p:cNvSpPr txBox="1"/>
          <p:nvPr/>
        </p:nvSpPr>
        <p:spPr>
          <a:xfrm>
            <a:off x="1123920" y="3354120"/>
            <a:ext cx="6839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los que tuvieron el efecto adverso temprano ya lo dejaron — no están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Forma libre 403"/>
          <p:cNvSpPr/>
          <p:nvPr/>
        </p:nvSpPr>
        <p:spPr>
          <a:xfrm>
            <a:off x="914040" y="42670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CuadroTexto 404"/>
          <p:cNvSpPr txBox="1"/>
          <p:nvPr/>
        </p:nvSpPr>
        <p:spPr>
          <a:xfrm>
            <a:off x="1123920" y="3754440"/>
            <a:ext cx="5645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los que siguen son, por construcción, los que lo toleraron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CuadroTexto 405"/>
          <p:cNvSpPr txBox="1"/>
          <p:nvPr/>
        </p:nvSpPr>
        <p:spPr>
          <a:xfrm>
            <a:off x="1123920" y="4154400"/>
            <a:ext cx="5145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resultado: el fármaco se ve más seguro de lo que 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CuadroTexto 406"/>
          <p:cNvSpPr txBox="1"/>
          <p:nvPr/>
        </p:nvSpPr>
        <p:spPr>
          <a:xfrm>
            <a:off x="905040" y="4763880"/>
            <a:ext cx="100540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El diseño de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nuevo usuario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(Ray, 2003) es el estándar en farmacoepidemiología justamente por esto.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CuadroTexto 40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CuadroTexto 40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CuadroTexto 40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Forma libre 41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Forma libre 41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Forma libre 41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Forma libre 413"/>
          <p:cNvSpPr/>
          <p:nvPr/>
        </p:nvSpPr>
        <p:spPr>
          <a:xfrm>
            <a:off x="666720" y="4362120"/>
            <a:ext cx="10858680" cy="572040"/>
          </a:xfrm>
          <a:custGeom>
            <a:avLst/>
            <a:gdLst/>
            <a:ahLst/>
            <a:cxnLst/>
            <a:rect l="0" t="0" r="r" b="b"/>
            <a:pathLst>
              <a:path w="30163" h="1589">
                <a:moveTo>
                  <a:pt x="0" y="0"/>
                </a:moveTo>
                <a:lnTo>
                  <a:pt x="30163" y="0"/>
                </a:lnTo>
                <a:lnTo>
                  <a:pt x="3016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Forma libre 414"/>
          <p:cNvSpPr/>
          <p:nvPr/>
        </p:nvSpPr>
        <p:spPr>
          <a:xfrm>
            <a:off x="666720" y="4362120"/>
            <a:ext cx="47880" cy="572040"/>
          </a:xfrm>
          <a:custGeom>
            <a:avLst/>
            <a:gdLst/>
            <a:ahLst/>
            <a:cxnLst/>
            <a:rect l="0" t="0" r="r" b="b"/>
            <a:pathLst>
              <a:path w="133" h="1589">
                <a:moveTo>
                  <a:pt x="0" y="0"/>
                </a:moveTo>
                <a:lnTo>
                  <a:pt x="133" y="0"/>
                </a:lnTo>
                <a:lnTo>
                  <a:pt x="13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CuadroTexto 415"/>
          <p:cNvSpPr txBox="1"/>
          <p:nvPr/>
        </p:nvSpPr>
        <p:spPr>
          <a:xfrm>
            <a:off x="666720" y="1939680"/>
            <a:ext cx="19969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 que cuesta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Forma libre 416"/>
          <p:cNvSpPr/>
          <p:nvPr/>
        </p:nvSpPr>
        <p:spPr>
          <a:xfrm>
            <a:off x="914040" y="32191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2"/>
                  <a:pt x="31" y="32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CuadroTexto 417"/>
          <p:cNvSpPr txBox="1"/>
          <p:nvPr/>
        </p:nvSpPr>
        <p:spPr>
          <a:xfrm>
            <a:off x="666720" y="2611440"/>
            <a:ext cx="40528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diseño de nuevo usuario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 es gratis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Forma libre 418"/>
          <p:cNvSpPr/>
          <p:nvPr/>
        </p:nvSpPr>
        <p:spPr>
          <a:xfrm>
            <a:off x="914040" y="361944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0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20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CuadroTexto 419"/>
          <p:cNvSpPr txBox="1"/>
          <p:nvPr/>
        </p:nvSpPr>
        <p:spPr>
          <a:xfrm>
            <a:off x="1123920" y="3106440"/>
            <a:ext cx="5687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pierdes a todos los que no tienen suﬁciente historia previa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Forma libre 420"/>
          <p:cNvSpPr/>
          <p:nvPr/>
        </p:nvSpPr>
        <p:spPr>
          <a:xfrm>
            <a:off x="914040" y="40194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CuadroTexto 421"/>
          <p:cNvSpPr txBox="1"/>
          <p:nvPr/>
        </p:nvSpPr>
        <p:spPr>
          <a:xfrm>
            <a:off x="1123920" y="3506760"/>
            <a:ext cx="4548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en bases chicas, puedes quedarte sin cohorte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CuadroTexto 422"/>
          <p:cNvSpPr txBox="1"/>
          <p:nvPr/>
        </p:nvSpPr>
        <p:spPr>
          <a:xfrm>
            <a:off x="1123920" y="3906720"/>
            <a:ext cx="7470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tabla de atrición (cuántos se pierden en cada paso)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parte del resultado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CuadroTexto 423"/>
          <p:cNvSpPr txBox="1"/>
          <p:nvPr/>
        </p:nvSpPr>
        <p:spPr>
          <a:xfrm>
            <a:off x="905040" y="4516200"/>
            <a:ext cx="6758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No existe el diseño sin costo. Existe el diseño cuyo costo declaraste.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CuadroTexto 42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CuadroTexto 42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CuadroTexto 42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Forma libre 4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Forma libre 4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Forma libre 4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CuadroTexto 430"/>
          <p:cNvSpPr txBox="1"/>
          <p:nvPr/>
        </p:nvSpPr>
        <p:spPr>
          <a:xfrm>
            <a:off x="3497040" y="3063960"/>
            <a:ext cx="53262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6. Estrategias de salida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CuadroTexto 43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CuadroTexto 43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CuadroTexto 43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Forma libre 43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Forma libre 43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Forma libre 43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Forma libre 437"/>
          <p:cNvSpPr/>
          <p:nvPr/>
        </p:nvSpPr>
        <p:spPr>
          <a:xfrm>
            <a:off x="676080" y="2295360"/>
            <a:ext cx="3057840" cy="410040"/>
          </a:xfrm>
          <a:custGeom>
            <a:avLst/>
            <a:gdLst/>
            <a:ahLst/>
            <a:cxnLst/>
            <a:rect l="0" t="0" r="r" b="b"/>
            <a:pathLst>
              <a:path w="8494" h="1139">
                <a:moveTo>
                  <a:pt x="0" y="0"/>
                </a:moveTo>
                <a:lnTo>
                  <a:pt x="8494" y="0"/>
                </a:lnTo>
                <a:lnTo>
                  <a:pt x="849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Forma libre 438"/>
          <p:cNvSpPr/>
          <p:nvPr/>
        </p:nvSpPr>
        <p:spPr>
          <a:xfrm>
            <a:off x="3733560" y="2295360"/>
            <a:ext cx="4896360" cy="410040"/>
          </a:xfrm>
          <a:custGeom>
            <a:avLst/>
            <a:gdLst/>
            <a:ahLst/>
            <a:cxnLst/>
            <a:rect l="0" t="0" r="r" b="b"/>
            <a:pathLst>
              <a:path w="13601" h="1139">
                <a:moveTo>
                  <a:pt x="0" y="0"/>
                </a:moveTo>
                <a:lnTo>
                  <a:pt x="13601" y="0"/>
                </a:lnTo>
                <a:lnTo>
                  <a:pt x="1360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Forma libre 439"/>
          <p:cNvSpPr/>
          <p:nvPr/>
        </p:nvSpPr>
        <p:spPr>
          <a:xfrm>
            <a:off x="676080" y="2295360"/>
            <a:ext cx="3057840" cy="410040"/>
          </a:xfrm>
          <a:custGeom>
            <a:avLst/>
            <a:gdLst/>
            <a:ahLst/>
            <a:cxnLst/>
            <a:rect l="0" t="0" r="r" b="b"/>
            <a:pathLst>
              <a:path w="8494" h="1139">
                <a:moveTo>
                  <a:pt x="0" y="0"/>
                </a:moveTo>
                <a:lnTo>
                  <a:pt x="8494" y="0"/>
                </a:lnTo>
                <a:lnTo>
                  <a:pt x="849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Forma libre 440"/>
          <p:cNvSpPr/>
          <p:nvPr/>
        </p:nvSpPr>
        <p:spPr>
          <a:xfrm>
            <a:off x="3733560" y="2295360"/>
            <a:ext cx="4896360" cy="410040"/>
          </a:xfrm>
          <a:custGeom>
            <a:avLst/>
            <a:gdLst/>
            <a:ahLst/>
            <a:cxnLst/>
            <a:rect l="0" t="0" r="r" b="b"/>
            <a:pathLst>
              <a:path w="13601" h="1139">
                <a:moveTo>
                  <a:pt x="0" y="0"/>
                </a:moveTo>
                <a:lnTo>
                  <a:pt x="13601" y="0"/>
                </a:lnTo>
                <a:lnTo>
                  <a:pt x="1360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Forma libre 441"/>
          <p:cNvSpPr/>
          <p:nvPr/>
        </p:nvSpPr>
        <p:spPr>
          <a:xfrm>
            <a:off x="676080" y="2705040"/>
            <a:ext cx="3057840" cy="419400"/>
          </a:xfrm>
          <a:custGeom>
            <a:avLst/>
            <a:gdLst/>
            <a:ahLst/>
            <a:cxnLst/>
            <a:rect l="0" t="0" r="r" b="b"/>
            <a:pathLst>
              <a:path w="8494" h="1165">
                <a:moveTo>
                  <a:pt x="0" y="0"/>
                </a:moveTo>
                <a:lnTo>
                  <a:pt x="8494" y="0"/>
                </a:lnTo>
                <a:lnTo>
                  <a:pt x="849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Forma libre 442"/>
          <p:cNvSpPr/>
          <p:nvPr/>
        </p:nvSpPr>
        <p:spPr>
          <a:xfrm>
            <a:off x="3733560" y="2705040"/>
            <a:ext cx="4896360" cy="419400"/>
          </a:xfrm>
          <a:custGeom>
            <a:avLst/>
            <a:gdLst/>
            <a:ahLst/>
            <a:cxnLst/>
            <a:rect l="0" t="0" r="r" b="b"/>
            <a:pathLst>
              <a:path w="13601" h="1165">
                <a:moveTo>
                  <a:pt x="0" y="0"/>
                </a:moveTo>
                <a:lnTo>
                  <a:pt x="13601" y="0"/>
                </a:lnTo>
                <a:lnTo>
                  <a:pt x="1360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Forma libre 443"/>
          <p:cNvSpPr/>
          <p:nvPr/>
        </p:nvSpPr>
        <p:spPr>
          <a:xfrm>
            <a:off x="676080" y="3124080"/>
            <a:ext cx="3057840" cy="419400"/>
          </a:xfrm>
          <a:custGeom>
            <a:avLst/>
            <a:gdLst/>
            <a:ahLst/>
            <a:cxnLst/>
            <a:rect l="0" t="0" r="r" b="b"/>
            <a:pathLst>
              <a:path w="8494" h="1165">
                <a:moveTo>
                  <a:pt x="0" y="0"/>
                </a:moveTo>
                <a:lnTo>
                  <a:pt x="8494" y="0"/>
                </a:lnTo>
                <a:lnTo>
                  <a:pt x="849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Forma libre 444"/>
          <p:cNvSpPr/>
          <p:nvPr/>
        </p:nvSpPr>
        <p:spPr>
          <a:xfrm>
            <a:off x="3733560" y="3124080"/>
            <a:ext cx="4896360" cy="419400"/>
          </a:xfrm>
          <a:custGeom>
            <a:avLst/>
            <a:gdLst/>
            <a:ahLst/>
            <a:cxnLst/>
            <a:rect l="0" t="0" r="r" b="b"/>
            <a:pathLst>
              <a:path w="13601" h="1165">
                <a:moveTo>
                  <a:pt x="0" y="0"/>
                </a:moveTo>
                <a:lnTo>
                  <a:pt x="13601" y="0"/>
                </a:lnTo>
                <a:lnTo>
                  <a:pt x="1360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Forma libre 445"/>
          <p:cNvSpPr/>
          <p:nvPr/>
        </p:nvSpPr>
        <p:spPr>
          <a:xfrm>
            <a:off x="676080" y="3543120"/>
            <a:ext cx="3057840" cy="419400"/>
          </a:xfrm>
          <a:custGeom>
            <a:avLst/>
            <a:gdLst/>
            <a:ahLst/>
            <a:cxnLst/>
            <a:rect l="0" t="0" r="r" b="b"/>
            <a:pathLst>
              <a:path w="8494" h="1165">
                <a:moveTo>
                  <a:pt x="0" y="0"/>
                </a:moveTo>
                <a:lnTo>
                  <a:pt x="8494" y="0"/>
                </a:lnTo>
                <a:lnTo>
                  <a:pt x="849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Forma libre 446"/>
          <p:cNvSpPr/>
          <p:nvPr/>
        </p:nvSpPr>
        <p:spPr>
          <a:xfrm>
            <a:off x="3733560" y="3543120"/>
            <a:ext cx="4896360" cy="419400"/>
          </a:xfrm>
          <a:custGeom>
            <a:avLst/>
            <a:gdLst/>
            <a:ahLst/>
            <a:cxnLst/>
            <a:rect l="0" t="0" r="r" b="b"/>
            <a:pathLst>
              <a:path w="13601" h="1165">
                <a:moveTo>
                  <a:pt x="0" y="0"/>
                </a:moveTo>
                <a:lnTo>
                  <a:pt x="13601" y="0"/>
                </a:lnTo>
                <a:lnTo>
                  <a:pt x="1360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Forma libre 447"/>
          <p:cNvSpPr/>
          <p:nvPr/>
        </p:nvSpPr>
        <p:spPr>
          <a:xfrm>
            <a:off x="676080" y="3962160"/>
            <a:ext cx="3057840" cy="419400"/>
          </a:xfrm>
          <a:custGeom>
            <a:avLst/>
            <a:gdLst/>
            <a:ahLst/>
            <a:cxnLst/>
            <a:rect l="0" t="0" r="r" b="b"/>
            <a:pathLst>
              <a:path w="8494" h="1165">
                <a:moveTo>
                  <a:pt x="0" y="0"/>
                </a:moveTo>
                <a:lnTo>
                  <a:pt x="8494" y="0"/>
                </a:lnTo>
                <a:lnTo>
                  <a:pt x="849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Forma libre 448"/>
          <p:cNvSpPr/>
          <p:nvPr/>
        </p:nvSpPr>
        <p:spPr>
          <a:xfrm>
            <a:off x="3733560" y="3962160"/>
            <a:ext cx="4896360" cy="419400"/>
          </a:xfrm>
          <a:custGeom>
            <a:avLst/>
            <a:gdLst/>
            <a:ahLst/>
            <a:cxnLst/>
            <a:rect l="0" t="0" r="r" b="b"/>
            <a:pathLst>
              <a:path w="13601" h="1165">
                <a:moveTo>
                  <a:pt x="0" y="0"/>
                </a:moveTo>
                <a:lnTo>
                  <a:pt x="13601" y="0"/>
                </a:lnTo>
                <a:lnTo>
                  <a:pt x="1360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Forma libre 449"/>
          <p:cNvSpPr/>
          <p:nvPr/>
        </p:nvSpPr>
        <p:spPr>
          <a:xfrm>
            <a:off x="666720" y="228564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Forma libre 450"/>
          <p:cNvSpPr/>
          <p:nvPr/>
        </p:nvSpPr>
        <p:spPr>
          <a:xfrm>
            <a:off x="666720" y="2285640"/>
            <a:ext cx="3067200" cy="10080"/>
          </a:xfrm>
          <a:custGeom>
            <a:avLst/>
            <a:gdLst/>
            <a:ahLst/>
            <a:cxnLst/>
            <a:rect l="0" t="0" r="r" b="b"/>
            <a:pathLst>
              <a:path w="8520" h="28">
                <a:moveTo>
                  <a:pt x="0" y="0"/>
                </a:moveTo>
                <a:lnTo>
                  <a:pt x="8520" y="0"/>
                </a:lnTo>
                <a:lnTo>
                  <a:pt x="85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Forma libre 451"/>
          <p:cNvSpPr/>
          <p:nvPr/>
        </p:nvSpPr>
        <p:spPr>
          <a:xfrm>
            <a:off x="3724200" y="228564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Forma libre 452"/>
          <p:cNvSpPr/>
          <p:nvPr/>
        </p:nvSpPr>
        <p:spPr>
          <a:xfrm>
            <a:off x="3733560" y="2285640"/>
            <a:ext cx="4896360" cy="10080"/>
          </a:xfrm>
          <a:custGeom>
            <a:avLst/>
            <a:gdLst/>
            <a:ahLst/>
            <a:cxnLst/>
            <a:rect l="0" t="0" r="r" b="b"/>
            <a:pathLst>
              <a:path w="13601" h="28">
                <a:moveTo>
                  <a:pt x="0" y="0"/>
                </a:moveTo>
                <a:lnTo>
                  <a:pt x="13601" y="0"/>
                </a:lnTo>
                <a:lnTo>
                  <a:pt x="136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Forma libre 453"/>
          <p:cNvSpPr/>
          <p:nvPr/>
        </p:nvSpPr>
        <p:spPr>
          <a:xfrm>
            <a:off x="8619840" y="228564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Forma libre 454"/>
          <p:cNvSpPr/>
          <p:nvPr/>
        </p:nvSpPr>
        <p:spPr>
          <a:xfrm>
            <a:off x="666720" y="2695320"/>
            <a:ext cx="3067200" cy="10080"/>
          </a:xfrm>
          <a:custGeom>
            <a:avLst/>
            <a:gdLst/>
            <a:ahLst/>
            <a:cxnLst/>
            <a:rect l="0" t="0" r="r" b="b"/>
            <a:pathLst>
              <a:path w="8520" h="28">
                <a:moveTo>
                  <a:pt x="0" y="0"/>
                </a:moveTo>
                <a:lnTo>
                  <a:pt x="8520" y="0"/>
                </a:lnTo>
                <a:lnTo>
                  <a:pt x="85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Forma libre 455"/>
          <p:cNvSpPr/>
          <p:nvPr/>
        </p:nvSpPr>
        <p:spPr>
          <a:xfrm>
            <a:off x="3733560" y="2695320"/>
            <a:ext cx="4896360" cy="10080"/>
          </a:xfrm>
          <a:custGeom>
            <a:avLst/>
            <a:gdLst/>
            <a:ahLst/>
            <a:cxnLst/>
            <a:rect l="0" t="0" r="r" b="b"/>
            <a:pathLst>
              <a:path w="13601" h="28">
                <a:moveTo>
                  <a:pt x="0" y="0"/>
                </a:moveTo>
                <a:lnTo>
                  <a:pt x="13601" y="0"/>
                </a:lnTo>
                <a:lnTo>
                  <a:pt x="136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Forma libre 456"/>
          <p:cNvSpPr/>
          <p:nvPr/>
        </p:nvSpPr>
        <p:spPr>
          <a:xfrm>
            <a:off x="666720" y="2705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Forma libre 457"/>
          <p:cNvSpPr/>
          <p:nvPr/>
        </p:nvSpPr>
        <p:spPr>
          <a:xfrm>
            <a:off x="3724200" y="27050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Forma libre 458"/>
          <p:cNvSpPr/>
          <p:nvPr/>
        </p:nvSpPr>
        <p:spPr>
          <a:xfrm>
            <a:off x="8619840" y="27050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Forma libre 459"/>
          <p:cNvSpPr/>
          <p:nvPr/>
        </p:nvSpPr>
        <p:spPr>
          <a:xfrm>
            <a:off x="666720" y="3124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Forma libre 460"/>
          <p:cNvSpPr/>
          <p:nvPr/>
        </p:nvSpPr>
        <p:spPr>
          <a:xfrm>
            <a:off x="666720" y="3114360"/>
            <a:ext cx="3067200" cy="10080"/>
          </a:xfrm>
          <a:custGeom>
            <a:avLst/>
            <a:gdLst/>
            <a:ahLst/>
            <a:cxnLst/>
            <a:rect l="0" t="0" r="r" b="b"/>
            <a:pathLst>
              <a:path w="8520" h="28">
                <a:moveTo>
                  <a:pt x="0" y="0"/>
                </a:moveTo>
                <a:lnTo>
                  <a:pt x="8520" y="0"/>
                </a:lnTo>
                <a:lnTo>
                  <a:pt x="85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Forma libre 461"/>
          <p:cNvSpPr/>
          <p:nvPr/>
        </p:nvSpPr>
        <p:spPr>
          <a:xfrm>
            <a:off x="3724200" y="3124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Forma libre 462"/>
          <p:cNvSpPr/>
          <p:nvPr/>
        </p:nvSpPr>
        <p:spPr>
          <a:xfrm>
            <a:off x="3733560" y="3114360"/>
            <a:ext cx="4896360" cy="10080"/>
          </a:xfrm>
          <a:custGeom>
            <a:avLst/>
            <a:gdLst/>
            <a:ahLst/>
            <a:cxnLst/>
            <a:rect l="0" t="0" r="r" b="b"/>
            <a:pathLst>
              <a:path w="13601" h="28">
                <a:moveTo>
                  <a:pt x="0" y="0"/>
                </a:moveTo>
                <a:lnTo>
                  <a:pt x="13601" y="0"/>
                </a:lnTo>
                <a:lnTo>
                  <a:pt x="136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Forma libre 463"/>
          <p:cNvSpPr/>
          <p:nvPr/>
        </p:nvSpPr>
        <p:spPr>
          <a:xfrm>
            <a:off x="8619840" y="31240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Forma libre 464"/>
          <p:cNvSpPr/>
          <p:nvPr/>
        </p:nvSpPr>
        <p:spPr>
          <a:xfrm>
            <a:off x="666720" y="35431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Forma libre 465"/>
          <p:cNvSpPr/>
          <p:nvPr/>
        </p:nvSpPr>
        <p:spPr>
          <a:xfrm>
            <a:off x="666720" y="3533760"/>
            <a:ext cx="3067200" cy="9720"/>
          </a:xfrm>
          <a:custGeom>
            <a:avLst/>
            <a:gdLst/>
            <a:ahLst/>
            <a:cxnLst/>
            <a:rect l="0" t="0" r="r" b="b"/>
            <a:pathLst>
              <a:path w="8520" h="27">
                <a:moveTo>
                  <a:pt x="0" y="0"/>
                </a:moveTo>
                <a:lnTo>
                  <a:pt x="8520" y="0"/>
                </a:lnTo>
                <a:lnTo>
                  <a:pt x="85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Forma libre 466"/>
          <p:cNvSpPr/>
          <p:nvPr/>
        </p:nvSpPr>
        <p:spPr>
          <a:xfrm>
            <a:off x="3724200" y="35431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Forma libre 467"/>
          <p:cNvSpPr/>
          <p:nvPr/>
        </p:nvSpPr>
        <p:spPr>
          <a:xfrm>
            <a:off x="3733560" y="3533760"/>
            <a:ext cx="4896360" cy="9720"/>
          </a:xfrm>
          <a:custGeom>
            <a:avLst/>
            <a:gdLst/>
            <a:ahLst/>
            <a:cxnLst/>
            <a:rect l="0" t="0" r="r" b="b"/>
            <a:pathLst>
              <a:path w="13601" h="27">
                <a:moveTo>
                  <a:pt x="0" y="0"/>
                </a:moveTo>
                <a:lnTo>
                  <a:pt x="13601" y="0"/>
                </a:lnTo>
                <a:lnTo>
                  <a:pt x="136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Forma libre 468"/>
          <p:cNvSpPr/>
          <p:nvPr/>
        </p:nvSpPr>
        <p:spPr>
          <a:xfrm>
            <a:off x="8619840" y="35431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Forma libre 469"/>
          <p:cNvSpPr/>
          <p:nvPr/>
        </p:nvSpPr>
        <p:spPr>
          <a:xfrm>
            <a:off x="666720" y="39621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Forma libre 470"/>
          <p:cNvSpPr/>
          <p:nvPr/>
        </p:nvSpPr>
        <p:spPr>
          <a:xfrm>
            <a:off x="666720" y="3952800"/>
            <a:ext cx="3067200" cy="9720"/>
          </a:xfrm>
          <a:custGeom>
            <a:avLst/>
            <a:gdLst/>
            <a:ahLst/>
            <a:cxnLst/>
            <a:rect l="0" t="0" r="r" b="b"/>
            <a:pathLst>
              <a:path w="8520" h="27">
                <a:moveTo>
                  <a:pt x="0" y="0"/>
                </a:moveTo>
                <a:lnTo>
                  <a:pt x="8520" y="0"/>
                </a:lnTo>
                <a:lnTo>
                  <a:pt x="85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Forma libre 471"/>
          <p:cNvSpPr/>
          <p:nvPr/>
        </p:nvSpPr>
        <p:spPr>
          <a:xfrm>
            <a:off x="3724200" y="39621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Forma libre 472"/>
          <p:cNvSpPr/>
          <p:nvPr/>
        </p:nvSpPr>
        <p:spPr>
          <a:xfrm>
            <a:off x="3733560" y="3952800"/>
            <a:ext cx="4896360" cy="9720"/>
          </a:xfrm>
          <a:custGeom>
            <a:avLst/>
            <a:gdLst/>
            <a:ahLst/>
            <a:cxnLst/>
            <a:rect l="0" t="0" r="r" b="b"/>
            <a:pathLst>
              <a:path w="13601" h="27">
                <a:moveTo>
                  <a:pt x="0" y="0"/>
                </a:moveTo>
                <a:lnTo>
                  <a:pt x="13601" y="0"/>
                </a:lnTo>
                <a:lnTo>
                  <a:pt x="136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Forma libre 473"/>
          <p:cNvSpPr/>
          <p:nvPr/>
        </p:nvSpPr>
        <p:spPr>
          <a:xfrm>
            <a:off x="8619840" y="39621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Forma libre 474"/>
          <p:cNvSpPr/>
          <p:nvPr/>
        </p:nvSpPr>
        <p:spPr>
          <a:xfrm>
            <a:off x="666720" y="4371840"/>
            <a:ext cx="3067200" cy="9720"/>
          </a:xfrm>
          <a:custGeom>
            <a:avLst/>
            <a:gdLst/>
            <a:ahLst/>
            <a:cxnLst/>
            <a:rect l="0" t="0" r="r" b="b"/>
            <a:pathLst>
              <a:path w="8520" h="27">
                <a:moveTo>
                  <a:pt x="0" y="0"/>
                </a:moveTo>
                <a:lnTo>
                  <a:pt x="8520" y="0"/>
                </a:lnTo>
                <a:lnTo>
                  <a:pt x="85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Forma libre 475"/>
          <p:cNvSpPr/>
          <p:nvPr/>
        </p:nvSpPr>
        <p:spPr>
          <a:xfrm>
            <a:off x="3733560" y="4371840"/>
            <a:ext cx="4896360" cy="9720"/>
          </a:xfrm>
          <a:custGeom>
            <a:avLst/>
            <a:gdLst/>
            <a:ahLst/>
            <a:cxnLst/>
            <a:rect l="0" t="0" r="r" b="b"/>
            <a:pathLst>
              <a:path w="13601" h="27">
                <a:moveTo>
                  <a:pt x="0" y="0"/>
                </a:moveTo>
                <a:lnTo>
                  <a:pt x="13601" y="0"/>
                </a:lnTo>
                <a:lnTo>
                  <a:pt x="136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CuadroTexto 476"/>
          <p:cNvSpPr txBox="1"/>
          <p:nvPr/>
        </p:nvSpPr>
        <p:spPr>
          <a:xfrm>
            <a:off x="666720" y="1653840"/>
            <a:ext cx="30852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Cuatro formas de salir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CuadroTexto 477"/>
          <p:cNvSpPr txBox="1"/>
          <p:nvPr/>
        </p:nvSpPr>
        <p:spPr>
          <a:xfrm>
            <a:off x="1736640" y="2390400"/>
            <a:ext cx="928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Estrategia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CuadroTexto 478"/>
          <p:cNvSpPr txBox="1"/>
          <p:nvPr/>
        </p:nvSpPr>
        <p:spPr>
          <a:xfrm>
            <a:off x="5502600" y="2390400"/>
            <a:ext cx="1352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Cuándo se usa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CuadroTexto 479"/>
          <p:cNvSpPr txBox="1"/>
          <p:nvPr/>
        </p:nvSpPr>
        <p:spPr>
          <a:xfrm>
            <a:off x="799920" y="2800080"/>
            <a:ext cx="2434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Fin de exposición continua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CuadroTexto 480"/>
          <p:cNvSpPr txBox="1"/>
          <p:nvPr/>
        </p:nvSpPr>
        <p:spPr>
          <a:xfrm>
            <a:off x="3857760" y="2800080"/>
            <a:ext cx="4648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cohortes de tratamiento; requiere un </a:t>
            </a:r>
            <a:r>
              <a:rPr lang="es-ES" sz="1500" b="0" i="1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gap 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 persistencia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CuadroTexto 481"/>
          <p:cNvSpPr txBox="1"/>
          <p:nvPr/>
        </p:nvSpPr>
        <p:spPr>
          <a:xfrm>
            <a:off x="799920" y="3219120"/>
            <a:ext cx="2801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Fin del periodo de observación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CuadroTexto 482"/>
          <p:cNvSpPr txBox="1"/>
          <p:nvPr/>
        </p:nvSpPr>
        <p:spPr>
          <a:xfrm>
            <a:off x="3857760" y="3219120"/>
            <a:ext cx="23932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paciente deja de ser visible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CuadroTexto 483"/>
          <p:cNvSpPr txBox="1"/>
          <p:nvPr/>
        </p:nvSpPr>
        <p:spPr>
          <a:xfrm>
            <a:off x="799920" y="3638160"/>
            <a:ext cx="2004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Ocurrencia del evento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CuadroTexto 484"/>
          <p:cNvSpPr txBox="1"/>
          <p:nvPr/>
        </p:nvSpPr>
        <p:spPr>
          <a:xfrm>
            <a:off x="3857760" y="3638160"/>
            <a:ext cx="18676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cohortes de desenlace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CuadroTexto 485"/>
          <p:cNvSpPr txBox="1"/>
          <p:nvPr/>
        </p:nvSpPr>
        <p:spPr>
          <a:xfrm>
            <a:off x="799920" y="4057200"/>
            <a:ext cx="1157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Duración ﬁja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CuadroTexto 486"/>
          <p:cNvSpPr txBox="1"/>
          <p:nvPr/>
        </p:nvSpPr>
        <p:spPr>
          <a:xfrm>
            <a:off x="3857760" y="4057200"/>
            <a:ext cx="35647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«90 días después del índice», por protocolo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CuadroTexto 487"/>
          <p:cNvSpPr txBox="1"/>
          <p:nvPr/>
        </p:nvSpPr>
        <p:spPr>
          <a:xfrm>
            <a:off x="666720" y="4573440"/>
            <a:ext cx="10645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</a:t>
            </a:r>
            <a:r>
              <a:rPr lang="es-ES" sz="1800" b="0" i="1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gap 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 persistencia es el mismo patrón de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gaps and islands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 la sesión 11: dos recetas separadas por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CuadroTexto 488"/>
          <p:cNvSpPr txBox="1"/>
          <p:nvPr/>
        </p:nvSpPr>
        <p:spPr>
          <a:xfrm>
            <a:off x="666720" y="4916520"/>
            <a:ext cx="7516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menos de 30 días son un tratamiento continuo; por más, son dos episodios.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CuadroTexto 48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CuadroTexto 49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CuadroTexto 49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Forma libre 49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Forma libre 49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Forma libre 49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CuadroTexto 495"/>
          <p:cNvSpPr txBox="1"/>
          <p:nvPr/>
        </p:nvSpPr>
        <p:spPr>
          <a:xfrm>
            <a:off x="1782360" y="3063960"/>
            <a:ext cx="88534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7. Los errores que cambian resultados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CuadroTexto 49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CuadroTexto 49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CuadroTexto 49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Forma libre 49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Forma libre 50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Forma libre 50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Forma libre 502"/>
          <p:cNvSpPr/>
          <p:nvPr/>
        </p:nvSpPr>
        <p:spPr>
          <a:xfrm>
            <a:off x="671400" y="3509640"/>
            <a:ext cx="10849320" cy="1105560"/>
          </a:xfrm>
          <a:custGeom>
            <a:avLst/>
            <a:gdLst/>
            <a:ahLst/>
            <a:cxnLst/>
            <a:rect l="0" t="0" r="r" b="b"/>
            <a:pathLst>
              <a:path w="30137" h="3071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4"/>
                  <a:pt x="30127" y="2936"/>
                  <a:pt x="30122" y="2948"/>
                </a:cubicBezTo>
                <a:cubicBezTo>
                  <a:pt x="30117" y="2960"/>
                  <a:pt x="30111" y="2972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2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7"/>
                </a:cubicBezTo>
                <a:cubicBezTo>
                  <a:pt x="29964" y="3069"/>
                  <a:pt x="29951" y="3071"/>
                  <a:pt x="29938" y="3071"/>
                </a:cubicBezTo>
                <a:lnTo>
                  <a:pt x="198" y="3071"/>
                </a:lnTo>
                <a:cubicBezTo>
                  <a:pt x="185" y="3071"/>
                  <a:pt x="172" y="3069"/>
                  <a:pt x="160" y="3067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2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2"/>
                  <a:pt x="20" y="2960"/>
                  <a:pt x="15" y="2948"/>
                </a:cubicBezTo>
                <a:cubicBezTo>
                  <a:pt x="10" y="2936"/>
                  <a:pt x="6" y="2924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Forma libre 503"/>
          <p:cNvSpPr/>
          <p:nvPr/>
        </p:nvSpPr>
        <p:spPr>
          <a:xfrm>
            <a:off x="671400" y="3509640"/>
            <a:ext cx="10849320" cy="1105560"/>
          </a:xfrm>
          <a:custGeom>
            <a:avLst/>
            <a:gdLst/>
            <a:ahLst/>
            <a:cxnLst/>
            <a:rect l="0" t="0" r="r" b="b"/>
            <a:pathLst>
              <a:path w="30137" h="3071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4"/>
                  <a:pt x="30127" y="2936"/>
                  <a:pt x="30122" y="2948"/>
                </a:cubicBezTo>
                <a:cubicBezTo>
                  <a:pt x="30117" y="2960"/>
                  <a:pt x="30111" y="2972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2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7"/>
                </a:cubicBezTo>
                <a:cubicBezTo>
                  <a:pt x="29964" y="3069"/>
                  <a:pt x="29951" y="3071"/>
                  <a:pt x="29938" y="3071"/>
                </a:cubicBezTo>
                <a:lnTo>
                  <a:pt x="198" y="3071"/>
                </a:lnTo>
                <a:cubicBezTo>
                  <a:pt x="185" y="3071"/>
                  <a:pt x="172" y="3069"/>
                  <a:pt x="160" y="3067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2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2"/>
                  <a:pt x="20" y="2960"/>
                  <a:pt x="15" y="2948"/>
                </a:cubicBezTo>
                <a:cubicBezTo>
                  <a:pt x="10" y="2936"/>
                  <a:pt x="6" y="2924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Forma libre 504"/>
          <p:cNvSpPr/>
          <p:nvPr/>
        </p:nvSpPr>
        <p:spPr>
          <a:xfrm>
            <a:off x="666720" y="4771800"/>
            <a:ext cx="10858680" cy="572040"/>
          </a:xfrm>
          <a:custGeom>
            <a:avLst/>
            <a:gdLst/>
            <a:ahLst/>
            <a:cxnLst/>
            <a:rect l="0" t="0" r="r" b="b"/>
            <a:pathLst>
              <a:path w="30163" h="1589">
                <a:moveTo>
                  <a:pt x="0" y="0"/>
                </a:moveTo>
                <a:lnTo>
                  <a:pt x="30163" y="0"/>
                </a:lnTo>
                <a:lnTo>
                  <a:pt x="3016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Forma libre 505"/>
          <p:cNvSpPr/>
          <p:nvPr/>
        </p:nvSpPr>
        <p:spPr>
          <a:xfrm>
            <a:off x="666720" y="4771800"/>
            <a:ext cx="47880" cy="572040"/>
          </a:xfrm>
          <a:custGeom>
            <a:avLst/>
            <a:gdLst/>
            <a:ahLst/>
            <a:cxnLst/>
            <a:rect l="0" t="0" r="r" b="b"/>
            <a:pathLst>
              <a:path w="133" h="1589">
                <a:moveTo>
                  <a:pt x="0" y="0"/>
                </a:moveTo>
                <a:lnTo>
                  <a:pt x="133" y="0"/>
                </a:lnTo>
                <a:lnTo>
                  <a:pt x="13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CuadroTexto 506"/>
          <p:cNvSpPr txBox="1"/>
          <p:nvPr/>
        </p:nvSpPr>
        <p:spPr>
          <a:xfrm>
            <a:off x="666720" y="1530000"/>
            <a:ext cx="25675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Immortal time bias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CuadroTexto 510"/>
          <p:cNvSpPr txBox="1"/>
          <p:nvPr/>
        </p:nvSpPr>
        <p:spPr>
          <a:xfrm>
            <a:off x="666720" y="2706480"/>
            <a:ext cx="108028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Si deﬁnes la exposición usando algo que pasó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después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 la fecha índice, creas un tramo de seguimiento en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CuadroTexto 511"/>
          <p:cNvSpPr txBox="1"/>
          <p:nvPr/>
        </p:nvSpPr>
        <p:spPr>
          <a:xfrm>
            <a:off x="666720" y="3049560"/>
            <a:ext cx="9726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que el paciente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 podía morir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porque si hubiera muerto, no habría llegado a surtir la receta.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CuadroTexto 512"/>
          <p:cNvSpPr txBox="1"/>
          <p:nvPr/>
        </p:nvSpPr>
        <p:spPr>
          <a:xfrm>
            <a:off x="866880" y="3689640"/>
            <a:ext cx="7534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índice ──────── (inmortal) ────────▶ primera receta ──────▶ desenlace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CuadroTexto 513"/>
          <p:cNvSpPr txBox="1"/>
          <p:nvPr/>
        </p:nvSpPr>
        <p:spPr>
          <a:xfrm>
            <a:off x="866880" y="3956400"/>
            <a:ext cx="4258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                     ↑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CuadroTexto 514"/>
          <p:cNvSpPr txBox="1"/>
          <p:nvPr/>
        </p:nvSpPr>
        <p:spPr>
          <a:xfrm>
            <a:off x="866880" y="4213440"/>
            <a:ext cx="6552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       aquí decidiste que estaba "expuesto"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CuadroTexto 515"/>
          <p:cNvSpPr txBox="1"/>
          <p:nvPr/>
        </p:nvSpPr>
        <p:spPr>
          <a:xfrm>
            <a:off x="905040" y="4925880"/>
            <a:ext cx="6963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El fármaco sale protector. No lo es: le regalaste tiempo libre de evento.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CuadroTexto 51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CuadroTexto 51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CuadroTexto 51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Forma libre 51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Forma libre 52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Forma libre 52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Forma libre 522"/>
          <p:cNvSpPr/>
          <p:nvPr/>
        </p:nvSpPr>
        <p:spPr>
          <a:xfrm>
            <a:off x="676080" y="2647800"/>
            <a:ext cx="2629440" cy="410040"/>
          </a:xfrm>
          <a:custGeom>
            <a:avLst/>
            <a:gdLst/>
            <a:ahLst/>
            <a:cxnLst/>
            <a:rect l="0" t="0" r="r" b="b"/>
            <a:pathLst>
              <a:path w="7304" h="1139">
                <a:moveTo>
                  <a:pt x="0" y="0"/>
                </a:moveTo>
                <a:lnTo>
                  <a:pt x="7304" y="0"/>
                </a:lnTo>
                <a:lnTo>
                  <a:pt x="730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Forma libre 523"/>
          <p:cNvSpPr/>
          <p:nvPr/>
        </p:nvSpPr>
        <p:spPr>
          <a:xfrm>
            <a:off x="3305160" y="2647800"/>
            <a:ext cx="4438800" cy="410040"/>
          </a:xfrm>
          <a:custGeom>
            <a:avLst/>
            <a:gdLst/>
            <a:ahLst/>
            <a:cxnLst/>
            <a:rect l="0" t="0" r="r" b="b"/>
            <a:pathLst>
              <a:path w="12330" h="1139">
                <a:moveTo>
                  <a:pt x="0" y="0"/>
                </a:moveTo>
                <a:lnTo>
                  <a:pt x="12330" y="0"/>
                </a:lnTo>
                <a:lnTo>
                  <a:pt x="1233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Forma libre 524"/>
          <p:cNvSpPr/>
          <p:nvPr/>
        </p:nvSpPr>
        <p:spPr>
          <a:xfrm>
            <a:off x="7743600" y="2647800"/>
            <a:ext cx="3781800" cy="410040"/>
          </a:xfrm>
          <a:custGeom>
            <a:avLst/>
            <a:gdLst/>
            <a:ahLst/>
            <a:cxnLst/>
            <a:rect l="0" t="0" r="r" b="b"/>
            <a:pathLst>
              <a:path w="10505" h="1139">
                <a:moveTo>
                  <a:pt x="0" y="0"/>
                </a:moveTo>
                <a:lnTo>
                  <a:pt x="10505" y="0"/>
                </a:lnTo>
                <a:lnTo>
                  <a:pt x="1050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Forma libre 525"/>
          <p:cNvSpPr/>
          <p:nvPr/>
        </p:nvSpPr>
        <p:spPr>
          <a:xfrm>
            <a:off x="676080" y="2647800"/>
            <a:ext cx="2629440" cy="410040"/>
          </a:xfrm>
          <a:custGeom>
            <a:avLst/>
            <a:gdLst/>
            <a:ahLst/>
            <a:cxnLst/>
            <a:rect l="0" t="0" r="r" b="b"/>
            <a:pathLst>
              <a:path w="7304" h="1139">
                <a:moveTo>
                  <a:pt x="0" y="0"/>
                </a:moveTo>
                <a:lnTo>
                  <a:pt x="7304" y="0"/>
                </a:lnTo>
                <a:lnTo>
                  <a:pt x="730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Forma libre 526"/>
          <p:cNvSpPr/>
          <p:nvPr/>
        </p:nvSpPr>
        <p:spPr>
          <a:xfrm>
            <a:off x="3305160" y="2647800"/>
            <a:ext cx="4438800" cy="410040"/>
          </a:xfrm>
          <a:custGeom>
            <a:avLst/>
            <a:gdLst/>
            <a:ahLst/>
            <a:cxnLst/>
            <a:rect l="0" t="0" r="r" b="b"/>
            <a:pathLst>
              <a:path w="12330" h="1139">
                <a:moveTo>
                  <a:pt x="0" y="0"/>
                </a:moveTo>
                <a:lnTo>
                  <a:pt x="12330" y="0"/>
                </a:lnTo>
                <a:lnTo>
                  <a:pt x="1233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Forma libre 527"/>
          <p:cNvSpPr/>
          <p:nvPr/>
        </p:nvSpPr>
        <p:spPr>
          <a:xfrm>
            <a:off x="7743600" y="2647800"/>
            <a:ext cx="3781800" cy="410040"/>
          </a:xfrm>
          <a:custGeom>
            <a:avLst/>
            <a:gdLst/>
            <a:ahLst/>
            <a:cxnLst/>
            <a:rect l="0" t="0" r="r" b="b"/>
            <a:pathLst>
              <a:path w="10505" h="1139">
                <a:moveTo>
                  <a:pt x="0" y="0"/>
                </a:moveTo>
                <a:lnTo>
                  <a:pt x="10505" y="0"/>
                </a:lnTo>
                <a:lnTo>
                  <a:pt x="1050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Forma libre 528"/>
          <p:cNvSpPr/>
          <p:nvPr/>
        </p:nvSpPr>
        <p:spPr>
          <a:xfrm>
            <a:off x="676080" y="3057480"/>
            <a:ext cx="2629440" cy="695520"/>
          </a:xfrm>
          <a:custGeom>
            <a:avLst/>
            <a:gdLst/>
            <a:ahLst/>
            <a:cxnLst/>
            <a:rect l="0" t="0" r="r" b="b"/>
            <a:pathLst>
              <a:path w="7304" h="1932">
                <a:moveTo>
                  <a:pt x="0" y="0"/>
                </a:moveTo>
                <a:lnTo>
                  <a:pt x="7304" y="0"/>
                </a:lnTo>
                <a:lnTo>
                  <a:pt x="7304" y="1932"/>
                </a:lnTo>
                <a:lnTo>
                  <a:pt x="0" y="19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Forma libre 529"/>
          <p:cNvSpPr/>
          <p:nvPr/>
        </p:nvSpPr>
        <p:spPr>
          <a:xfrm>
            <a:off x="3305160" y="3057480"/>
            <a:ext cx="4438800" cy="695520"/>
          </a:xfrm>
          <a:custGeom>
            <a:avLst/>
            <a:gdLst/>
            <a:ahLst/>
            <a:cxnLst/>
            <a:rect l="0" t="0" r="r" b="b"/>
            <a:pathLst>
              <a:path w="12330" h="1932">
                <a:moveTo>
                  <a:pt x="0" y="0"/>
                </a:moveTo>
                <a:lnTo>
                  <a:pt x="12330" y="0"/>
                </a:lnTo>
                <a:lnTo>
                  <a:pt x="12330" y="1932"/>
                </a:lnTo>
                <a:lnTo>
                  <a:pt x="0" y="19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Forma libre 530"/>
          <p:cNvSpPr/>
          <p:nvPr/>
        </p:nvSpPr>
        <p:spPr>
          <a:xfrm>
            <a:off x="7743600" y="3057480"/>
            <a:ext cx="3781800" cy="695520"/>
          </a:xfrm>
          <a:custGeom>
            <a:avLst/>
            <a:gdLst/>
            <a:ahLst/>
            <a:cxnLst/>
            <a:rect l="0" t="0" r="r" b="b"/>
            <a:pathLst>
              <a:path w="10505" h="1932">
                <a:moveTo>
                  <a:pt x="0" y="0"/>
                </a:moveTo>
                <a:lnTo>
                  <a:pt x="10505" y="0"/>
                </a:lnTo>
                <a:lnTo>
                  <a:pt x="10505" y="1932"/>
                </a:lnTo>
                <a:lnTo>
                  <a:pt x="0" y="19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Forma libre 531"/>
          <p:cNvSpPr/>
          <p:nvPr/>
        </p:nvSpPr>
        <p:spPr>
          <a:xfrm>
            <a:off x="676080" y="3752640"/>
            <a:ext cx="2629440" cy="695880"/>
          </a:xfrm>
          <a:custGeom>
            <a:avLst/>
            <a:gdLst/>
            <a:ahLst/>
            <a:cxnLst/>
            <a:rect l="0" t="0" r="r" b="b"/>
            <a:pathLst>
              <a:path w="7304" h="1933">
                <a:moveTo>
                  <a:pt x="0" y="0"/>
                </a:moveTo>
                <a:lnTo>
                  <a:pt x="7304" y="0"/>
                </a:lnTo>
                <a:lnTo>
                  <a:pt x="7304" y="1933"/>
                </a:lnTo>
                <a:lnTo>
                  <a:pt x="0" y="19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Forma libre 532"/>
          <p:cNvSpPr/>
          <p:nvPr/>
        </p:nvSpPr>
        <p:spPr>
          <a:xfrm>
            <a:off x="3305160" y="3752640"/>
            <a:ext cx="4438800" cy="695880"/>
          </a:xfrm>
          <a:custGeom>
            <a:avLst/>
            <a:gdLst/>
            <a:ahLst/>
            <a:cxnLst/>
            <a:rect l="0" t="0" r="r" b="b"/>
            <a:pathLst>
              <a:path w="12330" h="1933">
                <a:moveTo>
                  <a:pt x="0" y="0"/>
                </a:moveTo>
                <a:lnTo>
                  <a:pt x="12330" y="0"/>
                </a:lnTo>
                <a:lnTo>
                  <a:pt x="12330" y="1933"/>
                </a:lnTo>
                <a:lnTo>
                  <a:pt x="0" y="19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Forma libre 533"/>
          <p:cNvSpPr/>
          <p:nvPr/>
        </p:nvSpPr>
        <p:spPr>
          <a:xfrm>
            <a:off x="7743600" y="3752640"/>
            <a:ext cx="3781800" cy="695880"/>
          </a:xfrm>
          <a:custGeom>
            <a:avLst/>
            <a:gdLst/>
            <a:ahLst/>
            <a:cxnLst/>
            <a:rect l="0" t="0" r="r" b="b"/>
            <a:pathLst>
              <a:path w="10505" h="1933">
                <a:moveTo>
                  <a:pt x="0" y="0"/>
                </a:moveTo>
                <a:lnTo>
                  <a:pt x="10505" y="0"/>
                </a:lnTo>
                <a:lnTo>
                  <a:pt x="10505" y="1933"/>
                </a:lnTo>
                <a:lnTo>
                  <a:pt x="0" y="19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Forma libre 534"/>
          <p:cNvSpPr/>
          <p:nvPr/>
        </p:nvSpPr>
        <p:spPr>
          <a:xfrm>
            <a:off x="676080" y="4448160"/>
            <a:ext cx="2629440" cy="419400"/>
          </a:xfrm>
          <a:custGeom>
            <a:avLst/>
            <a:gdLst/>
            <a:ahLst/>
            <a:cxnLst/>
            <a:rect l="0" t="0" r="r" b="b"/>
            <a:pathLst>
              <a:path w="7304" h="1165">
                <a:moveTo>
                  <a:pt x="0" y="0"/>
                </a:moveTo>
                <a:lnTo>
                  <a:pt x="7304" y="0"/>
                </a:lnTo>
                <a:lnTo>
                  <a:pt x="730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Forma libre 535"/>
          <p:cNvSpPr/>
          <p:nvPr/>
        </p:nvSpPr>
        <p:spPr>
          <a:xfrm>
            <a:off x="3305160" y="4448160"/>
            <a:ext cx="4438800" cy="419400"/>
          </a:xfrm>
          <a:custGeom>
            <a:avLst/>
            <a:gdLst/>
            <a:ahLst/>
            <a:cxnLst/>
            <a:rect l="0" t="0" r="r" b="b"/>
            <a:pathLst>
              <a:path w="12330" h="1165">
                <a:moveTo>
                  <a:pt x="0" y="0"/>
                </a:moveTo>
                <a:lnTo>
                  <a:pt x="12330" y="0"/>
                </a:lnTo>
                <a:lnTo>
                  <a:pt x="1233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Forma libre 536"/>
          <p:cNvSpPr/>
          <p:nvPr/>
        </p:nvSpPr>
        <p:spPr>
          <a:xfrm>
            <a:off x="7743600" y="4448160"/>
            <a:ext cx="3781800" cy="419400"/>
          </a:xfrm>
          <a:custGeom>
            <a:avLst/>
            <a:gdLst/>
            <a:ahLst/>
            <a:cxnLst/>
            <a:rect l="0" t="0" r="r" b="b"/>
            <a:pathLst>
              <a:path w="10505" h="1165">
                <a:moveTo>
                  <a:pt x="0" y="0"/>
                </a:moveTo>
                <a:lnTo>
                  <a:pt x="10505" y="0"/>
                </a:lnTo>
                <a:lnTo>
                  <a:pt x="1050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Forma libre 537"/>
          <p:cNvSpPr/>
          <p:nvPr/>
        </p:nvSpPr>
        <p:spPr>
          <a:xfrm>
            <a:off x="666720" y="263808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Forma libre 538"/>
          <p:cNvSpPr/>
          <p:nvPr/>
        </p:nvSpPr>
        <p:spPr>
          <a:xfrm>
            <a:off x="666720" y="2638080"/>
            <a:ext cx="2638800" cy="10080"/>
          </a:xfrm>
          <a:custGeom>
            <a:avLst/>
            <a:gdLst/>
            <a:ahLst/>
            <a:cxnLst/>
            <a:rect l="0" t="0" r="r" b="b"/>
            <a:pathLst>
              <a:path w="7330" h="28">
                <a:moveTo>
                  <a:pt x="0" y="0"/>
                </a:moveTo>
                <a:lnTo>
                  <a:pt x="7330" y="0"/>
                </a:lnTo>
                <a:lnTo>
                  <a:pt x="73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Forma libre 539"/>
          <p:cNvSpPr/>
          <p:nvPr/>
        </p:nvSpPr>
        <p:spPr>
          <a:xfrm>
            <a:off x="3295440" y="263808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Forma libre 540"/>
          <p:cNvSpPr/>
          <p:nvPr/>
        </p:nvSpPr>
        <p:spPr>
          <a:xfrm>
            <a:off x="3305160" y="2638080"/>
            <a:ext cx="4448520" cy="10080"/>
          </a:xfrm>
          <a:custGeom>
            <a:avLst/>
            <a:gdLst/>
            <a:ahLst/>
            <a:cxnLst/>
            <a:rect l="0" t="0" r="r" b="b"/>
            <a:pathLst>
              <a:path w="12357" h="28">
                <a:moveTo>
                  <a:pt x="0" y="0"/>
                </a:moveTo>
                <a:lnTo>
                  <a:pt x="12357" y="0"/>
                </a:lnTo>
                <a:lnTo>
                  <a:pt x="1235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Forma libre 541"/>
          <p:cNvSpPr/>
          <p:nvPr/>
        </p:nvSpPr>
        <p:spPr>
          <a:xfrm>
            <a:off x="7743600" y="263808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Forma libre 542"/>
          <p:cNvSpPr/>
          <p:nvPr/>
        </p:nvSpPr>
        <p:spPr>
          <a:xfrm>
            <a:off x="7753320" y="2638080"/>
            <a:ext cx="3772080" cy="10080"/>
          </a:xfrm>
          <a:custGeom>
            <a:avLst/>
            <a:gdLst/>
            <a:ahLst/>
            <a:cxnLst/>
            <a:rect l="0" t="0" r="r" b="b"/>
            <a:pathLst>
              <a:path w="10478" h="28">
                <a:moveTo>
                  <a:pt x="0" y="0"/>
                </a:moveTo>
                <a:lnTo>
                  <a:pt x="10478" y="0"/>
                </a:lnTo>
                <a:lnTo>
                  <a:pt x="104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Forma libre 543"/>
          <p:cNvSpPr/>
          <p:nvPr/>
        </p:nvSpPr>
        <p:spPr>
          <a:xfrm>
            <a:off x="11515680" y="263808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Forma libre 544"/>
          <p:cNvSpPr/>
          <p:nvPr/>
        </p:nvSpPr>
        <p:spPr>
          <a:xfrm>
            <a:off x="666720" y="3047760"/>
            <a:ext cx="2638800" cy="10080"/>
          </a:xfrm>
          <a:custGeom>
            <a:avLst/>
            <a:gdLst/>
            <a:ahLst/>
            <a:cxnLst/>
            <a:rect l="0" t="0" r="r" b="b"/>
            <a:pathLst>
              <a:path w="7330" h="28">
                <a:moveTo>
                  <a:pt x="0" y="0"/>
                </a:moveTo>
                <a:lnTo>
                  <a:pt x="7330" y="0"/>
                </a:lnTo>
                <a:lnTo>
                  <a:pt x="73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Forma libre 545"/>
          <p:cNvSpPr/>
          <p:nvPr/>
        </p:nvSpPr>
        <p:spPr>
          <a:xfrm>
            <a:off x="3305160" y="3047760"/>
            <a:ext cx="4448520" cy="10080"/>
          </a:xfrm>
          <a:custGeom>
            <a:avLst/>
            <a:gdLst/>
            <a:ahLst/>
            <a:cxnLst/>
            <a:rect l="0" t="0" r="r" b="b"/>
            <a:pathLst>
              <a:path w="12357" h="28">
                <a:moveTo>
                  <a:pt x="0" y="0"/>
                </a:moveTo>
                <a:lnTo>
                  <a:pt x="12357" y="0"/>
                </a:lnTo>
                <a:lnTo>
                  <a:pt x="1235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Forma libre 546"/>
          <p:cNvSpPr/>
          <p:nvPr/>
        </p:nvSpPr>
        <p:spPr>
          <a:xfrm>
            <a:off x="7753320" y="3047760"/>
            <a:ext cx="3772080" cy="10080"/>
          </a:xfrm>
          <a:custGeom>
            <a:avLst/>
            <a:gdLst/>
            <a:ahLst/>
            <a:cxnLst/>
            <a:rect l="0" t="0" r="r" b="b"/>
            <a:pathLst>
              <a:path w="10478" h="28">
                <a:moveTo>
                  <a:pt x="0" y="0"/>
                </a:moveTo>
                <a:lnTo>
                  <a:pt x="10478" y="0"/>
                </a:lnTo>
                <a:lnTo>
                  <a:pt x="104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Forma libre 547"/>
          <p:cNvSpPr/>
          <p:nvPr/>
        </p:nvSpPr>
        <p:spPr>
          <a:xfrm>
            <a:off x="666720" y="3057480"/>
            <a:ext cx="9720" cy="695520"/>
          </a:xfrm>
          <a:custGeom>
            <a:avLst/>
            <a:gdLst/>
            <a:ahLst/>
            <a:cxnLst/>
            <a:rect l="0" t="0" r="r" b="b"/>
            <a:pathLst>
              <a:path w="27" h="1932">
                <a:moveTo>
                  <a:pt x="0" y="0"/>
                </a:moveTo>
                <a:lnTo>
                  <a:pt x="27" y="0"/>
                </a:lnTo>
                <a:lnTo>
                  <a:pt x="27" y="1932"/>
                </a:lnTo>
                <a:lnTo>
                  <a:pt x="0" y="19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Forma libre 548"/>
          <p:cNvSpPr/>
          <p:nvPr/>
        </p:nvSpPr>
        <p:spPr>
          <a:xfrm>
            <a:off x="3295440" y="3057480"/>
            <a:ext cx="10080" cy="695520"/>
          </a:xfrm>
          <a:custGeom>
            <a:avLst/>
            <a:gdLst/>
            <a:ahLst/>
            <a:cxnLst/>
            <a:rect l="0" t="0" r="r" b="b"/>
            <a:pathLst>
              <a:path w="28" h="1932">
                <a:moveTo>
                  <a:pt x="0" y="0"/>
                </a:moveTo>
                <a:lnTo>
                  <a:pt x="28" y="0"/>
                </a:lnTo>
                <a:lnTo>
                  <a:pt x="28" y="1932"/>
                </a:lnTo>
                <a:lnTo>
                  <a:pt x="0" y="19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Forma libre 549"/>
          <p:cNvSpPr/>
          <p:nvPr/>
        </p:nvSpPr>
        <p:spPr>
          <a:xfrm>
            <a:off x="7743600" y="3057480"/>
            <a:ext cx="10080" cy="695520"/>
          </a:xfrm>
          <a:custGeom>
            <a:avLst/>
            <a:gdLst/>
            <a:ahLst/>
            <a:cxnLst/>
            <a:rect l="0" t="0" r="r" b="b"/>
            <a:pathLst>
              <a:path w="28" h="1932">
                <a:moveTo>
                  <a:pt x="0" y="0"/>
                </a:moveTo>
                <a:lnTo>
                  <a:pt x="28" y="0"/>
                </a:lnTo>
                <a:lnTo>
                  <a:pt x="28" y="1932"/>
                </a:lnTo>
                <a:lnTo>
                  <a:pt x="0" y="19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Forma libre 550"/>
          <p:cNvSpPr/>
          <p:nvPr/>
        </p:nvSpPr>
        <p:spPr>
          <a:xfrm>
            <a:off x="11515680" y="3057480"/>
            <a:ext cx="9720" cy="695520"/>
          </a:xfrm>
          <a:custGeom>
            <a:avLst/>
            <a:gdLst/>
            <a:ahLst/>
            <a:cxnLst/>
            <a:rect l="0" t="0" r="r" b="b"/>
            <a:pathLst>
              <a:path w="27" h="1932">
                <a:moveTo>
                  <a:pt x="0" y="0"/>
                </a:moveTo>
                <a:lnTo>
                  <a:pt x="27" y="0"/>
                </a:lnTo>
                <a:lnTo>
                  <a:pt x="27" y="1932"/>
                </a:lnTo>
                <a:lnTo>
                  <a:pt x="0" y="19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Forma libre 551"/>
          <p:cNvSpPr/>
          <p:nvPr/>
        </p:nvSpPr>
        <p:spPr>
          <a:xfrm>
            <a:off x="666720" y="3752640"/>
            <a:ext cx="9720" cy="695880"/>
          </a:xfrm>
          <a:custGeom>
            <a:avLst/>
            <a:gdLst/>
            <a:ahLst/>
            <a:cxnLst/>
            <a:rect l="0" t="0" r="r" b="b"/>
            <a:pathLst>
              <a:path w="27" h="1933">
                <a:moveTo>
                  <a:pt x="0" y="0"/>
                </a:moveTo>
                <a:lnTo>
                  <a:pt x="27" y="0"/>
                </a:lnTo>
                <a:lnTo>
                  <a:pt x="27" y="1933"/>
                </a:lnTo>
                <a:lnTo>
                  <a:pt x="0" y="19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Forma libre 552"/>
          <p:cNvSpPr/>
          <p:nvPr/>
        </p:nvSpPr>
        <p:spPr>
          <a:xfrm>
            <a:off x="666720" y="3743280"/>
            <a:ext cx="2638800" cy="9720"/>
          </a:xfrm>
          <a:custGeom>
            <a:avLst/>
            <a:gdLst/>
            <a:ahLst/>
            <a:cxnLst/>
            <a:rect l="0" t="0" r="r" b="b"/>
            <a:pathLst>
              <a:path w="7330" h="27">
                <a:moveTo>
                  <a:pt x="0" y="0"/>
                </a:moveTo>
                <a:lnTo>
                  <a:pt x="7330" y="0"/>
                </a:lnTo>
                <a:lnTo>
                  <a:pt x="73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Forma libre 553"/>
          <p:cNvSpPr/>
          <p:nvPr/>
        </p:nvSpPr>
        <p:spPr>
          <a:xfrm>
            <a:off x="3295440" y="3752640"/>
            <a:ext cx="10080" cy="695880"/>
          </a:xfrm>
          <a:custGeom>
            <a:avLst/>
            <a:gdLst/>
            <a:ahLst/>
            <a:cxnLst/>
            <a:rect l="0" t="0" r="r" b="b"/>
            <a:pathLst>
              <a:path w="28" h="1933">
                <a:moveTo>
                  <a:pt x="0" y="0"/>
                </a:moveTo>
                <a:lnTo>
                  <a:pt x="28" y="0"/>
                </a:lnTo>
                <a:lnTo>
                  <a:pt x="28" y="1933"/>
                </a:lnTo>
                <a:lnTo>
                  <a:pt x="0" y="19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Forma libre 554"/>
          <p:cNvSpPr/>
          <p:nvPr/>
        </p:nvSpPr>
        <p:spPr>
          <a:xfrm>
            <a:off x="3305160" y="3743280"/>
            <a:ext cx="4448520" cy="9720"/>
          </a:xfrm>
          <a:custGeom>
            <a:avLst/>
            <a:gdLst/>
            <a:ahLst/>
            <a:cxnLst/>
            <a:rect l="0" t="0" r="r" b="b"/>
            <a:pathLst>
              <a:path w="12357" h="27">
                <a:moveTo>
                  <a:pt x="0" y="0"/>
                </a:moveTo>
                <a:lnTo>
                  <a:pt x="12357" y="0"/>
                </a:lnTo>
                <a:lnTo>
                  <a:pt x="1235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Forma libre 555"/>
          <p:cNvSpPr/>
          <p:nvPr/>
        </p:nvSpPr>
        <p:spPr>
          <a:xfrm>
            <a:off x="7743600" y="3752640"/>
            <a:ext cx="10080" cy="695880"/>
          </a:xfrm>
          <a:custGeom>
            <a:avLst/>
            <a:gdLst/>
            <a:ahLst/>
            <a:cxnLst/>
            <a:rect l="0" t="0" r="r" b="b"/>
            <a:pathLst>
              <a:path w="28" h="1933">
                <a:moveTo>
                  <a:pt x="0" y="0"/>
                </a:moveTo>
                <a:lnTo>
                  <a:pt x="28" y="0"/>
                </a:lnTo>
                <a:lnTo>
                  <a:pt x="28" y="1933"/>
                </a:lnTo>
                <a:lnTo>
                  <a:pt x="0" y="19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Forma libre 556"/>
          <p:cNvSpPr/>
          <p:nvPr/>
        </p:nvSpPr>
        <p:spPr>
          <a:xfrm>
            <a:off x="7753320" y="3743280"/>
            <a:ext cx="3772080" cy="9720"/>
          </a:xfrm>
          <a:custGeom>
            <a:avLst/>
            <a:gdLst/>
            <a:ahLst/>
            <a:cxnLst/>
            <a:rect l="0" t="0" r="r" b="b"/>
            <a:pathLst>
              <a:path w="10478" h="27">
                <a:moveTo>
                  <a:pt x="0" y="0"/>
                </a:moveTo>
                <a:lnTo>
                  <a:pt x="10478" y="0"/>
                </a:lnTo>
                <a:lnTo>
                  <a:pt x="104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Forma libre 557"/>
          <p:cNvSpPr/>
          <p:nvPr/>
        </p:nvSpPr>
        <p:spPr>
          <a:xfrm>
            <a:off x="11515680" y="3752640"/>
            <a:ext cx="9720" cy="695880"/>
          </a:xfrm>
          <a:custGeom>
            <a:avLst/>
            <a:gdLst/>
            <a:ahLst/>
            <a:cxnLst/>
            <a:rect l="0" t="0" r="r" b="b"/>
            <a:pathLst>
              <a:path w="27" h="1933">
                <a:moveTo>
                  <a:pt x="0" y="0"/>
                </a:moveTo>
                <a:lnTo>
                  <a:pt x="27" y="0"/>
                </a:lnTo>
                <a:lnTo>
                  <a:pt x="27" y="1933"/>
                </a:lnTo>
                <a:lnTo>
                  <a:pt x="0" y="19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Forma libre 558"/>
          <p:cNvSpPr/>
          <p:nvPr/>
        </p:nvSpPr>
        <p:spPr>
          <a:xfrm>
            <a:off x="666720" y="44481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Forma libre 559"/>
          <p:cNvSpPr/>
          <p:nvPr/>
        </p:nvSpPr>
        <p:spPr>
          <a:xfrm>
            <a:off x="666720" y="4438440"/>
            <a:ext cx="2638800" cy="10080"/>
          </a:xfrm>
          <a:custGeom>
            <a:avLst/>
            <a:gdLst/>
            <a:ahLst/>
            <a:cxnLst/>
            <a:rect l="0" t="0" r="r" b="b"/>
            <a:pathLst>
              <a:path w="7330" h="28">
                <a:moveTo>
                  <a:pt x="0" y="0"/>
                </a:moveTo>
                <a:lnTo>
                  <a:pt x="7330" y="0"/>
                </a:lnTo>
                <a:lnTo>
                  <a:pt x="73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Forma libre 560"/>
          <p:cNvSpPr/>
          <p:nvPr/>
        </p:nvSpPr>
        <p:spPr>
          <a:xfrm>
            <a:off x="3295440" y="44481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Forma libre 561"/>
          <p:cNvSpPr/>
          <p:nvPr/>
        </p:nvSpPr>
        <p:spPr>
          <a:xfrm>
            <a:off x="3305160" y="4438440"/>
            <a:ext cx="4448520" cy="10080"/>
          </a:xfrm>
          <a:custGeom>
            <a:avLst/>
            <a:gdLst/>
            <a:ahLst/>
            <a:cxnLst/>
            <a:rect l="0" t="0" r="r" b="b"/>
            <a:pathLst>
              <a:path w="12357" h="28">
                <a:moveTo>
                  <a:pt x="0" y="0"/>
                </a:moveTo>
                <a:lnTo>
                  <a:pt x="12357" y="0"/>
                </a:lnTo>
                <a:lnTo>
                  <a:pt x="1235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Forma libre 562"/>
          <p:cNvSpPr/>
          <p:nvPr/>
        </p:nvSpPr>
        <p:spPr>
          <a:xfrm>
            <a:off x="7743600" y="44481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Forma libre 563"/>
          <p:cNvSpPr/>
          <p:nvPr/>
        </p:nvSpPr>
        <p:spPr>
          <a:xfrm>
            <a:off x="7753320" y="4438440"/>
            <a:ext cx="3772080" cy="10080"/>
          </a:xfrm>
          <a:custGeom>
            <a:avLst/>
            <a:gdLst/>
            <a:ahLst/>
            <a:cxnLst/>
            <a:rect l="0" t="0" r="r" b="b"/>
            <a:pathLst>
              <a:path w="10478" h="28">
                <a:moveTo>
                  <a:pt x="0" y="0"/>
                </a:moveTo>
                <a:lnTo>
                  <a:pt x="10478" y="0"/>
                </a:lnTo>
                <a:lnTo>
                  <a:pt x="104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Forma libre 564"/>
          <p:cNvSpPr/>
          <p:nvPr/>
        </p:nvSpPr>
        <p:spPr>
          <a:xfrm>
            <a:off x="11515680" y="44481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Forma libre 565"/>
          <p:cNvSpPr/>
          <p:nvPr/>
        </p:nvSpPr>
        <p:spPr>
          <a:xfrm>
            <a:off x="666720" y="4857480"/>
            <a:ext cx="2638800" cy="10080"/>
          </a:xfrm>
          <a:custGeom>
            <a:avLst/>
            <a:gdLst/>
            <a:ahLst/>
            <a:cxnLst/>
            <a:rect l="0" t="0" r="r" b="b"/>
            <a:pathLst>
              <a:path w="7330" h="28">
                <a:moveTo>
                  <a:pt x="0" y="0"/>
                </a:moveTo>
                <a:lnTo>
                  <a:pt x="7330" y="0"/>
                </a:lnTo>
                <a:lnTo>
                  <a:pt x="73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Forma libre 566"/>
          <p:cNvSpPr/>
          <p:nvPr/>
        </p:nvSpPr>
        <p:spPr>
          <a:xfrm>
            <a:off x="3305160" y="4857480"/>
            <a:ext cx="4448520" cy="10080"/>
          </a:xfrm>
          <a:custGeom>
            <a:avLst/>
            <a:gdLst/>
            <a:ahLst/>
            <a:cxnLst/>
            <a:rect l="0" t="0" r="r" b="b"/>
            <a:pathLst>
              <a:path w="12357" h="28">
                <a:moveTo>
                  <a:pt x="0" y="0"/>
                </a:moveTo>
                <a:lnTo>
                  <a:pt x="12357" y="0"/>
                </a:lnTo>
                <a:lnTo>
                  <a:pt x="1235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Forma libre 567"/>
          <p:cNvSpPr/>
          <p:nvPr/>
        </p:nvSpPr>
        <p:spPr>
          <a:xfrm>
            <a:off x="7753320" y="4857480"/>
            <a:ext cx="3772080" cy="10080"/>
          </a:xfrm>
          <a:custGeom>
            <a:avLst/>
            <a:gdLst/>
            <a:ahLst/>
            <a:cxnLst/>
            <a:rect l="0" t="0" r="r" b="b"/>
            <a:pathLst>
              <a:path w="10478" h="28">
                <a:moveTo>
                  <a:pt x="0" y="0"/>
                </a:moveTo>
                <a:lnTo>
                  <a:pt x="10478" y="0"/>
                </a:lnTo>
                <a:lnTo>
                  <a:pt x="104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CuadroTexto 568"/>
          <p:cNvSpPr txBox="1"/>
          <p:nvPr/>
        </p:nvSpPr>
        <p:spPr>
          <a:xfrm>
            <a:off x="666720" y="2006280"/>
            <a:ext cx="19306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Los otros tres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CuadroTexto 569"/>
          <p:cNvSpPr txBox="1"/>
          <p:nvPr/>
        </p:nvSpPr>
        <p:spPr>
          <a:xfrm>
            <a:off x="1757520" y="2742840"/>
            <a:ext cx="46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Error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CuadroTexto 570"/>
          <p:cNvSpPr txBox="1"/>
          <p:nvPr/>
        </p:nvSpPr>
        <p:spPr>
          <a:xfrm>
            <a:off x="4987800" y="2742840"/>
            <a:ext cx="1073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Cómo se ve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CuadroTexto 571"/>
          <p:cNvSpPr txBox="1"/>
          <p:nvPr/>
        </p:nvSpPr>
        <p:spPr>
          <a:xfrm>
            <a:off x="8984160" y="2742840"/>
            <a:ext cx="1298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Cómo se evita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Forma libre 572"/>
          <p:cNvSpPr/>
          <p:nvPr/>
        </p:nvSpPr>
        <p:spPr>
          <a:xfrm>
            <a:off x="799920" y="3438360"/>
            <a:ext cx="1867320" cy="228960"/>
          </a:xfrm>
          <a:custGeom>
            <a:avLst/>
            <a:gdLst/>
            <a:ahLst/>
            <a:cxnLst/>
            <a:rect l="0" t="0" r="r" b="b"/>
            <a:pathLst>
              <a:path w="5187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081" y="0"/>
                </a:lnTo>
                <a:cubicBezTo>
                  <a:pt x="5095" y="0"/>
                  <a:pt x="5109" y="3"/>
                  <a:pt x="5121" y="8"/>
                </a:cubicBezTo>
                <a:cubicBezTo>
                  <a:pt x="5134" y="13"/>
                  <a:pt x="5146" y="21"/>
                  <a:pt x="5156" y="31"/>
                </a:cubicBezTo>
                <a:cubicBezTo>
                  <a:pt x="5166" y="41"/>
                  <a:pt x="5173" y="52"/>
                  <a:pt x="5179" y="65"/>
                </a:cubicBezTo>
                <a:cubicBezTo>
                  <a:pt x="5184" y="78"/>
                  <a:pt x="5187" y="92"/>
                  <a:pt x="5187" y="106"/>
                </a:cubicBezTo>
                <a:lnTo>
                  <a:pt x="5187" y="530"/>
                </a:lnTo>
                <a:cubicBezTo>
                  <a:pt x="5187" y="544"/>
                  <a:pt x="5184" y="558"/>
                  <a:pt x="5179" y="571"/>
                </a:cubicBezTo>
                <a:cubicBezTo>
                  <a:pt x="5173" y="584"/>
                  <a:pt x="5166" y="595"/>
                  <a:pt x="5156" y="605"/>
                </a:cubicBezTo>
                <a:cubicBezTo>
                  <a:pt x="5146" y="615"/>
                  <a:pt x="5134" y="623"/>
                  <a:pt x="5121" y="628"/>
                </a:cubicBezTo>
                <a:cubicBezTo>
                  <a:pt x="5109" y="633"/>
                  <a:pt x="5095" y="636"/>
                  <a:pt x="5081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CuadroTexto 573"/>
          <p:cNvSpPr txBox="1"/>
          <p:nvPr/>
        </p:nvSpPr>
        <p:spPr>
          <a:xfrm>
            <a:off x="799920" y="3142800"/>
            <a:ext cx="5760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Ignorar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CuadroTexto 574"/>
          <p:cNvSpPr txBox="1"/>
          <p:nvPr/>
        </p:nvSpPr>
        <p:spPr>
          <a:xfrm>
            <a:off x="857160" y="3459600"/>
            <a:ext cx="17514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OBSERVATION_PERIOD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CuadroTexto 575"/>
          <p:cNvSpPr txBox="1"/>
          <p:nvPr/>
        </p:nvSpPr>
        <p:spPr>
          <a:xfrm>
            <a:off x="3431160" y="3142800"/>
            <a:ext cx="38505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cuentas eventos de alguien a quien no estabas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CuadroTexto 576"/>
          <p:cNvSpPr txBox="1"/>
          <p:nvPr/>
        </p:nvSpPr>
        <p:spPr>
          <a:xfrm>
            <a:off x="3431160" y="3428640"/>
            <a:ext cx="9712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observando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CuadroTexto 577"/>
          <p:cNvSpPr txBox="1"/>
          <p:nvPr/>
        </p:nvSpPr>
        <p:spPr>
          <a:xfrm>
            <a:off x="7874280" y="3285720"/>
            <a:ext cx="30106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todos los criterios dentro del periodo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CuadroTexto 578"/>
          <p:cNvSpPr txBox="1"/>
          <p:nvPr/>
        </p:nvSpPr>
        <p:spPr>
          <a:xfrm>
            <a:off x="799920" y="3981240"/>
            <a:ext cx="19022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Fechas índice múltiples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CuadroTexto 579"/>
          <p:cNvSpPr txBox="1"/>
          <p:nvPr/>
        </p:nvSpPr>
        <p:spPr>
          <a:xfrm>
            <a:off x="3431160" y="3981240"/>
            <a:ext cx="30142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mismo paciente entra varias veces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CuadroTexto 580"/>
          <p:cNvSpPr txBox="1"/>
          <p:nvPr/>
        </p:nvSpPr>
        <p:spPr>
          <a:xfrm>
            <a:off x="7874280" y="3838320"/>
            <a:ext cx="3487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decide: primera, todas, o una por episodio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CuadroTexto 581"/>
          <p:cNvSpPr txBox="1"/>
          <p:nvPr/>
        </p:nvSpPr>
        <p:spPr>
          <a:xfrm>
            <a:off x="7874280" y="4123800"/>
            <a:ext cx="6710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— y dilo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CuadroTexto 582"/>
          <p:cNvSpPr txBox="1"/>
          <p:nvPr/>
        </p:nvSpPr>
        <p:spPr>
          <a:xfrm>
            <a:off x="799920" y="4543200"/>
            <a:ext cx="1606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Edad mal calculada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Forma libre 583"/>
          <p:cNvSpPr/>
          <p:nvPr/>
        </p:nvSpPr>
        <p:spPr>
          <a:xfrm>
            <a:off x="3867120" y="4552920"/>
            <a:ext cx="1381320" cy="228960"/>
          </a:xfrm>
          <a:custGeom>
            <a:avLst/>
            <a:gdLst/>
            <a:ahLst/>
            <a:cxnLst/>
            <a:rect l="0" t="0" r="r" b="b"/>
            <a:pathLst>
              <a:path w="3837" h="636">
                <a:moveTo>
                  <a:pt x="0" y="530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3731" y="0"/>
                </a:lnTo>
                <a:cubicBezTo>
                  <a:pt x="3745" y="0"/>
                  <a:pt x="3759" y="2"/>
                  <a:pt x="3772" y="8"/>
                </a:cubicBezTo>
                <a:cubicBezTo>
                  <a:pt x="3785" y="13"/>
                  <a:pt x="3796" y="21"/>
                  <a:pt x="3806" y="31"/>
                </a:cubicBezTo>
                <a:cubicBezTo>
                  <a:pt x="3816" y="41"/>
                  <a:pt x="3824" y="52"/>
                  <a:pt x="3829" y="65"/>
                </a:cubicBezTo>
                <a:cubicBezTo>
                  <a:pt x="3834" y="78"/>
                  <a:pt x="3837" y="91"/>
                  <a:pt x="3837" y="105"/>
                </a:cubicBezTo>
                <a:lnTo>
                  <a:pt x="3837" y="530"/>
                </a:lnTo>
                <a:cubicBezTo>
                  <a:pt x="3837" y="544"/>
                  <a:pt x="3834" y="557"/>
                  <a:pt x="3829" y="570"/>
                </a:cubicBezTo>
                <a:cubicBezTo>
                  <a:pt x="3824" y="583"/>
                  <a:pt x="3816" y="595"/>
                  <a:pt x="3806" y="605"/>
                </a:cubicBezTo>
                <a:cubicBezTo>
                  <a:pt x="3796" y="615"/>
                  <a:pt x="3785" y="622"/>
                  <a:pt x="3772" y="628"/>
                </a:cubicBezTo>
                <a:cubicBezTo>
                  <a:pt x="3759" y="633"/>
                  <a:pt x="3745" y="636"/>
                  <a:pt x="3731" y="636"/>
                </a:cubicBezTo>
                <a:lnTo>
                  <a:pt x="105" y="636"/>
                </a:lnTo>
                <a:cubicBezTo>
                  <a:pt x="91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2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CuadroTexto 584"/>
          <p:cNvSpPr txBox="1"/>
          <p:nvPr/>
        </p:nvSpPr>
        <p:spPr>
          <a:xfrm>
            <a:off x="3431160" y="4543200"/>
            <a:ext cx="4381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usas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CuadroTexto 585"/>
          <p:cNvSpPr txBox="1"/>
          <p:nvPr/>
        </p:nvSpPr>
        <p:spPr>
          <a:xfrm>
            <a:off x="3925800" y="4574160"/>
            <a:ext cx="12650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year_of_birth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CuadroTexto 586"/>
          <p:cNvSpPr txBox="1"/>
          <p:nvPr/>
        </p:nvSpPr>
        <p:spPr>
          <a:xfrm>
            <a:off x="5250240" y="4543200"/>
            <a:ext cx="16592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sin referirlo al índice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CuadroTexto 587"/>
          <p:cNvSpPr txBox="1"/>
          <p:nvPr/>
        </p:nvSpPr>
        <p:spPr>
          <a:xfrm>
            <a:off x="7874280" y="4543200"/>
            <a:ext cx="2819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edad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 la fecha índice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siempre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CuadroTexto 58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CuadroTexto 58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CuadroTexto 59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Forma libre 59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Forma libre 59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Forma libre 59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CuadroTexto 594"/>
          <p:cNvSpPr txBox="1"/>
          <p:nvPr/>
        </p:nvSpPr>
        <p:spPr>
          <a:xfrm>
            <a:off x="2324880" y="3063960"/>
            <a:ext cx="77184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8. Cómo se escribe en la práctica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CuadroTexto 59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CuadroTexto 59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CuadroTexto 597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Forma libre 59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Forma libre 59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Forma libre 60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Forma libre 601"/>
          <p:cNvSpPr/>
          <p:nvPr/>
        </p:nvSpPr>
        <p:spPr>
          <a:xfrm>
            <a:off x="671400" y="1795320"/>
            <a:ext cx="10849320" cy="1895760"/>
          </a:xfrm>
          <a:custGeom>
            <a:avLst/>
            <a:gdLst/>
            <a:ahLst/>
            <a:cxnLst/>
            <a:rect l="0" t="0" r="r" b="b"/>
            <a:pathLst>
              <a:path w="30137" h="5266">
                <a:moveTo>
                  <a:pt x="0" y="5068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5068"/>
                </a:lnTo>
                <a:cubicBezTo>
                  <a:pt x="30137" y="5081"/>
                  <a:pt x="30136" y="5094"/>
                  <a:pt x="30133" y="5106"/>
                </a:cubicBezTo>
                <a:cubicBezTo>
                  <a:pt x="30130" y="5119"/>
                  <a:pt x="30127" y="5132"/>
                  <a:pt x="30122" y="5144"/>
                </a:cubicBezTo>
                <a:cubicBezTo>
                  <a:pt x="30117" y="5156"/>
                  <a:pt x="30111" y="5167"/>
                  <a:pt x="30103" y="5178"/>
                </a:cubicBezTo>
                <a:cubicBezTo>
                  <a:pt x="30096" y="5189"/>
                  <a:pt x="30088" y="5199"/>
                  <a:pt x="30079" y="5208"/>
                </a:cubicBezTo>
                <a:cubicBezTo>
                  <a:pt x="30070" y="5217"/>
                  <a:pt x="30059" y="5225"/>
                  <a:pt x="30049" y="5233"/>
                </a:cubicBezTo>
                <a:cubicBezTo>
                  <a:pt x="30038" y="5240"/>
                  <a:pt x="30026" y="5246"/>
                  <a:pt x="30014" y="5251"/>
                </a:cubicBezTo>
                <a:cubicBezTo>
                  <a:pt x="30002" y="5256"/>
                  <a:pt x="29990" y="5260"/>
                  <a:pt x="29977" y="5262"/>
                </a:cubicBezTo>
                <a:cubicBezTo>
                  <a:pt x="29964" y="5265"/>
                  <a:pt x="29951" y="5266"/>
                  <a:pt x="29938" y="5266"/>
                </a:cubicBezTo>
                <a:lnTo>
                  <a:pt x="198" y="5266"/>
                </a:lnTo>
                <a:cubicBezTo>
                  <a:pt x="185" y="5266"/>
                  <a:pt x="172" y="5265"/>
                  <a:pt x="160" y="5262"/>
                </a:cubicBezTo>
                <a:cubicBezTo>
                  <a:pt x="147" y="5260"/>
                  <a:pt x="134" y="5256"/>
                  <a:pt x="122" y="5251"/>
                </a:cubicBezTo>
                <a:cubicBezTo>
                  <a:pt x="110" y="5246"/>
                  <a:pt x="99" y="5240"/>
                  <a:pt x="88" y="5233"/>
                </a:cubicBezTo>
                <a:cubicBezTo>
                  <a:pt x="77" y="5225"/>
                  <a:pt x="67" y="5217"/>
                  <a:pt x="58" y="5208"/>
                </a:cubicBezTo>
                <a:cubicBezTo>
                  <a:pt x="49" y="5199"/>
                  <a:pt x="40" y="5189"/>
                  <a:pt x="33" y="5178"/>
                </a:cubicBezTo>
                <a:cubicBezTo>
                  <a:pt x="26" y="5167"/>
                  <a:pt x="20" y="5156"/>
                  <a:pt x="15" y="5144"/>
                </a:cubicBezTo>
                <a:cubicBezTo>
                  <a:pt x="10" y="5132"/>
                  <a:pt x="6" y="5119"/>
                  <a:pt x="4" y="5106"/>
                </a:cubicBezTo>
                <a:cubicBezTo>
                  <a:pt x="1" y="5094"/>
                  <a:pt x="0" y="5081"/>
                  <a:pt x="0" y="506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Forma libre 602"/>
          <p:cNvSpPr/>
          <p:nvPr/>
        </p:nvSpPr>
        <p:spPr>
          <a:xfrm>
            <a:off x="671400" y="1795320"/>
            <a:ext cx="10849320" cy="1895760"/>
          </a:xfrm>
          <a:custGeom>
            <a:avLst/>
            <a:gdLst/>
            <a:ahLst/>
            <a:cxnLst/>
            <a:rect l="0" t="0" r="r" b="b"/>
            <a:pathLst>
              <a:path w="30137" h="5266">
                <a:moveTo>
                  <a:pt x="0" y="5068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5068"/>
                </a:lnTo>
                <a:cubicBezTo>
                  <a:pt x="30137" y="5081"/>
                  <a:pt x="30136" y="5094"/>
                  <a:pt x="30133" y="5106"/>
                </a:cubicBezTo>
                <a:cubicBezTo>
                  <a:pt x="30130" y="5119"/>
                  <a:pt x="30127" y="5132"/>
                  <a:pt x="30122" y="5144"/>
                </a:cubicBezTo>
                <a:cubicBezTo>
                  <a:pt x="30117" y="5156"/>
                  <a:pt x="30111" y="5167"/>
                  <a:pt x="30103" y="5178"/>
                </a:cubicBezTo>
                <a:cubicBezTo>
                  <a:pt x="30096" y="5189"/>
                  <a:pt x="30088" y="5199"/>
                  <a:pt x="30079" y="5208"/>
                </a:cubicBezTo>
                <a:cubicBezTo>
                  <a:pt x="30070" y="5217"/>
                  <a:pt x="30059" y="5225"/>
                  <a:pt x="30049" y="5233"/>
                </a:cubicBezTo>
                <a:cubicBezTo>
                  <a:pt x="30038" y="5240"/>
                  <a:pt x="30026" y="5246"/>
                  <a:pt x="30014" y="5251"/>
                </a:cubicBezTo>
                <a:cubicBezTo>
                  <a:pt x="30002" y="5256"/>
                  <a:pt x="29990" y="5260"/>
                  <a:pt x="29977" y="5262"/>
                </a:cubicBezTo>
                <a:cubicBezTo>
                  <a:pt x="29964" y="5265"/>
                  <a:pt x="29951" y="5266"/>
                  <a:pt x="29938" y="5266"/>
                </a:cubicBezTo>
                <a:lnTo>
                  <a:pt x="198" y="5266"/>
                </a:lnTo>
                <a:cubicBezTo>
                  <a:pt x="185" y="5266"/>
                  <a:pt x="172" y="5265"/>
                  <a:pt x="160" y="5262"/>
                </a:cubicBezTo>
                <a:cubicBezTo>
                  <a:pt x="147" y="5260"/>
                  <a:pt x="134" y="5256"/>
                  <a:pt x="122" y="5251"/>
                </a:cubicBezTo>
                <a:cubicBezTo>
                  <a:pt x="110" y="5246"/>
                  <a:pt x="99" y="5240"/>
                  <a:pt x="88" y="5233"/>
                </a:cubicBezTo>
                <a:cubicBezTo>
                  <a:pt x="77" y="5225"/>
                  <a:pt x="67" y="5217"/>
                  <a:pt x="58" y="5208"/>
                </a:cubicBezTo>
                <a:cubicBezTo>
                  <a:pt x="49" y="5199"/>
                  <a:pt x="40" y="5189"/>
                  <a:pt x="33" y="5178"/>
                </a:cubicBezTo>
                <a:cubicBezTo>
                  <a:pt x="26" y="5167"/>
                  <a:pt x="20" y="5156"/>
                  <a:pt x="15" y="5144"/>
                </a:cubicBezTo>
                <a:cubicBezTo>
                  <a:pt x="10" y="5132"/>
                  <a:pt x="6" y="5119"/>
                  <a:pt x="4" y="5106"/>
                </a:cubicBezTo>
                <a:cubicBezTo>
                  <a:pt x="1" y="5094"/>
                  <a:pt x="0" y="5081"/>
                  <a:pt x="0" y="506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Forma libre 603"/>
          <p:cNvSpPr/>
          <p:nvPr/>
        </p:nvSpPr>
        <p:spPr>
          <a:xfrm>
            <a:off x="666720" y="514332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Forma libre 604"/>
          <p:cNvSpPr/>
          <p:nvPr/>
        </p:nvSpPr>
        <p:spPr>
          <a:xfrm>
            <a:off x="666720" y="514332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CuadroTexto 605"/>
          <p:cNvSpPr txBox="1"/>
          <p:nvPr/>
        </p:nvSpPr>
        <p:spPr>
          <a:xfrm>
            <a:off x="666720" y="1158480"/>
            <a:ext cx="35064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 CTE por componente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CuadroTexto 606"/>
          <p:cNvSpPr txBox="1"/>
          <p:nvPr/>
        </p:nvSpPr>
        <p:spPr>
          <a:xfrm>
            <a:off x="866880" y="1975320"/>
            <a:ext cx="6333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WITH evento_inicial  AS ( ... ),   -- quién entra y cuándo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CuadroTexto 607"/>
          <p:cNvSpPr txBox="1"/>
          <p:nvPr/>
        </p:nvSpPr>
        <p:spPr>
          <a:xfrm>
            <a:off x="866880" y="2241720"/>
            <a:ext cx="60058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con_observacion AS ( ... ),   -- ≥365 días previos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CuadroTexto 608"/>
          <p:cNvSpPr txBox="1"/>
          <p:nvPr/>
        </p:nvSpPr>
        <p:spPr>
          <a:xfrm>
            <a:off x="866880" y="2499120"/>
            <a:ext cx="6442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con_lavado      AS ( ... ),   -- sin exposición previa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CuadroTexto 609"/>
          <p:cNvSpPr txBox="1"/>
          <p:nvPr/>
        </p:nvSpPr>
        <p:spPr>
          <a:xfrm>
            <a:off x="866880" y="2765880"/>
            <a:ext cx="6552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con_inclusion   AS ( ... ),   -- criterios con ventanas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CuadroTexto 610"/>
          <p:cNvSpPr txBox="1"/>
          <p:nvPr/>
        </p:nvSpPr>
        <p:spPr>
          <a:xfrm>
            <a:off x="866880" y="3022920"/>
            <a:ext cx="5787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con_salida      AS ( ... )    -- fecha de salida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Forma libre 611"/>
          <p:cNvSpPr/>
          <p:nvPr/>
        </p:nvSpPr>
        <p:spPr>
          <a:xfrm>
            <a:off x="914040" y="40003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CuadroTexto 612"/>
          <p:cNvSpPr txBox="1"/>
          <p:nvPr/>
        </p:nvSpPr>
        <p:spPr>
          <a:xfrm>
            <a:off x="866880" y="3289680"/>
            <a:ext cx="3276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INSERT INTO results.cohort ...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Forma libre 613"/>
          <p:cNvSpPr/>
          <p:nvPr/>
        </p:nvSpPr>
        <p:spPr>
          <a:xfrm>
            <a:off x="914040" y="44002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CuadroTexto 614"/>
          <p:cNvSpPr txBox="1"/>
          <p:nvPr/>
        </p:nvSpPr>
        <p:spPr>
          <a:xfrm>
            <a:off x="1123920" y="3887640"/>
            <a:ext cx="6450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CTE por componente: se lee, se revisa y se depura por partes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Forma libre 615"/>
          <p:cNvSpPr/>
          <p:nvPr/>
        </p:nvSpPr>
        <p:spPr>
          <a:xfrm>
            <a:off x="914040" y="48002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CuadroTexto 616"/>
          <p:cNvSpPr txBox="1"/>
          <p:nvPr/>
        </p:nvSpPr>
        <p:spPr>
          <a:xfrm>
            <a:off x="1123920" y="4287600"/>
            <a:ext cx="6765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Cuenta las ﬁlas después de cada CTE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ésa es tu tabla de atrición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CuadroTexto 617"/>
          <p:cNvSpPr txBox="1"/>
          <p:nvPr/>
        </p:nvSpPr>
        <p:spPr>
          <a:xfrm>
            <a:off x="1123920" y="4687920"/>
            <a:ext cx="6208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</a:t>
            </a:r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deﬁnición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en prosa va 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junto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al SQL, en el mismo repositorio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CuadroTexto 618"/>
          <p:cNvSpPr txBox="1"/>
          <p:nvPr/>
        </p:nvSpPr>
        <p:spPr>
          <a:xfrm>
            <a:off x="905040" y="5297400"/>
            <a:ext cx="6492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Si la prosa y el SQL no dicen lo mismo, el que está mal es el SQL.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CuadroTexto 61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CuadroTexto 62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CuadroTexto 62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Forma libre 62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Forma libre 62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Forma libre 62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CuadroTexto 625"/>
          <p:cNvSpPr txBox="1"/>
          <p:nvPr/>
        </p:nvSpPr>
        <p:spPr>
          <a:xfrm>
            <a:off x="666720" y="2034720"/>
            <a:ext cx="1444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Para llevar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Forma libre 626"/>
          <p:cNvSpPr/>
          <p:nvPr/>
        </p:nvSpPr>
        <p:spPr>
          <a:xfrm>
            <a:off x="6219720" y="2724120"/>
            <a:ext cx="2105280" cy="266760"/>
          </a:xfrm>
          <a:custGeom>
            <a:avLst/>
            <a:gdLst/>
            <a:ahLst/>
            <a:cxnLst/>
            <a:rect l="0" t="0" r="r" b="b"/>
            <a:pathLst>
              <a:path w="5848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5742" y="0"/>
                </a:lnTo>
                <a:cubicBezTo>
                  <a:pt x="5756" y="0"/>
                  <a:pt x="5770" y="2"/>
                  <a:pt x="5783" y="8"/>
                </a:cubicBezTo>
                <a:cubicBezTo>
                  <a:pt x="5796" y="13"/>
                  <a:pt x="5807" y="21"/>
                  <a:pt x="5817" y="31"/>
                </a:cubicBezTo>
                <a:cubicBezTo>
                  <a:pt x="5827" y="41"/>
                  <a:pt x="5835" y="52"/>
                  <a:pt x="5840" y="65"/>
                </a:cubicBezTo>
                <a:cubicBezTo>
                  <a:pt x="5845" y="78"/>
                  <a:pt x="5848" y="91"/>
                  <a:pt x="5848" y="105"/>
                </a:cubicBezTo>
                <a:lnTo>
                  <a:pt x="5848" y="636"/>
                </a:lnTo>
                <a:cubicBezTo>
                  <a:pt x="5848" y="650"/>
                  <a:pt x="5845" y="663"/>
                  <a:pt x="5840" y="676"/>
                </a:cubicBezTo>
                <a:cubicBezTo>
                  <a:pt x="5835" y="689"/>
                  <a:pt x="5827" y="700"/>
                  <a:pt x="5817" y="710"/>
                </a:cubicBezTo>
                <a:cubicBezTo>
                  <a:pt x="5807" y="720"/>
                  <a:pt x="5796" y="728"/>
                  <a:pt x="5783" y="733"/>
                </a:cubicBezTo>
                <a:cubicBezTo>
                  <a:pt x="5770" y="739"/>
                  <a:pt x="5756" y="741"/>
                  <a:pt x="5742" y="741"/>
                </a:cubicBezTo>
                <a:lnTo>
                  <a:pt x="106" y="741"/>
                </a:lnTo>
                <a:cubicBezTo>
                  <a:pt x="92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0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CuadroTexto 627"/>
          <p:cNvSpPr txBox="1"/>
          <p:nvPr/>
        </p:nvSpPr>
        <p:spPr>
          <a:xfrm>
            <a:off x="869760" y="2706480"/>
            <a:ext cx="5352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Una cohorte tiene fechas.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Si tu resultado no trae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CuadroTexto 628"/>
          <p:cNvSpPr txBox="1"/>
          <p:nvPr/>
        </p:nvSpPr>
        <p:spPr>
          <a:xfrm>
            <a:off x="6274800" y="2743920"/>
            <a:ext cx="19972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cohort_start_date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CuadroTexto 629"/>
          <p:cNvSpPr txBox="1"/>
          <p:nvPr/>
        </p:nvSpPr>
        <p:spPr>
          <a:xfrm>
            <a:off x="8320680" y="2706480"/>
            <a:ext cx="2930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es una lista de pacientes, no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CuadroTexto 630"/>
          <p:cNvSpPr txBox="1"/>
          <p:nvPr/>
        </p:nvSpPr>
        <p:spPr>
          <a:xfrm>
            <a:off x="1123920" y="3049560"/>
            <a:ext cx="1245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una cohorte.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CuadroTexto 631"/>
          <p:cNvSpPr txBox="1"/>
          <p:nvPr/>
        </p:nvSpPr>
        <p:spPr>
          <a:xfrm>
            <a:off x="869760" y="3544920"/>
            <a:ext cx="10467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Nuevo usuario, o explica por qué no.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Los usuarios prevalentes son sobrevivientes, y hacen que todo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CuadroTexto 632"/>
          <p:cNvSpPr txBox="1"/>
          <p:nvPr/>
        </p:nvSpPr>
        <p:spPr>
          <a:xfrm>
            <a:off x="1123920" y="3887640"/>
            <a:ext cx="3197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se vea más seguro de lo que es.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CuadroTexto 633"/>
          <p:cNvSpPr txBox="1"/>
          <p:nvPr/>
        </p:nvSpPr>
        <p:spPr>
          <a:xfrm>
            <a:off x="869760" y="4383000"/>
            <a:ext cx="10478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Nada del futuro entra en la deﬁnición del índice.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Ésa es la regla que te salva del immortal time bias.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CuadroTexto 63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CuadroTexto 63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CuadroTexto 63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Forma libre 63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Forma libre 63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Forma libre 63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CuadroTexto 640"/>
          <p:cNvSpPr txBox="1"/>
          <p:nvPr/>
        </p:nvSpPr>
        <p:spPr>
          <a:xfrm>
            <a:off x="666720" y="2006280"/>
            <a:ext cx="1600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CuadroTexto 641"/>
          <p:cNvSpPr txBox="1"/>
          <p:nvPr/>
        </p:nvSpPr>
        <p:spPr>
          <a:xfrm>
            <a:off x="666720" y="2717280"/>
            <a:ext cx="57160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02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Definir e implementar una cohorte de nuevo usuario</a:t>
            </a:r>
            <a:endParaRPr lang="es-E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CuadroTexto 642"/>
          <p:cNvSpPr txBox="1"/>
          <p:nvPr/>
        </p:nvSpPr>
        <p:spPr>
          <a:xfrm>
            <a:off x="666720" y="3230280"/>
            <a:ext cx="10845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Escribir la deﬁnición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 prosa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primero; implementarla con un CTE por componente; reportar la atrición paso 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CuadroTexto 643"/>
          <p:cNvSpPr txBox="1"/>
          <p:nvPr/>
        </p:nvSpPr>
        <p:spPr>
          <a:xfrm>
            <a:off x="666720" y="3573360"/>
            <a:ext cx="8559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paso; caracterizar la cohorte resultante y defender cada ventana temporal que elegiste.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Forma libre 644"/>
          <p:cNvSpPr/>
          <p:nvPr/>
        </p:nvSpPr>
        <p:spPr>
          <a:xfrm>
            <a:off x="1971360" y="4086000"/>
            <a:ext cx="2696040" cy="267120"/>
          </a:xfrm>
          <a:custGeom>
            <a:avLst/>
            <a:gdLst/>
            <a:ahLst/>
            <a:cxnLst/>
            <a:rect l="0" t="0" r="r" b="b"/>
            <a:pathLst>
              <a:path w="7489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7383" y="0"/>
                </a:lnTo>
                <a:cubicBezTo>
                  <a:pt x="7397" y="0"/>
                  <a:pt x="7411" y="3"/>
                  <a:pt x="7424" y="8"/>
                </a:cubicBezTo>
                <a:cubicBezTo>
                  <a:pt x="7437" y="14"/>
                  <a:pt x="7448" y="21"/>
                  <a:pt x="7458" y="31"/>
                </a:cubicBezTo>
                <a:cubicBezTo>
                  <a:pt x="7468" y="41"/>
                  <a:pt x="7476" y="52"/>
                  <a:pt x="7481" y="65"/>
                </a:cubicBezTo>
                <a:cubicBezTo>
                  <a:pt x="7486" y="78"/>
                  <a:pt x="7489" y="92"/>
                  <a:pt x="7489" y="106"/>
                </a:cubicBezTo>
                <a:lnTo>
                  <a:pt x="7489" y="636"/>
                </a:lnTo>
                <a:cubicBezTo>
                  <a:pt x="7489" y="650"/>
                  <a:pt x="7486" y="664"/>
                  <a:pt x="7481" y="677"/>
                </a:cubicBezTo>
                <a:cubicBezTo>
                  <a:pt x="7476" y="690"/>
                  <a:pt x="7468" y="701"/>
                  <a:pt x="7458" y="711"/>
                </a:cubicBezTo>
                <a:cubicBezTo>
                  <a:pt x="7448" y="721"/>
                  <a:pt x="7437" y="729"/>
                  <a:pt x="7424" y="734"/>
                </a:cubicBezTo>
                <a:cubicBezTo>
                  <a:pt x="7411" y="739"/>
                  <a:pt x="7397" y="742"/>
                  <a:pt x="7383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CuadroTexto 645"/>
          <p:cNvSpPr txBox="1"/>
          <p:nvPr/>
        </p:nvSpPr>
        <p:spPr>
          <a:xfrm>
            <a:off x="666720" y="4068720"/>
            <a:ext cx="1312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Entregable: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CuadroTexto 646"/>
          <p:cNvSpPr txBox="1"/>
          <p:nvPr/>
        </p:nvSpPr>
        <p:spPr>
          <a:xfrm>
            <a:off x="2032200" y="4105800"/>
            <a:ext cx="2584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cohorte_definicion.sql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Forma libre 647"/>
          <p:cNvSpPr/>
          <p:nvPr/>
        </p:nvSpPr>
        <p:spPr>
          <a:xfrm>
            <a:off x="666720" y="4581360"/>
            <a:ext cx="4324680" cy="267120"/>
          </a:xfrm>
          <a:custGeom>
            <a:avLst/>
            <a:gdLst/>
            <a:ahLst/>
            <a:cxnLst/>
            <a:rect l="0" t="0" r="r" b="b"/>
            <a:pathLst>
              <a:path w="1201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1907" y="0"/>
                </a:lnTo>
                <a:cubicBezTo>
                  <a:pt x="11921" y="0"/>
                  <a:pt x="11934" y="3"/>
                  <a:pt x="11947" y="8"/>
                </a:cubicBezTo>
                <a:cubicBezTo>
                  <a:pt x="11960" y="13"/>
                  <a:pt x="11972" y="21"/>
                  <a:pt x="11982" y="31"/>
                </a:cubicBezTo>
                <a:cubicBezTo>
                  <a:pt x="11992" y="41"/>
                  <a:pt x="11999" y="52"/>
                  <a:pt x="12005" y="65"/>
                </a:cubicBezTo>
                <a:cubicBezTo>
                  <a:pt x="12010" y="78"/>
                  <a:pt x="12013" y="92"/>
                  <a:pt x="12013" y="106"/>
                </a:cubicBezTo>
                <a:lnTo>
                  <a:pt x="12013" y="636"/>
                </a:lnTo>
                <a:cubicBezTo>
                  <a:pt x="12013" y="650"/>
                  <a:pt x="12010" y="663"/>
                  <a:pt x="12005" y="676"/>
                </a:cubicBezTo>
                <a:cubicBezTo>
                  <a:pt x="11999" y="689"/>
                  <a:pt x="11992" y="701"/>
                  <a:pt x="11982" y="711"/>
                </a:cubicBezTo>
                <a:cubicBezTo>
                  <a:pt x="11972" y="721"/>
                  <a:pt x="11960" y="728"/>
                  <a:pt x="11947" y="734"/>
                </a:cubicBezTo>
                <a:cubicBezTo>
                  <a:pt x="11934" y="739"/>
                  <a:pt x="11921" y="742"/>
                  <a:pt x="11907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CuadroTexto 648"/>
          <p:cNvSpPr txBox="1"/>
          <p:nvPr/>
        </p:nvSpPr>
        <p:spPr>
          <a:xfrm>
            <a:off x="4663080" y="4068720"/>
            <a:ext cx="6267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+ la deﬁnición en prosa + tabla de atrición y de caracterización.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CuadroTexto 65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CuadroTexto 65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CuadroTexto 65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Forma libre 6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Forma libre 65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Forma libre 65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CuadroTexto 656"/>
          <p:cNvSpPr txBox="1"/>
          <p:nvPr/>
        </p:nvSpPr>
        <p:spPr>
          <a:xfrm>
            <a:off x="4672800" y="2692440"/>
            <a:ext cx="2915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¿Preguntas?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CuadroTexto 66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17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CuadroTexto 66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CuadroTexto 66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1999</Words>
  <Application>Microsoft Macintosh PowerPoint</Application>
  <PresentationFormat>Panorámica</PresentationFormat>
  <Paragraphs>279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4" baseType="lpstr">
      <vt:lpstr>Arial</vt:lpstr>
      <vt:lpstr>HelveticaNeue</vt:lpstr>
      <vt:lpstr>Menlo</vt:lpstr>
      <vt:lpstr>Symbol</vt:lpstr>
      <vt:lpstr>Times New Roman</vt:lpstr>
      <vt:lpstr>Wingdings</vt:lpstr>
      <vt:lpstr>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dc:description/>
  <cp:lastModifiedBy>Antonio Daniel Martinez Gutierrez</cp:lastModifiedBy>
  <cp:revision>8</cp:revision>
  <dcterms:modified xsi:type="dcterms:W3CDTF">2026-10-02T14:53:08Z</dcterms:modified>
  <dc:language>es-ES</dc:language>
</cp:coreProperties>
</file>