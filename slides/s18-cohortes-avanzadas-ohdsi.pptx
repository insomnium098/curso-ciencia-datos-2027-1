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82" r:id="rId17"/>
    <p:sldId id="271" r:id="rId18"/>
    <p:sldId id="272" r:id="rId19"/>
    <p:sldId id="273" r:id="rId20"/>
    <p:sldId id="28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2"/>
    <p:restoredTop sz="94695"/>
  </p:normalViewPr>
  <p:slideViewPr>
    <p:cSldViewPr snapToGrid="0">
      <p:cViewPr varScale="1">
        <p:scale>
          <a:sx n="182" d="100"/>
          <a:sy n="182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18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9140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Cohortes Avanzadas: Factibilidad, Atrición y Herramientas OHDSI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7782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Decidir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 de empezar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un estudio es factible con los datos que tienes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758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Construir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tabla de atrición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documente lo que costó cada criterio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753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Auditar tu deﬁnición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CohortDiagnostics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leer lo que genera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ATLAS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5429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Explicar cómo funciona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estudio de red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federado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4527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Factibilidad: ¿este estudio se puede hacer?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2126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La tabla de atrición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207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CohortDiagnostics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377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ATLAS: la deﬁnición como artefacto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2422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El ecosistema HADES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1800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Estudios de red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259160"/>
            <a:ext cx="191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Reproducibilidad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659120"/>
            <a:ext cx="317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De la cohorte al proyecto ﬁnal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905040" y="5268600"/>
            <a:ext cx="5865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auditoría de tu propia cohorte de la sesión 17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4545360" y="3063960"/>
            <a:ext cx="3182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Factibilidad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71400" y="22525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671400" y="22525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66720" y="43527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66720" y="43527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666720" y="1606320"/>
            <a:ext cx="6122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número que decide no es el de pacientes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866880" y="243252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1.  ¿Cuántos pacientes cumplen el criterio de entrada?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866880" y="269892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2.  ¿Cuánto seguimiento tienen después del índice?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866880" y="295632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3.  ¿Cuántas VECES OCURRE el desenlace en ese seguimiento?   ← éste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666720" y="3554280"/>
            <a:ext cx="10197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cohorte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50 000 pacientes con 9 infartos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sirve para estudiar infarto. La convención para un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666720" y="3897000"/>
            <a:ext cx="10585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modelo de regresión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≥10 eventos por variable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(Peduzzi, 1996): con 9 eventos no cabe ni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variable.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905040" y="4506840"/>
            <a:ext cx="10325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«Muchos pacientes» tranquiliza y no signiﬁca nada. Pide siempre el conteo de eventos, y pídelo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05040" y="4849560"/>
            <a:ext cx="2045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prometer resultados.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orma libre 73"/>
          <p:cNvSpPr/>
          <p:nvPr/>
        </p:nvSpPr>
        <p:spPr>
          <a:xfrm>
            <a:off x="676080" y="1723680"/>
            <a:ext cx="1733760" cy="410040"/>
          </a:xfrm>
          <a:custGeom>
            <a:avLst/>
            <a:gdLst/>
            <a:ahLst/>
            <a:cxnLst/>
            <a:rect l="0" t="0" r="r" b="b"/>
            <a:pathLst>
              <a:path w="4816" h="1139">
                <a:moveTo>
                  <a:pt x="0" y="0"/>
                </a:moveTo>
                <a:lnTo>
                  <a:pt x="4816" y="0"/>
                </a:lnTo>
                <a:lnTo>
                  <a:pt x="481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2409480" y="1723680"/>
            <a:ext cx="5391720" cy="410040"/>
          </a:xfrm>
          <a:custGeom>
            <a:avLst/>
            <a:gdLst/>
            <a:ahLst/>
            <a:cxnLst/>
            <a:rect l="0" t="0" r="r" b="b"/>
            <a:pathLst>
              <a:path w="14977" h="1139">
                <a:moveTo>
                  <a:pt x="0" y="0"/>
                </a:moveTo>
                <a:lnTo>
                  <a:pt x="14977" y="0"/>
                </a:lnTo>
                <a:lnTo>
                  <a:pt x="149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676080" y="1723680"/>
            <a:ext cx="1733760" cy="410040"/>
          </a:xfrm>
          <a:custGeom>
            <a:avLst/>
            <a:gdLst/>
            <a:ahLst/>
            <a:cxnLst/>
            <a:rect l="0" t="0" r="r" b="b"/>
            <a:pathLst>
              <a:path w="4816" h="1139">
                <a:moveTo>
                  <a:pt x="0" y="0"/>
                </a:moveTo>
                <a:lnTo>
                  <a:pt x="4816" y="0"/>
                </a:lnTo>
                <a:lnTo>
                  <a:pt x="481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2409480" y="1723680"/>
            <a:ext cx="5391720" cy="410040"/>
          </a:xfrm>
          <a:custGeom>
            <a:avLst/>
            <a:gdLst/>
            <a:ahLst/>
            <a:cxnLst/>
            <a:rect l="0" t="0" r="r" b="b"/>
            <a:pathLst>
              <a:path w="14977" h="1139">
                <a:moveTo>
                  <a:pt x="0" y="0"/>
                </a:moveTo>
                <a:lnTo>
                  <a:pt x="14977" y="0"/>
                </a:lnTo>
                <a:lnTo>
                  <a:pt x="149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676080" y="2133360"/>
            <a:ext cx="1733760" cy="419400"/>
          </a:xfrm>
          <a:custGeom>
            <a:avLst/>
            <a:gdLst/>
            <a:ahLst/>
            <a:cxnLst/>
            <a:rect l="0" t="0" r="r" b="b"/>
            <a:pathLst>
              <a:path w="4816" h="1165">
                <a:moveTo>
                  <a:pt x="0" y="0"/>
                </a:moveTo>
                <a:lnTo>
                  <a:pt x="4816" y="0"/>
                </a:lnTo>
                <a:lnTo>
                  <a:pt x="48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2409480" y="2133360"/>
            <a:ext cx="5391720" cy="419400"/>
          </a:xfrm>
          <a:custGeom>
            <a:avLst/>
            <a:gdLst/>
            <a:ahLst/>
            <a:cxnLst/>
            <a:rect l="0" t="0" r="r" b="b"/>
            <a:pathLst>
              <a:path w="14977" h="1165">
                <a:moveTo>
                  <a:pt x="0" y="0"/>
                </a:moveTo>
                <a:lnTo>
                  <a:pt x="14977" y="0"/>
                </a:lnTo>
                <a:lnTo>
                  <a:pt x="149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76080" y="2552400"/>
            <a:ext cx="1733760" cy="419400"/>
          </a:xfrm>
          <a:custGeom>
            <a:avLst/>
            <a:gdLst/>
            <a:ahLst/>
            <a:cxnLst/>
            <a:rect l="0" t="0" r="r" b="b"/>
            <a:pathLst>
              <a:path w="4816" h="1165">
                <a:moveTo>
                  <a:pt x="0" y="0"/>
                </a:moveTo>
                <a:lnTo>
                  <a:pt x="4816" y="0"/>
                </a:lnTo>
                <a:lnTo>
                  <a:pt x="48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2409480" y="2552400"/>
            <a:ext cx="5391720" cy="419400"/>
          </a:xfrm>
          <a:custGeom>
            <a:avLst/>
            <a:gdLst/>
            <a:ahLst/>
            <a:cxnLst/>
            <a:rect l="0" t="0" r="r" b="b"/>
            <a:pathLst>
              <a:path w="14977" h="1165">
                <a:moveTo>
                  <a:pt x="0" y="0"/>
                </a:moveTo>
                <a:lnTo>
                  <a:pt x="14977" y="0"/>
                </a:lnTo>
                <a:lnTo>
                  <a:pt x="149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676080" y="2971440"/>
            <a:ext cx="1733760" cy="419760"/>
          </a:xfrm>
          <a:custGeom>
            <a:avLst/>
            <a:gdLst/>
            <a:ahLst/>
            <a:cxnLst/>
            <a:rect l="0" t="0" r="r" b="b"/>
            <a:pathLst>
              <a:path w="4816" h="1166">
                <a:moveTo>
                  <a:pt x="0" y="0"/>
                </a:moveTo>
                <a:lnTo>
                  <a:pt x="4816" y="0"/>
                </a:lnTo>
                <a:lnTo>
                  <a:pt x="481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2409480" y="2971440"/>
            <a:ext cx="5391720" cy="419760"/>
          </a:xfrm>
          <a:custGeom>
            <a:avLst/>
            <a:gdLst/>
            <a:ahLst/>
            <a:cxnLst/>
            <a:rect l="0" t="0" r="r" b="b"/>
            <a:pathLst>
              <a:path w="14977" h="1166">
                <a:moveTo>
                  <a:pt x="0" y="0"/>
                </a:moveTo>
                <a:lnTo>
                  <a:pt x="14977" y="0"/>
                </a:lnTo>
                <a:lnTo>
                  <a:pt x="1497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676080" y="3390840"/>
            <a:ext cx="1733760" cy="419400"/>
          </a:xfrm>
          <a:custGeom>
            <a:avLst/>
            <a:gdLst/>
            <a:ahLst/>
            <a:cxnLst/>
            <a:rect l="0" t="0" r="r" b="b"/>
            <a:pathLst>
              <a:path w="4816" h="1165">
                <a:moveTo>
                  <a:pt x="0" y="0"/>
                </a:moveTo>
                <a:lnTo>
                  <a:pt x="4816" y="0"/>
                </a:lnTo>
                <a:lnTo>
                  <a:pt x="48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2409480" y="3390840"/>
            <a:ext cx="5391720" cy="419400"/>
          </a:xfrm>
          <a:custGeom>
            <a:avLst/>
            <a:gdLst/>
            <a:ahLst/>
            <a:cxnLst/>
            <a:rect l="0" t="0" r="r" b="b"/>
            <a:pathLst>
              <a:path w="14977" h="1165">
                <a:moveTo>
                  <a:pt x="0" y="0"/>
                </a:moveTo>
                <a:lnTo>
                  <a:pt x="14977" y="0"/>
                </a:lnTo>
                <a:lnTo>
                  <a:pt x="149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76080" y="3809880"/>
            <a:ext cx="1733760" cy="419400"/>
          </a:xfrm>
          <a:custGeom>
            <a:avLst/>
            <a:gdLst/>
            <a:ahLst/>
            <a:cxnLst/>
            <a:rect l="0" t="0" r="r" b="b"/>
            <a:pathLst>
              <a:path w="4816" h="1165">
                <a:moveTo>
                  <a:pt x="0" y="0"/>
                </a:moveTo>
                <a:lnTo>
                  <a:pt x="4816" y="0"/>
                </a:lnTo>
                <a:lnTo>
                  <a:pt x="48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2409480" y="3809880"/>
            <a:ext cx="5391720" cy="419400"/>
          </a:xfrm>
          <a:custGeom>
            <a:avLst/>
            <a:gdLst/>
            <a:ahLst/>
            <a:cxnLst/>
            <a:rect l="0" t="0" r="r" b="b"/>
            <a:pathLst>
              <a:path w="14977" h="1165">
                <a:moveTo>
                  <a:pt x="0" y="0"/>
                </a:moveTo>
                <a:lnTo>
                  <a:pt x="14977" y="0"/>
                </a:lnTo>
                <a:lnTo>
                  <a:pt x="149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676080" y="4228920"/>
            <a:ext cx="1733760" cy="419400"/>
          </a:xfrm>
          <a:custGeom>
            <a:avLst/>
            <a:gdLst/>
            <a:ahLst/>
            <a:cxnLst/>
            <a:rect l="0" t="0" r="r" b="b"/>
            <a:pathLst>
              <a:path w="4816" h="1165">
                <a:moveTo>
                  <a:pt x="0" y="0"/>
                </a:moveTo>
                <a:lnTo>
                  <a:pt x="4816" y="0"/>
                </a:lnTo>
                <a:lnTo>
                  <a:pt x="481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2409480" y="4228920"/>
            <a:ext cx="5391720" cy="419400"/>
          </a:xfrm>
          <a:custGeom>
            <a:avLst/>
            <a:gdLst/>
            <a:ahLst/>
            <a:cxnLst/>
            <a:rect l="0" t="0" r="r" b="b"/>
            <a:pathLst>
              <a:path w="14977" h="1165">
                <a:moveTo>
                  <a:pt x="0" y="0"/>
                </a:moveTo>
                <a:lnTo>
                  <a:pt x="14977" y="0"/>
                </a:lnTo>
                <a:lnTo>
                  <a:pt x="149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66720" y="17236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666720" y="1723680"/>
            <a:ext cx="1752840" cy="10080"/>
          </a:xfrm>
          <a:custGeom>
            <a:avLst/>
            <a:gdLst/>
            <a:ahLst/>
            <a:cxn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2409480" y="17236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2419200" y="1723680"/>
            <a:ext cx="5391360" cy="10080"/>
          </a:xfrm>
          <a:custGeom>
            <a:avLst/>
            <a:gdLst/>
            <a:ahLst/>
            <a:cxnLst/>
            <a:rect l="0" t="0" r="r" b="b"/>
            <a:pathLst>
              <a:path w="14976" h="28">
                <a:moveTo>
                  <a:pt x="0" y="0"/>
                </a:moveTo>
                <a:lnTo>
                  <a:pt x="14976" y="0"/>
                </a:lnTo>
                <a:lnTo>
                  <a:pt x="14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7800840" y="17236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666720" y="2133360"/>
            <a:ext cx="1752840" cy="10080"/>
          </a:xfrm>
          <a:custGeom>
            <a:avLst/>
            <a:gdLst/>
            <a:ahLst/>
            <a:cxn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2419200" y="2133360"/>
            <a:ext cx="5391360" cy="10080"/>
          </a:xfrm>
          <a:custGeom>
            <a:avLst/>
            <a:gdLst/>
            <a:ahLst/>
            <a:cxnLst/>
            <a:rect l="0" t="0" r="r" b="b"/>
            <a:pathLst>
              <a:path w="14976" h="28">
                <a:moveTo>
                  <a:pt x="0" y="0"/>
                </a:moveTo>
                <a:lnTo>
                  <a:pt x="14976" y="0"/>
                </a:lnTo>
                <a:lnTo>
                  <a:pt x="14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666720" y="2143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2409480" y="2143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7800840" y="2143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66720" y="25621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666720" y="2552400"/>
            <a:ext cx="1752840" cy="10080"/>
          </a:xfrm>
          <a:custGeom>
            <a:avLst/>
            <a:gdLst/>
            <a:ahLst/>
            <a:cxn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2409480" y="25621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2419200" y="2552400"/>
            <a:ext cx="5391360" cy="10080"/>
          </a:xfrm>
          <a:custGeom>
            <a:avLst/>
            <a:gdLst/>
            <a:ahLst/>
            <a:cxnLst/>
            <a:rect l="0" t="0" r="r" b="b"/>
            <a:pathLst>
              <a:path w="14976" h="28">
                <a:moveTo>
                  <a:pt x="0" y="0"/>
                </a:moveTo>
                <a:lnTo>
                  <a:pt x="14976" y="0"/>
                </a:lnTo>
                <a:lnTo>
                  <a:pt x="14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7800840" y="25621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666720" y="2981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666720" y="2971440"/>
            <a:ext cx="1752840" cy="10440"/>
          </a:xfrm>
          <a:custGeom>
            <a:avLst/>
            <a:gdLst/>
            <a:ahLst/>
            <a:cxnLst/>
            <a:rect l="0" t="0" r="r" b="b"/>
            <a:pathLst>
              <a:path w="4869" h="29">
                <a:moveTo>
                  <a:pt x="0" y="0"/>
                </a:moveTo>
                <a:lnTo>
                  <a:pt x="4869" y="0"/>
                </a:lnTo>
                <a:lnTo>
                  <a:pt x="486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2409480" y="2981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2419200" y="2971440"/>
            <a:ext cx="5391360" cy="10440"/>
          </a:xfrm>
          <a:custGeom>
            <a:avLst/>
            <a:gdLst/>
            <a:ahLst/>
            <a:cxnLst/>
            <a:rect l="0" t="0" r="r" b="b"/>
            <a:pathLst>
              <a:path w="14976" h="29">
                <a:moveTo>
                  <a:pt x="0" y="0"/>
                </a:moveTo>
                <a:lnTo>
                  <a:pt x="14976" y="0"/>
                </a:lnTo>
                <a:lnTo>
                  <a:pt x="1497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7800840" y="2981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666720" y="3400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666720" y="3390840"/>
            <a:ext cx="1752840" cy="9720"/>
          </a:xfrm>
          <a:custGeom>
            <a:avLst/>
            <a:gdLst/>
            <a:ahLst/>
            <a:cxn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2409480" y="34002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2419200" y="3390840"/>
            <a:ext cx="5391360" cy="9720"/>
          </a:xfrm>
          <a:custGeom>
            <a:avLst/>
            <a:gdLst/>
            <a:ahLst/>
            <a:cxnLst/>
            <a:rect l="0" t="0" r="r" b="b"/>
            <a:pathLst>
              <a:path w="14976" h="27">
                <a:moveTo>
                  <a:pt x="0" y="0"/>
                </a:moveTo>
                <a:lnTo>
                  <a:pt x="14976" y="0"/>
                </a:lnTo>
                <a:lnTo>
                  <a:pt x="14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7800840" y="3400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66720" y="38192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666720" y="3809880"/>
            <a:ext cx="1752840" cy="9720"/>
          </a:xfrm>
          <a:custGeom>
            <a:avLst/>
            <a:gdLst/>
            <a:ahLst/>
            <a:cxn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2409480" y="38192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2419200" y="3809880"/>
            <a:ext cx="5391360" cy="9720"/>
          </a:xfrm>
          <a:custGeom>
            <a:avLst/>
            <a:gdLst/>
            <a:ahLst/>
            <a:cxnLst/>
            <a:rect l="0" t="0" r="r" b="b"/>
            <a:pathLst>
              <a:path w="14976" h="27">
                <a:moveTo>
                  <a:pt x="0" y="0"/>
                </a:moveTo>
                <a:lnTo>
                  <a:pt x="14976" y="0"/>
                </a:lnTo>
                <a:lnTo>
                  <a:pt x="14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7800840" y="38192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666720" y="42382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666720" y="4228920"/>
            <a:ext cx="1752840" cy="9720"/>
          </a:xfrm>
          <a:custGeom>
            <a:avLst/>
            <a:gdLst/>
            <a:ahLst/>
            <a:cxn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2409480" y="42382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2419200" y="4228920"/>
            <a:ext cx="5391360" cy="9720"/>
          </a:xfrm>
          <a:custGeom>
            <a:avLst/>
            <a:gdLst/>
            <a:ahLst/>
            <a:cxnLst/>
            <a:rect l="0" t="0" r="r" b="b"/>
            <a:pathLst>
              <a:path w="14976" h="27">
                <a:moveTo>
                  <a:pt x="0" y="0"/>
                </a:moveTo>
                <a:lnTo>
                  <a:pt x="14976" y="0"/>
                </a:lnTo>
                <a:lnTo>
                  <a:pt x="14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7800840" y="42382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66720" y="4647960"/>
            <a:ext cx="1752840" cy="10080"/>
          </a:xfrm>
          <a:custGeom>
            <a:avLst/>
            <a:gdLst/>
            <a:ahLst/>
            <a:cxn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2419200" y="4647960"/>
            <a:ext cx="5391360" cy="10080"/>
          </a:xfrm>
          <a:custGeom>
            <a:avLst/>
            <a:gdLst/>
            <a:ahLst/>
            <a:cxnLst/>
            <a:rect l="0" t="0" r="r" b="b"/>
            <a:pathLst>
              <a:path w="14976" h="28">
                <a:moveTo>
                  <a:pt x="0" y="0"/>
                </a:moveTo>
                <a:lnTo>
                  <a:pt x="14976" y="0"/>
                </a:lnTo>
                <a:lnTo>
                  <a:pt x="14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666720" y="480996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666720" y="480996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6838920" y="6676920"/>
            <a:ext cx="9720" cy="181080"/>
          </a:xfrm>
          <a:custGeom>
            <a:avLst/>
            <a:gdLst/>
            <a:ahLst/>
            <a:cxnLst/>
            <a:rect l="0" t="0" r="r" b="b"/>
            <a:pathLst>
              <a:path w="27" h="503">
                <a:moveTo>
                  <a:pt x="0" y="0"/>
                </a:moveTo>
                <a:lnTo>
                  <a:pt x="27" y="0"/>
                </a:lnTo>
                <a:lnTo>
                  <a:pt x="27" y="503"/>
                </a:lnTo>
                <a:lnTo>
                  <a:pt x="0" y="5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666720" y="587160"/>
            <a:ext cx="6764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entregable: qué lleva un feasibility assessment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666720" y="1268280"/>
            <a:ext cx="1061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la industria es un documento propio, de dos o tres páginas, que se entrega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aprobar el estudio: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1175400" y="1828440"/>
            <a:ext cx="730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Sección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4502520" y="1828440"/>
            <a:ext cx="1210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contiene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799920" y="2238120"/>
            <a:ext cx="829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Pregunta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2538360" y="2228400"/>
            <a:ext cx="2135200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hipótesis, en una frase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799920" y="2657160"/>
            <a:ext cx="625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Fuente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2538360" y="2647440"/>
            <a:ext cx="4645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base, qué periodo, qué población cubre, qué le falta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799920" y="3076200"/>
            <a:ext cx="766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Conteos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2538360" y="3076200"/>
            <a:ext cx="4757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pacientes, seguimiento y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eventos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 la tabla de atrición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CuadroTexto 161"/>
          <p:cNvSpPr txBox="1"/>
          <p:nvPr/>
        </p:nvSpPr>
        <p:spPr>
          <a:xfrm>
            <a:off x="799920" y="3495240"/>
            <a:ext cx="801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Potencia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2538360" y="3485880"/>
            <a:ext cx="3755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efecto mínimo detectable con esos eventos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799920" y="3914280"/>
            <a:ext cx="73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Riesgos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2538360" y="3904920"/>
            <a:ext cx="5142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variable clave no está, qué sesgo no vas a poder controlar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799920" y="4333320"/>
            <a:ext cx="1481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Recomendación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2538360" y="4323960"/>
            <a:ext cx="4906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seguir / cambiar la pregunta / cambiar la fuente / no hacerlo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905040" y="4964040"/>
            <a:ext cx="8829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Tarda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días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no meses. Y «no hacerlo» es un resultado exitoso del ejercicio, no un fracaso.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1961280" y="6362280"/>
            <a:ext cx="752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Síntoma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4829760" y="6362280"/>
            <a:ext cx="1189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signiﬁca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7885080" y="6362280"/>
            <a:ext cx="939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hacer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Forma libre 1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3677040" y="3063960"/>
            <a:ext cx="49615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La tabla de atrición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orma libre 1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4EF598-CA8D-7033-7639-24F8DABEEF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47"/>
          <a:stretch/>
        </p:blipFill>
        <p:spPr>
          <a:xfrm>
            <a:off x="2279880" y="896539"/>
            <a:ext cx="8210649" cy="52196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orma libre 2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671400" y="281448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671400" y="281448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666720" y="1682280"/>
            <a:ext cx="2309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orden importa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666720" y="2354040"/>
            <a:ext cx="6333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misma cohorte, dos órdenes distintos,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tablas distintas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CuadroTexto 215"/>
          <p:cNvSpPr txBox="1"/>
          <p:nvPr/>
        </p:nvSpPr>
        <p:spPr>
          <a:xfrm>
            <a:off x="866880" y="2994480"/>
            <a:ext cx="7078861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A:  edad ≥18  →  Medicamento        B:  Medicamento  →  edad ≥18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914040" y="4200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CuadroTexto 217"/>
          <p:cNvSpPr txBox="1"/>
          <p:nvPr/>
        </p:nvSpPr>
        <p:spPr>
          <a:xfrm>
            <a:off x="666720" y="3592440"/>
            <a:ext cx="769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 ﬁnal es el mismo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Lo que cambia es cuánto parece costar cada criterio.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914040" y="4600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CuadroTexto 219"/>
          <p:cNvSpPr txBox="1"/>
          <p:nvPr/>
        </p:nvSpPr>
        <p:spPr>
          <a:xfrm>
            <a:off x="1123920" y="4087800"/>
            <a:ext cx="5103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hay un orden correcto; hay un orden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declarado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914040" y="5000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1123920" y="4487760"/>
            <a:ext cx="578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Pon primero los criterios baratos y universales (edad, sexo)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1123920" y="4887720"/>
            <a:ext cx="5348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Deja para el ﬁnal los que requieren ventanas y conteos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CuadroTexto 22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Forma libre 2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3728880" y="3063960"/>
            <a:ext cx="4842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CohortDiagnostics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Forma libre 2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76080" y="1761840"/>
            <a:ext cx="3029400" cy="410040"/>
          </a:xfrm>
          <a:custGeom>
            <a:avLst/>
            <a:gdLst/>
            <a:ahLst/>
            <a:cxnLst/>
            <a:rect l="0" t="0" r="r" b="b"/>
            <a:pathLst>
              <a:path w="8415" h="1139">
                <a:moveTo>
                  <a:pt x="0" y="0"/>
                </a:moveTo>
                <a:lnTo>
                  <a:pt x="8415" y="0"/>
                </a:lnTo>
                <a:lnTo>
                  <a:pt x="841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3705120" y="1761840"/>
            <a:ext cx="4638960" cy="410040"/>
          </a:xfrm>
          <a:custGeom>
            <a:avLst/>
            <a:gdLst/>
            <a:ahLst/>
            <a:cxnLst/>
            <a:rect l="0" t="0" r="r" b="b"/>
            <a:pathLst>
              <a:path w="12886" h="1139">
                <a:moveTo>
                  <a:pt x="0" y="0"/>
                </a:moveTo>
                <a:lnTo>
                  <a:pt x="12886" y="0"/>
                </a:lnTo>
                <a:lnTo>
                  <a:pt x="128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676080" y="1761840"/>
            <a:ext cx="3029400" cy="410040"/>
          </a:xfrm>
          <a:custGeom>
            <a:avLst/>
            <a:gdLst/>
            <a:ahLst/>
            <a:cxnLst/>
            <a:rect l="0" t="0" r="r" b="b"/>
            <a:pathLst>
              <a:path w="8415" h="1139">
                <a:moveTo>
                  <a:pt x="0" y="0"/>
                </a:moveTo>
                <a:lnTo>
                  <a:pt x="8415" y="0"/>
                </a:lnTo>
                <a:lnTo>
                  <a:pt x="841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3705120" y="1761840"/>
            <a:ext cx="4638960" cy="410040"/>
          </a:xfrm>
          <a:custGeom>
            <a:avLst/>
            <a:gdLst/>
            <a:ahLst/>
            <a:cxnLst/>
            <a:rect l="0" t="0" r="r" b="b"/>
            <a:pathLst>
              <a:path w="12886" h="1139">
                <a:moveTo>
                  <a:pt x="0" y="0"/>
                </a:moveTo>
                <a:lnTo>
                  <a:pt x="12886" y="0"/>
                </a:lnTo>
                <a:lnTo>
                  <a:pt x="128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676080" y="2171520"/>
            <a:ext cx="3029400" cy="419400"/>
          </a:xfrm>
          <a:custGeom>
            <a:avLst/>
            <a:gdLst/>
            <a:ahLst/>
            <a:cxnLst/>
            <a:rect l="0" t="0" r="r" b="b"/>
            <a:pathLst>
              <a:path w="8415" h="1165">
                <a:moveTo>
                  <a:pt x="0" y="0"/>
                </a:moveTo>
                <a:lnTo>
                  <a:pt x="8415" y="0"/>
                </a:lnTo>
                <a:lnTo>
                  <a:pt x="84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3705120" y="2171520"/>
            <a:ext cx="4638960" cy="419400"/>
          </a:xfrm>
          <a:custGeom>
            <a:avLst/>
            <a:gdLst/>
            <a:ahLst/>
            <a:cxnLst/>
            <a:rect l="0" t="0" r="r" b="b"/>
            <a:pathLst>
              <a:path w="12886" h="1165">
                <a:moveTo>
                  <a:pt x="0" y="0"/>
                </a:moveTo>
                <a:lnTo>
                  <a:pt x="12886" y="0"/>
                </a:lnTo>
                <a:lnTo>
                  <a:pt x="128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676080" y="2590560"/>
            <a:ext cx="3029400" cy="419400"/>
          </a:xfrm>
          <a:custGeom>
            <a:avLst/>
            <a:gdLst/>
            <a:ahLst/>
            <a:cxnLst/>
            <a:rect l="0" t="0" r="r" b="b"/>
            <a:pathLst>
              <a:path w="8415" h="1165">
                <a:moveTo>
                  <a:pt x="0" y="0"/>
                </a:moveTo>
                <a:lnTo>
                  <a:pt x="8415" y="0"/>
                </a:lnTo>
                <a:lnTo>
                  <a:pt x="84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3705120" y="2590560"/>
            <a:ext cx="4638960" cy="419400"/>
          </a:xfrm>
          <a:custGeom>
            <a:avLst/>
            <a:gdLst/>
            <a:ahLst/>
            <a:cxnLst/>
            <a:rect l="0" t="0" r="r" b="b"/>
            <a:pathLst>
              <a:path w="12886" h="1165">
                <a:moveTo>
                  <a:pt x="0" y="0"/>
                </a:moveTo>
                <a:lnTo>
                  <a:pt x="12886" y="0"/>
                </a:lnTo>
                <a:lnTo>
                  <a:pt x="128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676080" y="3009600"/>
            <a:ext cx="3029400" cy="419400"/>
          </a:xfrm>
          <a:custGeom>
            <a:avLst/>
            <a:gdLst/>
            <a:ahLst/>
            <a:cxnLst/>
            <a:rect l="0" t="0" r="r" b="b"/>
            <a:pathLst>
              <a:path w="8415" h="1165">
                <a:moveTo>
                  <a:pt x="0" y="0"/>
                </a:moveTo>
                <a:lnTo>
                  <a:pt x="8415" y="0"/>
                </a:lnTo>
                <a:lnTo>
                  <a:pt x="84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3705120" y="3009600"/>
            <a:ext cx="4638960" cy="419400"/>
          </a:xfrm>
          <a:custGeom>
            <a:avLst/>
            <a:gdLst/>
            <a:ahLst/>
            <a:cxnLst/>
            <a:rect l="0" t="0" r="r" b="b"/>
            <a:pathLst>
              <a:path w="12886" h="1165">
                <a:moveTo>
                  <a:pt x="0" y="0"/>
                </a:moveTo>
                <a:lnTo>
                  <a:pt x="12886" y="0"/>
                </a:lnTo>
                <a:lnTo>
                  <a:pt x="128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676080" y="3428640"/>
            <a:ext cx="3029400" cy="419760"/>
          </a:xfrm>
          <a:custGeom>
            <a:avLst/>
            <a:gdLst/>
            <a:ahLst/>
            <a:cxnLst/>
            <a:rect l="0" t="0" r="r" b="b"/>
            <a:pathLst>
              <a:path w="8415" h="1166">
                <a:moveTo>
                  <a:pt x="0" y="0"/>
                </a:moveTo>
                <a:lnTo>
                  <a:pt x="8415" y="0"/>
                </a:lnTo>
                <a:lnTo>
                  <a:pt x="841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3705120" y="3428640"/>
            <a:ext cx="4638960" cy="419760"/>
          </a:xfrm>
          <a:custGeom>
            <a:avLst/>
            <a:gdLst/>
            <a:ahLst/>
            <a:cxnLst/>
            <a:rect l="0" t="0" r="r" b="b"/>
            <a:pathLst>
              <a:path w="12886" h="1166">
                <a:moveTo>
                  <a:pt x="0" y="0"/>
                </a:moveTo>
                <a:lnTo>
                  <a:pt x="12886" y="0"/>
                </a:lnTo>
                <a:lnTo>
                  <a:pt x="1288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676080" y="3848040"/>
            <a:ext cx="3029400" cy="419400"/>
          </a:xfrm>
          <a:custGeom>
            <a:avLst/>
            <a:gdLst/>
            <a:ahLst/>
            <a:cxnLst/>
            <a:rect l="0" t="0" r="r" b="b"/>
            <a:pathLst>
              <a:path w="8415" h="1165">
                <a:moveTo>
                  <a:pt x="0" y="0"/>
                </a:moveTo>
                <a:lnTo>
                  <a:pt x="8415" y="0"/>
                </a:lnTo>
                <a:lnTo>
                  <a:pt x="84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3705120" y="3848040"/>
            <a:ext cx="4638960" cy="419400"/>
          </a:xfrm>
          <a:custGeom>
            <a:avLst/>
            <a:gdLst/>
            <a:ahLst/>
            <a:cxnLst/>
            <a:rect l="0" t="0" r="r" b="b"/>
            <a:pathLst>
              <a:path w="12886" h="1165">
                <a:moveTo>
                  <a:pt x="0" y="0"/>
                </a:moveTo>
                <a:lnTo>
                  <a:pt x="12886" y="0"/>
                </a:lnTo>
                <a:lnTo>
                  <a:pt x="128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676080" y="4267080"/>
            <a:ext cx="3029400" cy="419400"/>
          </a:xfrm>
          <a:custGeom>
            <a:avLst/>
            <a:gdLst/>
            <a:ahLst/>
            <a:cxnLst/>
            <a:rect l="0" t="0" r="r" b="b"/>
            <a:pathLst>
              <a:path w="8415" h="1165">
                <a:moveTo>
                  <a:pt x="0" y="0"/>
                </a:moveTo>
                <a:lnTo>
                  <a:pt x="8415" y="0"/>
                </a:lnTo>
                <a:lnTo>
                  <a:pt x="841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3705120" y="4267080"/>
            <a:ext cx="4638960" cy="419400"/>
          </a:xfrm>
          <a:custGeom>
            <a:avLst/>
            <a:gdLst/>
            <a:ahLst/>
            <a:cxnLst/>
            <a:rect l="0" t="0" r="r" b="b"/>
            <a:pathLst>
              <a:path w="12886" h="1165">
                <a:moveTo>
                  <a:pt x="0" y="0"/>
                </a:moveTo>
                <a:lnTo>
                  <a:pt x="12886" y="0"/>
                </a:lnTo>
                <a:lnTo>
                  <a:pt x="128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66672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666720" y="1752480"/>
            <a:ext cx="3048120" cy="9720"/>
          </a:xfrm>
          <a:custGeom>
            <a:avLst/>
            <a:gdLst/>
            <a:ahLst/>
            <a:cxnLst/>
            <a:rect l="0" t="0" r="r" b="b"/>
            <a:pathLst>
              <a:path w="8467" h="27">
                <a:moveTo>
                  <a:pt x="0" y="0"/>
                </a:moveTo>
                <a:lnTo>
                  <a:pt x="8467" y="0"/>
                </a:lnTo>
                <a:lnTo>
                  <a:pt x="8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370512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3714480" y="175248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834372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66720" y="2162160"/>
            <a:ext cx="3048120" cy="9720"/>
          </a:xfrm>
          <a:custGeom>
            <a:avLst/>
            <a:gdLst/>
            <a:ahLst/>
            <a:cxnLst/>
            <a:rect l="0" t="0" r="r" b="b"/>
            <a:pathLst>
              <a:path w="8467" h="27">
                <a:moveTo>
                  <a:pt x="0" y="0"/>
                </a:moveTo>
                <a:lnTo>
                  <a:pt x="8467" y="0"/>
                </a:lnTo>
                <a:lnTo>
                  <a:pt x="8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3714480" y="216216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6667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37051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83437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6667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666720" y="2581200"/>
            <a:ext cx="3048120" cy="9720"/>
          </a:xfrm>
          <a:custGeom>
            <a:avLst/>
            <a:gdLst/>
            <a:ahLst/>
            <a:cxnLst/>
            <a:rect l="0" t="0" r="r" b="b"/>
            <a:pathLst>
              <a:path w="8467" h="27">
                <a:moveTo>
                  <a:pt x="0" y="0"/>
                </a:moveTo>
                <a:lnTo>
                  <a:pt x="8467" y="0"/>
                </a:lnTo>
                <a:lnTo>
                  <a:pt x="8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37051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3714480" y="258120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83437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667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666720" y="3000240"/>
            <a:ext cx="3048120" cy="9720"/>
          </a:xfrm>
          <a:custGeom>
            <a:avLst/>
            <a:gdLst/>
            <a:ahLst/>
            <a:cxnLst/>
            <a:rect l="0" t="0" r="r" b="b"/>
            <a:pathLst>
              <a:path w="8467" h="27">
                <a:moveTo>
                  <a:pt x="0" y="0"/>
                </a:moveTo>
                <a:lnTo>
                  <a:pt x="8467" y="0"/>
                </a:lnTo>
                <a:lnTo>
                  <a:pt x="8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37051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3714480" y="300024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83437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6667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666720" y="3419280"/>
            <a:ext cx="3048120" cy="9720"/>
          </a:xfrm>
          <a:custGeom>
            <a:avLst/>
            <a:gdLst/>
            <a:ahLst/>
            <a:cxnLst/>
            <a:rect l="0" t="0" r="r" b="b"/>
            <a:pathLst>
              <a:path w="8467" h="27">
                <a:moveTo>
                  <a:pt x="0" y="0"/>
                </a:moveTo>
                <a:lnTo>
                  <a:pt x="8467" y="0"/>
                </a:lnTo>
                <a:lnTo>
                  <a:pt x="8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37051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3714480" y="341928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83437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6667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666720" y="3838320"/>
            <a:ext cx="3048120" cy="10080"/>
          </a:xfrm>
          <a:custGeom>
            <a:avLst/>
            <a:gdLst/>
            <a:ahLst/>
            <a:cxnLst/>
            <a:rect l="0" t="0" r="r" b="b"/>
            <a:pathLst>
              <a:path w="8467" h="28">
                <a:moveTo>
                  <a:pt x="0" y="0"/>
                </a:moveTo>
                <a:lnTo>
                  <a:pt x="8467" y="0"/>
                </a:lnTo>
                <a:lnTo>
                  <a:pt x="8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37051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3714480" y="383832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83437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6667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666720" y="4257360"/>
            <a:ext cx="3048120" cy="10080"/>
          </a:xfrm>
          <a:custGeom>
            <a:avLst/>
            <a:gdLst/>
            <a:ahLst/>
            <a:cxnLst/>
            <a:rect l="0" t="0" r="r" b="b"/>
            <a:pathLst>
              <a:path w="8467" h="28">
                <a:moveTo>
                  <a:pt x="0" y="0"/>
                </a:moveTo>
                <a:lnTo>
                  <a:pt x="8467" y="0"/>
                </a:lnTo>
                <a:lnTo>
                  <a:pt x="8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37051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3714480" y="4257360"/>
            <a:ext cx="4638960" cy="10080"/>
          </a:xfrm>
          <a:custGeom>
            <a:avLst/>
            <a:gdLst/>
            <a:ahLst/>
            <a:cxn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83437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666720" y="4676760"/>
            <a:ext cx="3048120" cy="9720"/>
          </a:xfrm>
          <a:custGeom>
            <a:avLst/>
            <a:gdLst/>
            <a:ahLst/>
            <a:cxnLst/>
            <a:rect l="0" t="0" r="r" b="b"/>
            <a:pathLst>
              <a:path w="8467" h="27">
                <a:moveTo>
                  <a:pt x="0" y="0"/>
                </a:moveTo>
                <a:lnTo>
                  <a:pt x="8467" y="0"/>
                </a:lnTo>
                <a:lnTo>
                  <a:pt x="84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3714480" y="4676760"/>
            <a:ext cx="4638960" cy="9720"/>
          </a:xfrm>
          <a:custGeom>
            <a:avLst/>
            <a:gdLst/>
            <a:ahLst/>
            <a:cxn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666720" y="48384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666720" y="48384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666720" y="1120320"/>
            <a:ext cx="6104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te dice que tú no te habías preguntado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1644840" y="1856880"/>
            <a:ext cx="1090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Diagnóstico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4831920" y="1856880"/>
            <a:ext cx="2396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La pregunta que responde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799920" y="2266560"/>
            <a:ext cx="2780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Incidencia por año, edad, sexo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3836880" y="2266560"/>
            <a:ext cx="3818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¿hay saltos raros? ¿coincide con lo esperado?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799920" y="2685600"/>
            <a:ext cx="2099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Códigos fuente usados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3836880" y="2685600"/>
            <a:ext cx="3871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códigos </a:t>
            </a:r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realmente 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dispararon la entrada?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799920" y="3104640"/>
            <a:ext cx="1958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Conceptos huérfanos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3836880" y="3104640"/>
            <a:ext cx="3962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códigos frecuentes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debí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incluir y no incluí?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799920" y="3524040"/>
            <a:ext cx="2441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Desglose del evento índice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CuadroTexto 301"/>
          <p:cNvSpPr txBox="1"/>
          <p:nvPr/>
        </p:nvSpPr>
        <p:spPr>
          <a:xfrm>
            <a:off x="3836880" y="3524040"/>
            <a:ext cx="3215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concepto metió a cada paciente?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CuadroTexto 302"/>
          <p:cNvSpPr txBox="1"/>
          <p:nvPr/>
        </p:nvSpPr>
        <p:spPr>
          <a:xfrm>
            <a:off x="799920" y="3943080"/>
            <a:ext cx="2173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Traslape entre cohortes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CuadroTexto 303"/>
          <p:cNvSpPr txBox="1"/>
          <p:nvPr/>
        </p:nvSpPr>
        <p:spPr>
          <a:xfrm>
            <a:off x="3836880" y="3943080"/>
            <a:ext cx="4174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¿mis dos deﬁniciones describen a la misma gente?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799920" y="4362120"/>
            <a:ext cx="2275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Distribuciones de tiempo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CuadroTexto 305"/>
          <p:cNvSpPr txBox="1"/>
          <p:nvPr/>
        </p:nvSpPr>
        <p:spPr>
          <a:xfrm>
            <a:off x="3836880" y="4362120"/>
            <a:ext cx="4379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¿cuánta observación hay antes y después del índice?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905040" y="4992480"/>
            <a:ext cx="1019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 un paquete de R, pero lo que importa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diagnostica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Los mismos conteos los puedes escribir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CuadroTexto 307"/>
          <p:cNvSpPr txBox="1"/>
          <p:nvPr/>
        </p:nvSpPr>
        <p:spPr>
          <a:xfrm>
            <a:off x="905040" y="5335560"/>
            <a:ext cx="805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SQL.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Forma libre 3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671400" y="25952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671400" y="25952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666720" y="48384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666720" y="48384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666720" y="1120320"/>
            <a:ext cx="3013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Conceptos huérfanos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666720" y="1792080"/>
            <a:ext cx="10154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Son los códigos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aparecen mucho en tus datos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se parecen a lo que buscabas,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están en tu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666720" y="2135160"/>
            <a:ext cx="122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concept set.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866880" y="27752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tu concept set        →  lo que incluiste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914040" y="3752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866880" y="304200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códigos huérfanos     →  lo que la base tiene y tú dejaste fuera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914040" y="4152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1123920" y="3639960"/>
            <a:ext cx="6161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Puede ser correcto dejarlos fuera — pero entonces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justifícalo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1123920" y="4039920"/>
            <a:ext cx="9978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Suelen aparecer: variantes locales, términos con error de captura, códigos no estándar que el ETL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1123920" y="4383000"/>
            <a:ext cx="686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mapeó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905040" y="4992480"/>
            <a:ext cx="10451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 el diagnóstico más útil del paquete, y el único que detecta lo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falta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Todo lo demás audita lo que ya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905040" y="5335560"/>
            <a:ext cx="76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pusiste.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Forma libre 3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1812960" y="3063960"/>
            <a:ext cx="88056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ATLAS: la definición como artefacto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Forma libre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671400" y="291924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3"/>
                </a:lnTo>
                <a:cubicBezTo>
                  <a:pt x="30137" y="3626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671400" y="291924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3"/>
                </a:lnTo>
                <a:cubicBezTo>
                  <a:pt x="30137" y="3626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CuadroTexto 345"/>
          <p:cNvSpPr txBox="1"/>
          <p:nvPr/>
        </p:nvSpPr>
        <p:spPr>
          <a:xfrm>
            <a:off x="666720" y="1282320"/>
            <a:ext cx="33498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definición se compila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666720" y="2458800"/>
            <a:ext cx="9508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ATLAS es una aplicación web sobre tu CDM. Lo importante no es la interfaz, sino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produce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866880" y="3099240"/>
            <a:ext cx="3603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defines la cohorte en la interfaz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866880" y="336600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→ se guarda como JSON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CuadroTexto 352"/>
          <p:cNvSpPr txBox="1"/>
          <p:nvPr/>
        </p:nvSpPr>
        <p:spPr>
          <a:xfrm>
            <a:off x="866880" y="362304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→ CIRCE lo compila a SQL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914040" y="4600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866880" y="388980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→ el SQL corre sobre cualquier CDM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914040" y="5000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CuadroTexto 356"/>
          <p:cNvSpPr txBox="1"/>
          <p:nvPr/>
        </p:nvSpPr>
        <p:spPr>
          <a:xfrm>
            <a:off x="1123920" y="4487760"/>
            <a:ext cx="669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JSON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deﬁnición: se versiona, se revisa en un PR, se publica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914040" y="54003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uadroTexto 358"/>
          <p:cNvSpPr txBox="1"/>
          <p:nvPr/>
        </p:nvSpPr>
        <p:spPr>
          <a:xfrm>
            <a:off x="1123920" y="4887720"/>
            <a:ext cx="5303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SQL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desechable: se regenera cuando haga falta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1123920" y="5287680"/>
            <a:ext cx="734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Por eso una cohorte de la Phenotype Library se puede ejecutar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base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33B0BE-EF4B-C530-FFA4-E2948EFA8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38" y="715950"/>
            <a:ext cx="10740724" cy="520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Forma libre 3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2727360" y="3105294"/>
            <a:ext cx="5894242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El ecosistema HADES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9670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76080" y="1761840"/>
            <a:ext cx="2581560" cy="410040"/>
          </a:xfrm>
          <a:custGeom>
            <a:avLst/>
            <a:gdLst/>
            <a:ahLst/>
            <a:cxnLst/>
            <a:rect l="0" t="0" r="r" b="b"/>
            <a:pathLst>
              <a:path w="7171" h="1139">
                <a:moveTo>
                  <a:pt x="0" y="0"/>
                </a:moveTo>
                <a:lnTo>
                  <a:pt x="7171" y="0"/>
                </a:lnTo>
                <a:lnTo>
                  <a:pt x="717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3257280" y="1761840"/>
            <a:ext cx="4153320" cy="410040"/>
          </a:xfrm>
          <a:custGeom>
            <a:avLst/>
            <a:gdLst/>
            <a:ahLst/>
            <a:cxnLst/>
            <a:rect l="0" t="0" r="r" b="b"/>
            <a:pathLst>
              <a:path w="11537" h="1139">
                <a:moveTo>
                  <a:pt x="0" y="0"/>
                </a:moveTo>
                <a:lnTo>
                  <a:pt x="11537" y="0"/>
                </a:lnTo>
                <a:lnTo>
                  <a:pt x="115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676080" y="1761840"/>
            <a:ext cx="2581560" cy="410040"/>
          </a:xfrm>
          <a:custGeom>
            <a:avLst/>
            <a:gdLst/>
            <a:ahLst/>
            <a:cxnLst/>
            <a:rect l="0" t="0" r="r" b="b"/>
            <a:pathLst>
              <a:path w="7171" h="1139">
                <a:moveTo>
                  <a:pt x="0" y="0"/>
                </a:moveTo>
                <a:lnTo>
                  <a:pt x="7171" y="0"/>
                </a:lnTo>
                <a:lnTo>
                  <a:pt x="717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3257280" y="1761840"/>
            <a:ext cx="4153320" cy="410040"/>
          </a:xfrm>
          <a:custGeom>
            <a:avLst/>
            <a:gdLst/>
            <a:ahLst/>
            <a:cxnLst/>
            <a:rect l="0" t="0" r="r" b="b"/>
            <a:pathLst>
              <a:path w="11537" h="1139">
                <a:moveTo>
                  <a:pt x="0" y="0"/>
                </a:moveTo>
                <a:lnTo>
                  <a:pt x="11537" y="0"/>
                </a:lnTo>
                <a:lnTo>
                  <a:pt x="115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676080" y="2171520"/>
            <a:ext cx="2581560" cy="419400"/>
          </a:xfrm>
          <a:custGeom>
            <a:avLst/>
            <a:gdLst/>
            <a:ahLst/>
            <a:cxnLst/>
            <a:rect l="0" t="0" r="r" b="b"/>
            <a:pathLst>
              <a:path w="7171" h="1165">
                <a:moveTo>
                  <a:pt x="0" y="0"/>
                </a:moveTo>
                <a:lnTo>
                  <a:pt x="7171" y="0"/>
                </a:lnTo>
                <a:lnTo>
                  <a:pt x="71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3257280" y="217152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676080" y="2590560"/>
            <a:ext cx="2581560" cy="419400"/>
          </a:xfrm>
          <a:custGeom>
            <a:avLst/>
            <a:gdLst/>
            <a:ahLst/>
            <a:cxnLst/>
            <a:rect l="0" t="0" r="r" b="b"/>
            <a:pathLst>
              <a:path w="7171" h="1165">
                <a:moveTo>
                  <a:pt x="0" y="0"/>
                </a:moveTo>
                <a:lnTo>
                  <a:pt x="7171" y="0"/>
                </a:lnTo>
                <a:lnTo>
                  <a:pt x="71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3257280" y="259056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676080" y="3009600"/>
            <a:ext cx="2581560" cy="419400"/>
          </a:xfrm>
          <a:custGeom>
            <a:avLst/>
            <a:gdLst/>
            <a:ahLst/>
            <a:cxnLst/>
            <a:rect l="0" t="0" r="r" b="b"/>
            <a:pathLst>
              <a:path w="7171" h="1165">
                <a:moveTo>
                  <a:pt x="0" y="0"/>
                </a:moveTo>
                <a:lnTo>
                  <a:pt x="7171" y="0"/>
                </a:lnTo>
                <a:lnTo>
                  <a:pt x="71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3257280" y="300960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676080" y="3428640"/>
            <a:ext cx="2581560" cy="419760"/>
          </a:xfrm>
          <a:custGeom>
            <a:avLst/>
            <a:gdLst/>
            <a:ahLst/>
            <a:cxnLst/>
            <a:rect l="0" t="0" r="r" b="b"/>
            <a:pathLst>
              <a:path w="7171" h="1166">
                <a:moveTo>
                  <a:pt x="0" y="0"/>
                </a:moveTo>
                <a:lnTo>
                  <a:pt x="7171" y="0"/>
                </a:lnTo>
                <a:lnTo>
                  <a:pt x="717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3257280" y="3428640"/>
            <a:ext cx="4153320" cy="419760"/>
          </a:xfrm>
          <a:custGeom>
            <a:avLst/>
            <a:gdLst/>
            <a:ahLst/>
            <a:cxnLst/>
            <a:rect l="0" t="0" r="r" b="b"/>
            <a:pathLst>
              <a:path w="11537" h="1166">
                <a:moveTo>
                  <a:pt x="0" y="0"/>
                </a:moveTo>
                <a:lnTo>
                  <a:pt x="11537" y="0"/>
                </a:lnTo>
                <a:lnTo>
                  <a:pt x="1153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676080" y="3848040"/>
            <a:ext cx="2581560" cy="419400"/>
          </a:xfrm>
          <a:custGeom>
            <a:avLst/>
            <a:gdLst/>
            <a:ahLst/>
            <a:cxnLst/>
            <a:rect l="0" t="0" r="r" b="b"/>
            <a:pathLst>
              <a:path w="7171" h="1165">
                <a:moveTo>
                  <a:pt x="0" y="0"/>
                </a:moveTo>
                <a:lnTo>
                  <a:pt x="7171" y="0"/>
                </a:lnTo>
                <a:lnTo>
                  <a:pt x="71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3257280" y="384804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orma libre 459"/>
          <p:cNvSpPr/>
          <p:nvPr/>
        </p:nvSpPr>
        <p:spPr>
          <a:xfrm>
            <a:off x="676080" y="4267080"/>
            <a:ext cx="2581560" cy="419400"/>
          </a:xfrm>
          <a:custGeom>
            <a:avLst/>
            <a:gdLst/>
            <a:ahLst/>
            <a:cxnLst/>
            <a:rect l="0" t="0" r="r" b="b"/>
            <a:pathLst>
              <a:path w="7171" h="1165">
                <a:moveTo>
                  <a:pt x="0" y="0"/>
                </a:moveTo>
                <a:lnTo>
                  <a:pt x="7171" y="0"/>
                </a:lnTo>
                <a:lnTo>
                  <a:pt x="717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3257280" y="4267080"/>
            <a:ext cx="4153320" cy="419400"/>
          </a:xfrm>
          <a:custGeom>
            <a:avLst/>
            <a:gdLst/>
            <a:ahLst/>
            <a:cxnLst/>
            <a:rect l="0" t="0" r="r" b="b"/>
            <a:pathLst>
              <a:path w="11537" h="1165">
                <a:moveTo>
                  <a:pt x="0" y="0"/>
                </a:moveTo>
                <a:lnTo>
                  <a:pt x="11537" y="0"/>
                </a:lnTo>
                <a:lnTo>
                  <a:pt x="115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66672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666720" y="1752480"/>
            <a:ext cx="2590920" cy="9720"/>
          </a:xfrm>
          <a:custGeom>
            <a:avLst/>
            <a:gdLst/>
            <a:ahLst/>
            <a:cxnLst/>
            <a:rect l="0" t="0" r="r" b="b"/>
            <a:pathLst>
              <a:path w="7197" h="27">
                <a:moveTo>
                  <a:pt x="0" y="0"/>
                </a:moveTo>
                <a:lnTo>
                  <a:pt x="7197" y="0"/>
                </a:lnTo>
                <a:lnTo>
                  <a:pt x="7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3247920" y="1752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3257280" y="1752480"/>
            <a:ext cx="4163040" cy="9720"/>
          </a:xfrm>
          <a:custGeom>
            <a:avLst/>
            <a:gdLst/>
            <a:ahLst/>
            <a:cxnLst/>
            <a:rect l="0" t="0" r="r" b="b"/>
            <a:pathLst>
              <a:path w="11564" h="27">
                <a:moveTo>
                  <a:pt x="0" y="0"/>
                </a:moveTo>
                <a:lnTo>
                  <a:pt x="11564" y="0"/>
                </a:lnTo>
                <a:lnTo>
                  <a:pt x="11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7410240" y="1752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666720" y="2162160"/>
            <a:ext cx="2590920" cy="9720"/>
          </a:xfrm>
          <a:custGeom>
            <a:avLst/>
            <a:gdLst/>
            <a:ahLst/>
            <a:cxnLst/>
            <a:rect l="0" t="0" r="r" b="b"/>
            <a:pathLst>
              <a:path w="7197" h="27">
                <a:moveTo>
                  <a:pt x="0" y="0"/>
                </a:moveTo>
                <a:lnTo>
                  <a:pt x="7197" y="0"/>
                </a:lnTo>
                <a:lnTo>
                  <a:pt x="7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3257280" y="2162160"/>
            <a:ext cx="4163040" cy="9720"/>
          </a:xfrm>
          <a:custGeom>
            <a:avLst/>
            <a:gdLst/>
            <a:ahLst/>
            <a:cxnLst/>
            <a:rect l="0" t="0" r="r" b="b"/>
            <a:pathLst>
              <a:path w="11564" h="27">
                <a:moveTo>
                  <a:pt x="0" y="0"/>
                </a:moveTo>
                <a:lnTo>
                  <a:pt x="11564" y="0"/>
                </a:lnTo>
                <a:lnTo>
                  <a:pt x="11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6667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3247920" y="2171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7410240" y="2171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6667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666720" y="2581200"/>
            <a:ext cx="2590920" cy="9720"/>
          </a:xfrm>
          <a:custGeom>
            <a:avLst/>
            <a:gdLst/>
            <a:ahLst/>
            <a:cxnLst/>
            <a:rect l="0" t="0" r="r" b="b"/>
            <a:pathLst>
              <a:path w="7197" h="27">
                <a:moveTo>
                  <a:pt x="0" y="0"/>
                </a:moveTo>
                <a:lnTo>
                  <a:pt x="7197" y="0"/>
                </a:lnTo>
                <a:lnTo>
                  <a:pt x="7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32479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3257280" y="2581200"/>
            <a:ext cx="4163040" cy="9720"/>
          </a:xfrm>
          <a:custGeom>
            <a:avLst/>
            <a:gdLst/>
            <a:ahLst/>
            <a:cxnLst/>
            <a:rect l="0" t="0" r="r" b="b"/>
            <a:pathLst>
              <a:path w="11564" h="27">
                <a:moveTo>
                  <a:pt x="0" y="0"/>
                </a:moveTo>
                <a:lnTo>
                  <a:pt x="11564" y="0"/>
                </a:lnTo>
                <a:lnTo>
                  <a:pt x="11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7410240" y="2590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6667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666720" y="3000240"/>
            <a:ext cx="2590920" cy="9720"/>
          </a:xfrm>
          <a:custGeom>
            <a:avLst/>
            <a:gdLst/>
            <a:ahLst/>
            <a:cxnLst/>
            <a:rect l="0" t="0" r="r" b="b"/>
            <a:pathLst>
              <a:path w="7197" h="27">
                <a:moveTo>
                  <a:pt x="0" y="0"/>
                </a:moveTo>
                <a:lnTo>
                  <a:pt x="7197" y="0"/>
                </a:lnTo>
                <a:lnTo>
                  <a:pt x="7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32479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3257280" y="3000240"/>
            <a:ext cx="4163040" cy="9720"/>
          </a:xfrm>
          <a:custGeom>
            <a:avLst/>
            <a:gdLst/>
            <a:ahLst/>
            <a:cxnLst/>
            <a:rect l="0" t="0" r="r" b="b"/>
            <a:pathLst>
              <a:path w="11564" h="27">
                <a:moveTo>
                  <a:pt x="0" y="0"/>
                </a:moveTo>
                <a:lnTo>
                  <a:pt x="11564" y="0"/>
                </a:lnTo>
                <a:lnTo>
                  <a:pt x="11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7410240" y="3009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orma libre 481"/>
          <p:cNvSpPr/>
          <p:nvPr/>
        </p:nvSpPr>
        <p:spPr>
          <a:xfrm>
            <a:off x="6667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666720" y="3419280"/>
            <a:ext cx="2590920" cy="9720"/>
          </a:xfrm>
          <a:custGeom>
            <a:avLst/>
            <a:gdLst/>
            <a:ahLst/>
            <a:cxnLst/>
            <a:rect l="0" t="0" r="r" b="b"/>
            <a:pathLst>
              <a:path w="7197" h="27">
                <a:moveTo>
                  <a:pt x="0" y="0"/>
                </a:moveTo>
                <a:lnTo>
                  <a:pt x="7197" y="0"/>
                </a:lnTo>
                <a:lnTo>
                  <a:pt x="7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32479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3257280" y="3419280"/>
            <a:ext cx="4163040" cy="9720"/>
          </a:xfrm>
          <a:custGeom>
            <a:avLst/>
            <a:gdLst/>
            <a:ahLst/>
            <a:cxnLst/>
            <a:rect l="0" t="0" r="r" b="b"/>
            <a:pathLst>
              <a:path w="11564" h="27">
                <a:moveTo>
                  <a:pt x="0" y="0"/>
                </a:moveTo>
                <a:lnTo>
                  <a:pt x="11564" y="0"/>
                </a:lnTo>
                <a:lnTo>
                  <a:pt x="11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Forma libre 485"/>
          <p:cNvSpPr/>
          <p:nvPr/>
        </p:nvSpPr>
        <p:spPr>
          <a:xfrm>
            <a:off x="7410240" y="34286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Forma libre 486"/>
          <p:cNvSpPr/>
          <p:nvPr/>
        </p:nvSpPr>
        <p:spPr>
          <a:xfrm>
            <a:off x="6667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666720" y="3838320"/>
            <a:ext cx="2590920" cy="10080"/>
          </a:xfrm>
          <a:custGeom>
            <a:avLst/>
            <a:gdLst/>
            <a:ahLst/>
            <a:cxnLst/>
            <a:rect l="0" t="0" r="r" b="b"/>
            <a:pathLst>
              <a:path w="7197" h="28">
                <a:moveTo>
                  <a:pt x="0" y="0"/>
                </a:moveTo>
                <a:lnTo>
                  <a:pt x="7197" y="0"/>
                </a:lnTo>
                <a:lnTo>
                  <a:pt x="71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Forma libre 488"/>
          <p:cNvSpPr/>
          <p:nvPr/>
        </p:nvSpPr>
        <p:spPr>
          <a:xfrm>
            <a:off x="32479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orma libre 489"/>
          <p:cNvSpPr/>
          <p:nvPr/>
        </p:nvSpPr>
        <p:spPr>
          <a:xfrm>
            <a:off x="3257280" y="3838320"/>
            <a:ext cx="4163040" cy="10080"/>
          </a:xfrm>
          <a:custGeom>
            <a:avLst/>
            <a:gdLst/>
            <a:ahLst/>
            <a:cxnLst/>
            <a:rect l="0" t="0" r="r" b="b"/>
            <a:pathLst>
              <a:path w="11564" h="28">
                <a:moveTo>
                  <a:pt x="0" y="0"/>
                </a:moveTo>
                <a:lnTo>
                  <a:pt x="11564" y="0"/>
                </a:lnTo>
                <a:lnTo>
                  <a:pt x="11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7410240" y="3848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6667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Forma libre 492"/>
          <p:cNvSpPr/>
          <p:nvPr/>
        </p:nvSpPr>
        <p:spPr>
          <a:xfrm>
            <a:off x="666720" y="4257360"/>
            <a:ext cx="2590920" cy="10080"/>
          </a:xfrm>
          <a:custGeom>
            <a:avLst/>
            <a:gdLst/>
            <a:ahLst/>
            <a:cxnLst/>
            <a:rect l="0" t="0" r="r" b="b"/>
            <a:pathLst>
              <a:path w="7197" h="28">
                <a:moveTo>
                  <a:pt x="0" y="0"/>
                </a:moveTo>
                <a:lnTo>
                  <a:pt x="7197" y="0"/>
                </a:lnTo>
                <a:lnTo>
                  <a:pt x="71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32479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3257280" y="4257360"/>
            <a:ext cx="4163040" cy="10080"/>
          </a:xfrm>
          <a:custGeom>
            <a:avLst/>
            <a:gdLst/>
            <a:ahLst/>
            <a:cxnLst/>
            <a:rect l="0" t="0" r="r" b="b"/>
            <a:pathLst>
              <a:path w="11564" h="28">
                <a:moveTo>
                  <a:pt x="0" y="0"/>
                </a:moveTo>
                <a:lnTo>
                  <a:pt x="11564" y="0"/>
                </a:lnTo>
                <a:lnTo>
                  <a:pt x="11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7410240" y="4267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666720" y="4676760"/>
            <a:ext cx="2590920" cy="9720"/>
          </a:xfrm>
          <a:custGeom>
            <a:avLst/>
            <a:gdLst/>
            <a:ahLst/>
            <a:cxnLst/>
            <a:rect l="0" t="0" r="r" b="b"/>
            <a:pathLst>
              <a:path w="7197" h="27">
                <a:moveTo>
                  <a:pt x="0" y="0"/>
                </a:moveTo>
                <a:lnTo>
                  <a:pt x="7197" y="0"/>
                </a:lnTo>
                <a:lnTo>
                  <a:pt x="7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3257280" y="4676760"/>
            <a:ext cx="4163040" cy="9720"/>
          </a:xfrm>
          <a:custGeom>
            <a:avLst/>
            <a:gdLst/>
            <a:ahLst/>
            <a:cxnLst/>
            <a:rect l="0" t="0" r="r" b="b"/>
            <a:pathLst>
              <a:path w="11564" h="27">
                <a:moveTo>
                  <a:pt x="0" y="0"/>
                </a:moveTo>
                <a:lnTo>
                  <a:pt x="11564" y="0"/>
                </a:lnTo>
                <a:lnTo>
                  <a:pt x="11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666720" y="48384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666720" y="48384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666720" y="1120320"/>
            <a:ext cx="6597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 la industria no escribe esto desde cero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CuadroTexto 501"/>
          <p:cNvSpPr txBox="1"/>
          <p:nvPr/>
        </p:nvSpPr>
        <p:spPr>
          <a:xfrm>
            <a:off x="1586520" y="1856880"/>
            <a:ext cx="752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Paquete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uadroTexto 502"/>
          <p:cNvSpPr txBox="1"/>
          <p:nvPr/>
        </p:nvSpPr>
        <p:spPr>
          <a:xfrm>
            <a:off x="4927320" y="185688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799920" y="2266560"/>
            <a:ext cx="1546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CohortGenerator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3381840" y="2266560"/>
            <a:ext cx="3261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generar cohortes de forma reproducible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799920" y="2685600"/>
            <a:ext cx="1626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FeatureExtraction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3381840" y="2685600"/>
            <a:ext cx="3435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covariables estandarizadas desde el CDM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799920" y="3104640"/>
            <a:ext cx="1323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CohortMethod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3381840" y="3104640"/>
            <a:ext cx="3723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estudios comparativos con </a:t>
            </a:r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propensity scores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799920" y="3524040"/>
            <a:ext cx="2053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PatientLevelPrediction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3381840" y="3524040"/>
            <a:ext cx="1590179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modelos de riesgo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799920" y="3943080"/>
            <a:ext cx="2328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SelfControlledCaseSeries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3381840" y="3943080"/>
            <a:ext cx="2093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diseños auto-controlados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799920" y="4362120"/>
            <a:ext cx="441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Capr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3381840" y="4362120"/>
            <a:ext cx="3903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deﬁnir cohortes como código, no con la interfaz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905040" y="4992480"/>
            <a:ext cx="10310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Están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validados y auditados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Cuando un regulador pregunta «¿cómo calcularon eso?», la respuesta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905040" y="5335560"/>
            <a:ext cx="449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paquete público con pruebas, no tu script.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Forma libre 5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4049280" y="3063960"/>
            <a:ext cx="41997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Estudios de red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Forma libre 5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71400" y="264312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5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5"/>
                </a:lnTo>
                <a:cubicBezTo>
                  <a:pt x="30137" y="1428"/>
                  <a:pt x="30136" y="1441"/>
                  <a:pt x="30133" y="1454"/>
                </a:cubicBezTo>
                <a:cubicBezTo>
                  <a:pt x="30130" y="1467"/>
                  <a:pt x="30127" y="1479"/>
                  <a:pt x="30122" y="1491"/>
                </a:cubicBezTo>
                <a:cubicBezTo>
                  <a:pt x="30117" y="1503"/>
                  <a:pt x="30111" y="1515"/>
                  <a:pt x="30103" y="1525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3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3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8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5"/>
                </a:cubicBezTo>
                <a:cubicBezTo>
                  <a:pt x="26" y="1515"/>
                  <a:pt x="20" y="1503"/>
                  <a:pt x="15" y="1491"/>
                </a:cubicBezTo>
                <a:cubicBezTo>
                  <a:pt x="10" y="1479"/>
                  <a:pt x="6" y="1467"/>
                  <a:pt x="4" y="1454"/>
                </a:cubicBezTo>
                <a:cubicBezTo>
                  <a:pt x="1" y="1441"/>
                  <a:pt x="0" y="1428"/>
                  <a:pt x="0" y="1415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671400" y="264312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5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5"/>
                </a:lnTo>
                <a:cubicBezTo>
                  <a:pt x="30137" y="1428"/>
                  <a:pt x="30136" y="1441"/>
                  <a:pt x="30133" y="1454"/>
                </a:cubicBezTo>
                <a:cubicBezTo>
                  <a:pt x="30130" y="1467"/>
                  <a:pt x="30127" y="1479"/>
                  <a:pt x="30122" y="1491"/>
                </a:cubicBezTo>
                <a:cubicBezTo>
                  <a:pt x="30117" y="1503"/>
                  <a:pt x="30111" y="1515"/>
                  <a:pt x="30103" y="1525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3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3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8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5"/>
                </a:cubicBezTo>
                <a:cubicBezTo>
                  <a:pt x="26" y="1515"/>
                  <a:pt x="20" y="1503"/>
                  <a:pt x="15" y="1491"/>
                </a:cubicBezTo>
                <a:cubicBezTo>
                  <a:pt x="10" y="1479"/>
                  <a:pt x="6" y="1467"/>
                  <a:pt x="4" y="1454"/>
                </a:cubicBezTo>
                <a:cubicBezTo>
                  <a:pt x="1" y="1441"/>
                  <a:pt x="0" y="1428"/>
                  <a:pt x="0" y="141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666720" y="1510920"/>
            <a:ext cx="3897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código viaja; los datos no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914040" y="3533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866880" y="2822760"/>
            <a:ext cx="8517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un protocolo  →  N sitios lo ejecutan sobre SUS datos  →  resultados agregados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914040" y="3933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1123920" y="3421080"/>
            <a:ext cx="5497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sitio corre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mismo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código sobre su propio CDM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914040" y="4333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1123920" y="3821040"/>
            <a:ext cx="666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sale del sitio son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conteos y estimadores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nunca pacientes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CuadroTexto 542"/>
          <p:cNvSpPr txBox="1"/>
          <p:nvPr/>
        </p:nvSpPr>
        <p:spPr>
          <a:xfrm>
            <a:off x="1123920" y="4221000"/>
            <a:ext cx="6653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Resuelve de golpe el problema legal: los datos no cruzan la frontera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666720" y="4716360"/>
            <a:ext cx="9876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Ejemplo de referencia: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LEGEND-HTN comparó clases de antihipertensivos sobre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4.9 millones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CuadroTexto 544"/>
          <p:cNvSpPr txBox="1"/>
          <p:nvPr/>
        </p:nvSpPr>
        <p:spPr>
          <a:xfrm>
            <a:off x="666720" y="5059080"/>
            <a:ext cx="3553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pacientes en nueve bases de datos.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CuadroTexto 54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944FD7-77D0-9071-EFA2-17033CC91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63" y="1009020"/>
            <a:ext cx="10295550" cy="529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Forma libre 5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CuadroTexto 551"/>
          <p:cNvSpPr txBox="1"/>
          <p:nvPr/>
        </p:nvSpPr>
        <p:spPr>
          <a:xfrm>
            <a:off x="3923280" y="3063960"/>
            <a:ext cx="44568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Reproducibilidad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CuadroTexto 5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CuadroTexto 5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Forma libre 5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671400" y="305244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8"/>
                </a:cubicBezTo>
                <a:cubicBezTo>
                  <a:pt x="30096" y="4448"/>
                  <a:pt x="30088" y="4458"/>
                  <a:pt x="30079" y="4468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500"/>
                  <a:pt x="30026" y="4506"/>
                  <a:pt x="30014" y="4511"/>
                </a:cubicBezTo>
                <a:cubicBezTo>
                  <a:pt x="30002" y="4516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6"/>
                  <a:pt x="122" y="4511"/>
                </a:cubicBezTo>
                <a:cubicBezTo>
                  <a:pt x="110" y="4506"/>
                  <a:pt x="99" y="4500"/>
                  <a:pt x="88" y="4492"/>
                </a:cubicBezTo>
                <a:cubicBezTo>
                  <a:pt x="77" y="4485"/>
                  <a:pt x="67" y="4477"/>
                  <a:pt x="58" y="4468"/>
                </a:cubicBezTo>
                <a:cubicBezTo>
                  <a:pt x="49" y="4458"/>
                  <a:pt x="40" y="4448"/>
                  <a:pt x="33" y="4438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671400" y="305244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8"/>
                </a:cubicBezTo>
                <a:cubicBezTo>
                  <a:pt x="30096" y="4448"/>
                  <a:pt x="30088" y="4458"/>
                  <a:pt x="30079" y="4468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500"/>
                  <a:pt x="30026" y="4506"/>
                  <a:pt x="30014" y="4511"/>
                </a:cubicBezTo>
                <a:cubicBezTo>
                  <a:pt x="30002" y="4516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6"/>
                  <a:pt x="122" y="4511"/>
                </a:cubicBezTo>
                <a:cubicBezTo>
                  <a:pt x="110" y="4506"/>
                  <a:pt x="99" y="4500"/>
                  <a:pt x="88" y="4492"/>
                </a:cubicBezTo>
                <a:cubicBezTo>
                  <a:pt x="77" y="4485"/>
                  <a:pt x="67" y="4477"/>
                  <a:pt x="58" y="4468"/>
                </a:cubicBezTo>
                <a:cubicBezTo>
                  <a:pt x="49" y="4458"/>
                  <a:pt x="40" y="4448"/>
                  <a:pt x="33" y="4438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666720" y="48384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666720" y="48384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914040" y="19047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666720" y="1120320"/>
            <a:ext cx="2640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se versiona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914040" y="2304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CuadroTexto 565"/>
          <p:cNvSpPr txBox="1"/>
          <p:nvPr/>
        </p:nvSpPr>
        <p:spPr>
          <a:xfrm>
            <a:off x="1123920" y="1792080"/>
            <a:ext cx="446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deﬁnición de cohorte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sólo el análisis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914040" y="27050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1123920" y="2192040"/>
            <a:ext cx="5221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versión del vocabulario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la fecha de extracción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1123920" y="2592360"/>
            <a:ext cx="4442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protocolo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escrito antes de ver resultados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866880" y="323244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estudio/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uadroTexto 570"/>
          <p:cNvSpPr txBox="1"/>
          <p:nvPr/>
        </p:nvSpPr>
        <p:spPr>
          <a:xfrm>
            <a:off x="866880" y="349920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protocolo.md          ← escrito y fechado ANTES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866880" y="375624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cohortes/*.sql        ← la definición, versionada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866880" y="402300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analisis/             ← el código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866880" y="428040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└── resultados/           ← la salida, regenerable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905040" y="4992480"/>
            <a:ext cx="9308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Preregistrar el protocolo no es burocracia: es lo que distingue una hipótesis de una explicación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905040" y="5335560"/>
            <a:ext cx="2088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encontrada después.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Forma libre 5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2485440" y="3063960"/>
            <a:ext cx="7412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De la cohorte al proyecto final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Forma libre 5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Forma libre 591"/>
          <p:cNvSpPr/>
          <p:nvPr/>
        </p:nvSpPr>
        <p:spPr>
          <a:xfrm>
            <a:off x="914040" y="20001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666720" y="1215720"/>
            <a:ext cx="3800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Checklist antes de modelar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3019320" y="1904760"/>
            <a:ext cx="2105280" cy="267120"/>
          </a:xfrm>
          <a:custGeom>
            <a:avLst/>
            <a:gdLst/>
            <a:ahLst/>
            <a:cxnLst/>
            <a:rect l="0" t="0" r="r" b="b"/>
            <a:pathLst>
              <a:path w="584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3"/>
                  <a:pt x="5783" y="8"/>
                </a:cubicBezTo>
                <a:cubicBezTo>
                  <a:pt x="5796" y="14"/>
                  <a:pt x="5807" y="21"/>
                  <a:pt x="5817" y="31"/>
                </a:cubicBezTo>
                <a:cubicBezTo>
                  <a:pt x="5827" y="41"/>
                  <a:pt x="5835" y="53"/>
                  <a:pt x="5840" y="65"/>
                </a:cubicBezTo>
                <a:cubicBezTo>
                  <a:pt x="5845" y="78"/>
                  <a:pt x="5848" y="92"/>
                  <a:pt x="5848" y="106"/>
                </a:cubicBezTo>
                <a:lnTo>
                  <a:pt x="5848" y="636"/>
                </a:lnTo>
                <a:cubicBezTo>
                  <a:pt x="5848" y="650"/>
                  <a:pt x="5845" y="664"/>
                  <a:pt x="5840" y="677"/>
                </a:cubicBezTo>
                <a:cubicBezTo>
                  <a:pt x="5835" y="690"/>
                  <a:pt x="5827" y="701"/>
                  <a:pt x="5817" y="711"/>
                </a:cubicBezTo>
                <a:cubicBezTo>
                  <a:pt x="5807" y="721"/>
                  <a:pt x="5796" y="729"/>
                  <a:pt x="5783" y="734"/>
                </a:cubicBezTo>
                <a:cubicBezTo>
                  <a:pt x="5770" y="739"/>
                  <a:pt x="5756" y="742"/>
                  <a:pt x="574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1123920" y="1887480"/>
            <a:ext cx="1893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La cohorte tiene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CuadroTexto 595"/>
          <p:cNvSpPr txBox="1"/>
          <p:nvPr/>
        </p:nvSpPr>
        <p:spPr>
          <a:xfrm>
            <a:off x="3074400" y="192456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cohort_start_date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5352840" y="190476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2" y="8"/>
                </a:cubicBezTo>
                <a:cubicBezTo>
                  <a:pt x="5135" y="14"/>
                  <a:pt x="5146" y="21"/>
                  <a:pt x="5156" y="31"/>
                </a:cubicBezTo>
                <a:cubicBezTo>
                  <a:pt x="5166" y="41"/>
                  <a:pt x="5173" y="53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636"/>
                </a:lnTo>
                <a:cubicBezTo>
                  <a:pt x="5187" y="650"/>
                  <a:pt x="5184" y="664"/>
                  <a:pt x="5179" y="677"/>
                </a:cubicBezTo>
                <a:cubicBezTo>
                  <a:pt x="5173" y="690"/>
                  <a:pt x="5166" y="701"/>
                  <a:pt x="5156" y="711"/>
                </a:cubicBezTo>
                <a:cubicBezTo>
                  <a:pt x="5146" y="721"/>
                  <a:pt x="5135" y="729"/>
                  <a:pt x="5122" y="734"/>
                </a:cubicBezTo>
                <a:cubicBezTo>
                  <a:pt x="5109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5120280" y="188748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5410800" y="192456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cohort_end_date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914040" y="2400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7222680" y="1887480"/>
            <a:ext cx="98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correctas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914040" y="2800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1123920" y="2287440"/>
            <a:ext cx="5637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La tabla de atrición está completa y el orden declarado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91404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1123920" y="2687400"/>
            <a:ext cx="5110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Los concept sets están versionados y justiﬁcados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914040" y="3600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1123920" y="3087720"/>
            <a:ext cx="5920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Hay suﬁcientes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eventos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del desenlace, no sólo pacientes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914040" y="4000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1123920" y="3487680"/>
            <a:ext cx="304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Revisaste immortal time bias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Forma libre 609"/>
          <p:cNvSpPr/>
          <p:nvPr/>
        </p:nvSpPr>
        <p:spPr>
          <a:xfrm>
            <a:off x="914040" y="44002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1123920" y="3887640"/>
            <a:ext cx="4743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Corriste al menos una variante de sensibilidad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CuadroTexto 611"/>
          <p:cNvSpPr txBox="1"/>
          <p:nvPr/>
        </p:nvSpPr>
        <p:spPr>
          <a:xfrm>
            <a:off x="1123920" y="4287600"/>
            <a:ext cx="5645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[ ] Alguien más puede regenerar todo desde el repositorio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Forma libre 6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Forma libre 6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Forma libre 6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869760" y="2535120"/>
            <a:ext cx="10012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factibilidad se evalúa primero.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Tres conteos en dos días evitan tres meses perdidos, y el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1123920" y="2877840"/>
            <a:ext cx="338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importa es el número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eventos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869760" y="3373200"/>
            <a:ext cx="10135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tabla de atrición es parte del resultado.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Sin ella nadie sabe a quién estás describiendo — y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1123920" y="3716280"/>
            <a:ext cx="3202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orden de los criterios se declara.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869760" y="4211640"/>
            <a:ext cx="10526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deﬁnición de cohorte es un artefacto, no un script.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se puede versionar, revisar y ejecutar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1123920" y="4554360"/>
            <a:ext cx="6631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otra base, el estudio de red es posible — y tu tesis es reproducible.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Forma libre 6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Forma libre 6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666720" y="183492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666720" y="2545920"/>
            <a:ext cx="4204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Auditoría de una definición de cohorte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666720" y="3058920"/>
            <a:ext cx="1075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Construir la tabla de atrición y el diagrama de ﬂujo de tu cohorte de la sesión 17; calcular incidencia por año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666720" y="3402000"/>
            <a:ext cx="9986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grupo etario; cazar conceptos huérfanos; comparar tu SQL con el que genera ATLAS; y construir tres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CuadroTexto 637"/>
          <p:cNvSpPr txBox="1"/>
          <p:nvPr/>
        </p:nvSpPr>
        <p:spPr>
          <a:xfrm>
            <a:off x="666720" y="3744720"/>
            <a:ext cx="6779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variantes de la deﬁnición para medir qué tan sensible es tu resultado.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Forma libre 638"/>
          <p:cNvSpPr/>
          <p:nvPr/>
        </p:nvSpPr>
        <p:spPr>
          <a:xfrm>
            <a:off x="1971360" y="4257360"/>
            <a:ext cx="2696040" cy="267120"/>
          </a:xfrm>
          <a:custGeom>
            <a:avLst/>
            <a:gdLst/>
            <a:ahLst/>
            <a:cxnLst/>
            <a:rect l="0" t="0" r="r" b="b"/>
            <a:pathLst>
              <a:path w="748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7383" y="0"/>
                </a:lnTo>
                <a:cubicBezTo>
                  <a:pt x="7397" y="0"/>
                  <a:pt x="7411" y="3"/>
                  <a:pt x="7424" y="8"/>
                </a:cubicBezTo>
                <a:cubicBezTo>
                  <a:pt x="7437" y="14"/>
                  <a:pt x="7448" y="21"/>
                  <a:pt x="7458" y="31"/>
                </a:cubicBezTo>
                <a:cubicBezTo>
                  <a:pt x="7468" y="41"/>
                  <a:pt x="7476" y="53"/>
                  <a:pt x="7481" y="66"/>
                </a:cubicBezTo>
                <a:cubicBezTo>
                  <a:pt x="7486" y="79"/>
                  <a:pt x="7489" y="92"/>
                  <a:pt x="7489" y="106"/>
                </a:cubicBezTo>
                <a:lnTo>
                  <a:pt x="7489" y="636"/>
                </a:lnTo>
                <a:cubicBezTo>
                  <a:pt x="7489" y="650"/>
                  <a:pt x="7486" y="664"/>
                  <a:pt x="7481" y="677"/>
                </a:cubicBezTo>
                <a:cubicBezTo>
                  <a:pt x="7476" y="690"/>
                  <a:pt x="7468" y="701"/>
                  <a:pt x="7458" y="711"/>
                </a:cubicBezTo>
                <a:cubicBezTo>
                  <a:pt x="7448" y="721"/>
                  <a:pt x="7437" y="729"/>
                  <a:pt x="7424" y="734"/>
                </a:cubicBezTo>
                <a:cubicBezTo>
                  <a:pt x="7411" y="740"/>
                  <a:pt x="7397" y="742"/>
                  <a:pt x="7383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666720" y="424008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2032200" y="427752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diagnostico_cohorte.md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orma libre 641"/>
          <p:cNvSpPr/>
          <p:nvPr/>
        </p:nvSpPr>
        <p:spPr>
          <a:xfrm>
            <a:off x="666720" y="4752720"/>
            <a:ext cx="5143680" cy="267120"/>
          </a:xfrm>
          <a:custGeom>
            <a:avLst/>
            <a:gdLst/>
            <a:ahLst/>
            <a:cxnLst/>
            <a:rect l="0" t="0" r="r" b="b"/>
            <a:pathLst>
              <a:path w="1428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4182" y="0"/>
                </a:lnTo>
                <a:cubicBezTo>
                  <a:pt x="14196" y="0"/>
                  <a:pt x="14210" y="3"/>
                  <a:pt x="14223" y="8"/>
                </a:cubicBezTo>
                <a:cubicBezTo>
                  <a:pt x="14236" y="14"/>
                  <a:pt x="14247" y="21"/>
                  <a:pt x="14257" y="31"/>
                </a:cubicBezTo>
                <a:cubicBezTo>
                  <a:pt x="14267" y="41"/>
                  <a:pt x="14275" y="53"/>
                  <a:pt x="14280" y="66"/>
                </a:cubicBezTo>
                <a:cubicBezTo>
                  <a:pt x="14285" y="79"/>
                  <a:pt x="14288" y="92"/>
                  <a:pt x="14288" y="106"/>
                </a:cubicBezTo>
                <a:lnTo>
                  <a:pt x="14288" y="636"/>
                </a:lnTo>
                <a:cubicBezTo>
                  <a:pt x="14288" y="650"/>
                  <a:pt x="14285" y="664"/>
                  <a:pt x="14280" y="677"/>
                </a:cubicBezTo>
                <a:cubicBezTo>
                  <a:pt x="14275" y="690"/>
                  <a:pt x="14267" y="701"/>
                  <a:pt x="14257" y="711"/>
                </a:cubicBezTo>
                <a:cubicBezTo>
                  <a:pt x="14247" y="721"/>
                  <a:pt x="14236" y="729"/>
                  <a:pt x="14223" y="734"/>
                </a:cubicBezTo>
                <a:cubicBezTo>
                  <a:pt x="14210" y="739"/>
                  <a:pt x="14196" y="742"/>
                  <a:pt x="14182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4663080" y="4240080"/>
            <a:ext cx="3426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atrición, ﬁguras y sensibilidad.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CuadroTexto 643"/>
          <p:cNvSpPr txBox="1"/>
          <p:nvPr/>
        </p:nvSpPr>
        <p:spPr>
          <a:xfrm>
            <a:off x="723960" y="4772520"/>
            <a:ext cx="5050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/s18-cohortes-avanzadas-ohdsi/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README.md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orma libre 6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Forma libre 6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Forma libre 6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1769</Words>
  <Application>Microsoft Macintosh PowerPoint</Application>
  <PresentationFormat>Panorámica</PresentationFormat>
  <Paragraphs>237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6</cp:revision>
  <dcterms:modified xsi:type="dcterms:W3CDTF">2026-10-06T14:50:20Z</dcterms:modified>
  <dc:language>es-ES</dc:language>
</cp:coreProperties>
</file>