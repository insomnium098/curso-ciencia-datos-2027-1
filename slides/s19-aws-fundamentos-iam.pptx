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7772400" cy="100584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bre 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Forma libre 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Forma libre 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Forma libre 8"/>
          <p:cNvSpPr/>
          <p:nvPr/>
        </p:nvSpPr>
        <p:spPr>
          <a:xfrm>
            <a:off x="666720" y="2904840"/>
            <a:ext cx="10858680" cy="38520"/>
          </a:xfrm>
          <a:custGeom>
            <a:avLst/>
            <a:gdLst/>
            <a:ahLst/>
            <a:cxnLst/>
            <a:rect l="0" t="0" r="r" b="b"/>
            <a:pathLst>
              <a:path w="30163" h="107">
                <a:moveTo>
                  <a:pt x="0" y="0"/>
                </a:moveTo>
                <a:lnTo>
                  <a:pt x="30163" y="0"/>
                </a:lnTo>
                <a:lnTo>
                  <a:pt x="30163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666720" y="2203920"/>
            <a:ext cx="2050920" cy="56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37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Sesión 19</a:t>
            </a:r>
            <a:endParaRPr lang="es-ES" sz="3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666720" y="3187440"/>
            <a:ext cx="65264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1B7CA8"/>
                </a:solidFill>
                <a:effectLst/>
                <a:uFillTx/>
                <a:latin typeface="HelveticaNeue"/>
                <a:ea typeface="HelveticaNeue"/>
              </a:rPr>
              <a:t>AWS Fundamentos: IAM, Regiones y AWS CLI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666720" y="3868560"/>
            <a:ext cx="35985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Bloque IV — Cómputo en la nube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666720" y="4363920"/>
            <a:ext cx="6235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Dr. Antonio Daniel Martínez Gutiérrez Semestre 2027-1 · 1:30 h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19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orma libre 1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Forma libre 1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Forma libre 1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666720" y="2101680"/>
            <a:ext cx="30488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Objetivos de la sesión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666720" y="2773080"/>
            <a:ext cx="3854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Al terminar esta sesión serás capaz de: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869760" y="3268440"/>
            <a:ext cx="88855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Explicar el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modelo de responsabilidad compartida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qué implica con datos de salud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CuadroTexto 21"/>
          <p:cNvSpPr txBox="1"/>
          <p:nvPr/>
        </p:nvSpPr>
        <p:spPr>
          <a:xfrm>
            <a:off x="869760" y="3668400"/>
            <a:ext cx="72705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Escribir una política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IAM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de privilegio mínimo y probarla antes de usarla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CuadroTexto 22"/>
          <p:cNvSpPr txBox="1"/>
          <p:nvPr/>
        </p:nvSpPr>
        <p:spPr>
          <a:xfrm>
            <a:off x="869760" y="4068720"/>
            <a:ext cx="68886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Operar AWS desde la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CLI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desde Python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sin llaves en el código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CuadroTexto 23"/>
          <p:cNvSpPr txBox="1"/>
          <p:nvPr/>
        </p:nvSpPr>
        <p:spPr>
          <a:xfrm>
            <a:off x="869760" y="4468680"/>
            <a:ext cx="55472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4. Poner una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alarma de costo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antes de encender nada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19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CuadroTexto 2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CuadroTexto 26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orma libre 2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Forma libre 2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Forma libre 2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Forma libre 30"/>
          <p:cNvSpPr/>
          <p:nvPr/>
        </p:nvSpPr>
        <p:spPr>
          <a:xfrm>
            <a:off x="666720" y="5114880"/>
            <a:ext cx="10858680" cy="571680"/>
          </a:xfrm>
          <a:custGeom>
            <a:avLst/>
            <a:gdLst/>
            <a:ahLst/>
            <a:cxnLst/>
            <a:rect l="0" t="0" r="r" b="b"/>
            <a:pathLst>
              <a:path w="30163" h="1588">
                <a:moveTo>
                  <a:pt x="0" y="0"/>
                </a:moveTo>
                <a:lnTo>
                  <a:pt x="30163" y="0"/>
                </a:lnTo>
                <a:lnTo>
                  <a:pt x="3016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Forma libre 31"/>
          <p:cNvSpPr/>
          <p:nvPr/>
        </p:nvSpPr>
        <p:spPr>
          <a:xfrm>
            <a:off x="666720" y="5114880"/>
            <a:ext cx="47880" cy="571680"/>
          </a:xfrm>
          <a:custGeom>
            <a:avLst/>
            <a:gdLst/>
            <a:ahLst/>
            <a:cxnLst/>
            <a:rect l="0" t="0" r="r" b="b"/>
            <a:pathLst>
              <a:path w="133" h="1588">
                <a:moveTo>
                  <a:pt x="0" y="0"/>
                </a:moveTo>
                <a:lnTo>
                  <a:pt x="133" y="0"/>
                </a:lnTo>
                <a:lnTo>
                  <a:pt x="13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CuadroTexto 32"/>
          <p:cNvSpPr txBox="1"/>
          <p:nvPr/>
        </p:nvSpPr>
        <p:spPr>
          <a:xfrm>
            <a:off x="666720" y="1187280"/>
            <a:ext cx="10832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Agenda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CuadroTexto 33"/>
          <p:cNvSpPr txBox="1"/>
          <p:nvPr/>
        </p:nvSpPr>
        <p:spPr>
          <a:xfrm>
            <a:off x="869760" y="1858680"/>
            <a:ext cx="45360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Por qué la nube en investigación biomédica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CuadroTexto 34"/>
          <p:cNvSpPr txBox="1"/>
          <p:nvPr/>
        </p:nvSpPr>
        <p:spPr>
          <a:xfrm>
            <a:off x="869760" y="2259000"/>
            <a:ext cx="30661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Responsabilidad compartida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CuadroTexto 35"/>
          <p:cNvSpPr txBox="1"/>
          <p:nvPr/>
        </p:nvSpPr>
        <p:spPr>
          <a:xfrm>
            <a:off x="869760" y="2658960"/>
            <a:ext cx="32997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Regiones y soberanía de datos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CuadroTexto 36"/>
          <p:cNvSpPr txBox="1"/>
          <p:nvPr/>
        </p:nvSpPr>
        <p:spPr>
          <a:xfrm>
            <a:off x="869760" y="3058920"/>
            <a:ext cx="34574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4. IAM: el servicio que más importa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CuadroTexto 37"/>
          <p:cNvSpPr txBox="1"/>
          <p:nvPr/>
        </p:nvSpPr>
        <p:spPr>
          <a:xfrm>
            <a:off x="869760" y="3458880"/>
            <a:ext cx="32785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5. Privilegio mínimo en la práctica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CuadroTexto 38"/>
          <p:cNvSpPr txBox="1"/>
          <p:nvPr/>
        </p:nvSpPr>
        <p:spPr>
          <a:xfrm>
            <a:off x="869760" y="3859200"/>
            <a:ext cx="2164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6. La CLI y los perﬁles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CuadroTexto 39"/>
          <p:cNvSpPr txBox="1"/>
          <p:nvPr/>
        </p:nvSpPr>
        <p:spPr>
          <a:xfrm>
            <a:off x="869760" y="4259160"/>
            <a:ext cx="36680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7. Costos: lo que de verdad se cobra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CuadroTexto 40"/>
          <p:cNvSpPr txBox="1"/>
          <p:nvPr/>
        </p:nvSpPr>
        <p:spPr>
          <a:xfrm>
            <a:off x="869760" y="4659120"/>
            <a:ext cx="26478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8. Cuándo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usar la nube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CuadroTexto 41"/>
          <p:cNvSpPr txBox="1"/>
          <p:nvPr/>
        </p:nvSpPr>
        <p:spPr>
          <a:xfrm>
            <a:off x="905040" y="5268600"/>
            <a:ext cx="70765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Laboratorio: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dejar tu cuenta segura y con alarmas antes de tocar nada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CuadroTexto 4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19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CuadroTexto 4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CuadroTexto 44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orma libre 4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Forma libre 4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Forma libre 4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4024080" y="3063960"/>
            <a:ext cx="42400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1. Por qué la nube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19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CuadroTexto 51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orma libre 5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Forma libre 5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Forma libre 5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Forma libre 55"/>
          <p:cNvSpPr/>
          <p:nvPr/>
        </p:nvSpPr>
        <p:spPr>
          <a:xfrm>
            <a:off x="671400" y="1823760"/>
            <a:ext cx="10849320" cy="848160"/>
          </a:xfrm>
          <a:custGeom>
            <a:avLst/>
            <a:gdLst/>
            <a:ahLst/>
            <a:cxnLst/>
            <a:rect l="0" t="0" r="r" b="b"/>
            <a:pathLst>
              <a:path w="30137" h="2356">
                <a:moveTo>
                  <a:pt x="0" y="215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158"/>
                </a:lnTo>
                <a:cubicBezTo>
                  <a:pt x="30137" y="2171"/>
                  <a:pt x="30136" y="2184"/>
                  <a:pt x="30133" y="2196"/>
                </a:cubicBezTo>
                <a:cubicBezTo>
                  <a:pt x="30130" y="2209"/>
                  <a:pt x="30127" y="2222"/>
                  <a:pt x="30122" y="2234"/>
                </a:cubicBezTo>
                <a:cubicBezTo>
                  <a:pt x="30117" y="2246"/>
                  <a:pt x="30111" y="2257"/>
                  <a:pt x="30103" y="2268"/>
                </a:cubicBezTo>
                <a:cubicBezTo>
                  <a:pt x="30096" y="2279"/>
                  <a:pt x="30088" y="2289"/>
                  <a:pt x="30079" y="2298"/>
                </a:cubicBezTo>
                <a:cubicBezTo>
                  <a:pt x="30070" y="2307"/>
                  <a:pt x="30059" y="2315"/>
                  <a:pt x="30049" y="2323"/>
                </a:cubicBezTo>
                <a:cubicBezTo>
                  <a:pt x="30038" y="2330"/>
                  <a:pt x="30026" y="2336"/>
                  <a:pt x="30014" y="2341"/>
                </a:cubicBezTo>
                <a:cubicBezTo>
                  <a:pt x="30002" y="2346"/>
                  <a:pt x="29990" y="2350"/>
                  <a:pt x="29977" y="2352"/>
                </a:cubicBezTo>
                <a:cubicBezTo>
                  <a:pt x="29964" y="2355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5"/>
                  <a:pt x="160" y="2352"/>
                </a:cubicBezTo>
                <a:cubicBezTo>
                  <a:pt x="147" y="2350"/>
                  <a:pt x="134" y="2346"/>
                  <a:pt x="122" y="2341"/>
                </a:cubicBezTo>
                <a:cubicBezTo>
                  <a:pt x="110" y="2336"/>
                  <a:pt x="99" y="2330"/>
                  <a:pt x="88" y="2323"/>
                </a:cubicBezTo>
                <a:cubicBezTo>
                  <a:pt x="77" y="2315"/>
                  <a:pt x="67" y="2307"/>
                  <a:pt x="58" y="2298"/>
                </a:cubicBezTo>
                <a:cubicBezTo>
                  <a:pt x="49" y="2289"/>
                  <a:pt x="40" y="2279"/>
                  <a:pt x="33" y="2268"/>
                </a:cubicBezTo>
                <a:cubicBezTo>
                  <a:pt x="26" y="2257"/>
                  <a:pt x="20" y="2246"/>
                  <a:pt x="15" y="2234"/>
                </a:cubicBezTo>
                <a:cubicBezTo>
                  <a:pt x="10" y="2222"/>
                  <a:pt x="6" y="2209"/>
                  <a:pt x="4" y="2196"/>
                </a:cubicBezTo>
                <a:cubicBezTo>
                  <a:pt x="1" y="2184"/>
                  <a:pt x="0" y="2171"/>
                  <a:pt x="0" y="2158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Forma libre 56"/>
          <p:cNvSpPr/>
          <p:nvPr/>
        </p:nvSpPr>
        <p:spPr>
          <a:xfrm>
            <a:off x="671400" y="1823760"/>
            <a:ext cx="10849320" cy="848160"/>
          </a:xfrm>
          <a:custGeom>
            <a:avLst/>
            <a:gdLst/>
            <a:ahLst/>
            <a:cxnLst/>
            <a:rect l="0" t="0" r="r" b="b"/>
            <a:pathLst>
              <a:path w="30137" h="2356">
                <a:moveTo>
                  <a:pt x="0" y="215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158"/>
                </a:lnTo>
                <a:cubicBezTo>
                  <a:pt x="30137" y="2171"/>
                  <a:pt x="30136" y="2184"/>
                  <a:pt x="30133" y="2196"/>
                </a:cubicBezTo>
                <a:cubicBezTo>
                  <a:pt x="30130" y="2209"/>
                  <a:pt x="30127" y="2222"/>
                  <a:pt x="30122" y="2234"/>
                </a:cubicBezTo>
                <a:cubicBezTo>
                  <a:pt x="30117" y="2246"/>
                  <a:pt x="30111" y="2257"/>
                  <a:pt x="30103" y="2268"/>
                </a:cubicBezTo>
                <a:cubicBezTo>
                  <a:pt x="30096" y="2279"/>
                  <a:pt x="30088" y="2289"/>
                  <a:pt x="30079" y="2298"/>
                </a:cubicBezTo>
                <a:cubicBezTo>
                  <a:pt x="30070" y="2307"/>
                  <a:pt x="30059" y="2315"/>
                  <a:pt x="30049" y="2323"/>
                </a:cubicBezTo>
                <a:cubicBezTo>
                  <a:pt x="30038" y="2330"/>
                  <a:pt x="30026" y="2336"/>
                  <a:pt x="30014" y="2341"/>
                </a:cubicBezTo>
                <a:cubicBezTo>
                  <a:pt x="30002" y="2346"/>
                  <a:pt x="29990" y="2350"/>
                  <a:pt x="29977" y="2352"/>
                </a:cubicBezTo>
                <a:cubicBezTo>
                  <a:pt x="29964" y="2355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5"/>
                  <a:pt x="160" y="2352"/>
                </a:cubicBezTo>
                <a:cubicBezTo>
                  <a:pt x="147" y="2350"/>
                  <a:pt x="134" y="2346"/>
                  <a:pt x="122" y="2341"/>
                </a:cubicBezTo>
                <a:cubicBezTo>
                  <a:pt x="110" y="2336"/>
                  <a:pt x="99" y="2330"/>
                  <a:pt x="88" y="2323"/>
                </a:cubicBezTo>
                <a:cubicBezTo>
                  <a:pt x="77" y="2315"/>
                  <a:pt x="67" y="2307"/>
                  <a:pt x="58" y="2298"/>
                </a:cubicBezTo>
                <a:cubicBezTo>
                  <a:pt x="49" y="2289"/>
                  <a:pt x="40" y="2279"/>
                  <a:pt x="33" y="2268"/>
                </a:cubicBezTo>
                <a:cubicBezTo>
                  <a:pt x="26" y="2257"/>
                  <a:pt x="20" y="2246"/>
                  <a:pt x="15" y="2234"/>
                </a:cubicBezTo>
                <a:cubicBezTo>
                  <a:pt x="10" y="2222"/>
                  <a:pt x="6" y="2209"/>
                  <a:pt x="4" y="2196"/>
                </a:cubicBezTo>
                <a:cubicBezTo>
                  <a:pt x="1" y="2184"/>
                  <a:pt x="0" y="2171"/>
                  <a:pt x="0" y="215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Forma libre 57"/>
          <p:cNvSpPr/>
          <p:nvPr/>
        </p:nvSpPr>
        <p:spPr>
          <a:xfrm>
            <a:off x="690480" y="4619520"/>
            <a:ext cx="10834920" cy="1067040"/>
          </a:xfrm>
          <a:custGeom>
            <a:avLst/>
            <a:gdLst/>
            <a:ahLst/>
            <a:cxnLst/>
            <a:rect l="0" t="0" r="r" b="b"/>
            <a:pathLst>
              <a:path w="30097" h="2964">
                <a:moveTo>
                  <a:pt x="0" y="2964"/>
                </a:moveTo>
                <a:lnTo>
                  <a:pt x="0" y="0"/>
                </a:lnTo>
                <a:lnTo>
                  <a:pt x="29938" y="0"/>
                </a:lnTo>
                <a:cubicBezTo>
                  <a:pt x="29949" y="0"/>
                  <a:pt x="29959" y="1"/>
                  <a:pt x="29969" y="3"/>
                </a:cubicBezTo>
                <a:cubicBezTo>
                  <a:pt x="29980" y="5"/>
                  <a:pt x="29989" y="8"/>
                  <a:pt x="29999" y="12"/>
                </a:cubicBezTo>
                <a:cubicBezTo>
                  <a:pt x="30009" y="16"/>
                  <a:pt x="30018" y="21"/>
                  <a:pt x="30027" y="27"/>
                </a:cubicBezTo>
                <a:cubicBezTo>
                  <a:pt x="30035" y="32"/>
                  <a:pt x="30043" y="39"/>
                  <a:pt x="30051" y="46"/>
                </a:cubicBezTo>
                <a:cubicBezTo>
                  <a:pt x="30058" y="54"/>
                  <a:pt x="30065" y="62"/>
                  <a:pt x="30070" y="70"/>
                </a:cubicBezTo>
                <a:cubicBezTo>
                  <a:pt x="30076" y="79"/>
                  <a:pt x="30081" y="88"/>
                  <a:pt x="30085" y="98"/>
                </a:cubicBezTo>
                <a:cubicBezTo>
                  <a:pt x="30089" y="107"/>
                  <a:pt x="30092" y="117"/>
                  <a:pt x="30094" y="128"/>
                </a:cubicBezTo>
                <a:cubicBezTo>
                  <a:pt x="30096" y="138"/>
                  <a:pt x="30097" y="148"/>
                  <a:pt x="30097" y="159"/>
                </a:cubicBezTo>
                <a:lnTo>
                  <a:pt x="30097" y="2805"/>
                </a:lnTo>
                <a:cubicBezTo>
                  <a:pt x="30097" y="2816"/>
                  <a:pt x="30096" y="2826"/>
                  <a:pt x="30094" y="2836"/>
                </a:cubicBezTo>
                <a:cubicBezTo>
                  <a:pt x="30092" y="2847"/>
                  <a:pt x="30089" y="2856"/>
                  <a:pt x="30085" y="2866"/>
                </a:cubicBezTo>
                <a:cubicBezTo>
                  <a:pt x="30081" y="2876"/>
                  <a:pt x="30076" y="2885"/>
                  <a:pt x="30070" y="2894"/>
                </a:cubicBezTo>
                <a:cubicBezTo>
                  <a:pt x="30065" y="2902"/>
                  <a:pt x="30058" y="2910"/>
                  <a:pt x="30051" y="2918"/>
                </a:cubicBezTo>
                <a:cubicBezTo>
                  <a:pt x="30043" y="2925"/>
                  <a:pt x="30035" y="2932"/>
                  <a:pt x="30027" y="2937"/>
                </a:cubicBezTo>
                <a:cubicBezTo>
                  <a:pt x="30018" y="2943"/>
                  <a:pt x="30009" y="2948"/>
                  <a:pt x="29999" y="2952"/>
                </a:cubicBezTo>
                <a:cubicBezTo>
                  <a:pt x="29989" y="2956"/>
                  <a:pt x="29980" y="2959"/>
                  <a:pt x="29969" y="2961"/>
                </a:cubicBezTo>
                <a:cubicBezTo>
                  <a:pt x="29959" y="2963"/>
                  <a:pt x="29949" y="2964"/>
                  <a:pt x="29938" y="2964"/>
                </a:cubicBezTo>
                <a:lnTo>
                  <a:pt x="0" y="2964"/>
                </a:lnTo>
                <a:close/>
              </a:path>
            </a:pathLst>
          </a:custGeom>
          <a:solidFill>
            <a:srgbClr val="FFF6E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Forma libre 58"/>
          <p:cNvSpPr/>
          <p:nvPr/>
        </p:nvSpPr>
        <p:spPr>
          <a:xfrm>
            <a:off x="666720" y="4619520"/>
            <a:ext cx="47880" cy="1067040"/>
          </a:xfrm>
          <a:custGeom>
            <a:avLst/>
            <a:gdLst/>
            <a:ahLst/>
            <a:cxnLst/>
            <a:rect l="0" t="0" r="r" b="b"/>
            <a:pathLst>
              <a:path w="133" h="2964">
                <a:moveTo>
                  <a:pt x="0" y="0"/>
                </a:moveTo>
                <a:lnTo>
                  <a:pt x="133" y="0"/>
                </a:lnTo>
                <a:lnTo>
                  <a:pt x="133" y="2964"/>
                </a:lnTo>
                <a:lnTo>
                  <a:pt x="0" y="2964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CuadroTexto 59"/>
          <p:cNvSpPr txBox="1"/>
          <p:nvPr/>
        </p:nvSpPr>
        <p:spPr>
          <a:xfrm>
            <a:off x="666720" y="1187280"/>
            <a:ext cx="50940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Lo que cambia es la forma del gasto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CuadroTexto 60"/>
          <p:cNvSpPr txBox="1"/>
          <p:nvPr/>
        </p:nvSpPr>
        <p:spPr>
          <a:xfrm>
            <a:off x="866880" y="2003760"/>
            <a:ext cx="86263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Servidor propio    inversión grande, una vez, y luego ocioso el 90 % del tiempo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CuadroTexto 61"/>
          <p:cNvSpPr txBox="1"/>
          <p:nvPr/>
        </p:nvSpPr>
        <p:spPr>
          <a:xfrm>
            <a:off x="866880" y="2270520"/>
            <a:ext cx="87354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Nube               pagas lo que enciendes, por el tiempo que lo tengas encendido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Forma libre 62"/>
          <p:cNvSpPr/>
          <p:nvPr/>
        </p:nvSpPr>
        <p:spPr>
          <a:xfrm>
            <a:off x="914040" y="347652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60"/>
                  <a:pt x="192" y="172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2"/>
                  <a:pt x="14" y="160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CuadroTexto 63"/>
          <p:cNvSpPr txBox="1"/>
          <p:nvPr/>
        </p:nvSpPr>
        <p:spPr>
          <a:xfrm>
            <a:off x="666720" y="2868480"/>
            <a:ext cx="60606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Para investigación eso importa porque la carga es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 ráfagas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Forma libre 64"/>
          <p:cNvSpPr/>
          <p:nvPr/>
        </p:nvSpPr>
        <p:spPr>
          <a:xfrm>
            <a:off x="914040" y="38764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CuadroTexto 65"/>
          <p:cNvSpPr txBox="1"/>
          <p:nvPr/>
        </p:nvSpPr>
        <p:spPr>
          <a:xfrm>
            <a:off x="1123920" y="3363840"/>
            <a:ext cx="68227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200 núcleos durante 3 horas para un análisis, y nada el resto del mes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Forma libre 66"/>
          <p:cNvSpPr/>
          <p:nvPr/>
        </p:nvSpPr>
        <p:spPr>
          <a:xfrm>
            <a:off x="914040" y="42764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9" y="67"/>
                </a:cubicBezTo>
                <a:cubicBezTo>
                  <a:pt x="14" y="54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CuadroTexto 67"/>
          <p:cNvSpPr txBox="1"/>
          <p:nvPr/>
        </p:nvSpPr>
        <p:spPr>
          <a:xfrm>
            <a:off x="1123920" y="3763800"/>
            <a:ext cx="74448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 entorno idéntico para los cinco del laboratorio, no cinco laptops distintas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CuadroTexto 68"/>
          <p:cNvSpPr txBox="1"/>
          <p:nvPr/>
        </p:nvSpPr>
        <p:spPr>
          <a:xfrm>
            <a:off x="1123920" y="4163760"/>
            <a:ext cx="52012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los datos en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un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lugar, con bitácora de quién los tocó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CuadroTexto 69"/>
          <p:cNvSpPr txBox="1"/>
          <p:nvPr/>
        </p:nvSpPr>
        <p:spPr>
          <a:xfrm>
            <a:off x="885960" y="4773600"/>
            <a:ext cx="10057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Es también el modelo de trabajo real: en Pﬁzer, Holmusk o Helix nadie tiene el pipeline corriendo en su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CuadroTexto 70"/>
          <p:cNvSpPr txBox="1"/>
          <p:nvPr/>
        </p:nvSpPr>
        <p:spPr>
          <a:xfrm>
            <a:off x="885960" y="5116320"/>
            <a:ext cx="42354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laptop. Saber moverte aquí no es opcional.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CuadroTexto 7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19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CuadroTexto 7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CuadroTexto 73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Forma libre 7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Forma libre 7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Forma libre 7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Forma libre 77"/>
          <p:cNvSpPr/>
          <p:nvPr/>
        </p:nvSpPr>
        <p:spPr>
          <a:xfrm>
            <a:off x="676080" y="2390760"/>
            <a:ext cx="2562480" cy="409680"/>
          </a:xfrm>
          <a:custGeom>
            <a:avLst/>
            <a:gdLst/>
            <a:ahLst/>
            <a:cxnLst/>
            <a:rect l="0" t="0" r="r" b="b"/>
            <a:pathLst>
              <a:path w="7118" h="1138">
                <a:moveTo>
                  <a:pt x="0" y="0"/>
                </a:moveTo>
                <a:lnTo>
                  <a:pt x="7118" y="0"/>
                </a:lnTo>
                <a:lnTo>
                  <a:pt x="711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Forma libre 78"/>
          <p:cNvSpPr/>
          <p:nvPr/>
        </p:nvSpPr>
        <p:spPr>
          <a:xfrm>
            <a:off x="3238200" y="2390760"/>
            <a:ext cx="4458240" cy="409680"/>
          </a:xfrm>
          <a:custGeom>
            <a:avLst/>
            <a:gdLst/>
            <a:ahLst/>
            <a:cxnLst/>
            <a:rect l="0" t="0" r="r" b="b"/>
            <a:pathLst>
              <a:path w="12384" h="1138">
                <a:moveTo>
                  <a:pt x="0" y="0"/>
                </a:moveTo>
                <a:lnTo>
                  <a:pt x="12384" y="0"/>
                </a:lnTo>
                <a:lnTo>
                  <a:pt x="12384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Forma libre 79"/>
          <p:cNvSpPr/>
          <p:nvPr/>
        </p:nvSpPr>
        <p:spPr>
          <a:xfrm>
            <a:off x="676080" y="2390760"/>
            <a:ext cx="2562480" cy="409680"/>
          </a:xfrm>
          <a:custGeom>
            <a:avLst/>
            <a:gdLst/>
            <a:ahLst/>
            <a:cxnLst/>
            <a:rect l="0" t="0" r="r" b="b"/>
            <a:pathLst>
              <a:path w="7118" h="1138">
                <a:moveTo>
                  <a:pt x="0" y="0"/>
                </a:moveTo>
                <a:lnTo>
                  <a:pt x="7118" y="0"/>
                </a:lnTo>
                <a:lnTo>
                  <a:pt x="711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Forma libre 80"/>
          <p:cNvSpPr/>
          <p:nvPr/>
        </p:nvSpPr>
        <p:spPr>
          <a:xfrm>
            <a:off x="3238200" y="2390760"/>
            <a:ext cx="4458240" cy="409680"/>
          </a:xfrm>
          <a:custGeom>
            <a:avLst/>
            <a:gdLst/>
            <a:ahLst/>
            <a:cxnLst/>
            <a:rect l="0" t="0" r="r" b="b"/>
            <a:pathLst>
              <a:path w="12384" h="1138">
                <a:moveTo>
                  <a:pt x="0" y="0"/>
                </a:moveTo>
                <a:lnTo>
                  <a:pt x="12384" y="0"/>
                </a:lnTo>
                <a:lnTo>
                  <a:pt x="12384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Forma libre 81"/>
          <p:cNvSpPr/>
          <p:nvPr/>
        </p:nvSpPr>
        <p:spPr>
          <a:xfrm>
            <a:off x="676080" y="2800080"/>
            <a:ext cx="2562480" cy="410040"/>
          </a:xfrm>
          <a:custGeom>
            <a:avLst/>
            <a:gdLst/>
            <a:ahLst/>
            <a:cxnLst/>
            <a:rect l="0" t="0" r="r" b="b"/>
            <a:pathLst>
              <a:path w="7118" h="1139">
                <a:moveTo>
                  <a:pt x="0" y="0"/>
                </a:moveTo>
                <a:lnTo>
                  <a:pt x="7118" y="0"/>
                </a:lnTo>
                <a:lnTo>
                  <a:pt x="711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Forma libre 82"/>
          <p:cNvSpPr/>
          <p:nvPr/>
        </p:nvSpPr>
        <p:spPr>
          <a:xfrm>
            <a:off x="3238200" y="2800080"/>
            <a:ext cx="4458240" cy="410040"/>
          </a:xfrm>
          <a:custGeom>
            <a:avLst/>
            <a:gdLst/>
            <a:ahLst/>
            <a:cxnLst/>
            <a:rect l="0" t="0" r="r" b="b"/>
            <a:pathLst>
              <a:path w="12384" h="1139">
                <a:moveTo>
                  <a:pt x="0" y="0"/>
                </a:moveTo>
                <a:lnTo>
                  <a:pt x="12384" y="0"/>
                </a:lnTo>
                <a:lnTo>
                  <a:pt x="12384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Forma libre 83"/>
          <p:cNvSpPr/>
          <p:nvPr/>
        </p:nvSpPr>
        <p:spPr>
          <a:xfrm>
            <a:off x="676080" y="3209760"/>
            <a:ext cx="2562480" cy="419400"/>
          </a:xfrm>
          <a:custGeom>
            <a:avLst/>
            <a:gdLst/>
            <a:ahLst/>
            <a:cxnLst/>
            <a:rect l="0" t="0" r="r" b="b"/>
            <a:pathLst>
              <a:path w="7118" h="1165">
                <a:moveTo>
                  <a:pt x="0" y="0"/>
                </a:moveTo>
                <a:lnTo>
                  <a:pt x="7118" y="0"/>
                </a:lnTo>
                <a:lnTo>
                  <a:pt x="711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Forma libre 84"/>
          <p:cNvSpPr/>
          <p:nvPr/>
        </p:nvSpPr>
        <p:spPr>
          <a:xfrm>
            <a:off x="3238200" y="3209760"/>
            <a:ext cx="4458240" cy="419400"/>
          </a:xfrm>
          <a:custGeom>
            <a:avLst/>
            <a:gdLst/>
            <a:ahLst/>
            <a:cxnLst/>
            <a:rect l="0" t="0" r="r" b="b"/>
            <a:pathLst>
              <a:path w="12384" h="1165">
                <a:moveTo>
                  <a:pt x="0" y="0"/>
                </a:moveTo>
                <a:lnTo>
                  <a:pt x="12384" y="0"/>
                </a:lnTo>
                <a:lnTo>
                  <a:pt x="1238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Forma libre 85"/>
          <p:cNvSpPr/>
          <p:nvPr/>
        </p:nvSpPr>
        <p:spPr>
          <a:xfrm>
            <a:off x="676080" y="3628800"/>
            <a:ext cx="2562480" cy="419400"/>
          </a:xfrm>
          <a:custGeom>
            <a:avLst/>
            <a:gdLst/>
            <a:ahLst/>
            <a:cxnLst/>
            <a:rect l="0" t="0" r="r" b="b"/>
            <a:pathLst>
              <a:path w="7118" h="1165">
                <a:moveTo>
                  <a:pt x="0" y="0"/>
                </a:moveTo>
                <a:lnTo>
                  <a:pt x="7118" y="0"/>
                </a:lnTo>
                <a:lnTo>
                  <a:pt x="711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Forma libre 86"/>
          <p:cNvSpPr/>
          <p:nvPr/>
        </p:nvSpPr>
        <p:spPr>
          <a:xfrm>
            <a:off x="3238200" y="3628800"/>
            <a:ext cx="4458240" cy="419400"/>
          </a:xfrm>
          <a:custGeom>
            <a:avLst/>
            <a:gdLst/>
            <a:ahLst/>
            <a:cxnLst/>
            <a:rect l="0" t="0" r="r" b="b"/>
            <a:pathLst>
              <a:path w="12384" h="1165">
                <a:moveTo>
                  <a:pt x="0" y="0"/>
                </a:moveTo>
                <a:lnTo>
                  <a:pt x="12384" y="0"/>
                </a:lnTo>
                <a:lnTo>
                  <a:pt x="1238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Forma libre 87"/>
          <p:cNvSpPr/>
          <p:nvPr/>
        </p:nvSpPr>
        <p:spPr>
          <a:xfrm>
            <a:off x="666720" y="23907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Forma libre 88"/>
          <p:cNvSpPr/>
          <p:nvPr/>
        </p:nvSpPr>
        <p:spPr>
          <a:xfrm>
            <a:off x="666720" y="2390760"/>
            <a:ext cx="2571840" cy="9720"/>
          </a:xfrm>
          <a:custGeom>
            <a:avLst/>
            <a:gdLst/>
            <a:ahLst/>
            <a:cxnLst/>
            <a:rect l="0" t="0" r="r" b="b"/>
            <a:pathLst>
              <a:path w="7144" h="27">
                <a:moveTo>
                  <a:pt x="0" y="0"/>
                </a:moveTo>
                <a:lnTo>
                  <a:pt x="7144" y="0"/>
                </a:lnTo>
                <a:lnTo>
                  <a:pt x="7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Forma libre 89"/>
          <p:cNvSpPr/>
          <p:nvPr/>
        </p:nvSpPr>
        <p:spPr>
          <a:xfrm>
            <a:off x="3228840" y="23907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Forma libre 90"/>
          <p:cNvSpPr/>
          <p:nvPr/>
        </p:nvSpPr>
        <p:spPr>
          <a:xfrm>
            <a:off x="3238200" y="2390760"/>
            <a:ext cx="4458240" cy="9720"/>
          </a:xfrm>
          <a:custGeom>
            <a:avLst/>
            <a:gdLst/>
            <a:ahLst/>
            <a:cxnLst/>
            <a:rect l="0" t="0" r="r" b="b"/>
            <a:pathLst>
              <a:path w="12384" h="27">
                <a:moveTo>
                  <a:pt x="0" y="0"/>
                </a:moveTo>
                <a:lnTo>
                  <a:pt x="12384" y="0"/>
                </a:lnTo>
                <a:lnTo>
                  <a:pt x="123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Forma libre 91"/>
          <p:cNvSpPr/>
          <p:nvPr/>
        </p:nvSpPr>
        <p:spPr>
          <a:xfrm>
            <a:off x="7686360" y="23907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Forma libre 92"/>
          <p:cNvSpPr/>
          <p:nvPr/>
        </p:nvSpPr>
        <p:spPr>
          <a:xfrm>
            <a:off x="666720" y="2800080"/>
            <a:ext cx="2571840" cy="10080"/>
          </a:xfrm>
          <a:custGeom>
            <a:avLst/>
            <a:gdLst/>
            <a:ahLst/>
            <a:cxnLst/>
            <a:rect l="0" t="0" r="r" b="b"/>
            <a:pathLst>
              <a:path w="7144" h="28">
                <a:moveTo>
                  <a:pt x="0" y="0"/>
                </a:moveTo>
                <a:lnTo>
                  <a:pt x="7144" y="0"/>
                </a:lnTo>
                <a:lnTo>
                  <a:pt x="71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Forma libre 93"/>
          <p:cNvSpPr/>
          <p:nvPr/>
        </p:nvSpPr>
        <p:spPr>
          <a:xfrm>
            <a:off x="3238200" y="2800080"/>
            <a:ext cx="4458240" cy="10080"/>
          </a:xfrm>
          <a:custGeom>
            <a:avLst/>
            <a:gdLst/>
            <a:ahLst/>
            <a:cxnLst/>
            <a:rect l="0" t="0" r="r" b="b"/>
            <a:pathLst>
              <a:path w="12384" h="28">
                <a:moveTo>
                  <a:pt x="0" y="0"/>
                </a:moveTo>
                <a:lnTo>
                  <a:pt x="12384" y="0"/>
                </a:lnTo>
                <a:lnTo>
                  <a:pt x="1238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Forma libre 94"/>
          <p:cNvSpPr/>
          <p:nvPr/>
        </p:nvSpPr>
        <p:spPr>
          <a:xfrm>
            <a:off x="666720" y="280980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Forma libre 95"/>
          <p:cNvSpPr/>
          <p:nvPr/>
        </p:nvSpPr>
        <p:spPr>
          <a:xfrm>
            <a:off x="3228840" y="280980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Forma libre 96"/>
          <p:cNvSpPr/>
          <p:nvPr/>
        </p:nvSpPr>
        <p:spPr>
          <a:xfrm>
            <a:off x="7686360" y="2809800"/>
            <a:ext cx="10080" cy="409680"/>
          </a:xfrm>
          <a:custGeom>
            <a:avLst/>
            <a:gdLst/>
            <a:ahLst/>
            <a:cxnLst/>
            <a:rect l="0" t="0" r="r" b="b"/>
            <a:pathLst>
              <a:path w="28" h="1138">
                <a:moveTo>
                  <a:pt x="0" y="0"/>
                </a:moveTo>
                <a:lnTo>
                  <a:pt x="28" y="0"/>
                </a:lnTo>
                <a:lnTo>
                  <a:pt x="2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Forma libre 97"/>
          <p:cNvSpPr/>
          <p:nvPr/>
        </p:nvSpPr>
        <p:spPr>
          <a:xfrm>
            <a:off x="666720" y="321912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Forma libre 98"/>
          <p:cNvSpPr/>
          <p:nvPr/>
        </p:nvSpPr>
        <p:spPr>
          <a:xfrm>
            <a:off x="666720" y="3209760"/>
            <a:ext cx="2571840" cy="9720"/>
          </a:xfrm>
          <a:custGeom>
            <a:avLst/>
            <a:gdLst/>
            <a:ahLst/>
            <a:cxnLst/>
            <a:rect l="0" t="0" r="r" b="b"/>
            <a:pathLst>
              <a:path w="7144" h="27">
                <a:moveTo>
                  <a:pt x="0" y="0"/>
                </a:moveTo>
                <a:lnTo>
                  <a:pt x="7144" y="0"/>
                </a:lnTo>
                <a:lnTo>
                  <a:pt x="7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Forma libre 99"/>
          <p:cNvSpPr/>
          <p:nvPr/>
        </p:nvSpPr>
        <p:spPr>
          <a:xfrm>
            <a:off x="3228840" y="321912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Forma libre 100"/>
          <p:cNvSpPr/>
          <p:nvPr/>
        </p:nvSpPr>
        <p:spPr>
          <a:xfrm>
            <a:off x="3238200" y="3209760"/>
            <a:ext cx="4458240" cy="9720"/>
          </a:xfrm>
          <a:custGeom>
            <a:avLst/>
            <a:gdLst/>
            <a:ahLst/>
            <a:cxnLst/>
            <a:rect l="0" t="0" r="r" b="b"/>
            <a:pathLst>
              <a:path w="12384" h="27">
                <a:moveTo>
                  <a:pt x="0" y="0"/>
                </a:moveTo>
                <a:lnTo>
                  <a:pt x="12384" y="0"/>
                </a:lnTo>
                <a:lnTo>
                  <a:pt x="123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Forma libre 101"/>
          <p:cNvSpPr/>
          <p:nvPr/>
        </p:nvSpPr>
        <p:spPr>
          <a:xfrm>
            <a:off x="7686360" y="321912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Forma libre 102"/>
          <p:cNvSpPr/>
          <p:nvPr/>
        </p:nvSpPr>
        <p:spPr>
          <a:xfrm>
            <a:off x="666720" y="36385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Forma libre 103"/>
          <p:cNvSpPr/>
          <p:nvPr/>
        </p:nvSpPr>
        <p:spPr>
          <a:xfrm>
            <a:off x="666720" y="3628800"/>
            <a:ext cx="2571840" cy="10080"/>
          </a:xfrm>
          <a:custGeom>
            <a:avLst/>
            <a:gdLst/>
            <a:ahLst/>
            <a:cxnLst/>
            <a:rect l="0" t="0" r="r" b="b"/>
            <a:pathLst>
              <a:path w="7144" h="28">
                <a:moveTo>
                  <a:pt x="0" y="0"/>
                </a:moveTo>
                <a:lnTo>
                  <a:pt x="7144" y="0"/>
                </a:lnTo>
                <a:lnTo>
                  <a:pt x="71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Forma libre 104"/>
          <p:cNvSpPr/>
          <p:nvPr/>
        </p:nvSpPr>
        <p:spPr>
          <a:xfrm>
            <a:off x="3228840" y="36385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Forma libre 105"/>
          <p:cNvSpPr/>
          <p:nvPr/>
        </p:nvSpPr>
        <p:spPr>
          <a:xfrm>
            <a:off x="3238200" y="3628800"/>
            <a:ext cx="4458240" cy="10080"/>
          </a:xfrm>
          <a:custGeom>
            <a:avLst/>
            <a:gdLst/>
            <a:ahLst/>
            <a:cxnLst/>
            <a:rect l="0" t="0" r="r" b="b"/>
            <a:pathLst>
              <a:path w="12384" h="28">
                <a:moveTo>
                  <a:pt x="0" y="0"/>
                </a:moveTo>
                <a:lnTo>
                  <a:pt x="12384" y="0"/>
                </a:lnTo>
                <a:lnTo>
                  <a:pt x="1238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Forma libre 106"/>
          <p:cNvSpPr/>
          <p:nvPr/>
        </p:nvSpPr>
        <p:spPr>
          <a:xfrm>
            <a:off x="7686360" y="36385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Forma libre 107"/>
          <p:cNvSpPr/>
          <p:nvPr/>
        </p:nvSpPr>
        <p:spPr>
          <a:xfrm>
            <a:off x="666720" y="4047840"/>
            <a:ext cx="2571840" cy="10440"/>
          </a:xfrm>
          <a:custGeom>
            <a:avLst/>
            <a:gdLst/>
            <a:ahLst/>
            <a:cxnLst/>
            <a:rect l="0" t="0" r="r" b="b"/>
            <a:pathLst>
              <a:path w="7144" h="29">
                <a:moveTo>
                  <a:pt x="0" y="0"/>
                </a:moveTo>
                <a:lnTo>
                  <a:pt x="7144" y="0"/>
                </a:lnTo>
                <a:lnTo>
                  <a:pt x="7144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Forma libre 108"/>
          <p:cNvSpPr/>
          <p:nvPr/>
        </p:nvSpPr>
        <p:spPr>
          <a:xfrm>
            <a:off x="3238200" y="4047840"/>
            <a:ext cx="4458240" cy="10440"/>
          </a:xfrm>
          <a:custGeom>
            <a:avLst/>
            <a:gdLst/>
            <a:ahLst/>
            <a:cxnLst/>
            <a:rect l="0" t="0" r="r" b="b"/>
            <a:pathLst>
              <a:path w="12384" h="29">
                <a:moveTo>
                  <a:pt x="0" y="0"/>
                </a:moveTo>
                <a:lnTo>
                  <a:pt x="12384" y="0"/>
                </a:lnTo>
                <a:lnTo>
                  <a:pt x="12384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Forma libre 109"/>
          <p:cNvSpPr/>
          <p:nvPr/>
        </p:nvSpPr>
        <p:spPr>
          <a:xfrm>
            <a:off x="666720" y="420984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Forma libre 110"/>
          <p:cNvSpPr/>
          <p:nvPr/>
        </p:nvSpPr>
        <p:spPr>
          <a:xfrm>
            <a:off x="666720" y="420984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CuadroTexto 111"/>
          <p:cNvSpPr txBox="1"/>
          <p:nvPr/>
        </p:nvSpPr>
        <p:spPr>
          <a:xfrm>
            <a:off x="666720" y="1749240"/>
            <a:ext cx="512388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Y el riesgo también cambia de forma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CuadroTexto 112"/>
          <p:cNvSpPr txBox="1"/>
          <p:nvPr/>
        </p:nvSpPr>
        <p:spPr>
          <a:xfrm>
            <a:off x="1405440" y="2495160"/>
            <a:ext cx="10976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En tu laptop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CuadroTexto 113"/>
          <p:cNvSpPr txBox="1"/>
          <p:nvPr/>
        </p:nvSpPr>
        <p:spPr>
          <a:xfrm>
            <a:off x="4987800" y="2495160"/>
            <a:ext cx="9532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En la nube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CuadroTexto 114"/>
          <p:cNvSpPr txBox="1"/>
          <p:nvPr/>
        </p:nvSpPr>
        <p:spPr>
          <a:xfrm>
            <a:off x="799920" y="2895120"/>
            <a:ext cx="23119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se pierde si se descompone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CuadroTexto 115"/>
          <p:cNvSpPr txBox="1"/>
          <p:nvPr/>
        </p:nvSpPr>
        <p:spPr>
          <a:xfrm>
            <a:off x="3364920" y="2895120"/>
            <a:ext cx="23155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se pierde si borras el bucket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CuadroTexto 116"/>
          <p:cNvSpPr txBox="1"/>
          <p:nvPr/>
        </p:nvSpPr>
        <p:spPr>
          <a:xfrm>
            <a:off x="799920" y="3304800"/>
            <a:ext cx="21535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lo ve quien tenga la laptop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CuadroTexto 117"/>
          <p:cNvSpPr txBox="1"/>
          <p:nvPr/>
        </p:nvSpPr>
        <p:spPr>
          <a:xfrm>
            <a:off x="3364920" y="3314160"/>
            <a:ext cx="41990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lo ve </a:t>
            </a:r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quien tenga el enlace</a:t>
            </a:r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si lo conﬁguraste mal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CuadroTexto 118"/>
          <p:cNvSpPr txBox="1"/>
          <p:nvPr/>
        </p:nvSpPr>
        <p:spPr>
          <a:xfrm>
            <a:off x="799920" y="3723840"/>
            <a:ext cx="16167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cuesta lo que costó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CuadroTexto 119"/>
          <p:cNvSpPr txBox="1"/>
          <p:nvPr/>
        </p:nvSpPr>
        <p:spPr>
          <a:xfrm>
            <a:off x="3364920" y="3733560"/>
            <a:ext cx="28436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cuesta </a:t>
            </a:r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mientras esté encendido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CuadroTexto 120"/>
          <p:cNvSpPr txBox="1"/>
          <p:nvPr/>
        </p:nvSpPr>
        <p:spPr>
          <a:xfrm>
            <a:off x="905040" y="4363920"/>
            <a:ext cx="101804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Las tres columnas de la derecha son errores de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conﬁguración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, no de AWS. Por eso esta sesión es de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CuadroTexto 121"/>
          <p:cNvSpPr txBox="1"/>
          <p:nvPr/>
        </p:nvSpPr>
        <p:spPr>
          <a:xfrm>
            <a:off x="905040" y="4706640"/>
            <a:ext cx="32540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IAM y de costos, no de servicios.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CuadroTexto 12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19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CuadroTexto 12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CuadroTexto 124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orma libre 12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Forma libre 12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Forma libre 12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CuadroTexto 128"/>
          <p:cNvSpPr txBox="1"/>
          <p:nvPr/>
        </p:nvSpPr>
        <p:spPr>
          <a:xfrm>
            <a:off x="2596680" y="3063960"/>
            <a:ext cx="715356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2. Responsabilidad compartida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CuadroTexto 12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19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CuadroTexto 13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CuadroTexto 131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Forma libre 13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Forma libre 13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Forma libre 13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Forma libre 135"/>
          <p:cNvSpPr/>
          <p:nvPr/>
        </p:nvSpPr>
        <p:spPr>
          <a:xfrm>
            <a:off x="676080" y="2609640"/>
            <a:ext cx="3267360" cy="410040"/>
          </a:xfrm>
          <a:custGeom>
            <a:avLst/>
            <a:gdLst/>
            <a:ahLst/>
            <a:cxnLst/>
            <a:rect l="0" t="0" r="r" b="b"/>
            <a:pathLst>
              <a:path w="9076" h="1139">
                <a:moveTo>
                  <a:pt x="0" y="0"/>
                </a:moveTo>
                <a:lnTo>
                  <a:pt x="9076" y="0"/>
                </a:lnTo>
                <a:lnTo>
                  <a:pt x="907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Forma libre 136"/>
          <p:cNvSpPr/>
          <p:nvPr/>
        </p:nvSpPr>
        <p:spPr>
          <a:xfrm>
            <a:off x="3943080" y="2609640"/>
            <a:ext cx="3143520" cy="410040"/>
          </a:xfrm>
          <a:custGeom>
            <a:avLst/>
            <a:gdLst/>
            <a:ahLst/>
            <a:cxnLst/>
            <a:rect l="0" t="0" r="r" b="b"/>
            <a:pathLst>
              <a:path w="8732" h="1139">
                <a:moveTo>
                  <a:pt x="0" y="0"/>
                </a:moveTo>
                <a:lnTo>
                  <a:pt x="8732" y="0"/>
                </a:lnTo>
                <a:lnTo>
                  <a:pt x="873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Forma libre 137"/>
          <p:cNvSpPr/>
          <p:nvPr/>
        </p:nvSpPr>
        <p:spPr>
          <a:xfrm>
            <a:off x="676080" y="2609640"/>
            <a:ext cx="3267360" cy="410040"/>
          </a:xfrm>
          <a:custGeom>
            <a:avLst/>
            <a:gdLst/>
            <a:ahLst/>
            <a:cxnLst/>
            <a:rect l="0" t="0" r="r" b="b"/>
            <a:pathLst>
              <a:path w="9076" h="1139">
                <a:moveTo>
                  <a:pt x="0" y="0"/>
                </a:moveTo>
                <a:lnTo>
                  <a:pt x="9076" y="0"/>
                </a:lnTo>
                <a:lnTo>
                  <a:pt x="907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Forma libre 138"/>
          <p:cNvSpPr/>
          <p:nvPr/>
        </p:nvSpPr>
        <p:spPr>
          <a:xfrm>
            <a:off x="3943080" y="2609640"/>
            <a:ext cx="3143520" cy="410040"/>
          </a:xfrm>
          <a:custGeom>
            <a:avLst/>
            <a:gdLst/>
            <a:ahLst/>
            <a:cxnLst/>
            <a:rect l="0" t="0" r="r" b="b"/>
            <a:pathLst>
              <a:path w="8732" h="1139">
                <a:moveTo>
                  <a:pt x="0" y="0"/>
                </a:moveTo>
                <a:lnTo>
                  <a:pt x="8732" y="0"/>
                </a:lnTo>
                <a:lnTo>
                  <a:pt x="873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Forma libre 139"/>
          <p:cNvSpPr/>
          <p:nvPr/>
        </p:nvSpPr>
        <p:spPr>
          <a:xfrm>
            <a:off x="676080" y="3019320"/>
            <a:ext cx="3267360" cy="419400"/>
          </a:xfrm>
          <a:custGeom>
            <a:avLst/>
            <a:gdLst/>
            <a:ahLst/>
            <a:cxnLst/>
            <a:rect l="0" t="0" r="r" b="b"/>
            <a:pathLst>
              <a:path w="9076" h="1165">
                <a:moveTo>
                  <a:pt x="0" y="0"/>
                </a:moveTo>
                <a:lnTo>
                  <a:pt x="9076" y="0"/>
                </a:lnTo>
                <a:lnTo>
                  <a:pt x="907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Forma libre 140"/>
          <p:cNvSpPr/>
          <p:nvPr/>
        </p:nvSpPr>
        <p:spPr>
          <a:xfrm>
            <a:off x="3943080" y="3019320"/>
            <a:ext cx="3143520" cy="419400"/>
          </a:xfrm>
          <a:custGeom>
            <a:avLst/>
            <a:gdLst/>
            <a:ahLst/>
            <a:cxnLst/>
            <a:rect l="0" t="0" r="r" b="b"/>
            <a:pathLst>
              <a:path w="8732" h="1165">
                <a:moveTo>
                  <a:pt x="0" y="0"/>
                </a:moveTo>
                <a:lnTo>
                  <a:pt x="8732" y="0"/>
                </a:lnTo>
                <a:lnTo>
                  <a:pt x="8732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Forma libre 141"/>
          <p:cNvSpPr/>
          <p:nvPr/>
        </p:nvSpPr>
        <p:spPr>
          <a:xfrm>
            <a:off x="676080" y="3438360"/>
            <a:ext cx="3267360" cy="410040"/>
          </a:xfrm>
          <a:custGeom>
            <a:avLst/>
            <a:gdLst/>
            <a:ahLst/>
            <a:cxnLst/>
            <a:rect l="0" t="0" r="r" b="b"/>
            <a:pathLst>
              <a:path w="9076" h="1139">
                <a:moveTo>
                  <a:pt x="0" y="0"/>
                </a:moveTo>
                <a:lnTo>
                  <a:pt x="9076" y="0"/>
                </a:lnTo>
                <a:lnTo>
                  <a:pt x="907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Forma libre 142"/>
          <p:cNvSpPr/>
          <p:nvPr/>
        </p:nvSpPr>
        <p:spPr>
          <a:xfrm>
            <a:off x="3943080" y="3438360"/>
            <a:ext cx="3143520" cy="410040"/>
          </a:xfrm>
          <a:custGeom>
            <a:avLst/>
            <a:gdLst/>
            <a:ahLst/>
            <a:cxnLst/>
            <a:rect l="0" t="0" r="r" b="b"/>
            <a:pathLst>
              <a:path w="8732" h="1139">
                <a:moveTo>
                  <a:pt x="0" y="0"/>
                </a:moveTo>
                <a:lnTo>
                  <a:pt x="8732" y="0"/>
                </a:lnTo>
                <a:lnTo>
                  <a:pt x="873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Forma libre 143"/>
          <p:cNvSpPr/>
          <p:nvPr/>
        </p:nvSpPr>
        <p:spPr>
          <a:xfrm>
            <a:off x="676080" y="3848040"/>
            <a:ext cx="3267360" cy="409680"/>
          </a:xfrm>
          <a:custGeom>
            <a:avLst/>
            <a:gdLst/>
            <a:ahLst/>
            <a:cxnLst/>
            <a:rect l="0" t="0" r="r" b="b"/>
            <a:pathLst>
              <a:path w="9076" h="1138">
                <a:moveTo>
                  <a:pt x="0" y="0"/>
                </a:moveTo>
                <a:lnTo>
                  <a:pt x="9076" y="0"/>
                </a:lnTo>
                <a:lnTo>
                  <a:pt x="9076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Forma libre 144"/>
          <p:cNvSpPr/>
          <p:nvPr/>
        </p:nvSpPr>
        <p:spPr>
          <a:xfrm>
            <a:off x="3943080" y="3848040"/>
            <a:ext cx="3143520" cy="409680"/>
          </a:xfrm>
          <a:custGeom>
            <a:avLst/>
            <a:gdLst/>
            <a:ahLst/>
            <a:cxnLst/>
            <a:rect l="0" t="0" r="r" b="b"/>
            <a:pathLst>
              <a:path w="8732" h="1138">
                <a:moveTo>
                  <a:pt x="0" y="0"/>
                </a:moveTo>
                <a:lnTo>
                  <a:pt x="8732" y="0"/>
                </a:lnTo>
                <a:lnTo>
                  <a:pt x="8732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Forma libre 145"/>
          <p:cNvSpPr/>
          <p:nvPr/>
        </p:nvSpPr>
        <p:spPr>
          <a:xfrm>
            <a:off x="676080" y="4257360"/>
            <a:ext cx="3267360" cy="419760"/>
          </a:xfrm>
          <a:custGeom>
            <a:avLst/>
            <a:gdLst/>
            <a:ahLst/>
            <a:cxnLst/>
            <a:rect l="0" t="0" r="r" b="b"/>
            <a:pathLst>
              <a:path w="9076" h="1166">
                <a:moveTo>
                  <a:pt x="0" y="0"/>
                </a:moveTo>
                <a:lnTo>
                  <a:pt x="9076" y="0"/>
                </a:lnTo>
                <a:lnTo>
                  <a:pt x="9076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Forma libre 146"/>
          <p:cNvSpPr/>
          <p:nvPr/>
        </p:nvSpPr>
        <p:spPr>
          <a:xfrm>
            <a:off x="3943080" y="4257360"/>
            <a:ext cx="3143520" cy="419760"/>
          </a:xfrm>
          <a:custGeom>
            <a:avLst/>
            <a:gdLst/>
            <a:ahLst/>
            <a:cxnLst/>
            <a:rect l="0" t="0" r="r" b="b"/>
            <a:pathLst>
              <a:path w="8732" h="1166">
                <a:moveTo>
                  <a:pt x="0" y="0"/>
                </a:moveTo>
                <a:lnTo>
                  <a:pt x="8732" y="0"/>
                </a:lnTo>
                <a:lnTo>
                  <a:pt x="8732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Forma libre 147"/>
          <p:cNvSpPr/>
          <p:nvPr/>
        </p:nvSpPr>
        <p:spPr>
          <a:xfrm>
            <a:off x="666720" y="26002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Forma libre 148"/>
          <p:cNvSpPr/>
          <p:nvPr/>
        </p:nvSpPr>
        <p:spPr>
          <a:xfrm>
            <a:off x="666720" y="2600280"/>
            <a:ext cx="3286440" cy="9720"/>
          </a:xfrm>
          <a:custGeom>
            <a:avLst/>
            <a:gdLst/>
            <a:ahLst/>
            <a:cxnLst/>
            <a:rect l="0" t="0" r="r" b="b"/>
            <a:pathLst>
              <a:path w="9129" h="27">
                <a:moveTo>
                  <a:pt x="0" y="0"/>
                </a:moveTo>
                <a:lnTo>
                  <a:pt x="9129" y="0"/>
                </a:lnTo>
                <a:lnTo>
                  <a:pt x="91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Forma libre 149"/>
          <p:cNvSpPr/>
          <p:nvPr/>
        </p:nvSpPr>
        <p:spPr>
          <a:xfrm>
            <a:off x="3943080" y="26002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Forma libre 150"/>
          <p:cNvSpPr/>
          <p:nvPr/>
        </p:nvSpPr>
        <p:spPr>
          <a:xfrm>
            <a:off x="3952800" y="2600280"/>
            <a:ext cx="3133800" cy="9720"/>
          </a:xfrm>
          <a:custGeom>
            <a:avLst/>
            <a:gdLst/>
            <a:ahLst/>
            <a:cxnLst/>
            <a:rect l="0" t="0" r="r" b="b"/>
            <a:pathLst>
              <a:path w="8705" h="27">
                <a:moveTo>
                  <a:pt x="0" y="0"/>
                </a:moveTo>
                <a:lnTo>
                  <a:pt x="8705" y="0"/>
                </a:lnTo>
                <a:lnTo>
                  <a:pt x="87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Forma libre 151"/>
          <p:cNvSpPr/>
          <p:nvPr/>
        </p:nvSpPr>
        <p:spPr>
          <a:xfrm>
            <a:off x="7076880" y="26002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Forma libre 152"/>
          <p:cNvSpPr/>
          <p:nvPr/>
        </p:nvSpPr>
        <p:spPr>
          <a:xfrm>
            <a:off x="666720" y="3009600"/>
            <a:ext cx="3286440" cy="10080"/>
          </a:xfrm>
          <a:custGeom>
            <a:avLst/>
            <a:gdLst/>
            <a:ahLst/>
            <a:cxnLst/>
            <a:rect l="0" t="0" r="r" b="b"/>
            <a:pathLst>
              <a:path w="9129" h="28">
                <a:moveTo>
                  <a:pt x="0" y="0"/>
                </a:moveTo>
                <a:lnTo>
                  <a:pt x="9129" y="0"/>
                </a:lnTo>
                <a:lnTo>
                  <a:pt x="91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Forma libre 153"/>
          <p:cNvSpPr/>
          <p:nvPr/>
        </p:nvSpPr>
        <p:spPr>
          <a:xfrm>
            <a:off x="3952800" y="3009600"/>
            <a:ext cx="3133800" cy="10080"/>
          </a:xfrm>
          <a:custGeom>
            <a:avLst/>
            <a:gdLst/>
            <a:ahLst/>
            <a:cxnLst/>
            <a:rect l="0" t="0" r="r" b="b"/>
            <a:pathLst>
              <a:path w="8705" h="28">
                <a:moveTo>
                  <a:pt x="0" y="0"/>
                </a:moveTo>
                <a:lnTo>
                  <a:pt x="8705" y="0"/>
                </a:lnTo>
                <a:lnTo>
                  <a:pt x="87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Forma libre 154"/>
          <p:cNvSpPr/>
          <p:nvPr/>
        </p:nvSpPr>
        <p:spPr>
          <a:xfrm>
            <a:off x="666720" y="30193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Forma libre 155"/>
          <p:cNvSpPr/>
          <p:nvPr/>
        </p:nvSpPr>
        <p:spPr>
          <a:xfrm>
            <a:off x="3943080" y="30193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Forma libre 156"/>
          <p:cNvSpPr/>
          <p:nvPr/>
        </p:nvSpPr>
        <p:spPr>
          <a:xfrm>
            <a:off x="7076880" y="30193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Forma libre 157"/>
          <p:cNvSpPr/>
          <p:nvPr/>
        </p:nvSpPr>
        <p:spPr>
          <a:xfrm>
            <a:off x="666720" y="343836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Forma libre 158"/>
          <p:cNvSpPr/>
          <p:nvPr/>
        </p:nvSpPr>
        <p:spPr>
          <a:xfrm>
            <a:off x="666720" y="3428640"/>
            <a:ext cx="3286440" cy="10080"/>
          </a:xfrm>
          <a:custGeom>
            <a:avLst/>
            <a:gdLst/>
            <a:ahLst/>
            <a:cxnLst/>
            <a:rect l="0" t="0" r="r" b="b"/>
            <a:pathLst>
              <a:path w="9129" h="28">
                <a:moveTo>
                  <a:pt x="0" y="0"/>
                </a:moveTo>
                <a:lnTo>
                  <a:pt x="9129" y="0"/>
                </a:lnTo>
                <a:lnTo>
                  <a:pt x="91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Forma libre 159"/>
          <p:cNvSpPr/>
          <p:nvPr/>
        </p:nvSpPr>
        <p:spPr>
          <a:xfrm>
            <a:off x="3943080" y="343836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Forma libre 160"/>
          <p:cNvSpPr/>
          <p:nvPr/>
        </p:nvSpPr>
        <p:spPr>
          <a:xfrm>
            <a:off x="3952800" y="3428640"/>
            <a:ext cx="3133800" cy="10080"/>
          </a:xfrm>
          <a:custGeom>
            <a:avLst/>
            <a:gdLst/>
            <a:ahLst/>
            <a:cxnLst/>
            <a:rect l="0" t="0" r="r" b="b"/>
            <a:pathLst>
              <a:path w="8705" h="28">
                <a:moveTo>
                  <a:pt x="0" y="0"/>
                </a:moveTo>
                <a:lnTo>
                  <a:pt x="8705" y="0"/>
                </a:lnTo>
                <a:lnTo>
                  <a:pt x="87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Forma libre 161"/>
          <p:cNvSpPr/>
          <p:nvPr/>
        </p:nvSpPr>
        <p:spPr>
          <a:xfrm>
            <a:off x="7076880" y="343836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Forma libre 162"/>
          <p:cNvSpPr/>
          <p:nvPr/>
        </p:nvSpPr>
        <p:spPr>
          <a:xfrm>
            <a:off x="666720" y="384804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Forma libre 163"/>
          <p:cNvSpPr/>
          <p:nvPr/>
        </p:nvSpPr>
        <p:spPr>
          <a:xfrm>
            <a:off x="666720" y="3838320"/>
            <a:ext cx="3286440" cy="10080"/>
          </a:xfrm>
          <a:custGeom>
            <a:avLst/>
            <a:gdLst/>
            <a:ahLst/>
            <a:cxnLst/>
            <a:rect l="0" t="0" r="r" b="b"/>
            <a:pathLst>
              <a:path w="9129" h="28">
                <a:moveTo>
                  <a:pt x="0" y="0"/>
                </a:moveTo>
                <a:lnTo>
                  <a:pt x="9129" y="0"/>
                </a:lnTo>
                <a:lnTo>
                  <a:pt x="91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Forma libre 164"/>
          <p:cNvSpPr/>
          <p:nvPr/>
        </p:nvSpPr>
        <p:spPr>
          <a:xfrm>
            <a:off x="3943080" y="3848040"/>
            <a:ext cx="10080" cy="409680"/>
          </a:xfrm>
          <a:custGeom>
            <a:avLst/>
            <a:gdLst/>
            <a:ahLst/>
            <a:cxnLst/>
            <a:rect l="0" t="0" r="r" b="b"/>
            <a:pathLst>
              <a:path w="28" h="1138">
                <a:moveTo>
                  <a:pt x="0" y="0"/>
                </a:moveTo>
                <a:lnTo>
                  <a:pt x="28" y="0"/>
                </a:lnTo>
                <a:lnTo>
                  <a:pt x="2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Forma libre 165"/>
          <p:cNvSpPr/>
          <p:nvPr/>
        </p:nvSpPr>
        <p:spPr>
          <a:xfrm>
            <a:off x="3952800" y="3838320"/>
            <a:ext cx="3133800" cy="10080"/>
          </a:xfrm>
          <a:custGeom>
            <a:avLst/>
            <a:gdLst/>
            <a:ahLst/>
            <a:cxnLst/>
            <a:rect l="0" t="0" r="r" b="b"/>
            <a:pathLst>
              <a:path w="8705" h="28">
                <a:moveTo>
                  <a:pt x="0" y="0"/>
                </a:moveTo>
                <a:lnTo>
                  <a:pt x="8705" y="0"/>
                </a:lnTo>
                <a:lnTo>
                  <a:pt x="87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Forma libre 166"/>
          <p:cNvSpPr/>
          <p:nvPr/>
        </p:nvSpPr>
        <p:spPr>
          <a:xfrm>
            <a:off x="7076880" y="384804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Forma libre 167"/>
          <p:cNvSpPr/>
          <p:nvPr/>
        </p:nvSpPr>
        <p:spPr>
          <a:xfrm>
            <a:off x="666720" y="425736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Forma libre 168"/>
          <p:cNvSpPr/>
          <p:nvPr/>
        </p:nvSpPr>
        <p:spPr>
          <a:xfrm>
            <a:off x="666720" y="4248000"/>
            <a:ext cx="3286440" cy="9720"/>
          </a:xfrm>
          <a:custGeom>
            <a:avLst/>
            <a:gdLst/>
            <a:ahLst/>
            <a:cxnLst/>
            <a:rect l="0" t="0" r="r" b="b"/>
            <a:pathLst>
              <a:path w="9129" h="27">
                <a:moveTo>
                  <a:pt x="0" y="0"/>
                </a:moveTo>
                <a:lnTo>
                  <a:pt x="9129" y="0"/>
                </a:lnTo>
                <a:lnTo>
                  <a:pt x="91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Forma libre 169"/>
          <p:cNvSpPr/>
          <p:nvPr/>
        </p:nvSpPr>
        <p:spPr>
          <a:xfrm>
            <a:off x="3943080" y="425736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Forma libre 170"/>
          <p:cNvSpPr/>
          <p:nvPr/>
        </p:nvSpPr>
        <p:spPr>
          <a:xfrm>
            <a:off x="3952800" y="4248000"/>
            <a:ext cx="3133800" cy="9720"/>
          </a:xfrm>
          <a:custGeom>
            <a:avLst/>
            <a:gdLst/>
            <a:ahLst/>
            <a:cxnLst/>
            <a:rect l="0" t="0" r="r" b="b"/>
            <a:pathLst>
              <a:path w="8705" h="27">
                <a:moveTo>
                  <a:pt x="0" y="0"/>
                </a:moveTo>
                <a:lnTo>
                  <a:pt x="8705" y="0"/>
                </a:lnTo>
                <a:lnTo>
                  <a:pt x="87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Forma libre 171"/>
          <p:cNvSpPr/>
          <p:nvPr/>
        </p:nvSpPr>
        <p:spPr>
          <a:xfrm>
            <a:off x="7076880" y="425736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Forma libre 172"/>
          <p:cNvSpPr/>
          <p:nvPr/>
        </p:nvSpPr>
        <p:spPr>
          <a:xfrm>
            <a:off x="666720" y="4667040"/>
            <a:ext cx="3286440" cy="10080"/>
          </a:xfrm>
          <a:custGeom>
            <a:avLst/>
            <a:gdLst/>
            <a:ahLst/>
            <a:cxnLst/>
            <a:rect l="0" t="0" r="r" b="b"/>
            <a:pathLst>
              <a:path w="9129" h="28">
                <a:moveTo>
                  <a:pt x="0" y="0"/>
                </a:moveTo>
                <a:lnTo>
                  <a:pt x="9129" y="0"/>
                </a:lnTo>
                <a:lnTo>
                  <a:pt x="91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Forma libre 173"/>
          <p:cNvSpPr/>
          <p:nvPr/>
        </p:nvSpPr>
        <p:spPr>
          <a:xfrm>
            <a:off x="3952800" y="4667040"/>
            <a:ext cx="3133800" cy="10080"/>
          </a:xfrm>
          <a:custGeom>
            <a:avLst/>
            <a:gdLst/>
            <a:ahLst/>
            <a:cxnLst/>
            <a:rect l="0" t="0" r="r" b="b"/>
            <a:pathLst>
              <a:path w="8705" h="28">
                <a:moveTo>
                  <a:pt x="0" y="0"/>
                </a:moveTo>
                <a:lnTo>
                  <a:pt x="8705" y="0"/>
                </a:lnTo>
                <a:lnTo>
                  <a:pt x="87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Forma libre 174"/>
          <p:cNvSpPr/>
          <p:nvPr/>
        </p:nvSpPr>
        <p:spPr>
          <a:xfrm>
            <a:off x="666720" y="4829040"/>
            <a:ext cx="10858680" cy="571680"/>
          </a:xfrm>
          <a:custGeom>
            <a:avLst/>
            <a:gdLst/>
            <a:ahLst/>
            <a:cxnLst/>
            <a:rect l="0" t="0" r="r" b="b"/>
            <a:pathLst>
              <a:path w="30163" h="1588">
                <a:moveTo>
                  <a:pt x="0" y="0"/>
                </a:moveTo>
                <a:lnTo>
                  <a:pt x="30163" y="0"/>
                </a:lnTo>
                <a:lnTo>
                  <a:pt x="3016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Forma libre 175"/>
          <p:cNvSpPr/>
          <p:nvPr/>
        </p:nvSpPr>
        <p:spPr>
          <a:xfrm>
            <a:off x="666720" y="4829040"/>
            <a:ext cx="47880" cy="571680"/>
          </a:xfrm>
          <a:custGeom>
            <a:avLst/>
            <a:gdLst/>
            <a:ahLst/>
            <a:cxnLst/>
            <a:rect l="0" t="0" r="r" b="b"/>
            <a:pathLst>
              <a:path w="133" h="1588">
                <a:moveTo>
                  <a:pt x="0" y="0"/>
                </a:moveTo>
                <a:lnTo>
                  <a:pt x="133" y="0"/>
                </a:lnTo>
                <a:lnTo>
                  <a:pt x="13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CuadroTexto 176"/>
          <p:cNvSpPr txBox="1"/>
          <p:nvPr/>
        </p:nvSpPr>
        <p:spPr>
          <a:xfrm>
            <a:off x="666720" y="1472760"/>
            <a:ext cx="77277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AWS asegura la nube; tú aseguras lo que pones en ella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CuadroTexto 180"/>
          <p:cNvSpPr txBox="1"/>
          <p:nvPr/>
        </p:nvSpPr>
        <p:spPr>
          <a:xfrm>
            <a:off x="1460520" y="2704680"/>
            <a:ext cx="17046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AWS responde por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CuadroTexto 181"/>
          <p:cNvSpPr txBox="1"/>
          <p:nvPr/>
        </p:nvSpPr>
        <p:spPr>
          <a:xfrm>
            <a:off x="4714560" y="2704680"/>
            <a:ext cx="16023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Tú respondes por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CuadroTexto 182"/>
          <p:cNvSpPr txBox="1"/>
          <p:nvPr/>
        </p:nvSpPr>
        <p:spPr>
          <a:xfrm>
            <a:off x="799920" y="3114360"/>
            <a:ext cx="26406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centros de datos, hardware, red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CuadroTexto 183"/>
          <p:cNvSpPr txBox="1"/>
          <p:nvPr/>
        </p:nvSpPr>
        <p:spPr>
          <a:xfrm>
            <a:off x="4074480" y="3114360"/>
            <a:ext cx="28792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quién puede acceder</a:t>
            </a:r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a tus datos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CuadroTexto 184"/>
          <p:cNvSpPr txBox="1"/>
          <p:nvPr/>
        </p:nvSpPr>
        <p:spPr>
          <a:xfrm>
            <a:off x="799920" y="3524040"/>
            <a:ext cx="18990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hipervisor y aislamiento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CuadroTexto 185"/>
          <p:cNvSpPr txBox="1"/>
          <p:nvPr/>
        </p:nvSpPr>
        <p:spPr>
          <a:xfrm>
            <a:off x="4074480" y="3524040"/>
            <a:ext cx="23720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conﬁguración de tus buckets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CuadroTexto 186"/>
          <p:cNvSpPr txBox="1"/>
          <p:nvPr/>
        </p:nvSpPr>
        <p:spPr>
          <a:xfrm>
            <a:off x="799920" y="3933360"/>
            <a:ext cx="30211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parches de los servicios gestionados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CuadroTexto 187"/>
          <p:cNvSpPr txBox="1"/>
          <p:nvPr/>
        </p:nvSpPr>
        <p:spPr>
          <a:xfrm>
            <a:off x="4074480" y="3933360"/>
            <a:ext cx="18496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cifrado que tú habilitas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CuadroTexto 188"/>
          <p:cNvSpPr txBox="1"/>
          <p:nvPr/>
        </p:nvSpPr>
        <p:spPr>
          <a:xfrm>
            <a:off x="799920" y="4352400"/>
            <a:ext cx="24706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cumplimiento de la plataforma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CuadroTexto 189"/>
          <p:cNvSpPr txBox="1"/>
          <p:nvPr/>
        </p:nvSpPr>
        <p:spPr>
          <a:xfrm>
            <a:off x="4074480" y="4352400"/>
            <a:ext cx="26082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que tus datos </a:t>
            </a:r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puedan</a:t>
            </a:r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estar ahí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CuadroTexto 190"/>
          <p:cNvSpPr txBox="1"/>
          <p:nvPr/>
        </p:nvSpPr>
        <p:spPr>
          <a:xfrm>
            <a:off x="905040" y="4983120"/>
            <a:ext cx="104094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Un bucket público con datos de pacientes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no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es una falla de AWS. Es tuya, y la auditoría lo va a decir así.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CuadroTexto 19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19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CuadroTexto 19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CuadroTexto 193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8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Forma libre 19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Forma libre 19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Forma libre 19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CuadroTexto 197"/>
          <p:cNvSpPr txBox="1"/>
          <p:nvPr/>
        </p:nvSpPr>
        <p:spPr>
          <a:xfrm>
            <a:off x="2332440" y="3063960"/>
            <a:ext cx="769824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3. Regiones y soberanía de datos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CuadroTexto 19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19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CuadroTexto 19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CuadroTexto 200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9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Forma libre 20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Forma libre 20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Forma libre 20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Forma libre 204"/>
          <p:cNvSpPr/>
          <p:nvPr/>
        </p:nvSpPr>
        <p:spPr>
          <a:xfrm>
            <a:off x="914040" y="226692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CuadroTexto 205"/>
          <p:cNvSpPr txBox="1"/>
          <p:nvPr/>
        </p:nvSpPr>
        <p:spPr>
          <a:xfrm>
            <a:off x="666720" y="1482480"/>
            <a:ext cx="45518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Dónde viven los datos sí importa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Forma libre 206"/>
          <p:cNvSpPr/>
          <p:nvPr/>
        </p:nvSpPr>
        <p:spPr>
          <a:xfrm>
            <a:off x="6876720" y="2171520"/>
            <a:ext cx="1162440" cy="267120"/>
          </a:xfrm>
          <a:custGeom>
            <a:avLst/>
            <a:gdLst/>
            <a:ahLst/>
            <a:cxnLst/>
            <a:rect l="0" t="0" r="r" b="b"/>
            <a:pathLst>
              <a:path w="3229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3123" y="0"/>
                </a:lnTo>
                <a:cubicBezTo>
                  <a:pt x="3138" y="0"/>
                  <a:pt x="3151" y="3"/>
                  <a:pt x="3164" y="8"/>
                </a:cubicBezTo>
                <a:cubicBezTo>
                  <a:pt x="3177" y="13"/>
                  <a:pt x="3188" y="21"/>
                  <a:pt x="3198" y="31"/>
                </a:cubicBezTo>
                <a:cubicBezTo>
                  <a:pt x="3208" y="41"/>
                  <a:pt x="3216" y="52"/>
                  <a:pt x="3221" y="65"/>
                </a:cubicBezTo>
                <a:cubicBezTo>
                  <a:pt x="3227" y="78"/>
                  <a:pt x="3229" y="92"/>
                  <a:pt x="3229" y="106"/>
                </a:cubicBezTo>
                <a:lnTo>
                  <a:pt x="3229" y="636"/>
                </a:lnTo>
                <a:cubicBezTo>
                  <a:pt x="3229" y="650"/>
                  <a:pt x="3227" y="664"/>
                  <a:pt x="3221" y="677"/>
                </a:cubicBezTo>
                <a:cubicBezTo>
                  <a:pt x="3216" y="689"/>
                  <a:pt x="3208" y="701"/>
                  <a:pt x="3198" y="711"/>
                </a:cubicBezTo>
                <a:cubicBezTo>
                  <a:pt x="3188" y="721"/>
                  <a:pt x="3177" y="728"/>
                  <a:pt x="3164" y="734"/>
                </a:cubicBezTo>
                <a:cubicBezTo>
                  <a:pt x="3151" y="739"/>
                  <a:pt x="3138" y="742"/>
                  <a:pt x="3123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8"/>
                  <a:pt x="41" y="721"/>
                  <a:pt x="31" y="711"/>
                </a:cubicBezTo>
                <a:cubicBezTo>
                  <a:pt x="21" y="701"/>
                  <a:pt x="14" y="689"/>
                  <a:pt x="8" y="676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CuadroTexto 207"/>
          <p:cNvSpPr txBox="1"/>
          <p:nvPr/>
        </p:nvSpPr>
        <p:spPr>
          <a:xfrm>
            <a:off x="1123920" y="2154240"/>
            <a:ext cx="57571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Región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= conjunto de centros de datos en una geografía (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CuadroTexto 208"/>
          <p:cNvSpPr txBox="1"/>
          <p:nvPr/>
        </p:nvSpPr>
        <p:spPr>
          <a:xfrm>
            <a:off x="6990300" y="2191320"/>
            <a:ext cx="1057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 dirty="0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us-east-1</a:t>
            </a:r>
            <a:endParaRPr lang="es-ES" sz="15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Forma libre 209"/>
          <p:cNvSpPr/>
          <p:nvPr/>
        </p:nvSpPr>
        <p:spPr>
          <a:xfrm>
            <a:off x="8172360" y="2171520"/>
            <a:ext cx="1514880" cy="267120"/>
          </a:xfrm>
          <a:custGeom>
            <a:avLst/>
            <a:gdLst/>
            <a:ahLst/>
            <a:cxnLst/>
            <a:rect l="0" t="0" r="r" b="b"/>
            <a:pathLst>
              <a:path w="4208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4102" y="0"/>
                </a:lnTo>
                <a:cubicBezTo>
                  <a:pt x="4116" y="0"/>
                  <a:pt x="4129" y="3"/>
                  <a:pt x="4142" y="8"/>
                </a:cubicBezTo>
                <a:cubicBezTo>
                  <a:pt x="4155" y="13"/>
                  <a:pt x="4167" y="21"/>
                  <a:pt x="4177" y="31"/>
                </a:cubicBezTo>
                <a:cubicBezTo>
                  <a:pt x="4187" y="41"/>
                  <a:pt x="4194" y="52"/>
                  <a:pt x="4200" y="65"/>
                </a:cubicBezTo>
                <a:cubicBezTo>
                  <a:pt x="4205" y="78"/>
                  <a:pt x="4208" y="92"/>
                  <a:pt x="4208" y="106"/>
                </a:cubicBezTo>
                <a:lnTo>
                  <a:pt x="4208" y="636"/>
                </a:lnTo>
                <a:cubicBezTo>
                  <a:pt x="4208" y="650"/>
                  <a:pt x="4205" y="664"/>
                  <a:pt x="4200" y="677"/>
                </a:cubicBezTo>
                <a:cubicBezTo>
                  <a:pt x="4194" y="689"/>
                  <a:pt x="4187" y="701"/>
                  <a:pt x="4177" y="711"/>
                </a:cubicBezTo>
                <a:cubicBezTo>
                  <a:pt x="4167" y="721"/>
                  <a:pt x="4155" y="728"/>
                  <a:pt x="4142" y="734"/>
                </a:cubicBezTo>
                <a:cubicBezTo>
                  <a:pt x="4129" y="739"/>
                  <a:pt x="4116" y="742"/>
                  <a:pt x="4102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CuadroTexto 210"/>
          <p:cNvSpPr txBox="1"/>
          <p:nvPr/>
        </p:nvSpPr>
        <p:spPr>
          <a:xfrm>
            <a:off x="8043480" y="215424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CuadroTexto 211"/>
          <p:cNvSpPr txBox="1"/>
          <p:nvPr/>
        </p:nvSpPr>
        <p:spPr>
          <a:xfrm>
            <a:off x="8227800" y="2191320"/>
            <a:ext cx="14101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mx-central-1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Forma libre 212"/>
          <p:cNvSpPr/>
          <p:nvPr/>
        </p:nvSpPr>
        <p:spPr>
          <a:xfrm>
            <a:off x="9820080" y="2171520"/>
            <a:ext cx="1162440" cy="267120"/>
          </a:xfrm>
          <a:custGeom>
            <a:avLst/>
            <a:gdLst/>
            <a:ahLst/>
            <a:cxnLst/>
            <a:rect l="0" t="0" r="r" b="b"/>
            <a:pathLst>
              <a:path w="3229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3123" y="0"/>
                </a:lnTo>
                <a:cubicBezTo>
                  <a:pt x="3137" y="0"/>
                  <a:pt x="3151" y="3"/>
                  <a:pt x="3164" y="8"/>
                </a:cubicBezTo>
                <a:cubicBezTo>
                  <a:pt x="3177" y="13"/>
                  <a:pt x="3188" y="21"/>
                  <a:pt x="3198" y="31"/>
                </a:cubicBezTo>
                <a:cubicBezTo>
                  <a:pt x="3208" y="41"/>
                  <a:pt x="3216" y="52"/>
                  <a:pt x="3221" y="65"/>
                </a:cubicBezTo>
                <a:cubicBezTo>
                  <a:pt x="3226" y="78"/>
                  <a:pt x="3229" y="92"/>
                  <a:pt x="3229" y="106"/>
                </a:cubicBezTo>
                <a:lnTo>
                  <a:pt x="3229" y="636"/>
                </a:lnTo>
                <a:cubicBezTo>
                  <a:pt x="3229" y="650"/>
                  <a:pt x="3226" y="664"/>
                  <a:pt x="3221" y="677"/>
                </a:cubicBezTo>
                <a:cubicBezTo>
                  <a:pt x="3216" y="689"/>
                  <a:pt x="3208" y="701"/>
                  <a:pt x="3198" y="711"/>
                </a:cubicBezTo>
                <a:cubicBezTo>
                  <a:pt x="3188" y="721"/>
                  <a:pt x="3177" y="728"/>
                  <a:pt x="3164" y="734"/>
                </a:cubicBezTo>
                <a:cubicBezTo>
                  <a:pt x="3151" y="739"/>
                  <a:pt x="3137" y="742"/>
                  <a:pt x="3123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CuadroTexto 213"/>
          <p:cNvSpPr txBox="1"/>
          <p:nvPr/>
        </p:nvSpPr>
        <p:spPr>
          <a:xfrm>
            <a:off x="9689040" y="215424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CuadroTexto 214"/>
          <p:cNvSpPr txBox="1"/>
          <p:nvPr/>
        </p:nvSpPr>
        <p:spPr>
          <a:xfrm>
            <a:off x="9873360" y="2191320"/>
            <a:ext cx="1057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eu-west-1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Forma libre 215"/>
          <p:cNvSpPr/>
          <p:nvPr/>
        </p:nvSpPr>
        <p:spPr>
          <a:xfrm>
            <a:off x="914040" y="266688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CuadroTexto 216"/>
          <p:cNvSpPr txBox="1"/>
          <p:nvPr/>
        </p:nvSpPr>
        <p:spPr>
          <a:xfrm>
            <a:off x="10983600" y="215424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Forma libre 217"/>
          <p:cNvSpPr/>
          <p:nvPr/>
        </p:nvSpPr>
        <p:spPr>
          <a:xfrm>
            <a:off x="914040" y="30668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2"/>
                  <a:pt x="31" y="32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2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CuadroTexto 218"/>
          <p:cNvSpPr txBox="1"/>
          <p:nvPr/>
        </p:nvSpPr>
        <p:spPr>
          <a:xfrm>
            <a:off x="1123920" y="2554200"/>
            <a:ext cx="71564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Zona de disponibilidad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= centros independientes dentro de una región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CuadroTexto 219"/>
          <p:cNvSpPr txBox="1"/>
          <p:nvPr/>
        </p:nvSpPr>
        <p:spPr>
          <a:xfrm>
            <a:off x="1123920" y="2954160"/>
            <a:ext cx="76082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Eliges región por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latencia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costo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—con datos de salud— por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jurisdicción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CuadroTexto 220"/>
          <p:cNvSpPr txBox="1"/>
          <p:nvPr/>
        </p:nvSpPr>
        <p:spPr>
          <a:xfrm>
            <a:off x="666720" y="3449520"/>
            <a:ext cx="100497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En México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desde marzo de 2025 rige una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nueva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Ley Federal de Protección de Datos Personales en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Forma libre 221"/>
          <p:cNvSpPr/>
          <p:nvPr/>
        </p:nvSpPr>
        <p:spPr>
          <a:xfrm>
            <a:off x="914040" y="44002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CuadroTexto 222"/>
          <p:cNvSpPr txBox="1"/>
          <p:nvPr/>
        </p:nvSpPr>
        <p:spPr>
          <a:xfrm>
            <a:off x="666720" y="3792240"/>
            <a:ext cx="28335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Posesión de los Particulares: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Forma libre 223"/>
          <p:cNvSpPr/>
          <p:nvPr/>
        </p:nvSpPr>
        <p:spPr>
          <a:xfrm>
            <a:off x="914040" y="48002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9" y="67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200" y="53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CuadroTexto 224"/>
          <p:cNvSpPr txBox="1"/>
          <p:nvPr/>
        </p:nvSpPr>
        <p:spPr>
          <a:xfrm>
            <a:off x="1123920" y="4287600"/>
            <a:ext cx="4502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abroga la ley de 2010 que quizá te enseñaron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Forma libre 225"/>
          <p:cNvSpPr/>
          <p:nvPr/>
        </p:nvSpPr>
        <p:spPr>
          <a:xfrm>
            <a:off x="914040" y="520056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2"/>
                  <a:pt x="31" y="32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9"/>
                </a:cubicBezTo>
                <a:cubicBezTo>
                  <a:pt x="161" y="14"/>
                  <a:pt x="172" y="22"/>
                  <a:pt x="182" y="32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CuadroTexto 226"/>
          <p:cNvSpPr txBox="1"/>
          <p:nvPr/>
        </p:nvSpPr>
        <p:spPr>
          <a:xfrm>
            <a:off x="1123920" y="4687920"/>
            <a:ext cx="77972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la autoridad ya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es el INAI, sino la Secretaría Anticorrupción y Buen Gobierno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CuadroTexto 227"/>
          <p:cNvSpPr txBox="1"/>
          <p:nvPr/>
        </p:nvSpPr>
        <p:spPr>
          <a:xfrm>
            <a:off x="1123920" y="5087880"/>
            <a:ext cx="87472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los datos de salud siguen siendo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datos sensibles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consentimiento expreso y por escrito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CuadroTexto 22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19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CuadroTexto 22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CuadroTexto 230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10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Forma libre 23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Forma libre 23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Forma libre 23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CuadroTexto 234"/>
          <p:cNvSpPr txBox="1"/>
          <p:nvPr/>
        </p:nvSpPr>
        <p:spPr>
          <a:xfrm>
            <a:off x="5369040" y="3063960"/>
            <a:ext cx="14860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4. IAM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CuadroTexto 235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19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CuadroTexto 236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CuadroTexto 237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11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Forma libre 23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Forma libre 23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Forma libre 24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Forma libre 241"/>
          <p:cNvSpPr/>
          <p:nvPr/>
        </p:nvSpPr>
        <p:spPr>
          <a:xfrm>
            <a:off x="676080" y="2076120"/>
            <a:ext cx="962280" cy="410040"/>
          </a:xfrm>
          <a:custGeom>
            <a:avLst/>
            <a:gdLst/>
            <a:ahLst/>
            <a:cxnLst/>
            <a:rect l="0" t="0" r="r" b="b"/>
            <a:pathLst>
              <a:path w="2673" h="1139">
                <a:moveTo>
                  <a:pt x="0" y="0"/>
                </a:moveTo>
                <a:lnTo>
                  <a:pt x="2673" y="0"/>
                </a:lnTo>
                <a:lnTo>
                  <a:pt x="2673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Forma libre 242"/>
          <p:cNvSpPr/>
          <p:nvPr/>
        </p:nvSpPr>
        <p:spPr>
          <a:xfrm>
            <a:off x="1638000" y="2076120"/>
            <a:ext cx="6287040" cy="410040"/>
          </a:xfrm>
          <a:custGeom>
            <a:avLst/>
            <a:gdLst/>
            <a:ahLst/>
            <a:cxnLst/>
            <a:rect l="0" t="0" r="r" b="b"/>
            <a:pathLst>
              <a:path w="17464" h="1139">
                <a:moveTo>
                  <a:pt x="0" y="0"/>
                </a:moveTo>
                <a:lnTo>
                  <a:pt x="17464" y="0"/>
                </a:lnTo>
                <a:lnTo>
                  <a:pt x="17464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Forma libre 243"/>
          <p:cNvSpPr/>
          <p:nvPr/>
        </p:nvSpPr>
        <p:spPr>
          <a:xfrm>
            <a:off x="676080" y="2076120"/>
            <a:ext cx="962280" cy="410040"/>
          </a:xfrm>
          <a:custGeom>
            <a:avLst/>
            <a:gdLst/>
            <a:ahLst/>
            <a:cxnLst/>
            <a:rect l="0" t="0" r="r" b="b"/>
            <a:pathLst>
              <a:path w="2673" h="1139">
                <a:moveTo>
                  <a:pt x="0" y="0"/>
                </a:moveTo>
                <a:lnTo>
                  <a:pt x="2673" y="0"/>
                </a:lnTo>
                <a:lnTo>
                  <a:pt x="2673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Forma libre 244"/>
          <p:cNvSpPr/>
          <p:nvPr/>
        </p:nvSpPr>
        <p:spPr>
          <a:xfrm>
            <a:off x="1638000" y="2076120"/>
            <a:ext cx="6287040" cy="410040"/>
          </a:xfrm>
          <a:custGeom>
            <a:avLst/>
            <a:gdLst/>
            <a:ahLst/>
            <a:cxnLst/>
            <a:rect l="0" t="0" r="r" b="b"/>
            <a:pathLst>
              <a:path w="17464" h="1139">
                <a:moveTo>
                  <a:pt x="0" y="0"/>
                </a:moveTo>
                <a:lnTo>
                  <a:pt x="17464" y="0"/>
                </a:lnTo>
                <a:lnTo>
                  <a:pt x="17464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Forma libre 245"/>
          <p:cNvSpPr/>
          <p:nvPr/>
        </p:nvSpPr>
        <p:spPr>
          <a:xfrm>
            <a:off x="676080" y="2485800"/>
            <a:ext cx="962280" cy="419400"/>
          </a:xfrm>
          <a:custGeom>
            <a:avLst/>
            <a:gdLst/>
            <a:ahLst/>
            <a:cxnLst/>
            <a:rect l="0" t="0" r="r" b="b"/>
            <a:pathLst>
              <a:path w="2673" h="1165">
                <a:moveTo>
                  <a:pt x="0" y="0"/>
                </a:moveTo>
                <a:lnTo>
                  <a:pt x="2673" y="0"/>
                </a:lnTo>
                <a:lnTo>
                  <a:pt x="2673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Forma libre 246"/>
          <p:cNvSpPr/>
          <p:nvPr/>
        </p:nvSpPr>
        <p:spPr>
          <a:xfrm>
            <a:off x="1638000" y="2485800"/>
            <a:ext cx="6287040" cy="419400"/>
          </a:xfrm>
          <a:custGeom>
            <a:avLst/>
            <a:gdLst/>
            <a:ahLst/>
            <a:cxnLst/>
            <a:rect l="0" t="0" r="r" b="b"/>
            <a:pathLst>
              <a:path w="17464" h="1165">
                <a:moveTo>
                  <a:pt x="0" y="0"/>
                </a:moveTo>
                <a:lnTo>
                  <a:pt x="17464" y="0"/>
                </a:lnTo>
                <a:lnTo>
                  <a:pt x="1746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Forma libre 247"/>
          <p:cNvSpPr/>
          <p:nvPr/>
        </p:nvSpPr>
        <p:spPr>
          <a:xfrm>
            <a:off x="676080" y="2904840"/>
            <a:ext cx="962280" cy="419400"/>
          </a:xfrm>
          <a:custGeom>
            <a:avLst/>
            <a:gdLst/>
            <a:ahLst/>
            <a:cxnLst/>
            <a:rect l="0" t="0" r="r" b="b"/>
            <a:pathLst>
              <a:path w="2673" h="1165">
                <a:moveTo>
                  <a:pt x="0" y="0"/>
                </a:moveTo>
                <a:lnTo>
                  <a:pt x="2673" y="0"/>
                </a:lnTo>
                <a:lnTo>
                  <a:pt x="2673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Forma libre 248"/>
          <p:cNvSpPr/>
          <p:nvPr/>
        </p:nvSpPr>
        <p:spPr>
          <a:xfrm>
            <a:off x="1638000" y="2904840"/>
            <a:ext cx="6287040" cy="419400"/>
          </a:xfrm>
          <a:custGeom>
            <a:avLst/>
            <a:gdLst/>
            <a:ahLst/>
            <a:cxnLst/>
            <a:rect l="0" t="0" r="r" b="b"/>
            <a:pathLst>
              <a:path w="17464" h="1165">
                <a:moveTo>
                  <a:pt x="0" y="0"/>
                </a:moveTo>
                <a:lnTo>
                  <a:pt x="17464" y="0"/>
                </a:lnTo>
                <a:lnTo>
                  <a:pt x="1746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Forma libre 249"/>
          <p:cNvSpPr/>
          <p:nvPr/>
        </p:nvSpPr>
        <p:spPr>
          <a:xfrm>
            <a:off x="676080" y="3323880"/>
            <a:ext cx="962280" cy="419760"/>
          </a:xfrm>
          <a:custGeom>
            <a:avLst/>
            <a:gdLst/>
            <a:ahLst/>
            <a:cxnLst/>
            <a:rect l="0" t="0" r="r" b="b"/>
            <a:pathLst>
              <a:path w="2673" h="1166">
                <a:moveTo>
                  <a:pt x="0" y="0"/>
                </a:moveTo>
                <a:lnTo>
                  <a:pt x="2673" y="0"/>
                </a:lnTo>
                <a:lnTo>
                  <a:pt x="2673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Forma libre 250"/>
          <p:cNvSpPr/>
          <p:nvPr/>
        </p:nvSpPr>
        <p:spPr>
          <a:xfrm>
            <a:off x="1638000" y="3323880"/>
            <a:ext cx="6287040" cy="419760"/>
          </a:xfrm>
          <a:custGeom>
            <a:avLst/>
            <a:gdLst/>
            <a:ahLst/>
            <a:cxnLst/>
            <a:rect l="0" t="0" r="r" b="b"/>
            <a:pathLst>
              <a:path w="17464" h="1166">
                <a:moveTo>
                  <a:pt x="0" y="0"/>
                </a:moveTo>
                <a:lnTo>
                  <a:pt x="17464" y="0"/>
                </a:lnTo>
                <a:lnTo>
                  <a:pt x="17464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Forma libre 251"/>
          <p:cNvSpPr/>
          <p:nvPr/>
        </p:nvSpPr>
        <p:spPr>
          <a:xfrm>
            <a:off x="676080" y="3743280"/>
            <a:ext cx="962280" cy="419400"/>
          </a:xfrm>
          <a:custGeom>
            <a:avLst/>
            <a:gdLst/>
            <a:ahLst/>
            <a:cxnLst/>
            <a:rect l="0" t="0" r="r" b="b"/>
            <a:pathLst>
              <a:path w="2673" h="1165">
                <a:moveTo>
                  <a:pt x="0" y="0"/>
                </a:moveTo>
                <a:lnTo>
                  <a:pt x="2673" y="0"/>
                </a:lnTo>
                <a:lnTo>
                  <a:pt x="2673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Forma libre 252"/>
          <p:cNvSpPr/>
          <p:nvPr/>
        </p:nvSpPr>
        <p:spPr>
          <a:xfrm>
            <a:off x="1638000" y="3743280"/>
            <a:ext cx="6287040" cy="419400"/>
          </a:xfrm>
          <a:custGeom>
            <a:avLst/>
            <a:gdLst/>
            <a:ahLst/>
            <a:cxnLst/>
            <a:rect l="0" t="0" r="r" b="b"/>
            <a:pathLst>
              <a:path w="17464" h="1165">
                <a:moveTo>
                  <a:pt x="0" y="0"/>
                </a:moveTo>
                <a:lnTo>
                  <a:pt x="17464" y="0"/>
                </a:lnTo>
                <a:lnTo>
                  <a:pt x="1746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Forma libre 253"/>
          <p:cNvSpPr/>
          <p:nvPr/>
        </p:nvSpPr>
        <p:spPr>
          <a:xfrm>
            <a:off x="666720" y="207612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Forma libre 254"/>
          <p:cNvSpPr/>
          <p:nvPr/>
        </p:nvSpPr>
        <p:spPr>
          <a:xfrm>
            <a:off x="666720" y="2076120"/>
            <a:ext cx="971640" cy="10080"/>
          </a:xfrm>
          <a:custGeom>
            <a:avLst/>
            <a:gdLst/>
            <a:ahLst/>
            <a:cxnLst/>
            <a:rect l="0" t="0" r="r" b="b"/>
            <a:pathLst>
              <a:path w="2699" h="28">
                <a:moveTo>
                  <a:pt x="0" y="0"/>
                </a:moveTo>
                <a:lnTo>
                  <a:pt x="2699" y="0"/>
                </a:lnTo>
                <a:lnTo>
                  <a:pt x="26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Forma libre 255"/>
          <p:cNvSpPr/>
          <p:nvPr/>
        </p:nvSpPr>
        <p:spPr>
          <a:xfrm>
            <a:off x="1628640" y="207612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Forma libre 256"/>
          <p:cNvSpPr/>
          <p:nvPr/>
        </p:nvSpPr>
        <p:spPr>
          <a:xfrm>
            <a:off x="1638000" y="2076120"/>
            <a:ext cx="6296400" cy="10080"/>
          </a:xfrm>
          <a:custGeom>
            <a:avLst/>
            <a:gdLst/>
            <a:ahLst/>
            <a:cxnLst/>
            <a:rect l="0" t="0" r="r" b="b"/>
            <a:pathLst>
              <a:path w="17490" h="28">
                <a:moveTo>
                  <a:pt x="0" y="0"/>
                </a:moveTo>
                <a:lnTo>
                  <a:pt x="17490" y="0"/>
                </a:lnTo>
                <a:lnTo>
                  <a:pt x="1749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Forma libre 257"/>
          <p:cNvSpPr/>
          <p:nvPr/>
        </p:nvSpPr>
        <p:spPr>
          <a:xfrm>
            <a:off x="7924680" y="207612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Forma libre 258"/>
          <p:cNvSpPr/>
          <p:nvPr/>
        </p:nvSpPr>
        <p:spPr>
          <a:xfrm>
            <a:off x="666720" y="2485800"/>
            <a:ext cx="971640" cy="10080"/>
          </a:xfrm>
          <a:custGeom>
            <a:avLst/>
            <a:gdLst/>
            <a:ahLst/>
            <a:cxnLst/>
            <a:rect l="0" t="0" r="r" b="b"/>
            <a:pathLst>
              <a:path w="2699" h="28">
                <a:moveTo>
                  <a:pt x="0" y="0"/>
                </a:moveTo>
                <a:lnTo>
                  <a:pt x="2699" y="0"/>
                </a:lnTo>
                <a:lnTo>
                  <a:pt x="26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Forma libre 259"/>
          <p:cNvSpPr/>
          <p:nvPr/>
        </p:nvSpPr>
        <p:spPr>
          <a:xfrm>
            <a:off x="1638000" y="2485800"/>
            <a:ext cx="6296400" cy="10080"/>
          </a:xfrm>
          <a:custGeom>
            <a:avLst/>
            <a:gdLst/>
            <a:ahLst/>
            <a:cxnLst/>
            <a:rect l="0" t="0" r="r" b="b"/>
            <a:pathLst>
              <a:path w="17490" h="28">
                <a:moveTo>
                  <a:pt x="0" y="0"/>
                </a:moveTo>
                <a:lnTo>
                  <a:pt x="17490" y="0"/>
                </a:lnTo>
                <a:lnTo>
                  <a:pt x="1749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Forma libre 260"/>
          <p:cNvSpPr/>
          <p:nvPr/>
        </p:nvSpPr>
        <p:spPr>
          <a:xfrm>
            <a:off x="666720" y="24955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Forma libre 261"/>
          <p:cNvSpPr/>
          <p:nvPr/>
        </p:nvSpPr>
        <p:spPr>
          <a:xfrm>
            <a:off x="1628640" y="24955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Forma libre 262"/>
          <p:cNvSpPr/>
          <p:nvPr/>
        </p:nvSpPr>
        <p:spPr>
          <a:xfrm>
            <a:off x="7924680" y="24955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Forma libre 263"/>
          <p:cNvSpPr/>
          <p:nvPr/>
        </p:nvSpPr>
        <p:spPr>
          <a:xfrm>
            <a:off x="666720" y="29145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Forma libre 264"/>
          <p:cNvSpPr/>
          <p:nvPr/>
        </p:nvSpPr>
        <p:spPr>
          <a:xfrm>
            <a:off x="666720" y="2904840"/>
            <a:ext cx="971640" cy="10080"/>
          </a:xfrm>
          <a:custGeom>
            <a:avLst/>
            <a:gdLst/>
            <a:ahLst/>
            <a:cxnLst/>
            <a:rect l="0" t="0" r="r" b="b"/>
            <a:pathLst>
              <a:path w="2699" h="28">
                <a:moveTo>
                  <a:pt x="0" y="0"/>
                </a:moveTo>
                <a:lnTo>
                  <a:pt x="2699" y="0"/>
                </a:lnTo>
                <a:lnTo>
                  <a:pt x="26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Forma libre 265"/>
          <p:cNvSpPr/>
          <p:nvPr/>
        </p:nvSpPr>
        <p:spPr>
          <a:xfrm>
            <a:off x="1628640" y="29145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Forma libre 266"/>
          <p:cNvSpPr/>
          <p:nvPr/>
        </p:nvSpPr>
        <p:spPr>
          <a:xfrm>
            <a:off x="1638000" y="2904840"/>
            <a:ext cx="6296400" cy="10080"/>
          </a:xfrm>
          <a:custGeom>
            <a:avLst/>
            <a:gdLst/>
            <a:ahLst/>
            <a:cxnLst/>
            <a:rect l="0" t="0" r="r" b="b"/>
            <a:pathLst>
              <a:path w="17490" h="28">
                <a:moveTo>
                  <a:pt x="0" y="0"/>
                </a:moveTo>
                <a:lnTo>
                  <a:pt x="17490" y="0"/>
                </a:lnTo>
                <a:lnTo>
                  <a:pt x="1749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Forma libre 267"/>
          <p:cNvSpPr/>
          <p:nvPr/>
        </p:nvSpPr>
        <p:spPr>
          <a:xfrm>
            <a:off x="7924680" y="29145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Forma libre 268"/>
          <p:cNvSpPr/>
          <p:nvPr/>
        </p:nvSpPr>
        <p:spPr>
          <a:xfrm>
            <a:off x="666720" y="33336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Forma libre 269"/>
          <p:cNvSpPr/>
          <p:nvPr/>
        </p:nvSpPr>
        <p:spPr>
          <a:xfrm>
            <a:off x="666720" y="3323880"/>
            <a:ext cx="971640" cy="10080"/>
          </a:xfrm>
          <a:custGeom>
            <a:avLst/>
            <a:gdLst/>
            <a:ahLst/>
            <a:cxnLst/>
            <a:rect l="0" t="0" r="r" b="b"/>
            <a:pathLst>
              <a:path w="2699" h="28">
                <a:moveTo>
                  <a:pt x="0" y="0"/>
                </a:moveTo>
                <a:lnTo>
                  <a:pt x="2699" y="0"/>
                </a:lnTo>
                <a:lnTo>
                  <a:pt x="26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Forma libre 270"/>
          <p:cNvSpPr/>
          <p:nvPr/>
        </p:nvSpPr>
        <p:spPr>
          <a:xfrm>
            <a:off x="1628640" y="33336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Forma libre 271"/>
          <p:cNvSpPr/>
          <p:nvPr/>
        </p:nvSpPr>
        <p:spPr>
          <a:xfrm>
            <a:off x="1638000" y="3323880"/>
            <a:ext cx="6296400" cy="10080"/>
          </a:xfrm>
          <a:custGeom>
            <a:avLst/>
            <a:gdLst/>
            <a:ahLst/>
            <a:cxnLst/>
            <a:rect l="0" t="0" r="r" b="b"/>
            <a:pathLst>
              <a:path w="17490" h="28">
                <a:moveTo>
                  <a:pt x="0" y="0"/>
                </a:moveTo>
                <a:lnTo>
                  <a:pt x="17490" y="0"/>
                </a:lnTo>
                <a:lnTo>
                  <a:pt x="1749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Forma libre 272"/>
          <p:cNvSpPr/>
          <p:nvPr/>
        </p:nvSpPr>
        <p:spPr>
          <a:xfrm>
            <a:off x="7924680" y="33336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Forma libre 273"/>
          <p:cNvSpPr/>
          <p:nvPr/>
        </p:nvSpPr>
        <p:spPr>
          <a:xfrm>
            <a:off x="666720" y="37526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Forma libre 274"/>
          <p:cNvSpPr/>
          <p:nvPr/>
        </p:nvSpPr>
        <p:spPr>
          <a:xfrm>
            <a:off x="666720" y="3743280"/>
            <a:ext cx="971640" cy="9720"/>
          </a:xfrm>
          <a:custGeom>
            <a:avLst/>
            <a:gdLst/>
            <a:ahLst/>
            <a:cxnLst/>
            <a:rect l="0" t="0" r="r" b="b"/>
            <a:pathLst>
              <a:path w="2699" h="27">
                <a:moveTo>
                  <a:pt x="0" y="0"/>
                </a:moveTo>
                <a:lnTo>
                  <a:pt x="2699" y="0"/>
                </a:lnTo>
                <a:lnTo>
                  <a:pt x="26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Forma libre 275"/>
          <p:cNvSpPr/>
          <p:nvPr/>
        </p:nvSpPr>
        <p:spPr>
          <a:xfrm>
            <a:off x="1628640" y="37526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Forma libre 276"/>
          <p:cNvSpPr/>
          <p:nvPr/>
        </p:nvSpPr>
        <p:spPr>
          <a:xfrm>
            <a:off x="1638000" y="3743280"/>
            <a:ext cx="6296400" cy="9720"/>
          </a:xfrm>
          <a:custGeom>
            <a:avLst/>
            <a:gdLst/>
            <a:ahLst/>
            <a:cxnLst/>
            <a:rect l="0" t="0" r="r" b="b"/>
            <a:pathLst>
              <a:path w="17490" h="27">
                <a:moveTo>
                  <a:pt x="0" y="0"/>
                </a:moveTo>
                <a:lnTo>
                  <a:pt x="17490" y="0"/>
                </a:lnTo>
                <a:lnTo>
                  <a:pt x="174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Forma libre 277"/>
          <p:cNvSpPr/>
          <p:nvPr/>
        </p:nvSpPr>
        <p:spPr>
          <a:xfrm>
            <a:off x="7924680" y="37526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Forma libre 278"/>
          <p:cNvSpPr/>
          <p:nvPr/>
        </p:nvSpPr>
        <p:spPr>
          <a:xfrm>
            <a:off x="666720" y="4162320"/>
            <a:ext cx="971640" cy="9720"/>
          </a:xfrm>
          <a:custGeom>
            <a:avLst/>
            <a:gdLst/>
            <a:ahLst/>
            <a:cxnLst/>
            <a:rect l="0" t="0" r="r" b="b"/>
            <a:pathLst>
              <a:path w="2699" h="27">
                <a:moveTo>
                  <a:pt x="0" y="0"/>
                </a:moveTo>
                <a:lnTo>
                  <a:pt x="2699" y="0"/>
                </a:lnTo>
                <a:lnTo>
                  <a:pt x="26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Forma libre 279"/>
          <p:cNvSpPr/>
          <p:nvPr/>
        </p:nvSpPr>
        <p:spPr>
          <a:xfrm>
            <a:off x="1638000" y="4162320"/>
            <a:ext cx="6296400" cy="9720"/>
          </a:xfrm>
          <a:custGeom>
            <a:avLst/>
            <a:gdLst/>
            <a:ahLst/>
            <a:cxnLst/>
            <a:rect l="0" t="0" r="r" b="b"/>
            <a:pathLst>
              <a:path w="17490" h="27">
                <a:moveTo>
                  <a:pt x="0" y="0"/>
                </a:moveTo>
                <a:lnTo>
                  <a:pt x="17490" y="0"/>
                </a:lnTo>
                <a:lnTo>
                  <a:pt x="174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Forma libre 280"/>
          <p:cNvSpPr/>
          <p:nvPr/>
        </p:nvSpPr>
        <p:spPr>
          <a:xfrm>
            <a:off x="671400" y="4329000"/>
            <a:ext cx="10849320" cy="1105200"/>
          </a:xfrm>
          <a:custGeom>
            <a:avLst/>
            <a:gdLst/>
            <a:ahLst/>
            <a:cxnLst/>
            <a:rect l="0" t="0" r="r" b="b"/>
            <a:pathLst>
              <a:path w="30137" h="3070">
                <a:moveTo>
                  <a:pt x="0" y="2872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872"/>
                </a:lnTo>
                <a:cubicBezTo>
                  <a:pt x="30137" y="2885"/>
                  <a:pt x="30136" y="2897"/>
                  <a:pt x="30133" y="2910"/>
                </a:cubicBezTo>
                <a:cubicBezTo>
                  <a:pt x="30130" y="2923"/>
                  <a:pt x="30127" y="2935"/>
                  <a:pt x="30122" y="2947"/>
                </a:cubicBezTo>
                <a:cubicBezTo>
                  <a:pt x="30117" y="2960"/>
                  <a:pt x="30111" y="2971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1"/>
                  <a:pt x="30059" y="3029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6"/>
                </a:cubicBezTo>
                <a:cubicBezTo>
                  <a:pt x="29964" y="3069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9"/>
                  <a:pt x="160" y="3066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29"/>
                  <a:pt x="67" y="3021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1"/>
                  <a:pt x="20" y="2960"/>
                  <a:pt x="15" y="2947"/>
                </a:cubicBezTo>
                <a:cubicBezTo>
                  <a:pt x="10" y="2935"/>
                  <a:pt x="6" y="2923"/>
                  <a:pt x="4" y="2910"/>
                </a:cubicBezTo>
                <a:cubicBezTo>
                  <a:pt x="1" y="2897"/>
                  <a:pt x="0" y="2885"/>
                  <a:pt x="0" y="2872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Forma libre 281"/>
          <p:cNvSpPr/>
          <p:nvPr/>
        </p:nvSpPr>
        <p:spPr>
          <a:xfrm>
            <a:off x="671400" y="4329000"/>
            <a:ext cx="10849320" cy="1105200"/>
          </a:xfrm>
          <a:custGeom>
            <a:avLst/>
            <a:gdLst/>
            <a:ahLst/>
            <a:cxnLst/>
            <a:rect l="0" t="0" r="r" b="b"/>
            <a:pathLst>
              <a:path w="30137" h="3070">
                <a:moveTo>
                  <a:pt x="0" y="2872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872"/>
                </a:lnTo>
                <a:cubicBezTo>
                  <a:pt x="30137" y="2885"/>
                  <a:pt x="30136" y="2897"/>
                  <a:pt x="30133" y="2910"/>
                </a:cubicBezTo>
                <a:cubicBezTo>
                  <a:pt x="30130" y="2923"/>
                  <a:pt x="30127" y="2935"/>
                  <a:pt x="30122" y="2947"/>
                </a:cubicBezTo>
                <a:cubicBezTo>
                  <a:pt x="30117" y="2960"/>
                  <a:pt x="30111" y="2971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1"/>
                  <a:pt x="30059" y="3029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6"/>
                </a:cubicBezTo>
                <a:cubicBezTo>
                  <a:pt x="29964" y="3069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9"/>
                  <a:pt x="160" y="3066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29"/>
                  <a:pt x="67" y="3021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1"/>
                  <a:pt x="20" y="2960"/>
                  <a:pt x="15" y="2947"/>
                </a:cubicBezTo>
                <a:cubicBezTo>
                  <a:pt x="10" y="2935"/>
                  <a:pt x="6" y="2923"/>
                  <a:pt x="4" y="2910"/>
                </a:cubicBezTo>
                <a:cubicBezTo>
                  <a:pt x="1" y="2897"/>
                  <a:pt x="0" y="2885"/>
                  <a:pt x="0" y="287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CuadroTexto 282"/>
          <p:cNvSpPr txBox="1"/>
          <p:nvPr/>
        </p:nvSpPr>
        <p:spPr>
          <a:xfrm>
            <a:off x="666720" y="1434600"/>
            <a:ext cx="19310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Cuatro piezas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CuadroTexto 283"/>
          <p:cNvSpPr txBox="1"/>
          <p:nvPr/>
        </p:nvSpPr>
        <p:spPr>
          <a:xfrm>
            <a:off x="905760" y="2180880"/>
            <a:ext cx="4946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Pieza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CuadroTexto 284"/>
          <p:cNvSpPr txBox="1"/>
          <p:nvPr/>
        </p:nvSpPr>
        <p:spPr>
          <a:xfrm>
            <a:off x="4463280" y="2180880"/>
            <a:ext cx="6357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Qué es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CuadroTexto 285"/>
          <p:cNvSpPr txBox="1"/>
          <p:nvPr/>
        </p:nvSpPr>
        <p:spPr>
          <a:xfrm>
            <a:off x="799920" y="2590560"/>
            <a:ext cx="706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Usuario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CuadroTexto 286"/>
          <p:cNvSpPr txBox="1"/>
          <p:nvPr/>
        </p:nvSpPr>
        <p:spPr>
          <a:xfrm>
            <a:off x="1762560" y="2580840"/>
            <a:ext cx="41893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una identidad permanente, con contraseña o llaves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CuadroTexto 287"/>
          <p:cNvSpPr txBox="1"/>
          <p:nvPr/>
        </p:nvSpPr>
        <p:spPr>
          <a:xfrm>
            <a:off x="799920" y="3009600"/>
            <a:ext cx="5652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Grupo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CuadroTexto 288"/>
          <p:cNvSpPr txBox="1"/>
          <p:nvPr/>
        </p:nvSpPr>
        <p:spPr>
          <a:xfrm>
            <a:off x="1762560" y="2999880"/>
            <a:ext cx="47606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 conjunto de usuarios, para asignar permisos en bloque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CuadroTexto 289"/>
          <p:cNvSpPr txBox="1"/>
          <p:nvPr/>
        </p:nvSpPr>
        <p:spPr>
          <a:xfrm>
            <a:off x="799920" y="3428640"/>
            <a:ext cx="3038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Rol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CuadroTexto 290"/>
          <p:cNvSpPr txBox="1"/>
          <p:nvPr/>
        </p:nvSpPr>
        <p:spPr>
          <a:xfrm>
            <a:off x="1762560" y="3428640"/>
            <a:ext cx="60368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permisos que algo </a:t>
            </a:r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asume temporalmente</a:t>
            </a:r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una instancia, un servicio, tú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CuadroTexto 291"/>
          <p:cNvSpPr txBox="1"/>
          <p:nvPr/>
        </p:nvSpPr>
        <p:spPr>
          <a:xfrm>
            <a:off x="799920" y="3847680"/>
            <a:ext cx="677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Política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CuadroTexto 292"/>
          <p:cNvSpPr txBox="1"/>
          <p:nvPr/>
        </p:nvSpPr>
        <p:spPr>
          <a:xfrm>
            <a:off x="1762560" y="3838320"/>
            <a:ext cx="51426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documento JSON que dice qué se puede hacer y sobre qué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CuadroTexto 293"/>
          <p:cNvSpPr txBox="1"/>
          <p:nvPr/>
        </p:nvSpPr>
        <p:spPr>
          <a:xfrm>
            <a:off x="866880" y="4509000"/>
            <a:ext cx="90630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raíz      →  sólo para facturación y para crear tu primer usuario. MFA obligatorio.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CuadroTexto 294"/>
          <p:cNvSpPr txBox="1"/>
          <p:nvPr/>
        </p:nvSpPr>
        <p:spPr>
          <a:xfrm>
            <a:off x="866880" y="4775400"/>
            <a:ext cx="52416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usuario   →  tu identidad diaria. Nunca la raíz.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CuadroTexto 295"/>
          <p:cNvSpPr txBox="1"/>
          <p:nvPr/>
        </p:nvSpPr>
        <p:spPr>
          <a:xfrm>
            <a:off x="866880" y="5032800"/>
            <a:ext cx="82987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rol       →  lo que usa tu código. Credenciales temporales, que rotan solas.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CuadroTexto 29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19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CuadroTexto 29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CuadroTexto 298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Forma libre 29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Forma libre 30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Forma libre 30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Forma libre 302"/>
          <p:cNvSpPr/>
          <p:nvPr/>
        </p:nvSpPr>
        <p:spPr>
          <a:xfrm>
            <a:off x="671400" y="2205000"/>
            <a:ext cx="10849320" cy="1895760"/>
          </a:xfrm>
          <a:custGeom>
            <a:avLst/>
            <a:gdLst/>
            <a:ahLst/>
            <a:cxnLst/>
            <a:rect l="0" t="0" r="r" b="b"/>
            <a:pathLst>
              <a:path w="30137" h="5266">
                <a:moveTo>
                  <a:pt x="0" y="5067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5067"/>
                </a:lnTo>
                <a:cubicBezTo>
                  <a:pt x="30137" y="5080"/>
                  <a:pt x="30136" y="5093"/>
                  <a:pt x="30133" y="5106"/>
                </a:cubicBezTo>
                <a:cubicBezTo>
                  <a:pt x="30130" y="5119"/>
                  <a:pt x="30127" y="5131"/>
                  <a:pt x="30122" y="5143"/>
                </a:cubicBezTo>
                <a:cubicBezTo>
                  <a:pt x="30117" y="5155"/>
                  <a:pt x="30111" y="5167"/>
                  <a:pt x="30103" y="5178"/>
                </a:cubicBezTo>
                <a:cubicBezTo>
                  <a:pt x="30096" y="5188"/>
                  <a:pt x="30088" y="5198"/>
                  <a:pt x="30079" y="5208"/>
                </a:cubicBezTo>
                <a:cubicBezTo>
                  <a:pt x="30070" y="5217"/>
                  <a:pt x="30059" y="5225"/>
                  <a:pt x="30049" y="5232"/>
                </a:cubicBezTo>
                <a:cubicBezTo>
                  <a:pt x="30038" y="5240"/>
                  <a:pt x="30026" y="5246"/>
                  <a:pt x="30014" y="5251"/>
                </a:cubicBezTo>
                <a:cubicBezTo>
                  <a:pt x="30002" y="5256"/>
                  <a:pt x="29990" y="5259"/>
                  <a:pt x="29977" y="5262"/>
                </a:cubicBezTo>
                <a:cubicBezTo>
                  <a:pt x="29964" y="5265"/>
                  <a:pt x="29951" y="5266"/>
                  <a:pt x="29938" y="5266"/>
                </a:cubicBezTo>
                <a:lnTo>
                  <a:pt x="198" y="5266"/>
                </a:lnTo>
                <a:cubicBezTo>
                  <a:pt x="185" y="5266"/>
                  <a:pt x="172" y="5265"/>
                  <a:pt x="160" y="5262"/>
                </a:cubicBezTo>
                <a:cubicBezTo>
                  <a:pt x="147" y="5259"/>
                  <a:pt x="134" y="5256"/>
                  <a:pt x="122" y="5251"/>
                </a:cubicBezTo>
                <a:cubicBezTo>
                  <a:pt x="110" y="5246"/>
                  <a:pt x="99" y="5240"/>
                  <a:pt x="88" y="5232"/>
                </a:cubicBezTo>
                <a:cubicBezTo>
                  <a:pt x="77" y="5225"/>
                  <a:pt x="67" y="5217"/>
                  <a:pt x="58" y="5208"/>
                </a:cubicBezTo>
                <a:cubicBezTo>
                  <a:pt x="49" y="5198"/>
                  <a:pt x="40" y="5188"/>
                  <a:pt x="33" y="5178"/>
                </a:cubicBezTo>
                <a:cubicBezTo>
                  <a:pt x="26" y="5167"/>
                  <a:pt x="20" y="5155"/>
                  <a:pt x="15" y="5143"/>
                </a:cubicBezTo>
                <a:cubicBezTo>
                  <a:pt x="10" y="5131"/>
                  <a:pt x="6" y="5119"/>
                  <a:pt x="4" y="5106"/>
                </a:cubicBezTo>
                <a:cubicBezTo>
                  <a:pt x="1" y="5093"/>
                  <a:pt x="0" y="5080"/>
                  <a:pt x="0" y="5067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Forma libre 303"/>
          <p:cNvSpPr/>
          <p:nvPr/>
        </p:nvSpPr>
        <p:spPr>
          <a:xfrm>
            <a:off x="671400" y="2205000"/>
            <a:ext cx="10849320" cy="1895760"/>
          </a:xfrm>
          <a:custGeom>
            <a:avLst/>
            <a:gdLst/>
            <a:ahLst/>
            <a:cxnLst/>
            <a:rect l="0" t="0" r="r" b="b"/>
            <a:pathLst>
              <a:path w="30137" h="5266">
                <a:moveTo>
                  <a:pt x="0" y="5067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5067"/>
                </a:lnTo>
                <a:cubicBezTo>
                  <a:pt x="30137" y="5080"/>
                  <a:pt x="30136" y="5093"/>
                  <a:pt x="30133" y="5106"/>
                </a:cubicBezTo>
                <a:cubicBezTo>
                  <a:pt x="30130" y="5119"/>
                  <a:pt x="30127" y="5131"/>
                  <a:pt x="30122" y="5143"/>
                </a:cubicBezTo>
                <a:cubicBezTo>
                  <a:pt x="30117" y="5155"/>
                  <a:pt x="30111" y="5167"/>
                  <a:pt x="30103" y="5178"/>
                </a:cubicBezTo>
                <a:cubicBezTo>
                  <a:pt x="30096" y="5188"/>
                  <a:pt x="30088" y="5198"/>
                  <a:pt x="30079" y="5208"/>
                </a:cubicBezTo>
                <a:cubicBezTo>
                  <a:pt x="30070" y="5217"/>
                  <a:pt x="30059" y="5225"/>
                  <a:pt x="30049" y="5232"/>
                </a:cubicBezTo>
                <a:cubicBezTo>
                  <a:pt x="30038" y="5240"/>
                  <a:pt x="30026" y="5246"/>
                  <a:pt x="30014" y="5251"/>
                </a:cubicBezTo>
                <a:cubicBezTo>
                  <a:pt x="30002" y="5256"/>
                  <a:pt x="29990" y="5259"/>
                  <a:pt x="29977" y="5262"/>
                </a:cubicBezTo>
                <a:cubicBezTo>
                  <a:pt x="29964" y="5265"/>
                  <a:pt x="29951" y="5266"/>
                  <a:pt x="29938" y="5266"/>
                </a:cubicBezTo>
                <a:lnTo>
                  <a:pt x="198" y="5266"/>
                </a:lnTo>
                <a:cubicBezTo>
                  <a:pt x="185" y="5266"/>
                  <a:pt x="172" y="5265"/>
                  <a:pt x="160" y="5262"/>
                </a:cubicBezTo>
                <a:cubicBezTo>
                  <a:pt x="147" y="5259"/>
                  <a:pt x="134" y="5256"/>
                  <a:pt x="122" y="5251"/>
                </a:cubicBezTo>
                <a:cubicBezTo>
                  <a:pt x="110" y="5246"/>
                  <a:pt x="99" y="5240"/>
                  <a:pt x="88" y="5232"/>
                </a:cubicBezTo>
                <a:cubicBezTo>
                  <a:pt x="77" y="5225"/>
                  <a:pt x="67" y="5217"/>
                  <a:pt x="58" y="5208"/>
                </a:cubicBezTo>
                <a:cubicBezTo>
                  <a:pt x="49" y="5198"/>
                  <a:pt x="40" y="5188"/>
                  <a:pt x="33" y="5178"/>
                </a:cubicBezTo>
                <a:cubicBezTo>
                  <a:pt x="26" y="5167"/>
                  <a:pt x="20" y="5155"/>
                  <a:pt x="15" y="5143"/>
                </a:cubicBezTo>
                <a:cubicBezTo>
                  <a:pt x="10" y="5131"/>
                  <a:pt x="6" y="5119"/>
                  <a:pt x="4" y="5106"/>
                </a:cubicBezTo>
                <a:cubicBezTo>
                  <a:pt x="1" y="5093"/>
                  <a:pt x="0" y="5080"/>
                  <a:pt x="0" y="506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CuadroTexto 304"/>
          <p:cNvSpPr txBox="1"/>
          <p:nvPr/>
        </p:nvSpPr>
        <p:spPr>
          <a:xfrm>
            <a:off x="666720" y="1072800"/>
            <a:ext cx="344628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Anatomía de una política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CuadroTexto 308"/>
          <p:cNvSpPr txBox="1"/>
          <p:nvPr/>
        </p:nvSpPr>
        <p:spPr>
          <a:xfrm>
            <a:off x="866880" y="2384640"/>
            <a:ext cx="1807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{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CuadroTexto 309"/>
          <p:cNvSpPr txBox="1"/>
          <p:nvPr/>
        </p:nvSpPr>
        <p:spPr>
          <a:xfrm>
            <a:off x="866880" y="2651400"/>
            <a:ext cx="24026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"Effect"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:  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"Allow"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CuadroTexto 310"/>
          <p:cNvSpPr txBox="1"/>
          <p:nvPr/>
        </p:nvSpPr>
        <p:spPr>
          <a:xfrm>
            <a:off x="866880" y="2908800"/>
            <a:ext cx="31669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"Action"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:  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"s3:GetObject"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CuadroTexto 311"/>
          <p:cNvSpPr txBox="1"/>
          <p:nvPr/>
        </p:nvSpPr>
        <p:spPr>
          <a:xfrm>
            <a:off x="866880" y="3175200"/>
            <a:ext cx="53510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"Resource"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: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"arn:aws:s3:::mi-bucket/publico/*"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CuadroTexto 312"/>
          <p:cNvSpPr txBox="1"/>
          <p:nvPr/>
        </p:nvSpPr>
        <p:spPr>
          <a:xfrm>
            <a:off x="866880" y="3432600"/>
            <a:ext cx="65520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"Condition"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: {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"Bool"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: {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"aws:SecureTransport"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: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"true"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} }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Forma libre 313"/>
          <p:cNvSpPr/>
          <p:nvPr/>
        </p:nvSpPr>
        <p:spPr>
          <a:xfrm>
            <a:off x="914040" y="441000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CuadroTexto 314"/>
          <p:cNvSpPr txBox="1"/>
          <p:nvPr/>
        </p:nvSpPr>
        <p:spPr>
          <a:xfrm>
            <a:off x="866880" y="3699360"/>
            <a:ext cx="1807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}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Forma libre 315"/>
          <p:cNvSpPr/>
          <p:nvPr/>
        </p:nvSpPr>
        <p:spPr>
          <a:xfrm>
            <a:off x="2114280" y="4314600"/>
            <a:ext cx="705240" cy="267120"/>
          </a:xfrm>
          <a:custGeom>
            <a:avLst/>
            <a:gdLst/>
            <a:ahLst/>
            <a:cxnLst/>
            <a:rect l="0" t="0" r="r" b="b"/>
            <a:pathLst>
              <a:path w="1959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1853" y="0"/>
                </a:lnTo>
                <a:cubicBezTo>
                  <a:pt x="1867" y="0"/>
                  <a:pt x="1881" y="3"/>
                  <a:pt x="1894" y="8"/>
                </a:cubicBezTo>
                <a:cubicBezTo>
                  <a:pt x="1907" y="14"/>
                  <a:pt x="1918" y="21"/>
                  <a:pt x="1928" y="31"/>
                </a:cubicBezTo>
                <a:cubicBezTo>
                  <a:pt x="1938" y="41"/>
                  <a:pt x="1946" y="52"/>
                  <a:pt x="1951" y="65"/>
                </a:cubicBezTo>
                <a:cubicBezTo>
                  <a:pt x="1956" y="78"/>
                  <a:pt x="1959" y="92"/>
                  <a:pt x="1959" y="106"/>
                </a:cubicBezTo>
                <a:lnTo>
                  <a:pt x="1959" y="636"/>
                </a:lnTo>
                <a:cubicBezTo>
                  <a:pt x="1959" y="650"/>
                  <a:pt x="1956" y="664"/>
                  <a:pt x="1951" y="677"/>
                </a:cubicBezTo>
                <a:cubicBezTo>
                  <a:pt x="1946" y="690"/>
                  <a:pt x="1938" y="701"/>
                  <a:pt x="1928" y="711"/>
                </a:cubicBezTo>
                <a:cubicBezTo>
                  <a:pt x="1918" y="721"/>
                  <a:pt x="1907" y="729"/>
                  <a:pt x="1894" y="734"/>
                </a:cubicBezTo>
                <a:cubicBezTo>
                  <a:pt x="1881" y="739"/>
                  <a:pt x="1867" y="742"/>
                  <a:pt x="1853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CuadroTexto 316"/>
          <p:cNvSpPr txBox="1"/>
          <p:nvPr/>
        </p:nvSpPr>
        <p:spPr>
          <a:xfrm>
            <a:off x="1123920" y="4297320"/>
            <a:ext cx="9928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Eﬀect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CuadroTexto 317"/>
          <p:cNvSpPr txBox="1"/>
          <p:nvPr/>
        </p:nvSpPr>
        <p:spPr>
          <a:xfrm>
            <a:off x="2173320" y="4334400"/>
            <a:ext cx="587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Allow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Forma libre 318"/>
          <p:cNvSpPr/>
          <p:nvPr/>
        </p:nvSpPr>
        <p:spPr>
          <a:xfrm>
            <a:off x="3066840" y="4314600"/>
            <a:ext cx="581400" cy="267120"/>
          </a:xfrm>
          <a:custGeom>
            <a:avLst/>
            <a:gdLst/>
            <a:ahLst/>
            <a:cxnLst/>
            <a:rect l="0" t="0" r="r" b="b"/>
            <a:pathLst>
              <a:path w="1615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509" y="0"/>
                </a:lnTo>
                <a:cubicBezTo>
                  <a:pt x="1523" y="0"/>
                  <a:pt x="1537" y="3"/>
                  <a:pt x="1550" y="8"/>
                </a:cubicBezTo>
                <a:cubicBezTo>
                  <a:pt x="1563" y="14"/>
                  <a:pt x="1574" y="21"/>
                  <a:pt x="1584" y="31"/>
                </a:cubicBezTo>
                <a:cubicBezTo>
                  <a:pt x="1594" y="41"/>
                  <a:pt x="1602" y="52"/>
                  <a:pt x="1607" y="65"/>
                </a:cubicBezTo>
                <a:cubicBezTo>
                  <a:pt x="1612" y="78"/>
                  <a:pt x="1615" y="92"/>
                  <a:pt x="1615" y="106"/>
                </a:cubicBezTo>
                <a:lnTo>
                  <a:pt x="1615" y="636"/>
                </a:lnTo>
                <a:cubicBezTo>
                  <a:pt x="1615" y="650"/>
                  <a:pt x="1612" y="664"/>
                  <a:pt x="1607" y="677"/>
                </a:cubicBezTo>
                <a:cubicBezTo>
                  <a:pt x="1602" y="690"/>
                  <a:pt x="1594" y="701"/>
                  <a:pt x="1584" y="711"/>
                </a:cubicBezTo>
                <a:cubicBezTo>
                  <a:pt x="1574" y="721"/>
                  <a:pt x="1563" y="729"/>
                  <a:pt x="1550" y="734"/>
                </a:cubicBezTo>
                <a:cubicBezTo>
                  <a:pt x="1537" y="739"/>
                  <a:pt x="1523" y="742"/>
                  <a:pt x="1509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CuadroTexto 319"/>
          <p:cNvSpPr txBox="1"/>
          <p:nvPr/>
        </p:nvSpPr>
        <p:spPr>
          <a:xfrm>
            <a:off x="2815560" y="4297320"/>
            <a:ext cx="254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o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CuadroTexto 320"/>
          <p:cNvSpPr txBox="1"/>
          <p:nvPr/>
        </p:nvSpPr>
        <p:spPr>
          <a:xfrm>
            <a:off x="3127320" y="4334400"/>
            <a:ext cx="470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Deny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Forma libre 321"/>
          <p:cNvSpPr/>
          <p:nvPr/>
        </p:nvSpPr>
        <p:spPr>
          <a:xfrm>
            <a:off x="4124160" y="4314600"/>
            <a:ext cx="581400" cy="267120"/>
          </a:xfrm>
          <a:custGeom>
            <a:avLst/>
            <a:gdLst/>
            <a:ahLst/>
            <a:cxnLst/>
            <a:rect l="0" t="0" r="r" b="b"/>
            <a:pathLst>
              <a:path w="1615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509" y="0"/>
                </a:lnTo>
                <a:cubicBezTo>
                  <a:pt x="1523" y="0"/>
                  <a:pt x="1537" y="3"/>
                  <a:pt x="1550" y="8"/>
                </a:cubicBezTo>
                <a:cubicBezTo>
                  <a:pt x="1563" y="14"/>
                  <a:pt x="1574" y="21"/>
                  <a:pt x="1584" y="31"/>
                </a:cubicBezTo>
                <a:cubicBezTo>
                  <a:pt x="1594" y="41"/>
                  <a:pt x="1601" y="52"/>
                  <a:pt x="1607" y="65"/>
                </a:cubicBezTo>
                <a:cubicBezTo>
                  <a:pt x="1612" y="78"/>
                  <a:pt x="1615" y="92"/>
                  <a:pt x="1615" y="106"/>
                </a:cubicBezTo>
                <a:lnTo>
                  <a:pt x="1615" y="636"/>
                </a:lnTo>
                <a:cubicBezTo>
                  <a:pt x="1615" y="650"/>
                  <a:pt x="1612" y="664"/>
                  <a:pt x="1607" y="677"/>
                </a:cubicBezTo>
                <a:cubicBezTo>
                  <a:pt x="1601" y="690"/>
                  <a:pt x="1594" y="701"/>
                  <a:pt x="1584" y="711"/>
                </a:cubicBezTo>
                <a:cubicBezTo>
                  <a:pt x="1574" y="721"/>
                  <a:pt x="1563" y="729"/>
                  <a:pt x="1550" y="734"/>
                </a:cubicBezTo>
                <a:cubicBezTo>
                  <a:pt x="1537" y="739"/>
                  <a:pt x="1523" y="742"/>
                  <a:pt x="1509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CuadroTexto 322"/>
          <p:cNvSpPr txBox="1"/>
          <p:nvPr/>
        </p:nvSpPr>
        <p:spPr>
          <a:xfrm>
            <a:off x="3652560" y="4297320"/>
            <a:ext cx="470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. Un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CuadroTexto 323"/>
          <p:cNvSpPr txBox="1"/>
          <p:nvPr/>
        </p:nvSpPr>
        <p:spPr>
          <a:xfrm>
            <a:off x="4179600" y="4334400"/>
            <a:ext cx="470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Deny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Forma libre 324"/>
          <p:cNvSpPr/>
          <p:nvPr/>
        </p:nvSpPr>
        <p:spPr>
          <a:xfrm>
            <a:off x="914040" y="480996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2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CuadroTexto 325"/>
          <p:cNvSpPr txBox="1"/>
          <p:nvPr/>
        </p:nvSpPr>
        <p:spPr>
          <a:xfrm>
            <a:off x="4704840" y="4297320"/>
            <a:ext cx="2261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explícito gana siempre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Forma libre 326"/>
          <p:cNvSpPr/>
          <p:nvPr/>
        </p:nvSpPr>
        <p:spPr>
          <a:xfrm>
            <a:off x="3724200" y="4714560"/>
            <a:ext cx="1514880" cy="267120"/>
          </a:xfrm>
          <a:custGeom>
            <a:avLst/>
            <a:gdLst/>
            <a:ahLst/>
            <a:cxnLst/>
            <a:rect l="0" t="0" r="r" b="b"/>
            <a:pathLst>
              <a:path w="4208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4102" y="0"/>
                </a:lnTo>
                <a:cubicBezTo>
                  <a:pt x="4116" y="0"/>
                  <a:pt x="4129" y="3"/>
                  <a:pt x="4142" y="8"/>
                </a:cubicBezTo>
                <a:cubicBezTo>
                  <a:pt x="4155" y="14"/>
                  <a:pt x="4167" y="21"/>
                  <a:pt x="4177" y="31"/>
                </a:cubicBezTo>
                <a:cubicBezTo>
                  <a:pt x="4187" y="41"/>
                  <a:pt x="4194" y="53"/>
                  <a:pt x="4200" y="66"/>
                </a:cubicBezTo>
                <a:cubicBezTo>
                  <a:pt x="4205" y="79"/>
                  <a:pt x="4208" y="92"/>
                  <a:pt x="4208" y="106"/>
                </a:cubicBezTo>
                <a:lnTo>
                  <a:pt x="4208" y="636"/>
                </a:lnTo>
                <a:cubicBezTo>
                  <a:pt x="4208" y="650"/>
                  <a:pt x="4205" y="664"/>
                  <a:pt x="4200" y="677"/>
                </a:cubicBezTo>
                <a:cubicBezTo>
                  <a:pt x="4194" y="690"/>
                  <a:pt x="4187" y="701"/>
                  <a:pt x="4177" y="711"/>
                </a:cubicBezTo>
                <a:cubicBezTo>
                  <a:pt x="4167" y="721"/>
                  <a:pt x="4155" y="729"/>
                  <a:pt x="4142" y="734"/>
                </a:cubicBezTo>
                <a:cubicBezTo>
                  <a:pt x="4129" y="740"/>
                  <a:pt x="4116" y="742"/>
                  <a:pt x="4102" y="742"/>
                </a:cubicBezTo>
                <a:lnTo>
                  <a:pt x="106" y="742"/>
                </a:lnTo>
                <a:cubicBezTo>
                  <a:pt x="92" y="742"/>
                  <a:pt x="78" y="740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CuadroTexto 327"/>
          <p:cNvSpPr txBox="1"/>
          <p:nvPr/>
        </p:nvSpPr>
        <p:spPr>
          <a:xfrm>
            <a:off x="1123920" y="4697280"/>
            <a:ext cx="26006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Action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qué operación.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CuadroTexto 328"/>
          <p:cNvSpPr txBox="1"/>
          <p:nvPr/>
        </p:nvSpPr>
        <p:spPr>
          <a:xfrm>
            <a:off x="3781080" y="4734720"/>
            <a:ext cx="14101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s3:GetObject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Forma libre 329"/>
          <p:cNvSpPr/>
          <p:nvPr/>
        </p:nvSpPr>
        <p:spPr>
          <a:xfrm>
            <a:off x="5686200" y="4714560"/>
            <a:ext cx="581400" cy="267120"/>
          </a:xfrm>
          <a:custGeom>
            <a:avLst/>
            <a:gdLst/>
            <a:ahLst/>
            <a:cxnLst/>
            <a:rect l="0" t="0" r="r" b="b"/>
            <a:pathLst>
              <a:path w="1615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509" y="0"/>
                </a:lnTo>
                <a:cubicBezTo>
                  <a:pt x="1523" y="0"/>
                  <a:pt x="1537" y="3"/>
                  <a:pt x="1550" y="8"/>
                </a:cubicBezTo>
                <a:cubicBezTo>
                  <a:pt x="1563" y="14"/>
                  <a:pt x="1574" y="21"/>
                  <a:pt x="1584" y="31"/>
                </a:cubicBezTo>
                <a:cubicBezTo>
                  <a:pt x="1594" y="41"/>
                  <a:pt x="1602" y="53"/>
                  <a:pt x="1607" y="66"/>
                </a:cubicBezTo>
                <a:cubicBezTo>
                  <a:pt x="1612" y="79"/>
                  <a:pt x="1615" y="92"/>
                  <a:pt x="1615" y="106"/>
                </a:cubicBezTo>
                <a:lnTo>
                  <a:pt x="1615" y="636"/>
                </a:lnTo>
                <a:cubicBezTo>
                  <a:pt x="1615" y="650"/>
                  <a:pt x="1612" y="664"/>
                  <a:pt x="1607" y="677"/>
                </a:cubicBezTo>
                <a:cubicBezTo>
                  <a:pt x="1602" y="690"/>
                  <a:pt x="1594" y="701"/>
                  <a:pt x="1584" y="711"/>
                </a:cubicBezTo>
                <a:cubicBezTo>
                  <a:pt x="1574" y="721"/>
                  <a:pt x="1563" y="729"/>
                  <a:pt x="1550" y="734"/>
                </a:cubicBezTo>
                <a:cubicBezTo>
                  <a:pt x="1537" y="740"/>
                  <a:pt x="1523" y="742"/>
                  <a:pt x="1509" y="742"/>
                </a:cubicBezTo>
                <a:lnTo>
                  <a:pt x="106" y="742"/>
                </a:lnTo>
                <a:cubicBezTo>
                  <a:pt x="92" y="742"/>
                  <a:pt x="78" y="740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CuadroTexto 330"/>
          <p:cNvSpPr txBox="1"/>
          <p:nvPr/>
        </p:nvSpPr>
        <p:spPr>
          <a:xfrm>
            <a:off x="5242320" y="4697280"/>
            <a:ext cx="4413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no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Forma libre 331"/>
          <p:cNvSpPr/>
          <p:nvPr/>
        </p:nvSpPr>
        <p:spPr>
          <a:xfrm>
            <a:off x="914040" y="520992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CuadroTexto 332"/>
          <p:cNvSpPr txBox="1"/>
          <p:nvPr/>
        </p:nvSpPr>
        <p:spPr>
          <a:xfrm>
            <a:off x="5739840" y="4734720"/>
            <a:ext cx="470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s3:*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Forma libre 333"/>
          <p:cNvSpPr/>
          <p:nvPr/>
        </p:nvSpPr>
        <p:spPr>
          <a:xfrm>
            <a:off x="914040" y="56098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CuadroTexto 334"/>
          <p:cNvSpPr txBox="1"/>
          <p:nvPr/>
        </p:nvSpPr>
        <p:spPr>
          <a:xfrm>
            <a:off x="1123920" y="5097240"/>
            <a:ext cx="68011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Resource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sobre qué, con su ARN. Un preﬁjo, no el bucket entero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CuadroTexto 335"/>
          <p:cNvSpPr txBox="1"/>
          <p:nvPr/>
        </p:nvSpPr>
        <p:spPr>
          <a:xfrm>
            <a:off x="1123920" y="5497200"/>
            <a:ext cx="60004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Condition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bajo qué circunstancias. Aquí: sólo por HTTPS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CuadroTexto 33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19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CuadroTexto 33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CuadroTexto 338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Forma libre 33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Forma libre 34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Forma libre 34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Forma libre 342"/>
          <p:cNvSpPr/>
          <p:nvPr/>
        </p:nvSpPr>
        <p:spPr>
          <a:xfrm>
            <a:off x="671400" y="2319120"/>
            <a:ext cx="10849320" cy="848160"/>
          </a:xfrm>
          <a:custGeom>
            <a:avLst/>
            <a:gdLst/>
            <a:ahLst/>
            <a:cxnLst/>
            <a:rect l="0" t="0" r="r" b="b"/>
            <a:pathLst>
              <a:path w="30137" h="2356">
                <a:moveTo>
                  <a:pt x="0" y="2157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157"/>
                </a:lnTo>
                <a:cubicBezTo>
                  <a:pt x="30137" y="2170"/>
                  <a:pt x="30136" y="2183"/>
                  <a:pt x="30133" y="2196"/>
                </a:cubicBezTo>
                <a:cubicBezTo>
                  <a:pt x="30130" y="2209"/>
                  <a:pt x="30127" y="2221"/>
                  <a:pt x="30122" y="2233"/>
                </a:cubicBezTo>
                <a:cubicBezTo>
                  <a:pt x="30117" y="2245"/>
                  <a:pt x="30111" y="2257"/>
                  <a:pt x="30103" y="2268"/>
                </a:cubicBezTo>
                <a:cubicBezTo>
                  <a:pt x="30096" y="2279"/>
                  <a:pt x="30088" y="2289"/>
                  <a:pt x="30079" y="2298"/>
                </a:cubicBezTo>
                <a:cubicBezTo>
                  <a:pt x="30070" y="2307"/>
                  <a:pt x="30059" y="2315"/>
                  <a:pt x="30049" y="2322"/>
                </a:cubicBezTo>
                <a:cubicBezTo>
                  <a:pt x="30038" y="2330"/>
                  <a:pt x="30026" y="2336"/>
                  <a:pt x="30014" y="2341"/>
                </a:cubicBezTo>
                <a:cubicBezTo>
                  <a:pt x="30002" y="2346"/>
                  <a:pt x="29990" y="2350"/>
                  <a:pt x="29977" y="2352"/>
                </a:cubicBezTo>
                <a:cubicBezTo>
                  <a:pt x="29964" y="2355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5"/>
                  <a:pt x="160" y="2352"/>
                </a:cubicBezTo>
                <a:cubicBezTo>
                  <a:pt x="147" y="2350"/>
                  <a:pt x="134" y="2346"/>
                  <a:pt x="122" y="2341"/>
                </a:cubicBezTo>
                <a:cubicBezTo>
                  <a:pt x="110" y="2336"/>
                  <a:pt x="99" y="2330"/>
                  <a:pt x="88" y="2322"/>
                </a:cubicBezTo>
                <a:cubicBezTo>
                  <a:pt x="77" y="2315"/>
                  <a:pt x="67" y="2307"/>
                  <a:pt x="58" y="2298"/>
                </a:cubicBezTo>
                <a:cubicBezTo>
                  <a:pt x="49" y="2289"/>
                  <a:pt x="40" y="2279"/>
                  <a:pt x="33" y="2268"/>
                </a:cubicBezTo>
                <a:cubicBezTo>
                  <a:pt x="26" y="2257"/>
                  <a:pt x="20" y="2245"/>
                  <a:pt x="15" y="2233"/>
                </a:cubicBezTo>
                <a:cubicBezTo>
                  <a:pt x="10" y="2221"/>
                  <a:pt x="6" y="2209"/>
                  <a:pt x="4" y="2196"/>
                </a:cubicBezTo>
                <a:cubicBezTo>
                  <a:pt x="1" y="2183"/>
                  <a:pt x="0" y="2170"/>
                  <a:pt x="0" y="2157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Forma libre 343"/>
          <p:cNvSpPr/>
          <p:nvPr/>
        </p:nvSpPr>
        <p:spPr>
          <a:xfrm>
            <a:off x="671400" y="2319120"/>
            <a:ext cx="10849320" cy="848160"/>
          </a:xfrm>
          <a:custGeom>
            <a:avLst/>
            <a:gdLst/>
            <a:ahLst/>
            <a:cxnLst/>
            <a:rect l="0" t="0" r="r" b="b"/>
            <a:pathLst>
              <a:path w="30137" h="2356">
                <a:moveTo>
                  <a:pt x="0" y="2157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157"/>
                </a:lnTo>
                <a:cubicBezTo>
                  <a:pt x="30137" y="2170"/>
                  <a:pt x="30136" y="2183"/>
                  <a:pt x="30133" y="2196"/>
                </a:cubicBezTo>
                <a:cubicBezTo>
                  <a:pt x="30130" y="2209"/>
                  <a:pt x="30127" y="2221"/>
                  <a:pt x="30122" y="2233"/>
                </a:cubicBezTo>
                <a:cubicBezTo>
                  <a:pt x="30117" y="2245"/>
                  <a:pt x="30111" y="2257"/>
                  <a:pt x="30103" y="2268"/>
                </a:cubicBezTo>
                <a:cubicBezTo>
                  <a:pt x="30096" y="2279"/>
                  <a:pt x="30088" y="2289"/>
                  <a:pt x="30079" y="2298"/>
                </a:cubicBezTo>
                <a:cubicBezTo>
                  <a:pt x="30070" y="2307"/>
                  <a:pt x="30059" y="2315"/>
                  <a:pt x="30049" y="2322"/>
                </a:cubicBezTo>
                <a:cubicBezTo>
                  <a:pt x="30038" y="2330"/>
                  <a:pt x="30026" y="2336"/>
                  <a:pt x="30014" y="2341"/>
                </a:cubicBezTo>
                <a:cubicBezTo>
                  <a:pt x="30002" y="2346"/>
                  <a:pt x="29990" y="2350"/>
                  <a:pt x="29977" y="2352"/>
                </a:cubicBezTo>
                <a:cubicBezTo>
                  <a:pt x="29964" y="2355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5"/>
                  <a:pt x="160" y="2352"/>
                </a:cubicBezTo>
                <a:cubicBezTo>
                  <a:pt x="147" y="2350"/>
                  <a:pt x="134" y="2346"/>
                  <a:pt x="122" y="2341"/>
                </a:cubicBezTo>
                <a:cubicBezTo>
                  <a:pt x="110" y="2336"/>
                  <a:pt x="99" y="2330"/>
                  <a:pt x="88" y="2322"/>
                </a:cubicBezTo>
                <a:cubicBezTo>
                  <a:pt x="77" y="2315"/>
                  <a:pt x="67" y="2307"/>
                  <a:pt x="58" y="2298"/>
                </a:cubicBezTo>
                <a:cubicBezTo>
                  <a:pt x="49" y="2289"/>
                  <a:pt x="40" y="2279"/>
                  <a:pt x="33" y="2268"/>
                </a:cubicBezTo>
                <a:cubicBezTo>
                  <a:pt x="26" y="2257"/>
                  <a:pt x="20" y="2245"/>
                  <a:pt x="15" y="2233"/>
                </a:cubicBezTo>
                <a:cubicBezTo>
                  <a:pt x="10" y="2221"/>
                  <a:pt x="6" y="2209"/>
                  <a:pt x="4" y="2196"/>
                </a:cubicBezTo>
                <a:cubicBezTo>
                  <a:pt x="1" y="2183"/>
                  <a:pt x="0" y="2170"/>
                  <a:pt x="0" y="215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Forma libre 344"/>
          <p:cNvSpPr/>
          <p:nvPr/>
        </p:nvSpPr>
        <p:spPr>
          <a:xfrm>
            <a:off x="666720" y="4619520"/>
            <a:ext cx="10858680" cy="571680"/>
          </a:xfrm>
          <a:custGeom>
            <a:avLst/>
            <a:gdLst/>
            <a:ahLst/>
            <a:cxnLst/>
            <a:rect l="0" t="0" r="r" b="b"/>
            <a:pathLst>
              <a:path w="30163" h="1588">
                <a:moveTo>
                  <a:pt x="0" y="0"/>
                </a:moveTo>
                <a:lnTo>
                  <a:pt x="30163" y="0"/>
                </a:lnTo>
                <a:lnTo>
                  <a:pt x="3016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Forma libre 345"/>
          <p:cNvSpPr/>
          <p:nvPr/>
        </p:nvSpPr>
        <p:spPr>
          <a:xfrm>
            <a:off x="666720" y="4619520"/>
            <a:ext cx="47880" cy="571680"/>
          </a:xfrm>
          <a:custGeom>
            <a:avLst/>
            <a:gdLst/>
            <a:ahLst/>
            <a:cxnLst/>
            <a:rect l="0" t="0" r="r" b="b"/>
            <a:pathLst>
              <a:path w="133" h="1588">
                <a:moveTo>
                  <a:pt x="0" y="0"/>
                </a:moveTo>
                <a:lnTo>
                  <a:pt x="133" y="0"/>
                </a:lnTo>
                <a:lnTo>
                  <a:pt x="13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CuadroTexto 346"/>
          <p:cNvSpPr txBox="1"/>
          <p:nvPr/>
        </p:nvSpPr>
        <p:spPr>
          <a:xfrm>
            <a:off x="666720" y="1682280"/>
            <a:ext cx="53103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problema de las llaves de larga vida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CuadroTexto 347"/>
          <p:cNvSpPr txBox="1"/>
          <p:nvPr/>
        </p:nvSpPr>
        <p:spPr>
          <a:xfrm>
            <a:off x="866880" y="2499120"/>
            <a:ext cx="85172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MAL    AKIA... en el código, en el notebook, en el .env que subiste sin querer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Forma libre 348"/>
          <p:cNvSpPr/>
          <p:nvPr/>
        </p:nvSpPr>
        <p:spPr>
          <a:xfrm>
            <a:off x="914040" y="347652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60"/>
                  <a:pt x="192" y="172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2"/>
                  <a:pt x="14" y="160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CuadroTexto 349"/>
          <p:cNvSpPr txBox="1"/>
          <p:nvPr/>
        </p:nvSpPr>
        <p:spPr>
          <a:xfrm>
            <a:off x="866880" y="2765880"/>
            <a:ext cx="61149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BIEN   un rol: credenciales temporales que caducan solas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Forma libre 350"/>
          <p:cNvSpPr/>
          <p:nvPr/>
        </p:nvSpPr>
        <p:spPr>
          <a:xfrm>
            <a:off x="914040" y="38764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CuadroTexto 351"/>
          <p:cNvSpPr txBox="1"/>
          <p:nvPr/>
        </p:nvSpPr>
        <p:spPr>
          <a:xfrm>
            <a:off x="1123920" y="3363840"/>
            <a:ext cx="73422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Una llave ﬁltrada sirve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hasta que alguien la revoque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y nadie se entera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Forma libre 352"/>
          <p:cNvSpPr/>
          <p:nvPr/>
        </p:nvSpPr>
        <p:spPr>
          <a:xfrm>
            <a:off x="4714560" y="3781080"/>
            <a:ext cx="581400" cy="267120"/>
          </a:xfrm>
          <a:custGeom>
            <a:avLst/>
            <a:gdLst/>
            <a:ahLst/>
            <a:cxnLst/>
            <a:rect l="0" t="0" r="r" b="b"/>
            <a:pathLst>
              <a:path w="1615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6" y="0"/>
                </a:cubicBezTo>
                <a:lnTo>
                  <a:pt x="1509" y="0"/>
                </a:lnTo>
                <a:cubicBezTo>
                  <a:pt x="1524" y="0"/>
                  <a:pt x="1537" y="3"/>
                  <a:pt x="1550" y="9"/>
                </a:cubicBezTo>
                <a:cubicBezTo>
                  <a:pt x="1563" y="14"/>
                  <a:pt x="1574" y="22"/>
                  <a:pt x="1584" y="31"/>
                </a:cubicBezTo>
                <a:cubicBezTo>
                  <a:pt x="1594" y="41"/>
                  <a:pt x="1602" y="53"/>
                  <a:pt x="1607" y="66"/>
                </a:cubicBezTo>
                <a:cubicBezTo>
                  <a:pt x="1613" y="79"/>
                  <a:pt x="1615" y="92"/>
                  <a:pt x="1615" y="106"/>
                </a:cubicBezTo>
                <a:lnTo>
                  <a:pt x="1615" y="636"/>
                </a:lnTo>
                <a:cubicBezTo>
                  <a:pt x="1615" y="650"/>
                  <a:pt x="1613" y="664"/>
                  <a:pt x="1607" y="677"/>
                </a:cubicBezTo>
                <a:cubicBezTo>
                  <a:pt x="1602" y="690"/>
                  <a:pt x="1594" y="701"/>
                  <a:pt x="1584" y="711"/>
                </a:cubicBezTo>
                <a:cubicBezTo>
                  <a:pt x="1574" y="721"/>
                  <a:pt x="1563" y="729"/>
                  <a:pt x="1550" y="734"/>
                </a:cubicBezTo>
                <a:cubicBezTo>
                  <a:pt x="1537" y="740"/>
                  <a:pt x="1524" y="742"/>
                  <a:pt x="1509" y="742"/>
                </a:cubicBezTo>
                <a:lnTo>
                  <a:pt x="106" y="742"/>
                </a:lnTo>
                <a:cubicBezTo>
                  <a:pt x="92" y="742"/>
                  <a:pt x="79" y="740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CuadroTexto 353"/>
          <p:cNvSpPr txBox="1"/>
          <p:nvPr/>
        </p:nvSpPr>
        <p:spPr>
          <a:xfrm>
            <a:off x="1123920" y="3763800"/>
            <a:ext cx="35910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Los bots rastrean GitHub buscando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CuadroTexto 354"/>
          <p:cNvSpPr txBox="1"/>
          <p:nvPr/>
        </p:nvSpPr>
        <p:spPr>
          <a:xfrm>
            <a:off x="4822200" y="3791160"/>
            <a:ext cx="470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 dirty="0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AKIA</a:t>
            </a:r>
            <a:endParaRPr lang="es-ES" sz="15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Forma libre 355"/>
          <p:cNvSpPr/>
          <p:nvPr/>
        </p:nvSpPr>
        <p:spPr>
          <a:xfrm>
            <a:off x="914040" y="42764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9" y="67"/>
                </a:cubicBezTo>
                <a:cubicBezTo>
                  <a:pt x="14" y="54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CuadroTexto 356"/>
          <p:cNvSpPr txBox="1"/>
          <p:nvPr/>
        </p:nvSpPr>
        <p:spPr>
          <a:xfrm>
            <a:off x="5292720" y="3763800"/>
            <a:ext cx="46155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; el tiempo hasta el abuso se mide en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minutos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CuadroTexto 357"/>
          <p:cNvSpPr txBox="1"/>
          <p:nvPr/>
        </p:nvSpPr>
        <p:spPr>
          <a:xfrm>
            <a:off x="1123920" y="4163760"/>
            <a:ext cx="7038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Si se te ﬁltra una: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rótala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no la borres y ya. Y revisa qué se hizo con ella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CuadroTexto 358"/>
          <p:cNvSpPr txBox="1"/>
          <p:nvPr/>
        </p:nvSpPr>
        <p:spPr>
          <a:xfrm>
            <a:off x="905040" y="4773600"/>
            <a:ext cx="95418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En este curso, una credencial en un commit es un error de entrega. Se veriﬁca automáticamente.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CuadroTexto 35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19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CuadroTexto 36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CuadroTexto 361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Forma libre 36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Forma libre 36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Forma libre 36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CuadroTexto 365"/>
          <p:cNvSpPr txBox="1"/>
          <p:nvPr/>
        </p:nvSpPr>
        <p:spPr>
          <a:xfrm>
            <a:off x="2365200" y="3063960"/>
            <a:ext cx="764856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5. Privilegio mínimo en la práctica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CuadroTexto 36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19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CuadroTexto 36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CuadroTexto 368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Forma libre 36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Forma libre 37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Forma libre 37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Forma libre 372"/>
          <p:cNvSpPr/>
          <p:nvPr/>
        </p:nvSpPr>
        <p:spPr>
          <a:xfrm>
            <a:off x="666720" y="501012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Forma libre 373"/>
          <p:cNvSpPr/>
          <p:nvPr/>
        </p:nvSpPr>
        <p:spPr>
          <a:xfrm>
            <a:off x="666720" y="501012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CuadroTexto 374"/>
          <p:cNvSpPr txBox="1"/>
          <p:nvPr/>
        </p:nvSpPr>
        <p:spPr>
          <a:xfrm>
            <a:off x="666720" y="948960"/>
            <a:ext cx="259848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Empieza con nada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CuadroTexto 375"/>
          <p:cNvSpPr txBox="1"/>
          <p:nvPr/>
        </p:nvSpPr>
        <p:spPr>
          <a:xfrm>
            <a:off x="666720" y="1620720"/>
            <a:ext cx="24015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método que funciona: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CuadroTexto 376"/>
          <p:cNvSpPr txBox="1"/>
          <p:nvPr/>
        </p:nvSpPr>
        <p:spPr>
          <a:xfrm>
            <a:off x="869760" y="2116080"/>
            <a:ext cx="20498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Da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cero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permisos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CuadroTexto 377"/>
          <p:cNvSpPr txBox="1"/>
          <p:nvPr/>
        </p:nvSpPr>
        <p:spPr>
          <a:xfrm>
            <a:off x="869760" y="2516040"/>
            <a:ext cx="2897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Corre lo que quieres correr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CuadroTexto 378"/>
          <p:cNvSpPr txBox="1"/>
          <p:nvPr/>
        </p:nvSpPr>
        <p:spPr>
          <a:xfrm>
            <a:off x="869760" y="2916000"/>
            <a:ext cx="57344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Falla, y el error te dice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exactamente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qué acción le faltó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CuadroTexto 379"/>
          <p:cNvSpPr txBox="1"/>
          <p:nvPr/>
        </p:nvSpPr>
        <p:spPr>
          <a:xfrm>
            <a:off x="869760" y="3316320"/>
            <a:ext cx="40622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4. Agrega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esa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acción, sobre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ese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recurso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CuadroTexto 380"/>
          <p:cNvSpPr txBox="1"/>
          <p:nvPr/>
        </p:nvSpPr>
        <p:spPr>
          <a:xfrm>
            <a:off x="869760" y="3716280"/>
            <a:ext cx="8859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5. Repite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CuadroTexto 381"/>
          <p:cNvSpPr txBox="1"/>
          <p:nvPr/>
        </p:nvSpPr>
        <p:spPr>
          <a:xfrm>
            <a:off x="666720" y="4211640"/>
            <a:ext cx="104108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Antes de aplicar nada: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pruébala en el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IAM Policy Simulator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. Te dice qué permite y qué no, sin tocar la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CuadroTexto 382"/>
          <p:cNvSpPr txBox="1"/>
          <p:nvPr/>
        </p:nvSpPr>
        <p:spPr>
          <a:xfrm>
            <a:off x="666720" y="4554360"/>
            <a:ext cx="733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cuenta.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Forma libre 383"/>
          <p:cNvSpPr/>
          <p:nvPr/>
        </p:nvSpPr>
        <p:spPr>
          <a:xfrm>
            <a:off x="6629040" y="5181480"/>
            <a:ext cx="581400" cy="267120"/>
          </a:xfrm>
          <a:custGeom>
            <a:avLst/>
            <a:gdLst/>
            <a:ahLst/>
            <a:cxnLst/>
            <a:rect l="0" t="0" r="r" b="b"/>
            <a:pathLst>
              <a:path w="1615" h="742">
                <a:moveTo>
                  <a:pt x="0" y="636"/>
                </a:moveTo>
                <a:lnTo>
                  <a:pt x="0" y="107"/>
                </a:ln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2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1510" y="0"/>
                </a:lnTo>
                <a:cubicBezTo>
                  <a:pt x="1524" y="0"/>
                  <a:pt x="1537" y="3"/>
                  <a:pt x="1550" y="8"/>
                </a:cubicBezTo>
                <a:cubicBezTo>
                  <a:pt x="1563" y="13"/>
                  <a:pt x="1575" y="21"/>
                  <a:pt x="1584" y="31"/>
                </a:cubicBezTo>
                <a:cubicBezTo>
                  <a:pt x="1594" y="42"/>
                  <a:pt x="1602" y="53"/>
                  <a:pt x="1607" y="66"/>
                </a:cubicBezTo>
                <a:cubicBezTo>
                  <a:pt x="1613" y="79"/>
                  <a:pt x="1615" y="93"/>
                  <a:pt x="1615" y="107"/>
                </a:cubicBezTo>
                <a:lnTo>
                  <a:pt x="1615" y="636"/>
                </a:lnTo>
                <a:cubicBezTo>
                  <a:pt x="1615" y="650"/>
                  <a:pt x="1613" y="663"/>
                  <a:pt x="1607" y="676"/>
                </a:cubicBezTo>
                <a:cubicBezTo>
                  <a:pt x="1602" y="689"/>
                  <a:pt x="1594" y="701"/>
                  <a:pt x="1584" y="711"/>
                </a:cubicBezTo>
                <a:cubicBezTo>
                  <a:pt x="1575" y="721"/>
                  <a:pt x="1563" y="728"/>
                  <a:pt x="1550" y="734"/>
                </a:cubicBezTo>
                <a:cubicBezTo>
                  <a:pt x="1537" y="739"/>
                  <a:pt x="1524" y="742"/>
                  <a:pt x="1510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8"/>
                  <a:pt x="41" y="721"/>
                  <a:pt x="31" y="711"/>
                </a:cubicBezTo>
                <a:cubicBezTo>
                  <a:pt x="22" y="701"/>
                  <a:pt x="14" y="689"/>
                  <a:pt x="9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CuadroTexto 384"/>
          <p:cNvSpPr txBox="1"/>
          <p:nvPr/>
        </p:nvSpPr>
        <p:spPr>
          <a:xfrm>
            <a:off x="905040" y="5163840"/>
            <a:ext cx="57211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Es más lento el primer día y más barato todos los demás.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CuadroTexto 385"/>
          <p:cNvSpPr txBox="1"/>
          <p:nvPr/>
        </p:nvSpPr>
        <p:spPr>
          <a:xfrm>
            <a:off x="6682320" y="5201280"/>
            <a:ext cx="470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s3:*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CuadroTexto 386"/>
          <p:cNvSpPr txBox="1"/>
          <p:nvPr/>
        </p:nvSpPr>
        <p:spPr>
          <a:xfrm>
            <a:off x="7207560" y="5163840"/>
            <a:ext cx="4053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es rápido de escribir y es lo que aparece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CuadroTexto 387"/>
          <p:cNvSpPr txBox="1"/>
          <p:nvPr/>
        </p:nvSpPr>
        <p:spPr>
          <a:xfrm>
            <a:off x="905040" y="5506920"/>
            <a:ext cx="17071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en los incidentes.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CuadroTexto 38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19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CuadroTexto 38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CuadroTexto 390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Forma libre 39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Forma libre 39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Forma libre 39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CuadroTexto 394"/>
          <p:cNvSpPr txBox="1"/>
          <p:nvPr/>
        </p:nvSpPr>
        <p:spPr>
          <a:xfrm>
            <a:off x="3635640" y="3063960"/>
            <a:ext cx="504936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6. La CLI y los perfiles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CuadroTexto 395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19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CuadroTexto 396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CuadroTexto 397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Forma libre 39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Forma libre 39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Forma libre 40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Forma libre 401"/>
          <p:cNvSpPr/>
          <p:nvPr/>
        </p:nvSpPr>
        <p:spPr>
          <a:xfrm>
            <a:off x="671400" y="1985760"/>
            <a:ext cx="10849320" cy="1371960"/>
          </a:xfrm>
          <a:custGeom>
            <a:avLst/>
            <a:gdLst/>
            <a:ahLst/>
            <a:cxnLst/>
            <a:rect l="0" t="0" r="r" b="b"/>
            <a:pathLst>
              <a:path w="30137" h="3811">
                <a:moveTo>
                  <a:pt x="0" y="3613"/>
                </a:moveTo>
                <a:lnTo>
                  <a:pt x="0" y="199"/>
                </a:lnTo>
                <a:cubicBezTo>
                  <a:pt x="0" y="185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5"/>
                  <a:pt x="30137" y="199"/>
                </a:cubicBezTo>
                <a:lnTo>
                  <a:pt x="30137" y="3613"/>
                </a:lnTo>
                <a:cubicBezTo>
                  <a:pt x="30137" y="3626"/>
                  <a:pt x="30136" y="3639"/>
                  <a:pt x="30133" y="3651"/>
                </a:cubicBezTo>
                <a:cubicBezTo>
                  <a:pt x="30130" y="3664"/>
                  <a:pt x="30127" y="3677"/>
                  <a:pt x="30122" y="3689"/>
                </a:cubicBezTo>
                <a:cubicBezTo>
                  <a:pt x="30117" y="3701"/>
                  <a:pt x="30111" y="3712"/>
                  <a:pt x="30103" y="3723"/>
                </a:cubicBezTo>
                <a:cubicBezTo>
                  <a:pt x="30096" y="3734"/>
                  <a:pt x="30088" y="3744"/>
                  <a:pt x="30079" y="3753"/>
                </a:cubicBezTo>
                <a:cubicBezTo>
                  <a:pt x="30070" y="3762"/>
                  <a:pt x="30059" y="3770"/>
                  <a:pt x="30049" y="3778"/>
                </a:cubicBezTo>
                <a:cubicBezTo>
                  <a:pt x="30038" y="3785"/>
                  <a:pt x="30026" y="3791"/>
                  <a:pt x="30014" y="3796"/>
                </a:cubicBezTo>
                <a:cubicBezTo>
                  <a:pt x="30002" y="3801"/>
                  <a:pt x="29990" y="3805"/>
                  <a:pt x="29977" y="3807"/>
                </a:cubicBezTo>
                <a:cubicBezTo>
                  <a:pt x="29964" y="3810"/>
                  <a:pt x="29951" y="3811"/>
                  <a:pt x="29938" y="3811"/>
                </a:cubicBezTo>
                <a:lnTo>
                  <a:pt x="198" y="3811"/>
                </a:lnTo>
                <a:cubicBezTo>
                  <a:pt x="185" y="3811"/>
                  <a:pt x="172" y="3810"/>
                  <a:pt x="160" y="3807"/>
                </a:cubicBezTo>
                <a:cubicBezTo>
                  <a:pt x="147" y="3805"/>
                  <a:pt x="134" y="3801"/>
                  <a:pt x="122" y="3796"/>
                </a:cubicBezTo>
                <a:cubicBezTo>
                  <a:pt x="110" y="3791"/>
                  <a:pt x="99" y="3785"/>
                  <a:pt x="88" y="3778"/>
                </a:cubicBezTo>
                <a:cubicBezTo>
                  <a:pt x="77" y="3770"/>
                  <a:pt x="67" y="3762"/>
                  <a:pt x="58" y="3753"/>
                </a:cubicBezTo>
                <a:cubicBezTo>
                  <a:pt x="49" y="3744"/>
                  <a:pt x="40" y="3734"/>
                  <a:pt x="33" y="3723"/>
                </a:cubicBezTo>
                <a:cubicBezTo>
                  <a:pt x="26" y="3712"/>
                  <a:pt x="20" y="3701"/>
                  <a:pt x="15" y="3689"/>
                </a:cubicBezTo>
                <a:cubicBezTo>
                  <a:pt x="10" y="3677"/>
                  <a:pt x="6" y="3664"/>
                  <a:pt x="4" y="3651"/>
                </a:cubicBezTo>
                <a:cubicBezTo>
                  <a:pt x="1" y="3639"/>
                  <a:pt x="0" y="3626"/>
                  <a:pt x="0" y="3613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Forma libre 402"/>
          <p:cNvSpPr/>
          <p:nvPr/>
        </p:nvSpPr>
        <p:spPr>
          <a:xfrm>
            <a:off x="671400" y="1985760"/>
            <a:ext cx="10849320" cy="1371960"/>
          </a:xfrm>
          <a:custGeom>
            <a:avLst/>
            <a:gdLst/>
            <a:ahLst/>
            <a:cxnLst/>
            <a:rect l="0" t="0" r="r" b="b"/>
            <a:pathLst>
              <a:path w="30137" h="3811">
                <a:moveTo>
                  <a:pt x="0" y="3613"/>
                </a:moveTo>
                <a:lnTo>
                  <a:pt x="0" y="199"/>
                </a:lnTo>
                <a:cubicBezTo>
                  <a:pt x="0" y="185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5"/>
                  <a:pt x="30137" y="199"/>
                </a:cubicBezTo>
                <a:lnTo>
                  <a:pt x="30137" y="3613"/>
                </a:lnTo>
                <a:cubicBezTo>
                  <a:pt x="30137" y="3626"/>
                  <a:pt x="30136" y="3639"/>
                  <a:pt x="30133" y="3651"/>
                </a:cubicBezTo>
                <a:cubicBezTo>
                  <a:pt x="30130" y="3664"/>
                  <a:pt x="30127" y="3677"/>
                  <a:pt x="30122" y="3689"/>
                </a:cubicBezTo>
                <a:cubicBezTo>
                  <a:pt x="30117" y="3701"/>
                  <a:pt x="30111" y="3712"/>
                  <a:pt x="30103" y="3723"/>
                </a:cubicBezTo>
                <a:cubicBezTo>
                  <a:pt x="30096" y="3734"/>
                  <a:pt x="30088" y="3744"/>
                  <a:pt x="30079" y="3753"/>
                </a:cubicBezTo>
                <a:cubicBezTo>
                  <a:pt x="30070" y="3762"/>
                  <a:pt x="30059" y="3770"/>
                  <a:pt x="30049" y="3778"/>
                </a:cubicBezTo>
                <a:cubicBezTo>
                  <a:pt x="30038" y="3785"/>
                  <a:pt x="30026" y="3791"/>
                  <a:pt x="30014" y="3796"/>
                </a:cubicBezTo>
                <a:cubicBezTo>
                  <a:pt x="30002" y="3801"/>
                  <a:pt x="29990" y="3805"/>
                  <a:pt x="29977" y="3807"/>
                </a:cubicBezTo>
                <a:cubicBezTo>
                  <a:pt x="29964" y="3810"/>
                  <a:pt x="29951" y="3811"/>
                  <a:pt x="29938" y="3811"/>
                </a:cubicBezTo>
                <a:lnTo>
                  <a:pt x="198" y="3811"/>
                </a:lnTo>
                <a:cubicBezTo>
                  <a:pt x="185" y="3811"/>
                  <a:pt x="172" y="3810"/>
                  <a:pt x="160" y="3807"/>
                </a:cubicBezTo>
                <a:cubicBezTo>
                  <a:pt x="147" y="3805"/>
                  <a:pt x="134" y="3801"/>
                  <a:pt x="122" y="3796"/>
                </a:cubicBezTo>
                <a:cubicBezTo>
                  <a:pt x="110" y="3791"/>
                  <a:pt x="99" y="3785"/>
                  <a:pt x="88" y="3778"/>
                </a:cubicBezTo>
                <a:cubicBezTo>
                  <a:pt x="77" y="3770"/>
                  <a:pt x="67" y="3762"/>
                  <a:pt x="58" y="3753"/>
                </a:cubicBezTo>
                <a:cubicBezTo>
                  <a:pt x="49" y="3744"/>
                  <a:pt x="40" y="3734"/>
                  <a:pt x="33" y="3723"/>
                </a:cubicBezTo>
                <a:cubicBezTo>
                  <a:pt x="26" y="3712"/>
                  <a:pt x="20" y="3701"/>
                  <a:pt x="15" y="3689"/>
                </a:cubicBezTo>
                <a:cubicBezTo>
                  <a:pt x="10" y="3677"/>
                  <a:pt x="6" y="3664"/>
                  <a:pt x="4" y="3651"/>
                </a:cubicBezTo>
                <a:cubicBezTo>
                  <a:pt x="1" y="3639"/>
                  <a:pt x="0" y="3626"/>
                  <a:pt x="0" y="361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Forma libre 403"/>
          <p:cNvSpPr/>
          <p:nvPr/>
        </p:nvSpPr>
        <p:spPr>
          <a:xfrm>
            <a:off x="671400" y="3519360"/>
            <a:ext cx="10849320" cy="1105200"/>
          </a:xfrm>
          <a:custGeom>
            <a:avLst/>
            <a:gdLst/>
            <a:ahLst/>
            <a:cxnLst/>
            <a:rect l="0" t="0" r="r" b="b"/>
            <a:pathLst>
              <a:path w="30137" h="3070">
                <a:moveTo>
                  <a:pt x="0" y="2872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0"/>
                </a:cubicBezTo>
                <a:cubicBezTo>
                  <a:pt x="30130" y="2923"/>
                  <a:pt x="30127" y="2935"/>
                  <a:pt x="30122" y="2948"/>
                </a:cubicBezTo>
                <a:cubicBezTo>
                  <a:pt x="30117" y="2960"/>
                  <a:pt x="30111" y="2971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1"/>
                  <a:pt x="30059" y="3029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6"/>
                </a:cubicBezTo>
                <a:cubicBezTo>
                  <a:pt x="29964" y="3069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9"/>
                  <a:pt x="160" y="3066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29"/>
                  <a:pt x="67" y="3021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1"/>
                  <a:pt x="20" y="2960"/>
                  <a:pt x="15" y="2948"/>
                </a:cubicBezTo>
                <a:cubicBezTo>
                  <a:pt x="10" y="2935"/>
                  <a:pt x="6" y="2923"/>
                  <a:pt x="4" y="2910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Forma libre 404"/>
          <p:cNvSpPr/>
          <p:nvPr/>
        </p:nvSpPr>
        <p:spPr>
          <a:xfrm>
            <a:off x="671400" y="3519360"/>
            <a:ext cx="10849320" cy="1105200"/>
          </a:xfrm>
          <a:custGeom>
            <a:avLst/>
            <a:gdLst/>
            <a:ahLst/>
            <a:cxnLst/>
            <a:rect l="0" t="0" r="r" b="b"/>
            <a:pathLst>
              <a:path w="30137" h="3070">
                <a:moveTo>
                  <a:pt x="0" y="2872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0"/>
                </a:cubicBezTo>
                <a:cubicBezTo>
                  <a:pt x="30130" y="2923"/>
                  <a:pt x="30127" y="2935"/>
                  <a:pt x="30122" y="2948"/>
                </a:cubicBezTo>
                <a:cubicBezTo>
                  <a:pt x="30117" y="2960"/>
                  <a:pt x="30111" y="2971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1"/>
                  <a:pt x="30059" y="3029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6"/>
                </a:cubicBezTo>
                <a:cubicBezTo>
                  <a:pt x="29964" y="3069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9"/>
                  <a:pt x="160" y="3066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29"/>
                  <a:pt x="67" y="3021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1"/>
                  <a:pt x="20" y="2960"/>
                  <a:pt x="15" y="2948"/>
                </a:cubicBezTo>
                <a:cubicBezTo>
                  <a:pt x="10" y="2935"/>
                  <a:pt x="6" y="2923"/>
                  <a:pt x="4" y="2910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CuadroTexto 405"/>
          <p:cNvSpPr txBox="1"/>
          <p:nvPr/>
        </p:nvSpPr>
        <p:spPr>
          <a:xfrm>
            <a:off x="666720" y="1348920"/>
            <a:ext cx="598968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Las credenciales viven fuera del repositorio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CuadroTexto 406"/>
          <p:cNvSpPr txBox="1"/>
          <p:nvPr/>
        </p:nvSpPr>
        <p:spPr>
          <a:xfrm>
            <a:off x="866880" y="2165760"/>
            <a:ext cx="33854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~/.aws/credentials      [tesis]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CuadroTexto 407"/>
          <p:cNvSpPr txBox="1"/>
          <p:nvPr/>
        </p:nvSpPr>
        <p:spPr>
          <a:xfrm>
            <a:off x="866880" y="2432520"/>
            <a:ext cx="51325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              aws_access_key_id = ...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CuadroTexto 408"/>
          <p:cNvSpPr txBox="1"/>
          <p:nvPr/>
        </p:nvSpPr>
        <p:spPr>
          <a:xfrm>
            <a:off x="866880" y="2689560"/>
            <a:ext cx="42588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~/.aws/config           [profile tesis]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CuadroTexto 409"/>
          <p:cNvSpPr txBox="1"/>
          <p:nvPr/>
        </p:nvSpPr>
        <p:spPr>
          <a:xfrm>
            <a:off x="866880" y="2956320"/>
            <a:ext cx="45864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              region = us-east-1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CuadroTexto 410"/>
          <p:cNvSpPr txBox="1"/>
          <p:nvPr/>
        </p:nvSpPr>
        <p:spPr>
          <a:xfrm>
            <a:off x="866880" y="3699360"/>
            <a:ext cx="31672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aws configure --profile tesis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CuadroTexto 411"/>
          <p:cNvSpPr txBox="1"/>
          <p:nvPr/>
        </p:nvSpPr>
        <p:spPr>
          <a:xfrm>
            <a:off x="866880" y="3965760"/>
            <a:ext cx="66610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aws sts get-caller-identity --profile tesis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¿quién soy?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Forma libre 412"/>
          <p:cNvSpPr/>
          <p:nvPr/>
        </p:nvSpPr>
        <p:spPr>
          <a:xfrm>
            <a:off x="914040" y="493380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CuadroTexto 413"/>
          <p:cNvSpPr txBox="1"/>
          <p:nvPr/>
        </p:nvSpPr>
        <p:spPr>
          <a:xfrm>
            <a:off x="866880" y="4223160"/>
            <a:ext cx="27306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aws s3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ls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--profile tesis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Forma libre 414"/>
          <p:cNvSpPr/>
          <p:nvPr/>
        </p:nvSpPr>
        <p:spPr>
          <a:xfrm>
            <a:off x="2638080" y="4838400"/>
            <a:ext cx="4210560" cy="267120"/>
          </a:xfrm>
          <a:custGeom>
            <a:avLst/>
            <a:gdLst/>
            <a:ahLst/>
            <a:cxnLst/>
            <a:rect l="0" t="0" r="r" b="b"/>
            <a:pathLst>
              <a:path w="11696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11590" y="0"/>
                </a:lnTo>
                <a:cubicBezTo>
                  <a:pt x="11604" y="0"/>
                  <a:pt x="11618" y="3"/>
                  <a:pt x="11631" y="8"/>
                </a:cubicBezTo>
                <a:cubicBezTo>
                  <a:pt x="11644" y="14"/>
                  <a:pt x="11655" y="21"/>
                  <a:pt x="11665" y="31"/>
                </a:cubicBezTo>
                <a:cubicBezTo>
                  <a:pt x="11675" y="41"/>
                  <a:pt x="11683" y="53"/>
                  <a:pt x="11688" y="66"/>
                </a:cubicBezTo>
                <a:cubicBezTo>
                  <a:pt x="11693" y="79"/>
                  <a:pt x="11696" y="92"/>
                  <a:pt x="11696" y="106"/>
                </a:cubicBezTo>
                <a:lnTo>
                  <a:pt x="11696" y="636"/>
                </a:lnTo>
                <a:cubicBezTo>
                  <a:pt x="11696" y="650"/>
                  <a:pt x="11693" y="664"/>
                  <a:pt x="11688" y="677"/>
                </a:cubicBezTo>
                <a:cubicBezTo>
                  <a:pt x="11683" y="690"/>
                  <a:pt x="11675" y="701"/>
                  <a:pt x="11665" y="711"/>
                </a:cubicBezTo>
                <a:cubicBezTo>
                  <a:pt x="11655" y="721"/>
                  <a:pt x="11644" y="729"/>
                  <a:pt x="11631" y="734"/>
                </a:cubicBezTo>
                <a:cubicBezTo>
                  <a:pt x="11618" y="739"/>
                  <a:pt x="11604" y="742"/>
                  <a:pt x="11590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2" y="701"/>
                  <a:pt x="14" y="690"/>
                  <a:pt x="9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CuadroTexto 415"/>
          <p:cNvSpPr txBox="1"/>
          <p:nvPr/>
        </p:nvSpPr>
        <p:spPr>
          <a:xfrm>
            <a:off x="1123920" y="4821120"/>
            <a:ext cx="1516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Desde Python: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CuadroTexto 416"/>
          <p:cNvSpPr txBox="1"/>
          <p:nvPr/>
        </p:nvSpPr>
        <p:spPr>
          <a:xfrm>
            <a:off x="2697120" y="4858560"/>
            <a:ext cx="41112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boto3.Session(profile_name="tesis")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Forma libre 417"/>
          <p:cNvSpPr/>
          <p:nvPr/>
        </p:nvSpPr>
        <p:spPr>
          <a:xfrm>
            <a:off x="914040" y="533376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Forma libre 418"/>
          <p:cNvSpPr/>
          <p:nvPr/>
        </p:nvSpPr>
        <p:spPr>
          <a:xfrm>
            <a:off x="1123920" y="5238720"/>
            <a:ext cx="1171800" cy="266760"/>
          </a:xfrm>
          <a:custGeom>
            <a:avLst/>
            <a:gdLst/>
            <a:ahLst/>
            <a:cxnLst/>
            <a:rect l="0" t="0" r="r" b="b"/>
            <a:pathLst>
              <a:path w="3255" h="741">
                <a:moveTo>
                  <a:pt x="0" y="636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3149" y="0"/>
                </a:lnTo>
                <a:cubicBezTo>
                  <a:pt x="3163" y="0"/>
                  <a:pt x="3177" y="2"/>
                  <a:pt x="3190" y="8"/>
                </a:cubicBezTo>
                <a:cubicBezTo>
                  <a:pt x="3203" y="13"/>
                  <a:pt x="3214" y="21"/>
                  <a:pt x="3224" y="31"/>
                </a:cubicBezTo>
                <a:cubicBezTo>
                  <a:pt x="3234" y="41"/>
                  <a:pt x="3242" y="52"/>
                  <a:pt x="3247" y="65"/>
                </a:cubicBezTo>
                <a:cubicBezTo>
                  <a:pt x="3252" y="78"/>
                  <a:pt x="3255" y="91"/>
                  <a:pt x="3255" y="105"/>
                </a:cubicBezTo>
                <a:lnTo>
                  <a:pt x="3255" y="636"/>
                </a:lnTo>
                <a:cubicBezTo>
                  <a:pt x="3255" y="650"/>
                  <a:pt x="3252" y="663"/>
                  <a:pt x="3247" y="676"/>
                </a:cubicBezTo>
                <a:cubicBezTo>
                  <a:pt x="3242" y="689"/>
                  <a:pt x="3234" y="700"/>
                  <a:pt x="3224" y="710"/>
                </a:cubicBezTo>
                <a:cubicBezTo>
                  <a:pt x="3214" y="720"/>
                  <a:pt x="3203" y="728"/>
                  <a:pt x="3190" y="733"/>
                </a:cubicBezTo>
                <a:cubicBezTo>
                  <a:pt x="3177" y="739"/>
                  <a:pt x="3163" y="741"/>
                  <a:pt x="3149" y="741"/>
                </a:cubicBezTo>
                <a:lnTo>
                  <a:pt x="105" y="741"/>
                </a:lnTo>
                <a:cubicBezTo>
                  <a:pt x="91" y="741"/>
                  <a:pt x="78" y="739"/>
                  <a:pt x="65" y="733"/>
                </a:cubicBezTo>
                <a:cubicBezTo>
                  <a:pt x="52" y="728"/>
                  <a:pt x="41" y="720"/>
                  <a:pt x="31" y="710"/>
                </a:cubicBezTo>
                <a:cubicBezTo>
                  <a:pt x="21" y="700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CuadroTexto 419"/>
          <p:cNvSpPr txBox="1"/>
          <p:nvPr/>
        </p:nvSpPr>
        <p:spPr>
          <a:xfrm>
            <a:off x="6848640" y="4821120"/>
            <a:ext cx="29296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cero llaves en el código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CuadroTexto 420"/>
          <p:cNvSpPr txBox="1"/>
          <p:nvPr/>
        </p:nvSpPr>
        <p:spPr>
          <a:xfrm>
            <a:off x="1181160" y="5258520"/>
            <a:ext cx="1057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--dry-run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Forma libre 421"/>
          <p:cNvSpPr/>
          <p:nvPr/>
        </p:nvSpPr>
        <p:spPr>
          <a:xfrm>
            <a:off x="4819320" y="5238720"/>
            <a:ext cx="933840" cy="266760"/>
          </a:xfrm>
          <a:custGeom>
            <a:avLst/>
            <a:gdLst/>
            <a:ahLst/>
            <a:cxnLst/>
            <a:rect l="0" t="0" r="r" b="b"/>
            <a:pathLst>
              <a:path w="2594" h="741">
                <a:moveTo>
                  <a:pt x="0" y="636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2488" y="0"/>
                </a:lnTo>
                <a:cubicBezTo>
                  <a:pt x="2503" y="0"/>
                  <a:pt x="2516" y="2"/>
                  <a:pt x="2529" y="8"/>
                </a:cubicBezTo>
                <a:cubicBezTo>
                  <a:pt x="2542" y="13"/>
                  <a:pt x="2553" y="21"/>
                  <a:pt x="2563" y="31"/>
                </a:cubicBezTo>
                <a:cubicBezTo>
                  <a:pt x="2573" y="41"/>
                  <a:pt x="2581" y="52"/>
                  <a:pt x="2586" y="65"/>
                </a:cubicBezTo>
                <a:cubicBezTo>
                  <a:pt x="2592" y="78"/>
                  <a:pt x="2594" y="91"/>
                  <a:pt x="2594" y="105"/>
                </a:cubicBezTo>
                <a:lnTo>
                  <a:pt x="2594" y="636"/>
                </a:lnTo>
                <a:cubicBezTo>
                  <a:pt x="2594" y="650"/>
                  <a:pt x="2592" y="663"/>
                  <a:pt x="2586" y="676"/>
                </a:cubicBezTo>
                <a:cubicBezTo>
                  <a:pt x="2581" y="689"/>
                  <a:pt x="2573" y="700"/>
                  <a:pt x="2563" y="710"/>
                </a:cubicBezTo>
                <a:cubicBezTo>
                  <a:pt x="2553" y="720"/>
                  <a:pt x="2542" y="728"/>
                  <a:pt x="2529" y="733"/>
                </a:cubicBezTo>
                <a:cubicBezTo>
                  <a:pt x="2516" y="739"/>
                  <a:pt x="2503" y="741"/>
                  <a:pt x="2488" y="741"/>
                </a:cubicBezTo>
                <a:lnTo>
                  <a:pt x="106" y="741"/>
                </a:lnTo>
                <a:cubicBezTo>
                  <a:pt x="92" y="741"/>
                  <a:pt x="79" y="739"/>
                  <a:pt x="66" y="733"/>
                </a:cubicBezTo>
                <a:cubicBezTo>
                  <a:pt x="53" y="728"/>
                  <a:pt x="41" y="720"/>
                  <a:pt x="31" y="710"/>
                </a:cubicBezTo>
                <a:cubicBezTo>
                  <a:pt x="21" y="700"/>
                  <a:pt x="14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CuadroTexto 422"/>
          <p:cNvSpPr txBox="1"/>
          <p:nvPr/>
        </p:nvSpPr>
        <p:spPr>
          <a:xfrm>
            <a:off x="2291040" y="5221080"/>
            <a:ext cx="25290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para probar sin ejecutar;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CuadroTexto 423"/>
          <p:cNvSpPr txBox="1"/>
          <p:nvPr/>
        </p:nvSpPr>
        <p:spPr>
          <a:xfrm>
            <a:off x="4872600" y="5258520"/>
            <a:ext cx="8229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--query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CuadroTexto 424"/>
          <p:cNvSpPr txBox="1"/>
          <p:nvPr/>
        </p:nvSpPr>
        <p:spPr>
          <a:xfrm>
            <a:off x="5748840" y="5221080"/>
            <a:ext cx="25725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para ﬁltrar con JMESPath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CuadroTexto 425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19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CuadroTexto 426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CuadroTexto 427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18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Forma libre 42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Forma libre 42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Forma libre 43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CuadroTexto 431"/>
          <p:cNvSpPr txBox="1"/>
          <p:nvPr/>
        </p:nvSpPr>
        <p:spPr>
          <a:xfrm>
            <a:off x="5003280" y="3063960"/>
            <a:ext cx="223344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7. Costos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CuadroTexto 43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19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CuadroTexto 43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CuadroTexto 434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19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Forma libre 43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Forma libre 43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Forma libre 43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Forma libre 438"/>
          <p:cNvSpPr/>
          <p:nvPr/>
        </p:nvSpPr>
        <p:spPr>
          <a:xfrm>
            <a:off x="676080" y="2466720"/>
            <a:ext cx="2352960" cy="410040"/>
          </a:xfrm>
          <a:custGeom>
            <a:avLst/>
            <a:gdLst/>
            <a:ahLst/>
            <a:cxnLst/>
            <a:rect l="0" t="0" r="r" b="b"/>
            <a:pathLst>
              <a:path w="6536" h="1139">
                <a:moveTo>
                  <a:pt x="0" y="0"/>
                </a:moveTo>
                <a:lnTo>
                  <a:pt x="6536" y="0"/>
                </a:lnTo>
                <a:lnTo>
                  <a:pt x="653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Forma libre 439"/>
          <p:cNvSpPr/>
          <p:nvPr/>
        </p:nvSpPr>
        <p:spPr>
          <a:xfrm>
            <a:off x="3028680" y="2466720"/>
            <a:ext cx="4572360" cy="410040"/>
          </a:xfrm>
          <a:custGeom>
            <a:avLst/>
            <a:gdLst/>
            <a:ahLst/>
            <a:cxnLst/>
            <a:rect l="0" t="0" r="r" b="b"/>
            <a:pathLst>
              <a:path w="12701" h="1139">
                <a:moveTo>
                  <a:pt x="0" y="0"/>
                </a:moveTo>
                <a:lnTo>
                  <a:pt x="12701" y="0"/>
                </a:lnTo>
                <a:lnTo>
                  <a:pt x="1270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Forma libre 440"/>
          <p:cNvSpPr/>
          <p:nvPr/>
        </p:nvSpPr>
        <p:spPr>
          <a:xfrm>
            <a:off x="676080" y="2466720"/>
            <a:ext cx="2352960" cy="410040"/>
          </a:xfrm>
          <a:custGeom>
            <a:avLst/>
            <a:gdLst/>
            <a:ahLst/>
            <a:cxnLst/>
            <a:rect l="0" t="0" r="r" b="b"/>
            <a:pathLst>
              <a:path w="6536" h="1139">
                <a:moveTo>
                  <a:pt x="0" y="0"/>
                </a:moveTo>
                <a:lnTo>
                  <a:pt x="6536" y="0"/>
                </a:lnTo>
                <a:lnTo>
                  <a:pt x="653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Forma libre 441"/>
          <p:cNvSpPr/>
          <p:nvPr/>
        </p:nvSpPr>
        <p:spPr>
          <a:xfrm>
            <a:off x="3028680" y="2466720"/>
            <a:ext cx="4572360" cy="410040"/>
          </a:xfrm>
          <a:custGeom>
            <a:avLst/>
            <a:gdLst/>
            <a:ahLst/>
            <a:cxnLst/>
            <a:rect l="0" t="0" r="r" b="b"/>
            <a:pathLst>
              <a:path w="12701" h="1139">
                <a:moveTo>
                  <a:pt x="0" y="0"/>
                </a:moveTo>
                <a:lnTo>
                  <a:pt x="12701" y="0"/>
                </a:lnTo>
                <a:lnTo>
                  <a:pt x="1270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Forma libre 442"/>
          <p:cNvSpPr/>
          <p:nvPr/>
        </p:nvSpPr>
        <p:spPr>
          <a:xfrm>
            <a:off x="676080" y="2876400"/>
            <a:ext cx="2352960" cy="419400"/>
          </a:xfrm>
          <a:custGeom>
            <a:avLst/>
            <a:gdLst/>
            <a:ahLst/>
            <a:cxnLst/>
            <a:rect l="0" t="0" r="r" b="b"/>
            <a:pathLst>
              <a:path w="6536" h="1165">
                <a:moveTo>
                  <a:pt x="0" y="0"/>
                </a:moveTo>
                <a:lnTo>
                  <a:pt x="6536" y="0"/>
                </a:lnTo>
                <a:lnTo>
                  <a:pt x="653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Forma libre 443"/>
          <p:cNvSpPr/>
          <p:nvPr/>
        </p:nvSpPr>
        <p:spPr>
          <a:xfrm>
            <a:off x="3028680" y="2876400"/>
            <a:ext cx="4572360" cy="419400"/>
          </a:xfrm>
          <a:custGeom>
            <a:avLst/>
            <a:gdLst/>
            <a:ahLst/>
            <a:cxnLst/>
            <a:rect l="0" t="0" r="r" b="b"/>
            <a:pathLst>
              <a:path w="12701" h="1165">
                <a:moveTo>
                  <a:pt x="0" y="0"/>
                </a:moveTo>
                <a:lnTo>
                  <a:pt x="12701" y="0"/>
                </a:lnTo>
                <a:lnTo>
                  <a:pt x="1270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Forma libre 444"/>
          <p:cNvSpPr/>
          <p:nvPr/>
        </p:nvSpPr>
        <p:spPr>
          <a:xfrm>
            <a:off x="676080" y="3295440"/>
            <a:ext cx="2352960" cy="419400"/>
          </a:xfrm>
          <a:custGeom>
            <a:avLst/>
            <a:gdLst/>
            <a:ahLst/>
            <a:cxnLst/>
            <a:rect l="0" t="0" r="r" b="b"/>
            <a:pathLst>
              <a:path w="6536" h="1165">
                <a:moveTo>
                  <a:pt x="0" y="0"/>
                </a:moveTo>
                <a:lnTo>
                  <a:pt x="6536" y="0"/>
                </a:lnTo>
                <a:lnTo>
                  <a:pt x="653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Forma libre 445"/>
          <p:cNvSpPr/>
          <p:nvPr/>
        </p:nvSpPr>
        <p:spPr>
          <a:xfrm>
            <a:off x="3028680" y="3295440"/>
            <a:ext cx="4572360" cy="419400"/>
          </a:xfrm>
          <a:custGeom>
            <a:avLst/>
            <a:gdLst/>
            <a:ahLst/>
            <a:cxnLst/>
            <a:rect l="0" t="0" r="r" b="b"/>
            <a:pathLst>
              <a:path w="12701" h="1165">
                <a:moveTo>
                  <a:pt x="0" y="0"/>
                </a:moveTo>
                <a:lnTo>
                  <a:pt x="12701" y="0"/>
                </a:lnTo>
                <a:lnTo>
                  <a:pt x="1270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Forma libre 446"/>
          <p:cNvSpPr/>
          <p:nvPr/>
        </p:nvSpPr>
        <p:spPr>
          <a:xfrm>
            <a:off x="676080" y="3714480"/>
            <a:ext cx="2352960" cy="419400"/>
          </a:xfrm>
          <a:custGeom>
            <a:avLst/>
            <a:gdLst/>
            <a:ahLst/>
            <a:cxnLst/>
            <a:rect l="0" t="0" r="r" b="b"/>
            <a:pathLst>
              <a:path w="6536" h="1165">
                <a:moveTo>
                  <a:pt x="0" y="0"/>
                </a:moveTo>
                <a:lnTo>
                  <a:pt x="6536" y="0"/>
                </a:lnTo>
                <a:lnTo>
                  <a:pt x="653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Forma libre 447"/>
          <p:cNvSpPr/>
          <p:nvPr/>
        </p:nvSpPr>
        <p:spPr>
          <a:xfrm>
            <a:off x="3028680" y="3714480"/>
            <a:ext cx="4572360" cy="419400"/>
          </a:xfrm>
          <a:custGeom>
            <a:avLst/>
            <a:gdLst/>
            <a:ahLst/>
            <a:cxnLst/>
            <a:rect l="0" t="0" r="r" b="b"/>
            <a:pathLst>
              <a:path w="12701" h="1165">
                <a:moveTo>
                  <a:pt x="0" y="0"/>
                </a:moveTo>
                <a:lnTo>
                  <a:pt x="12701" y="0"/>
                </a:lnTo>
                <a:lnTo>
                  <a:pt x="1270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Forma libre 448"/>
          <p:cNvSpPr/>
          <p:nvPr/>
        </p:nvSpPr>
        <p:spPr>
          <a:xfrm>
            <a:off x="666720" y="24573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Forma libre 449"/>
          <p:cNvSpPr/>
          <p:nvPr/>
        </p:nvSpPr>
        <p:spPr>
          <a:xfrm>
            <a:off x="666720" y="2457360"/>
            <a:ext cx="2362320" cy="9720"/>
          </a:xfrm>
          <a:custGeom>
            <a:avLst/>
            <a:gdLst/>
            <a:ahLst/>
            <a:cxnLst/>
            <a:rect l="0" t="0" r="r" b="b"/>
            <a:pathLst>
              <a:path w="6562" h="27">
                <a:moveTo>
                  <a:pt x="0" y="0"/>
                </a:moveTo>
                <a:lnTo>
                  <a:pt x="6562" y="0"/>
                </a:lnTo>
                <a:lnTo>
                  <a:pt x="65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Forma libre 450"/>
          <p:cNvSpPr/>
          <p:nvPr/>
        </p:nvSpPr>
        <p:spPr>
          <a:xfrm>
            <a:off x="3019320" y="24573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Forma libre 451"/>
          <p:cNvSpPr/>
          <p:nvPr/>
        </p:nvSpPr>
        <p:spPr>
          <a:xfrm>
            <a:off x="3028680" y="2457360"/>
            <a:ext cx="4582080" cy="9720"/>
          </a:xfrm>
          <a:custGeom>
            <a:avLst/>
            <a:gdLst/>
            <a:ahLst/>
            <a:cxnLst/>
            <a:rect l="0" t="0" r="r" b="b"/>
            <a:pathLst>
              <a:path w="12728" h="27">
                <a:moveTo>
                  <a:pt x="0" y="0"/>
                </a:moveTo>
                <a:lnTo>
                  <a:pt x="12728" y="0"/>
                </a:lnTo>
                <a:lnTo>
                  <a:pt x="127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Forma libre 452"/>
          <p:cNvSpPr/>
          <p:nvPr/>
        </p:nvSpPr>
        <p:spPr>
          <a:xfrm>
            <a:off x="7600680" y="24573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Forma libre 453"/>
          <p:cNvSpPr/>
          <p:nvPr/>
        </p:nvSpPr>
        <p:spPr>
          <a:xfrm>
            <a:off x="666720" y="2866680"/>
            <a:ext cx="2362320" cy="10080"/>
          </a:xfrm>
          <a:custGeom>
            <a:avLst/>
            <a:gdLst/>
            <a:ahLst/>
            <a:cxnLst/>
            <a:rect l="0" t="0" r="r" b="b"/>
            <a:pathLst>
              <a:path w="6562" h="28">
                <a:moveTo>
                  <a:pt x="0" y="0"/>
                </a:moveTo>
                <a:lnTo>
                  <a:pt x="6562" y="0"/>
                </a:lnTo>
                <a:lnTo>
                  <a:pt x="65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Forma libre 454"/>
          <p:cNvSpPr/>
          <p:nvPr/>
        </p:nvSpPr>
        <p:spPr>
          <a:xfrm>
            <a:off x="3028680" y="2866680"/>
            <a:ext cx="4582080" cy="10080"/>
          </a:xfrm>
          <a:custGeom>
            <a:avLst/>
            <a:gdLst/>
            <a:ahLst/>
            <a:cxnLst/>
            <a:rect l="0" t="0" r="r" b="b"/>
            <a:pathLst>
              <a:path w="12728" h="28">
                <a:moveTo>
                  <a:pt x="0" y="0"/>
                </a:moveTo>
                <a:lnTo>
                  <a:pt x="12728" y="0"/>
                </a:lnTo>
                <a:lnTo>
                  <a:pt x="127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Forma libre 455"/>
          <p:cNvSpPr/>
          <p:nvPr/>
        </p:nvSpPr>
        <p:spPr>
          <a:xfrm>
            <a:off x="666720" y="28764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Forma libre 456"/>
          <p:cNvSpPr/>
          <p:nvPr/>
        </p:nvSpPr>
        <p:spPr>
          <a:xfrm>
            <a:off x="3019320" y="28764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Forma libre 457"/>
          <p:cNvSpPr/>
          <p:nvPr/>
        </p:nvSpPr>
        <p:spPr>
          <a:xfrm>
            <a:off x="7600680" y="28764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Forma libre 458"/>
          <p:cNvSpPr/>
          <p:nvPr/>
        </p:nvSpPr>
        <p:spPr>
          <a:xfrm>
            <a:off x="666720" y="32954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Forma libre 459"/>
          <p:cNvSpPr/>
          <p:nvPr/>
        </p:nvSpPr>
        <p:spPr>
          <a:xfrm>
            <a:off x="666720" y="3286080"/>
            <a:ext cx="2362320" cy="9720"/>
          </a:xfrm>
          <a:custGeom>
            <a:avLst/>
            <a:gdLst/>
            <a:ahLst/>
            <a:cxnLst/>
            <a:rect l="0" t="0" r="r" b="b"/>
            <a:pathLst>
              <a:path w="6562" h="27">
                <a:moveTo>
                  <a:pt x="0" y="0"/>
                </a:moveTo>
                <a:lnTo>
                  <a:pt x="6562" y="0"/>
                </a:lnTo>
                <a:lnTo>
                  <a:pt x="65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Forma libre 460"/>
          <p:cNvSpPr/>
          <p:nvPr/>
        </p:nvSpPr>
        <p:spPr>
          <a:xfrm>
            <a:off x="3019320" y="32954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Forma libre 461"/>
          <p:cNvSpPr/>
          <p:nvPr/>
        </p:nvSpPr>
        <p:spPr>
          <a:xfrm>
            <a:off x="3028680" y="3286080"/>
            <a:ext cx="4582080" cy="9720"/>
          </a:xfrm>
          <a:custGeom>
            <a:avLst/>
            <a:gdLst/>
            <a:ahLst/>
            <a:cxnLst/>
            <a:rect l="0" t="0" r="r" b="b"/>
            <a:pathLst>
              <a:path w="12728" h="27">
                <a:moveTo>
                  <a:pt x="0" y="0"/>
                </a:moveTo>
                <a:lnTo>
                  <a:pt x="12728" y="0"/>
                </a:lnTo>
                <a:lnTo>
                  <a:pt x="127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Forma libre 462"/>
          <p:cNvSpPr/>
          <p:nvPr/>
        </p:nvSpPr>
        <p:spPr>
          <a:xfrm>
            <a:off x="7600680" y="329544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Forma libre 463"/>
          <p:cNvSpPr/>
          <p:nvPr/>
        </p:nvSpPr>
        <p:spPr>
          <a:xfrm>
            <a:off x="666720" y="37144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Forma libre 464"/>
          <p:cNvSpPr/>
          <p:nvPr/>
        </p:nvSpPr>
        <p:spPr>
          <a:xfrm>
            <a:off x="666720" y="3705120"/>
            <a:ext cx="2362320" cy="9720"/>
          </a:xfrm>
          <a:custGeom>
            <a:avLst/>
            <a:gdLst/>
            <a:ahLst/>
            <a:cxnLst/>
            <a:rect l="0" t="0" r="r" b="b"/>
            <a:pathLst>
              <a:path w="6562" h="27">
                <a:moveTo>
                  <a:pt x="0" y="0"/>
                </a:moveTo>
                <a:lnTo>
                  <a:pt x="6562" y="0"/>
                </a:lnTo>
                <a:lnTo>
                  <a:pt x="65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Forma libre 465"/>
          <p:cNvSpPr/>
          <p:nvPr/>
        </p:nvSpPr>
        <p:spPr>
          <a:xfrm>
            <a:off x="3019320" y="37144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Forma libre 466"/>
          <p:cNvSpPr/>
          <p:nvPr/>
        </p:nvSpPr>
        <p:spPr>
          <a:xfrm>
            <a:off x="3028680" y="3705120"/>
            <a:ext cx="4582080" cy="9720"/>
          </a:xfrm>
          <a:custGeom>
            <a:avLst/>
            <a:gdLst/>
            <a:ahLst/>
            <a:cxnLst/>
            <a:rect l="0" t="0" r="r" b="b"/>
            <a:pathLst>
              <a:path w="12728" h="27">
                <a:moveTo>
                  <a:pt x="0" y="0"/>
                </a:moveTo>
                <a:lnTo>
                  <a:pt x="12728" y="0"/>
                </a:lnTo>
                <a:lnTo>
                  <a:pt x="127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Forma libre 467"/>
          <p:cNvSpPr/>
          <p:nvPr/>
        </p:nvSpPr>
        <p:spPr>
          <a:xfrm>
            <a:off x="7600680" y="37144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Forma libre 468"/>
          <p:cNvSpPr/>
          <p:nvPr/>
        </p:nvSpPr>
        <p:spPr>
          <a:xfrm>
            <a:off x="666720" y="4124160"/>
            <a:ext cx="2362320" cy="9720"/>
          </a:xfrm>
          <a:custGeom>
            <a:avLst/>
            <a:gdLst/>
            <a:ahLst/>
            <a:cxnLst/>
            <a:rect l="0" t="0" r="r" b="b"/>
            <a:pathLst>
              <a:path w="6562" h="27">
                <a:moveTo>
                  <a:pt x="0" y="0"/>
                </a:moveTo>
                <a:lnTo>
                  <a:pt x="6562" y="0"/>
                </a:lnTo>
                <a:lnTo>
                  <a:pt x="65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Forma libre 469"/>
          <p:cNvSpPr/>
          <p:nvPr/>
        </p:nvSpPr>
        <p:spPr>
          <a:xfrm>
            <a:off x="3028680" y="4124160"/>
            <a:ext cx="4582080" cy="9720"/>
          </a:xfrm>
          <a:custGeom>
            <a:avLst/>
            <a:gdLst/>
            <a:ahLst/>
            <a:cxnLst/>
            <a:rect l="0" t="0" r="r" b="b"/>
            <a:pathLst>
              <a:path w="12728" h="27">
                <a:moveTo>
                  <a:pt x="0" y="0"/>
                </a:moveTo>
                <a:lnTo>
                  <a:pt x="12728" y="0"/>
                </a:lnTo>
                <a:lnTo>
                  <a:pt x="127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Forma libre 470"/>
          <p:cNvSpPr/>
          <p:nvPr/>
        </p:nvSpPr>
        <p:spPr>
          <a:xfrm>
            <a:off x="666720" y="512424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Forma libre 471"/>
          <p:cNvSpPr/>
          <p:nvPr/>
        </p:nvSpPr>
        <p:spPr>
          <a:xfrm>
            <a:off x="666720" y="512424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CuadroTexto 472"/>
          <p:cNvSpPr txBox="1"/>
          <p:nvPr/>
        </p:nvSpPr>
        <p:spPr>
          <a:xfrm>
            <a:off x="666720" y="834840"/>
            <a:ext cx="37836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Lo que de verdad se cobra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CuadroTexto 476"/>
          <p:cNvSpPr txBox="1"/>
          <p:nvPr/>
        </p:nvSpPr>
        <p:spPr>
          <a:xfrm>
            <a:off x="666720" y="2001600"/>
            <a:ext cx="56070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Tres cosas distintas, y la gente sólo piensa en la primera: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CuadroTexto 477"/>
          <p:cNvSpPr txBox="1"/>
          <p:nvPr/>
        </p:nvSpPr>
        <p:spPr>
          <a:xfrm>
            <a:off x="1404720" y="2561760"/>
            <a:ext cx="8899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Concepto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CuadroTexto 478"/>
          <p:cNvSpPr txBox="1"/>
          <p:nvPr/>
        </p:nvSpPr>
        <p:spPr>
          <a:xfrm>
            <a:off x="4721400" y="2561760"/>
            <a:ext cx="11890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Qué signiﬁca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CuadroTexto 479"/>
          <p:cNvSpPr txBox="1"/>
          <p:nvPr/>
        </p:nvSpPr>
        <p:spPr>
          <a:xfrm>
            <a:off x="799920" y="2971440"/>
            <a:ext cx="15307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Almacenamiento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CuadroTexto 480"/>
          <p:cNvSpPr txBox="1"/>
          <p:nvPr/>
        </p:nvSpPr>
        <p:spPr>
          <a:xfrm>
            <a:off x="3155760" y="2971440"/>
            <a:ext cx="20084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lo que guardas, por mes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CuadroTexto 481"/>
          <p:cNvSpPr txBox="1"/>
          <p:nvPr/>
        </p:nvSpPr>
        <p:spPr>
          <a:xfrm>
            <a:off x="799920" y="3390480"/>
            <a:ext cx="8438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Cómputo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CuadroTexto 482"/>
          <p:cNvSpPr txBox="1"/>
          <p:nvPr/>
        </p:nvSpPr>
        <p:spPr>
          <a:xfrm>
            <a:off x="3155760" y="3390480"/>
            <a:ext cx="43196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lo que enciendes, por hora — </a:t>
            </a:r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encendido</a:t>
            </a:r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no usado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CuadroTexto 483"/>
          <p:cNvSpPr txBox="1"/>
          <p:nvPr/>
        </p:nvSpPr>
        <p:spPr>
          <a:xfrm>
            <a:off x="799920" y="3809520"/>
            <a:ext cx="21204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Transferencia de salida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CuadroTexto 484"/>
          <p:cNvSpPr txBox="1"/>
          <p:nvPr/>
        </p:nvSpPr>
        <p:spPr>
          <a:xfrm>
            <a:off x="3155760" y="3809520"/>
            <a:ext cx="19767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sacar los datos de AWS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CuadroTexto 485"/>
          <p:cNvSpPr txBox="1"/>
          <p:nvPr/>
        </p:nvSpPr>
        <p:spPr>
          <a:xfrm>
            <a:off x="666720" y="4325760"/>
            <a:ext cx="106876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Órdenes de magnitud (us-east-1, septiembre 2026): guardar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1 TB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cuesta unos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$23 USD al mes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;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sacar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ese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CuadroTexto 486"/>
          <p:cNvSpPr txBox="1"/>
          <p:nvPr/>
        </p:nvSpPr>
        <p:spPr>
          <a:xfrm>
            <a:off x="666720" y="4668840"/>
            <a:ext cx="42818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mismo TB, unos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$90 USD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. Entrar es gratis.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CuadroTexto 487"/>
          <p:cNvSpPr txBox="1"/>
          <p:nvPr/>
        </p:nvSpPr>
        <p:spPr>
          <a:xfrm>
            <a:off x="905040" y="5278320"/>
            <a:ext cx="100170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Meter datos es gratis y sacarlos cuesta. Eso no es casualidad, y conviene tenerlo en cuenta al diseñar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CuadroTexto 488"/>
          <p:cNvSpPr txBox="1"/>
          <p:nvPr/>
        </p:nvSpPr>
        <p:spPr>
          <a:xfrm>
            <a:off x="905040" y="5621040"/>
            <a:ext cx="2155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dónde vive tu análisis.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CuadroTexto 48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19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CuadroTexto 49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CuadroTexto 491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20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Forma libre 49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Forma libre 49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Forma libre 49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Forma libre 495"/>
          <p:cNvSpPr/>
          <p:nvPr/>
        </p:nvSpPr>
        <p:spPr>
          <a:xfrm>
            <a:off x="671400" y="2224080"/>
            <a:ext cx="10849320" cy="1105200"/>
          </a:xfrm>
          <a:custGeom>
            <a:avLst/>
            <a:gdLst/>
            <a:ahLst/>
            <a:cxnLst/>
            <a:rect l="0" t="0" r="r" b="b"/>
            <a:pathLst>
              <a:path w="30137" h="3070">
                <a:moveTo>
                  <a:pt x="0" y="2871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6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8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6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871"/>
                </a:lnTo>
                <a:cubicBezTo>
                  <a:pt x="30137" y="2884"/>
                  <a:pt x="30136" y="2897"/>
                  <a:pt x="30133" y="2910"/>
                </a:cubicBezTo>
                <a:cubicBezTo>
                  <a:pt x="30130" y="2923"/>
                  <a:pt x="30127" y="2935"/>
                  <a:pt x="30122" y="2947"/>
                </a:cubicBezTo>
                <a:cubicBezTo>
                  <a:pt x="30117" y="2959"/>
                  <a:pt x="30111" y="2971"/>
                  <a:pt x="30103" y="2981"/>
                </a:cubicBezTo>
                <a:cubicBezTo>
                  <a:pt x="30096" y="2992"/>
                  <a:pt x="30088" y="3002"/>
                  <a:pt x="30079" y="3012"/>
                </a:cubicBezTo>
                <a:cubicBezTo>
                  <a:pt x="30070" y="3021"/>
                  <a:pt x="30059" y="3029"/>
                  <a:pt x="30049" y="3036"/>
                </a:cubicBezTo>
                <a:cubicBezTo>
                  <a:pt x="30038" y="3043"/>
                  <a:pt x="30026" y="3050"/>
                  <a:pt x="30014" y="3055"/>
                </a:cubicBezTo>
                <a:cubicBezTo>
                  <a:pt x="30002" y="3060"/>
                  <a:pt x="29990" y="3063"/>
                  <a:pt x="29977" y="3066"/>
                </a:cubicBezTo>
                <a:cubicBezTo>
                  <a:pt x="29964" y="3068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8"/>
                  <a:pt x="160" y="3066"/>
                </a:cubicBezTo>
                <a:cubicBezTo>
                  <a:pt x="147" y="3063"/>
                  <a:pt x="134" y="3060"/>
                  <a:pt x="122" y="3055"/>
                </a:cubicBezTo>
                <a:cubicBezTo>
                  <a:pt x="110" y="3050"/>
                  <a:pt x="99" y="3043"/>
                  <a:pt x="88" y="3036"/>
                </a:cubicBezTo>
                <a:cubicBezTo>
                  <a:pt x="77" y="3029"/>
                  <a:pt x="67" y="3021"/>
                  <a:pt x="58" y="3012"/>
                </a:cubicBezTo>
                <a:cubicBezTo>
                  <a:pt x="49" y="3002"/>
                  <a:pt x="40" y="2992"/>
                  <a:pt x="33" y="2981"/>
                </a:cubicBezTo>
                <a:cubicBezTo>
                  <a:pt x="26" y="2971"/>
                  <a:pt x="20" y="2959"/>
                  <a:pt x="15" y="2947"/>
                </a:cubicBezTo>
                <a:cubicBezTo>
                  <a:pt x="10" y="2935"/>
                  <a:pt x="6" y="2923"/>
                  <a:pt x="4" y="2910"/>
                </a:cubicBezTo>
                <a:cubicBezTo>
                  <a:pt x="1" y="2897"/>
                  <a:pt x="0" y="2884"/>
                  <a:pt x="0" y="2871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Forma libre 496"/>
          <p:cNvSpPr/>
          <p:nvPr/>
        </p:nvSpPr>
        <p:spPr>
          <a:xfrm>
            <a:off x="671400" y="2224080"/>
            <a:ext cx="10849320" cy="1105200"/>
          </a:xfrm>
          <a:custGeom>
            <a:avLst/>
            <a:gdLst/>
            <a:ahLst/>
            <a:cxnLst/>
            <a:rect l="0" t="0" r="r" b="b"/>
            <a:pathLst>
              <a:path w="30137" h="3070">
                <a:moveTo>
                  <a:pt x="0" y="2871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6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8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6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871"/>
                </a:lnTo>
                <a:cubicBezTo>
                  <a:pt x="30137" y="2884"/>
                  <a:pt x="30136" y="2897"/>
                  <a:pt x="30133" y="2910"/>
                </a:cubicBezTo>
                <a:cubicBezTo>
                  <a:pt x="30130" y="2923"/>
                  <a:pt x="30127" y="2935"/>
                  <a:pt x="30122" y="2947"/>
                </a:cubicBezTo>
                <a:cubicBezTo>
                  <a:pt x="30117" y="2959"/>
                  <a:pt x="30111" y="2971"/>
                  <a:pt x="30103" y="2981"/>
                </a:cubicBezTo>
                <a:cubicBezTo>
                  <a:pt x="30096" y="2992"/>
                  <a:pt x="30088" y="3002"/>
                  <a:pt x="30079" y="3012"/>
                </a:cubicBezTo>
                <a:cubicBezTo>
                  <a:pt x="30070" y="3021"/>
                  <a:pt x="30059" y="3029"/>
                  <a:pt x="30049" y="3036"/>
                </a:cubicBezTo>
                <a:cubicBezTo>
                  <a:pt x="30038" y="3043"/>
                  <a:pt x="30026" y="3050"/>
                  <a:pt x="30014" y="3055"/>
                </a:cubicBezTo>
                <a:cubicBezTo>
                  <a:pt x="30002" y="3060"/>
                  <a:pt x="29990" y="3063"/>
                  <a:pt x="29977" y="3066"/>
                </a:cubicBezTo>
                <a:cubicBezTo>
                  <a:pt x="29964" y="3068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8"/>
                  <a:pt x="160" y="3066"/>
                </a:cubicBezTo>
                <a:cubicBezTo>
                  <a:pt x="147" y="3063"/>
                  <a:pt x="134" y="3060"/>
                  <a:pt x="122" y="3055"/>
                </a:cubicBezTo>
                <a:cubicBezTo>
                  <a:pt x="110" y="3050"/>
                  <a:pt x="99" y="3043"/>
                  <a:pt x="88" y="3036"/>
                </a:cubicBezTo>
                <a:cubicBezTo>
                  <a:pt x="77" y="3029"/>
                  <a:pt x="67" y="3021"/>
                  <a:pt x="58" y="3012"/>
                </a:cubicBezTo>
                <a:cubicBezTo>
                  <a:pt x="49" y="3002"/>
                  <a:pt x="40" y="2992"/>
                  <a:pt x="33" y="2981"/>
                </a:cubicBezTo>
                <a:cubicBezTo>
                  <a:pt x="26" y="2971"/>
                  <a:pt x="20" y="2959"/>
                  <a:pt x="15" y="2947"/>
                </a:cubicBezTo>
                <a:cubicBezTo>
                  <a:pt x="10" y="2935"/>
                  <a:pt x="6" y="2923"/>
                  <a:pt x="4" y="2910"/>
                </a:cubicBezTo>
                <a:cubicBezTo>
                  <a:pt x="1" y="2897"/>
                  <a:pt x="0" y="2884"/>
                  <a:pt x="0" y="2871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Forma libre 497"/>
          <p:cNvSpPr/>
          <p:nvPr/>
        </p:nvSpPr>
        <p:spPr>
          <a:xfrm>
            <a:off x="666720" y="4724280"/>
            <a:ext cx="10858680" cy="571680"/>
          </a:xfrm>
          <a:custGeom>
            <a:avLst/>
            <a:gdLst/>
            <a:ahLst/>
            <a:cxnLst/>
            <a:rect l="0" t="0" r="r" b="b"/>
            <a:pathLst>
              <a:path w="30163" h="1588">
                <a:moveTo>
                  <a:pt x="0" y="0"/>
                </a:moveTo>
                <a:lnTo>
                  <a:pt x="30163" y="0"/>
                </a:lnTo>
                <a:lnTo>
                  <a:pt x="3016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Forma libre 498"/>
          <p:cNvSpPr/>
          <p:nvPr/>
        </p:nvSpPr>
        <p:spPr>
          <a:xfrm>
            <a:off x="666720" y="4724280"/>
            <a:ext cx="47880" cy="571680"/>
          </a:xfrm>
          <a:custGeom>
            <a:avLst/>
            <a:gdLst/>
            <a:ahLst/>
            <a:cxnLst/>
            <a:rect l="0" t="0" r="r" b="b"/>
            <a:pathLst>
              <a:path w="133" h="1588">
                <a:moveTo>
                  <a:pt x="0" y="0"/>
                </a:moveTo>
                <a:lnTo>
                  <a:pt x="133" y="0"/>
                </a:lnTo>
                <a:lnTo>
                  <a:pt x="13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CuadroTexto 499"/>
          <p:cNvSpPr txBox="1"/>
          <p:nvPr/>
        </p:nvSpPr>
        <p:spPr>
          <a:xfrm>
            <a:off x="666720" y="1577520"/>
            <a:ext cx="53949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Pon la alarma antes de encender nada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CuadroTexto 500"/>
          <p:cNvSpPr txBox="1"/>
          <p:nvPr/>
        </p:nvSpPr>
        <p:spPr>
          <a:xfrm>
            <a:off x="866880" y="2403720"/>
            <a:ext cx="69886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AWS Budgets   →  presupuesto de $5 USD, alerta al 50 % y al 80 %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CuadroTexto 501"/>
          <p:cNvSpPr txBox="1"/>
          <p:nvPr/>
        </p:nvSpPr>
        <p:spPr>
          <a:xfrm>
            <a:off x="866880" y="2670480"/>
            <a:ext cx="64425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Cost Explorer →  en qué se fue, por servicio y por etiqueta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Forma libre 502"/>
          <p:cNvSpPr/>
          <p:nvPr/>
        </p:nvSpPr>
        <p:spPr>
          <a:xfrm>
            <a:off x="914040" y="363852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19"/>
                  <a:pt x="0" y="105"/>
                </a:cubicBez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CuadroTexto 503"/>
          <p:cNvSpPr txBox="1"/>
          <p:nvPr/>
        </p:nvSpPr>
        <p:spPr>
          <a:xfrm>
            <a:off x="866880" y="2927520"/>
            <a:ext cx="66610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Tags          →  Proyecto=tesis, para poder atribuir el gasto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CuadroTexto 504"/>
          <p:cNvSpPr txBox="1"/>
          <p:nvPr/>
        </p:nvSpPr>
        <p:spPr>
          <a:xfrm>
            <a:off x="1123920" y="3525840"/>
            <a:ext cx="9972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Free Tier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tiene letra chica: algunas cosas expiran a los 12 meses, otras son «siempre gratis» hasta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Forma libre 505"/>
          <p:cNvSpPr/>
          <p:nvPr/>
        </p:nvSpPr>
        <p:spPr>
          <a:xfrm>
            <a:off x="914040" y="438120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CuadroTexto 506"/>
          <p:cNvSpPr txBox="1"/>
          <p:nvPr/>
        </p:nvSpPr>
        <p:spPr>
          <a:xfrm>
            <a:off x="1123920" y="3868560"/>
            <a:ext cx="39970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cierto límite, y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lo que se pasa se cobra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CuadroTexto 507"/>
          <p:cNvSpPr txBox="1"/>
          <p:nvPr/>
        </p:nvSpPr>
        <p:spPr>
          <a:xfrm>
            <a:off x="1123920" y="4268520"/>
            <a:ext cx="62924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Una alarma de presupuesto tarda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dos minutos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en conﬁgurarse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CuadroTexto 508"/>
          <p:cNvSpPr txBox="1"/>
          <p:nvPr/>
        </p:nvSpPr>
        <p:spPr>
          <a:xfrm>
            <a:off x="905040" y="4878360"/>
            <a:ext cx="72205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Es el único punto de la sesión que te puede costar dinero real si lo saltas.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CuadroTexto 50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19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CuadroTexto 51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CuadroTexto 511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21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Forma libre 51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Forma libre 51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Forma libre 51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CuadroTexto 515"/>
          <p:cNvSpPr txBox="1"/>
          <p:nvPr/>
        </p:nvSpPr>
        <p:spPr>
          <a:xfrm>
            <a:off x="3104280" y="3063960"/>
            <a:ext cx="611712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8. Cuándo no usar la nube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CuadroTexto 51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19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CuadroTexto 51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CuadroTexto 518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Forma libre 51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Forma libre 52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Forma libre 52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Forma libre 522"/>
          <p:cNvSpPr/>
          <p:nvPr/>
        </p:nvSpPr>
        <p:spPr>
          <a:xfrm>
            <a:off x="676080" y="2199960"/>
            <a:ext cx="4762800" cy="410040"/>
          </a:xfrm>
          <a:custGeom>
            <a:avLst/>
            <a:gdLst/>
            <a:ahLst/>
            <a:cxnLst/>
            <a:rect l="0" t="0" r="r" b="b"/>
            <a:pathLst>
              <a:path w="13230" h="1139">
                <a:moveTo>
                  <a:pt x="0" y="0"/>
                </a:moveTo>
                <a:lnTo>
                  <a:pt x="13230" y="0"/>
                </a:lnTo>
                <a:lnTo>
                  <a:pt x="1323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Forma libre 523"/>
          <p:cNvSpPr/>
          <p:nvPr/>
        </p:nvSpPr>
        <p:spPr>
          <a:xfrm>
            <a:off x="5438520" y="2199960"/>
            <a:ext cx="3439080" cy="410040"/>
          </a:xfrm>
          <a:custGeom>
            <a:avLst/>
            <a:gdLst/>
            <a:ahLst/>
            <a:cxnLst/>
            <a:rect l="0" t="0" r="r" b="b"/>
            <a:pathLst>
              <a:path w="9553" h="1139">
                <a:moveTo>
                  <a:pt x="0" y="0"/>
                </a:moveTo>
                <a:lnTo>
                  <a:pt x="9553" y="0"/>
                </a:lnTo>
                <a:lnTo>
                  <a:pt x="9553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Forma libre 524"/>
          <p:cNvSpPr/>
          <p:nvPr/>
        </p:nvSpPr>
        <p:spPr>
          <a:xfrm>
            <a:off x="676080" y="2199960"/>
            <a:ext cx="4762800" cy="410040"/>
          </a:xfrm>
          <a:custGeom>
            <a:avLst/>
            <a:gdLst/>
            <a:ahLst/>
            <a:cxnLst/>
            <a:rect l="0" t="0" r="r" b="b"/>
            <a:pathLst>
              <a:path w="13230" h="1139">
                <a:moveTo>
                  <a:pt x="0" y="0"/>
                </a:moveTo>
                <a:lnTo>
                  <a:pt x="13230" y="0"/>
                </a:lnTo>
                <a:lnTo>
                  <a:pt x="1323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Forma libre 525"/>
          <p:cNvSpPr/>
          <p:nvPr/>
        </p:nvSpPr>
        <p:spPr>
          <a:xfrm>
            <a:off x="5438520" y="2199960"/>
            <a:ext cx="3439080" cy="410040"/>
          </a:xfrm>
          <a:custGeom>
            <a:avLst/>
            <a:gdLst/>
            <a:ahLst/>
            <a:cxnLst/>
            <a:rect l="0" t="0" r="r" b="b"/>
            <a:pathLst>
              <a:path w="9553" h="1139">
                <a:moveTo>
                  <a:pt x="0" y="0"/>
                </a:moveTo>
                <a:lnTo>
                  <a:pt x="9553" y="0"/>
                </a:lnTo>
                <a:lnTo>
                  <a:pt x="9553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Forma libre 526"/>
          <p:cNvSpPr/>
          <p:nvPr/>
        </p:nvSpPr>
        <p:spPr>
          <a:xfrm>
            <a:off x="676080" y="2609640"/>
            <a:ext cx="4762800" cy="410040"/>
          </a:xfrm>
          <a:custGeom>
            <a:avLst/>
            <a:gdLst/>
            <a:ahLst/>
            <a:cxnLst/>
            <a:rect l="0" t="0" r="r" b="b"/>
            <a:pathLst>
              <a:path w="13230" h="1139">
                <a:moveTo>
                  <a:pt x="0" y="0"/>
                </a:moveTo>
                <a:lnTo>
                  <a:pt x="13230" y="0"/>
                </a:lnTo>
                <a:lnTo>
                  <a:pt x="1323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Forma libre 527"/>
          <p:cNvSpPr/>
          <p:nvPr/>
        </p:nvSpPr>
        <p:spPr>
          <a:xfrm>
            <a:off x="5438520" y="2609640"/>
            <a:ext cx="3439080" cy="410040"/>
          </a:xfrm>
          <a:custGeom>
            <a:avLst/>
            <a:gdLst/>
            <a:ahLst/>
            <a:cxnLst/>
            <a:rect l="0" t="0" r="r" b="b"/>
            <a:pathLst>
              <a:path w="9553" h="1139">
                <a:moveTo>
                  <a:pt x="0" y="0"/>
                </a:moveTo>
                <a:lnTo>
                  <a:pt x="9553" y="0"/>
                </a:lnTo>
                <a:lnTo>
                  <a:pt x="9553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Forma libre 528"/>
          <p:cNvSpPr/>
          <p:nvPr/>
        </p:nvSpPr>
        <p:spPr>
          <a:xfrm>
            <a:off x="676080" y="3019320"/>
            <a:ext cx="4762800" cy="409680"/>
          </a:xfrm>
          <a:custGeom>
            <a:avLst/>
            <a:gdLst/>
            <a:ahLst/>
            <a:cxnLst/>
            <a:rect l="0" t="0" r="r" b="b"/>
            <a:pathLst>
              <a:path w="13230" h="1138">
                <a:moveTo>
                  <a:pt x="0" y="0"/>
                </a:moveTo>
                <a:lnTo>
                  <a:pt x="13230" y="0"/>
                </a:lnTo>
                <a:lnTo>
                  <a:pt x="13230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Forma libre 529"/>
          <p:cNvSpPr/>
          <p:nvPr/>
        </p:nvSpPr>
        <p:spPr>
          <a:xfrm>
            <a:off x="5438520" y="3019320"/>
            <a:ext cx="3439080" cy="409680"/>
          </a:xfrm>
          <a:custGeom>
            <a:avLst/>
            <a:gdLst/>
            <a:ahLst/>
            <a:cxnLst/>
            <a:rect l="0" t="0" r="r" b="b"/>
            <a:pathLst>
              <a:path w="9553" h="1138">
                <a:moveTo>
                  <a:pt x="0" y="0"/>
                </a:moveTo>
                <a:lnTo>
                  <a:pt x="9553" y="0"/>
                </a:lnTo>
                <a:lnTo>
                  <a:pt x="9553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Forma libre 530"/>
          <p:cNvSpPr/>
          <p:nvPr/>
        </p:nvSpPr>
        <p:spPr>
          <a:xfrm>
            <a:off x="676080" y="3428640"/>
            <a:ext cx="4762800" cy="410040"/>
          </a:xfrm>
          <a:custGeom>
            <a:avLst/>
            <a:gdLst/>
            <a:ahLst/>
            <a:cxnLst/>
            <a:rect l="0" t="0" r="r" b="b"/>
            <a:pathLst>
              <a:path w="13230" h="1139">
                <a:moveTo>
                  <a:pt x="0" y="0"/>
                </a:moveTo>
                <a:lnTo>
                  <a:pt x="13230" y="0"/>
                </a:lnTo>
                <a:lnTo>
                  <a:pt x="1323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Forma libre 531"/>
          <p:cNvSpPr/>
          <p:nvPr/>
        </p:nvSpPr>
        <p:spPr>
          <a:xfrm>
            <a:off x="5438520" y="3428640"/>
            <a:ext cx="3439080" cy="410040"/>
          </a:xfrm>
          <a:custGeom>
            <a:avLst/>
            <a:gdLst/>
            <a:ahLst/>
            <a:cxnLst/>
            <a:rect l="0" t="0" r="r" b="b"/>
            <a:pathLst>
              <a:path w="9553" h="1139">
                <a:moveTo>
                  <a:pt x="0" y="0"/>
                </a:moveTo>
                <a:lnTo>
                  <a:pt x="9553" y="0"/>
                </a:lnTo>
                <a:lnTo>
                  <a:pt x="9553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Forma libre 532"/>
          <p:cNvSpPr/>
          <p:nvPr/>
        </p:nvSpPr>
        <p:spPr>
          <a:xfrm>
            <a:off x="676080" y="3838320"/>
            <a:ext cx="4762800" cy="410040"/>
          </a:xfrm>
          <a:custGeom>
            <a:avLst/>
            <a:gdLst/>
            <a:ahLst/>
            <a:cxnLst/>
            <a:rect l="0" t="0" r="r" b="b"/>
            <a:pathLst>
              <a:path w="13230" h="1139">
                <a:moveTo>
                  <a:pt x="0" y="0"/>
                </a:moveTo>
                <a:lnTo>
                  <a:pt x="13230" y="0"/>
                </a:lnTo>
                <a:lnTo>
                  <a:pt x="1323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Forma libre 533"/>
          <p:cNvSpPr/>
          <p:nvPr/>
        </p:nvSpPr>
        <p:spPr>
          <a:xfrm>
            <a:off x="5438520" y="3838320"/>
            <a:ext cx="3439080" cy="410040"/>
          </a:xfrm>
          <a:custGeom>
            <a:avLst/>
            <a:gdLst/>
            <a:ahLst/>
            <a:cxnLst/>
            <a:rect l="0" t="0" r="r" b="b"/>
            <a:pathLst>
              <a:path w="9553" h="1139">
                <a:moveTo>
                  <a:pt x="0" y="0"/>
                </a:moveTo>
                <a:lnTo>
                  <a:pt x="9553" y="0"/>
                </a:lnTo>
                <a:lnTo>
                  <a:pt x="9553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Forma libre 534"/>
          <p:cNvSpPr/>
          <p:nvPr/>
        </p:nvSpPr>
        <p:spPr>
          <a:xfrm>
            <a:off x="666720" y="21906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Forma libre 535"/>
          <p:cNvSpPr/>
          <p:nvPr/>
        </p:nvSpPr>
        <p:spPr>
          <a:xfrm>
            <a:off x="666720" y="2190600"/>
            <a:ext cx="4772160" cy="9720"/>
          </a:xfrm>
          <a:custGeom>
            <a:avLst/>
            <a:gdLst/>
            <a:ahLst/>
            <a:cxnLst/>
            <a:rect l="0" t="0" r="r" b="b"/>
            <a:pathLst>
              <a:path w="13256" h="27">
                <a:moveTo>
                  <a:pt x="0" y="0"/>
                </a:moveTo>
                <a:lnTo>
                  <a:pt x="13256" y="0"/>
                </a:lnTo>
                <a:lnTo>
                  <a:pt x="1325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Forma libre 536"/>
          <p:cNvSpPr/>
          <p:nvPr/>
        </p:nvSpPr>
        <p:spPr>
          <a:xfrm>
            <a:off x="5429160" y="21906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Forma libre 537"/>
          <p:cNvSpPr/>
          <p:nvPr/>
        </p:nvSpPr>
        <p:spPr>
          <a:xfrm>
            <a:off x="5438520" y="2190600"/>
            <a:ext cx="3439080" cy="9720"/>
          </a:xfrm>
          <a:custGeom>
            <a:avLst/>
            <a:gdLst/>
            <a:ahLst/>
            <a:cxnLst/>
            <a:rect l="0" t="0" r="r" b="b"/>
            <a:pathLst>
              <a:path w="9553" h="27">
                <a:moveTo>
                  <a:pt x="0" y="0"/>
                </a:moveTo>
                <a:lnTo>
                  <a:pt x="9553" y="0"/>
                </a:lnTo>
                <a:lnTo>
                  <a:pt x="95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Forma libre 538"/>
          <p:cNvSpPr/>
          <p:nvPr/>
        </p:nvSpPr>
        <p:spPr>
          <a:xfrm>
            <a:off x="8867520" y="21906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Forma libre 539"/>
          <p:cNvSpPr/>
          <p:nvPr/>
        </p:nvSpPr>
        <p:spPr>
          <a:xfrm>
            <a:off x="666720" y="2600280"/>
            <a:ext cx="4772160" cy="9720"/>
          </a:xfrm>
          <a:custGeom>
            <a:avLst/>
            <a:gdLst/>
            <a:ahLst/>
            <a:cxnLst/>
            <a:rect l="0" t="0" r="r" b="b"/>
            <a:pathLst>
              <a:path w="13256" h="27">
                <a:moveTo>
                  <a:pt x="0" y="0"/>
                </a:moveTo>
                <a:lnTo>
                  <a:pt x="13256" y="0"/>
                </a:lnTo>
                <a:lnTo>
                  <a:pt x="1325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Forma libre 540"/>
          <p:cNvSpPr/>
          <p:nvPr/>
        </p:nvSpPr>
        <p:spPr>
          <a:xfrm>
            <a:off x="5438520" y="2600280"/>
            <a:ext cx="3439080" cy="9720"/>
          </a:xfrm>
          <a:custGeom>
            <a:avLst/>
            <a:gdLst/>
            <a:ahLst/>
            <a:cxnLst/>
            <a:rect l="0" t="0" r="r" b="b"/>
            <a:pathLst>
              <a:path w="9553" h="27">
                <a:moveTo>
                  <a:pt x="0" y="0"/>
                </a:moveTo>
                <a:lnTo>
                  <a:pt x="9553" y="0"/>
                </a:lnTo>
                <a:lnTo>
                  <a:pt x="95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Forma libre 541"/>
          <p:cNvSpPr/>
          <p:nvPr/>
        </p:nvSpPr>
        <p:spPr>
          <a:xfrm>
            <a:off x="666720" y="260964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Forma libre 542"/>
          <p:cNvSpPr/>
          <p:nvPr/>
        </p:nvSpPr>
        <p:spPr>
          <a:xfrm>
            <a:off x="5429160" y="260964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Forma libre 543"/>
          <p:cNvSpPr/>
          <p:nvPr/>
        </p:nvSpPr>
        <p:spPr>
          <a:xfrm>
            <a:off x="8867520" y="260964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Forma libre 544"/>
          <p:cNvSpPr/>
          <p:nvPr/>
        </p:nvSpPr>
        <p:spPr>
          <a:xfrm>
            <a:off x="666720" y="301932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Forma libre 545"/>
          <p:cNvSpPr/>
          <p:nvPr/>
        </p:nvSpPr>
        <p:spPr>
          <a:xfrm>
            <a:off x="666720" y="3009600"/>
            <a:ext cx="4772160" cy="10080"/>
          </a:xfrm>
          <a:custGeom>
            <a:avLst/>
            <a:gdLst/>
            <a:ahLst/>
            <a:cxnLst/>
            <a:rect l="0" t="0" r="r" b="b"/>
            <a:pathLst>
              <a:path w="13256" h="28">
                <a:moveTo>
                  <a:pt x="0" y="0"/>
                </a:moveTo>
                <a:lnTo>
                  <a:pt x="13256" y="0"/>
                </a:lnTo>
                <a:lnTo>
                  <a:pt x="1325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Forma libre 546"/>
          <p:cNvSpPr/>
          <p:nvPr/>
        </p:nvSpPr>
        <p:spPr>
          <a:xfrm>
            <a:off x="5429160" y="301932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Forma libre 547"/>
          <p:cNvSpPr/>
          <p:nvPr/>
        </p:nvSpPr>
        <p:spPr>
          <a:xfrm>
            <a:off x="5438520" y="3009600"/>
            <a:ext cx="3439080" cy="10080"/>
          </a:xfrm>
          <a:custGeom>
            <a:avLst/>
            <a:gdLst/>
            <a:ahLst/>
            <a:cxnLst/>
            <a:rect l="0" t="0" r="r" b="b"/>
            <a:pathLst>
              <a:path w="9553" h="28">
                <a:moveTo>
                  <a:pt x="0" y="0"/>
                </a:moveTo>
                <a:lnTo>
                  <a:pt x="9553" y="0"/>
                </a:lnTo>
                <a:lnTo>
                  <a:pt x="95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Forma libre 548"/>
          <p:cNvSpPr/>
          <p:nvPr/>
        </p:nvSpPr>
        <p:spPr>
          <a:xfrm>
            <a:off x="8867520" y="3019320"/>
            <a:ext cx="10080" cy="409680"/>
          </a:xfrm>
          <a:custGeom>
            <a:avLst/>
            <a:gdLst/>
            <a:ahLst/>
            <a:cxnLst/>
            <a:rect l="0" t="0" r="r" b="b"/>
            <a:pathLst>
              <a:path w="28" h="1138">
                <a:moveTo>
                  <a:pt x="0" y="0"/>
                </a:moveTo>
                <a:lnTo>
                  <a:pt x="28" y="0"/>
                </a:lnTo>
                <a:lnTo>
                  <a:pt x="2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Forma libre 549"/>
          <p:cNvSpPr/>
          <p:nvPr/>
        </p:nvSpPr>
        <p:spPr>
          <a:xfrm>
            <a:off x="666720" y="342864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Forma libre 550"/>
          <p:cNvSpPr/>
          <p:nvPr/>
        </p:nvSpPr>
        <p:spPr>
          <a:xfrm>
            <a:off x="666720" y="3419280"/>
            <a:ext cx="4772160" cy="9720"/>
          </a:xfrm>
          <a:custGeom>
            <a:avLst/>
            <a:gdLst/>
            <a:ahLst/>
            <a:cxnLst/>
            <a:rect l="0" t="0" r="r" b="b"/>
            <a:pathLst>
              <a:path w="13256" h="27">
                <a:moveTo>
                  <a:pt x="0" y="0"/>
                </a:moveTo>
                <a:lnTo>
                  <a:pt x="13256" y="0"/>
                </a:lnTo>
                <a:lnTo>
                  <a:pt x="1325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Forma libre 551"/>
          <p:cNvSpPr/>
          <p:nvPr/>
        </p:nvSpPr>
        <p:spPr>
          <a:xfrm>
            <a:off x="5429160" y="342864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Forma libre 552"/>
          <p:cNvSpPr/>
          <p:nvPr/>
        </p:nvSpPr>
        <p:spPr>
          <a:xfrm>
            <a:off x="5438520" y="3419280"/>
            <a:ext cx="3439080" cy="9720"/>
          </a:xfrm>
          <a:custGeom>
            <a:avLst/>
            <a:gdLst/>
            <a:ahLst/>
            <a:cxnLst/>
            <a:rect l="0" t="0" r="r" b="b"/>
            <a:pathLst>
              <a:path w="9553" h="27">
                <a:moveTo>
                  <a:pt x="0" y="0"/>
                </a:moveTo>
                <a:lnTo>
                  <a:pt x="9553" y="0"/>
                </a:lnTo>
                <a:lnTo>
                  <a:pt x="95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Forma libre 553"/>
          <p:cNvSpPr/>
          <p:nvPr/>
        </p:nvSpPr>
        <p:spPr>
          <a:xfrm>
            <a:off x="8867520" y="342864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Forma libre 554"/>
          <p:cNvSpPr/>
          <p:nvPr/>
        </p:nvSpPr>
        <p:spPr>
          <a:xfrm>
            <a:off x="666720" y="383832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Forma libre 555"/>
          <p:cNvSpPr/>
          <p:nvPr/>
        </p:nvSpPr>
        <p:spPr>
          <a:xfrm>
            <a:off x="666720" y="3828960"/>
            <a:ext cx="4772160" cy="9720"/>
          </a:xfrm>
          <a:custGeom>
            <a:avLst/>
            <a:gdLst/>
            <a:ahLst/>
            <a:cxnLst/>
            <a:rect l="0" t="0" r="r" b="b"/>
            <a:pathLst>
              <a:path w="13256" h="27">
                <a:moveTo>
                  <a:pt x="0" y="0"/>
                </a:moveTo>
                <a:lnTo>
                  <a:pt x="13256" y="0"/>
                </a:lnTo>
                <a:lnTo>
                  <a:pt x="1325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Forma libre 556"/>
          <p:cNvSpPr/>
          <p:nvPr/>
        </p:nvSpPr>
        <p:spPr>
          <a:xfrm>
            <a:off x="5429160" y="383832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Forma libre 557"/>
          <p:cNvSpPr/>
          <p:nvPr/>
        </p:nvSpPr>
        <p:spPr>
          <a:xfrm>
            <a:off x="5438520" y="3828960"/>
            <a:ext cx="3439080" cy="9720"/>
          </a:xfrm>
          <a:custGeom>
            <a:avLst/>
            <a:gdLst/>
            <a:ahLst/>
            <a:cxnLst/>
            <a:rect l="0" t="0" r="r" b="b"/>
            <a:pathLst>
              <a:path w="9553" h="27">
                <a:moveTo>
                  <a:pt x="0" y="0"/>
                </a:moveTo>
                <a:lnTo>
                  <a:pt x="9553" y="0"/>
                </a:lnTo>
                <a:lnTo>
                  <a:pt x="95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Forma libre 558"/>
          <p:cNvSpPr/>
          <p:nvPr/>
        </p:nvSpPr>
        <p:spPr>
          <a:xfrm>
            <a:off x="8867520" y="383832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Forma libre 559"/>
          <p:cNvSpPr/>
          <p:nvPr/>
        </p:nvSpPr>
        <p:spPr>
          <a:xfrm>
            <a:off x="666720" y="4238280"/>
            <a:ext cx="4772160" cy="10080"/>
          </a:xfrm>
          <a:custGeom>
            <a:avLst/>
            <a:gdLst/>
            <a:ahLst/>
            <a:cxnLst/>
            <a:rect l="0" t="0" r="r" b="b"/>
            <a:pathLst>
              <a:path w="13256" h="28">
                <a:moveTo>
                  <a:pt x="0" y="0"/>
                </a:moveTo>
                <a:lnTo>
                  <a:pt x="13256" y="0"/>
                </a:lnTo>
                <a:lnTo>
                  <a:pt x="1325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Forma libre 560"/>
          <p:cNvSpPr/>
          <p:nvPr/>
        </p:nvSpPr>
        <p:spPr>
          <a:xfrm>
            <a:off x="5438520" y="4238280"/>
            <a:ext cx="3439080" cy="10080"/>
          </a:xfrm>
          <a:custGeom>
            <a:avLst/>
            <a:gdLst/>
            <a:ahLst/>
            <a:cxnLst/>
            <a:rect l="0" t="0" r="r" b="b"/>
            <a:pathLst>
              <a:path w="9553" h="28">
                <a:moveTo>
                  <a:pt x="0" y="0"/>
                </a:moveTo>
                <a:lnTo>
                  <a:pt x="9553" y="0"/>
                </a:lnTo>
                <a:lnTo>
                  <a:pt x="95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Forma libre 561"/>
          <p:cNvSpPr/>
          <p:nvPr/>
        </p:nvSpPr>
        <p:spPr>
          <a:xfrm>
            <a:off x="666720" y="440028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Forma libre 562"/>
          <p:cNvSpPr/>
          <p:nvPr/>
        </p:nvSpPr>
        <p:spPr>
          <a:xfrm>
            <a:off x="666720" y="440028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CuadroTexto 563"/>
          <p:cNvSpPr txBox="1"/>
          <p:nvPr/>
        </p:nvSpPr>
        <p:spPr>
          <a:xfrm>
            <a:off x="666720" y="1558440"/>
            <a:ext cx="38127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No siempre es la respuesta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CuadroTexto 564"/>
          <p:cNvSpPr txBox="1"/>
          <p:nvPr/>
        </p:nvSpPr>
        <p:spPr>
          <a:xfrm>
            <a:off x="2629800" y="2295000"/>
            <a:ext cx="850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Situación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CuadroTexto 565"/>
          <p:cNvSpPr txBox="1"/>
          <p:nvPr/>
        </p:nvSpPr>
        <p:spPr>
          <a:xfrm>
            <a:off x="6556320" y="2295000"/>
            <a:ext cx="1199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Mejor opción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CuadroTexto 566"/>
          <p:cNvSpPr txBox="1"/>
          <p:nvPr/>
        </p:nvSpPr>
        <p:spPr>
          <a:xfrm>
            <a:off x="799920" y="2695320"/>
            <a:ext cx="45133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tus datos caben en tu laptop y el análisis tarda minutos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CuadroTexto 567"/>
          <p:cNvSpPr txBox="1"/>
          <p:nvPr/>
        </p:nvSpPr>
        <p:spPr>
          <a:xfrm>
            <a:off x="5566320" y="2695320"/>
            <a:ext cx="7275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tu laptop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CuadroTexto 568"/>
          <p:cNvSpPr txBox="1"/>
          <p:nvPr/>
        </p:nvSpPr>
        <p:spPr>
          <a:xfrm>
            <a:off x="799920" y="3104640"/>
            <a:ext cx="29858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la institución prohíbe sacar los datos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CuadroTexto 569"/>
          <p:cNvSpPr txBox="1"/>
          <p:nvPr/>
        </p:nvSpPr>
        <p:spPr>
          <a:xfrm>
            <a:off x="5566320" y="3104640"/>
            <a:ext cx="24530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cómputo local o en el hospital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CuadroTexto 570"/>
          <p:cNvSpPr txBox="1"/>
          <p:nvPr/>
        </p:nvSpPr>
        <p:spPr>
          <a:xfrm>
            <a:off x="799920" y="3514320"/>
            <a:ext cx="27493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no hay quien administre la cuenta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CuadroTexto 571"/>
          <p:cNvSpPr txBox="1"/>
          <p:nvPr/>
        </p:nvSpPr>
        <p:spPr>
          <a:xfrm>
            <a:off x="5566320" y="3514320"/>
            <a:ext cx="25308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nube académica o institucional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CuadroTexto 572"/>
          <p:cNvSpPr txBox="1"/>
          <p:nvPr/>
        </p:nvSpPr>
        <p:spPr>
          <a:xfrm>
            <a:off x="799920" y="3924000"/>
            <a:ext cx="24249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presupuesto cero y sin tarjeta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CuadroTexto 573"/>
          <p:cNvSpPr txBox="1"/>
          <p:nvPr/>
        </p:nvSpPr>
        <p:spPr>
          <a:xfrm>
            <a:off x="5566320" y="3924000"/>
            <a:ext cx="31834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Colab, Jetstream2, cuenta institucional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CuadroTexto 574"/>
          <p:cNvSpPr txBox="1"/>
          <p:nvPr/>
        </p:nvSpPr>
        <p:spPr>
          <a:xfrm>
            <a:off x="905040" y="4554360"/>
            <a:ext cx="96958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La nube resuelve problemas de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escala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y de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colaboración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. Si no tienes ninguno de los dos, estás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CuadroTexto 575"/>
          <p:cNvSpPr txBox="1"/>
          <p:nvPr/>
        </p:nvSpPr>
        <p:spPr>
          <a:xfrm>
            <a:off x="905040" y="4897440"/>
            <a:ext cx="3752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pagando complejidad sin recibir nada.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CuadroTexto 57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19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CuadroTexto 57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CuadroTexto 578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Forma libre 57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Forma libre 58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Forma libre 58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CuadroTexto 582"/>
          <p:cNvSpPr txBox="1"/>
          <p:nvPr/>
        </p:nvSpPr>
        <p:spPr>
          <a:xfrm>
            <a:off x="666720" y="1863360"/>
            <a:ext cx="14443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Para llevar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CuadroTexto 583"/>
          <p:cNvSpPr txBox="1"/>
          <p:nvPr/>
        </p:nvSpPr>
        <p:spPr>
          <a:xfrm>
            <a:off x="869760" y="2535120"/>
            <a:ext cx="105256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AWS asegura la nube; tú aseguras lo que pones en ella.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Un bucket público con datos de pacientes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CuadroTexto 584"/>
          <p:cNvSpPr txBox="1"/>
          <p:nvPr/>
        </p:nvSpPr>
        <p:spPr>
          <a:xfrm>
            <a:off x="1123920" y="2877840"/>
            <a:ext cx="36334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es tu responsabilidad, no la de AWS.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CuadroTexto 585"/>
          <p:cNvSpPr txBox="1"/>
          <p:nvPr/>
        </p:nvSpPr>
        <p:spPr>
          <a:xfrm>
            <a:off x="869760" y="3373200"/>
            <a:ext cx="105357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Roles, no llaves.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Una credencial en un repositorio se explota en minutos, y lo que la corta es rotarla, no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CuadroTexto 586"/>
          <p:cNvSpPr txBox="1"/>
          <p:nvPr/>
        </p:nvSpPr>
        <p:spPr>
          <a:xfrm>
            <a:off x="1123920" y="3716280"/>
            <a:ext cx="1681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borrar el commit.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CuadroTexto 587"/>
          <p:cNvSpPr txBox="1"/>
          <p:nvPr/>
        </p:nvSpPr>
        <p:spPr>
          <a:xfrm>
            <a:off x="869760" y="4211640"/>
            <a:ext cx="99072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 alarma de presupuesto va antes que el primer servicio.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Dos minutos ahora, o una factura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CuadroTexto 588"/>
          <p:cNvSpPr txBox="1"/>
          <p:nvPr/>
        </p:nvSpPr>
        <p:spPr>
          <a:xfrm>
            <a:off x="1123920" y="4554360"/>
            <a:ext cx="1829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sorpresa después.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CuadroTexto 58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19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CuadroTexto 59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CuadroTexto 591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Forma libre 59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Forma libre 59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Forma libre 59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CuadroTexto 595"/>
          <p:cNvSpPr txBox="1"/>
          <p:nvPr/>
        </p:nvSpPr>
        <p:spPr>
          <a:xfrm>
            <a:off x="666720" y="2006280"/>
            <a:ext cx="16005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Laboratorio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CuadroTexto 596"/>
          <p:cNvSpPr txBox="1"/>
          <p:nvPr/>
        </p:nvSpPr>
        <p:spPr>
          <a:xfrm>
            <a:off x="666720" y="2717280"/>
            <a:ext cx="498168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020" b="0" u="none" strike="noStrike">
                <a:solidFill>
                  <a:srgbClr val="1B7CA8"/>
                </a:solidFill>
                <a:effectLst/>
                <a:uFillTx/>
                <a:latin typeface="HelveticaNeue"/>
                <a:ea typeface="HelveticaNeue"/>
              </a:rPr>
              <a:t>Configurar una cuenta AWS de forma segura</a:t>
            </a:r>
            <a:endParaRPr lang="es-ES" sz="20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CuadroTexto 597"/>
          <p:cNvSpPr txBox="1"/>
          <p:nvPr/>
        </p:nvSpPr>
        <p:spPr>
          <a:xfrm>
            <a:off x="666720" y="3230280"/>
            <a:ext cx="10101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MFA en la raíz, usuario propio, presupuesto con alertas, una política de privilegio mínimo probada en 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CuadroTexto 598"/>
          <p:cNvSpPr txBox="1"/>
          <p:nvPr/>
        </p:nvSpPr>
        <p:spPr>
          <a:xfrm>
            <a:off x="666720" y="3573360"/>
            <a:ext cx="75510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simulador, la CLI con perﬁl nombrado y boto3 sin una sola llave en el código.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Forma libre 599"/>
          <p:cNvSpPr/>
          <p:nvPr/>
        </p:nvSpPr>
        <p:spPr>
          <a:xfrm>
            <a:off x="1971360" y="4086000"/>
            <a:ext cx="1524600" cy="267120"/>
          </a:xfrm>
          <a:custGeom>
            <a:avLst/>
            <a:gdLst/>
            <a:ahLst/>
            <a:cxnLst/>
            <a:rect l="0" t="0" r="r" b="b"/>
            <a:pathLst>
              <a:path w="4235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4129" y="0"/>
                </a:lnTo>
                <a:cubicBezTo>
                  <a:pt x="4143" y="0"/>
                  <a:pt x="4156" y="3"/>
                  <a:pt x="4169" y="8"/>
                </a:cubicBezTo>
                <a:cubicBezTo>
                  <a:pt x="4182" y="14"/>
                  <a:pt x="4194" y="21"/>
                  <a:pt x="4204" y="31"/>
                </a:cubicBezTo>
                <a:cubicBezTo>
                  <a:pt x="4214" y="41"/>
                  <a:pt x="4221" y="52"/>
                  <a:pt x="4227" y="65"/>
                </a:cubicBezTo>
                <a:cubicBezTo>
                  <a:pt x="4232" y="78"/>
                  <a:pt x="4235" y="92"/>
                  <a:pt x="4235" y="106"/>
                </a:cubicBezTo>
                <a:lnTo>
                  <a:pt x="4235" y="636"/>
                </a:lnTo>
                <a:cubicBezTo>
                  <a:pt x="4235" y="650"/>
                  <a:pt x="4232" y="664"/>
                  <a:pt x="4227" y="677"/>
                </a:cubicBezTo>
                <a:cubicBezTo>
                  <a:pt x="4221" y="690"/>
                  <a:pt x="4214" y="701"/>
                  <a:pt x="4204" y="711"/>
                </a:cubicBezTo>
                <a:cubicBezTo>
                  <a:pt x="4194" y="721"/>
                  <a:pt x="4182" y="729"/>
                  <a:pt x="4169" y="734"/>
                </a:cubicBezTo>
                <a:cubicBezTo>
                  <a:pt x="4156" y="739"/>
                  <a:pt x="4143" y="742"/>
                  <a:pt x="4129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CuadroTexto 600"/>
          <p:cNvSpPr txBox="1"/>
          <p:nvPr/>
        </p:nvSpPr>
        <p:spPr>
          <a:xfrm>
            <a:off x="666720" y="4068720"/>
            <a:ext cx="13129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Entregable: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CuadroTexto 601"/>
          <p:cNvSpPr txBox="1"/>
          <p:nvPr/>
        </p:nvSpPr>
        <p:spPr>
          <a:xfrm>
            <a:off x="2032200" y="4105800"/>
            <a:ext cx="14101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aws-setup.md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Forma libre 602"/>
          <p:cNvSpPr/>
          <p:nvPr/>
        </p:nvSpPr>
        <p:spPr>
          <a:xfrm>
            <a:off x="3752640" y="4086000"/>
            <a:ext cx="2457720" cy="267120"/>
          </a:xfrm>
          <a:custGeom>
            <a:avLst/>
            <a:gdLst/>
            <a:ahLst/>
            <a:cxnLst/>
            <a:rect l="0" t="0" r="r" b="b"/>
            <a:pathLst>
              <a:path w="6827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6721" y="0"/>
                </a:lnTo>
                <a:cubicBezTo>
                  <a:pt x="6736" y="0"/>
                  <a:pt x="6749" y="3"/>
                  <a:pt x="6762" y="8"/>
                </a:cubicBezTo>
                <a:cubicBezTo>
                  <a:pt x="6775" y="14"/>
                  <a:pt x="6786" y="21"/>
                  <a:pt x="6796" y="31"/>
                </a:cubicBezTo>
                <a:cubicBezTo>
                  <a:pt x="6806" y="41"/>
                  <a:pt x="6814" y="52"/>
                  <a:pt x="6819" y="65"/>
                </a:cubicBezTo>
                <a:cubicBezTo>
                  <a:pt x="6825" y="78"/>
                  <a:pt x="6827" y="92"/>
                  <a:pt x="6827" y="106"/>
                </a:cubicBezTo>
                <a:lnTo>
                  <a:pt x="6827" y="636"/>
                </a:lnTo>
                <a:cubicBezTo>
                  <a:pt x="6827" y="650"/>
                  <a:pt x="6825" y="664"/>
                  <a:pt x="6819" y="677"/>
                </a:cubicBezTo>
                <a:cubicBezTo>
                  <a:pt x="6814" y="690"/>
                  <a:pt x="6806" y="701"/>
                  <a:pt x="6796" y="711"/>
                </a:cubicBezTo>
                <a:cubicBezTo>
                  <a:pt x="6786" y="721"/>
                  <a:pt x="6775" y="729"/>
                  <a:pt x="6762" y="734"/>
                </a:cubicBezTo>
                <a:cubicBezTo>
                  <a:pt x="6749" y="739"/>
                  <a:pt x="6736" y="742"/>
                  <a:pt x="6721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CuadroTexto 603"/>
          <p:cNvSpPr txBox="1"/>
          <p:nvPr/>
        </p:nvSpPr>
        <p:spPr>
          <a:xfrm>
            <a:off x="3493080" y="4068720"/>
            <a:ext cx="2649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+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CuadroTexto 604"/>
          <p:cNvSpPr txBox="1"/>
          <p:nvPr/>
        </p:nvSpPr>
        <p:spPr>
          <a:xfrm>
            <a:off x="3814560" y="4105800"/>
            <a:ext cx="23497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politica_minima.json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Forma libre 605"/>
          <p:cNvSpPr/>
          <p:nvPr/>
        </p:nvSpPr>
        <p:spPr>
          <a:xfrm>
            <a:off x="666720" y="4581360"/>
            <a:ext cx="4562640" cy="267120"/>
          </a:xfrm>
          <a:custGeom>
            <a:avLst/>
            <a:gdLst/>
            <a:ahLst/>
            <a:cxnLst/>
            <a:rect l="0" t="0" r="r" b="b"/>
            <a:pathLst>
              <a:path w="12674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2568" y="0"/>
                </a:lnTo>
                <a:cubicBezTo>
                  <a:pt x="12582" y="0"/>
                  <a:pt x="12596" y="3"/>
                  <a:pt x="12609" y="8"/>
                </a:cubicBezTo>
                <a:cubicBezTo>
                  <a:pt x="12622" y="13"/>
                  <a:pt x="12633" y="21"/>
                  <a:pt x="12643" y="31"/>
                </a:cubicBezTo>
                <a:cubicBezTo>
                  <a:pt x="12653" y="41"/>
                  <a:pt x="12661" y="52"/>
                  <a:pt x="12666" y="65"/>
                </a:cubicBezTo>
                <a:cubicBezTo>
                  <a:pt x="12671" y="78"/>
                  <a:pt x="12674" y="92"/>
                  <a:pt x="12674" y="106"/>
                </a:cubicBezTo>
                <a:lnTo>
                  <a:pt x="12674" y="636"/>
                </a:lnTo>
                <a:cubicBezTo>
                  <a:pt x="12674" y="650"/>
                  <a:pt x="12671" y="663"/>
                  <a:pt x="12666" y="676"/>
                </a:cubicBezTo>
                <a:cubicBezTo>
                  <a:pt x="12661" y="689"/>
                  <a:pt x="12653" y="701"/>
                  <a:pt x="12643" y="711"/>
                </a:cubicBezTo>
                <a:cubicBezTo>
                  <a:pt x="12633" y="721"/>
                  <a:pt x="12622" y="728"/>
                  <a:pt x="12609" y="734"/>
                </a:cubicBezTo>
                <a:cubicBezTo>
                  <a:pt x="12596" y="739"/>
                  <a:pt x="12582" y="742"/>
                  <a:pt x="12568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CuadroTexto 606"/>
          <p:cNvSpPr txBox="1"/>
          <p:nvPr/>
        </p:nvSpPr>
        <p:spPr>
          <a:xfrm>
            <a:off x="6211440" y="4068720"/>
            <a:ext cx="2729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+ notebook de veriﬁcación.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CuadroTexto 607"/>
          <p:cNvSpPr txBox="1"/>
          <p:nvPr/>
        </p:nvSpPr>
        <p:spPr>
          <a:xfrm>
            <a:off x="723960" y="4601160"/>
            <a:ext cx="44636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labs/s19-aws-fundamentos-iam/README.md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CuadroTexto 60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19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CuadroTexto 60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CuadroTexto 610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Forma libre 61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Forma libre 61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Forma libre 61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CuadroTexto 614"/>
          <p:cNvSpPr txBox="1"/>
          <p:nvPr/>
        </p:nvSpPr>
        <p:spPr>
          <a:xfrm>
            <a:off x="4672800" y="2692440"/>
            <a:ext cx="29152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¿Preguntas?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CuadroTexto 61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19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CuadroTexto 61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CuadroTexto 620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</TotalTime>
  <Words>2020</Words>
  <Application>Microsoft Macintosh PowerPoint</Application>
  <PresentationFormat>Panorámica</PresentationFormat>
  <Paragraphs>276</Paragraphs>
  <Slides>26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3" baseType="lpstr">
      <vt:lpstr>Arial</vt:lpstr>
      <vt:lpstr>HelveticaNeue</vt:lpstr>
      <vt:lpstr>Menlo</vt:lpstr>
      <vt:lpstr>Symbol</vt:lpstr>
      <vt:lpstr>Times New Roman</vt:lpstr>
      <vt:lpstr>Wingdings</vt:lpstr>
      <vt:lpstr>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dc:description/>
  <cp:lastModifiedBy>Antonio Daniel Martinez Gutierrez</cp:lastModifiedBy>
  <cp:revision>2</cp:revision>
  <dcterms:modified xsi:type="dcterms:W3CDTF">2026-10-09T14:33:09Z</dcterms:modified>
  <dc:language>es-ES</dc:language>
</cp:coreProperties>
</file>