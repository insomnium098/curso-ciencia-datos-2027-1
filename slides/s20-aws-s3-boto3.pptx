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20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66720" y="3187440"/>
            <a:ext cx="8202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Amazon S3: Almacenamiento de Datos Clínicos con boto3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66720" y="3868560"/>
            <a:ext cx="3598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IV — Cómputo en la nube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869760" y="3268440"/>
            <a:ext cx="6712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Organizar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data lake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tu proyecto, con zonas y particiones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69760" y="3668400"/>
            <a:ext cx="6810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Operar S3 desde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boto3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sin tropezar con el límite de 1 000 objetos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69760" y="4068720"/>
            <a:ext cx="7643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Leer datos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sin descargarlos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en Parquet, desde pandas y desde DuckDB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69760" y="4468680"/>
            <a:ext cx="6984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Proteger un bucket: cifrado, versionado y acceso público bloqueado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69760" y="1858680"/>
            <a:ext cx="3456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S3 no es un sistema de archivos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869760" y="2259000"/>
            <a:ext cx="3265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Las tres zonas de un data lake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69760" y="2658960"/>
            <a:ext cx="2063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Proteger el bucket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869760" y="3058920"/>
            <a:ext cx="2215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boto3 en la práctica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69760" y="3458880"/>
            <a:ext cx="2977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Leer sin descargar: Parquet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69760" y="3859200"/>
            <a:ext cx="4366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Clases de almacenamiento y ciclo de vida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69760" y="4259160"/>
            <a:ext cx="2261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Datos clínicos en S3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69760" y="4659120"/>
            <a:ext cx="3007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Automatizar lo que se repite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05040" y="5268600"/>
            <a:ext cx="5229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montar el data lake de tu proyecto ﬁnal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2160360" y="3063960"/>
            <a:ext cx="8062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S3 no es un sistema de archivos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71400" y="192852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71400" y="192852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71400" y="343368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71400" y="343368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6"/>
                  <a:pt x="30103" y="2267"/>
                </a:cubicBezTo>
                <a:cubicBezTo>
                  <a:pt x="30096" y="2278"/>
                  <a:pt x="30088" y="2288"/>
                  <a:pt x="30079" y="2297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5"/>
                  <a:pt x="30014" y="2340"/>
                </a:cubicBezTo>
                <a:cubicBezTo>
                  <a:pt x="30002" y="2345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5"/>
                  <a:pt x="122" y="2340"/>
                </a:cubicBezTo>
                <a:cubicBezTo>
                  <a:pt x="110" y="2335"/>
                  <a:pt x="99" y="2329"/>
                  <a:pt x="88" y="2322"/>
                </a:cubicBezTo>
                <a:cubicBezTo>
                  <a:pt x="77" y="2315"/>
                  <a:pt x="67" y="2307"/>
                  <a:pt x="58" y="2297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6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66720" y="1292040"/>
            <a:ext cx="2874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Objetos, no archivos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66880" y="2108520"/>
            <a:ext cx="6224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bucket   →   un espacio con nombre único en todo el mundo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66880" y="237528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objeto   →   llave (el "nombre") + datos + metadatos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66720" y="2973240"/>
            <a:ext cx="3226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carpetas no existen.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Esto: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66880" y="361332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s3://mi-proyecto/curated/measurement/anio=2026/parte-0001.parquet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914040" y="4590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66880" y="388008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└──────────── todo esto es LA LLAVE ────────────┘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133440" y="4495680"/>
            <a:ext cx="1048320" cy="267120"/>
          </a:xfrm>
          <a:custGeom>
            <a:avLst/>
            <a:gdLst/>
            <a:ahLst/>
            <a:rect l="0" t="0" r="r" b="b"/>
            <a:pathLst>
              <a:path w="291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3" y="3"/>
                  <a:pt x="2846" y="8"/>
                </a:cubicBezTo>
                <a:cubicBezTo>
                  <a:pt x="2859" y="13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2"/>
                  <a:pt x="2912" y="106"/>
                </a:cubicBezTo>
                <a:lnTo>
                  <a:pt x="2912" y="636"/>
                </a:lnTo>
                <a:cubicBezTo>
                  <a:pt x="2912" y="650"/>
                  <a:pt x="2909" y="663"/>
                  <a:pt x="2904" y="676"/>
                </a:cubicBezTo>
                <a:cubicBezTo>
                  <a:pt x="2898" y="689"/>
                  <a:pt x="2891" y="701"/>
                  <a:pt x="2881" y="711"/>
                </a:cubicBezTo>
                <a:cubicBezTo>
                  <a:pt x="2871" y="721"/>
                  <a:pt x="2859" y="728"/>
                  <a:pt x="2846" y="734"/>
                </a:cubicBezTo>
                <a:cubicBezTo>
                  <a:pt x="2833" y="739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23920" y="4478040"/>
            <a:ext cx="2016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hay un directorio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192840" y="451548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curated/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914040" y="49910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186080" y="4478040"/>
            <a:ext cx="4116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hay objetos cuya llave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empieza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eso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14040" y="53910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123920" y="4878360"/>
            <a:ext cx="5205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puedes «renombrar una carpeta»: copias y borras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123920" y="5278320"/>
            <a:ext cx="6022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sí puedes listar por preﬁjo, y de ahí viene toda la organización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179960" y="3063960"/>
            <a:ext cx="3933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Las tres zonas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76080" y="2199960"/>
            <a:ext cx="1143360" cy="410040"/>
          </a:xfrm>
          <a:custGeom>
            <a:avLst/>
            <a:gdLst/>
            <a:ah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819080" y="2199960"/>
            <a:ext cx="1972080" cy="410040"/>
          </a:xfrm>
          <a:custGeom>
            <a:avLst/>
            <a:gdLst/>
            <a:ahLst/>
            <a:rect l="0" t="0" r="r" b="b"/>
            <a:pathLst>
              <a:path w="5478" h="1139">
                <a:moveTo>
                  <a:pt x="0" y="0"/>
                </a:moveTo>
                <a:lnTo>
                  <a:pt x="5478" y="0"/>
                </a:lnTo>
                <a:lnTo>
                  <a:pt x="547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790800" y="2199960"/>
            <a:ext cx="2972160" cy="410040"/>
          </a:xfrm>
          <a:custGeom>
            <a:avLst/>
            <a:gdLst/>
            <a:ahLst/>
            <a:rect l="0" t="0" r="r" b="b"/>
            <a:pathLst>
              <a:path w="8256" h="1139">
                <a:moveTo>
                  <a:pt x="0" y="0"/>
                </a:moveTo>
                <a:lnTo>
                  <a:pt x="8256" y="0"/>
                </a:lnTo>
                <a:lnTo>
                  <a:pt x="8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76080" y="2199960"/>
            <a:ext cx="1143360" cy="410040"/>
          </a:xfrm>
          <a:custGeom>
            <a:avLst/>
            <a:gdLst/>
            <a:ah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819080" y="2199960"/>
            <a:ext cx="1972080" cy="410040"/>
          </a:xfrm>
          <a:custGeom>
            <a:avLst/>
            <a:gdLst/>
            <a:ahLst/>
            <a:rect l="0" t="0" r="r" b="b"/>
            <a:pathLst>
              <a:path w="5478" h="1139">
                <a:moveTo>
                  <a:pt x="0" y="0"/>
                </a:moveTo>
                <a:lnTo>
                  <a:pt x="5478" y="0"/>
                </a:lnTo>
                <a:lnTo>
                  <a:pt x="547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3790800" y="2199960"/>
            <a:ext cx="2972160" cy="410040"/>
          </a:xfrm>
          <a:custGeom>
            <a:avLst/>
            <a:gdLst/>
            <a:ahLst/>
            <a:rect l="0" t="0" r="r" b="b"/>
            <a:pathLst>
              <a:path w="8256" h="1139">
                <a:moveTo>
                  <a:pt x="0" y="0"/>
                </a:moveTo>
                <a:lnTo>
                  <a:pt x="8256" y="0"/>
                </a:lnTo>
                <a:lnTo>
                  <a:pt x="8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76080" y="2609640"/>
            <a:ext cx="1143360" cy="419400"/>
          </a:xfrm>
          <a:custGeom>
            <a:avLst/>
            <a:gdLst/>
            <a:ahLst/>
            <a:rect l="0" t="0" r="r" b="b"/>
            <a:pathLst>
              <a:path w="3176" h="1165">
                <a:moveTo>
                  <a:pt x="0" y="0"/>
                </a:moveTo>
                <a:lnTo>
                  <a:pt x="3176" y="0"/>
                </a:lnTo>
                <a:lnTo>
                  <a:pt x="317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819080" y="2609640"/>
            <a:ext cx="1972080" cy="419400"/>
          </a:xfrm>
          <a:custGeom>
            <a:avLst/>
            <a:gdLst/>
            <a:ahLst/>
            <a:rect l="0" t="0" r="r" b="b"/>
            <a:pathLst>
              <a:path w="5478" h="1165">
                <a:moveTo>
                  <a:pt x="0" y="0"/>
                </a:moveTo>
                <a:lnTo>
                  <a:pt x="5478" y="0"/>
                </a:lnTo>
                <a:lnTo>
                  <a:pt x="547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790800" y="2609640"/>
            <a:ext cx="2972160" cy="419400"/>
          </a:xfrm>
          <a:custGeom>
            <a:avLst/>
            <a:gdLst/>
            <a:ahLst/>
            <a:rect l="0" t="0" r="r" b="b"/>
            <a:pathLst>
              <a:path w="8256" h="1165">
                <a:moveTo>
                  <a:pt x="0" y="0"/>
                </a:moveTo>
                <a:lnTo>
                  <a:pt x="8256" y="0"/>
                </a:lnTo>
                <a:lnTo>
                  <a:pt x="825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76080" y="3028680"/>
            <a:ext cx="1143360" cy="410040"/>
          </a:xfrm>
          <a:custGeom>
            <a:avLst/>
            <a:gdLst/>
            <a:ah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819080" y="3028680"/>
            <a:ext cx="1972080" cy="410040"/>
          </a:xfrm>
          <a:custGeom>
            <a:avLst/>
            <a:gdLst/>
            <a:ahLst/>
            <a:rect l="0" t="0" r="r" b="b"/>
            <a:pathLst>
              <a:path w="5478" h="1139">
                <a:moveTo>
                  <a:pt x="0" y="0"/>
                </a:moveTo>
                <a:lnTo>
                  <a:pt x="5478" y="0"/>
                </a:lnTo>
                <a:lnTo>
                  <a:pt x="547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790800" y="3028680"/>
            <a:ext cx="2972160" cy="410040"/>
          </a:xfrm>
          <a:custGeom>
            <a:avLst/>
            <a:gdLst/>
            <a:ahLst/>
            <a:rect l="0" t="0" r="r" b="b"/>
            <a:pathLst>
              <a:path w="8256" h="1139">
                <a:moveTo>
                  <a:pt x="0" y="0"/>
                </a:moveTo>
                <a:lnTo>
                  <a:pt x="8256" y="0"/>
                </a:lnTo>
                <a:lnTo>
                  <a:pt x="8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76080" y="3438360"/>
            <a:ext cx="1143360" cy="410040"/>
          </a:xfrm>
          <a:custGeom>
            <a:avLst/>
            <a:gdLst/>
            <a:ahLst/>
            <a:rect l="0" t="0" r="r" b="b"/>
            <a:pathLst>
              <a:path w="3176" h="1139">
                <a:moveTo>
                  <a:pt x="0" y="0"/>
                </a:moveTo>
                <a:lnTo>
                  <a:pt x="3176" y="0"/>
                </a:lnTo>
                <a:lnTo>
                  <a:pt x="317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819080" y="3438360"/>
            <a:ext cx="1972080" cy="410040"/>
          </a:xfrm>
          <a:custGeom>
            <a:avLst/>
            <a:gdLst/>
            <a:ahLst/>
            <a:rect l="0" t="0" r="r" b="b"/>
            <a:pathLst>
              <a:path w="5478" h="1139">
                <a:moveTo>
                  <a:pt x="0" y="0"/>
                </a:moveTo>
                <a:lnTo>
                  <a:pt x="5478" y="0"/>
                </a:lnTo>
                <a:lnTo>
                  <a:pt x="547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790800" y="3438360"/>
            <a:ext cx="2972160" cy="410040"/>
          </a:xfrm>
          <a:custGeom>
            <a:avLst/>
            <a:gdLst/>
            <a:ahLst/>
            <a:rect l="0" t="0" r="r" b="b"/>
            <a:pathLst>
              <a:path w="8256" h="1139">
                <a:moveTo>
                  <a:pt x="0" y="0"/>
                </a:moveTo>
                <a:lnTo>
                  <a:pt x="8256" y="0"/>
                </a:lnTo>
                <a:lnTo>
                  <a:pt x="825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66720" y="219060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66720" y="2190600"/>
            <a:ext cx="1162080" cy="9720"/>
          </a:xfrm>
          <a:custGeom>
            <a:avLst/>
            <a:gdLst/>
            <a:ah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819080" y="219060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828440" y="219060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790800" y="219060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800160" y="2190600"/>
            <a:ext cx="2972160" cy="9720"/>
          </a:xfrm>
          <a:custGeom>
            <a:avLst/>
            <a:gdLst/>
            <a:ahLst/>
            <a:rect l="0" t="0" r="r" b="b"/>
            <a:pathLst>
              <a:path w="8256" h="27">
                <a:moveTo>
                  <a:pt x="0" y="0"/>
                </a:moveTo>
                <a:lnTo>
                  <a:pt x="8256" y="0"/>
                </a:lnTo>
                <a:lnTo>
                  <a:pt x="8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762600" y="219060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666720" y="2600280"/>
            <a:ext cx="1162080" cy="9720"/>
          </a:xfrm>
          <a:custGeom>
            <a:avLst/>
            <a:gdLst/>
            <a:ah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828440" y="260028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3800160" y="2600280"/>
            <a:ext cx="2972160" cy="9720"/>
          </a:xfrm>
          <a:custGeom>
            <a:avLst/>
            <a:gdLst/>
            <a:ahLst/>
            <a:rect l="0" t="0" r="r" b="b"/>
            <a:pathLst>
              <a:path w="8256" h="27">
                <a:moveTo>
                  <a:pt x="0" y="0"/>
                </a:moveTo>
                <a:lnTo>
                  <a:pt x="8256" y="0"/>
                </a:lnTo>
                <a:lnTo>
                  <a:pt x="8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666720" y="26096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1819080" y="26096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790800" y="26096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762600" y="26096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66720" y="30286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66720" y="3019320"/>
            <a:ext cx="1162080" cy="9720"/>
          </a:xfrm>
          <a:custGeom>
            <a:avLst/>
            <a:gdLst/>
            <a:ahLst/>
            <a:rect l="0" t="0" r="r" b="b"/>
            <a:pathLst>
              <a:path w="3228" h="27">
                <a:moveTo>
                  <a:pt x="0" y="0"/>
                </a:moveTo>
                <a:lnTo>
                  <a:pt x="3228" y="0"/>
                </a:lnTo>
                <a:lnTo>
                  <a:pt x="322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1819080" y="30286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828440" y="3019320"/>
            <a:ext cx="1972080" cy="9720"/>
          </a:xfrm>
          <a:custGeom>
            <a:avLst/>
            <a:gdLst/>
            <a:ahLst/>
            <a:rect l="0" t="0" r="r" b="b"/>
            <a:pathLst>
              <a:path w="5478" h="27">
                <a:moveTo>
                  <a:pt x="0" y="0"/>
                </a:moveTo>
                <a:lnTo>
                  <a:pt x="5478" y="0"/>
                </a:lnTo>
                <a:lnTo>
                  <a:pt x="54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790800" y="30286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3800160" y="3019320"/>
            <a:ext cx="2972160" cy="9720"/>
          </a:xfrm>
          <a:custGeom>
            <a:avLst/>
            <a:gdLst/>
            <a:ahLst/>
            <a:rect l="0" t="0" r="r" b="b"/>
            <a:pathLst>
              <a:path w="8256" h="27">
                <a:moveTo>
                  <a:pt x="0" y="0"/>
                </a:moveTo>
                <a:lnTo>
                  <a:pt x="8256" y="0"/>
                </a:lnTo>
                <a:lnTo>
                  <a:pt x="825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762600" y="302868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66720" y="34383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666720" y="3428640"/>
            <a:ext cx="1162080" cy="10080"/>
          </a:xfrm>
          <a:custGeom>
            <a:avLst/>
            <a:gdLst/>
            <a:ahLst/>
            <a:rect l="0" t="0" r="r" b="b"/>
            <a:pathLst>
              <a:path w="3228" h="28">
                <a:moveTo>
                  <a:pt x="0" y="0"/>
                </a:moveTo>
                <a:lnTo>
                  <a:pt x="3228" y="0"/>
                </a:lnTo>
                <a:lnTo>
                  <a:pt x="32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819080" y="34383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828440" y="3428640"/>
            <a:ext cx="1972080" cy="10080"/>
          </a:xfrm>
          <a:custGeom>
            <a:avLst/>
            <a:gdLst/>
            <a:ahLst/>
            <a:rect l="0" t="0" r="r" b="b"/>
            <a:pathLst>
              <a:path w="5478" h="28">
                <a:moveTo>
                  <a:pt x="0" y="0"/>
                </a:moveTo>
                <a:lnTo>
                  <a:pt x="5478" y="0"/>
                </a:lnTo>
                <a:lnTo>
                  <a:pt x="5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790800" y="34383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800160" y="3428640"/>
            <a:ext cx="2972160" cy="10080"/>
          </a:xfrm>
          <a:custGeom>
            <a:avLst/>
            <a:gdLst/>
            <a:ahLst/>
            <a:rect l="0" t="0" r="r" b="b"/>
            <a:pathLst>
              <a:path w="8256" h="28">
                <a:moveTo>
                  <a:pt x="0" y="0"/>
                </a:moveTo>
                <a:lnTo>
                  <a:pt x="8256" y="0"/>
                </a:lnTo>
                <a:lnTo>
                  <a:pt x="8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762600" y="34383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66720" y="3838320"/>
            <a:ext cx="1162080" cy="10080"/>
          </a:xfrm>
          <a:custGeom>
            <a:avLst/>
            <a:gdLst/>
            <a:ahLst/>
            <a:rect l="0" t="0" r="r" b="b"/>
            <a:pathLst>
              <a:path w="3228" h="28">
                <a:moveTo>
                  <a:pt x="0" y="0"/>
                </a:moveTo>
                <a:lnTo>
                  <a:pt x="3228" y="0"/>
                </a:lnTo>
                <a:lnTo>
                  <a:pt x="322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828440" y="3838320"/>
            <a:ext cx="1972080" cy="10080"/>
          </a:xfrm>
          <a:custGeom>
            <a:avLst/>
            <a:gdLst/>
            <a:ahLst/>
            <a:rect l="0" t="0" r="r" b="b"/>
            <a:pathLst>
              <a:path w="5478" h="28">
                <a:moveTo>
                  <a:pt x="0" y="0"/>
                </a:moveTo>
                <a:lnTo>
                  <a:pt x="5478" y="0"/>
                </a:lnTo>
                <a:lnTo>
                  <a:pt x="54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3800160" y="3838320"/>
            <a:ext cx="2972160" cy="10080"/>
          </a:xfrm>
          <a:custGeom>
            <a:avLst/>
            <a:gdLst/>
            <a:ahLst/>
            <a:rect l="0" t="0" r="r" b="b"/>
            <a:pathLst>
              <a:path w="8256" h="28">
                <a:moveTo>
                  <a:pt x="0" y="0"/>
                </a:moveTo>
                <a:lnTo>
                  <a:pt x="8256" y="0"/>
                </a:lnTo>
                <a:lnTo>
                  <a:pt x="825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71400" y="4500360"/>
            <a:ext cx="10849320" cy="581400"/>
          </a:xfrm>
          <a:custGeom>
            <a:avLst/>
            <a:gdLst/>
            <a:ah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0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671400" y="4500360"/>
            <a:ext cx="10849320" cy="581400"/>
          </a:xfrm>
          <a:custGeom>
            <a:avLst/>
            <a:gdLst/>
            <a:ah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0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666720" y="5238720"/>
            <a:ext cx="10858680" cy="571680"/>
          </a:xfrm>
          <a:custGeom>
            <a:avLst/>
            <a:gdLst/>
            <a:ah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66720" y="5238720"/>
            <a:ext cx="47880" cy="571680"/>
          </a:xfrm>
          <a:custGeom>
            <a:avLst/>
            <a:gdLst/>
            <a:ah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66720" y="1063440"/>
            <a:ext cx="2995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zonas, una regla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323720" y="1771560"/>
            <a:ext cx="3591360" cy="238320"/>
          </a:xfrm>
          <a:custGeom>
            <a:avLst/>
            <a:gdLst/>
            <a:ahLst/>
            <a:rect l="0" t="0" r="r" b="b"/>
            <a:pathLst>
              <a:path w="9976" h="662">
                <a:moveTo>
                  <a:pt x="0" y="556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9870" y="0"/>
                </a:lnTo>
                <a:cubicBezTo>
                  <a:pt x="9884" y="0"/>
                  <a:pt x="9898" y="2"/>
                  <a:pt x="9911" y="8"/>
                </a:cubicBezTo>
                <a:cubicBezTo>
                  <a:pt x="9924" y="13"/>
                  <a:pt x="9935" y="21"/>
                  <a:pt x="9945" y="31"/>
                </a:cubicBezTo>
                <a:cubicBezTo>
                  <a:pt x="9955" y="42"/>
                  <a:pt x="9963" y="53"/>
                  <a:pt x="9968" y="66"/>
                </a:cubicBezTo>
                <a:cubicBezTo>
                  <a:pt x="9973" y="79"/>
                  <a:pt x="9976" y="93"/>
                  <a:pt x="9976" y="107"/>
                </a:cubicBezTo>
                <a:lnTo>
                  <a:pt x="9976" y="556"/>
                </a:lnTo>
                <a:cubicBezTo>
                  <a:pt x="9976" y="570"/>
                  <a:pt x="9973" y="584"/>
                  <a:pt x="9968" y="597"/>
                </a:cubicBezTo>
                <a:cubicBezTo>
                  <a:pt x="9963" y="610"/>
                  <a:pt x="9955" y="621"/>
                  <a:pt x="9945" y="631"/>
                </a:cubicBezTo>
                <a:cubicBezTo>
                  <a:pt x="9935" y="641"/>
                  <a:pt x="9924" y="649"/>
                  <a:pt x="9911" y="654"/>
                </a:cubicBezTo>
                <a:cubicBezTo>
                  <a:pt x="9898" y="660"/>
                  <a:pt x="9884" y="662"/>
                  <a:pt x="9870" y="662"/>
                </a:cubicBezTo>
                <a:lnTo>
                  <a:pt x="106" y="662"/>
                </a:lnTo>
                <a:cubicBezTo>
                  <a:pt x="92" y="662"/>
                  <a:pt x="79" y="660"/>
                  <a:pt x="66" y="654"/>
                </a:cubicBezTo>
                <a:cubicBezTo>
                  <a:pt x="53" y="649"/>
                  <a:pt x="41" y="641"/>
                  <a:pt x="31" y="631"/>
                </a:cubicBezTo>
                <a:cubicBezTo>
                  <a:pt x="21" y="621"/>
                  <a:pt x="14" y="610"/>
                  <a:pt x="8" y="597"/>
                </a:cubicBezTo>
                <a:cubicBezTo>
                  <a:pt x="3" y="584"/>
                  <a:pt x="0" y="570"/>
                  <a:pt x="0" y="55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666720" y="1756800"/>
            <a:ext cx="6602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Figura: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383480" y="1790280"/>
            <a:ext cx="34826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figuras/s20/01-zonas-datalake.png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015920" y="2295000"/>
            <a:ext cx="46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Zona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2278080" y="2295000"/>
            <a:ext cx="1062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guarda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799920" y="2714400"/>
            <a:ext cx="505080" cy="228960"/>
          </a:xfrm>
          <a:custGeom>
            <a:avLst/>
            <a:gdLst/>
            <a:ah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4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1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1" y="558"/>
                  <a:pt x="1395" y="571"/>
                </a:cubicBezTo>
                <a:cubicBezTo>
                  <a:pt x="1390" y="584"/>
                  <a:pt x="1382" y="595"/>
                  <a:pt x="1372" y="605"/>
                </a:cubicBezTo>
                <a:cubicBezTo>
                  <a:pt x="1362" y="615"/>
                  <a:pt x="1351" y="623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016240" y="2295000"/>
            <a:ext cx="522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Regla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857160" y="273564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raw/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1951560" y="2704680"/>
            <a:ext cx="1712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como llegó, sin tocar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99920" y="3124080"/>
            <a:ext cx="895680" cy="228960"/>
          </a:xfrm>
          <a:custGeom>
            <a:avLst/>
            <a:gdLst/>
            <a:ahLst/>
            <a:rect l="0" t="0" r="r" b="b"/>
            <a:pathLst>
              <a:path w="248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10" y="3"/>
                  <a:pt x="2423" y="8"/>
                </a:cubicBezTo>
                <a:cubicBezTo>
                  <a:pt x="2436" y="13"/>
                  <a:pt x="2447" y="21"/>
                  <a:pt x="2457" y="31"/>
                </a:cubicBezTo>
                <a:cubicBezTo>
                  <a:pt x="2467" y="41"/>
                  <a:pt x="2475" y="52"/>
                  <a:pt x="2480" y="65"/>
                </a:cubicBezTo>
                <a:cubicBezTo>
                  <a:pt x="2485" y="78"/>
                  <a:pt x="2488" y="92"/>
                  <a:pt x="2488" y="106"/>
                </a:cubicBezTo>
                <a:lnTo>
                  <a:pt x="2488" y="530"/>
                </a:lnTo>
                <a:cubicBezTo>
                  <a:pt x="2488" y="544"/>
                  <a:pt x="2485" y="558"/>
                  <a:pt x="2480" y="571"/>
                </a:cubicBezTo>
                <a:cubicBezTo>
                  <a:pt x="2475" y="583"/>
                  <a:pt x="2467" y="595"/>
                  <a:pt x="2457" y="605"/>
                </a:cubicBezTo>
                <a:cubicBezTo>
                  <a:pt x="2447" y="615"/>
                  <a:pt x="2436" y="622"/>
                  <a:pt x="2423" y="628"/>
                </a:cubicBezTo>
                <a:cubicBezTo>
                  <a:pt x="2410" y="633"/>
                  <a:pt x="2396" y="636"/>
                  <a:pt x="238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920400" y="2704680"/>
            <a:ext cx="2646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inmutable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versionado activado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57160" y="314532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staging/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951560" y="3114360"/>
            <a:ext cx="1189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limpio y tipado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134040" y="3124080"/>
            <a:ext cx="505080" cy="228960"/>
          </a:xfrm>
          <a:custGeom>
            <a:avLst/>
            <a:gdLst/>
            <a:ah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297" y="0"/>
                </a:lnTo>
                <a:cubicBezTo>
                  <a:pt x="1311" y="0"/>
                  <a:pt x="1325" y="3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90" y="52"/>
                  <a:pt x="1395" y="65"/>
                </a:cubicBezTo>
                <a:cubicBezTo>
                  <a:pt x="1400" y="78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0" y="558"/>
                  <a:pt x="1395" y="571"/>
                </a:cubicBezTo>
                <a:cubicBezTo>
                  <a:pt x="1390" y="583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920400" y="3114360"/>
            <a:ext cx="2213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puede regenerar desde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799920" y="3533760"/>
            <a:ext cx="895680" cy="228960"/>
          </a:xfrm>
          <a:custGeom>
            <a:avLst/>
            <a:gdLst/>
            <a:ahLst/>
            <a:rect l="0" t="0" r="r" b="b"/>
            <a:pathLst>
              <a:path w="248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10" y="2"/>
                  <a:pt x="2423" y="8"/>
                </a:cubicBezTo>
                <a:cubicBezTo>
                  <a:pt x="2436" y="14"/>
                  <a:pt x="2447" y="22"/>
                  <a:pt x="2457" y="32"/>
                </a:cubicBezTo>
                <a:cubicBezTo>
                  <a:pt x="2467" y="41"/>
                  <a:pt x="2475" y="53"/>
                  <a:pt x="2480" y="66"/>
                </a:cubicBezTo>
                <a:cubicBezTo>
                  <a:pt x="2485" y="79"/>
                  <a:pt x="2488" y="92"/>
                  <a:pt x="2488" y="106"/>
                </a:cubicBezTo>
                <a:lnTo>
                  <a:pt x="2488" y="530"/>
                </a:lnTo>
                <a:cubicBezTo>
                  <a:pt x="2488" y="544"/>
                  <a:pt x="2485" y="557"/>
                  <a:pt x="2480" y="570"/>
                </a:cubicBezTo>
                <a:cubicBezTo>
                  <a:pt x="2475" y="583"/>
                  <a:pt x="2467" y="595"/>
                  <a:pt x="2457" y="605"/>
                </a:cubicBezTo>
                <a:cubicBezTo>
                  <a:pt x="2447" y="614"/>
                  <a:pt x="2436" y="622"/>
                  <a:pt x="2423" y="627"/>
                </a:cubicBezTo>
                <a:cubicBezTo>
                  <a:pt x="2410" y="633"/>
                  <a:pt x="2396" y="636"/>
                  <a:pt x="238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186960" y="314532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raw/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57160" y="355500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curated/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951560" y="3524040"/>
            <a:ext cx="1415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listo para analizar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920400" y="3524040"/>
            <a:ext cx="2022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particionado, en Parquet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66720" y="4039920"/>
            <a:ext cx="4701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Y dentro de cada zona, el preﬁjo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partición: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866880" y="468036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curated/measurement/anio=2026/mes=03/parte-0001.parquet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952720" y="5410080"/>
            <a:ext cx="1047960" cy="267120"/>
          </a:xfrm>
          <a:custGeom>
            <a:avLst/>
            <a:gdLst/>
            <a:ah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805" y="0"/>
                </a:lnTo>
                <a:cubicBezTo>
                  <a:pt x="2819" y="0"/>
                  <a:pt x="2833" y="3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3"/>
                  <a:pt x="2903" y="676"/>
                </a:cubicBezTo>
                <a:cubicBezTo>
                  <a:pt x="2898" y="689"/>
                  <a:pt x="2890" y="701"/>
                  <a:pt x="2880" y="711"/>
                </a:cubicBezTo>
                <a:cubicBezTo>
                  <a:pt x="2870" y="721"/>
                  <a:pt x="2859" y="728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05040" y="5392440"/>
            <a:ext cx="2050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puedes regenerar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007800" y="542988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staging/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4238280" y="5410080"/>
            <a:ext cx="1048320" cy="267120"/>
          </a:xfrm>
          <a:custGeom>
            <a:avLst/>
            <a:gdLst/>
            <a:ahLst/>
            <a:rect l="0" t="0" r="r" b="b"/>
            <a:pathLst>
              <a:path w="291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806" y="0"/>
                </a:lnTo>
                <a:cubicBezTo>
                  <a:pt x="2820" y="0"/>
                  <a:pt x="2834" y="3"/>
                  <a:pt x="2847" y="8"/>
                </a:cubicBezTo>
                <a:cubicBezTo>
                  <a:pt x="2860" y="13"/>
                  <a:pt x="2871" y="21"/>
                  <a:pt x="2881" y="31"/>
                </a:cubicBezTo>
                <a:cubicBezTo>
                  <a:pt x="2891" y="41"/>
                  <a:pt x="2898" y="52"/>
                  <a:pt x="2904" y="65"/>
                </a:cubicBezTo>
                <a:cubicBezTo>
                  <a:pt x="2909" y="78"/>
                  <a:pt x="2912" y="92"/>
                  <a:pt x="2912" y="106"/>
                </a:cubicBezTo>
                <a:lnTo>
                  <a:pt x="2912" y="636"/>
                </a:lnTo>
                <a:cubicBezTo>
                  <a:pt x="2912" y="650"/>
                  <a:pt x="2909" y="663"/>
                  <a:pt x="2904" y="676"/>
                </a:cubicBezTo>
                <a:cubicBezTo>
                  <a:pt x="2898" y="689"/>
                  <a:pt x="2891" y="701"/>
                  <a:pt x="2881" y="711"/>
                </a:cubicBezTo>
                <a:cubicBezTo>
                  <a:pt x="2871" y="721"/>
                  <a:pt x="2860" y="728"/>
                  <a:pt x="2847" y="734"/>
                </a:cubicBezTo>
                <a:cubicBezTo>
                  <a:pt x="2834" y="739"/>
                  <a:pt x="2820" y="742"/>
                  <a:pt x="2806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001040" y="539244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4291200" y="542988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curated/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019560" y="5410080"/>
            <a:ext cx="581400" cy="267120"/>
          </a:xfrm>
          <a:custGeom>
            <a:avLst/>
            <a:gdLst/>
            <a:ah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3"/>
                  <a:pt x="1574" y="21"/>
                  <a:pt x="1584" y="31"/>
                </a:cubicBezTo>
                <a:cubicBezTo>
                  <a:pt x="1594" y="41"/>
                  <a:pt x="1602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3"/>
                  <a:pt x="1607" y="676"/>
                </a:cubicBezTo>
                <a:cubicBezTo>
                  <a:pt x="1602" y="689"/>
                  <a:pt x="1594" y="701"/>
                  <a:pt x="1584" y="711"/>
                </a:cubicBezTo>
                <a:cubicBezTo>
                  <a:pt x="1574" y="721"/>
                  <a:pt x="1563" y="728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5284440" y="5392440"/>
            <a:ext cx="73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desde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078240" y="54298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raw/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6603480" y="5392440"/>
            <a:ext cx="2139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nunca pierdes nada.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3750480" y="3063960"/>
            <a:ext cx="48135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Proteger el bucket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676080" y="1933560"/>
            <a:ext cx="3715200" cy="409680"/>
          </a:xfrm>
          <a:custGeom>
            <a:avLst/>
            <a:gdLst/>
            <a:ahLst/>
            <a:rect l="0" t="0" r="r" b="b"/>
            <a:pathLst>
              <a:path w="10320" h="1138">
                <a:moveTo>
                  <a:pt x="0" y="0"/>
                </a:moveTo>
                <a:lnTo>
                  <a:pt x="10320" y="0"/>
                </a:lnTo>
                <a:lnTo>
                  <a:pt x="103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4390920" y="1933560"/>
            <a:ext cx="3381480" cy="409680"/>
          </a:xfrm>
          <a:custGeom>
            <a:avLst/>
            <a:gdLst/>
            <a:ahLst/>
            <a:rect l="0" t="0" r="r" b="b"/>
            <a:pathLst>
              <a:path w="9393" h="1138">
                <a:moveTo>
                  <a:pt x="0" y="0"/>
                </a:moveTo>
                <a:lnTo>
                  <a:pt x="9393" y="0"/>
                </a:lnTo>
                <a:lnTo>
                  <a:pt x="939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676080" y="1933560"/>
            <a:ext cx="3715200" cy="409680"/>
          </a:xfrm>
          <a:custGeom>
            <a:avLst/>
            <a:gdLst/>
            <a:ahLst/>
            <a:rect l="0" t="0" r="r" b="b"/>
            <a:pathLst>
              <a:path w="10320" h="1138">
                <a:moveTo>
                  <a:pt x="0" y="0"/>
                </a:moveTo>
                <a:lnTo>
                  <a:pt x="10320" y="0"/>
                </a:lnTo>
                <a:lnTo>
                  <a:pt x="1032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390920" y="1933560"/>
            <a:ext cx="3381480" cy="409680"/>
          </a:xfrm>
          <a:custGeom>
            <a:avLst/>
            <a:gdLst/>
            <a:ahLst/>
            <a:rect l="0" t="0" r="r" b="b"/>
            <a:pathLst>
              <a:path w="9393" h="1138">
                <a:moveTo>
                  <a:pt x="0" y="0"/>
                </a:moveTo>
                <a:lnTo>
                  <a:pt x="9393" y="0"/>
                </a:lnTo>
                <a:lnTo>
                  <a:pt x="939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676080" y="2342880"/>
            <a:ext cx="3715200" cy="419400"/>
          </a:xfrm>
          <a:custGeom>
            <a:avLst/>
            <a:gdLst/>
            <a:ahLst/>
            <a:rect l="0" t="0" r="r" b="b"/>
            <a:pathLst>
              <a:path w="10320" h="1165">
                <a:moveTo>
                  <a:pt x="0" y="0"/>
                </a:moveTo>
                <a:lnTo>
                  <a:pt x="10320" y="0"/>
                </a:lnTo>
                <a:lnTo>
                  <a:pt x="103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390920" y="2342880"/>
            <a:ext cx="3381480" cy="419400"/>
          </a:xfrm>
          <a:custGeom>
            <a:avLst/>
            <a:gdLst/>
            <a:ahLst/>
            <a:rect l="0" t="0" r="r" b="b"/>
            <a:pathLst>
              <a:path w="9393" h="1165">
                <a:moveTo>
                  <a:pt x="0" y="0"/>
                </a:moveTo>
                <a:lnTo>
                  <a:pt x="9393" y="0"/>
                </a:lnTo>
                <a:lnTo>
                  <a:pt x="93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676080" y="2761920"/>
            <a:ext cx="3715200" cy="419760"/>
          </a:xfrm>
          <a:custGeom>
            <a:avLst/>
            <a:gdLst/>
            <a:ahLst/>
            <a:rect l="0" t="0" r="r" b="b"/>
            <a:pathLst>
              <a:path w="10320" h="1166">
                <a:moveTo>
                  <a:pt x="0" y="0"/>
                </a:moveTo>
                <a:lnTo>
                  <a:pt x="10320" y="0"/>
                </a:lnTo>
                <a:lnTo>
                  <a:pt x="1032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4390920" y="2761920"/>
            <a:ext cx="3381480" cy="419760"/>
          </a:xfrm>
          <a:custGeom>
            <a:avLst/>
            <a:gdLst/>
            <a:ahLst/>
            <a:rect l="0" t="0" r="r" b="b"/>
            <a:pathLst>
              <a:path w="9393" h="1166">
                <a:moveTo>
                  <a:pt x="0" y="0"/>
                </a:moveTo>
                <a:lnTo>
                  <a:pt x="9393" y="0"/>
                </a:lnTo>
                <a:lnTo>
                  <a:pt x="939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676080" y="3181320"/>
            <a:ext cx="3715200" cy="419400"/>
          </a:xfrm>
          <a:custGeom>
            <a:avLst/>
            <a:gdLst/>
            <a:ahLst/>
            <a:rect l="0" t="0" r="r" b="b"/>
            <a:pathLst>
              <a:path w="10320" h="1165">
                <a:moveTo>
                  <a:pt x="0" y="0"/>
                </a:moveTo>
                <a:lnTo>
                  <a:pt x="10320" y="0"/>
                </a:lnTo>
                <a:lnTo>
                  <a:pt x="103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390920" y="3181320"/>
            <a:ext cx="3381480" cy="419400"/>
          </a:xfrm>
          <a:custGeom>
            <a:avLst/>
            <a:gdLst/>
            <a:ahLst/>
            <a:rect l="0" t="0" r="r" b="b"/>
            <a:pathLst>
              <a:path w="9393" h="1165">
                <a:moveTo>
                  <a:pt x="0" y="0"/>
                </a:moveTo>
                <a:lnTo>
                  <a:pt x="9393" y="0"/>
                </a:lnTo>
                <a:lnTo>
                  <a:pt x="93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676080" y="3600360"/>
            <a:ext cx="3715200" cy="419400"/>
          </a:xfrm>
          <a:custGeom>
            <a:avLst/>
            <a:gdLst/>
            <a:ahLst/>
            <a:rect l="0" t="0" r="r" b="b"/>
            <a:pathLst>
              <a:path w="10320" h="1165">
                <a:moveTo>
                  <a:pt x="0" y="0"/>
                </a:moveTo>
                <a:lnTo>
                  <a:pt x="10320" y="0"/>
                </a:lnTo>
                <a:lnTo>
                  <a:pt x="103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390920" y="3600360"/>
            <a:ext cx="3381480" cy="419400"/>
          </a:xfrm>
          <a:custGeom>
            <a:avLst/>
            <a:gdLst/>
            <a:ahLst/>
            <a:rect l="0" t="0" r="r" b="b"/>
            <a:pathLst>
              <a:path w="9393" h="1165">
                <a:moveTo>
                  <a:pt x="0" y="0"/>
                </a:moveTo>
                <a:lnTo>
                  <a:pt x="9393" y="0"/>
                </a:lnTo>
                <a:lnTo>
                  <a:pt x="93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66720" y="19238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66720" y="1923840"/>
            <a:ext cx="3724560" cy="10080"/>
          </a:xfrm>
          <a:custGeom>
            <a:avLst/>
            <a:gdLst/>
            <a:ahLst/>
            <a:rect l="0" t="0" r="r" b="b"/>
            <a:pathLst>
              <a:path w="10346" h="28">
                <a:moveTo>
                  <a:pt x="0" y="0"/>
                </a:moveTo>
                <a:lnTo>
                  <a:pt x="10346" y="0"/>
                </a:lnTo>
                <a:lnTo>
                  <a:pt x="10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4381200" y="19238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390920" y="1923840"/>
            <a:ext cx="3391200" cy="10080"/>
          </a:xfrm>
          <a:custGeom>
            <a:avLst/>
            <a:gdLst/>
            <a:ahLst/>
            <a:rect l="0" t="0" r="r" b="b"/>
            <a:pathLst>
              <a:path w="9420" h="28">
                <a:moveTo>
                  <a:pt x="0" y="0"/>
                </a:moveTo>
                <a:lnTo>
                  <a:pt x="9420" y="0"/>
                </a:lnTo>
                <a:lnTo>
                  <a:pt x="9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7772040" y="19238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666720" y="2333520"/>
            <a:ext cx="3724560" cy="9720"/>
          </a:xfrm>
          <a:custGeom>
            <a:avLst/>
            <a:gdLst/>
            <a:ahLst/>
            <a:rect l="0" t="0" r="r" b="b"/>
            <a:pathLst>
              <a:path w="10346" h="27">
                <a:moveTo>
                  <a:pt x="0" y="0"/>
                </a:moveTo>
                <a:lnTo>
                  <a:pt x="10346" y="0"/>
                </a:lnTo>
                <a:lnTo>
                  <a:pt x="10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390920" y="2333520"/>
            <a:ext cx="3391200" cy="9720"/>
          </a:xfrm>
          <a:custGeom>
            <a:avLst/>
            <a:gdLst/>
            <a:ah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66720" y="234288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381200" y="234288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7772040" y="234288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666720" y="2761920"/>
            <a:ext cx="9720" cy="419760"/>
          </a:xfrm>
          <a:custGeom>
            <a:avLst/>
            <a:gdLst/>
            <a:ah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66720" y="2752560"/>
            <a:ext cx="3724560" cy="9720"/>
          </a:xfrm>
          <a:custGeom>
            <a:avLst/>
            <a:gdLst/>
            <a:ahLst/>
            <a:rect l="0" t="0" r="r" b="b"/>
            <a:pathLst>
              <a:path w="10346" h="27">
                <a:moveTo>
                  <a:pt x="0" y="0"/>
                </a:moveTo>
                <a:lnTo>
                  <a:pt x="10346" y="0"/>
                </a:lnTo>
                <a:lnTo>
                  <a:pt x="103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381200" y="2761920"/>
            <a:ext cx="10080" cy="419760"/>
          </a:xfrm>
          <a:custGeom>
            <a:avLst/>
            <a:gdLst/>
            <a:ah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4390920" y="2752560"/>
            <a:ext cx="3391200" cy="9720"/>
          </a:xfrm>
          <a:custGeom>
            <a:avLst/>
            <a:gdLst/>
            <a:ahLst/>
            <a:rect l="0" t="0" r="r" b="b"/>
            <a:pathLst>
              <a:path w="9420" h="27">
                <a:moveTo>
                  <a:pt x="0" y="0"/>
                </a:moveTo>
                <a:lnTo>
                  <a:pt x="9420" y="0"/>
                </a:lnTo>
                <a:lnTo>
                  <a:pt x="942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772040" y="2761920"/>
            <a:ext cx="10080" cy="419760"/>
          </a:xfrm>
          <a:custGeom>
            <a:avLst/>
            <a:gdLst/>
            <a:ah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66720" y="318132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666720" y="3171600"/>
            <a:ext cx="3724560" cy="10080"/>
          </a:xfrm>
          <a:custGeom>
            <a:avLst/>
            <a:gdLst/>
            <a:ahLst/>
            <a:rect l="0" t="0" r="r" b="b"/>
            <a:pathLst>
              <a:path w="10346" h="28">
                <a:moveTo>
                  <a:pt x="0" y="0"/>
                </a:moveTo>
                <a:lnTo>
                  <a:pt x="10346" y="0"/>
                </a:lnTo>
                <a:lnTo>
                  <a:pt x="10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4381200" y="318132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4390920" y="3171600"/>
            <a:ext cx="3391200" cy="10080"/>
          </a:xfrm>
          <a:custGeom>
            <a:avLst/>
            <a:gdLst/>
            <a:ahLst/>
            <a:rect l="0" t="0" r="r" b="b"/>
            <a:pathLst>
              <a:path w="9420" h="28">
                <a:moveTo>
                  <a:pt x="0" y="0"/>
                </a:moveTo>
                <a:lnTo>
                  <a:pt x="9420" y="0"/>
                </a:lnTo>
                <a:lnTo>
                  <a:pt x="9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7772040" y="318132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66720" y="360036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66720" y="3590640"/>
            <a:ext cx="3724560" cy="10080"/>
          </a:xfrm>
          <a:custGeom>
            <a:avLst/>
            <a:gdLst/>
            <a:ahLst/>
            <a:rect l="0" t="0" r="r" b="b"/>
            <a:pathLst>
              <a:path w="10346" h="28">
                <a:moveTo>
                  <a:pt x="0" y="0"/>
                </a:moveTo>
                <a:lnTo>
                  <a:pt x="10346" y="0"/>
                </a:lnTo>
                <a:lnTo>
                  <a:pt x="10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381200" y="360036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390920" y="3590640"/>
            <a:ext cx="3391200" cy="10080"/>
          </a:xfrm>
          <a:custGeom>
            <a:avLst/>
            <a:gdLst/>
            <a:ahLst/>
            <a:rect l="0" t="0" r="r" b="b"/>
            <a:pathLst>
              <a:path w="9420" h="28">
                <a:moveTo>
                  <a:pt x="0" y="0"/>
                </a:moveTo>
                <a:lnTo>
                  <a:pt x="9420" y="0"/>
                </a:lnTo>
                <a:lnTo>
                  <a:pt x="9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7772040" y="360036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666720" y="4009680"/>
            <a:ext cx="3724560" cy="10080"/>
          </a:xfrm>
          <a:custGeom>
            <a:avLst/>
            <a:gdLst/>
            <a:ahLst/>
            <a:rect l="0" t="0" r="r" b="b"/>
            <a:pathLst>
              <a:path w="10346" h="28">
                <a:moveTo>
                  <a:pt x="0" y="0"/>
                </a:moveTo>
                <a:lnTo>
                  <a:pt x="10346" y="0"/>
                </a:lnTo>
                <a:lnTo>
                  <a:pt x="10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4390920" y="4009680"/>
            <a:ext cx="3391200" cy="10080"/>
          </a:xfrm>
          <a:custGeom>
            <a:avLst/>
            <a:gdLst/>
            <a:ahLst/>
            <a:rect l="0" t="0" r="r" b="b"/>
            <a:pathLst>
              <a:path w="9420" h="28">
                <a:moveTo>
                  <a:pt x="0" y="0"/>
                </a:moveTo>
                <a:lnTo>
                  <a:pt x="9420" y="0"/>
                </a:lnTo>
                <a:lnTo>
                  <a:pt x="942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666720" y="5010120"/>
            <a:ext cx="10858680" cy="571680"/>
          </a:xfrm>
          <a:custGeom>
            <a:avLst/>
            <a:gdLst/>
            <a:ah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66720" y="5010120"/>
            <a:ext cx="47880" cy="571680"/>
          </a:xfrm>
          <a:custGeom>
            <a:avLst/>
            <a:gdLst/>
            <a:ah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666720" y="1292040"/>
            <a:ext cx="2808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Cuatro interruptores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2039400" y="2028600"/>
            <a:ext cx="981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Interruptor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652720" y="2028600"/>
            <a:ext cx="858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evita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799920" y="2437920"/>
            <a:ext cx="3119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Block Public Access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(a nivel cuenta)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516560" y="2437920"/>
            <a:ext cx="2379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error más común de todos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799920" y="2856960"/>
            <a:ext cx="3463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Cifrado en reposo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(SSE-S3 o SSE-KMS)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516560" y="2856960"/>
            <a:ext cx="3134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un disco perdido sea un incidente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799920" y="3276360"/>
            <a:ext cx="1027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Versionado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133960" y="3286080"/>
            <a:ext cx="314640" cy="228960"/>
          </a:xfrm>
          <a:custGeom>
            <a:avLst/>
            <a:gdLst/>
            <a:ahLst/>
            <a:rect l="0" t="0" r="r" b="b"/>
            <a:pathLst>
              <a:path w="874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768" y="0"/>
                </a:lnTo>
                <a:cubicBezTo>
                  <a:pt x="782" y="0"/>
                  <a:pt x="795" y="2"/>
                  <a:pt x="808" y="8"/>
                </a:cubicBezTo>
                <a:cubicBezTo>
                  <a:pt x="821" y="13"/>
                  <a:pt x="833" y="21"/>
                  <a:pt x="843" y="31"/>
                </a:cubicBezTo>
                <a:cubicBezTo>
                  <a:pt x="853" y="41"/>
                  <a:pt x="860" y="52"/>
                  <a:pt x="866" y="66"/>
                </a:cubicBezTo>
                <a:cubicBezTo>
                  <a:pt x="871" y="79"/>
                  <a:pt x="874" y="92"/>
                  <a:pt x="874" y="106"/>
                </a:cubicBezTo>
                <a:lnTo>
                  <a:pt x="874" y="530"/>
                </a:lnTo>
                <a:cubicBezTo>
                  <a:pt x="874" y="544"/>
                  <a:pt x="871" y="557"/>
                  <a:pt x="866" y="570"/>
                </a:cubicBezTo>
                <a:cubicBezTo>
                  <a:pt x="860" y="583"/>
                  <a:pt x="853" y="595"/>
                  <a:pt x="843" y="605"/>
                </a:cubicBezTo>
                <a:cubicBezTo>
                  <a:pt x="833" y="615"/>
                  <a:pt x="821" y="622"/>
                  <a:pt x="808" y="628"/>
                </a:cubicBezTo>
                <a:cubicBezTo>
                  <a:pt x="795" y="633"/>
                  <a:pt x="782" y="636"/>
                  <a:pt x="768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2"/>
                  <a:pt x="40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4516560" y="3276360"/>
            <a:ext cx="621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un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194800" y="3307320"/>
            <a:ext cx="1951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rm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446800" y="3276360"/>
            <a:ext cx="1998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accidental sea deﬁnitivo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799920" y="3695400"/>
            <a:ext cx="2504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Access logging / CloudTrail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516560" y="3695400"/>
            <a:ext cx="2005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saber quién tocó qué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66720" y="4211640"/>
            <a:ext cx="10856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compartir un objeto sin dar credenciales: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una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presigned URL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 caducidad. Es un enlace ﬁrmado,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66720" y="4554360"/>
            <a:ext cx="3252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temporal y revocable por tiempo.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905040" y="5163840"/>
            <a:ext cx="8863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Los cuatro se activan una vez, al crear el bucket. Después se olvidan — y ése es el punto.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676080" y="2390760"/>
            <a:ext cx="1886400" cy="409680"/>
          </a:xfrm>
          <a:custGeom>
            <a:avLst/>
            <a:gdLst/>
            <a:ahLst/>
            <a:rect l="0" t="0" r="r" b="b"/>
            <a:pathLst>
              <a:path w="5240" h="1138">
                <a:moveTo>
                  <a:pt x="0" y="0"/>
                </a:moveTo>
                <a:lnTo>
                  <a:pt x="5240" y="0"/>
                </a:lnTo>
                <a:lnTo>
                  <a:pt x="524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562120" y="2390760"/>
            <a:ext cx="1486080" cy="409680"/>
          </a:xfrm>
          <a:custGeom>
            <a:avLst/>
            <a:gdLst/>
            <a:ahLst/>
            <a:rect l="0" t="0" r="r" b="b"/>
            <a:pathLst>
              <a:path w="4128" h="1138">
                <a:moveTo>
                  <a:pt x="0" y="0"/>
                </a:moveTo>
                <a:lnTo>
                  <a:pt x="4128" y="0"/>
                </a:lnTo>
                <a:lnTo>
                  <a:pt x="41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4047840" y="2390760"/>
            <a:ext cx="3238920" cy="409680"/>
          </a:xfrm>
          <a:custGeom>
            <a:avLst/>
            <a:gdLst/>
            <a:ahLst/>
            <a:rect l="0" t="0" r="r" b="b"/>
            <a:pathLst>
              <a:path w="8997" h="1138">
                <a:moveTo>
                  <a:pt x="0" y="0"/>
                </a:moveTo>
                <a:lnTo>
                  <a:pt x="8997" y="0"/>
                </a:lnTo>
                <a:lnTo>
                  <a:pt x="899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676080" y="2390760"/>
            <a:ext cx="1886400" cy="409680"/>
          </a:xfrm>
          <a:custGeom>
            <a:avLst/>
            <a:gdLst/>
            <a:ahLst/>
            <a:rect l="0" t="0" r="r" b="b"/>
            <a:pathLst>
              <a:path w="5240" h="1138">
                <a:moveTo>
                  <a:pt x="0" y="0"/>
                </a:moveTo>
                <a:lnTo>
                  <a:pt x="5240" y="0"/>
                </a:lnTo>
                <a:lnTo>
                  <a:pt x="524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562120" y="2390760"/>
            <a:ext cx="1486080" cy="409680"/>
          </a:xfrm>
          <a:custGeom>
            <a:avLst/>
            <a:gdLst/>
            <a:ahLst/>
            <a:rect l="0" t="0" r="r" b="b"/>
            <a:pathLst>
              <a:path w="4128" h="1138">
                <a:moveTo>
                  <a:pt x="0" y="0"/>
                </a:moveTo>
                <a:lnTo>
                  <a:pt x="4128" y="0"/>
                </a:lnTo>
                <a:lnTo>
                  <a:pt x="41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047840" y="2390760"/>
            <a:ext cx="3238920" cy="409680"/>
          </a:xfrm>
          <a:custGeom>
            <a:avLst/>
            <a:gdLst/>
            <a:ahLst/>
            <a:rect l="0" t="0" r="r" b="b"/>
            <a:pathLst>
              <a:path w="8997" h="1138">
                <a:moveTo>
                  <a:pt x="0" y="0"/>
                </a:moveTo>
                <a:lnTo>
                  <a:pt x="8997" y="0"/>
                </a:lnTo>
                <a:lnTo>
                  <a:pt x="899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76080" y="2800080"/>
            <a:ext cx="1886400" cy="419400"/>
          </a:xfrm>
          <a:custGeom>
            <a:avLst/>
            <a:gdLst/>
            <a:ahLst/>
            <a:rect l="0" t="0" r="r" b="b"/>
            <a:pathLst>
              <a:path w="5240" h="1165">
                <a:moveTo>
                  <a:pt x="0" y="0"/>
                </a:moveTo>
                <a:lnTo>
                  <a:pt x="5240" y="0"/>
                </a:lnTo>
                <a:lnTo>
                  <a:pt x="524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562120" y="2800080"/>
            <a:ext cx="1486080" cy="419400"/>
          </a:xfrm>
          <a:custGeom>
            <a:avLst/>
            <a:gdLst/>
            <a:ahLst/>
            <a:rect l="0" t="0" r="r" b="b"/>
            <a:pathLst>
              <a:path w="4128" h="1165">
                <a:moveTo>
                  <a:pt x="0" y="0"/>
                </a:moveTo>
                <a:lnTo>
                  <a:pt x="4128" y="0"/>
                </a:lnTo>
                <a:lnTo>
                  <a:pt x="41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4047840" y="2800080"/>
            <a:ext cx="3238920" cy="419400"/>
          </a:xfrm>
          <a:custGeom>
            <a:avLst/>
            <a:gdLst/>
            <a:ahLst/>
            <a:rect l="0" t="0" r="r" b="b"/>
            <a:pathLst>
              <a:path w="8997" h="1165">
                <a:moveTo>
                  <a:pt x="0" y="0"/>
                </a:moveTo>
                <a:lnTo>
                  <a:pt x="8997" y="0"/>
                </a:lnTo>
                <a:lnTo>
                  <a:pt x="899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676080" y="3219120"/>
            <a:ext cx="1886400" cy="419760"/>
          </a:xfrm>
          <a:custGeom>
            <a:avLst/>
            <a:gdLst/>
            <a:ahLst/>
            <a:rect l="0" t="0" r="r" b="b"/>
            <a:pathLst>
              <a:path w="5240" h="1166">
                <a:moveTo>
                  <a:pt x="0" y="0"/>
                </a:moveTo>
                <a:lnTo>
                  <a:pt x="5240" y="0"/>
                </a:lnTo>
                <a:lnTo>
                  <a:pt x="5240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562120" y="3219120"/>
            <a:ext cx="1486080" cy="419760"/>
          </a:xfrm>
          <a:custGeom>
            <a:avLst/>
            <a:gdLst/>
            <a:ahLst/>
            <a:rect l="0" t="0" r="r" b="b"/>
            <a:pathLst>
              <a:path w="4128" h="1166">
                <a:moveTo>
                  <a:pt x="0" y="0"/>
                </a:moveTo>
                <a:lnTo>
                  <a:pt x="4128" y="0"/>
                </a:lnTo>
                <a:lnTo>
                  <a:pt x="41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4047840" y="3219120"/>
            <a:ext cx="3238920" cy="419760"/>
          </a:xfrm>
          <a:custGeom>
            <a:avLst/>
            <a:gdLst/>
            <a:ahLst/>
            <a:rect l="0" t="0" r="r" b="b"/>
            <a:pathLst>
              <a:path w="8997" h="1166">
                <a:moveTo>
                  <a:pt x="0" y="0"/>
                </a:moveTo>
                <a:lnTo>
                  <a:pt x="8997" y="0"/>
                </a:lnTo>
                <a:lnTo>
                  <a:pt x="899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666720" y="2381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666720" y="238104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552400" y="2381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562120" y="2381040"/>
            <a:ext cx="1495800" cy="10080"/>
          </a:xfrm>
          <a:custGeom>
            <a:avLst/>
            <a:gdLst/>
            <a:ahLst/>
            <a:rect l="0" t="0" r="r" b="b"/>
            <a:pathLst>
              <a:path w="4155" h="28">
                <a:moveTo>
                  <a:pt x="0" y="0"/>
                </a:moveTo>
                <a:lnTo>
                  <a:pt x="4155" y="0"/>
                </a:lnTo>
                <a:lnTo>
                  <a:pt x="4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4047840" y="2381040"/>
            <a:ext cx="10440" cy="419400"/>
          </a:xfrm>
          <a:custGeom>
            <a:avLst/>
            <a:gdLst/>
            <a:ah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4057560" y="2381040"/>
            <a:ext cx="3229200" cy="10080"/>
          </a:xfrm>
          <a:custGeom>
            <a:avLst/>
            <a:gdLst/>
            <a:ahLst/>
            <a:rect l="0" t="0" r="r" b="b"/>
            <a:pathLst>
              <a:path w="8970" h="28">
                <a:moveTo>
                  <a:pt x="0" y="0"/>
                </a:moveTo>
                <a:lnTo>
                  <a:pt x="8970" y="0"/>
                </a:lnTo>
                <a:lnTo>
                  <a:pt x="8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7277040" y="2381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66720" y="279072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562120" y="279072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4057560" y="279072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666720" y="280008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552400" y="280008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4047840" y="2800080"/>
            <a:ext cx="10440" cy="419400"/>
          </a:xfrm>
          <a:custGeom>
            <a:avLst/>
            <a:gdLst/>
            <a:ahLst/>
            <a:rect l="0" t="0" r="r" b="b"/>
            <a:pathLst>
              <a:path w="29" h="1165">
                <a:moveTo>
                  <a:pt x="0" y="0"/>
                </a:moveTo>
                <a:lnTo>
                  <a:pt x="29" y="0"/>
                </a:lnTo>
                <a:lnTo>
                  <a:pt x="2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277040" y="280008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66720" y="3219120"/>
            <a:ext cx="9720" cy="419760"/>
          </a:xfrm>
          <a:custGeom>
            <a:avLst/>
            <a:gdLst/>
            <a:ah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666720" y="3209760"/>
            <a:ext cx="1895760" cy="9720"/>
          </a:xfrm>
          <a:custGeom>
            <a:avLst/>
            <a:gdLst/>
            <a:ahLst/>
            <a:rect l="0" t="0" r="r" b="b"/>
            <a:pathLst>
              <a:path w="5266" h="27">
                <a:moveTo>
                  <a:pt x="0" y="0"/>
                </a:moveTo>
                <a:lnTo>
                  <a:pt x="5266" y="0"/>
                </a:lnTo>
                <a:lnTo>
                  <a:pt x="52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552400" y="3219120"/>
            <a:ext cx="10080" cy="419760"/>
          </a:xfrm>
          <a:custGeom>
            <a:avLst/>
            <a:gdLst/>
            <a:ah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562120" y="3209760"/>
            <a:ext cx="1495800" cy="9720"/>
          </a:xfrm>
          <a:custGeom>
            <a:avLst/>
            <a:gdLst/>
            <a:ahLst/>
            <a:rect l="0" t="0" r="r" b="b"/>
            <a:pathLst>
              <a:path w="4155" h="27">
                <a:moveTo>
                  <a:pt x="0" y="0"/>
                </a:moveTo>
                <a:lnTo>
                  <a:pt x="4155" y="0"/>
                </a:lnTo>
                <a:lnTo>
                  <a:pt x="415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4047840" y="3219120"/>
            <a:ext cx="10440" cy="419760"/>
          </a:xfrm>
          <a:custGeom>
            <a:avLst/>
            <a:gdLst/>
            <a:ahLst/>
            <a:rect l="0" t="0" r="r" b="b"/>
            <a:pathLst>
              <a:path w="29" h="1166">
                <a:moveTo>
                  <a:pt x="0" y="0"/>
                </a:moveTo>
                <a:lnTo>
                  <a:pt x="29" y="0"/>
                </a:lnTo>
                <a:lnTo>
                  <a:pt x="29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4057560" y="3209760"/>
            <a:ext cx="3229200" cy="9720"/>
          </a:xfrm>
          <a:custGeom>
            <a:avLst/>
            <a:gdLst/>
            <a:ahLst/>
            <a:rect l="0" t="0" r="r" b="b"/>
            <a:pathLst>
              <a:path w="8970" h="27">
                <a:moveTo>
                  <a:pt x="0" y="0"/>
                </a:moveTo>
                <a:lnTo>
                  <a:pt x="8970" y="0"/>
                </a:lnTo>
                <a:lnTo>
                  <a:pt x="89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7277040" y="3219120"/>
            <a:ext cx="9720" cy="419760"/>
          </a:xfrm>
          <a:custGeom>
            <a:avLst/>
            <a:gdLst/>
            <a:ah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666720" y="3628800"/>
            <a:ext cx="1895760" cy="10080"/>
          </a:xfrm>
          <a:custGeom>
            <a:avLst/>
            <a:gdLst/>
            <a:ahLst/>
            <a:rect l="0" t="0" r="r" b="b"/>
            <a:pathLst>
              <a:path w="5266" h="28">
                <a:moveTo>
                  <a:pt x="0" y="0"/>
                </a:moveTo>
                <a:lnTo>
                  <a:pt x="5266" y="0"/>
                </a:lnTo>
                <a:lnTo>
                  <a:pt x="526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562120" y="3628800"/>
            <a:ext cx="1495800" cy="10080"/>
          </a:xfrm>
          <a:custGeom>
            <a:avLst/>
            <a:gdLst/>
            <a:ahLst/>
            <a:rect l="0" t="0" r="r" b="b"/>
            <a:pathLst>
              <a:path w="4155" h="28">
                <a:moveTo>
                  <a:pt x="0" y="0"/>
                </a:moveTo>
                <a:lnTo>
                  <a:pt x="4155" y="0"/>
                </a:lnTo>
                <a:lnTo>
                  <a:pt x="415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4057560" y="3628800"/>
            <a:ext cx="3229200" cy="10080"/>
          </a:xfrm>
          <a:custGeom>
            <a:avLst/>
            <a:gdLst/>
            <a:ahLst/>
            <a:rect l="0" t="0" r="r" b="b"/>
            <a:pathLst>
              <a:path w="8970" h="28">
                <a:moveTo>
                  <a:pt x="0" y="0"/>
                </a:moveTo>
                <a:lnTo>
                  <a:pt x="8970" y="0"/>
                </a:lnTo>
                <a:lnTo>
                  <a:pt x="89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71400" y="3795480"/>
            <a:ext cx="10849320" cy="581400"/>
          </a:xfrm>
          <a:custGeom>
            <a:avLst/>
            <a:gdLst/>
            <a:ahLst/>
            <a:rect l="0" t="0" r="r" b="b"/>
            <a:pathLst>
              <a:path w="30137" h="1615">
                <a:moveTo>
                  <a:pt x="0" y="141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4"/>
                </a:cubicBezTo>
                <a:cubicBezTo>
                  <a:pt x="30130" y="1467"/>
                  <a:pt x="30127" y="1480"/>
                  <a:pt x="30122" y="1492"/>
                </a:cubicBezTo>
                <a:cubicBezTo>
                  <a:pt x="30117" y="1504"/>
                  <a:pt x="30111" y="1515"/>
                  <a:pt x="30103" y="1526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6"/>
                </a:cubicBezTo>
                <a:cubicBezTo>
                  <a:pt x="26" y="1515"/>
                  <a:pt x="20" y="1504"/>
                  <a:pt x="15" y="1492"/>
                </a:cubicBezTo>
                <a:cubicBezTo>
                  <a:pt x="10" y="1480"/>
                  <a:pt x="6" y="1467"/>
                  <a:pt x="4" y="1454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671400" y="3795480"/>
            <a:ext cx="10849320" cy="581400"/>
          </a:xfrm>
          <a:custGeom>
            <a:avLst/>
            <a:gdLst/>
            <a:ahLst/>
            <a:rect l="0" t="0" r="r" b="b"/>
            <a:pathLst>
              <a:path w="30137" h="1615">
                <a:moveTo>
                  <a:pt x="0" y="1416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4"/>
                </a:cubicBezTo>
                <a:cubicBezTo>
                  <a:pt x="30130" y="1467"/>
                  <a:pt x="30127" y="1480"/>
                  <a:pt x="30122" y="1492"/>
                </a:cubicBezTo>
                <a:cubicBezTo>
                  <a:pt x="30117" y="1504"/>
                  <a:pt x="30111" y="1515"/>
                  <a:pt x="30103" y="1526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6"/>
                </a:cubicBezTo>
                <a:cubicBezTo>
                  <a:pt x="26" y="1515"/>
                  <a:pt x="20" y="1504"/>
                  <a:pt x="15" y="1492"/>
                </a:cubicBezTo>
                <a:cubicBezTo>
                  <a:pt x="10" y="1480"/>
                  <a:pt x="6" y="1467"/>
                  <a:pt x="4" y="1454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66720" y="1253880"/>
            <a:ext cx="4813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¿Política de bucket o política IAM?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66720" y="1925640"/>
            <a:ext cx="5594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Las dos conceden permisos sobre lo mismo, y conviven: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2689920" y="2485800"/>
            <a:ext cx="1231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Se escribe 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5126040" y="2485800"/>
            <a:ext cx="1083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Responde 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99920" y="2895120"/>
            <a:ext cx="108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Política IAM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2689920" y="2895120"/>
            <a:ext cx="942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identidad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178520" y="2895120"/>
            <a:ext cx="2932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«¿qué puede hacer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este usuario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?»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99920" y="3314160"/>
            <a:ext cx="1633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Política de bucket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2689920" y="3314160"/>
            <a:ext cx="805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recurso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178520" y="3314160"/>
            <a:ext cx="2979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«¿quién puede tocar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este bucket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?»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914040" y="46861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866880" y="3975480"/>
            <a:ext cx="8408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acceso concedido  =  (política IAM  ∪  política de bucket)  −  cualquier Deny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914040" y="5086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1123920" y="4573440"/>
            <a:ext cx="4030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tu equipo, basta con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políticas IAM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23920" y="4973400"/>
            <a:ext cx="9995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política de bucket sirve cuando el acceso viene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fuera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tu cuenta, o para imponer una regla 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123920" y="5316480"/>
            <a:ext cx="400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bucket entero (por ejemplo: sólo HTTPS)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573000" y="3063960"/>
            <a:ext cx="5169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boto3 en la práctica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71400" y="1776240"/>
            <a:ext cx="10849320" cy="1105200"/>
          </a:xfrm>
          <a:custGeom>
            <a:avLst/>
            <a:gdLst/>
            <a:ah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671400" y="1776240"/>
            <a:ext cx="10849320" cy="1105200"/>
          </a:xfrm>
          <a:custGeom>
            <a:avLst/>
            <a:gdLst/>
            <a:ah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690480" y="4676760"/>
            <a:ext cx="10834920" cy="1067040"/>
          </a:xfrm>
          <a:custGeom>
            <a:avLst/>
            <a:gdLst/>
            <a:ah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6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3"/>
                  <a:pt x="30065" y="61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7"/>
                </a:cubicBezTo>
                <a:cubicBezTo>
                  <a:pt x="30096" y="138"/>
                  <a:pt x="30097" y="148"/>
                  <a:pt x="30097" y="158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6"/>
                  <a:pt x="30089" y="2856"/>
                  <a:pt x="30085" y="2866"/>
                </a:cubicBezTo>
                <a:cubicBezTo>
                  <a:pt x="30081" y="2876"/>
                  <a:pt x="30076" y="2885"/>
                  <a:pt x="30070" y="2893"/>
                </a:cubicBezTo>
                <a:cubicBezTo>
                  <a:pt x="30065" y="2902"/>
                  <a:pt x="30058" y="2910"/>
                  <a:pt x="30051" y="2917"/>
                </a:cubicBezTo>
                <a:cubicBezTo>
                  <a:pt x="30043" y="2925"/>
                  <a:pt x="30035" y="2931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666720" y="4676760"/>
            <a:ext cx="47880" cy="1067040"/>
          </a:xfrm>
          <a:custGeom>
            <a:avLst/>
            <a:gdLst/>
            <a:ah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666720" y="1130040"/>
            <a:ext cx="3193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mínimo, y la trampa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866880" y="1956240"/>
            <a:ext cx="131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boto3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866880" y="2223000"/>
            <a:ext cx="5787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s3 = boto3.Session(profile_name=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"tesis"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).client(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"s3"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914040" y="3190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123920" y="3095280"/>
            <a:ext cx="3038760" cy="267120"/>
          </a:xfrm>
          <a:custGeom>
            <a:avLst/>
            <a:gdLst/>
            <a:ahLst/>
            <a:rect l="0" t="0" r="r" b="b"/>
            <a:pathLst>
              <a:path w="8441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8335" y="0"/>
                </a:lnTo>
                <a:cubicBezTo>
                  <a:pt x="8349" y="0"/>
                  <a:pt x="8362" y="3"/>
                  <a:pt x="8375" y="9"/>
                </a:cubicBezTo>
                <a:cubicBezTo>
                  <a:pt x="8388" y="14"/>
                  <a:pt x="8400" y="22"/>
                  <a:pt x="8410" y="31"/>
                </a:cubicBezTo>
                <a:cubicBezTo>
                  <a:pt x="8420" y="41"/>
                  <a:pt x="8427" y="53"/>
                  <a:pt x="8433" y="66"/>
                </a:cubicBezTo>
                <a:cubicBezTo>
                  <a:pt x="8438" y="79"/>
                  <a:pt x="8441" y="92"/>
                  <a:pt x="8441" y="106"/>
                </a:cubicBezTo>
                <a:lnTo>
                  <a:pt x="8441" y="635"/>
                </a:lnTo>
                <a:cubicBezTo>
                  <a:pt x="8441" y="649"/>
                  <a:pt x="8438" y="664"/>
                  <a:pt x="8433" y="677"/>
                </a:cubicBezTo>
                <a:cubicBezTo>
                  <a:pt x="8427" y="690"/>
                  <a:pt x="8420" y="701"/>
                  <a:pt x="8410" y="711"/>
                </a:cubicBezTo>
                <a:cubicBezTo>
                  <a:pt x="8400" y="721"/>
                  <a:pt x="8388" y="729"/>
                  <a:pt x="8375" y="734"/>
                </a:cubicBezTo>
                <a:cubicBezTo>
                  <a:pt x="8362" y="740"/>
                  <a:pt x="8349" y="742"/>
                  <a:pt x="8335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66880" y="248004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s3.upload_file(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"local.parquet"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"mi-bucket"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"raw/local.parquet"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181160" y="3115440"/>
            <a:ext cx="2936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Session(profile_name=...)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914040" y="3590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123920" y="3495600"/>
            <a:ext cx="1400400" cy="267120"/>
          </a:xfrm>
          <a:custGeom>
            <a:avLst/>
            <a:gdLst/>
            <a:ahLst/>
            <a:rect l="0" t="0" r="r" b="b"/>
            <a:pathLst>
              <a:path w="389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784" y="0"/>
                </a:lnTo>
                <a:cubicBezTo>
                  <a:pt x="3798" y="0"/>
                  <a:pt x="3812" y="2"/>
                  <a:pt x="3825" y="8"/>
                </a:cubicBezTo>
                <a:cubicBezTo>
                  <a:pt x="3838" y="13"/>
                  <a:pt x="3849" y="21"/>
                  <a:pt x="3859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7" y="78"/>
                  <a:pt x="3890" y="92"/>
                  <a:pt x="3890" y="106"/>
                </a:cubicBezTo>
                <a:lnTo>
                  <a:pt x="3890" y="636"/>
                </a:lnTo>
                <a:cubicBezTo>
                  <a:pt x="3890" y="650"/>
                  <a:pt x="3887" y="663"/>
                  <a:pt x="3882" y="676"/>
                </a:cubicBezTo>
                <a:cubicBezTo>
                  <a:pt x="3877" y="689"/>
                  <a:pt x="3869" y="701"/>
                  <a:pt x="3859" y="711"/>
                </a:cubicBezTo>
                <a:cubicBezTo>
                  <a:pt x="3849" y="720"/>
                  <a:pt x="3838" y="728"/>
                  <a:pt x="3825" y="733"/>
                </a:cubicBezTo>
                <a:cubicBezTo>
                  <a:pt x="3812" y="739"/>
                  <a:pt x="3798" y="742"/>
                  <a:pt x="3784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4163040" y="3078000"/>
            <a:ext cx="4051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cero llaves en el código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(sesión 19)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181160" y="351540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upload_file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724120" y="3495600"/>
            <a:ext cx="1638360" cy="267120"/>
          </a:xfrm>
          <a:custGeom>
            <a:avLst/>
            <a:gdLst/>
            <a:ahLst/>
            <a:rect l="0" t="0" r="r" b="b"/>
            <a:pathLst>
              <a:path w="455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4446" y="0"/>
                </a:lnTo>
                <a:cubicBezTo>
                  <a:pt x="4460" y="0"/>
                  <a:pt x="4473" y="2"/>
                  <a:pt x="4486" y="8"/>
                </a:cubicBezTo>
                <a:cubicBezTo>
                  <a:pt x="4499" y="13"/>
                  <a:pt x="4510" y="21"/>
                  <a:pt x="4520" y="31"/>
                </a:cubicBezTo>
                <a:cubicBezTo>
                  <a:pt x="4530" y="41"/>
                  <a:pt x="4538" y="52"/>
                  <a:pt x="4543" y="65"/>
                </a:cubicBezTo>
                <a:cubicBezTo>
                  <a:pt x="4549" y="78"/>
                  <a:pt x="4551" y="92"/>
                  <a:pt x="4551" y="106"/>
                </a:cubicBezTo>
                <a:lnTo>
                  <a:pt x="4551" y="636"/>
                </a:lnTo>
                <a:cubicBezTo>
                  <a:pt x="4551" y="650"/>
                  <a:pt x="4549" y="663"/>
                  <a:pt x="4543" y="676"/>
                </a:cubicBezTo>
                <a:cubicBezTo>
                  <a:pt x="4538" y="689"/>
                  <a:pt x="4530" y="701"/>
                  <a:pt x="4520" y="711"/>
                </a:cubicBezTo>
                <a:cubicBezTo>
                  <a:pt x="4510" y="720"/>
                  <a:pt x="4499" y="728"/>
                  <a:pt x="4486" y="733"/>
                </a:cubicBezTo>
                <a:cubicBezTo>
                  <a:pt x="4473" y="739"/>
                  <a:pt x="4460" y="742"/>
                  <a:pt x="444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2525040" y="34779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/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2785680" y="351540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download_file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914040" y="39909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363560" y="3477960"/>
            <a:ext cx="4531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hacen multiparte solos para archivos grandes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3552480" y="3895560"/>
            <a:ext cx="3744000" cy="267120"/>
          </a:xfrm>
          <a:custGeom>
            <a:avLst/>
            <a:gdLst/>
            <a:ahLst/>
            <a:rect l="0" t="0" r="r" b="b"/>
            <a:pathLst>
              <a:path w="10400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0294" y="0"/>
                </a:lnTo>
                <a:cubicBezTo>
                  <a:pt x="10308" y="0"/>
                  <a:pt x="10321" y="3"/>
                  <a:pt x="10334" y="8"/>
                </a:cubicBezTo>
                <a:cubicBezTo>
                  <a:pt x="10347" y="13"/>
                  <a:pt x="10359" y="21"/>
                  <a:pt x="10369" y="31"/>
                </a:cubicBezTo>
                <a:cubicBezTo>
                  <a:pt x="10379" y="41"/>
                  <a:pt x="10386" y="52"/>
                  <a:pt x="10392" y="65"/>
                </a:cubicBezTo>
                <a:cubicBezTo>
                  <a:pt x="10397" y="78"/>
                  <a:pt x="10400" y="92"/>
                  <a:pt x="10400" y="106"/>
                </a:cubicBezTo>
                <a:lnTo>
                  <a:pt x="10400" y="635"/>
                </a:lnTo>
                <a:cubicBezTo>
                  <a:pt x="10400" y="650"/>
                  <a:pt x="10397" y="663"/>
                  <a:pt x="10392" y="676"/>
                </a:cubicBezTo>
                <a:cubicBezTo>
                  <a:pt x="10386" y="689"/>
                  <a:pt x="10379" y="701"/>
                  <a:pt x="10369" y="711"/>
                </a:cubicBezTo>
                <a:cubicBezTo>
                  <a:pt x="10359" y="721"/>
                  <a:pt x="10347" y="728"/>
                  <a:pt x="10334" y="734"/>
                </a:cubicBezTo>
                <a:cubicBezTo>
                  <a:pt x="10321" y="739"/>
                  <a:pt x="10308" y="742"/>
                  <a:pt x="10294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123920" y="3878280"/>
            <a:ext cx="2440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errores llegan como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3612240" y="3915360"/>
            <a:ext cx="3641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botocore.exceptions.ClientError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296120" y="3878280"/>
            <a:ext cx="370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captúralos y lee el código, no sólo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123920" y="4221000"/>
            <a:ext cx="82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mensaje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124000" y="4848120"/>
            <a:ext cx="1867320" cy="267120"/>
          </a:xfrm>
          <a:custGeom>
            <a:avLst/>
            <a:gdLst/>
            <a:ahLst/>
            <a:rect l="0" t="0" r="r" b="b"/>
            <a:pathLst>
              <a:path w="518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8" y="2"/>
                  <a:pt x="5121" y="8"/>
                </a:cubicBezTo>
                <a:cubicBezTo>
                  <a:pt x="5134" y="13"/>
                  <a:pt x="5146" y="21"/>
                  <a:pt x="5156" y="31"/>
                </a:cubicBezTo>
                <a:cubicBezTo>
                  <a:pt x="5165" y="41"/>
                  <a:pt x="5173" y="52"/>
                  <a:pt x="5178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636"/>
                </a:lnTo>
                <a:cubicBezTo>
                  <a:pt x="5187" y="650"/>
                  <a:pt x="5184" y="663"/>
                  <a:pt x="5178" y="676"/>
                </a:cubicBezTo>
                <a:cubicBezTo>
                  <a:pt x="5173" y="689"/>
                  <a:pt x="5165" y="701"/>
                  <a:pt x="5156" y="711"/>
                </a:cubicBezTo>
                <a:cubicBezTo>
                  <a:pt x="5146" y="721"/>
                  <a:pt x="5134" y="728"/>
                  <a:pt x="5121" y="734"/>
                </a:cubicBezTo>
                <a:cubicBezTo>
                  <a:pt x="5108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885960" y="4830480"/>
            <a:ext cx="1236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trampa: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179440" y="486792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list_objects_v2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991320" y="4830480"/>
            <a:ext cx="6696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devuelve como máximo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1 000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objetos. Si tu código no pagina, va 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885960" y="5173560"/>
            <a:ext cx="5768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funcionar en pruebas y a mentirte en producción, sin error.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671400" y="169056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671400" y="169056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676080" y="2695320"/>
            <a:ext cx="1533960" cy="410040"/>
          </a:xfrm>
          <a:custGeom>
            <a:avLst/>
            <a:gdLst/>
            <a:ahLst/>
            <a:rect l="0" t="0" r="r" b="b"/>
            <a:pathLst>
              <a:path w="4261" h="1139">
                <a:moveTo>
                  <a:pt x="0" y="0"/>
                </a:moveTo>
                <a:lnTo>
                  <a:pt x="4261" y="0"/>
                </a:lnTo>
                <a:lnTo>
                  <a:pt x="42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209680" y="2695320"/>
            <a:ext cx="4886640" cy="410040"/>
          </a:xfrm>
          <a:custGeom>
            <a:avLst/>
            <a:gdLst/>
            <a:ahLst/>
            <a:rect l="0" t="0" r="r" b="b"/>
            <a:pathLst>
              <a:path w="13574" h="1139">
                <a:moveTo>
                  <a:pt x="0" y="0"/>
                </a:moveTo>
                <a:lnTo>
                  <a:pt x="13574" y="0"/>
                </a:lnTo>
                <a:lnTo>
                  <a:pt x="1357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676080" y="2695320"/>
            <a:ext cx="1533960" cy="410040"/>
          </a:xfrm>
          <a:custGeom>
            <a:avLst/>
            <a:gdLst/>
            <a:ahLst/>
            <a:rect l="0" t="0" r="r" b="b"/>
            <a:pathLst>
              <a:path w="4261" h="1139">
                <a:moveTo>
                  <a:pt x="0" y="0"/>
                </a:moveTo>
                <a:lnTo>
                  <a:pt x="4261" y="0"/>
                </a:lnTo>
                <a:lnTo>
                  <a:pt x="42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2209680" y="2695320"/>
            <a:ext cx="4886640" cy="410040"/>
          </a:xfrm>
          <a:custGeom>
            <a:avLst/>
            <a:gdLst/>
            <a:ahLst/>
            <a:rect l="0" t="0" r="r" b="b"/>
            <a:pathLst>
              <a:path w="13574" h="1139">
                <a:moveTo>
                  <a:pt x="0" y="0"/>
                </a:moveTo>
                <a:lnTo>
                  <a:pt x="13574" y="0"/>
                </a:lnTo>
                <a:lnTo>
                  <a:pt x="1357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76080" y="3105000"/>
            <a:ext cx="1533960" cy="410040"/>
          </a:xfrm>
          <a:custGeom>
            <a:avLst/>
            <a:gdLst/>
            <a:ahLst/>
            <a:rect l="0" t="0" r="r" b="b"/>
            <a:pathLst>
              <a:path w="4261" h="1139">
                <a:moveTo>
                  <a:pt x="0" y="0"/>
                </a:moveTo>
                <a:lnTo>
                  <a:pt x="4261" y="0"/>
                </a:lnTo>
                <a:lnTo>
                  <a:pt x="42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2209680" y="3105000"/>
            <a:ext cx="4886640" cy="410040"/>
          </a:xfrm>
          <a:custGeom>
            <a:avLst/>
            <a:gdLst/>
            <a:ahLst/>
            <a:rect l="0" t="0" r="r" b="b"/>
            <a:pathLst>
              <a:path w="13574" h="1139">
                <a:moveTo>
                  <a:pt x="0" y="0"/>
                </a:moveTo>
                <a:lnTo>
                  <a:pt x="13574" y="0"/>
                </a:lnTo>
                <a:lnTo>
                  <a:pt x="1357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76080" y="3514680"/>
            <a:ext cx="1533960" cy="409680"/>
          </a:xfrm>
          <a:custGeom>
            <a:avLst/>
            <a:gdLst/>
            <a:ahLst/>
            <a:rect l="0" t="0" r="r" b="b"/>
            <a:pathLst>
              <a:path w="4261" h="1138">
                <a:moveTo>
                  <a:pt x="0" y="0"/>
                </a:moveTo>
                <a:lnTo>
                  <a:pt x="4261" y="0"/>
                </a:lnTo>
                <a:lnTo>
                  <a:pt x="426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209680" y="3514680"/>
            <a:ext cx="4886640" cy="409680"/>
          </a:xfrm>
          <a:custGeom>
            <a:avLst/>
            <a:gdLst/>
            <a:ahLst/>
            <a:rect l="0" t="0" r="r" b="b"/>
            <a:pathLst>
              <a:path w="13574" h="1138">
                <a:moveTo>
                  <a:pt x="0" y="0"/>
                </a:moveTo>
                <a:lnTo>
                  <a:pt x="13574" y="0"/>
                </a:lnTo>
                <a:lnTo>
                  <a:pt x="13574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76080" y="3924000"/>
            <a:ext cx="1533960" cy="419400"/>
          </a:xfrm>
          <a:custGeom>
            <a:avLst/>
            <a:gdLst/>
            <a:ahLst/>
            <a:rect l="0" t="0" r="r" b="b"/>
            <a:pathLst>
              <a:path w="4261" h="1165">
                <a:moveTo>
                  <a:pt x="0" y="0"/>
                </a:moveTo>
                <a:lnTo>
                  <a:pt x="4261" y="0"/>
                </a:lnTo>
                <a:lnTo>
                  <a:pt x="426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209680" y="3924000"/>
            <a:ext cx="4886640" cy="419400"/>
          </a:xfrm>
          <a:custGeom>
            <a:avLst/>
            <a:gdLst/>
            <a:ahLst/>
            <a:rect l="0" t="0" r="r" b="b"/>
            <a:pathLst>
              <a:path w="13574" h="1165">
                <a:moveTo>
                  <a:pt x="0" y="0"/>
                </a:moveTo>
                <a:lnTo>
                  <a:pt x="13574" y="0"/>
                </a:lnTo>
                <a:lnTo>
                  <a:pt x="1357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676080" y="4343040"/>
            <a:ext cx="1533960" cy="410040"/>
          </a:xfrm>
          <a:custGeom>
            <a:avLst/>
            <a:gdLst/>
            <a:ahLst/>
            <a:rect l="0" t="0" r="r" b="b"/>
            <a:pathLst>
              <a:path w="4261" h="1139">
                <a:moveTo>
                  <a:pt x="0" y="0"/>
                </a:moveTo>
                <a:lnTo>
                  <a:pt x="4261" y="0"/>
                </a:lnTo>
                <a:lnTo>
                  <a:pt x="426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209680" y="4343040"/>
            <a:ext cx="4886640" cy="410040"/>
          </a:xfrm>
          <a:custGeom>
            <a:avLst/>
            <a:gdLst/>
            <a:ahLst/>
            <a:rect l="0" t="0" r="r" b="b"/>
            <a:pathLst>
              <a:path w="13574" h="1139">
                <a:moveTo>
                  <a:pt x="0" y="0"/>
                </a:moveTo>
                <a:lnTo>
                  <a:pt x="13574" y="0"/>
                </a:lnTo>
                <a:lnTo>
                  <a:pt x="1357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666720" y="269532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66720" y="269532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209680" y="269532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219040" y="2695320"/>
            <a:ext cx="4877280" cy="10080"/>
          </a:xfrm>
          <a:custGeom>
            <a:avLst/>
            <a:gdLst/>
            <a:ahLst/>
            <a:rect l="0" t="0" r="r" b="b"/>
            <a:pathLst>
              <a:path w="13548" h="28">
                <a:moveTo>
                  <a:pt x="0" y="0"/>
                </a:moveTo>
                <a:lnTo>
                  <a:pt x="13548" y="0"/>
                </a:lnTo>
                <a:lnTo>
                  <a:pt x="135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7086240" y="269532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66720" y="3105000"/>
            <a:ext cx="1552680" cy="9720"/>
          </a:xfrm>
          <a:custGeom>
            <a:avLst/>
            <a:gdLst/>
            <a:ah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219040" y="3105000"/>
            <a:ext cx="4877280" cy="9720"/>
          </a:xfrm>
          <a:custGeom>
            <a:avLst/>
            <a:gdLst/>
            <a:ahLst/>
            <a:rect l="0" t="0" r="r" b="b"/>
            <a:pathLst>
              <a:path w="13548" h="27">
                <a:moveTo>
                  <a:pt x="0" y="0"/>
                </a:moveTo>
                <a:lnTo>
                  <a:pt x="13548" y="0"/>
                </a:lnTo>
                <a:lnTo>
                  <a:pt x="135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666720" y="31143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209680" y="31143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7086240" y="311436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666720" y="352404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666720" y="3514680"/>
            <a:ext cx="1552680" cy="9720"/>
          </a:xfrm>
          <a:custGeom>
            <a:avLst/>
            <a:gdLst/>
            <a:ah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209680" y="352404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219040" y="3514680"/>
            <a:ext cx="4877280" cy="9720"/>
          </a:xfrm>
          <a:custGeom>
            <a:avLst/>
            <a:gdLst/>
            <a:ahLst/>
            <a:rect l="0" t="0" r="r" b="b"/>
            <a:pathLst>
              <a:path w="13548" h="27">
                <a:moveTo>
                  <a:pt x="0" y="0"/>
                </a:moveTo>
                <a:lnTo>
                  <a:pt x="13548" y="0"/>
                </a:lnTo>
                <a:lnTo>
                  <a:pt x="135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7086240" y="352404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66720" y="393372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666720" y="392400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209680" y="393372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219040" y="3924000"/>
            <a:ext cx="4877280" cy="10080"/>
          </a:xfrm>
          <a:custGeom>
            <a:avLst/>
            <a:gdLst/>
            <a:ahLst/>
            <a:rect l="0" t="0" r="r" b="b"/>
            <a:pathLst>
              <a:path w="13548" h="28">
                <a:moveTo>
                  <a:pt x="0" y="0"/>
                </a:moveTo>
                <a:lnTo>
                  <a:pt x="13548" y="0"/>
                </a:lnTo>
                <a:lnTo>
                  <a:pt x="135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7086240" y="393372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666720" y="43527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66720" y="434304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2209680" y="4352760"/>
            <a:ext cx="9720" cy="410040"/>
          </a:xfrm>
          <a:custGeom>
            <a:avLst/>
            <a:gdLst/>
            <a:ah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219040" y="4343040"/>
            <a:ext cx="4877280" cy="10080"/>
          </a:xfrm>
          <a:custGeom>
            <a:avLst/>
            <a:gdLst/>
            <a:ahLst/>
            <a:rect l="0" t="0" r="r" b="b"/>
            <a:pathLst>
              <a:path w="13548" h="28">
                <a:moveTo>
                  <a:pt x="0" y="0"/>
                </a:moveTo>
                <a:lnTo>
                  <a:pt x="13548" y="0"/>
                </a:lnTo>
                <a:lnTo>
                  <a:pt x="135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7086240" y="4352760"/>
            <a:ext cx="10080" cy="410040"/>
          </a:xfrm>
          <a:custGeom>
            <a:avLst/>
            <a:gdLst/>
            <a:ah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666720" y="475272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2219040" y="4752720"/>
            <a:ext cx="4877280" cy="10080"/>
          </a:xfrm>
          <a:custGeom>
            <a:avLst/>
            <a:gdLst/>
            <a:ahLst/>
            <a:rect l="0" t="0" r="r" b="b"/>
            <a:pathLst>
              <a:path w="13548" h="28">
                <a:moveTo>
                  <a:pt x="0" y="0"/>
                </a:moveTo>
                <a:lnTo>
                  <a:pt x="13548" y="0"/>
                </a:lnTo>
                <a:lnTo>
                  <a:pt x="135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666720" y="4914720"/>
            <a:ext cx="10858680" cy="914760"/>
          </a:xfrm>
          <a:custGeom>
            <a:avLst/>
            <a:gdLst/>
            <a:ah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666720" y="4914720"/>
            <a:ext cx="47880" cy="914760"/>
          </a:xfrm>
          <a:custGeom>
            <a:avLst/>
            <a:gdLst/>
            <a:ah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666720" y="1044360"/>
            <a:ext cx="4457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Leer el error, no sólo el mensaje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866880" y="1870560"/>
            <a:ext cx="2621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except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ClientError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as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e: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866880" y="2136960"/>
            <a:ext cx="4368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codigo = e.response[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"Error"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][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"Code"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114200" y="2800080"/>
            <a:ext cx="656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Código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799920" y="3209760"/>
            <a:ext cx="1286280" cy="228960"/>
          </a:xfrm>
          <a:custGeom>
            <a:avLst/>
            <a:gdLst/>
            <a:ahLst/>
            <a:rect l="0" t="0" r="r" b="b"/>
            <a:pathLst>
              <a:path w="357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59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530"/>
                </a:lnTo>
                <a:cubicBezTo>
                  <a:pt x="3573" y="544"/>
                  <a:pt x="3570" y="558"/>
                  <a:pt x="3565" y="571"/>
                </a:cubicBezTo>
                <a:cubicBezTo>
                  <a:pt x="3559" y="584"/>
                  <a:pt x="3552" y="595"/>
                  <a:pt x="3542" y="605"/>
                </a:cubicBezTo>
                <a:cubicBezTo>
                  <a:pt x="3532" y="615"/>
                  <a:pt x="3521" y="623"/>
                  <a:pt x="3508" y="628"/>
                </a:cubicBezTo>
                <a:cubicBezTo>
                  <a:pt x="3495" y="633"/>
                  <a:pt x="3481" y="636"/>
                  <a:pt x="346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3742560" y="2800080"/>
            <a:ext cx="182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pasó de verdad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857160" y="3231000"/>
            <a:ext cx="1167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NoSuchBucket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799920" y="3619440"/>
            <a:ext cx="991080" cy="228960"/>
          </a:xfrm>
          <a:custGeom>
            <a:avLst/>
            <a:gdLst/>
            <a:ahLst/>
            <a:rect l="0" t="0" r="r" b="b"/>
            <a:pathLst>
              <a:path w="2753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647" y="0"/>
                </a:lnTo>
                <a:cubicBezTo>
                  <a:pt x="2661" y="0"/>
                  <a:pt x="2674" y="2"/>
                  <a:pt x="2687" y="8"/>
                </a:cubicBezTo>
                <a:cubicBezTo>
                  <a:pt x="2700" y="13"/>
                  <a:pt x="2712" y="21"/>
                  <a:pt x="2722" y="31"/>
                </a:cubicBezTo>
                <a:cubicBezTo>
                  <a:pt x="2732" y="41"/>
                  <a:pt x="2739" y="52"/>
                  <a:pt x="2745" y="65"/>
                </a:cubicBezTo>
                <a:cubicBezTo>
                  <a:pt x="2750" y="78"/>
                  <a:pt x="2753" y="91"/>
                  <a:pt x="2753" y="105"/>
                </a:cubicBezTo>
                <a:lnTo>
                  <a:pt x="2753" y="530"/>
                </a:lnTo>
                <a:cubicBezTo>
                  <a:pt x="2753" y="544"/>
                  <a:pt x="2750" y="557"/>
                  <a:pt x="2745" y="570"/>
                </a:cubicBezTo>
                <a:cubicBezTo>
                  <a:pt x="2739" y="583"/>
                  <a:pt x="2732" y="595"/>
                  <a:pt x="2722" y="605"/>
                </a:cubicBezTo>
                <a:cubicBezTo>
                  <a:pt x="2712" y="615"/>
                  <a:pt x="2700" y="622"/>
                  <a:pt x="2687" y="628"/>
                </a:cubicBezTo>
                <a:cubicBezTo>
                  <a:pt x="2674" y="633"/>
                  <a:pt x="2661" y="636"/>
                  <a:pt x="2647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2341440" y="3200040"/>
            <a:ext cx="3335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bucket no existe, o está en otra región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857160" y="3640680"/>
            <a:ext cx="875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NoSuchKey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799920" y="4028760"/>
            <a:ext cx="1286280" cy="228960"/>
          </a:xfrm>
          <a:custGeom>
            <a:avLst/>
            <a:gdLst/>
            <a:ahLst/>
            <a:rect l="0" t="0" r="r" b="b"/>
            <a:pathLst>
              <a:path w="357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59" y="53"/>
                  <a:pt x="3565" y="66"/>
                </a:cubicBezTo>
                <a:cubicBezTo>
                  <a:pt x="3570" y="79"/>
                  <a:pt x="3573" y="92"/>
                  <a:pt x="3573" y="106"/>
                </a:cubicBezTo>
                <a:lnTo>
                  <a:pt x="3573" y="530"/>
                </a:lnTo>
                <a:cubicBezTo>
                  <a:pt x="3573" y="545"/>
                  <a:pt x="3570" y="558"/>
                  <a:pt x="3565" y="571"/>
                </a:cubicBezTo>
                <a:cubicBezTo>
                  <a:pt x="3559" y="584"/>
                  <a:pt x="3552" y="595"/>
                  <a:pt x="3542" y="605"/>
                </a:cubicBezTo>
                <a:cubicBezTo>
                  <a:pt x="3532" y="615"/>
                  <a:pt x="3521" y="623"/>
                  <a:pt x="3508" y="628"/>
                </a:cubicBezTo>
                <a:cubicBezTo>
                  <a:pt x="3495" y="634"/>
                  <a:pt x="3481" y="636"/>
                  <a:pt x="346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341440" y="3609720"/>
            <a:ext cx="4206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llave está mal escrita — revisa el preﬁjo completo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857160" y="4050360"/>
            <a:ext cx="1167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AccessDenied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799920" y="4448160"/>
            <a:ext cx="895680" cy="228960"/>
          </a:xfrm>
          <a:custGeom>
            <a:avLst/>
            <a:gdLst/>
            <a:ahLst/>
            <a:rect l="0" t="0" r="r" b="b"/>
            <a:pathLst>
              <a:path w="248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2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10" y="2"/>
                  <a:pt x="2423" y="9"/>
                </a:cubicBezTo>
                <a:cubicBezTo>
                  <a:pt x="2436" y="14"/>
                  <a:pt x="2447" y="22"/>
                  <a:pt x="2457" y="32"/>
                </a:cubicBezTo>
                <a:cubicBezTo>
                  <a:pt x="2467" y="41"/>
                  <a:pt x="2475" y="53"/>
                  <a:pt x="2480" y="66"/>
                </a:cubicBezTo>
                <a:cubicBezTo>
                  <a:pt x="2485" y="79"/>
                  <a:pt x="2488" y="92"/>
                  <a:pt x="2488" y="106"/>
                </a:cubicBezTo>
                <a:lnTo>
                  <a:pt x="2488" y="530"/>
                </a:lnTo>
                <a:cubicBezTo>
                  <a:pt x="2488" y="544"/>
                  <a:pt x="2485" y="557"/>
                  <a:pt x="2480" y="570"/>
                </a:cubicBezTo>
                <a:cubicBezTo>
                  <a:pt x="2475" y="583"/>
                  <a:pt x="2467" y="595"/>
                  <a:pt x="2457" y="605"/>
                </a:cubicBezTo>
                <a:cubicBezTo>
                  <a:pt x="2447" y="614"/>
                  <a:pt x="2436" y="622"/>
                  <a:pt x="2423" y="627"/>
                </a:cubicBezTo>
                <a:cubicBezTo>
                  <a:pt x="2410" y="633"/>
                  <a:pt x="2396" y="636"/>
                  <a:pt x="2382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2341440" y="4028760"/>
            <a:ext cx="4024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política no te da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esa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acción sobre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recurso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857160" y="4469400"/>
            <a:ext cx="778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SlowDown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904680" y="5086080"/>
            <a:ext cx="1514880" cy="267120"/>
          </a:xfrm>
          <a:custGeom>
            <a:avLst/>
            <a:gdLst/>
            <a:ahLst/>
            <a:rect l="0" t="0" r="r" b="b"/>
            <a:pathLst>
              <a:path w="420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102" y="0"/>
                </a:lnTo>
                <a:cubicBezTo>
                  <a:pt x="4116" y="0"/>
                  <a:pt x="4130" y="3"/>
                  <a:pt x="4143" y="8"/>
                </a:cubicBezTo>
                <a:cubicBezTo>
                  <a:pt x="4156" y="14"/>
                  <a:pt x="4167" y="21"/>
                  <a:pt x="4177" y="31"/>
                </a:cubicBezTo>
                <a:cubicBezTo>
                  <a:pt x="4187" y="41"/>
                  <a:pt x="4194" y="53"/>
                  <a:pt x="4200" y="66"/>
                </a:cubicBezTo>
                <a:cubicBezTo>
                  <a:pt x="4205" y="79"/>
                  <a:pt x="4208" y="92"/>
                  <a:pt x="4208" y="106"/>
                </a:cubicBezTo>
                <a:lnTo>
                  <a:pt x="4208" y="636"/>
                </a:lnTo>
                <a:cubicBezTo>
                  <a:pt x="4208" y="650"/>
                  <a:pt x="4205" y="664"/>
                  <a:pt x="4200" y="677"/>
                </a:cubicBezTo>
                <a:cubicBezTo>
                  <a:pt x="4194" y="690"/>
                  <a:pt x="4187" y="701"/>
                  <a:pt x="4177" y="711"/>
                </a:cubicBezTo>
                <a:cubicBezTo>
                  <a:pt x="4167" y="721"/>
                  <a:pt x="4156" y="729"/>
                  <a:pt x="4143" y="734"/>
                </a:cubicBezTo>
                <a:cubicBezTo>
                  <a:pt x="4130" y="739"/>
                  <a:pt x="4116" y="742"/>
                  <a:pt x="410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2341440" y="4438440"/>
            <a:ext cx="4627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vas demasiado rápido; reintenta con espera exponencial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961920" y="510588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AccessDenied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2423160" y="5068800"/>
            <a:ext cx="8877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casi nunca signiﬁca «no tienes acceso al bucket». Signiﬁca que falta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acción concreta.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905040" y="5411520"/>
            <a:ext cx="3502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Vuelve al simulador de la sesión 19.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3730680" y="3063960"/>
            <a:ext cx="48430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Leer sin descargar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66720" y="4781520"/>
            <a:ext cx="10858680" cy="571680"/>
          </a:xfrm>
          <a:custGeom>
            <a:avLst/>
            <a:gdLst/>
            <a:ah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66720" y="4781520"/>
            <a:ext cx="47880" cy="571680"/>
          </a:xfrm>
          <a:custGeom>
            <a:avLst/>
            <a:gdLst/>
            <a:ah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666720" y="1520640"/>
            <a:ext cx="4192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CSV frente a Parquet, medido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323720" y="2228760"/>
            <a:ext cx="3591360" cy="238320"/>
          </a:xfrm>
          <a:custGeom>
            <a:avLst/>
            <a:gdLst/>
            <a:ahLst/>
            <a:rect l="0" t="0" r="r" b="b"/>
            <a:pathLst>
              <a:path w="9976" h="662">
                <a:moveTo>
                  <a:pt x="0" y="556"/>
                </a:moveTo>
                <a:lnTo>
                  <a:pt x="0" y="107"/>
                </a:ln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9870" y="0"/>
                </a:lnTo>
                <a:cubicBezTo>
                  <a:pt x="9884" y="0"/>
                  <a:pt x="9898" y="2"/>
                  <a:pt x="9911" y="8"/>
                </a:cubicBezTo>
                <a:cubicBezTo>
                  <a:pt x="9924" y="13"/>
                  <a:pt x="9935" y="21"/>
                  <a:pt x="9945" y="31"/>
                </a:cubicBezTo>
                <a:cubicBezTo>
                  <a:pt x="9955" y="41"/>
                  <a:pt x="9963" y="52"/>
                  <a:pt x="9968" y="65"/>
                </a:cubicBezTo>
                <a:cubicBezTo>
                  <a:pt x="9973" y="78"/>
                  <a:pt x="9976" y="93"/>
                  <a:pt x="9976" y="107"/>
                </a:cubicBezTo>
                <a:lnTo>
                  <a:pt x="9976" y="556"/>
                </a:lnTo>
                <a:cubicBezTo>
                  <a:pt x="9976" y="570"/>
                  <a:pt x="9973" y="584"/>
                  <a:pt x="9968" y="597"/>
                </a:cubicBezTo>
                <a:cubicBezTo>
                  <a:pt x="9963" y="610"/>
                  <a:pt x="9955" y="621"/>
                  <a:pt x="9945" y="631"/>
                </a:cubicBezTo>
                <a:cubicBezTo>
                  <a:pt x="9935" y="641"/>
                  <a:pt x="9924" y="649"/>
                  <a:pt x="9911" y="654"/>
                </a:cubicBezTo>
                <a:cubicBezTo>
                  <a:pt x="9898" y="660"/>
                  <a:pt x="9884" y="662"/>
                  <a:pt x="9870" y="662"/>
                </a:cubicBezTo>
                <a:lnTo>
                  <a:pt x="106" y="662"/>
                </a:lnTo>
                <a:cubicBezTo>
                  <a:pt x="92" y="662"/>
                  <a:pt x="79" y="660"/>
                  <a:pt x="66" y="654"/>
                </a:cubicBezTo>
                <a:cubicBezTo>
                  <a:pt x="53" y="649"/>
                  <a:pt x="41" y="641"/>
                  <a:pt x="31" y="631"/>
                </a:cubicBezTo>
                <a:cubicBezTo>
                  <a:pt x="21" y="621"/>
                  <a:pt x="14" y="610"/>
                  <a:pt x="8" y="597"/>
                </a:cubicBezTo>
                <a:cubicBezTo>
                  <a:pt x="3" y="584"/>
                  <a:pt x="0" y="570"/>
                  <a:pt x="0" y="55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666720" y="2214000"/>
            <a:ext cx="6602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Figura: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1383480" y="2247480"/>
            <a:ext cx="34826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figuras/s20/02-csv-vs-parquet.png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495520" y="2705040"/>
            <a:ext cx="1400400" cy="266760"/>
          </a:xfrm>
          <a:custGeom>
            <a:avLst/>
            <a:gdLst/>
            <a:ahLst/>
            <a:rect l="0" t="0" r="r" b="b"/>
            <a:pathLst>
              <a:path w="389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784" y="0"/>
                </a:lnTo>
                <a:cubicBezTo>
                  <a:pt x="3798" y="0"/>
                  <a:pt x="3812" y="2"/>
                  <a:pt x="3825" y="8"/>
                </a:cubicBezTo>
                <a:cubicBezTo>
                  <a:pt x="3838" y="13"/>
                  <a:pt x="3849" y="21"/>
                  <a:pt x="3859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7" y="78"/>
                  <a:pt x="3890" y="91"/>
                  <a:pt x="3890" y="105"/>
                </a:cubicBezTo>
                <a:lnTo>
                  <a:pt x="3890" y="636"/>
                </a:lnTo>
                <a:cubicBezTo>
                  <a:pt x="3890" y="650"/>
                  <a:pt x="3887" y="663"/>
                  <a:pt x="3882" y="676"/>
                </a:cubicBezTo>
                <a:cubicBezTo>
                  <a:pt x="3877" y="689"/>
                  <a:pt x="3869" y="701"/>
                  <a:pt x="3859" y="711"/>
                </a:cubicBezTo>
                <a:cubicBezTo>
                  <a:pt x="3849" y="720"/>
                  <a:pt x="3838" y="728"/>
                  <a:pt x="3825" y="733"/>
                </a:cubicBezTo>
                <a:cubicBezTo>
                  <a:pt x="3812" y="739"/>
                  <a:pt x="3798" y="741"/>
                  <a:pt x="3784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666720" y="2687400"/>
            <a:ext cx="1830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Mismo dataset de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2554200" y="272484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MEASUREMENT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914040" y="3295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898440" y="2687400"/>
            <a:ext cx="1453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400 000 ﬁlas: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914040" y="3695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1123920" y="3182760"/>
            <a:ext cx="7258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tamaño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Parquet pesa una fracción del CSV — está comprimido y tipado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914040" y="40957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1123920" y="3582720"/>
            <a:ext cx="347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leer todo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varias veces más rápido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1123920" y="3983040"/>
            <a:ext cx="10310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leer una columna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aquí la diferencia es enorme, porque Parquet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columnar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ni siquiera toca el resto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1123920" y="4325760"/>
            <a:ext cx="1063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del archivo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905040" y="4935240"/>
            <a:ext cx="9178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CSV obliga a leer y parsear todo para quedarte con una columna. Parquet lee la columna.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71400" y="191916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71400" y="191916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157"/>
                </a:lnTo>
                <a:cubicBezTo>
                  <a:pt x="30137" y="2170"/>
                  <a:pt x="30136" y="2183"/>
                  <a:pt x="30133" y="2196"/>
                </a:cubicBezTo>
                <a:cubicBezTo>
                  <a:pt x="30130" y="2209"/>
                  <a:pt x="30127" y="2221"/>
                  <a:pt x="30122" y="2233"/>
                </a:cubicBezTo>
                <a:cubicBezTo>
                  <a:pt x="30117" y="2245"/>
                  <a:pt x="30111" y="2257"/>
                  <a:pt x="30103" y="2267"/>
                </a:cubicBezTo>
                <a:cubicBezTo>
                  <a:pt x="30096" y="2278"/>
                  <a:pt x="30088" y="2288"/>
                  <a:pt x="30079" y="2298"/>
                </a:cubicBezTo>
                <a:cubicBezTo>
                  <a:pt x="30070" y="2307"/>
                  <a:pt x="30059" y="2315"/>
                  <a:pt x="30049" y="2322"/>
                </a:cubicBezTo>
                <a:cubicBezTo>
                  <a:pt x="30038" y="2329"/>
                  <a:pt x="30026" y="2336"/>
                  <a:pt x="30014" y="2341"/>
                </a:cubicBezTo>
                <a:cubicBezTo>
                  <a:pt x="30002" y="2346"/>
                  <a:pt x="29990" y="2349"/>
                  <a:pt x="29977" y="2352"/>
                </a:cubicBezTo>
                <a:cubicBezTo>
                  <a:pt x="29964" y="2354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4"/>
                  <a:pt x="160" y="2352"/>
                </a:cubicBezTo>
                <a:cubicBezTo>
                  <a:pt x="147" y="2349"/>
                  <a:pt x="134" y="2346"/>
                  <a:pt x="122" y="2341"/>
                </a:cubicBezTo>
                <a:cubicBezTo>
                  <a:pt x="110" y="2336"/>
                  <a:pt x="99" y="2329"/>
                  <a:pt x="88" y="2322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8"/>
                  <a:pt x="40" y="2278"/>
                  <a:pt x="33" y="2267"/>
                </a:cubicBezTo>
                <a:cubicBezTo>
                  <a:pt x="26" y="2257"/>
                  <a:pt x="20" y="2245"/>
                  <a:pt x="15" y="2233"/>
                </a:cubicBezTo>
                <a:cubicBezTo>
                  <a:pt x="10" y="2221"/>
                  <a:pt x="6" y="2209"/>
                  <a:pt x="4" y="2196"/>
                </a:cubicBezTo>
                <a:cubicBezTo>
                  <a:pt x="1" y="2183"/>
                  <a:pt x="0" y="2170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671400" y="292860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8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2"/>
                  <a:pt x="30122" y="124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4"/>
                  <a:pt x="30137" y="187"/>
                  <a:pt x="30137" y="200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671400" y="2928600"/>
            <a:ext cx="10849320" cy="848160"/>
          </a:xfrm>
          <a:custGeom>
            <a:avLst/>
            <a:gdLst/>
            <a:ahLst/>
            <a:rect l="0" t="0" r="r" b="b"/>
            <a:pathLst>
              <a:path w="30137" h="2356">
                <a:moveTo>
                  <a:pt x="0" y="2158"/>
                </a:moveTo>
                <a:lnTo>
                  <a:pt x="0" y="200"/>
                </a:lnTo>
                <a:cubicBezTo>
                  <a:pt x="0" y="187"/>
                  <a:pt x="1" y="174"/>
                  <a:pt x="4" y="161"/>
                </a:cubicBezTo>
                <a:cubicBezTo>
                  <a:pt x="6" y="148"/>
                  <a:pt x="10" y="136"/>
                  <a:pt x="15" y="124"/>
                </a:cubicBezTo>
                <a:cubicBezTo>
                  <a:pt x="20" y="112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2"/>
                  <a:pt x="30122" y="124"/>
                </a:cubicBezTo>
                <a:cubicBezTo>
                  <a:pt x="30127" y="136"/>
                  <a:pt x="30130" y="148"/>
                  <a:pt x="30133" y="161"/>
                </a:cubicBezTo>
                <a:cubicBezTo>
                  <a:pt x="30136" y="174"/>
                  <a:pt x="30137" y="187"/>
                  <a:pt x="30137" y="200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671400" y="3938400"/>
            <a:ext cx="10849320" cy="581400"/>
          </a:xfrm>
          <a:custGeom>
            <a:avLst/>
            <a:gdLst/>
            <a:ah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671400" y="3938400"/>
            <a:ext cx="10849320" cy="581400"/>
          </a:xfrm>
          <a:custGeom>
            <a:avLst/>
            <a:gdLst/>
            <a:ah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666720" y="4676760"/>
            <a:ext cx="10858680" cy="914760"/>
          </a:xfrm>
          <a:custGeom>
            <a:avLst/>
            <a:gdLst/>
            <a:ah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66720" y="4676760"/>
            <a:ext cx="47880" cy="914760"/>
          </a:xfrm>
          <a:custGeom>
            <a:avLst/>
            <a:gdLst/>
            <a:ah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66720" y="1282320"/>
            <a:ext cx="4366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formas de leerlo desde S3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866880" y="2099160"/>
            <a:ext cx="1965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pandas, vía s3fs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866880" y="2365560"/>
            <a:ext cx="7534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pd.read_parquet(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"s3://mi-bucket/curated/measurement/"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columns=[...])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866880" y="310860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-- DuckDB: SQL directo sobre S3, sin infraestructura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866880" y="3375360"/>
            <a:ext cx="6988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SELECT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...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's3://mi-bucket/curated/measurement/*/*.parquet'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866880" y="411840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Athena  →  SQL serverless sobre S3; pagas por TB escaneado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743440" y="4848120"/>
            <a:ext cx="1162440" cy="267120"/>
          </a:xfrm>
          <a:custGeom>
            <a:avLst/>
            <a:gdLst/>
            <a:ahLst/>
            <a:rect l="0" t="0" r="r" b="b"/>
            <a:pathLst>
              <a:path w="322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0" y="2"/>
                  <a:pt x="3163" y="8"/>
                </a:cubicBezTo>
                <a:cubicBezTo>
                  <a:pt x="3176" y="13"/>
                  <a:pt x="3188" y="21"/>
                  <a:pt x="3198" y="31"/>
                </a:cubicBezTo>
                <a:cubicBezTo>
                  <a:pt x="3208" y="41"/>
                  <a:pt x="3215" y="52"/>
                  <a:pt x="3221" y="65"/>
                </a:cubicBezTo>
                <a:cubicBezTo>
                  <a:pt x="3226" y="78"/>
                  <a:pt x="3229" y="92"/>
                  <a:pt x="3229" y="106"/>
                </a:cubicBezTo>
                <a:lnTo>
                  <a:pt x="3229" y="636"/>
                </a:lnTo>
                <a:cubicBezTo>
                  <a:pt x="3229" y="650"/>
                  <a:pt x="3226" y="663"/>
                  <a:pt x="3221" y="676"/>
                </a:cubicBezTo>
                <a:cubicBezTo>
                  <a:pt x="3215" y="689"/>
                  <a:pt x="3208" y="701"/>
                  <a:pt x="3198" y="711"/>
                </a:cubicBezTo>
                <a:cubicBezTo>
                  <a:pt x="3188" y="721"/>
                  <a:pt x="3176" y="728"/>
                  <a:pt x="3163" y="734"/>
                </a:cubicBezTo>
                <a:cubicBezTo>
                  <a:pt x="3150" y="739"/>
                  <a:pt x="3137" y="742"/>
                  <a:pt x="312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905040" y="4830480"/>
            <a:ext cx="4840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Los tres se beneﬁcian del particionado: ﬁltrar por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5797800" y="486792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anio=2026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908040" y="4830480"/>
            <a:ext cx="4065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descarta los archivos sin abrirlos. Eso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05040" y="5173560"/>
            <a:ext cx="2469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Athena es dinero directo.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3395880" y="3063960"/>
            <a:ext cx="5534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Clases y ciclo de vida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671400" y="2709720"/>
            <a:ext cx="10849320" cy="1371960"/>
          </a:xfrm>
          <a:custGeom>
            <a:avLst/>
            <a:gdLst/>
            <a:ah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671400" y="2709720"/>
            <a:ext cx="10849320" cy="1371960"/>
          </a:xfrm>
          <a:custGeom>
            <a:avLst/>
            <a:gdLst/>
            <a:ah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5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5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66720" y="4733640"/>
            <a:ext cx="10858680" cy="572040"/>
          </a:xfrm>
          <a:custGeom>
            <a:avLst/>
            <a:gdLst/>
            <a:ah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666720" y="4733640"/>
            <a:ext cx="47880" cy="572040"/>
          </a:xfrm>
          <a:custGeom>
            <a:avLst/>
            <a:gdLst/>
            <a:ah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666720" y="1568160"/>
            <a:ext cx="2905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dato se enfría solo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323720" y="2285640"/>
            <a:ext cx="3486600" cy="238680"/>
          </a:xfrm>
          <a:custGeom>
            <a:avLst/>
            <a:gdLst/>
            <a:ahLst/>
            <a:rect l="0" t="0" r="r" b="b"/>
            <a:pathLst>
              <a:path w="9685" h="663">
                <a:moveTo>
                  <a:pt x="0" y="55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9579" y="0"/>
                </a:lnTo>
                <a:cubicBezTo>
                  <a:pt x="9593" y="0"/>
                  <a:pt x="9607" y="3"/>
                  <a:pt x="9620" y="9"/>
                </a:cubicBezTo>
                <a:cubicBezTo>
                  <a:pt x="9633" y="14"/>
                  <a:pt x="9644" y="22"/>
                  <a:pt x="9654" y="31"/>
                </a:cubicBezTo>
                <a:cubicBezTo>
                  <a:pt x="9664" y="41"/>
                  <a:pt x="9672" y="53"/>
                  <a:pt x="9677" y="66"/>
                </a:cubicBezTo>
                <a:cubicBezTo>
                  <a:pt x="9682" y="79"/>
                  <a:pt x="9685" y="92"/>
                  <a:pt x="9685" y="106"/>
                </a:cubicBezTo>
                <a:lnTo>
                  <a:pt x="9685" y="556"/>
                </a:lnTo>
                <a:cubicBezTo>
                  <a:pt x="9685" y="570"/>
                  <a:pt x="9682" y="584"/>
                  <a:pt x="9677" y="598"/>
                </a:cubicBezTo>
                <a:cubicBezTo>
                  <a:pt x="9672" y="611"/>
                  <a:pt x="9664" y="622"/>
                  <a:pt x="9654" y="632"/>
                </a:cubicBezTo>
                <a:cubicBezTo>
                  <a:pt x="9644" y="642"/>
                  <a:pt x="9633" y="650"/>
                  <a:pt x="9620" y="655"/>
                </a:cubicBezTo>
                <a:cubicBezTo>
                  <a:pt x="9607" y="660"/>
                  <a:pt x="9593" y="663"/>
                  <a:pt x="9579" y="663"/>
                </a:cubicBezTo>
                <a:lnTo>
                  <a:pt x="106" y="663"/>
                </a:lnTo>
                <a:cubicBezTo>
                  <a:pt x="92" y="663"/>
                  <a:pt x="79" y="660"/>
                  <a:pt x="66" y="655"/>
                </a:cubicBezTo>
                <a:cubicBezTo>
                  <a:pt x="53" y="650"/>
                  <a:pt x="41" y="642"/>
                  <a:pt x="31" y="632"/>
                </a:cubicBezTo>
                <a:cubicBezTo>
                  <a:pt x="21" y="622"/>
                  <a:pt x="14" y="611"/>
                  <a:pt x="8" y="598"/>
                </a:cubicBezTo>
                <a:cubicBezTo>
                  <a:pt x="3" y="584"/>
                  <a:pt x="0" y="570"/>
                  <a:pt x="0" y="55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666720" y="2271240"/>
            <a:ext cx="66024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Figura: 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1383480" y="2304720"/>
            <a:ext cx="33771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7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figuras/s20/03-ciclo-de-vida.png</a:t>
            </a:r>
            <a:endParaRPr lang="es-ES" sz="13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866880" y="2889720"/>
            <a:ext cx="3494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Standard        acceso frecuente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866880" y="3156120"/>
            <a:ext cx="8080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Standard-IA     acceso ocasional, más barato de guardar y más caro de leer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866880" y="341352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Glacier IR      archivo, recuperación en milisegundos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866880" y="3680280"/>
            <a:ext cx="4258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Deep Archive    lo guardas por si acaso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666720" y="4278240"/>
            <a:ext cx="1001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regla de ciclo de vida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 mueve sola: a IA a los 30 días, a Glacier a los 180. Se escribe una vez.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905040" y="4887720"/>
            <a:ext cx="10401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Pero recuperar desde Glacier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tarda y cuesta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No archives lo que vas a volver a leer la semana que entra.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3519000" y="3063960"/>
            <a:ext cx="52772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Datos clínicos en S3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914040" y="2714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666720" y="1929960"/>
            <a:ext cx="2802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Antes de subir nada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914040" y="3114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1123920" y="2601720"/>
            <a:ext cx="9997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Nunca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subas datos identiﬁcables a un bucket sin cifrado y sin el acuerdo institucional que lo respalde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914040" y="3514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123920" y="3001680"/>
            <a:ext cx="9235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Separa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los identiﬁcadores del resto: el bucket de análisis no necesita nombres ni expedientes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600280" y="3419280"/>
            <a:ext cx="581400" cy="267120"/>
          </a:xfrm>
          <a:custGeom>
            <a:avLst/>
            <a:gdLst/>
            <a:ah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1" y="690"/>
                  <a:pt x="1594" y="701"/>
                  <a:pt x="1584" y="711"/>
                </a:cubicBezTo>
                <a:cubicBezTo>
                  <a:pt x="1574" y="721"/>
                  <a:pt x="1562" y="728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2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1123920" y="3402000"/>
            <a:ext cx="1478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 que sube 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2658960" y="34390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raw/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914040" y="3914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0"/>
                  <a:pt x="161" y="198"/>
                  <a:pt x="148" y="203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184200" y="3402000"/>
            <a:ext cx="3332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ya debería venir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seudonimizado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1123920" y="3801960"/>
            <a:ext cx="5262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el curso: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datos sintéticos o públicos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siempre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666720" y="4297320"/>
            <a:ext cx="10530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Dónde encontrar datos públicos: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Registry of Open Data on AWS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tiene conjuntos biomédicos grandes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666720" y="4640040"/>
            <a:ext cx="4659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(genómica, imagen, claims) que viven ya en S3.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2675880" y="3063960"/>
            <a:ext cx="70160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Automatizar lo que se repite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671400" y="2195280"/>
            <a:ext cx="10849320" cy="1105200"/>
          </a:xfrm>
          <a:custGeom>
            <a:avLst/>
            <a:gdLst/>
            <a:ah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671400" y="2195280"/>
            <a:ext cx="10849320" cy="1105200"/>
          </a:xfrm>
          <a:custGeom>
            <a:avLst/>
            <a:gdLst/>
            <a:ahLst/>
            <a:rect l="0" t="0" r="r" b="b"/>
            <a:pathLst>
              <a:path w="30137" h="3070">
                <a:moveTo>
                  <a:pt x="0" y="287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1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30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30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1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66720" y="4752720"/>
            <a:ext cx="10858680" cy="572040"/>
          </a:xfrm>
          <a:custGeom>
            <a:avLst/>
            <a:gdLst/>
            <a:ah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66720" y="4752720"/>
            <a:ext cx="47880" cy="572040"/>
          </a:xfrm>
          <a:custGeom>
            <a:avLst/>
            <a:gdLst/>
            <a:ah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666720" y="1549080"/>
            <a:ext cx="16362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Tres niveles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866880" y="237528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aws s3 sync       respaldo incremental: sólo lo que cambió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866880" y="264204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evento → Lambda   procesar en cuanto llega el archivo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914040" y="3609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123920" y="3514680"/>
            <a:ext cx="581400" cy="266760"/>
          </a:xfrm>
          <a:custGeom>
            <a:avLst/>
            <a:gdLst/>
            <a:ahLst/>
            <a:rect l="0" t="0" r="r" b="b"/>
            <a:pathLst>
              <a:path w="1615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2"/>
                  <a:pt x="1549" y="8"/>
                </a:cubicBezTo>
                <a:cubicBezTo>
                  <a:pt x="1562" y="13"/>
                  <a:pt x="1574" y="21"/>
                  <a:pt x="1584" y="31"/>
                </a:cubicBezTo>
                <a:cubicBezTo>
                  <a:pt x="1593" y="41"/>
                  <a:pt x="1601" y="52"/>
                  <a:pt x="1606" y="65"/>
                </a:cubicBezTo>
                <a:cubicBezTo>
                  <a:pt x="1612" y="78"/>
                  <a:pt x="1615" y="91"/>
                  <a:pt x="1615" y="105"/>
                </a:cubicBezTo>
                <a:lnTo>
                  <a:pt x="1615" y="636"/>
                </a:lnTo>
                <a:cubicBezTo>
                  <a:pt x="1615" y="650"/>
                  <a:pt x="1612" y="663"/>
                  <a:pt x="1606" y="676"/>
                </a:cubicBezTo>
                <a:cubicBezTo>
                  <a:pt x="1601" y="689"/>
                  <a:pt x="1593" y="701"/>
                  <a:pt x="1584" y="710"/>
                </a:cubicBezTo>
                <a:cubicBezTo>
                  <a:pt x="1574" y="720"/>
                  <a:pt x="1562" y="728"/>
                  <a:pt x="1549" y="733"/>
                </a:cubicBezTo>
                <a:cubicBezTo>
                  <a:pt x="1536" y="739"/>
                  <a:pt x="1523" y="741"/>
                  <a:pt x="1509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866880" y="289908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Terraform / CDK   el bucket y sus reglas, como código versionado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1181160" y="35344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sync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914040" y="4009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706400" y="3497040"/>
            <a:ext cx="2876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 que vas a usar mañana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914040" y="44100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1123920" y="3897000"/>
            <a:ext cx="5675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eventos sirven cuando el dato llega solo y a deshoras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1123920" y="4297320"/>
            <a:ext cx="9668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infraestructura como código es lo que hace que «se nos borró la cuenta» no sea una catástrofe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905040" y="4906800"/>
            <a:ext cx="6662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Mismo principio del curso: si lo hiciste a mano dos veces, escríbelo.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666720" y="203472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869760" y="2706480"/>
            <a:ext cx="10404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 hay carpetas: hay preﬁjos.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esos preﬁjos, bien elegidos, son lo que después permite leer sólo 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1123920" y="3049560"/>
            <a:ext cx="1427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 necesitas.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869760" y="3544920"/>
            <a:ext cx="10689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Parquet, no CSV.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Columnar, comprimido y tipado: la diferencia al leer una columna no es comodidad,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1123920" y="3887640"/>
            <a:ext cx="970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viabilidad.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123920" y="4400280"/>
            <a:ext cx="581400" cy="267120"/>
          </a:xfrm>
          <a:custGeom>
            <a:avLst/>
            <a:gdLst/>
            <a:ah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09" y="0"/>
                </a:lnTo>
                <a:cubicBezTo>
                  <a:pt x="1523" y="0"/>
                  <a:pt x="1536" y="3"/>
                  <a:pt x="1549" y="8"/>
                </a:cubicBezTo>
                <a:cubicBezTo>
                  <a:pt x="1562" y="14"/>
                  <a:pt x="1574" y="21"/>
                  <a:pt x="1584" y="31"/>
                </a:cubicBezTo>
                <a:cubicBezTo>
                  <a:pt x="1593" y="41"/>
                  <a:pt x="1601" y="53"/>
                  <a:pt x="1606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49"/>
                  <a:pt x="1612" y="663"/>
                  <a:pt x="1606" y="676"/>
                </a:cubicBezTo>
                <a:cubicBezTo>
                  <a:pt x="1601" y="689"/>
                  <a:pt x="1593" y="700"/>
                  <a:pt x="1584" y="710"/>
                </a:cubicBezTo>
                <a:cubicBezTo>
                  <a:pt x="1574" y="720"/>
                  <a:pt x="1562" y="729"/>
                  <a:pt x="1549" y="734"/>
                </a:cubicBezTo>
                <a:cubicBezTo>
                  <a:pt x="1536" y="739"/>
                  <a:pt x="1523" y="742"/>
                  <a:pt x="150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869760" y="438300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1181160" y="442008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raw/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1706400" y="4383000"/>
            <a:ext cx="7833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es inmutable.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puedes regenerar todo lo demás, ningún error es irreversible.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666720" y="183492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666720" y="2545920"/>
            <a:ext cx="252000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Data lake clínico en S3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666720" y="3058920"/>
            <a:ext cx="10261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Montar el bucket con los cuatro interruptores, deﬁnir las tres zonas, subir los datos sintéticos, escribir un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666720" y="3402000"/>
            <a:ext cx="10311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módulo de boto3 que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pagine bien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convertir a Parquet particionado y medir la diferencia, y recuperar un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666720" y="3744720"/>
            <a:ext cx="152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objeto borrado.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1971360" y="4257360"/>
            <a:ext cx="933840" cy="267120"/>
          </a:xfrm>
          <a:custGeom>
            <a:avLst/>
            <a:gdLst/>
            <a:ah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3"/>
                  <a:pt x="2529" y="8"/>
                </a:cubicBezTo>
                <a:cubicBezTo>
                  <a:pt x="2542" y="14"/>
                  <a:pt x="2553" y="21"/>
                  <a:pt x="2563" y="31"/>
                </a:cubicBezTo>
                <a:cubicBezTo>
                  <a:pt x="2573" y="41"/>
                  <a:pt x="2581" y="53"/>
                  <a:pt x="2586" y="66"/>
                </a:cubicBezTo>
                <a:cubicBezTo>
                  <a:pt x="2592" y="79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2" y="664"/>
                  <a:pt x="2586" y="677"/>
                </a:cubicBezTo>
                <a:cubicBezTo>
                  <a:pt x="2581" y="690"/>
                  <a:pt x="2573" y="701"/>
                  <a:pt x="2563" y="711"/>
                </a:cubicBezTo>
                <a:cubicBezTo>
                  <a:pt x="2553" y="721"/>
                  <a:pt x="2542" y="729"/>
                  <a:pt x="2529" y="734"/>
                </a:cubicBezTo>
                <a:cubicBezTo>
                  <a:pt x="2516" y="740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666720" y="424008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2032200" y="427752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s3util/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953040" y="4257360"/>
            <a:ext cx="2924640" cy="267120"/>
          </a:xfrm>
          <a:custGeom>
            <a:avLst/>
            <a:gdLst/>
            <a:ahLst/>
            <a:rect l="0" t="0" r="r" b="b"/>
            <a:pathLst>
              <a:path w="812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8018" y="0"/>
                </a:lnTo>
                <a:cubicBezTo>
                  <a:pt x="8032" y="0"/>
                  <a:pt x="8045" y="3"/>
                  <a:pt x="8058" y="8"/>
                </a:cubicBezTo>
                <a:cubicBezTo>
                  <a:pt x="8071" y="14"/>
                  <a:pt x="8083" y="21"/>
                  <a:pt x="8093" y="31"/>
                </a:cubicBezTo>
                <a:cubicBezTo>
                  <a:pt x="8103" y="41"/>
                  <a:pt x="8110" y="53"/>
                  <a:pt x="8116" y="66"/>
                </a:cubicBezTo>
                <a:cubicBezTo>
                  <a:pt x="8121" y="79"/>
                  <a:pt x="8124" y="92"/>
                  <a:pt x="8124" y="106"/>
                </a:cubicBezTo>
                <a:lnTo>
                  <a:pt x="8124" y="636"/>
                </a:lnTo>
                <a:cubicBezTo>
                  <a:pt x="8124" y="650"/>
                  <a:pt x="8121" y="664"/>
                  <a:pt x="8116" y="677"/>
                </a:cubicBezTo>
                <a:cubicBezTo>
                  <a:pt x="8110" y="690"/>
                  <a:pt x="8103" y="701"/>
                  <a:pt x="8093" y="711"/>
                </a:cubicBezTo>
                <a:cubicBezTo>
                  <a:pt x="8083" y="721"/>
                  <a:pt x="8071" y="729"/>
                  <a:pt x="8058" y="734"/>
                </a:cubicBezTo>
                <a:cubicBezTo>
                  <a:pt x="8045" y="740"/>
                  <a:pt x="8032" y="742"/>
                  <a:pt x="8018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2908080" y="4240080"/>
            <a:ext cx="4048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pruebas + notebook comparativo +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013160" y="4277520"/>
            <a:ext cx="2819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arquitectura_datalake.md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666720" y="4752720"/>
            <a:ext cx="3743640" cy="267120"/>
          </a:xfrm>
          <a:custGeom>
            <a:avLst/>
            <a:gdLst/>
            <a:ahLst/>
            <a:rect l="0" t="0" r="r" b="b"/>
            <a:pathLst>
              <a:path w="10399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0293" y="0"/>
                </a:lnTo>
                <a:cubicBezTo>
                  <a:pt x="10307" y="0"/>
                  <a:pt x="10320" y="3"/>
                  <a:pt x="10333" y="8"/>
                </a:cubicBezTo>
                <a:cubicBezTo>
                  <a:pt x="10346" y="14"/>
                  <a:pt x="10358" y="21"/>
                  <a:pt x="10368" y="31"/>
                </a:cubicBezTo>
                <a:cubicBezTo>
                  <a:pt x="10378" y="41"/>
                  <a:pt x="10385" y="53"/>
                  <a:pt x="10391" y="66"/>
                </a:cubicBezTo>
                <a:cubicBezTo>
                  <a:pt x="10396" y="79"/>
                  <a:pt x="10399" y="92"/>
                  <a:pt x="10399" y="106"/>
                </a:cubicBezTo>
                <a:lnTo>
                  <a:pt x="10399" y="636"/>
                </a:lnTo>
                <a:cubicBezTo>
                  <a:pt x="10399" y="650"/>
                  <a:pt x="10396" y="664"/>
                  <a:pt x="10391" y="677"/>
                </a:cubicBezTo>
                <a:cubicBezTo>
                  <a:pt x="10385" y="690"/>
                  <a:pt x="10378" y="701"/>
                  <a:pt x="10368" y="711"/>
                </a:cubicBezTo>
                <a:cubicBezTo>
                  <a:pt x="10358" y="721"/>
                  <a:pt x="10346" y="729"/>
                  <a:pt x="10333" y="734"/>
                </a:cubicBezTo>
                <a:cubicBezTo>
                  <a:pt x="10320" y="739"/>
                  <a:pt x="10307" y="742"/>
                  <a:pt x="10293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9878040" y="42400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723960" y="4772520"/>
            <a:ext cx="3641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labs/s20-aws-s3-boto3/README.md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5114880" y="3695400"/>
            <a:ext cx="5496120" cy="381600"/>
          </a:xfrm>
          <a:custGeom>
            <a:avLst/>
            <a:gdLst/>
            <a:ahLst/>
            <a:rect l="0" t="0" r="r" b="b"/>
            <a:pathLst>
              <a:path w="15267" h="1060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5161" y="0"/>
                </a:lnTo>
                <a:cubicBezTo>
                  <a:pt x="15175" y="0"/>
                  <a:pt x="15189" y="3"/>
                  <a:pt x="15202" y="8"/>
                </a:cubicBezTo>
                <a:cubicBezTo>
                  <a:pt x="15215" y="14"/>
                  <a:pt x="15226" y="21"/>
                  <a:pt x="15236" y="31"/>
                </a:cubicBezTo>
                <a:cubicBezTo>
                  <a:pt x="15246" y="41"/>
                  <a:pt x="15254" y="53"/>
                  <a:pt x="15259" y="66"/>
                </a:cubicBezTo>
                <a:cubicBezTo>
                  <a:pt x="15264" y="79"/>
                  <a:pt x="15267" y="92"/>
                  <a:pt x="15267" y="106"/>
                </a:cubicBezTo>
                <a:lnTo>
                  <a:pt x="15267" y="954"/>
                </a:lnTo>
                <a:cubicBezTo>
                  <a:pt x="15267" y="968"/>
                  <a:pt x="15264" y="981"/>
                  <a:pt x="15259" y="994"/>
                </a:cubicBezTo>
                <a:cubicBezTo>
                  <a:pt x="15254" y="1007"/>
                  <a:pt x="15246" y="1019"/>
                  <a:pt x="15236" y="1029"/>
                </a:cubicBezTo>
                <a:cubicBezTo>
                  <a:pt x="15226" y="1039"/>
                  <a:pt x="15215" y="1046"/>
                  <a:pt x="15202" y="1052"/>
                </a:cubicBezTo>
                <a:cubicBezTo>
                  <a:pt x="15189" y="1057"/>
                  <a:pt x="15175" y="1060"/>
                  <a:pt x="15161" y="1060"/>
                </a:cubicBezTo>
                <a:lnTo>
                  <a:pt x="105" y="1060"/>
                </a:lnTo>
                <a:cubicBezTo>
                  <a:pt x="91" y="1060"/>
                  <a:pt x="78" y="1057"/>
                  <a:pt x="65" y="1052"/>
                </a:cubicBezTo>
                <a:cubicBezTo>
                  <a:pt x="52" y="1046"/>
                  <a:pt x="41" y="1039"/>
                  <a:pt x="31" y="1029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2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1583640" y="3692160"/>
            <a:ext cx="3616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D9822B"/>
                </a:solidFill>
                <a:effectLst/>
                <a:uFillTx/>
                <a:latin typeface="HelveticaNeue"/>
                <a:ea typeface="HelveticaNeue"/>
              </a:rPr>
              <a:t>Material complementario: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175000" y="3700080"/>
            <a:ext cx="547272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recursos/s20-aws-s3-boto3.md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20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LibreOffice/26.2.5.2$MacOSX_X86_64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cp:revision>0</cp:revision>
  <dc:subject/>
  <dc:title/>
</cp:coreProperties>
</file>