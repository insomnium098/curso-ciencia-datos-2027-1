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0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21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8130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Amazon EC2: Cómputo en la Nube para Ciencia de Datos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3598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IV — Cómputo en la nube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6415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Decidir si tu problema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necesita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EC2, o si hay algo más simple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69760" y="3668400"/>
            <a:ext cx="5683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Elegir el tipo de instancia según tu cuello de botella real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869760" y="4068720"/>
            <a:ext cx="6178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Dar acceso a S3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sin guardar una sola llave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la máquina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69760" y="4468680"/>
            <a:ext cx="6517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Usar instancias </a:t>
            </a:r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spot 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y apagado automático sin llevarte un susto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rma libre 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orma libre 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Forma libre 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Forma libre 30"/>
          <p:cNvSpPr/>
          <p:nvPr/>
        </p:nvSpPr>
        <p:spPr>
          <a:xfrm>
            <a:off x="666720" y="491472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666720" y="491472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66720" y="13870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869760" y="2058840"/>
            <a:ext cx="2994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¿De verdad necesitas EC2?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869760" y="2458800"/>
            <a:ext cx="1944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Elegir la instancia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869760" y="2859120"/>
            <a:ext cx="2008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Lanzar y asegurar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869760" y="3259080"/>
            <a:ext cx="3938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Redes: el puerto 22 y sus alternativas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869760" y="3659040"/>
            <a:ext cx="2190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El patrón de trabajo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869760" y="4059000"/>
            <a:ext cx="2503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Costos: spot, y apagar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869760" y="4459320"/>
            <a:ext cx="1857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Más allá de EC2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905040" y="5068800"/>
            <a:ext cx="8537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correr tu pipeline containerizado en la nube, leyendo y escribiendo en S3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orma libre 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Forma libre 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Forma libre 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682360" y="3063960"/>
            <a:ext cx="69865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¿De verdad necesitas EC2?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rma libre 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Forma libre 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Forma libre 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Forma libre 54"/>
          <p:cNvSpPr/>
          <p:nvPr/>
        </p:nvSpPr>
        <p:spPr>
          <a:xfrm>
            <a:off x="676080" y="2333520"/>
            <a:ext cx="4162680" cy="409680"/>
          </a:xfrm>
          <a:custGeom>
            <a:avLst/>
            <a:gdLst/>
            <a:ahLst/>
            <a:cxnLst/>
            <a:rect l="0" t="0" r="r" b="b"/>
            <a:pathLst>
              <a:path w="11563" h="1138">
                <a:moveTo>
                  <a:pt x="0" y="0"/>
                </a:moveTo>
                <a:lnTo>
                  <a:pt x="11563" y="0"/>
                </a:lnTo>
                <a:lnTo>
                  <a:pt x="1156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Forma libre 55"/>
          <p:cNvSpPr/>
          <p:nvPr/>
        </p:nvSpPr>
        <p:spPr>
          <a:xfrm>
            <a:off x="4838400" y="2333520"/>
            <a:ext cx="2181600" cy="409680"/>
          </a:xfrm>
          <a:custGeom>
            <a:avLst/>
            <a:gdLst/>
            <a:ahLst/>
            <a:cxnLst/>
            <a:rect l="0" t="0" r="r" b="b"/>
            <a:pathLst>
              <a:path w="6060" h="1138">
                <a:moveTo>
                  <a:pt x="0" y="0"/>
                </a:moveTo>
                <a:lnTo>
                  <a:pt x="6060" y="0"/>
                </a:lnTo>
                <a:lnTo>
                  <a:pt x="606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Forma libre 56"/>
          <p:cNvSpPr/>
          <p:nvPr/>
        </p:nvSpPr>
        <p:spPr>
          <a:xfrm>
            <a:off x="676080" y="2333520"/>
            <a:ext cx="4162680" cy="409680"/>
          </a:xfrm>
          <a:custGeom>
            <a:avLst/>
            <a:gdLst/>
            <a:ahLst/>
            <a:cxnLst/>
            <a:rect l="0" t="0" r="r" b="b"/>
            <a:pathLst>
              <a:path w="11563" h="1138">
                <a:moveTo>
                  <a:pt x="0" y="0"/>
                </a:moveTo>
                <a:lnTo>
                  <a:pt x="11563" y="0"/>
                </a:lnTo>
                <a:lnTo>
                  <a:pt x="1156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Forma libre 57"/>
          <p:cNvSpPr/>
          <p:nvPr/>
        </p:nvSpPr>
        <p:spPr>
          <a:xfrm>
            <a:off x="4838400" y="2333520"/>
            <a:ext cx="2181600" cy="409680"/>
          </a:xfrm>
          <a:custGeom>
            <a:avLst/>
            <a:gdLst/>
            <a:ahLst/>
            <a:cxnLst/>
            <a:rect l="0" t="0" r="r" b="b"/>
            <a:pathLst>
              <a:path w="6060" h="1138">
                <a:moveTo>
                  <a:pt x="0" y="0"/>
                </a:moveTo>
                <a:lnTo>
                  <a:pt x="6060" y="0"/>
                </a:lnTo>
                <a:lnTo>
                  <a:pt x="606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orma libre 58"/>
          <p:cNvSpPr/>
          <p:nvPr/>
        </p:nvSpPr>
        <p:spPr>
          <a:xfrm>
            <a:off x="676080" y="2742840"/>
            <a:ext cx="4162680" cy="419760"/>
          </a:xfrm>
          <a:custGeom>
            <a:avLst/>
            <a:gdLst/>
            <a:ahLst/>
            <a:cxnLst/>
            <a:rect l="0" t="0" r="r" b="b"/>
            <a:pathLst>
              <a:path w="11563" h="1166">
                <a:moveTo>
                  <a:pt x="0" y="0"/>
                </a:moveTo>
                <a:lnTo>
                  <a:pt x="11563" y="0"/>
                </a:lnTo>
                <a:lnTo>
                  <a:pt x="11563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Forma libre 59"/>
          <p:cNvSpPr/>
          <p:nvPr/>
        </p:nvSpPr>
        <p:spPr>
          <a:xfrm>
            <a:off x="4838400" y="2742840"/>
            <a:ext cx="2181600" cy="419760"/>
          </a:xfrm>
          <a:custGeom>
            <a:avLst/>
            <a:gdLst/>
            <a:ahLst/>
            <a:cxnLst/>
            <a:rect l="0" t="0" r="r" b="b"/>
            <a:pathLst>
              <a:path w="6060" h="1166">
                <a:moveTo>
                  <a:pt x="0" y="0"/>
                </a:moveTo>
                <a:lnTo>
                  <a:pt x="6060" y="0"/>
                </a:lnTo>
                <a:lnTo>
                  <a:pt x="6060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Forma libre 60"/>
          <p:cNvSpPr/>
          <p:nvPr/>
        </p:nvSpPr>
        <p:spPr>
          <a:xfrm>
            <a:off x="676080" y="3162240"/>
            <a:ext cx="4162680" cy="419400"/>
          </a:xfrm>
          <a:custGeom>
            <a:avLst/>
            <a:gdLst/>
            <a:ahLst/>
            <a:cxnLst/>
            <a:rect l="0" t="0" r="r" b="b"/>
            <a:pathLst>
              <a:path w="11563" h="1165">
                <a:moveTo>
                  <a:pt x="0" y="0"/>
                </a:moveTo>
                <a:lnTo>
                  <a:pt x="11563" y="0"/>
                </a:lnTo>
                <a:lnTo>
                  <a:pt x="1156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Forma libre 61"/>
          <p:cNvSpPr/>
          <p:nvPr/>
        </p:nvSpPr>
        <p:spPr>
          <a:xfrm>
            <a:off x="4838400" y="3162240"/>
            <a:ext cx="2181600" cy="419400"/>
          </a:xfrm>
          <a:custGeom>
            <a:avLst/>
            <a:gdLst/>
            <a:ahLst/>
            <a:cxnLst/>
            <a:rect l="0" t="0" r="r" b="b"/>
            <a:pathLst>
              <a:path w="6060" h="1165">
                <a:moveTo>
                  <a:pt x="0" y="0"/>
                </a:moveTo>
                <a:lnTo>
                  <a:pt x="6060" y="0"/>
                </a:lnTo>
                <a:lnTo>
                  <a:pt x="606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Forma libre 62"/>
          <p:cNvSpPr/>
          <p:nvPr/>
        </p:nvSpPr>
        <p:spPr>
          <a:xfrm>
            <a:off x="676080" y="3581280"/>
            <a:ext cx="4162680" cy="419400"/>
          </a:xfrm>
          <a:custGeom>
            <a:avLst/>
            <a:gdLst/>
            <a:ahLst/>
            <a:cxnLst/>
            <a:rect l="0" t="0" r="r" b="b"/>
            <a:pathLst>
              <a:path w="11563" h="1165">
                <a:moveTo>
                  <a:pt x="0" y="0"/>
                </a:moveTo>
                <a:lnTo>
                  <a:pt x="11563" y="0"/>
                </a:lnTo>
                <a:lnTo>
                  <a:pt x="1156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Forma libre 63"/>
          <p:cNvSpPr/>
          <p:nvPr/>
        </p:nvSpPr>
        <p:spPr>
          <a:xfrm>
            <a:off x="4838400" y="3581280"/>
            <a:ext cx="2181600" cy="419400"/>
          </a:xfrm>
          <a:custGeom>
            <a:avLst/>
            <a:gdLst/>
            <a:ahLst/>
            <a:cxnLst/>
            <a:rect l="0" t="0" r="r" b="b"/>
            <a:pathLst>
              <a:path w="6060" h="1165">
                <a:moveTo>
                  <a:pt x="0" y="0"/>
                </a:moveTo>
                <a:lnTo>
                  <a:pt x="6060" y="0"/>
                </a:lnTo>
                <a:lnTo>
                  <a:pt x="606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Forma libre 64"/>
          <p:cNvSpPr/>
          <p:nvPr/>
        </p:nvSpPr>
        <p:spPr>
          <a:xfrm>
            <a:off x="676080" y="4000320"/>
            <a:ext cx="4162680" cy="419400"/>
          </a:xfrm>
          <a:custGeom>
            <a:avLst/>
            <a:gdLst/>
            <a:ahLst/>
            <a:cxnLst/>
            <a:rect l="0" t="0" r="r" b="b"/>
            <a:pathLst>
              <a:path w="11563" h="1165">
                <a:moveTo>
                  <a:pt x="0" y="0"/>
                </a:moveTo>
                <a:lnTo>
                  <a:pt x="11563" y="0"/>
                </a:lnTo>
                <a:lnTo>
                  <a:pt x="1156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orma libre 65"/>
          <p:cNvSpPr/>
          <p:nvPr/>
        </p:nvSpPr>
        <p:spPr>
          <a:xfrm>
            <a:off x="4838400" y="4000320"/>
            <a:ext cx="2181600" cy="419400"/>
          </a:xfrm>
          <a:custGeom>
            <a:avLst/>
            <a:gdLst/>
            <a:ahLst/>
            <a:cxnLst/>
            <a:rect l="0" t="0" r="r" b="b"/>
            <a:pathLst>
              <a:path w="6060" h="1165">
                <a:moveTo>
                  <a:pt x="0" y="0"/>
                </a:moveTo>
                <a:lnTo>
                  <a:pt x="6060" y="0"/>
                </a:lnTo>
                <a:lnTo>
                  <a:pt x="606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Forma libre 66"/>
          <p:cNvSpPr/>
          <p:nvPr/>
        </p:nvSpPr>
        <p:spPr>
          <a:xfrm>
            <a:off x="676080" y="4419360"/>
            <a:ext cx="4162680" cy="419400"/>
          </a:xfrm>
          <a:custGeom>
            <a:avLst/>
            <a:gdLst/>
            <a:ahLst/>
            <a:cxnLst/>
            <a:rect l="0" t="0" r="r" b="b"/>
            <a:pathLst>
              <a:path w="11563" h="1165">
                <a:moveTo>
                  <a:pt x="0" y="0"/>
                </a:moveTo>
                <a:lnTo>
                  <a:pt x="11563" y="0"/>
                </a:lnTo>
                <a:lnTo>
                  <a:pt x="1156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Forma libre 67"/>
          <p:cNvSpPr/>
          <p:nvPr/>
        </p:nvSpPr>
        <p:spPr>
          <a:xfrm>
            <a:off x="4838400" y="4419360"/>
            <a:ext cx="2181600" cy="419400"/>
          </a:xfrm>
          <a:custGeom>
            <a:avLst/>
            <a:gdLst/>
            <a:ahLst/>
            <a:cxnLst/>
            <a:rect l="0" t="0" r="r" b="b"/>
            <a:pathLst>
              <a:path w="6060" h="1165">
                <a:moveTo>
                  <a:pt x="0" y="0"/>
                </a:moveTo>
                <a:lnTo>
                  <a:pt x="6060" y="0"/>
                </a:lnTo>
                <a:lnTo>
                  <a:pt x="606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Forma libre 68"/>
          <p:cNvSpPr/>
          <p:nvPr/>
        </p:nvSpPr>
        <p:spPr>
          <a:xfrm>
            <a:off x="666720" y="23238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Forma libre 69"/>
          <p:cNvSpPr/>
          <p:nvPr/>
        </p:nvSpPr>
        <p:spPr>
          <a:xfrm>
            <a:off x="666720" y="2323800"/>
            <a:ext cx="4181760" cy="10080"/>
          </a:xfrm>
          <a:custGeom>
            <a:avLst/>
            <a:gdLst/>
            <a:ahLst/>
            <a:cxnLst/>
            <a:rect l="0" t="0" r="r" b="b"/>
            <a:pathLst>
              <a:path w="11616" h="28">
                <a:moveTo>
                  <a:pt x="0" y="0"/>
                </a:moveTo>
                <a:lnTo>
                  <a:pt x="11616" y="0"/>
                </a:lnTo>
                <a:lnTo>
                  <a:pt x="116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Forma libre 70"/>
          <p:cNvSpPr/>
          <p:nvPr/>
        </p:nvSpPr>
        <p:spPr>
          <a:xfrm>
            <a:off x="4838400" y="23238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Forma libre 71"/>
          <p:cNvSpPr/>
          <p:nvPr/>
        </p:nvSpPr>
        <p:spPr>
          <a:xfrm>
            <a:off x="4848120" y="2323800"/>
            <a:ext cx="2181600" cy="10080"/>
          </a:xfrm>
          <a:custGeom>
            <a:avLst/>
            <a:gdLst/>
            <a:ahLst/>
            <a:cxnLst/>
            <a:rect l="0" t="0" r="r" b="b"/>
            <a:pathLst>
              <a:path w="6060" h="28">
                <a:moveTo>
                  <a:pt x="0" y="0"/>
                </a:moveTo>
                <a:lnTo>
                  <a:pt x="6060" y="0"/>
                </a:lnTo>
                <a:lnTo>
                  <a:pt x="60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Forma libre 72"/>
          <p:cNvSpPr/>
          <p:nvPr/>
        </p:nvSpPr>
        <p:spPr>
          <a:xfrm>
            <a:off x="7019640" y="23238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Forma libre 73"/>
          <p:cNvSpPr/>
          <p:nvPr/>
        </p:nvSpPr>
        <p:spPr>
          <a:xfrm>
            <a:off x="666720" y="2733480"/>
            <a:ext cx="4181760" cy="9720"/>
          </a:xfrm>
          <a:custGeom>
            <a:avLst/>
            <a:gdLst/>
            <a:ahLst/>
            <a:cxnLst/>
            <a:rect l="0" t="0" r="r" b="b"/>
            <a:pathLst>
              <a:path w="11616" h="27">
                <a:moveTo>
                  <a:pt x="0" y="0"/>
                </a:moveTo>
                <a:lnTo>
                  <a:pt x="11616" y="0"/>
                </a:lnTo>
                <a:lnTo>
                  <a:pt x="116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Forma libre 74"/>
          <p:cNvSpPr/>
          <p:nvPr/>
        </p:nvSpPr>
        <p:spPr>
          <a:xfrm>
            <a:off x="4848120" y="2733480"/>
            <a:ext cx="2181600" cy="9720"/>
          </a:xfrm>
          <a:custGeom>
            <a:avLst/>
            <a:gdLst/>
            <a:ahLst/>
            <a:cxn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Forma libre 75"/>
          <p:cNvSpPr/>
          <p:nvPr/>
        </p:nvSpPr>
        <p:spPr>
          <a:xfrm>
            <a:off x="666720" y="27428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Forma libre 76"/>
          <p:cNvSpPr/>
          <p:nvPr/>
        </p:nvSpPr>
        <p:spPr>
          <a:xfrm>
            <a:off x="4838400" y="274284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Forma libre 77"/>
          <p:cNvSpPr/>
          <p:nvPr/>
        </p:nvSpPr>
        <p:spPr>
          <a:xfrm>
            <a:off x="7019640" y="274284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Forma libre 78"/>
          <p:cNvSpPr/>
          <p:nvPr/>
        </p:nvSpPr>
        <p:spPr>
          <a:xfrm>
            <a:off x="666720" y="31622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orma libre 79"/>
          <p:cNvSpPr/>
          <p:nvPr/>
        </p:nvSpPr>
        <p:spPr>
          <a:xfrm>
            <a:off x="666720" y="3152520"/>
            <a:ext cx="4181760" cy="10080"/>
          </a:xfrm>
          <a:custGeom>
            <a:avLst/>
            <a:gdLst/>
            <a:ahLst/>
            <a:cxnLst/>
            <a:rect l="0" t="0" r="r" b="b"/>
            <a:pathLst>
              <a:path w="11616" h="28">
                <a:moveTo>
                  <a:pt x="0" y="0"/>
                </a:moveTo>
                <a:lnTo>
                  <a:pt x="11616" y="0"/>
                </a:lnTo>
                <a:lnTo>
                  <a:pt x="116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Forma libre 80"/>
          <p:cNvSpPr/>
          <p:nvPr/>
        </p:nvSpPr>
        <p:spPr>
          <a:xfrm>
            <a:off x="4838400" y="31622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Forma libre 81"/>
          <p:cNvSpPr/>
          <p:nvPr/>
        </p:nvSpPr>
        <p:spPr>
          <a:xfrm>
            <a:off x="4848120" y="3152520"/>
            <a:ext cx="2181600" cy="10080"/>
          </a:xfrm>
          <a:custGeom>
            <a:avLst/>
            <a:gdLst/>
            <a:ahLst/>
            <a:cxnLst/>
            <a:rect l="0" t="0" r="r" b="b"/>
            <a:pathLst>
              <a:path w="6060" h="28">
                <a:moveTo>
                  <a:pt x="0" y="0"/>
                </a:moveTo>
                <a:lnTo>
                  <a:pt x="6060" y="0"/>
                </a:lnTo>
                <a:lnTo>
                  <a:pt x="60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Forma libre 82"/>
          <p:cNvSpPr/>
          <p:nvPr/>
        </p:nvSpPr>
        <p:spPr>
          <a:xfrm>
            <a:off x="7019640" y="31622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Forma libre 83"/>
          <p:cNvSpPr/>
          <p:nvPr/>
        </p:nvSpPr>
        <p:spPr>
          <a:xfrm>
            <a:off x="666720" y="35812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Forma libre 84"/>
          <p:cNvSpPr/>
          <p:nvPr/>
        </p:nvSpPr>
        <p:spPr>
          <a:xfrm>
            <a:off x="666720" y="3571560"/>
            <a:ext cx="4181760" cy="10080"/>
          </a:xfrm>
          <a:custGeom>
            <a:avLst/>
            <a:gdLst/>
            <a:ahLst/>
            <a:cxnLst/>
            <a:rect l="0" t="0" r="r" b="b"/>
            <a:pathLst>
              <a:path w="11616" h="28">
                <a:moveTo>
                  <a:pt x="0" y="0"/>
                </a:moveTo>
                <a:lnTo>
                  <a:pt x="11616" y="0"/>
                </a:lnTo>
                <a:lnTo>
                  <a:pt x="116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Forma libre 85"/>
          <p:cNvSpPr/>
          <p:nvPr/>
        </p:nvSpPr>
        <p:spPr>
          <a:xfrm>
            <a:off x="4838400" y="35812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orma libre 86"/>
          <p:cNvSpPr/>
          <p:nvPr/>
        </p:nvSpPr>
        <p:spPr>
          <a:xfrm>
            <a:off x="4848120" y="3571560"/>
            <a:ext cx="2181600" cy="10080"/>
          </a:xfrm>
          <a:custGeom>
            <a:avLst/>
            <a:gdLst/>
            <a:ahLst/>
            <a:cxnLst/>
            <a:rect l="0" t="0" r="r" b="b"/>
            <a:pathLst>
              <a:path w="6060" h="28">
                <a:moveTo>
                  <a:pt x="0" y="0"/>
                </a:moveTo>
                <a:lnTo>
                  <a:pt x="6060" y="0"/>
                </a:lnTo>
                <a:lnTo>
                  <a:pt x="60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orma libre 87"/>
          <p:cNvSpPr/>
          <p:nvPr/>
        </p:nvSpPr>
        <p:spPr>
          <a:xfrm>
            <a:off x="7019640" y="35812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orma libre 88"/>
          <p:cNvSpPr/>
          <p:nvPr/>
        </p:nvSpPr>
        <p:spPr>
          <a:xfrm>
            <a:off x="666720" y="4000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rma libre 89"/>
          <p:cNvSpPr/>
          <p:nvPr/>
        </p:nvSpPr>
        <p:spPr>
          <a:xfrm>
            <a:off x="666720" y="3990960"/>
            <a:ext cx="4181760" cy="9720"/>
          </a:xfrm>
          <a:custGeom>
            <a:avLst/>
            <a:gdLst/>
            <a:ahLst/>
            <a:cxnLst/>
            <a:rect l="0" t="0" r="r" b="b"/>
            <a:pathLst>
              <a:path w="11616" h="27">
                <a:moveTo>
                  <a:pt x="0" y="0"/>
                </a:moveTo>
                <a:lnTo>
                  <a:pt x="11616" y="0"/>
                </a:lnTo>
                <a:lnTo>
                  <a:pt x="116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orma libre 90"/>
          <p:cNvSpPr/>
          <p:nvPr/>
        </p:nvSpPr>
        <p:spPr>
          <a:xfrm>
            <a:off x="4838400" y="40003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Forma libre 91"/>
          <p:cNvSpPr/>
          <p:nvPr/>
        </p:nvSpPr>
        <p:spPr>
          <a:xfrm>
            <a:off x="4848120" y="3990960"/>
            <a:ext cx="2181600" cy="9720"/>
          </a:xfrm>
          <a:custGeom>
            <a:avLst/>
            <a:gdLst/>
            <a:ahLst/>
            <a:cxn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Forma libre 92"/>
          <p:cNvSpPr/>
          <p:nvPr/>
        </p:nvSpPr>
        <p:spPr>
          <a:xfrm>
            <a:off x="7019640" y="40003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Forma libre 93"/>
          <p:cNvSpPr/>
          <p:nvPr/>
        </p:nvSpPr>
        <p:spPr>
          <a:xfrm>
            <a:off x="666720" y="4419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Forma libre 94"/>
          <p:cNvSpPr/>
          <p:nvPr/>
        </p:nvSpPr>
        <p:spPr>
          <a:xfrm>
            <a:off x="666720" y="4410000"/>
            <a:ext cx="4181760" cy="9720"/>
          </a:xfrm>
          <a:custGeom>
            <a:avLst/>
            <a:gdLst/>
            <a:ahLst/>
            <a:cxnLst/>
            <a:rect l="0" t="0" r="r" b="b"/>
            <a:pathLst>
              <a:path w="11616" h="27">
                <a:moveTo>
                  <a:pt x="0" y="0"/>
                </a:moveTo>
                <a:lnTo>
                  <a:pt x="11616" y="0"/>
                </a:lnTo>
                <a:lnTo>
                  <a:pt x="116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Forma libre 95"/>
          <p:cNvSpPr/>
          <p:nvPr/>
        </p:nvSpPr>
        <p:spPr>
          <a:xfrm>
            <a:off x="4838400" y="44193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orma libre 96"/>
          <p:cNvSpPr/>
          <p:nvPr/>
        </p:nvSpPr>
        <p:spPr>
          <a:xfrm>
            <a:off x="4848120" y="4410000"/>
            <a:ext cx="2181600" cy="9720"/>
          </a:xfrm>
          <a:custGeom>
            <a:avLst/>
            <a:gdLst/>
            <a:ahLst/>
            <a:cxn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Forma libre 97"/>
          <p:cNvSpPr/>
          <p:nvPr/>
        </p:nvSpPr>
        <p:spPr>
          <a:xfrm>
            <a:off x="7019640" y="44193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orma libre 98"/>
          <p:cNvSpPr/>
          <p:nvPr/>
        </p:nvSpPr>
        <p:spPr>
          <a:xfrm>
            <a:off x="666720" y="4829040"/>
            <a:ext cx="4181760" cy="9720"/>
          </a:xfrm>
          <a:custGeom>
            <a:avLst/>
            <a:gdLst/>
            <a:ahLst/>
            <a:cxnLst/>
            <a:rect l="0" t="0" r="r" b="b"/>
            <a:pathLst>
              <a:path w="11616" h="27">
                <a:moveTo>
                  <a:pt x="0" y="0"/>
                </a:moveTo>
                <a:lnTo>
                  <a:pt x="11616" y="0"/>
                </a:lnTo>
                <a:lnTo>
                  <a:pt x="116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Forma libre 99"/>
          <p:cNvSpPr/>
          <p:nvPr/>
        </p:nvSpPr>
        <p:spPr>
          <a:xfrm>
            <a:off x="4848120" y="4829040"/>
            <a:ext cx="2181600" cy="9720"/>
          </a:xfrm>
          <a:custGeom>
            <a:avLst/>
            <a:gdLst/>
            <a:ahLst/>
            <a:cxn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CuadroTexto 100"/>
          <p:cNvSpPr txBox="1"/>
          <p:nvPr/>
        </p:nvSpPr>
        <p:spPr>
          <a:xfrm>
            <a:off x="666720" y="1196640"/>
            <a:ext cx="39697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Pregunta antes de encender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CuadroTexto 104"/>
          <p:cNvSpPr txBox="1"/>
          <p:nvPr/>
        </p:nvSpPr>
        <p:spPr>
          <a:xfrm>
            <a:off x="1868040" y="2428560"/>
            <a:ext cx="1778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Si tu problema es…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CuadroTexto 105"/>
          <p:cNvSpPr txBox="1"/>
          <p:nvPr/>
        </p:nvSpPr>
        <p:spPr>
          <a:xfrm>
            <a:off x="4967280" y="2428560"/>
            <a:ext cx="1926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Antes de EC2, mira…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CuadroTexto 106"/>
          <p:cNvSpPr txBox="1"/>
          <p:nvPr/>
        </p:nvSpPr>
        <p:spPr>
          <a:xfrm>
            <a:off x="799920" y="2838240"/>
            <a:ext cx="3910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función corta que se dispara con un evento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CuadroTexto 107"/>
          <p:cNvSpPr txBox="1"/>
          <p:nvPr/>
        </p:nvSpPr>
        <p:spPr>
          <a:xfrm>
            <a:off x="4967280" y="2838240"/>
            <a:ext cx="737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Lambda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CuadroTexto 108"/>
          <p:cNvSpPr txBox="1"/>
          <p:nvPr/>
        </p:nvSpPr>
        <p:spPr>
          <a:xfrm>
            <a:off x="799920" y="3257280"/>
            <a:ext cx="3296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miles de trabajos independientes en lote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CuadroTexto 109"/>
          <p:cNvSpPr txBox="1"/>
          <p:nvPr/>
        </p:nvSpPr>
        <p:spPr>
          <a:xfrm>
            <a:off x="4967280" y="3257280"/>
            <a:ext cx="1020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AWS Batch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CuadroTexto 110"/>
          <p:cNvSpPr txBox="1"/>
          <p:nvPr/>
        </p:nvSpPr>
        <p:spPr>
          <a:xfrm>
            <a:off x="799920" y="3676320"/>
            <a:ext cx="2604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entrenar y desplegar un modelo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CuadroTexto 111"/>
          <p:cNvSpPr txBox="1"/>
          <p:nvPr/>
        </p:nvSpPr>
        <p:spPr>
          <a:xfrm>
            <a:off x="4967280" y="3676320"/>
            <a:ext cx="1034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SageMaker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CuadroTexto 112"/>
          <p:cNvSpPr txBox="1"/>
          <p:nvPr/>
        </p:nvSpPr>
        <p:spPr>
          <a:xfrm>
            <a:off x="799920" y="4095360"/>
            <a:ext cx="3116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pipeline genómico (Nextﬂow, WDL)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CuadroTexto 113"/>
          <p:cNvSpPr txBox="1"/>
          <p:nvPr/>
        </p:nvSpPr>
        <p:spPr>
          <a:xfrm>
            <a:off x="4967280" y="4095360"/>
            <a:ext cx="1171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HealthOmics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CuadroTexto 114"/>
          <p:cNvSpPr txBox="1"/>
          <p:nvPr/>
        </p:nvSpPr>
        <p:spPr>
          <a:xfrm>
            <a:off x="799920" y="4514400"/>
            <a:ext cx="2841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contenedor que corre y termina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CuadroTexto 115"/>
          <p:cNvSpPr txBox="1"/>
          <p:nvPr/>
        </p:nvSpPr>
        <p:spPr>
          <a:xfrm>
            <a:off x="4967280" y="4514400"/>
            <a:ext cx="699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Fargate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CuadroTexto 116"/>
          <p:cNvSpPr txBox="1"/>
          <p:nvPr/>
        </p:nvSpPr>
        <p:spPr>
          <a:xfrm>
            <a:off x="666720" y="5030640"/>
            <a:ext cx="10708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EC2 es una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máquina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potente, ﬂexible, y enteramente tu responsabilidad — parches, seguridad, y acordarte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CuadroTexto 117"/>
          <p:cNvSpPr txBox="1"/>
          <p:nvPr/>
        </p:nvSpPr>
        <p:spPr>
          <a:xfrm>
            <a:off x="666720" y="5373720"/>
            <a:ext cx="1224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 apagarla.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CuadroTexto 11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CuadroTexto 11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CuadroTexto 12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Forma libre 1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Forma libre 124"/>
          <p:cNvSpPr/>
          <p:nvPr/>
        </p:nvSpPr>
        <p:spPr>
          <a:xfrm>
            <a:off x="671400" y="255744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1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1"/>
                </a:lnTo>
                <a:cubicBezTo>
                  <a:pt x="30137" y="2884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59"/>
                  <a:pt x="30111" y="2971"/>
                  <a:pt x="30103" y="2982"/>
                </a:cubicBezTo>
                <a:cubicBezTo>
                  <a:pt x="30096" y="2992"/>
                  <a:pt x="30088" y="3002"/>
                  <a:pt x="30079" y="3012"/>
                </a:cubicBezTo>
                <a:cubicBezTo>
                  <a:pt x="30070" y="3021"/>
                  <a:pt x="30059" y="3029"/>
                  <a:pt x="30049" y="3036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3"/>
                  <a:pt x="29977" y="3066"/>
                </a:cubicBezTo>
                <a:cubicBezTo>
                  <a:pt x="29964" y="3068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8"/>
                  <a:pt x="160" y="3066"/>
                </a:cubicBezTo>
                <a:cubicBezTo>
                  <a:pt x="147" y="3063"/>
                  <a:pt x="134" y="3060"/>
                  <a:pt x="122" y="3055"/>
                </a:cubicBezTo>
                <a:cubicBezTo>
                  <a:pt x="110" y="3050"/>
                  <a:pt x="99" y="3044"/>
                  <a:pt x="88" y="3036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2"/>
                  <a:pt x="40" y="2992"/>
                  <a:pt x="33" y="2982"/>
                </a:cubicBezTo>
                <a:cubicBezTo>
                  <a:pt x="26" y="2971"/>
                  <a:pt x="20" y="2959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4"/>
                  <a:pt x="0" y="2871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Forma libre 125"/>
          <p:cNvSpPr/>
          <p:nvPr/>
        </p:nvSpPr>
        <p:spPr>
          <a:xfrm>
            <a:off x="671400" y="255744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1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1"/>
                </a:lnTo>
                <a:cubicBezTo>
                  <a:pt x="30137" y="2884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59"/>
                  <a:pt x="30111" y="2971"/>
                  <a:pt x="30103" y="2982"/>
                </a:cubicBezTo>
                <a:cubicBezTo>
                  <a:pt x="30096" y="2992"/>
                  <a:pt x="30088" y="3002"/>
                  <a:pt x="30079" y="3012"/>
                </a:cubicBezTo>
                <a:cubicBezTo>
                  <a:pt x="30070" y="3021"/>
                  <a:pt x="30059" y="3029"/>
                  <a:pt x="30049" y="3036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3"/>
                  <a:pt x="29977" y="3066"/>
                </a:cubicBezTo>
                <a:cubicBezTo>
                  <a:pt x="29964" y="3068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8"/>
                  <a:pt x="160" y="3066"/>
                </a:cubicBezTo>
                <a:cubicBezTo>
                  <a:pt x="147" y="3063"/>
                  <a:pt x="134" y="3060"/>
                  <a:pt x="122" y="3055"/>
                </a:cubicBezTo>
                <a:cubicBezTo>
                  <a:pt x="110" y="3050"/>
                  <a:pt x="99" y="3044"/>
                  <a:pt x="88" y="3036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2"/>
                  <a:pt x="40" y="2992"/>
                  <a:pt x="33" y="2982"/>
                </a:cubicBezTo>
                <a:cubicBezTo>
                  <a:pt x="26" y="2971"/>
                  <a:pt x="20" y="2959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4"/>
                  <a:pt x="0" y="287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CuadroTexto 126"/>
          <p:cNvSpPr txBox="1"/>
          <p:nvPr/>
        </p:nvSpPr>
        <p:spPr>
          <a:xfrm>
            <a:off x="666720" y="1910880"/>
            <a:ext cx="36259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Las tres señales de que sí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CuadroTexto 127"/>
          <p:cNvSpPr txBox="1"/>
          <p:nvPr/>
        </p:nvSpPr>
        <p:spPr>
          <a:xfrm>
            <a:off x="866880" y="2737080"/>
            <a:ext cx="8189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1.  No cabe en memoria          tu laptop tiene 16 GB; el join necesita 200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CuadroTexto 128"/>
          <p:cNvSpPr txBox="1"/>
          <p:nvPr/>
        </p:nvSpPr>
        <p:spPr>
          <a:xfrm>
            <a:off x="866880" y="3003840"/>
            <a:ext cx="8408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2.  Tarda demasiado             el trabajo corre 40 horas y cierras la laptop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Forma libre 129"/>
          <p:cNvSpPr/>
          <p:nvPr/>
        </p:nvSpPr>
        <p:spPr>
          <a:xfrm>
            <a:off x="914040" y="39718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CuadroTexto 130"/>
          <p:cNvSpPr txBox="1"/>
          <p:nvPr/>
        </p:nvSpPr>
        <p:spPr>
          <a:xfrm>
            <a:off x="866880" y="3260880"/>
            <a:ext cx="7534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3.  Tiene que estar disponible  tu API de la sesión 9, viva de verdad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Forma libre 131"/>
          <p:cNvSpPr/>
          <p:nvPr/>
        </p:nvSpPr>
        <p:spPr>
          <a:xfrm>
            <a:off x="5448240" y="387648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509" y="0"/>
                </a:lnTo>
                <a:cubicBezTo>
                  <a:pt x="1523" y="0"/>
                  <a:pt x="1536" y="3"/>
                  <a:pt x="1549" y="8"/>
                </a:cubicBezTo>
                <a:cubicBezTo>
                  <a:pt x="1562" y="13"/>
                  <a:pt x="1574" y="21"/>
                  <a:pt x="1584" y="31"/>
                </a:cubicBezTo>
                <a:cubicBezTo>
                  <a:pt x="1594" y="41"/>
                  <a:pt x="1601" y="52"/>
                  <a:pt x="1607" y="65"/>
                </a:cubicBezTo>
                <a:cubicBezTo>
                  <a:pt x="1612" y="78"/>
                  <a:pt x="1615" y="92"/>
                  <a:pt x="1615" y="106"/>
                </a:cubicBezTo>
                <a:lnTo>
                  <a:pt x="1615" y="635"/>
                </a:lnTo>
                <a:cubicBezTo>
                  <a:pt x="1615" y="649"/>
                  <a:pt x="1612" y="663"/>
                  <a:pt x="1607" y="676"/>
                </a:cubicBezTo>
                <a:cubicBezTo>
                  <a:pt x="1601" y="689"/>
                  <a:pt x="1594" y="700"/>
                  <a:pt x="1584" y="711"/>
                </a:cubicBezTo>
                <a:cubicBezTo>
                  <a:pt x="1574" y="721"/>
                  <a:pt x="1562" y="728"/>
                  <a:pt x="1549" y="734"/>
                </a:cubicBezTo>
                <a:cubicBezTo>
                  <a:pt x="1536" y="739"/>
                  <a:pt x="1523" y="742"/>
                  <a:pt x="1509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CuadroTexto 132"/>
          <p:cNvSpPr txBox="1"/>
          <p:nvPr/>
        </p:nvSpPr>
        <p:spPr>
          <a:xfrm>
            <a:off x="1123920" y="3859200"/>
            <a:ext cx="4323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1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la más común en datos clínicos: 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CuadroTexto 133"/>
          <p:cNvSpPr txBox="1"/>
          <p:nvPr/>
        </p:nvSpPr>
        <p:spPr>
          <a:xfrm>
            <a:off x="5581080" y="389628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JOIN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Forma libre 134"/>
          <p:cNvSpPr/>
          <p:nvPr/>
        </p:nvSpPr>
        <p:spPr>
          <a:xfrm>
            <a:off x="914040" y="43718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0"/>
                  <a:pt x="161" y="198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4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CuadroTexto 135"/>
          <p:cNvSpPr txBox="1"/>
          <p:nvPr/>
        </p:nvSpPr>
        <p:spPr>
          <a:xfrm>
            <a:off x="6030000" y="3859200"/>
            <a:ext cx="5491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sobre OMOP revienta la RAM mucho antes que la CPU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Forma libre 136"/>
          <p:cNvSpPr/>
          <p:nvPr/>
        </p:nvSpPr>
        <p:spPr>
          <a:xfrm>
            <a:off x="4733640" y="427644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509" y="0"/>
                </a:lnTo>
                <a:cubicBezTo>
                  <a:pt x="1523" y="0"/>
                  <a:pt x="1537" y="3"/>
                  <a:pt x="1550" y="8"/>
                </a:cubicBezTo>
                <a:cubicBezTo>
                  <a:pt x="1563" y="14"/>
                  <a:pt x="1574" y="21"/>
                  <a:pt x="1584" y="31"/>
                </a:cubicBezTo>
                <a:cubicBezTo>
                  <a:pt x="1594" y="41"/>
                  <a:pt x="1602" y="53"/>
                  <a:pt x="1607" y="66"/>
                </a:cubicBezTo>
                <a:cubicBezTo>
                  <a:pt x="1613" y="79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3" y="664"/>
                  <a:pt x="1607" y="677"/>
                </a:cubicBezTo>
                <a:cubicBezTo>
                  <a:pt x="1602" y="690"/>
                  <a:pt x="1594" y="701"/>
                  <a:pt x="1584" y="711"/>
                </a:cubicBezTo>
                <a:cubicBezTo>
                  <a:pt x="1574" y="721"/>
                  <a:pt x="1563" y="729"/>
                  <a:pt x="1550" y="734"/>
                </a:cubicBezTo>
                <a:cubicBezTo>
                  <a:pt x="1537" y="739"/>
                  <a:pt x="1523" y="742"/>
                  <a:pt x="1509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CuadroTexto 137"/>
          <p:cNvSpPr txBox="1"/>
          <p:nvPr/>
        </p:nvSpPr>
        <p:spPr>
          <a:xfrm>
            <a:off x="1123920" y="4259160"/>
            <a:ext cx="3617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se resuelve con una instancia 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CuadroTexto 138"/>
          <p:cNvSpPr txBox="1"/>
          <p:nvPr/>
        </p:nvSpPr>
        <p:spPr>
          <a:xfrm>
            <a:off x="4846500" y="4276359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tmux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Forma libre 139"/>
          <p:cNvSpPr/>
          <p:nvPr/>
        </p:nvSpPr>
        <p:spPr>
          <a:xfrm>
            <a:off x="914040" y="47718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CuadroTexto 140"/>
          <p:cNvSpPr txBox="1"/>
          <p:nvPr/>
        </p:nvSpPr>
        <p:spPr>
          <a:xfrm>
            <a:off x="5319000" y="4259160"/>
            <a:ext cx="2994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no con dejar la laptop abierta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CuadroTexto 141"/>
          <p:cNvSpPr txBox="1"/>
          <p:nvPr/>
        </p:nvSpPr>
        <p:spPr>
          <a:xfrm>
            <a:off x="1123920" y="4659120"/>
            <a:ext cx="6382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la única que justiﬁca tener algo encendido todo el tiempo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CuadroTexto 14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CuadroTexto 14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CuadroTexto 14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Forma libre 1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Forma libre 1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Forma libre 1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CuadroTexto 148"/>
          <p:cNvSpPr txBox="1"/>
          <p:nvPr/>
        </p:nvSpPr>
        <p:spPr>
          <a:xfrm>
            <a:off x="3886920" y="3063960"/>
            <a:ext cx="45363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Elegir la instancia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CuadroTexto 15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CuadroTexto 151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Forma libre 1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Forma libre 1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Forma libre 1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Forma libre 155"/>
          <p:cNvSpPr/>
          <p:nvPr/>
        </p:nvSpPr>
        <p:spPr>
          <a:xfrm>
            <a:off x="671400" y="194760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3613"/>
                </a:lnTo>
                <a:cubicBezTo>
                  <a:pt x="30137" y="3626"/>
                  <a:pt x="30136" y="3639"/>
                  <a:pt x="30133" y="3652"/>
                </a:cubicBezTo>
                <a:cubicBezTo>
                  <a:pt x="30130" y="3664"/>
                  <a:pt x="30127" y="3677"/>
                  <a:pt x="30122" y="3689"/>
                </a:cubicBezTo>
                <a:cubicBezTo>
                  <a:pt x="30117" y="3701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1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1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1"/>
                  <a:pt x="15" y="3689"/>
                </a:cubicBezTo>
                <a:cubicBezTo>
                  <a:pt x="10" y="3677"/>
                  <a:pt x="6" y="3664"/>
                  <a:pt x="4" y="3652"/>
                </a:cubicBezTo>
                <a:cubicBezTo>
                  <a:pt x="1" y="3639"/>
                  <a:pt x="0" y="3626"/>
                  <a:pt x="0" y="361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Forma libre 156"/>
          <p:cNvSpPr/>
          <p:nvPr/>
        </p:nvSpPr>
        <p:spPr>
          <a:xfrm>
            <a:off x="671400" y="194760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3613"/>
                </a:lnTo>
                <a:cubicBezTo>
                  <a:pt x="30137" y="3626"/>
                  <a:pt x="30136" y="3639"/>
                  <a:pt x="30133" y="3652"/>
                </a:cubicBezTo>
                <a:cubicBezTo>
                  <a:pt x="30130" y="3664"/>
                  <a:pt x="30127" y="3677"/>
                  <a:pt x="30122" y="3689"/>
                </a:cubicBezTo>
                <a:cubicBezTo>
                  <a:pt x="30117" y="3701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1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1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1"/>
                  <a:pt x="15" y="3689"/>
                </a:cubicBezTo>
                <a:cubicBezTo>
                  <a:pt x="10" y="3677"/>
                  <a:pt x="6" y="3664"/>
                  <a:pt x="4" y="3652"/>
                </a:cubicBezTo>
                <a:cubicBezTo>
                  <a:pt x="1" y="3639"/>
                  <a:pt x="0" y="3626"/>
                  <a:pt x="0" y="361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Forma libre 157"/>
          <p:cNvSpPr/>
          <p:nvPr/>
        </p:nvSpPr>
        <p:spPr>
          <a:xfrm>
            <a:off x="676080" y="3476520"/>
            <a:ext cx="905400" cy="409680"/>
          </a:xfrm>
          <a:custGeom>
            <a:avLst/>
            <a:gdLst/>
            <a:ahLst/>
            <a:cxnLst/>
            <a:rect l="0" t="0" r="r" b="b"/>
            <a:pathLst>
              <a:path w="2515" h="1138">
                <a:moveTo>
                  <a:pt x="0" y="0"/>
                </a:moveTo>
                <a:lnTo>
                  <a:pt x="2515" y="0"/>
                </a:lnTo>
                <a:lnTo>
                  <a:pt x="251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Forma libre 158"/>
          <p:cNvSpPr/>
          <p:nvPr/>
        </p:nvSpPr>
        <p:spPr>
          <a:xfrm>
            <a:off x="1581120" y="3476520"/>
            <a:ext cx="1686240" cy="409680"/>
          </a:xfrm>
          <a:custGeom>
            <a:avLst/>
            <a:gdLst/>
            <a:ahLst/>
            <a:cxnLst/>
            <a:rect l="0" t="0" r="r" b="b"/>
            <a:pathLst>
              <a:path w="4684" h="1138">
                <a:moveTo>
                  <a:pt x="0" y="0"/>
                </a:moveTo>
                <a:lnTo>
                  <a:pt x="4684" y="0"/>
                </a:lnTo>
                <a:lnTo>
                  <a:pt x="468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Forma libre 159"/>
          <p:cNvSpPr/>
          <p:nvPr/>
        </p:nvSpPr>
        <p:spPr>
          <a:xfrm>
            <a:off x="3267000" y="3476520"/>
            <a:ext cx="3115080" cy="409680"/>
          </a:xfrm>
          <a:custGeom>
            <a:avLst/>
            <a:gdLst/>
            <a:ahLst/>
            <a:cxnLst/>
            <a:rect l="0" t="0" r="r" b="b"/>
            <a:pathLst>
              <a:path w="8653" h="1138">
                <a:moveTo>
                  <a:pt x="0" y="0"/>
                </a:moveTo>
                <a:lnTo>
                  <a:pt x="8653" y="0"/>
                </a:lnTo>
                <a:lnTo>
                  <a:pt x="865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Forma libre 160"/>
          <p:cNvSpPr/>
          <p:nvPr/>
        </p:nvSpPr>
        <p:spPr>
          <a:xfrm>
            <a:off x="676080" y="3476520"/>
            <a:ext cx="905400" cy="409680"/>
          </a:xfrm>
          <a:custGeom>
            <a:avLst/>
            <a:gdLst/>
            <a:ahLst/>
            <a:cxnLst/>
            <a:rect l="0" t="0" r="r" b="b"/>
            <a:pathLst>
              <a:path w="2515" h="1138">
                <a:moveTo>
                  <a:pt x="0" y="0"/>
                </a:moveTo>
                <a:lnTo>
                  <a:pt x="2515" y="0"/>
                </a:lnTo>
                <a:lnTo>
                  <a:pt x="251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orma libre 161"/>
          <p:cNvSpPr/>
          <p:nvPr/>
        </p:nvSpPr>
        <p:spPr>
          <a:xfrm>
            <a:off x="1581120" y="3476520"/>
            <a:ext cx="1686240" cy="409680"/>
          </a:xfrm>
          <a:custGeom>
            <a:avLst/>
            <a:gdLst/>
            <a:ahLst/>
            <a:cxnLst/>
            <a:rect l="0" t="0" r="r" b="b"/>
            <a:pathLst>
              <a:path w="4684" h="1138">
                <a:moveTo>
                  <a:pt x="0" y="0"/>
                </a:moveTo>
                <a:lnTo>
                  <a:pt x="4684" y="0"/>
                </a:lnTo>
                <a:lnTo>
                  <a:pt x="468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Forma libre 162"/>
          <p:cNvSpPr/>
          <p:nvPr/>
        </p:nvSpPr>
        <p:spPr>
          <a:xfrm>
            <a:off x="3267000" y="3476520"/>
            <a:ext cx="3115080" cy="409680"/>
          </a:xfrm>
          <a:custGeom>
            <a:avLst/>
            <a:gdLst/>
            <a:ahLst/>
            <a:cxnLst/>
            <a:rect l="0" t="0" r="r" b="b"/>
            <a:pathLst>
              <a:path w="8653" h="1138">
                <a:moveTo>
                  <a:pt x="0" y="0"/>
                </a:moveTo>
                <a:lnTo>
                  <a:pt x="8653" y="0"/>
                </a:lnTo>
                <a:lnTo>
                  <a:pt x="865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Forma libre 163"/>
          <p:cNvSpPr/>
          <p:nvPr/>
        </p:nvSpPr>
        <p:spPr>
          <a:xfrm>
            <a:off x="676080" y="3885840"/>
            <a:ext cx="905400" cy="419760"/>
          </a:xfrm>
          <a:custGeom>
            <a:avLst/>
            <a:gdLst/>
            <a:ahLst/>
            <a:cxnLst/>
            <a:rect l="0" t="0" r="r" b="b"/>
            <a:pathLst>
              <a:path w="2515" h="1166">
                <a:moveTo>
                  <a:pt x="0" y="0"/>
                </a:moveTo>
                <a:lnTo>
                  <a:pt x="2515" y="0"/>
                </a:lnTo>
                <a:lnTo>
                  <a:pt x="2515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Forma libre 164"/>
          <p:cNvSpPr/>
          <p:nvPr/>
        </p:nvSpPr>
        <p:spPr>
          <a:xfrm>
            <a:off x="1581120" y="3885840"/>
            <a:ext cx="1686240" cy="419760"/>
          </a:xfrm>
          <a:custGeom>
            <a:avLst/>
            <a:gdLst/>
            <a:ahLst/>
            <a:cxnLst/>
            <a:rect l="0" t="0" r="r" b="b"/>
            <a:pathLst>
              <a:path w="4684" h="1166">
                <a:moveTo>
                  <a:pt x="0" y="0"/>
                </a:moveTo>
                <a:lnTo>
                  <a:pt x="4684" y="0"/>
                </a:lnTo>
                <a:lnTo>
                  <a:pt x="4684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Forma libre 165"/>
          <p:cNvSpPr/>
          <p:nvPr/>
        </p:nvSpPr>
        <p:spPr>
          <a:xfrm>
            <a:off x="3267000" y="3885840"/>
            <a:ext cx="3115080" cy="419760"/>
          </a:xfrm>
          <a:custGeom>
            <a:avLst/>
            <a:gdLst/>
            <a:ahLst/>
            <a:cxnLst/>
            <a:rect l="0" t="0" r="r" b="b"/>
            <a:pathLst>
              <a:path w="8653" h="1166">
                <a:moveTo>
                  <a:pt x="0" y="0"/>
                </a:moveTo>
                <a:lnTo>
                  <a:pt x="8653" y="0"/>
                </a:lnTo>
                <a:lnTo>
                  <a:pt x="8653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Forma libre 166"/>
          <p:cNvSpPr/>
          <p:nvPr/>
        </p:nvSpPr>
        <p:spPr>
          <a:xfrm>
            <a:off x="676080" y="4305240"/>
            <a:ext cx="905400" cy="419400"/>
          </a:xfrm>
          <a:custGeom>
            <a:avLst/>
            <a:gdLst/>
            <a:ahLst/>
            <a:cxnLst/>
            <a:rect l="0" t="0" r="r" b="b"/>
            <a:pathLst>
              <a:path w="2515" h="1165">
                <a:moveTo>
                  <a:pt x="0" y="0"/>
                </a:moveTo>
                <a:lnTo>
                  <a:pt x="2515" y="0"/>
                </a:lnTo>
                <a:lnTo>
                  <a:pt x="251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Forma libre 167"/>
          <p:cNvSpPr/>
          <p:nvPr/>
        </p:nvSpPr>
        <p:spPr>
          <a:xfrm>
            <a:off x="1581120" y="4305240"/>
            <a:ext cx="1686240" cy="419400"/>
          </a:xfrm>
          <a:custGeom>
            <a:avLst/>
            <a:gdLst/>
            <a:ahLst/>
            <a:cxnLst/>
            <a:rect l="0" t="0" r="r" b="b"/>
            <a:pathLst>
              <a:path w="4684" h="1165">
                <a:moveTo>
                  <a:pt x="0" y="0"/>
                </a:moveTo>
                <a:lnTo>
                  <a:pt x="4684" y="0"/>
                </a:lnTo>
                <a:lnTo>
                  <a:pt x="468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Forma libre 168"/>
          <p:cNvSpPr/>
          <p:nvPr/>
        </p:nvSpPr>
        <p:spPr>
          <a:xfrm>
            <a:off x="3267000" y="4305240"/>
            <a:ext cx="3115080" cy="419400"/>
          </a:xfrm>
          <a:custGeom>
            <a:avLst/>
            <a:gdLst/>
            <a:ahLst/>
            <a:cxnLst/>
            <a:rect l="0" t="0" r="r" b="b"/>
            <a:pathLst>
              <a:path w="8653" h="1165">
                <a:moveTo>
                  <a:pt x="0" y="0"/>
                </a:moveTo>
                <a:lnTo>
                  <a:pt x="8653" y="0"/>
                </a:lnTo>
                <a:lnTo>
                  <a:pt x="865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Forma libre 169"/>
          <p:cNvSpPr/>
          <p:nvPr/>
        </p:nvSpPr>
        <p:spPr>
          <a:xfrm>
            <a:off x="676080" y="4724280"/>
            <a:ext cx="905400" cy="419400"/>
          </a:xfrm>
          <a:custGeom>
            <a:avLst/>
            <a:gdLst/>
            <a:ahLst/>
            <a:cxnLst/>
            <a:rect l="0" t="0" r="r" b="b"/>
            <a:pathLst>
              <a:path w="2515" h="1165">
                <a:moveTo>
                  <a:pt x="0" y="0"/>
                </a:moveTo>
                <a:lnTo>
                  <a:pt x="2515" y="0"/>
                </a:lnTo>
                <a:lnTo>
                  <a:pt x="251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Forma libre 170"/>
          <p:cNvSpPr/>
          <p:nvPr/>
        </p:nvSpPr>
        <p:spPr>
          <a:xfrm>
            <a:off x="1581120" y="4724280"/>
            <a:ext cx="1686240" cy="419400"/>
          </a:xfrm>
          <a:custGeom>
            <a:avLst/>
            <a:gdLst/>
            <a:ahLst/>
            <a:cxnLst/>
            <a:rect l="0" t="0" r="r" b="b"/>
            <a:pathLst>
              <a:path w="4684" h="1165">
                <a:moveTo>
                  <a:pt x="0" y="0"/>
                </a:moveTo>
                <a:lnTo>
                  <a:pt x="4684" y="0"/>
                </a:lnTo>
                <a:lnTo>
                  <a:pt x="468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Forma libre 171"/>
          <p:cNvSpPr/>
          <p:nvPr/>
        </p:nvSpPr>
        <p:spPr>
          <a:xfrm>
            <a:off x="3267000" y="4724280"/>
            <a:ext cx="3115080" cy="419400"/>
          </a:xfrm>
          <a:custGeom>
            <a:avLst/>
            <a:gdLst/>
            <a:ahLst/>
            <a:cxnLst/>
            <a:rect l="0" t="0" r="r" b="b"/>
            <a:pathLst>
              <a:path w="8653" h="1165">
                <a:moveTo>
                  <a:pt x="0" y="0"/>
                </a:moveTo>
                <a:lnTo>
                  <a:pt x="8653" y="0"/>
                </a:lnTo>
                <a:lnTo>
                  <a:pt x="865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Forma libre 172"/>
          <p:cNvSpPr/>
          <p:nvPr/>
        </p:nvSpPr>
        <p:spPr>
          <a:xfrm>
            <a:off x="676080" y="5143320"/>
            <a:ext cx="905400" cy="419400"/>
          </a:xfrm>
          <a:custGeom>
            <a:avLst/>
            <a:gdLst/>
            <a:ahLst/>
            <a:cxnLst/>
            <a:rect l="0" t="0" r="r" b="b"/>
            <a:pathLst>
              <a:path w="2515" h="1165">
                <a:moveTo>
                  <a:pt x="0" y="0"/>
                </a:moveTo>
                <a:lnTo>
                  <a:pt x="2515" y="0"/>
                </a:lnTo>
                <a:lnTo>
                  <a:pt x="251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Forma libre 173"/>
          <p:cNvSpPr/>
          <p:nvPr/>
        </p:nvSpPr>
        <p:spPr>
          <a:xfrm>
            <a:off x="1581120" y="5143320"/>
            <a:ext cx="1686240" cy="419400"/>
          </a:xfrm>
          <a:custGeom>
            <a:avLst/>
            <a:gdLst/>
            <a:ahLst/>
            <a:cxnLst/>
            <a:rect l="0" t="0" r="r" b="b"/>
            <a:pathLst>
              <a:path w="4684" h="1165">
                <a:moveTo>
                  <a:pt x="0" y="0"/>
                </a:moveTo>
                <a:lnTo>
                  <a:pt x="4684" y="0"/>
                </a:lnTo>
                <a:lnTo>
                  <a:pt x="468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Forma libre 174"/>
          <p:cNvSpPr/>
          <p:nvPr/>
        </p:nvSpPr>
        <p:spPr>
          <a:xfrm>
            <a:off x="3267000" y="5143320"/>
            <a:ext cx="3115080" cy="419400"/>
          </a:xfrm>
          <a:custGeom>
            <a:avLst/>
            <a:gdLst/>
            <a:ahLst/>
            <a:cxnLst/>
            <a:rect l="0" t="0" r="r" b="b"/>
            <a:pathLst>
              <a:path w="8653" h="1165">
                <a:moveTo>
                  <a:pt x="0" y="0"/>
                </a:moveTo>
                <a:lnTo>
                  <a:pt x="8653" y="0"/>
                </a:lnTo>
                <a:lnTo>
                  <a:pt x="865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Forma libre 175"/>
          <p:cNvSpPr/>
          <p:nvPr/>
        </p:nvSpPr>
        <p:spPr>
          <a:xfrm>
            <a:off x="666720" y="3476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Forma libre 176"/>
          <p:cNvSpPr/>
          <p:nvPr/>
        </p:nvSpPr>
        <p:spPr>
          <a:xfrm>
            <a:off x="666720" y="3476520"/>
            <a:ext cx="914760" cy="9720"/>
          </a:xfrm>
          <a:custGeom>
            <a:avLst/>
            <a:gdLst/>
            <a:ahLst/>
            <a:cxn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Forma libre 177"/>
          <p:cNvSpPr/>
          <p:nvPr/>
        </p:nvSpPr>
        <p:spPr>
          <a:xfrm>
            <a:off x="1571400" y="3476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Forma libre 178"/>
          <p:cNvSpPr/>
          <p:nvPr/>
        </p:nvSpPr>
        <p:spPr>
          <a:xfrm>
            <a:off x="1581120" y="3476520"/>
            <a:ext cx="1686240" cy="9720"/>
          </a:xfrm>
          <a:custGeom>
            <a:avLst/>
            <a:gdLst/>
            <a:ahLst/>
            <a:cxnLst/>
            <a:rect l="0" t="0" r="r" b="b"/>
            <a:pathLst>
              <a:path w="4684" h="27">
                <a:moveTo>
                  <a:pt x="0" y="0"/>
                </a:moveTo>
                <a:lnTo>
                  <a:pt x="4684" y="0"/>
                </a:lnTo>
                <a:lnTo>
                  <a:pt x="46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Forma libre 179"/>
          <p:cNvSpPr/>
          <p:nvPr/>
        </p:nvSpPr>
        <p:spPr>
          <a:xfrm>
            <a:off x="3257280" y="3476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Forma libre 180"/>
          <p:cNvSpPr/>
          <p:nvPr/>
        </p:nvSpPr>
        <p:spPr>
          <a:xfrm>
            <a:off x="3267000" y="3476520"/>
            <a:ext cx="3115080" cy="9720"/>
          </a:xfrm>
          <a:custGeom>
            <a:avLst/>
            <a:gdLst/>
            <a:ahLst/>
            <a:cxnLst/>
            <a:rect l="0" t="0" r="r" b="b"/>
            <a:pathLst>
              <a:path w="8653" h="27">
                <a:moveTo>
                  <a:pt x="0" y="0"/>
                </a:moveTo>
                <a:lnTo>
                  <a:pt x="8653" y="0"/>
                </a:lnTo>
                <a:lnTo>
                  <a:pt x="8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Forma libre 181"/>
          <p:cNvSpPr/>
          <p:nvPr/>
        </p:nvSpPr>
        <p:spPr>
          <a:xfrm>
            <a:off x="6372000" y="3476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Forma libre 182"/>
          <p:cNvSpPr/>
          <p:nvPr/>
        </p:nvSpPr>
        <p:spPr>
          <a:xfrm>
            <a:off x="666720" y="3885840"/>
            <a:ext cx="914760" cy="10080"/>
          </a:xfrm>
          <a:custGeom>
            <a:avLst/>
            <a:gdLst/>
            <a:ahLst/>
            <a:cxn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Forma libre 183"/>
          <p:cNvSpPr/>
          <p:nvPr/>
        </p:nvSpPr>
        <p:spPr>
          <a:xfrm>
            <a:off x="1581120" y="3885840"/>
            <a:ext cx="1686240" cy="10080"/>
          </a:xfrm>
          <a:custGeom>
            <a:avLst/>
            <a:gdLst/>
            <a:ahLst/>
            <a:cxnLst/>
            <a:rect l="0" t="0" r="r" b="b"/>
            <a:pathLst>
              <a:path w="4684" h="28">
                <a:moveTo>
                  <a:pt x="0" y="0"/>
                </a:moveTo>
                <a:lnTo>
                  <a:pt x="4684" y="0"/>
                </a:lnTo>
                <a:lnTo>
                  <a:pt x="46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Forma libre 184"/>
          <p:cNvSpPr/>
          <p:nvPr/>
        </p:nvSpPr>
        <p:spPr>
          <a:xfrm>
            <a:off x="3267000" y="3885840"/>
            <a:ext cx="3115080" cy="10080"/>
          </a:xfrm>
          <a:custGeom>
            <a:avLst/>
            <a:gdLst/>
            <a:ahLst/>
            <a:cxnLst/>
            <a:rect l="0" t="0" r="r" b="b"/>
            <a:pathLst>
              <a:path w="8653" h="28">
                <a:moveTo>
                  <a:pt x="0" y="0"/>
                </a:moveTo>
                <a:lnTo>
                  <a:pt x="8653" y="0"/>
                </a:lnTo>
                <a:lnTo>
                  <a:pt x="86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Forma libre 185"/>
          <p:cNvSpPr/>
          <p:nvPr/>
        </p:nvSpPr>
        <p:spPr>
          <a:xfrm>
            <a:off x="666720" y="3895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Forma libre 186"/>
          <p:cNvSpPr/>
          <p:nvPr/>
        </p:nvSpPr>
        <p:spPr>
          <a:xfrm>
            <a:off x="1571400" y="3895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Forma libre 187"/>
          <p:cNvSpPr/>
          <p:nvPr/>
        </p:nvSpPr>
        <p:spPr>
          <a:xfrm>
            <a:off x="3257280" y="3895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Forma libre 188"/>
          <p:cNvSpPr/>
          <p:nvPr/>
        </p:nvSpPr>
        <p:spPr>
          <a:xfrm>
            <a:off x="6372000" y="3895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Forma libre 189"/>
          <p:cNvSpPr/>
          <p:nvPr/>
        </p:nvSpPr>
        <p:spPr>
          <a:xfrm>
            <a:off x="666720" y="4314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Forma libre 190"/>
          <p:cNvSpPr/>
          <p:nvPr/>
        </p:nvSpPr>
        <p:spPr>
          <a:xfrm>
            <a:off x="666720" y="4305240"/>
            <a:ext cx="914760" cy="9720"/>
          </a:xfrm>
          <a:custGeom>
            <a:avLst/>
            <a:gdLst/>
            <a:ahLst/>
            <a:cxn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Forma libre 191"/>
          <p:cNvSpPr/>
          <p:nvPr/>
        </p:nvSpPr>
        <p:spPr>
          <a:xfrm>
            <a:off x="1571400" y="4314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Forma libre 192"/>
          <p:cNvSpPr/>
          <p:nvPr/>
        </p:nvSpPr>
        <p:spPr>
          <a:xfrm>
            <a:off x="1581120" y="4305240"/>
            <a:ext cx="1686240" cy="9720"/>
          </a:xfrm>
          <a:custGeom>
            <a:avLst/>
            <a:gdLst/>
            <a:ahLst/>
            <a:cxnLst/>
            <a:rect l="0" t="0" r="r" b="b"/>
            <a:pathLst>
              <a:path w="4684" h="27">
                <a:moveTo>
                  <a:pt x="0" y="0"/>
                </a:moveTo>
                <a:lnTo>
                  <a:pt x="4684" y="0"/>
                </a:lnTo>
                <a:lnTo>
                  <a:pt x="46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Forma libre 193"/>
          <p:cNvSpPr/>
          <p:nvPr/>
        </p:nvSpPr>
        <p:spPr>
          <a:xfrm>
            <a:off x="3257280" y="4314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Forma libre 194"/>
          <p:cNvSpPr/>
          <p:nvPr/>
        </p:nvSpPr>
        <p:spPr>
          <a:xfrm>
            <a:off x="3267000" y="4305240"/>
            <a:ext cx="3115080" cy="9720"/>
          </a:xfrm>
          <a:custGeom>
            <a:avLst/>
            <a:gdLst/>
            <a:ahLst/>
            <a:cxnLst/>
            <a:rect l="0" t="0" r="r" b="b"/>
            <a:pathLst>
              <a:path w="8653" h="27">
                <a:moveTo>
                  <a:pt x="0" y="0"/>
                </a:moveTo>
                <a:lnTo>
                  <a:pt x="8653" y="0"/>
                </a:lnTo>
                <a:lnTo>
                  <a:pt x="8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Forma libre 195"/>
          <p:cNvSpPr/>
          <p:nvPr/>
        </p:nvSpPr>
        <p:spPr>
          <a:xfrm>
            <a:off x="6372000" y="4314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Forma libre 196"/>
          <p:cNvSpPr/>
          <p:nvPr/>
        </p:nvSpPr>
        <p:spPr>
          <a:xfrm>
            <a:off x="666720" y="4733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Forma libre 197"/>
          <p:cNvSpPr/>
          <p:nvPr/>
        </p:nvSpPr>
        <p:spPr>
          <a:xfrm>
            <a:off x="666720" y="4724280"/>
            <a:ext cx="914760" cy="9720"/>
          </a:xfrm>
          <a:custGeom>
            <a:avLst/>
            <a:gdLst/>
            <a:ahLst/>
            <a:cxn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Forma libre 198"/>
          <p:cNvSpPr/>
          <p:nvPr/>
        </p:nvSpPr>
        <p:spPr>
          <a:xfrm>
            <a:off x="1571400" y="47336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Forma libre 199"/>
          <p:cNvSpPr/>
          <p:nvPr/>
        </p:nvSpPr>
        <p:spPr>
          <a:xfrm>
            <a:off x="1581120" y="4724280"/>
            <a:ext cx="1686240" cy="9720"/>
          </a:xfrm>
          <a:custGeom>
            <a:avLst/>
            <a:gdLst/>
            <a:ahLst/>
            <a:cxnLst/>
            <a:rect l="0" t="0" r="r" b="b"/>
            <a:pathLst>
              <a:path w="4684" h="27">
                <a:moveTo>
                  <a:pt x="0" y="0"/>
                </a:moveTo>
                <a:lnTo>
                  <a:pt x="4684" y="0"/>
                </a:lnTo>
                <a:lnTo>
                  <a:pt x="46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Forma libre 200"/>
          <p:cNvSpPr/>
          <p:nvPr/>
        </p:nvSpPr>
        <p:spPr>
          <a:xfrm>
            <a:off x="3257280" y="47336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Forma libre 201"/>
          <p:cNvSpPr/>
          <p:nvPr/>
        </p:nvSpPr>
        <p:spPr>
          <a:xfrm>
            <a:off x="3267000" y="4724280"/>
            <a:ext cx="3115080" cy="9720"/>
          </a:xfrm>
          <a:custGeom>
            <a:avLst/>
            <a:gdLst/>
            <a:ahLst/>
            <a:cxnLst/>
            <a:rect l="0" t="0" r="r" b="b"/>
            <a:pathLst>
              <a:path w="8653" h="27">
                <a:moveTo>
                  <a:pt x="0" y="0"/>
                </a:moveTo>
                <a:lnTo>
                  <a:pt x="8653" y="0"/>
                </a:lnTo>
                <a:lnTo>
                  <a:pt x="8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Forma libre 202"/>
          <p:cNvSpPr/>
          <p:nvPr/>
        </p:nvSpPr>
        <p:spPr>
          <a:xfrm>
            <a:off x="6372000" y="47336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Forma libre 203"/>
          <p:cNvSpPr/>
          <p:nvPr/>
        </p:nvSpPr>
        <p:spPr>
          <a:xfrm>
            <a:off x="666720" y="515268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Forma libre 204"/>
          <p:cNvSpPr/>
          <p:nvPr/>
        </p:nvSpPr>
        <p:spPr>
          <a:xfrm>
            <a:off x="666720" y="5143320"/>
            <a:ext cx="914760" cy="9720"/>
          </a:xfrm>
          <a:custGeom>
            <a:avLst/>
            <a:gdLst/>
            <a:ahLst/>
            <a:cxn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Forma libre 205"/>
          <p:cNvSpPr/>
          <p:nvPr/>
        </p:nvSpPr>
        <p:spPr>
          <a:xfrm>
            <a:off x="1571400" y="515268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Forma libre 206"/>
          <p:cNvSpPr/>
          <p:nvPr/>
        </p:nvSpPr>
        <p:spPr>
          <a:xfrm>
            <a:off x="1581120" y="5143320"/>
            <a:ext cx="1686240" cy="9720"/>
          </a:xfrm>
          <a:custGeom>
            <a:avLst/>
            <a:gdLst/>
            <a:ahLst/>
            <a:cxnLst/>
            <a:rect l="0" t="0" r="r" b="b"/>
            <a:pathLst>
              <a:path w="4684" h="27">
                <a:moveTo>
                  <a:pt x="0" y="0"/>
                </a:moveTo>
                <a:lnTo>
                  <a:pt x="4684" y="0"/>
                </a:lnTo>
                <a:lnTo>
                  <a:pt x="46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Forma libre 207"/>
          <p:cNvSpPr/>
          <p:nvPr/>
        </p:nvSpPr>
        <p:spPr>
          <a:xfrm>
            <a:off x="3257280" y="515268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orma libre 208"/>
          <p:cNvSpPr/>
          <p:nvPr/>
        </p:nvSpPr>
        <p:spPr>
          <a:xfrm>
            <a:off x="3267000" y="5143320"/>
            <a:ext cx="3115080" cy="9720"/>
          </a:xfrm>
          <a:custGeom>
            <a:avLst/>
            <a:gdLst/>
            <a:ahLst/>
            <a:cxnLst/>
            <a:rect l="0" t="0" r="r" b="b"/>
            <a:pathLst>
              <a:path w="8653" h="27">
                <a:moveTo>
                  <a:pt x="0" y="0"/>
                </a:moveTo>
                <a:lnTo>
                  <a:pt x="8653" y="0"/>
                </a:lnTo>
                <a:lnTo>
                  <a:pt x="8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Forma libre 209"/>
          <p:cNvSpPr/>
          <p:nvPr/>
        </p:nvSpPr>
        <p:spPr>
          <a:xfrm>
            <a:off x="6372000" y="515268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Forma libre 210"/>
          <p:cNvSpPr/>
          <p:nvPr/>
        </p:nvSpPr>
        <p:spPr>
          <a:xfrm>
            <a:off x="666720" y="5562360"/>
            <a:ext cx="914760" cy="10080"/>
          </a:xfrm>
          <a:custGeom>
            <a:avLst/>
            <a:gdLst/>
            <a:ahLst/>
            <a:cxn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Forma libre 211"/>
          <p:cNvSpPr/>
          <p:nvPr/>
        </p:nvSpPr>
        <p:spPr>
          <a:xfrm>
            <a:off x="1581120" y="5562360"/>
            <a:ext cx="1686240" cy="10080"/>
          </a:xfrm>
          <a:custGeom>
            <a:avLst/>
            <a:gdLst/>
            <a:ahLst/>
            <a:cxnLst/>
            <a:rect l="0" t="0" r="r" b="b"/>
            <a:pathLst>
              <a:path w="4684" h="28">
                <a:moveTo>
                  <a:pt x="0" y="0"/>
                </a:moveTo>
                <a:lnTo>
                  <a:pt x="4684" y="0"/>
                </a:lnTo>
                <a:lnTo>
                  <a:pt x="46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orma libre 212"/>
          <p:cNvSpPr/>
          <p:nvPr/>
        </p:nvSpPr>
        <p:spPr>
          <a:xfrm>
            <a:off x="3267000" y="5562360"/>
            <a:ext cx="3115080" cy="10080"/>
          </a:xfrm>
          <a:custGeom>
            <a:avLst/>
            <a:gdLst/>
            <a:ahLst/>
            <a:cxnLst/>
            <a:rect l="0" t="0" r="r" b="b"/>
            <a:pathLst>
              <a:path w="8653" h="28">
                <a:moveTo>
                  <a:pt x="0" y="0"/>
                </a:moveTo>
                <a:lnTo>
                  <a:pt x="8653" y="0"/>
                </a:lnTo>
                <a:lnTo>
                  <a:pt x="86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CuadroTexto 213"/>
          <p:cNvSpPr txBox="1"/>
          <p:nvPr/>
        </p:nvSpPr>
        <p:spPr>
          <a:xfrm>
            <a:off x="666720" y="1301400"/>
            <a:ext cx="21056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Leer el nombre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CuadroTexto 214"/>
          <p:cNvSpPr txBox="1"/>
          <p:nvPr/>
        </p:nvSpPr>
        <p:spPr>
          <a:xfrm>
            <a:off x="866880" y="2127600"/>
            <a:ext cx="983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m5.xlarge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CuadroTexto 215"/>
          <p:cNvSpPr txBox="1"/>
          <p:nvPr/>
        </p:nvSpPr>
        <p:spPr>
          <a:xfrm>
            <a:off x="866880" y="2394360"/>
            <a:ext cx="5460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│ │   └── tamaño: large, xlarge, 2xlarge, 4xlarge…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CuadroTexto 216"/>
          <p:cNvSpPr txBox="1"/>
          <p:nvPr/>
        </p:nvSpPr>
        <p:spPr>
          <a:xfrm>
            <a:off x="866880" y="2651400"/>
            <a:ext cx="8626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│ └────── generación (más alta = más nueva y normalmente más barata por unidad)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CuadroTexto 217"/>
          <p:cNvSpPr txBox="1"/>
          <p:nvPr/>
        </p:nvSpPr>
        <p:spPr>
          <a:xfrm>
            <a:off x="866880" y="2918160"/>
            <a:ext cx="1856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└──────── familia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CuadroTexto 218"/>
          <p:cNvSpPr txBox="1"/>
          <p:nvPr/>
        </p:nvSpPr>
        <p:spPr>
          <a:xfrm>
            <a:off x="799920" y="3580920"/>
            <a:ext cx="652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Familia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CuadroTexto 219"/>
          <p:cNvSpPr txBox="1"/>
          <p:nvPr/>
        </p:nvSpPr>
        <p:spPr>
          <a:xfrm>
            <a:off x="2017800" y="3580920"/>
            <a:ext cx="812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Para qué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CuadroTexto 220"/>
          <p:cNvSpPr txBox="1"/>
          <p:nvPr/>
        </p:nvSpPr>
        <p:spPr>
          <a:xfrm>
            <a:off x="4006080" y="3580920"/>
            <a:ext cx="1634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Cuándo la usarías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CuadroTexto 221"/>
          <p:cNvSpPr txBox="1"/>
          <p:nvPr/>
        </p:nvSpPr>
        <p:spPr>
          <a:xfrm>
            <a:off x="799920" y="3990600"/>
            <a:ext cx="395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T, M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CuadroTexto 222"/>
          <p:cNvSpPr txBox="1"/>
          <p:nvPr/>
        </p:nvSpPr>
        <p:spPr>
          <a:xfrm>
            <a:off x="1708920" y="3981240"/>
            <a:ext cx="1433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propósito general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CuadroTexto 223"/>
          <p:cNvSpPr txBox="1"/>
          <p:nvPr/>
        </p:nvSpPr>
        <p:spPr>
          <a:xfrm>
            <a:off x="3395520" y="3981240"/>
            <a:ext cx="2068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pruebas, servicios ligeros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CuadroTexto 224"/>
          <p:cNvSpPr txBox="1"/>
          <p:nvPr/>
        </p:nvSpPr>
        <p:spPr>
          <a:xfrm>
            <a:off x="799920" y="4409640"/>
            <a:ext cx="190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CuadroTexto 225"/>
          <p:cNvSpPr txBox="1"/>
          <p:nvPr/>
        </p:nvSpPr>
        <p:spPr>
          <a:xfrm>
            <a:off x="1708920" y="4400280"/>
            <a:ext cx="738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cómputo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CuadroTexto 226"/>
          <p:cNvSpPr txBox="1"/>
          <p:nvPr/>
        </p:nvSpPr>
        <p:spPr>
          <a:xfrm>
            <a:off x="3395520" y="4400280"/>
            <a:ext cx="2167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simulaciones, mucho CPU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CuadroTexto 227"/>
          <p:cNvSpPr txBox="1"/>
          <p:nvPr/>
        </p:nvSpPr>
        <p:spPr>
          <a:xfrm>
            <a:off x="799920" y="4828680"/>
            <a:ext cx="371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R, X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CuadroTexto 228"/>
          <p:cNvSpPr txBox="1"/>
          <p:nvPr/>
        </p:nvSpPr>
        <p:spPr>
          <a:xfrm>
            <a:off x="1708920" y="4828680"/>
            <a:ext cx="804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memoria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CuadroTexto 229"/>
          <p:cNvSpPr txBox="1"/>
          <p:nvPr/>
        </p:nvSpPr>
        <p:spPr>
          <a:xfrm>
            <a:off x="3395520" y="4828320"/>
            <a:ext cx="191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←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CuadroTexto 230"/>
          <p:cNvSpPr txBox="1"/>
          <p:nvPr/>
        </p:nvSpPr>
        <p:spPr>
          <a:xfrm>
            <a:off x="3585960" y="4819320"/>
            <a:ext cx="2668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casi siempre, con datos clínicos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CuadroTexto 231"/>
          <p:cNvSpPr txBox="1"/>
          <p:nvPr/>
        </p:nvSpPr>
        <p:spPr>
          <a:xfrm>
            <a:off x="799920" y="5247720"/>
            <a:ext cx="378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P, G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CuadroTexto 232"/>
          <p:cNvSpPr txBox="1"/>
          <p:nvPr/>
        </p:nvSpPr>
        <p:spPr>
          <a:xfrm>
            <a:off x="1708920" y="5238360"/>
            <a:ext cx="392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GPU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CuadroTexto 233"/>
          <p:cNvSpPr txBox="1"/>
          <p:nvPr/>
        </p:nvSpPr>
        <p:spPr>
          <a:xfrm>
            <a:off x="3395520" y="5238360"/>
            <a:ext cx="2139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entrenar redes neuronales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CuadroTexto 23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CuadroTexto 23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CuadroTexto 23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Forma libre 2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Forma libre 2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Forma libre 2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CuadroTexto 240"/>
          <p:cNvSpPr txBox="1"/>
          <p:nvPr/>
        </p:nvSpPr>
        <p:spPr>
          <a:xfrm>
            <a:off x="3807000" y="3063960"/>
            <a:ext cx="46850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Lanzar y asegurar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CuadroTexto 24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CuadroTexto 24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CuadroTexto 243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Forma libre 2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orma libre 2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Forma libre 2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orma libre 247"/>
          <p:cNvSpPr/>
          <p:nvPr/>
        </p:nvSpPr>
        <p:spPr>
          <a:xfrm>
            <a:off x="676080" y="1552320"/>
            <a:ext cx="2057760" cy="410040"/>
          </a:xfrm>
          <a:custGeom>
            <a:avLst/>
            <a:gdLst/>
            <a:ahLst/>
            <a:cxnLst/>
            <a:rect l="0" t="0" r="r" b="b"/>
            <a:pathLst>
              <a:path w="5716" h="1139">
                <a:moveTo>
                  <a:pt x="0" y="0"/>
                </a:moveTo>
                <a:lnTo>
                  <a:pt x="5716" y="0"/>
                </a:lnTo>
                <a:lnTo>
                  <a:pt x="571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orma libre 248"/>
          <p:cNvSpPr/>
          <p:nvPr/>
        </p:nvSpPr>
        <p:spPr>
          <a:xfrm>
            <a:off x="2733480" y="1552320"/>
            <a:ext cx="4848480" cy="410040"/>
          </a:xfrm>
          <a:custGeom>
            <a:avLst/>
            <a:gdLst/>
            <a:ahLst/>
            <a:cxnLst/>
            <a:rect l="0" t="0" r="r" b="b"/>
            <a:pathLst>
              <a:path w="13468" h="1139">
                <a:moveTo>
                  <a:pt x="0" y="0"/>
                </a:moveTo>
                <a:lnTo>
                  <a:pt x="13468" y="0"/>
                </a:lnTo>
                <a:lnTo>
                  <a:pt x="1346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Forma libre 249"/>
          <p:cNvSpPr/>
          <p:nvPr/>
        </p:nvSpPr>
        <p:spPr>
          <a:xfrm>
            <a:off x="676080" y="1552320"/>
            <a:ext cx="2057760" cy="410040"/>
          </a:xfrm>
          <a:custGeom>
            <a:avLst/>
            <a:gdLst/>
            <a:ahLst/>
            <a:cxnLst/>
            <a:rect l="0" t="0" r="r" b="b"/>
            <a:pathLst>
              <a:path w="5716" h="1139">
                <a:moveTo>
                  <a:pt x="0" y="0"/>
                </a:moveTo>
                <a:lnTo>
                  <a:pt x="5716" y="0"/>
                </a:lnTo>
                <a:lnTo>
                  <a:pt x="571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Forma libre 250"/>
          <p:cNvSpPr/>
          <p:nvPr/>
        </p:nvSpPr>
        <p:spPr>
          <a:xfrm>
            <a:off x="2733480" y="1552320"/>
            <a:ext cx="4848480" cy="410040"/>
          </a:xfrm>
          <a:custGeom>
            <a:avLst/>
            <a:gdLst/>
            <a:ahLst/>
            <a:cxnLst/>
            <a:rect l="0" t="0" r="r" b="b"/>
            <a:pathLst>
              <a:path w="13468" h="1139">
                <a:moveTo>
                  <a:pt x="0" y="0"/>
                </a:moveTo>
                <a:lnTo>
                  <a:pt x="13468" y="0"/>
                </a:lnTo>
                <a:lnTo>
                  <a:pt x="1346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orma libre 251"/>
          <p:cNvSpPr/>
          <p:nvPr/>
        </p:nvSpPr>
        <p:spPr>
          <a:xfrm>
            <a:off x="676080" y="1962000"/>
            <a:ext cx="2057760" cy="419400"/>
          </a:xfrm>
          <a:custGeom>
            <a:avLst/>
            <a:gdLst/>
            <a:ahLst/>
            <a:cxnLst/>
            <a:rect l="0" t="0" r="r" b="b"/>
            <a:pathLst>
              <a:path w="5716" h="1165">
                <a:moveTo>
                  <a:pt x="0" y="0"/>
                </a:moveTo>
                <a:lnTo>
                  <a:pt x="5716" y="0"/>
                </a:lnTo>
                <a:lnTo>
                  <a:pt x="571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orma libre 252"/>
          <p:cNvSpPr/>
          <p:nvPr/>
        </p:nvSpPr>
        <p:spPr>
          <a:xfrm>
            <a:off x="2733480" y="1962000"/>
            <a:ext cx="4848480" cy="419400"/>
          </a:xfrm>
          <a:custGeom>
            <a:avLst/>
            <a:gdLst/>
            <a:ahLst/>
            <a:cxnLst/>
            <a:rect l="0" t="0" r="r" b="b"/>
            <a:pathLst>
              <a:path w="13468" h="1165">
                <a:moveTo>
                  <a:pt x="0" y="0"/>
                </a:moveTo>
                <a:lnTo>
                  <a:pt x="13468" y="0"/>
                </a:lnTo>
                <a:lnTo>
                  <a:pt x="1346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Forma libre 253"/>
          <p:cNvSpPr/>
          <p:nvPr/>
        </p:nvSpPr>
        <p:spPr>
          <a:xfrm>
            <a:off x="676080" y="2381040"/>
            <a:ext cx="2057760" cy="419400"/>
          </a:xfrm>
          <a:custGeom>
            <a:avLst/>
            <a:gdLst/>
            <a:ahLst/>
            <a:cxnLst/>
            <a:rect l="0" t="0" r="r" b="b"/>
            <a:pathLst>
              <a:path w="5716" h="1165">
                <a:moveTo>
                  <a:pt x="0" y="0"/>
                </a:moveTo>
                <a:lnTo>
                  <a:pt x="5716" y="0"/>
                </a:lnTo>
                <a:lnTo>
                  <a:pt x="571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orma libre 254"/>
          <p:cNvSpPr/>
          <p:nvPr/>
        </p:nvSpPr>
        <p:spPr>
          <a:xfrm>
            <a:off x="2733480" y="2381040"/>
            <a:ext cx="4848480" cy="419400"/>
          </a:xfrm>
          <a:custGeom>
            <a:avLst/>
            <a:gdLst/>
            <a:ahLst/>
            <a:cxnLst/>
            <a:rect l="0" t="0" r="r" b="b"/>
            <a:pathLst>
              <a:path w="13468" h="1165">
                <a:moveTo>
                  <a:pt x="0" y="0"/>
                </a:moveTo>
                <a:lnTo>
                  <a:pt x="13468" y="0"/>
                </a:lnTo>
                <a:lnTo>
                  <a:pt x="1346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Forma libre 255"/>
          <p:cNvSpPr/>
          <p:nvPr/>
        </p:nvSpPr>
        <p:spPr>
          <a:xfrm>
            <a:off x="676080" y="2800080"/>
            <a:ext cx="2057760" cy="419400"/>
          </a:xfrm>
          <a:custGeom>
            <a:avLst/>
            <a:gdLst/>
            <a:ahLst/>
            <a:cxnLst/>
            <a:rect l="0" t="0" r="r" b="b"/>
            <a:pathLst>
              <a:path w="5716" h="1165">
                <a:moveTo>
                  <a:pt x="0" y="0"/>
                </a:moveTo>
                <a:lnTo>
                  <a:pt x="5716" y="0"/>
                </a:lnTo>
                <a:lnTo>
                  <a:pt x="571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Forma libre 256"/>
          <p:cNvSpPr/>
          <p:nvPr/>
        </p:nvSpPr>
        <p:spPr>
          <a:xfrm>
            <a:off x="2733480" y="2800080"/>
            <a:ext cx="4848480" cy="419400"/>
          </a:xfrm>
          <a:custGeom>
            <a:avLst/>
            <a:gdLst/>
            <a:ahLst/>
            <a:cxnLst/>
            <a:rect l="0" t="0" r="r" b="b"/>
            <a:pathLst>
              <a:path w="13468" h="1165">
                <a:moveTo>
                  <a:pt x="0" y="0"/>
                </a:moveTo>
                <a:lnTo>
                  <a:pt x="13468" y="0"/>
                </a:lnTo>
                <a:lnTo>
                  <a:pt x="1346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Forma libre 257"/>
          <p:cNvSpPr/>
          <p:nvPr/>
        </p:nvSpPr>
        <p:spPr>
          <a:xfrm>
            <a:off x="676080" y="3219120"/>
            <a:ext cx="2057760" cy="419760"/>
          </a:xfrm>
          <a:custGeom>
            <a:avLst/>
            <a:gdLst/>
            <a:ahLst/>
            <a:cxnLst/>
            <a:rect l="0" t="0" r="r" b="b"/>
            <a:pathLst>
              <a:path w="5716" h="1166">
                <a:moveTo>
                  <a:pt x="0" y="0"/>
                </a:moveTo>
                <a:lnTo>
                  <a:pt x="5716" y="0"/>
                </a:lnTo>
                <a:lnTo>
                  <a:pt x="5716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Forma libre 258"/>
          <p:cNvSpPr/>
          <p:nvPr/>
        </p:nvSpPr>
        <p:spPr>
          <a:xfrm>
            <a:off x="2733480" y="3219120"/>
            <a:ext cx="4848480" cy="419760"/>
          </a:xfrm>
          <a:custGeom>
            <a:avLst/>
            <a:gdLst/>
            <a:ahLst/>
            <a:cxnLst/>
            <a:rect l="0" t="0" r="r" b="b"/>
            <a:pathLst>
              <a:path w="13468" h="1166">
                <a:moveTo>
                  <a:pt x="0" y="0"/>
                </a:moveTo>
                <a:lnTo>
                  <a:pt x="13468" y="0"/>
                </a:lnTo>
                <a:lnTo>
                  <a:pt x="1346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Forma libre 259"/>
          <p:cNvSpPr/>
          <p:nvPr/>
        </p:nvSpPr>
        <p:spPr>
          <a:xfrm>
            <a:off x="676080" y="3638520"/>
            <a:ext cx="2057760" cy="419400"/>
          </a:xfrm>
          <a:custGeom>
            <a:avLst/>
            <a:gdLst/>
            <a:ahLst/>
            <a:cxnLst/>
            <a:rect l="0" t="0" r="r" b="b"/>
            <a:pathLst>
              <a:path w="5716" h="1165">
                <a:moveTo>
                  <a:pt x="0" y="0"/>
                </a:moveTo>
                <a:lnTo>
                  <a:pt x="5716" y="0"/>
                </a:lnTo>
                <a:lnTo>
                  <a:pt x="571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Forma libre 260"/>
          <p:cNvSpPr/>
          <p:nvPr/>
        </p:nvSpPr>
        <p:spPr>
          <a:xfrm>
            <a:off x="2733480" y="3638520"/>
            <a:ext cx="4848480" cy="419400"/>
          </a:xfrm>
          <a:custGeom>
            <a:avLst/>
            <a:gdLst/>
            <a:ahLst/>
            <a:cxnLst/>
            <a:rect l="0" t="0" r="r" b="b"/>
            <a:pathLst>
              <a:path w="13468" h="1165">
                <a:moveTo>
                  <a:pt x="0" y="0"/>
                </a:moveTo>
                <a:lnTo>
                  <a:pt x="13468" y="0"/>
                </a:lnTo>
                <a:lnTo>
                  <a:pt x="1346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Forma libre 261"/>
          <p:cNvSpPr/>
          <p:nvPr/>
        </p:nvSpPr>
        <p:spPr>
          <a:xfrm>
            <a:off x="676080" y="4057560"/>
            <a:ext cx="2057760" cy="419400"/>
          </a:xfrm>
          <a:custGeom>
            <a:avLst/>
            <a:gdLst/>
            <a:ahLst/>
            <a:cxnLst/>
            <a:rect l="0" t="0" r="r" b="b"/>
            <a:pathLst>
              <a:path w="5716" h="1165">
                <a:moveTo>
                  <a:pt x="0" y="0"/>
                </a:moveTo>
                <a:lnTo>
                  <a:pt x="5716" y="0"/>
                </a:lnTo>
                <a:lnTo>
                  <a:pt x="571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Forma libre 262"/>
          <p:cNvSpPr/>
          <p:nvPr/>
        </p:nvSpPr>
        <p:spPr>
          <a:xfrm>
            <a:off x="2733480" y="4057560"/>
            <a:ext cx="4848480" cy="419400"/>
          </a:xfrm>
          <a:custGeom>
            <a:avLst/>
            <a:gdLst/>
            <a:ahLst/>
            <a:cxnLst/>
            <a:rect l="0" t="0" r="r" b="b"/>
            <a:pathLst>
              <a:path w="13468" h="1165">
                <a:moveTo>
                  <a:pt x="0" y="0"/>
                </a:moveTo>
                <a:lnTo>
                  <a:pt x="13468" y="0"/>
                </a:lnTo>
                <a:lnTo>
                  <a:pt x="1346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orma libre 263"/>
          <p:cNvSpPr/>
          <p:nvPr/>
        </p:nvSpPr>
        <p:spPr>
          <a:xfrm>
            <a:off x="676080" y="4476600"/>
            <a:ext cx="2057760" cy="419400"/>
          </a:xfrm>
          <a:custGeom>
            <a:avLst/>
            <a:gdLst/>
            <a:ahLst/>
            <a:cxnLst/>
            <a:rect l="0" t="0" r="r" b="b"/>
            <a:pathLst>
              <a:path w="5716" h="1165">
                <a:moveTo>
                  <a:pt x="0" y="0"/>
                </a:moveTo>
                <a:lnTo>
                  <a:pt x="5716" y="0"/>
                </a:lnTo>
                <a:lnTo>
                  <a:pt x="571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Forma libre 264"/>
          <p:cNvSpPr/>
          <p:nvPr/>
        </p:nvSpPr>
        <p:spPr>
          <a:xfrm>
            <a:off x="2733480" y="4476600"/>
            <a:ext cx="4848480" cy="419400"/>
          </a:xfrm>
          <a:custGeom>
            <a:avLst/>
            <a:gdLst/>
            <a:ahLst/>
            <a:cxnLst/>
            <a:rect l="0" t="0" r="r" b="b"/>
            <a:pathLst>
              <a:path w="13468" h="1165">
                <a:moveTo>
                  <a:pt x="0" y="0"/>
                </a:moveTo>
                <a:lnTo>
                  <a:pt x="13468" y="0"/>
                </a:lnTo>
                <a:lnTo>
                  <a:pt x="1346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Forma libre 265"/>
          <p:cNvSpPr/>
          <p:nvPr/>
        </p:nvSpPr>
        <p:spPr>
          <a:xfrm>
            <a:off x="666720" y="15429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orma libre 266"/>
          <p:cNvSpPr/>
          <p:nvPr/>
        </p:nvSpPr>
        <p:spPr>
          <a:xfrm>
            <a:off x="666720" y="1542960"/>
            <a:ext cx="2067120" cy="9720"/>
          </a:xfrm>
          <a:custGeom>
            <a:avLst/>
            <a:gdLst/>
            <a:ahLst/>
            <a:cxnLst/>
            <a:rect l="0" t="0" r="r" b="b"/>
            <a:pathLst>
              <a:path w="5742" h="27">
                <a:moveTo>
                  <a:pt x="0" y="0"/>
                </a:moveTo>
                <a:lnTo>
                  <a:pt x="5742" y="0"/>
                </a:lnTo>
                <a:lnTo>
                  <a:pt x="5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Forma libre 267"/>
          <p:cNvSpPr/>
          <p:nvPr/>
        </p:nvSpPr>
        <p:spPr>
          <a:xfrm>
            <a:off x="2724120" y="15429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Forma libre 268"/>
          <p:cNvSpPr/>
          <p:nvPr/>
        </p:nvSpPr>
        <p:spPr>
          <a:xfrm>
            <a:off x="2733480" y="1542960"/>
            <a:ext cx="4848480" cy="9720"/>
          </a:xfrm>
          <a:custGeom>
            <a:avLst/>
            <a:gdLst/>
            <a:ahLst/>
            <a:cxnLst/>
            <a:rect l="0" t="0" r="r" b="b"/>
            <a:pathLst>
              <a:path w="13468" h="27">
                <a:moveTo>
                  <a:pt x="0" y="0"/>
                </a:moveTo>
                <a:lnTo>
                  <a:pt x="13468" y="0"/>
                </a:lnTo>
                <a:lnTo>
                  <a:pt x="134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Forma libre 269"/>
          <p:cNvSpPr/>
          <p:nvPr/>
        </p:nvSpPr>
        <p:spPr>
          <a:xfrm>
            <a:off x="7572240" y="15429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Forma libre 270"/>
          <p:cNvSpPr/>
          <p:nvPr/>
        </p:nvSpPr>
        <p:spPr>
          <a:xfrm>
            <a:off x="666720" y="1952280"/>
            <a:ext cx="2067120" cy="10080"/>
          </a:xfrm>
          <a:custGeom>
            <a:avLst/>
            <a:gdLst/>
            <a:ahLst/>
            <a:cxnLst/>
            <a:rect l="0" t="0" r="r" b="b"/>
            <a:pathLst>
              <a:path w="5742" h="28">
                <a:moveTo>
                  <a:pt x="0" y="0"/>
                </a:moveTo>
                <a:lnTo>
                  <a:pt x="5742" y="0"/>
                </a:lnTo>
                <a:lnTo>
                  <a:pt x="5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Forma libre 271"/>
          <p:cNvSpPr/>
          <p:nvPr/>
        </p:nvSpPr>
        <p:spPr>
          <a:xfrm>
            <a:off x="2733480" y="1952280"/>
            <a:ext cx="4848480" cy="10080"/>
          </a:xfrm>
          <a:custGeom>
            <a:avLst/>
            <a:gdLst/>
            <a:ahLst/>
            <a:cxnLst/>
            <a:rect l="0" t="0" r="r" b="b"/>
            <a:pathLst>
              <a:path w="13468" h="28">
                <a:moveTo>
                  <a:pt x="0" y="0"/>
                </a:moveTo>
                <a:lnTo>
                  <a:pt x="13468" y="0"/>
                </a:lnTo>
                <a:lnTo>
                  <a:pt x="134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Forma libre 272"/>
          <p:cNvSpPr/>
          <p:nvPr/>
        </p:nvSpPr>
        <p:spPr>
          <a:xfrm>
            <a:off x="666720" y="1962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Forma libre 273"/>
          <p:cNvSpPr/>
          <p:nvPr/>
        </p:nvSpPr>
        <p:spPr>
          <a:xfrm>
            <a:off x="2724120" y="1962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Forma libre 274"/>
          <p:cNvSpPr/>
          <p:nvPr/>
        </p:nvSpPr>
        <p:spPr>
          <a:xfrm>
            <a:off x="7572240" y="1962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Forma libre 275"/>
          <p:cNvSpPr/>
          <p:nvPr/>
        </p:nvSpPr>
        <p:spPr>
          <a:xfrm>
            <a:off x="66672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Forma libre 276"/>
          <p:cNvSpPr/>
          <p:nvPr/>
        </p:nvSpPr>
        <p:spPr>
          <a:xfrm>
            <a:off x="666720" y="2371680"/>
            <a:ext cx="2067120" cy="9720"/>
          </a:xfrm>
          <a:custGeom>
            <a:avLst/>
            <a:gdLst/>
            <a:ahLst/>
            <a:cxnLst/>
            <a:rect l="0" t="0" r="r" b="b"/>
            <a:pathLst>
              <a:path w="5742" h="27">
                <a:moveTo>
                  <a:pt x="0" y="0"/>
                </a:moveTo>
                <a:lnTo>
                  <a:pt x="5742" y="0"/>
                </a:lnTo>
                <a:lnTo>
                  <a:pt x="5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Forma libre 277"/>
          <p:cNvSpPr/>
          <p:nvPr/>
        </p:nvSpPr>
        <p:spPr>
          <a:xfrm>
            <a:off x="272412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Forma libre 278"/>
          <p:cNvSpPr/>
          <p:nvPr/>
        </p:nvSpPr>
        <p:spPr>
          <a:xfrm>
            <a:off x="2733480" y="2371680"/>
            <a:ext cx="4848480" cy="9720"/>
          </a:xfrm>
          <a:custGeom>
            <a:avLst/>
            <a:gdLst/>
            <a:ahLst/>
            <a:cxnLst/>
            <a:rect l="0" t="0" r="r" b="b"/>
            <a:pathLst>
              <a:path w="13468" h="27">
                <a:moveTo>
                  <a:pt x="0" y="0"/>
                </a:moveTo>
                <a:lnTo>
                  <a:pt x="13468" y="0"/>
                </a:lnTo>
                <a:lnTo>
                  <a:pt x="134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Forma libre 279"/>
          <p:cNvSpPr/>
          <p:nvPr/>
        </p:nvSpPr>
        <p:spPr>
          <a:xfrm>
            <a:off x="757224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Forma libre 280"/>
          <p:cNvSpPr/>
          <p:nvPr/>
        </p:nvSpPr>
        <p:spPr>
          <a:xfrm>
            <a:off x="66672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Forma libre 281"/>
          <p:cNvSpPr/>
          <p:nvPr/>
        </p:nvSpPr>
        <p:spPr>
          <a:xfrm>
            <a:off x="666720" y="2790720"/>
            <a:ext cx="2067120" cy="9720"/>
          </a:xfrm>
          <a:custGeom>
            <a:avLst/>
            <a:gdLst/>
            <a:ahLst/>
            <a:cxnLst/>
            <a:rect l="0" t="0" r="r" b="b"/>
            <a:pathLst>
              <a:path w="5742" h="27">
                <a:moveTo>
                  <a:pt x="0" y="0"/>
                </a:moveTo>
                <a:lnTo>
                  <a:pt x="5742" y="0"/>
                </a:lnTo>
                <a:lnTo>
                  <a:pt x="5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Forma libre 282"/>
          <p:cNvSpPr/>
          <p:nvPr/>
        </p:nvSpPr>
        <p:spPr>
          <a:xfrm>
            <a:off x="272412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Forma libre 283"/>
          <p:cNvSpPr/>
          <p:nvPr/>
        </p:nvSpPr>
        <p:spPr>
          <a:xfrm>
            <a:off x="2733480" y="2790720"/>
            <a:ext cx="4848480" cy="9720"/>
          </a:xfrm>
          <a:custGeom>
            <a:avLst/>
            <a:gdLst/>
            <a:ahLst/>
            <a:cxnLst/>
            <a:rect l="0" t="0" r="r" b="b"/>
            <a:pathLst>
              <a:path w="13468" h="27">
                <a:moveTo>
                  <a:pt x="0" y="0"/>
                </a:moveTo>
                <a:lnTo>
                  <a:pt x="13468" y="0"/>
                </a:lnTo>
                <a:lnTo>
                  <a:pt x="134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Forma libre 284"/>
          <p:cNvSpPr/>
          <p:nvPr/>
        </p:nvSpPr>
        <p:spPr>
          <a:xfrm>
            <a:off x="757224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Forma libre 285"/>
          <p:cNvSpPr/>
          <p:nvPr/>
        </p:nvSpPr>
        <p:spPr>
          <a:xfrm>
            <a:off x="66672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Forma libre 286"/>
          <p:cNvSpPr/>
          <p:nvPr/>
        </p:nvSpPr>
        <p:spPr>
          <a:xfrm>
            <a:off x="666720" y="3209760"/>
            <a:ext cx="2067120" cy="9720"/>
          </a:xfrm>
          <a:custGeom>
            <a:avLst/>
            <a:gdLst/>
            <a:ahLst/>
            <a:cxnLst/>
            <a:rect l="0" t="0" r="r" b="b"/>
            <a:pathLst>
              <a:path w="5742" h="27">
                <a:moveTo>
                  <a:pt x="0" y="0"/>
                </a:moveTo>
                <a:lnTo>
                  <a:pt x="5742" y="0"/>
                </a:lnTo>
                <a:lnTo>
                  <a:pt x="5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Forma libre 287"/>
          <p:cNvSpPr/>
          <p:nvPr/>
        </p:nvSpPr>
        <p:spPr>
          <a:xfrm>
            <a:off x="272412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Forma libre 288"/>
          <p:cNvSpPr/>
          <p:nvPr/>
        </p:nvSpPr>
        <p:spPr>
          <a:xfrm>
            <a:off x="2733480" y="3209760"/>
            <a:ext cx="4848480" cy="9720"/>
          </a:xfrm>
          <a:custGeom>
            <a:avLst/>
            <a:gdLst/>
            <a:ahLst/>
            <a:cxnLst/>
            <a:rect l="0" t="0" r="r" b="b"/>
            <a:pathLst>
              <a:path w="13468" h="27">
                <a:moveTo>
                  <a:pt x="0" y="0"/>
                </a:moveTo>
                <a:lnTo>
                  <a:pt x="13468" y="0"/>
                </a:lnTo>
                <a:lnTo>
                  <a:pt x="134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Forma libre 289"/>
          <p:cNvSpPr/>
          <p:nvPr/>
        </p:nvSpPr>
        <p:spPr>
          <a:xfrm>
            <a:off x="757224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Forma libre 290"/>
          <p:cNvSpPr/>
          <p:nvPr/>
        </p:nvSpPr>
        <p:spPr>
          <a:xfrm>
            <a:off x="66672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Forma libre 291"/>
          <p:cNvSpPr/>
          <p:nvPr/>
        </p:nvSpPr>
        <p:spPr>
          <a:xfrm>
            <a:off x="666720" y="3628800"/>
            <a:ext cx="2067120" cy="10080"/>
          </a:xfrm>
          <a:custGeom>
            <a:avLst/>
            <a:gdLst/>
            <a:ahLst/>
            <a:cxnLst/>
            <a:rect l="0" t="0" r="r" b="b"/>
            <a:pathLst>
              <a:path w="5742" h="28">
                <a:moveTo>
                  <a:pt x="0" y="0"/>
                </a:moveTo>
                <a:lnTo>
                  <a:pt x="5742" y="0"/>
                </a:lnTo>
                <a:lnTo>
                  <a:pt x="5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Forma libre 292"/>
          <p:cNvSpPr/>
          <p:nvPr/>
        </p:nvSpPr>
        <p:spPr>
          <a:xfrm>
            <a:off x="272412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Forma libre 293"/>
          <p:cNvSpPr/>
          <p:nvPr/>
        </p:nvSpPr>
        <p:spPr>
          <a:xfrm>
            <a:off x="2733480" y="3628800"/>
            <a:ext cx="4848480" cy="10080"/>
          </a:xfrm>
          <a:custGeom>
            <a:avLst/>
            <a:gdLst/>
            <a:ahLst/>
            <a:cxnLst/>
            <a:rect l="0" t="0" r="r" b="b"/>
            <a:pathLst>
              <a:path w="13468" h="28">
                <a:moveTo>
                  <a:pt x="0" y="0"/>
                </a:moveTo>
                <a:lnTo>
                  <a:pt x="13468" y="0"/>
                </a:lnTo>
                <a:lnTo>
                  <a:pt x="134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Forma libre 294"/>
          <p:cNvSpPr/>
          <p:nvPr/>
        </p:nvSpPr>
        <p:spPr>
          <a:xfrm>
            <a:off x="757224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Forma libre 295"/>
          <p:cNvSpPr/>
          <p:nvPr/>
        </p:nvSpPr>
        <p:spPr>
          <a:xfrm>
            <a:off x="666720" y="4057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Forma libre 296"/>
          <p:cNvSpPr/>
          <p:nvPr/>
        </p:nvSpPr>
        <p:spPr>
          <a:xfrm>
            <a:off x="666720" y="4047840"/>
            <a:ext cx="2067120" cy="10440"/>
          </a:xfrm>
          <a:custGeom>
            <a:avLst/>
            <a:gdLst/>
            <a:ahLst/>
            <a:cxnLst/>
            <a:rect l="0" t="0" r="r" b="b"/>
            <a:pathLst>
              <a:path w="5742" h="29">
                <a:moveTo>
                  <a:pt x="0" y="0"/>
                </a:moveTo>
                <a:lnTo>
                  <a:pt x="5742" y="0"/>
                </a:lnTo>
                <a:lnTo>
                  <a:pt x="5742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Forma libre 297"/>
          <p:cNvSpPr/>
          <p:nvPr/>
        </p:nvSpPr>
        <p:spPr>
          <a:xfrm>
            <a:off x="2724120" y="4057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Forma libre 298"/>
          <p:cNvSpPr/>
          <p:nvPr/>
        </p:nvSpPr>
        <p:spPr>
          <a:xfrm>
            <a:off x="2733480" y="4047840"/>
            <a:ext cx="4848480" cy="10440"/>
          </a:xfrm>
          <a:custGeom>
            <a:avLst/>
            <a:gdLst/>
            <a:ahLst/>
            <a:cxnLst/>
            <a:rect l="0" t="0" r="r" b="b"/>
            <a:pathLst>
              <a:path w="13468" h="29">
                <a:moveTo>
                  <a:pt x="0" y="0"/>
                </a:moveTo>
                <a:lnTo>
                  <a:pt x="13468" y="0"/>
                </a:lnTo>
                <a:lnTo>
                  <a:pt x="13468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Forma libre 299"/>
          <p:cNvSpPr/>
          <p:nvPr/>
        </p:nvSpPr>
        <p:spPr>
          <a:xfrm>
            <a:off x="7572240" y="4057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Forma libre 300"/>
          <p:cNvSpPr/>
          <p:nvPr/>
        </p:nvSpPr>
        <p:spPr>
          <a:xfrm>
            <a:off x="666720" y="4476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orma libre 301"/>
          <p:cNvSpPr/>
          <p:nvPr/>
        </p:nvSpPr>
        <p:spPr>
          <a:xfrm>
            <a:off x="666720" y="4466880"/>
            <a:ext cx="2067120" cy="10080"/>
          </a:xfrm>
          <a:custGeom>
            <a:avLst/>
            <a:gdLst/>
            <a:ahLst/>
            <a:cxnLst/>
            <a:rect l="0" t="0" r="r" b="b"/>
            <a:pathLst>
              <a:path w="5742" h="28">
                <a:moveTo>
                  <a:pt x="0" y="0"/>
                </a:moveTo>
                <a:lnTo>
                  <a:pt x="5742" y="0"/>
                </a:lnTo>
                <a:lnTo>
                  <a:pt x="5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Forma libre 302"/>
          <p:cNvSpPr/>
          <p:nvPr/>
        </p:nvSpPr>
        <p:spPr>
          <a:xfrm>
            <a:off x="2724120" y="4476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orma libre 303"/>
          <p:cNvSpPr/>
          <p:nvPr/>
        </p:nvSpPr>
        <p:spPr>
          <a:xfrm>
            <a:off x="2733480" y="4466880"/>
            <a:ext cx="4848480" cy="10080"/>
          </a:xfrm>
          <a:custGeom>
            <a:avLst/>
            <a:gdLst/>
            <a:ahLst/>
            <a:cxnLst/>
            <a:rect l="0" t="0" r="r" b="b"/>
            <a:pathLst>
              <a:path w="13468" h="28">
                <a:moveTo>
                  <a:pt x="0" y="0"/>
                </a:moveTo>
                <a:lnTo>
                  <a:pt x="13468" y="0"/>
                </a:lnTo>
                <a:lnTo>
                  <a:pt x="134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Forma libre 304"/>
          <p:cNvSpPr/>
          <p:nvPr/>
        </p:nvSpPr>
        <p:spPr>
          <a:xfrm>
            <a:off x="7572240" y="4476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Forma libre 305"/>
          <p:cNvSpPr/>
          <p:nvPr/>
        </p:nvSpPr>
        <p:spPr>
          <a:xfrm>
            <a:off x="666720" y="4886280"/>
            <a:ext cx="2067120" cy="9720"/>
          </a:xfrm>
          <a:custGeom>
            <a:avLst/>
            <a:gdLst/>
            <a:ahLst/>
            <a:cxnLst/>
            <a:rect l="0" t="0" r="r" b="b"/>
            <a:pathLst>
              <a:path w="5742" h="27">
                <a:moveTo>
                  <a:pt x="0" y="0"/>
                </a:moveTo>
                <a:lnTo>
                  <a:pt x="5742" y="0"/>
                </a:lnTo>
                <a:lnTo>
                  <a:pt x="5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Forma libre 306"/>
          <p:cNvSpPr/>
          <p:nvPr/>
        </p:nvSpPr>
        <p:spPr>
          <a:xfrm>
            <a:off x="2733480" y="4886280"/>
            <a:ext cx="4848480" cy="9720"/>
          </a:xfrm>
          <a:custGeom>
            <a:avLst/>
            <a:gdLst/>
            <a:ahLst/>
            <a:cxnLst/>
            <a:rect l="0" t="0" r="r" b="b"/>
            <a:pathLst>
              <a:path w="13468" h="27">
                <a:moveTo>
                  <a:pt x="0" y="0"/>
                </a:moveTo>
                <a:lnTo>
                  <a:pt x="13468" y="0"/>
                </a:lnTo>
                <a:lnTo>
                  <a:pt x="134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Forma libre 307"/>
          <p:cNvSpPr/>
          <p:nvPr/>
        </p:nvSpPr>
        <p:spPr>
          <a:xfrm>
            <a:off x="666720" y="504792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Forma libre 308"/>
          <p:cNvSpPr/>
          <p:nvPr/>
        </p:nvSpPr>
        <p:spPr>
          <a:xfrm>
            <a:off x="666720" y="504792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CuadroTexto 309"/>
          <p:cNvSpPr txBox="1"/>
          <p:nvPr/>
        </p:nvSpPr>
        <p:spPr>
          <a:xfrm>
            <a:off x="666720" y="910800"/>
            <a:ext cx="4125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Las piezas de un lanzamiento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CuadroTexto 310"/>
          <p:cNvSpPr txBox="1"/>
          <p:nvPr/>
        </p:nvSpPr>
        <p:spPr>
          <a:xfrm>
            <a:off x="1454400" y="1647360"/>
            <a:ext cx="494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Pieza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CuadroTexto 311"/>
          <p:cNvSpPr txBox="1"/>
          <p:nvPr/>
        </p:nvSpPr>
        <p:spPr>
          <a:xfrm>
            <a:off x="4638240" y="1647360"/>
            <a:ext cx="1034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decide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CuadroTexto 312"/>
          <p:cNvSpPr txBox="1"/>
          <p:nvPr/>
        </p:nvSpPr>
        <p:spPr>
          <a:xfrm>
            <a:off x="799920" y="2057040"/>
            <a:ext cx="360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AMI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CuadroTexto 313"/>
          <p:cNvSpPr txBox="1"/>
          <p:nvPr/>
        </p:nvSpPr>
        <p:spPr>
          <a:xfrm>
            <a:off x="2859840" y="2057040"/>
            <a:ext cx="3861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sistema operativo y lo que viene preinstalado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CuadroTexto 314"/>
          <p:cNvSpPr txBox="1"/>
          <p:nvPr/>
        </p:nvSpPr>
        <p:spPr>
          <a:xfrm>
            <a:off x="799920" y="2476080"/>
            <a:ext cx="398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Tipo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CuadroTexto 315"/>
          <p:cNvSpPr txBox="1"/>
          <p:nvPr/>
        </p:nvSpPr>
        <p:spPr>
          <a:xfrm>
            <a:off x="2859840" y="2476080"/>
            <a:ext cx="1670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CPU, memoria y red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CuadroTexto 316"/>
          <p:cNvSpPr txBox="1"/>
          <p:nvPr/>
        </p:nvSpPr>
        <p:spPr>
          <a:xfrm>
            <a:off x="799920" y="2895120"/>
            <a:ext cx="1161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 de llaves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CuadroTexto 317"/>
          <p:cNvSpPr txBox="1"/>
          <p:nvPr/>
        </p:nvSpPr>
        <p:spPr>
          <a:xfrm>
            <a:off x="2859840" y="2895120"/>
            <a:ext cx="1786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cómo entras por SSH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CuadroTexto 318"/>
          <p:cNvSpPr txBox="1"/>
          <p:nvPr/>
        </p:nvSpPr>
        <p:spPr>
          <a:xfrm>
            <a:off x="799920" y="3314160"/>
            <a:ext cx="1803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Grupo de seguridad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CuadroTexto 319"/>
          <p:cNvSpPr txBox="1"/>
          <p:nvPr/>
        </p:nvSpPr>
        <p:spPr>
          <a:xfrm>
            <a:off x="2859840" y="3314160"/>
            <a:ext cx="3116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ﬁrewall: qué puertos y desde dónde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CuadroTexto 320"/>
          <p:cNvSpPr txBox="1"/>
          <p:nvPr/>
        </p:nvSpPr>
        <p:spPr>
          <a:xfrm>
            <a:off x="799920" y="3733560"/>
            <a:ext cx="381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EBS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CuadroTexto 321"/>
          <p:cNvSpPr txBox="1"/>
          <p:nvPr/>
        </p:nvSpPr>
        <p:spPr>
          <a:xfrm>
            <a:off x="2859840" y="3733560"/>
            <a:ext cx="2323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disco (gp3 para casi todo)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CuadroTexto 322"/>
          <p:cNvSpPr txBox="1"/>
          <p:nvPr/>
        </p:nvSpPr>
        <p:spPr>
          <a:xfrm>
            <a:off x="799920" y="4152600"/>
            <a:ext cx="882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User data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CuadroTexto 323"/>
          <p:cNvSpPr txBox="1"/>
          <p:nvPr/>
        </p:nvSpPr>
        <p:spPr>
          <a:xfrm>
            <a:off x="2859840" y="4152600"/>
            <a:ext cx="4594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script que corre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al arrancar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instala lo que necesitas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CuadroTexto 324"/>
          <p:cNvSpPr txBox="1"/>
          <p:nvPr/>
        </p:nvSpPr>
        <p:spPr>
          <a:xfrm>
            <a:off x="799920" y="4571640"/>
            <a:ext cx="716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Rol IAM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Forma libre 325"/>
          <p:cNvSpPr/>
          <p:nvPr/>
        </p:nvSpPr>
        <p:spPr>
          <a:xfrm>
            <a:off x="904680" y="5219640"/>
            <a:ext cx="1171800" cy="266760"/>
          </a:xfrm>
          <a:custGeom>
            <a:avLst/>
            <a:gdLst/>
            <a:ahLst/>
            <a:cxnLst/>
            <a:rect l="0" t="0" r="r" b="b"/>
            <a:pathLst>
              <a:path w="3255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150" y="0"/>
                </a:lnTo>
                <a:cubicBezTo>
                  <a:pt x="3164" y="0"/>
                  <a:pt x="3177" y="2"/>
                  <a:pt x="3190" y="8"/>
                </a:cubicBezTo>
                <a:cubicBezTo>
                  <a:pt x="3203" y="13"/>
                  <a:pt x="3214" y="21"/>
                  <a:pt x="3224" y="31"/>
                </a:cubicBezTo>
                <a:cubicBezTo>
                  <a:pt x="3234" y="41"/>
                  <a:pt x="3242" y="52"/>
                  <a:pt x="3247" y="65"/>
                </a:cubicBezTo>
                <a:cubicBezTo>
                  <a:pt x="3253" y="78"/>
                  <a:pt x="3255" y="91"/>
                  <a:pt x="3255" y="105"/>
                </a:cubicBezTo>
                <a:lnTo>
                  <a:pt x="3255" y="635"/>
                </a:lnTo>
                <a:cubicBezTo>
                  <a:pt x="3255" y="649"/>
                  <a:pt x="3253" y="662"/>
                  <a:pt x="3247" y="676"/>
                </a:cubicBezTo>
                <a:cubicBezTo>
                  <a:pt x="3242" y="689"/>
                  <a:pt x="3234" y="701"/>
                  <a:pt x="3224" y="711"/>
                </a:cubicBezTo>
                <a:cubicBezTo>
                  <a:pt x="3214" y="720"/>
                  <a:pt x="3203" y="728"/>
                  <a:pt x="3190" y="733"/>
                </a:cubicBezTo>
                <a:cubicBezTo>
                  <a:pt x="3177" y="739"/>
                  <a:pt x="3164" y="741"/>
                  <a:pt x="3150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CuadroTexto 326"/>
          <p:cNvSpPr txBox="1"/>
          <p:nvPr/>
        </p:nvSpPr>
        <p:spPr>
          <a:xfrm>
            <a:off x="2859840" y="4571640"/>
            <a:ext cx="3268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 que la instancia puede hacer en AWS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CuadroTexto 327"/>
          <p:cNvSpPr txBox="1"/>
          <p:nvPr/>
        </p:nvSpPr>
        <p:spPr>
          <a:xfrm>
            <a:off x="961920" y="523944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user data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CuadroTexto 328"/>
          <p:cNvSpPr txBox="1"/>
          <p:nvPr/>
        </p:nvSpPr>
        <p:spPr>
          <a:xfrm>
            <a:off x="2072160" y="5202000"/>
            <a:ext cx="8766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es lo que convierte «conﬁguré la máquina a mano» en algo reproducible. Si lo hiciste 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CuadroTexto 329"/>
          <p:cNvSpPr txBox="1"/>
          <p:nvPr/>
        </p:nvSpPr>
        <p:spPr>
          <a:xfrm>
            <a:off x="905040" y="5545080"/>
            <a:ext cx="2465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veces a mano, ponlo ahí.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CuadroTexto 33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CuadroTexto 33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CuadroTexto 33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Forma libre 3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Forma libre 3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Forma libre 3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Forma libre 336"/>
          <p:cNvSpPr/>
          <p:nvPr/>
        </p:nvSpPr>
        <p:spPr>
          <a:xfrm>
            <a:off x="671400" y="262404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7"/>
                  <a:pt x="30103" y="2267"/>
                </a:cubicBezTo>
                <a:cubicBezTo>
                  <a:pt x="30096" y="2278"/>
                  <a:pt x="30088" y="2288"/>
                  <a:pt x="30079" y="2297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5"/>
                  <a:pt x="30014" y="2340"/>
                </a:cubicBezTo>
                <a:cubicBezTo>
                  <a:pt x="30002" y="2345"/>
                  <a:pt x="29990" y="2349"/>
                  <a:pt x="29977" y="2352"/>
                </a:cubicBezTo>
                <a:cubicBezTo>
                  <a:pt x="29964" y="2354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4"/>
                  <a:pt x="160" y="2352"/>
                </a:cubicBezTo>
                <a:cubicBezTo>
                  <a:pt x="147" y="2349"/>
                  <a:pt x="134" y="2345"/>
                  <a:pt x="122" y="2340"/>
                </a:cubicBezTo>
                <a:cubicBezTo>
                  <a:pt x="110" y="2335"/>
                  <a:pt x="99" y="2329"/>
                  <a:pt x="88" y="2322"/>
                </a:cubicBezTo>
                <a:cubicBezTo>
                  <a:pt x="77" y="2315"/>
                  <a:pt x="67" y="2307"/>
                  <a:pt x="58" y="2297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7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Forma libre 337"/>
          <p:cNvSpPr/>
          <p:nvPr/>
        </p:nvSpPr>
        <p:spPr>
          <a:xfrm>
            <a:off x="671400" y="262404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7"/>
                  <a:pt x="30103" y="2267"/>
                </a:cubicBezTo>
                <a:cubicBezTo>
                  <a:pt x="30096" y="2278"/>
                  <a:pt x="30088" y="2288"/>
                  <a:pt x="30079" y="2297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5"/>
                  <a:pt x="30014" y="2340"/>
                </a:cubicBezTo>
                <a:cubicBezTo>
                  <a:pt x="30002" y="2345"/>
                  <a:pt x="29990" y="2349"/>
                  <a:pt x="29977" y="2352"/>
                </a:cubicBezTo>
                <a:cubicBezTo>
                  <a:pt x="29964" y="2354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4"/>
                  <a:pt x="160" y="2352"/>
                </a:cubicBezTo>
                <a:cubicBezTo>
                  <a:pt x="147" y="2349"/>
                  <a:pt x="134" y="2345"/>
                  <a:pt x="122" y="2340"/>
                </a:cubicBezTo>
                <a:cubicBezTo>
                  <a:pt x="110" y="2335"/>
                  <a:pt x="99" y="2329"/>
                  <a:pt x="88" y="2322"/>
                </a:cubicBezTo>
                <a:cubicBezTo>
                  <a:pt x="77" y="2315"/>
                  <a:pt x="67" y="2307"/>
                  <a:pt x="58" y="2297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7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Forma libre 338"/>
          <p:cNvSpPr/>
          <p:nvPr/>
        </p:nvSpPr>
        <p:spPr>
          <a:xfrm>
            <a:off x="666720" y="446688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Forma libre 339"/>
          <p:cNvSpPr/>
          <p:nvPr/>
        </p:nvSpPr>
        <p:spPr>
          <a:xfrm>
            <a:off x="666720" y="446688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CuadroTexto 340"/>
          <p:cNvSpPr txBox="1"/>
          <p:nvPr/>
        </p:nvSpPr>
        <p:spPr>
          <a:xfrm>
            <a:off x="666720" y="1491840"/>
            <a:ext cx="49734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rol de instancia: acceso sin llaves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CuadroTexto 344"/>
          <p:cNvSpPr txBox="1"/>
          <p:nvPr/>
        </p:nvSpPr>
        <p:spPr>
          <a:xfrm>
            <a:off x="866880" y="2803680"/>
            <a:ext cx="8080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MAL   copias tu ~/.aws/credentials a la instancia      (AKIA…, permanente)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CuadroTexto 345"/>
          <p:cNvSpPr txBox="1"/>
          <p:nvPr/>
        </p:nvSpPr>
        <p:spPr>
          <a:xfrm>
            <a:off x="866880" y="3070440"/>
            <a:ext cx="7971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BIEN  le adjuntas un ROL                                (ASIA…, temporal)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CuadroTexto 346"/>
          <p:cNvSpPr txBox="1"/>
          <p:nvPr/>
        </p:nvSpPr>
        <p:spPr>
          <a:xfrm>
            <a:off x="666720" y="3668400"/>
            <a:ext cx="10688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 un rol, la instancia pide credenciales al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servicio de metadatos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las recibe ya con fecha de caducidad.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orma libre 347"/>
          <p:cNvSpPr/>
          <p:nvPr/>
        </p:nvSpPr>
        <p:spPr>
          <a:xfrm>
            <a:off x="2590560" y="4028760"/>
            <a:ext cx="695880" cy="267120"/>
          </a:xfrm>
          <a:custGeom>
            <a:avLst/>
            <a:gdLst/>
            <a:ahLst/>
            <a:cxnLst/>
            <a:rect l="0" t="0" r="r" b="b"/>
            <a:pathLst>
              <a:path w="193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827" y="0"/>
                </a:lnTo>
                <a:cubicBezTo>
                  <a:pt x="1841" y="0"/>
                  <a:pt x="1854" y="3"/>
                  <a:pt x="1867" y="8"/>
                </a:cubicBezTo>
                <a:cubicBezTo>
                  <a:pt x="1880" y="14"/>
                  <a:pt x="1892" y="21"/>
                  <a:pt x="1902" y="31"/>
                </a:cubicBezTo>
                <a:cubicBezTo>
                  <a:pt x="1912" y="41"/>
                  <a:pt x="1919" y="53"/>
                  <a:pt x="1925" y="66"/>
                </a:cubicBezTo>
                <a:cubicBezTo>
                  <a:pt x="1930" y="79"/>
                  <a:pt x="1933" y="92"/>
                  <a:pt x="1933" y="106"/>
                </a:cubicBezTo>
                <a:lnTo>
                  <a:pt x="1933" y="636"/>
                </a:lnTo>
                <a:cubicBezTo>
                  <a:pt x="1933" y="650"/>
                  <a:pt x="1930" y="664"/>
                  <a:pt x="1925" y="677"/>
                </a:cubicBezTo>
                <a:cubicBezTo>
                  <a:pt x="1919" y="690"/>
                  <a:pt x="1912" y="701"/>
                  <a:pt x="1902" y="711"/>
                </a:cubicBezTo>
                <a:cubicBezTo>
                  <a:pt x="1892" y="721"/>
                  <a:pt x="1880" y="729"/>
                  <a:pt x="1867" y="734"/>
                </a:cubicBezTo>
                <a:cubicBezTo>
                  <a:pt x="1854" y="740"/>
                  <a:pt x="1841" y="742"/>
                  <a:pt x="1827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CuadroTexto 348"/>
          <p:cNvSpPr txBox="1"/>
          <p:nvPr/>
        </p:nvSpPr>
        <p:spPr>
          <a:xfrm>
            <a:off x="666720" y="4011480"/>
            <a:ext cx="1927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 renuevan solas.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CuadroTexto 349"/>
          <p:cNvSpPr txBox="1"/>
          <p:nvPr/>
        </p:nvSpPr>
        <p:spPr>
          <a:xfrm>
            <a:off x="2646720" y="404892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boto3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CuadroTexto 350"/>
          <p:cNvSpPr txBox="1"/>
          <p:nvPr/>
        </p:nvSpPr>
        <p:spPr>
          <a:xfrm>
            <a:off x="3288960" y="4011480"/>
            <a:ext cx="3591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las encuentra sin que le digas nada.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CuadroTexto 351"/>
          <p:cNvSpPr txBox="1"/>
          <p:nvPr/>
        </p:nvSpPr>
        <p:spPr>
          <a:xfrm>
            <a:off x="905040" y="4620960"/>
            <a:ext cx="10431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Si alguien se mete a tu instancia, con llaves se lleva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tu cuenta entera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; con un rol se lleva lo poco que ese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CuadroTexto 352"/>
          <p:cNvSpPr txBox="1"/>
          <p:nvPr/>
        </p:nvSpPr>
        <p:spPr>
          <a:xfrm>
            <a:off x="905040" y="4964040"/>
            <a:ext cx="3045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rol permite, y por poco tiempo.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CuadroTexto 35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CuadroTexto 35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CuadroTexto 35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4AAE121-0025-69E2-A976-23FE3E0F0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1198"/>
            <a:ext cx="11798426" cy="585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83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Forma libre 3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Forma libre 3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orma libre 35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CuadroTexto 359"/>
          <p:cNvSpPr txBox="1"/>
          <p:nvPr/>
        </p:nvSpPr>
        <p:spPr>
          <a:xfrm>
            <a:off x="3594960" y="3063960"/>
            <a:ext cx="51199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Redes: el puerto 22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CuadroTexto 36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CuadroTexto 36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CuadroTexto 36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Forma libre 3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Forma libre 3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Forma libre 36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orma libre 366"/>
          <p:cNvSpPr/>
          <p:nvPr/>
        </p:nvSpPr>
        <p:spPr>
          <a:xfrm>
            <a:off x="671400" y="236664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2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2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Forma libre 367"/>
          <p:cNvSpPr/>
          <p:nvPr/>
        </p:nvSpPr>
        <p:spPr>
          <a:xfrm>
            <a:off x="671400" y="236664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2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2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CuadroTexto 368"/>
          <p:cNvSpPr txBox="1"/>
          <p:nvPr/>
        </p:nvSpPr>
        <p:spPr>
          <a:xfrm>
            <a:off x="666720" y="1720440"/>
            <a:ext cx="3909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Nunca abras SSH al mundo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CuadroTexto 369"/>
          <p:cNvSpPr txBox="1"/>
          <p:nvPr/>
        </p:nvSpPr>
        <p:spPr>
          <a:xfrm>
            <a:off x="866880" y="2546640"/>
            <a:ext cx="7643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MAL    SSH (22) desde 0.0.0.0/0        ← bots lo encuentran en minutos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CuadroTexto 370"/>
          <p:cNvSpPr txBox="1"/>
          <p:nvPr/>
        </p:nvSpPr>
        <p:spPr>
          <a:xfrm>
            <a:off x="866880" y="2813400"/>
            <a:ext cx="3385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BIEN   SSH (22) desde TU IP /32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CuadroTexto 371"/>
          <p:cNvSpPr txBox="1"/>
          <p:nvPr/>
        </p:nvSpPr>
        <p:spPr>
          <a:xfrm>
            <a:off x="866880" y="3070440"/>
            <a:ext cx="4477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MEJOR  sin puerto 22: AWS Session Manager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CuadroTexto 372"/>
          <p:cNvSpPr txBox="1"/>
          <p:nvPr/>
        </p:nvSpPr>
        <p:spPr>
          <a:xfrm>
            <a:off x="666720" y="3668400"/>
            <a:ext cx="10755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Session Manager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entra a la instancia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sin abrir ningún puerto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la instancia inicia la conexión hacia afuera, 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CuadroTexto 373"/>
          <p:cNvSpPr txBox="1"/>
          <p:nvPr/>
        </p:nvSpPr>
        <p:spPr>
          <a:xfrm>
            <a:off x="666720" y="4011480"/>
            <a:ext cx="7011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acceso se controla con IAM —con bitácora de quién entró y cuándo.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Forma libre 374"/>
          <p:cNvSpPr/>
          <p:nvPr/>
        </p:nvSpPr>
        <p:spPr>
          <a:xfrm>
            <a:off x="6286320" y="4524120"/>
            <a:ext cx="1171800" cy="267120"/>
          </a:xfrm>
          <a:custGeom>
            <a:avLst/>
            <a:gdLst/>
            <a:ahLst/>
            <a:cxnLst/>
            <a:rect l="0" t="0" r="r" b="b"/>
            <a:pathLst>
              <a:path w="325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150" y="0"/>
                </a:lnTo>
                <a:cubicBezTo>
                  <a:pt x="3164" y="0"/>
                  <a:pt x="3177" y="3"/>
                  <a:pt x="3190" y="8"/>
                </a:cubicBezTo>
                <a:cubicBezTo>
                  <a:pt x="3203" y="14"/>
                  <a:pt x="3214" y="21"/>
                  <a:pt x="3224" y="31"/>
                </a:cubicBezTo>
                <a:cubicBezTo>
                  <a:pt x="3234" y="41"/>
                  <a:pt x="3242" y="53"/>
                  <a:pt x="3247" y="66"/>
                </a:cubicBezTo>
                <a:cubicBezTo>
                  <a:pt x="3253" y="79"/>
                  <a:pt x="3255" y="92"/>
                  <a:pt x="3255" y="106"/>
                </a:cubicBezTo>
                <a:lnTo>
                  <a:pt x="3255" y="636"/>
                </a:lnTo>
                <a:cubicBezTo>
                  <a:pt x="3255" y="650"/>
                  <a:pt x="3253" y="664"/>
                  <a:pt x="3247" y="677"/>
                </a:cubicBezTo>
                <a:cubicBezTo>
                  <a:pt x="3242" y="690"/>
                  <a:pt x="3234" y="701"/>
                  <a:pt x="3224" y="711"/>
                </a:cubicBezTo>
                <a:cubicBezTo>
                  <a:pt x="3214" y="721"/>
                  <a:pt x="3203" y="729"/>
                  <a:pt x="3190" y="734"/>
                </a:cubicBezTo>
                <a:cubicBezTo>
                  <a:pt x="3177" y="739"/>
                  <a:pt x="3164" y="742"/>
                  <a:pt x="3150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CuadroTexto 375"/>
          <p:cNvSpPr txBox="1"/>
          <p:nvPr/>
        </p:nvSpPr>
        <p:spPr>
          <a:xfrm>
            <a:off x="666720" y="4506840"/>
            <a:ext cx="5620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¿Y Jupyter?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No lo expongas. Levántalo escuchando en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CuadroTexto 376"/>
          <p:cNvSpPr txBox="1"/>
          <p:nvPr/>
        </p:nvSpPr>
        <p:spPr>
          <a:xfrm>
            <a:off x="6343920" y="454392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localhost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CuadroTexto 377"/>
          <p:cNvSpPr txBox="1"/>
          <p:nvPr/>
        </p:nvSpPr>
        <p:spPr>
          <a:xfrm>
            <a:off x="7454160" y="4506840"/>
            <a:ext cx="3600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llega por un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túnel SSH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Nunca un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CuadroTexto 378"/>
          <p:cNvSpPr txBox="1"/>
          <p:nvPr/>
        </p:nvSpPr>
        <p:spPr>
          <a:xfrm>
            <a:off x="666720" y="4849560"/>
            <a:ext cx="3037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puerto 8888 abierto al internet.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CuadroTexto 37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CuadroTexto 38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CuadroTexto 38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Forma libre 38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Forma libre 3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Forma libre 3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CuadroTexto 385"/>
          <p:cNvSpPr txBox="1"/>
          <p:nvPr/>
        </p:nvSpPr>
        <p:spPr>
          <a:xfrm>
            <a:off x="3602880" y="3063960"/>
            <a:ext cx="51094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El patrón de trabajo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CuadroTexto 38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CuadroTexto 38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CuadroTexto 38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Forma libre 38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Forma libre 39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Forma libre 39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Forma libre 392"/>
          <p:cNvSpPr/>
          <p:nvPr/>
        </p:nvSpPr>
        <p:spPr>
          <a:xfrm>
            <a:off x="671400" y="206208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5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415"/>
                </a:lnTo>
                <a:cubicBezTo>
                  <a:pt x="30137" y="1428"/>
                  <a:pt x="30136" y="1441"/>
                  <a:pt x="30133" y="1454"/>
                </a:cubicBezTo>
                <a:cubicBezTo>
                  <a:pt x="30130" y="1467"/>
                  <a:pt x="30127" y="1479"/>
                  <a:pt x="30122" y="1491"/>
                </a:cubicBezTo>
                <a:cubicBezTo>
                  <a:pt x="30117" y="1503"/>
                  <a:pt x="30111" y="1515"/>
                  <a:pt x="30103" y="1525"/>
                </a:cubicBezTo>
                <a:cubicBezTo>
                  <a:pt x="30096" y="1537"/>
                  <a:pt x="30088" y="1547"/>
                  <a:pt x="30079" y="1557"/>
                </a:cubicBezTo>
                <a:cubicBezTo>
                  <a:pt x="30070" y="1566"/>
                  <a:pt x="30059" y="1574"/>
                  <a:pt x="30049" y="1581"/>
                </a:cubicBezTo>
                <a:cubicBezTo>
                  <a:pt x="30038" y="1588"/>
                  <a:pt x="30026" y="1595"/>
                  <a:pt x="30014" y="1600"/>
                </a:cubicBezTo>
                <a:cubicBezTo>
                  <a:pt x="30002" y="1605"/>
                  <a:pt x="29990" y="1608"/>
                  <a:pt x="29977" y="1611"/>
                </a:cubicBezTo>
                <a:cubicBezTo>
                  <a:pt x="29964" y="1613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3"/>
                  <a:pt x="160" y="1611"/>
                </a:cubicBezTo>
                <a:cubicBezTo>
                  <a:pt x="147" y="1608"/>
                  <a:pt x="134" y="1605"/>
                  <a:pt x="122" y="1600"/>
                </a:cubicBezTo>
                <a:cubicBezTo>
                  <a:pt x="110" y="1595"/>
                  <a:pt x="99" y="1588"/>
                  <a:pt x="88" y="1581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7"/>
                  <a:pt x="40" y="1537"/>
                  <a:pt x="33" y="1525"/>
                </a:cubicBezTo>
                <a:cubicBezTo>
                  <a:pt x="26" y="1515"/>
                  <a:pt x="20" y="1503"/>
                  <a:pt x="15" y="1491"/>
                </a:cubicBezTo>
                <a:cubicBezTo>
                  <a:pt x="10" y="1479"/>
                  <a:pt x="6" y="1467"/>
                  <a:pt x="4" y="1454"/>
                </a:cubicBezTo>
                <a:cubicBezTo>
                  <a:pt x="1" y="1441"/>
                  <a:pt x="0" y="1428"/>
                  <a:pt x="0" y="1415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Forma libre 393"/>
          <p:cNvSpPr/>
          <p:nvPr/>
        </p:nvSpPr>
        <p:spPr>
          <a:xfrm>
            <a:off x="671400" y="206208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5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415"/>
                </a:lnTo>
                <a:cubicBezTo>
                  <a:pt x="30137" y="1428"/>
                  <a:pt x="30136" y="1441"/>
                  <a:pt x="30133" y="1454"/>
                </a:cubicBezTo>
                <a:cubicBezTo>
                  <a:pt x="30130" y="1467"/>
                  <a:pt x="30127" y="1479"/>
                  <a:pt x="30122" y="1491"/>
                </a:cubicBezTo>
                <a:cubicBezTo>
                  <a:pt x="30117" y="1503"/>
                  <a:pt x="30111" y="1515"/>
                  <a:pt x="30103" y="1525"/>
                </a:cubicBezTo>
                <a:cubicBezTo>
                  <a:pt x="30096" y="1537"/>
                  <a:pt x="30088" y="1547"/>
                  <a:pt x="30079" y="1557"/>
                </a:cubicBezTo>
                <a:cubicBezTo>
                  <a:pt x="30070" y="1566"/>
                  <a:pt x="30059" y="1574"/>
                  <a:pt x="30049" y="1581"/>
                </a:cubicBezTo>
                <a:cubicBezTo>
                  <a:pt x="30038" y="1588"/>
                  <a:pt x="30026" y="1595"/>
                  <a:pt x="30014" y="1600"/>
                </a:cubicBezTo>
                <a:cubicBezTo>
                  <a:pt x="30002" y="1605"/>
                  <a:pt x="29990" y="1608"/>
                  <a:pt x="29977" y="1611"/>
                </a:cubicBezTo>
                <a:cubicBezTo>
                  <a:pt x="29964" y="1613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3"/>
                  <a:pt x="160" y="1611"/>
                </a:cubicBezTo>
                <a:cubicBezTo>
                  <a:pt x="147" y="1608"/>
                  <a:pt x="134" y="1605"/>
                  <a:pt x="122" y="1600"/>
                </a:cubicBezTo>
                <a:cubicBezTo>
                  <a:pt x="110" y="1595"/>
                  <a:pt x="99" y="1588"/>
                  <a:pt x="88" y="1581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7"/>
                  <a:pt x="40" y="1537"/>
                  <a:pt x="33" y="1525"/>
                </a:cubicBezTo>
                <a:cubicBezTo>
                  <a:pt x="26" y="1515"/>
                  <a:pt x="20" y="1503"/>
                  <a:pt x="15" y="1491"/>
                </a:cubicBezTo>
                <a:cubicBezTo>
                  <a:pt x="10" y="1479"/>
                  <a:pt x="6" y="1467"/>
                  <a:pt x="4" y="1454"/>
                </a:cubicBezTo>
                <a:cubicBezTo>
                  <a:pt x="1" y="1441"/>
                  <a:pt x="0" y="1428"/>
                  <a:pt x="0" y="141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Forma libre 394"/>
          <p:cNvSpPr/>
          <p:nvPr/>
        </p:nvSpPr>
        <p:spPr>
          <a:xfrm>
            <a:off x="671400" y="4595760"/>
            <a:ext cx="10849320" cy="847800"/>
          </a:xfrm>
          <a:custGeom>
            <a:avLst/>
            <a:gdLst/>
            <a:ahLst/>
            <a:cxnLst/>
            <a:rect l="0" t="0" r="r" b="b"/>
            <a:pathLst>
              <a:path w="30137" h="2355">
                <a:moveTo>
                  <a:pt x="0" y="2157"/>
                </a:moveTo>
                <a:lnTo>
                  <a:pt x="0" y="199"/>
                </a:lnTo>
                <a:cubicBezTo>
                  <a:pt x="0" y="186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6"/>
                  <a:pt x="30137" y="199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8"/>
                  <a:pt x="30127" y="2221"/>
                  <a:pt x="30122" y="2233"/>
                </a:cubicBezTo>
                <a:cubicBezTo>
                  <a:pt x="30117" y="2245"/>
                  <a:pt x="30111" y="2256"/>
                  <a:pt x="30103" y="2267"/>
                </a:cubicBezTo>
                <a:cubicBezTo>
                  <a:pt x="30096" y="2278"/>
                  <a:pt x="30088" y="2288"/>
                  <a:pt x="30079" y="2297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5"/>
                  <a:pt x="30014" y="2340"/>
                </a:cubicBezTo>
                <a:cubicBezTo>
                  <a:pt x="30002" y="2345"/>
                  <a:pt x="29990" y="2349"/>
                  <a:pt x="29977" y="2352"/>
                </a:cubicBezTo>
                <a:cubicBezTo>
                  <a:pt x="29964" y="2354"/>
                  <a:pt x="29951" y="2355"/>
                  <a:pt x="29938" y="2355"/>
                </a:cubicBezTo>
                <a:lnTo>
                  <a:pt x="198" y="2355"/>
                </a:lnTo>
                <a:cubicBezTo>
                  <a:pt x="185" y="2355"/>
                  <a:pt x="172" y="2354"/>
                  <a:pt x="160" y="2352"/>
                </a:cubicBezTo>
                <a:cubicBezTo>
                  <a:pt x="147" y="2349"/>
                  <a:pt x="134" y="2345"/>
                  <a:pt x="122" y="2340"/>
                </a:cubicBezTo>
                <a:cubicBezTo>
                  <a:pt x="110" y="2335"/>
                  <a:pt x="99" y="2329"/>
                  <a:pt x="88" y="2322"/>
                </a:cubicBezTo>
                <a:cubicBezTo>
                  <a:pt x="77" y="2315"/>
                  <a:pt x="67" y="2307"/>
                  <a:pt x="58" y="2297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6"/>
                  <a:pt x="20" y="2245"/>
                  <a:pt x="15" y="2233"/>
                </a:cubicBezTo>
                <a:cubicBezTo>
                  <a:pt x="10" y="2221"/>
                  <a:pt x="6" y="2208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Forma libre 395"/>
          <p:cNvSpPr/>
          <p:nvPr/>
        </p:nvSpPr>
        <p:spPr>
          <a:xfrm>
            <a:off x="671400" y="4595760"/>
            <a:ext cx="10849320" cy="847800"/>
          </a:xfrm>
          <a:custGeom>
            <a:avLst/>
            <a:gdLst/>
            <a:ahLst/>
            <a:cxnLst/>
            <a:rect l="0" t="0" r="r" b="b"/>
            <a:pathLst>
              <a:path w="30137" h="2355">
                <a:moveTo>
                  <a:pt x="0" y="2157"/>
                </a:moveTo>
                <a:lnTo>
                  <a:pt x="0" y="199"/>
                </a:lnTo>
                <a:cubicBezTo>
                  <a:pt x="0" y="186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6"/>
                  <a:pt x="30137" y="199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8"/>
                  <a:pt x="30127" y="2221"/>
                  <a:pt x="30122" y="2233"/>
                </a:cubicBezTo>
                <a:cubicBezTo>
                  <a:pt x="30117" y="2245"/>
                  <a:pt x="30111" y="2256"/>
                  <a:pt x="30103" y="2267"/>
                </a:cubicBezTo>
                <a:cubicBezTo>
                  <a:pt x="30096" y="2278"/>
                  <a:pt x="30088" y="2288"/>
                  <a:pt x="30079" y="2297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5"/>
                  <a:pt x="30014" y="2340"/>
                </a:cubicBezTo>
                <a:cubicBezTo>
                  <a:pt x="30002" y="2345"/>
                  <a:pt x="29990" y="2349"/>
                  <a:pt x="29977" y="2352"/>
                </a:cubicBezTo>
                <a:cubicBezTo>
                  <a:pt x="29964" y="2354"/>
                  <a:pt x="29951" y="2355"/>
                  <a:pt x="29938" y="2355"/>
                </a:cubicBezTo>
                <a:lnTo>
                  <a:pt x="198" y="2355"/>
                </a:lnTo>
                <a:cubicBezTo>
                  <a:pt x="185" y="2355"/>
                  <a:pt x="172" y="2354"/>
                  <a:pt x="160" y="2352"/>
                </a:cubicBezTo>
                <a:cubicBezTo>
                  <a:pt x="147" y="2349"/>
                  <a:pt x="134" y="2345"/>
                  <a:pt x="122" y="2340"/>
                </a:cubicBezTo>
                <a:cubicBezTo>
                  <a:pt x="110" y="2335"/>
                  <a:pt x="99" y="2329"/>
                  <a:pt x="88" y="2322"/>
                </a:cubicBezTo>
                <a:cubicBezTo>
                  <a:pt x="77" y="2315"/>
                  <a:pt x="67" y="2307"/>
                  <a:pt x="58" y="2297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6"/>
                  <a:pt x="20" y="2245"/>
                  <a:pt x="15" y="2233"/>
                </a:cubicBezTo>
                <a:cubicBezTo>
                  <a:pt x="10" y="2221"/>
                  <a:pt x="6" y="2208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CuadroTexto 396"/>
          <p:cNvSpPr txBox="1"/>
          <p:nvPr/>
        </p:nvSpPr>
        <p:spPr>
          <a:xfrm>
            <a:off x="666720" y="1425240"/>
            <a:ext cx="66574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Datos en S3, cómputo en EC2, resultados a S3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Forma libre 397"/>
          <p:cNvSpPr/>
          <p:nvPr/>
        </p:nvSpPr>
        <p:spPr>
          <a:xfrm>
            <a:off x="914040" y="29527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CuadroTexto 398"/>
          <p:cNvSpPr txBox="1"/>
          <p:nvPr/>
        </p:nvSpPr>
        <p:spPr>
          <a:xfrm>
            <a:off x="866880" y="2241720"/>
            <a:ext cx="8844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S3 (raw/, curated/)  →  EC2 lee  →  procesa  →  escribe a S3 (results/)  →  apaga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Forma libre 399"/>
          <p:cNvSpPr/>
          <p:nvPr/>
        </p:nvSpPr>
        <p:spPr>
          <a:xfrm>
            <a:off x="914040" y="33526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CuadroTexto 400"/>
          <p:cNvSpPr txBox="1"/>
          <p:nvPr/>
        </p:nvSpPr>
        <p:spPr>
          <a:xfrm>
            <a:off x="1123920" y="2840040"/>
            <a:ext cx="6618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instancia 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desechable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nada importante vive sólo en su disco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Forma libre 401"/>
          <p:cNvSpPr/>
          <p:nvPr/>
        </p:nvSpPr>
        <p:spPr>
          <a:xfrm>
            <a:off x="5321160" y="3257280"/>
            <a:ext cx="1172160" cy="267120"/>
          </a:xfrm>
          <a:custGeom>
            <a:avLst/>
            <a:gdLst/>
            <a:ahLst/>
            <a:cxnLst/>
            <a:rect l="0" t="0" r="r" b="b"/>
            <a:pathLst>
              <a:path w="325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150" y="0"/>
                </a:lnTo>
                <a:cubicBezTo>
                  <a:pt x="3164" y="0"/>
                  <a:pt x="3177" y="3"/>
                  <a:pt x="3190" y="8"/>
                </a:cubicBezTo>
                <a:cubicBezTo>
                  <a:pt x="3203" y="14"/>
                  <a:pt x="3215" y="21"/>
                  <a:pt x="3225" y="31"/>
                </a:cubicBezTo>
                <a:cubicBezTo>
                  <a:pt x="3235" y="41"/>
                  <a:pt x="3242" y="53"/>
                  <a:pt x="3248" y="66"/>
                </a:cubicBezTo>
                <a:cubicBezTo>
                  <a:pt x="3253" y="79"/>
                  <a:pt x="3256" y="92"/>
                  <a:pt x="3256" y="106"/>
                </a:cubicBezTo>
                <a:lnTo>
                  <a:pt x="3256" y="636"/>
                </a:lnTo>
                <a:cubicBezTo>
                  <a:pt x="3256" y="650"/>
                  <a:pt x="3253" y="664"/>
                  <a:pt x="3248" y="677"/>
                </a:cubicBezTo>
                <a:cubicBezTo>
                  <a:pt x="3242" y="690"/>
                  <a:pt x="3235" y="701"/>
                  <a:pt x="3225" y="711"/>
                </a:cubicBezTo>
                <a:cubicBezTo>
                  <a:pt x="3215" y="721"/>
                  <a:pt x="3203" y="729"/>
                  <a:pt x="3190" y="734"/>
                </a:cubicBezTo>
                <a:cubicBezTo>
                  <a:pt x="3177" y="739"/>
                  <a:pt x="3164" y="742"/>
                  <a:pt x="3150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CuadroTexto 402"/>
          <p:cNvSpPr txBox="1"/>
          <p:nvPr/>
        </p:nvSpPr>
        <p:spPr>
          <a:xfrm>
            <a:off x="1123920" y="3240000"/>
            <a:ext cx="4053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 se cae, se cae; relanzas con el mismo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Forma libre 403"/>
          <p:cNvSpPr/>
          <p:nvPr/>
        </p:nvSpPr>
        <p:spPr>
          <a:xfrm>
            <a:off x="914040" y="37526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CuadroTexto 404"/>
          <p:cNvSpPr txBox="1"/>
          <p:nvPr/>
        </p:nvSpPr>
        <p:spPr>
          <a:xfrm>
            <a:off x="5378400" y="325440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user</a:t>
            </a:r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 data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CuadroTexto 405"/>
          <p:cNvSpPr txBox="1"/>
          <p:nvPr/>
        </p:nvSpPr>
        <p:spPr>
          <a:xfrm>
            <a:off x="1123920" y="3639960"/>
            <a:ext cx="3231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 que no está en S3,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existe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CuadroTexto 406"/>
          <p:cNvSpPr txBox="1"/>
          <p:nvPr/>
        </p:nvSpPr>
        <p:spPr>
          <a:xfrm>
            <a:off x="666720" y="4135320"/>
            <a:ext cx="5144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que el trabajo sobreviva a la desconexión: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CuadroTexto 407"/>
          <p:cNvSpPr txBox="1"/>
          <p:nvPr/>
        </p:nvSpPr>
        <p:spPr>
          <a:xfrm>
            <a:off x="866880" y="4775400"/>
            <a:ext cx="6333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tmux new -s analisis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te desconectas, sigue corriendo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CuadroTexto 408"/>
          <p:cNvSpPr txBox="1"/>
          <p:nvPr/>
        </p:nvSpPr>
        <p:spPr>
          <a:xfrm>
            <a:off x="866880" y="5042160"/>
            <a:ext cx="5569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tmux attach -t analisis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vuelves al día siguiente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CuadroTexto 40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CuadroTexto 41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CuadroTexto 41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Forma libre 4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Forma libre 4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Forma libre 4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Forma libre 415"/>
          <p:cNvSpPr/>
          <p:nvPr/>
        </p:nvSpPr>
        <p:spPr>
          <a:xfrm>
            <a:off x="671400" y="280476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1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1"/>
                </a:lnTo>
                <a:cubicBezTo>
                  <a:pt x="30137" y="2884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60"/>
                  <a:pt x="30111" y="2972"/>
                  <a:pt x="30103" y="2982"/>
                </a:cubicBezTo>
                <a:cubicBezTo>
                  <a:pt x="30096" y="2993"/>
                  <a:pt x="30088" y="3003"/>
                  <a:pt x="30079" y="3013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1"/>
                  <a:pt x="30014" y="3056"/>
                </a:cubicBezTo>
                <a:cubicBezTo>
                  <a:pt x="30002" y="3061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1"/>
                  <a:pt x="122" y="3056"/>
                </a:cubicBezTo>
                <a:cubicBezTo>
                  <a:pt x="110" y="3051"/>
                  <a:pt x="99" y="3044"/>
                  <a:pt x="88" y="3037"/>
                </a:cubicBezTo>
                <a:cubicBezTo>
                  <a:pt x="77" y="3030"/>
                  <a:pt x="67" y="3022"/>
                  <a:pt x="58" y="3013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2"/>
                  <a:pt x="20" y="2960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4"/>
                  <a:pt x="0" y="2871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Forma libre 416"/>
          <p:cNvSpPr/>
          <p:nvPr/>
        </p:nvSpPr>
        <p:spPr>
          <a:xfrm>
            <a:off x="671400" y="280476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1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1"/>
                </a:lnTo>
                <a:cubicBezTo>
                  <a:pt x="30137" y="2884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60"/>
                  <a:pt x="30111" y="2972"/>
                  <a:pt x="30103" y="2982"/>
                </a:cubicBezTo>
                <a:cubicBezTo>
                  <a:pt x="30096" y="2993"/>
                  <a:pt x="30088" y="3003"/>
                  <a:pt x="30079" y="3013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1"/>
                  <a:pt x="30014" y="3056"/>
                </a:cubicBezTo>
                <a:cubicBezTo>
                  <a:pt x="30002" y="3061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1"/>
                  <a:pt x="122" y="3056"/>
                </a:cubicBezTo>
                <a:cubicBezTo>
                  <a:pt x="110" y="3051"/>
                  <a:pt x="99" y="3044"/>
                  <a:pt x="88" y="3037"/>
                </a:cubicBezTo>
                <a:cubicBezTo>
                  <a:pt x="77" y="3030"/>
                  <a:pt x="67" y="3022"/>
                  <a:pt x="58" y="3013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2"/>
                  <a:pt x="20" y="2960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4"/>
                  <a:pt x="0" y="287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CuadroTexto 417"/>
          <p:cNvSpPr txBox="1"/>
          <p:nvPr/>
        </p:nvSpPr>
        <p:spPr>
          <a:xfrm>
            <a:off x="666720" y="1663200"/>
            <a:ext cx="36810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Tu contenedor, en la nube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Forma libre 418"/>
          <p:cNvSpPr/>
          <p:nvPr/>
        </p:nvSpPr>
        <p:spPr>
          <a:xfrm>
            <a:off x="904680" y="2361960"/>
            <a:ext cx="1171800" cy="267120"/>
          </a:xfrm>
          <a:custGeom>
            <a:avLst/>
            <a:gdLst/>
            <a:ahLst/>
            <a:cxnLst/>
            <a:rect l="0" t="0" r="r" b="b"/>
            <a:pathLst>
              <a:path w="325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150" y="0"/>
                </a:lnTo>
                <a:cubicBezTo>
                  <a:pt x="3164" y="0"/>
                  <a:pt x="3177" y="3"/>
                  <a:pt x="3190" y="8"/>
                </a:cubicBezTo>
                <a:cubicBezTo>
                  <a:pt x="3203" y="14"/>
                  <a:pt x="3214" y="21"/>
                  <a:pt x="3224" y="31"/>
                </a:cubicBezTo>
                <a:cubicBezTo>
                  <a:pt x="3234" y="41"/>
                  <a:pt x="3242" y="53"/>
                  <a:pt x="3247" y="65"/>
                </a:cubicBezTo>
                <a:cubicBezTo>
                  <a:pt x="3253" y="78"/>
                  <a:pt x="3255" y="92"/>
                  <a:pt x="3255" y="106"/>
                </a:cubicBezTo>
                <a:lnTo>
                  <a:pt x="3255" y="636"/>
                </a:lnTo>
                <a:cubicBezTo>
                  <a:pt x="3255" y="650"/>
                  <a:pt x="3253" y="664"/>
                  <a:pt x="3247" y="677"/>
                </a:cubicBezTo>
                <a:cubicBezTo>
                  <a:pt x="3242" y="690"/>
                  <a:pt x="3234" y="701"/>
                  <a:pt x="3224" y="711"/>
                </a:cubicBezTo>
                <a:cubicBezTo>
                  <a:pt x="3214" y="721"/>
                  <a:pt x="3203" y="729"/>
                  <a:pt x="3190" y="734"/>
                </a:cubicBezTo>
                <a:cubicBezTo>
                  <a:pt x="3177" y="739"/>
                  <a:pt x="3164" y="742"/>
                  <a:pt x="3150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CuadroTexto 419"/>
          <p:cNvSpPr txBox="1"/>
          <p:nvPr/>
        </p:nvSpPr>
        <p:spPr>
          <a:xfrm>
            <a:off x="666720" y="2344680"/>
            <a:ext cx="242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CuadroTexto 420"/>
          <p:cNvSpPr txBox="1"/>
          <p:nvPr/>
        </p:nvSpPr>
        <p:spPr>
          <a:xfrm>
            <a:off x="965520" y="238176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user data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CuadroTexto 421"/>
          <p:cNvSpPr txBox="1"/>
          <p:nvPr/>
        </p:nvSpPr>
        <p:spPr>
          <a:xfrm>
            <a:off x="2075400" y="2344680"/>
            <a:ext cx="5855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instala Docker; tú corres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misma imagen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la sesión 6: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CuadroTexto 422"/>
          <p:cNvSpPr txBox="1"/>
          <p:nvPr/>
        </p:nvSpPr>
        <p:spPr>
          <a:xfrm>
            <a:off x="866880" y="2984760"/>
            <a:ext cx="5569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run --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rm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ghcr.io/tu-usuario/tu-pipeline:v1 \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CuadroTexto 423"/>
          <p:cNvSpPr txBox="1"/>
          <p:nvPr/>
        </p:nvSpPr>
        <p:spPr>
          <a:xfrm>
            <a:off x="866880" y="3251520"/>
            <a:ext cx="4258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--entrada s3://tu-bucket/curated/ \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Forma libre 424"/>
          <p:cNvSpPr/>
          <p:nvPr/>
        </p:nvSpPr>
        <p:spPr>
          <a:xfrm>
            <a:off x="914040" y="42195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CuadroTexto 425"/>
          <p:cNvSpPr txBox="1"/>
          <p:nvPr/>
        </p:nvSpPr>
        <p:spPr>
          <a:xfrm>
            <a:off x="866880" y="3508560"/>
            <a:ext cx="4040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--salida  s3://tu-bucket/results/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Forma libre 426"/>
          <p:cNvSpPr/>
          <p:nvPr/>
        </p:nvSpPr>
        <p:spPr>
          <a:xfrm>
            <a:off x="914040" y="46195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CuadroTexto 427"/>
          <p:cNvSpPr txBox="1"/>
          <p:nvPr/>
        </p:nvSpPr>
        <p:spPr>
          <a:xfrm>
            <a:off x="1123920" y="4106880"/>
            <a:ext cx="6274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Misma imagen en tu laptop y en la nube: si corrió allá, corre acá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Forma libre 428"/>
          <p:cNvSpPr/>
          <p:nvPr/>
        </p:nvSpPr>
        <p:spPr>
          <a:xfrm>
            <a:off x="914040" y="50194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CuadroTexto 429"/>
          <p:cNvSpPr txBox="1"/>
          <p:nvPr/>
        </p:nvSpPr>
        <p:spPr>
          <a:xfrm>
            <a:off x="1123920" y="4506840"/>
            <a:ext cx="6386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Sin llaves dentro del contenedor: el rol de la instancia se las pasa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CuadroTexto 430"/>
          <p:cNvSpPr txBox="1"/>
          <p:nvPr/>
        </p:nvSpPr>
        <p:spPr>
          <a:xfrm>
            <a:off x="1123920" y="4906800"/>
            <a:ext cx="9806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Monitorea con CloudWatch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CPU, memoria y disco, para saber si te quedaste corto o te pasaste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CuadroTexto 43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CuadroTexto 43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CuadroTexto 43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Forma libre 4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Forma libre 4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Forma libre 4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CuadroTexto 437"/>
          <p:cNvSpPr txBox="1"/>
          <p:nvPr/>
        </p:nvSpPr>
        <p:spPr>
          <a:xfrm>
            <a:off x="5003280" y="3063960"/>
            <a:ext cx="22334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Costos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CuadroTexto 43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CuadroTexto 43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CuadroTexto 44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Forma libre 4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Forma libre 4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orma libre 4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Forma libre 444"/>
          <p:cNvSpPr/>
          <p:nvPr/>
        </p:nvSpPr>
        <p:spPr>
          <a:xfrm>
            <a:off x="676080" y="2352600"/>
            <a:ext cx="2553120" cy="409680"/>
          </a:xfrm>
          <a:custGeom>
            <a:avLst/>
            <a:gdLst/>
            <a:ahLst/>
            <a:cxnLst/>
            <a:rect l="0" t="0" r="r" b="b"/>
            <a:pathLst>
              <a:path w="7092" h="1138">
                <a:moveTo>
                  <a:pt x="0" y="0"/>
                </a:moveTo>
                <a:lnTo>
                  <a:pt x="7092" y="0"/>
                </a:lnTo>
                <a:lnTo>
                  <a:pt x="709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Forma libre 445"/>
          <p:cNvSpPr/>
          <p:nvPr/>
        </p:nvSpPr>
        <p:spPr>
          <a:xfrm>
            <a:off x="3228840" y="2352600"/>
            <a:ext cx="7496640" cy="409680"/>
          </a:xfrm>
          <a:custGeom>
            <a:avLst/>
            <a:gdLst/>
            <a:ahLst/>
            <a:cxnLst/>
            <a:rect l="0" t="0" r="r" b="b"/>
            <a:pathLst>
              <a:path w="20824" h="1138">
                <a:moveTo>
                  <a:pt x="0" y="0"/>
                </a:moveTo>
                <a:lnTo>
                  <a:pt x="20824" y="0"/>
                </a:lnTo>
                <a:lnTo>
                  <a:pt x="2082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Forma libre 446"/>
          <p:cNvSpPr/>
          <p:nvPr/>
        </p:nvSpPr>
        <p:spPr>
          <a:xfrm>
            <a:off x="676080" y="2352600"/>
            <a:ext cx="2553120" cy="409680"/>
          </a:xfrm>
          <a:custGeom>
            <a:avLst/>
            <a:gdLst/>
            <a:ahLst/>
            <a:cxnLst/>
            <a:rect l="0" t="0" r="r" b="b"/>
            <a:pathLst>
              <a:path w="7092" h="1138">
                <a:moveTo>
                  <a:pt x="0" y="0"/>
                </a:moveTo>
                <a:lnTo>
                  <a:pt x="7092" y="0"/>
                </a:lnTo>
                <a:lnTo>
                  <a:pt x="709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Forma libre 447"/>
          <p:cNvSpPr/>
          <p:nvPr/>
        </p:nvSpPr>
        <p:spPr>
          <a:xfrm>
            <a:off x="3228840" y="2352600"/>
            <a:ext cx="7496640" cy="409680"/>
          </a:xfrm>
          <a:custGeom>
            <a:avLst/>
            <a:gdLst/>
            <a:ahLst/>
            <a:cxnLst/>
            <a:rect l="0" t="0" r="r" b="b"/>
            <a:pathLst>
              <a:path w="20824" h="1138">
                <a:moveTo>
                  <a:pt x="0" y="0"/>
                </a:moveTo>
                <a:lnTo>
                  <a:pt x="20824" y="0"/>
                </a:lnTo>
                <a:lnTo>
                  <a:pt x="2082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Forma libre 448"/>
          <p:cNvSpPr/>
          <p:nvPr/>
        </p:nvSpPr>
        <p:spPr>
          <a:xfrm>
            <a:off x="676080" y="2761920"/>
            <a:ext cx="2553120" cy="419760"/>
          </a:xfrm>
          <a:custGeom>
            <a:avLst/>
            <a:gdLst/>
            <a:ahLst/>
            <a:cxnLst/>
            <a:rect l="0" t="0" r="r" b="b"/>
            <a:pathLst>
              <a:path w="7092" h="1166">
                <a:moveTo>
                  <a:pt x="0" y="0"/>
                </a:moveTo>
                <a:lnTo>
                  <a:pt x="7092" y="0"/>
                </a:lnTo>
                <a:lnTo>
                  <a:pt x="7092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Forma libre 449"/>
          <p:cNvSpPr/>
          <p:nvPr/>
        </p:nvSpPr>
        <p:spPr>
          <a:xfrm>
            <a:off x="3228840" y="2761920"/>
            <a:ext cx="7496640" cy="419760"/>
          </a:xfrm>
          <a:custGeom>
            <a:avLst/>
            <a:gdLst/>
            <a:ahLst/>
            <a:cxnLst/>
            <a:rect l="0" t="0" r="r" b="b"/>
            <a:pathLst>
              <a:path w="20824" h="1166">
                <a:moveTo>
                  <a:pt x="0" y="0"/>
                </a:moveTo>
                <a:lnTo>
                  <a:pt x="20824" y="0"/>
                </a:lnTo>
                <a:lnTo>
                  <a:pt x="20824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Forma libre 450"/>
          <p:cNvSpPr/>
          <p:nvPr/>
        </p:nvSpPr>
        <p:spPr>
          <a:xfrm>
            <a:off x="676080" y="3181320"/>
            <a:ext cx="2553120" cy="419400"/>
          </a:xfrm>
          <a:custGeom>
            <a:avLst/>
            <a:gdLst/>
            <a:ahLst/>
            <a:cxnLst/>
            <a:rect l="0" t="0" r="r" b="b"/>
            <a:pathLst>
              <a:path w="7092" h="1165">
                <a:moveTo>
                  <a:pt x="0" y="0"/>
                </a:moveTo>
                <a:lnTo>
                  <a:pt x="7092" y="0"/>
                </a:lnTo>
                <a:lnTo>
                  <a:pt x="709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Forma libre 451"/>
          <p:cNvSpPr/>
          <p:nvPr/>
        </p:nvSpPr>
        <p:spPr>
          <a:xfrm>
            <a:off x="3228840" y="3181320"/>
            <a:ext cx="7496640" cy="419400"/>
          </a:xfrm>
          <a:custGeom>
            <a:avLst/>
            <a:gdLst/>
            <a:ahLst/>
            <a:cxnLst/>
            <a:rect l="0" t="0" r="r" b="b"/>
            <a:pathLst>
              <a:path w="20824" h="1165">
                <a:moveTo>
                  <a:pt x="0" y="0"/>
                </a:moveTo>
                <a:lnTo>
                  <a:pt x="20824" y="0"/>
                </a:lnTo>
                <a:lnTo>
                  <a:pt x="2082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Forma libre 452"/>
          <p:cNvSpPr/>
          <p:nvPr/>
        </p:nvSpPr>
        <p:spPr>
          <a:xfrm>
            <a:off x="676080" y="3600360"/>
            <a:ext cx="2553120" cy="419400"/>
          </a:xfrm>
          <a:custGeom>
            <a:avLst/>
            <a:gdLst/>
            <a:ahLst/>
            <a:cxnLst/>
            <a:rect l="0" t="0" r="r" b="b"/>
            <a:pathLst>
              <a:path w="7092" h="1165">
                <a:moveTo>
                  <a:pt x="0" y="0"/>
                </a:moveTo>
                <a:lnTo>
                  <a:pt x="7092" y="0"/>
                </a:lnTo>
                <a:lnTo>
                  <a:pt x="709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Forma libre 453"/>
          <p:cNvSpPr/>
          <p:nvPr/>
        </p:nvSpPr>
        <p:spPr>
          <a:xfrm>
            <a:off x="3228840" y="3600360"/>
            <a:ext cx="7496640" cy="419400"/>
          </a:xfrm>
          <a:custGeom>
            <a:avLst/>
            <a:gdLst/>
            <a:ahLst/>
            <a:cxnLst/>
            <a:rect l="0" t="0" r="r" b="b"/>
            <a:pathLst>
              <a:path w="20824" h="1165">
                <a:moveTo>
                  <a:pt x="0" y="0"/>
                </a:moveTo>
                <a:lnTo>
                  <a:pt x="20824" y="0"/>
                </a:lnTo>
                <a:lnTo>
                  <a:pt x="2082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Forma libre 454"/>
          <p:cNvSpPr/>
          <p:nvPr/>
        </p:nvSpPr>
        <p:spPr>
          <a:xfrm>
            <a:off x="666720" y="2342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Forma libre 455"/>
          <p:cNvSpPr/>
          <p:nvPr/>
        </p:nvSpPr>
        <p:spPr>
          <a:xfrm>
            <a:off x="666720" y="2342880"/>
            <a:ext cx="2571840" cy="10080"/>
          </a:xfrm>
          <a:custGeom>
            <a:avLst/>
            <a:gdLst/>
            <a:ahLst/>
            <a:cxnLst/>
            <a:rect l="0" t="0" r="r" b="b"/>
            <a:pathLst>
              <a:path w="7144" h="28">
                <a:moveTo>
                  <a:pt x="0" y="0"/>
                </a:moveTo>
                <a:lnTo>
                  <a:pt x="7144" y="0"/>
                </a:lnTo>
                <a:lnTo>
                  <a:pt x="7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Forma libre 456"/>
          <p:cNvSpPr/>
          <p:nvPr/>
        </p:nvSpPr>
        <p:spPr>
          <a:xfrm>
            <a:off x="3228840" y="2342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Forma libre 457"/>
          <p:cNvSpPr/>
          <p:nvPr/>
        </p:nvSpPr>
        <p:spPr>
          <a:xfrm>
            <a:off x="3238200" y="2342880"/>
            <a:ext cx="7487280" cy="10080"/>
          </a:xfrm>
          <a:custGeom>
            <a:avLst/>
            <a:gdLst/>
            <a:ahLst/>
            <a:cxnLst/>
            <a:rect l="0" t="0" r="r" b="b"/>
            <a:pathLst>
              <a:path w="20798" h="28">
                <a:moveTo>
                  <a:pt x="0" y="0"/>
                </a:moveTo>
                <a:lnTo>
                  <a:pt x="20798" y="0"/>
                </a:lnTo>
                <a:lnTo>
                  <a:pt x="2079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Forma libre 458"/>
          <p:cNvSpPr/>
          <p:nvPr/>
        </p:nvSpPr>
        <p:spPr>
          <a:xfrm>
            <a:off x="10715400" y="23428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Forma libre 459"/>
          <p:cNvSpPr/>
          <p:nvPr/>
        </p:nvSpPr>
        <p:spPr>
          <a:xfrm>
            <a:off x="666720" y="2752560"/>
            <a:ext cx="2571840" cy="9720"/>
          </a:xfrm>
          <a:custGeom>
            <a:avLst/>
            <a:gdLst/>
            <a:ahLst/>
            <a:cxnLst/>
            <a:rect l="0" t="0" r="r" b="b"/>
            <a:pathLst>
              <a:path w="7144" h="27">
                <a:moveTo>
                  <a:pt x="0" y="0"/>
                </a:moveTo>
                <a:lnTo>
                  <a:pt x="7144" y="0"/>
                </a:lnTo>
                <a:lnTo>
                  <a:pt x="7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Forma libre 460"/>
          <p:cNvSpPr/>
          <p:nvPr/>
        </p:nvSpPr>
        <p:spPr>
          <a:xfrm>
            <a:off x="3238200" y="2752560"/>
            <a:ext cx="7487280" cy="9720"/>
          </a:xfrm>
          <a:custGeom>
            <a:avLst/>
            <a:gdLst/>
            <a:ahLst/>
            <a:cxnLst/>
            <a:rect l="0" t="0" r="r" b="b"/>
            <a:pathLst>
              <a:path w="20798" h="27">
                <a:moveTo>
                  <a:pt x="0" y="0"/>
                </a:moveTo>
                <a:lnTo>
                  <a:pt x="20798" y="0"/>
                </a:lnTo>
                <a:lnTo>
                  <a:pt x="2079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Forma libre 461"/>
          <p:cNvSpPr/>
          <p:nvPr/>
        </p:nvSpPr>
        <p:spPr>
          <a:xfrm>
            <a:off x="666720" y="27619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Forma libre 462"/>
          <p:cNvSpPr/>
          <p:nvPr/>
        </p:nvSpPr>
        <p:spPr>
          <a:xfrm>
            <a:off x="3228840" y="27619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Forma libre 463"/>
          <p:cNvSpPr/>
          <p:nvPr/>
        </p:nvSpPr>
        <p:spPr>
          <a:xfrm>
            <a:off x="10715400" y="27619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Forma libre 464"/>
          <p:cNvSpPr/>
          <p:nvPr/>
        </p:nvSpPr>
        <p:spPr>
          <a:xfrm>
            <a:off x="666720" y="3181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Forma libre 465"/>
          <p:cNvSpPr/>
          <p:nvPr/>
        </p:nvSpPr>
        <p:spPr>
          <a:xfrm>
            <a:off x="666720" y="3171600"/>
            <a:ext cx="2571840" cy="10080"/>
          </a:xfrm>
          <a:custGeom>
            <a:avLst/>
            <a:gdLst/>
            <a:ahLst/>
            <a:cxnLst/>
            <a:rect l="0" t="0" r="r" b="b"/>
            <a:pathLst>
              <a:path w="7144" h="28">
                <a:moveTo>
                  <a:pt x="0" y="0"/>
                </a:moveTo>
                <a:lnTo>
                  <a:pt x="7144" y="0"/>
                </a:lnTo>
                <a:lnTo>
                  <a:pt x="7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Forma libre 466"/>
          <p:cNvSpPr/>
          <p:nvPr/>
        </p:nvSpPr>
        <p:spPr>
          <a:xfrm>
            <a:off x="3228840" y="3181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Forma libre 467"/>
          <p:cNvSpPr/>
          <p:nvPr/>
        </p:nvSpPr>
        <p:spPr>
          <a:xfrm>
            <a:off x="3238200" y="3171600"/>
            <a:ext cx="7487280" cy="10080"/>
          </a:xfrm>
          <a:custGeom>
            <a:avLst/>
            <a:gdLst/>
            <a:ahLst/>
            <a:cxnLst/>
            <a:rect l="0" t="0" r="r" b="b"/>
            <a:pathLst>
              <a:path w="20798" h="28">
                <a:moveTo>
                  <a:pt x="0" y="0"/>
                </a:moveTo>
                <a:lnTo>
                  <a:pt x="20798" y="0"/>
                </a:lnTo>
                <a:lnTo>
                  <a:pt x="2079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Forma libre 468"/>
          <p:cNvSpPr/>
          <p:nvPr/>
        </p:nvSpPr>
        <p:spPr>
          <a:xfrm>
            <a:off x="10715400" y="31813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Forma libre 469"/>
          <p:cNvSpPr/>
          <p:nvPr/>
        </p:nvSpPr>
        <p:spPr>
          <a:xfrm>
            <a:off x="666720" y="3600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Forma libre 470"/>
          <p:cNvSpPr/>
          <p:nvPr/>
        </p:nvSpPr>
        <p:spPr>
          <a:xfrm>
            <a:off x="666720" y="3590640"/>
            <a:ext cx="2571840" cy="10080"/>
          </a:xfrm>
          <a:custGeom>
            <a:avLst/>
            <a:gdLst/>
            <a:ahLst/>
            <a:cxnLst/>
            <a:rect l="0" t="0" r="r" b="b"/>
            <a:pathLst>
              <a:path w="7144" h="28">
                <a:moveTo>
                  <a:pt x="0" y="0"/>
                </a:moveTo>
                <a:lnTo>
                  <a:pt x="7144" y="0"/>
                </a:lnTo>
                <a:lnTo>
                  <a:pt x="7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Forma libre 471"/>
          <p:cNvSpPr/>
          <p:nvPr/>
        </p:nvSpPr>
        <p:spPr>
          <a:xfrm>
            <a:off x="3228840" y="3600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Forma libre 472"/>
          <p:cNvSpPr/>
          <p:nvPr/>
        </p:nvSpPr>
        <p:spPr>
          <a:xfrm>
            <a:off x="3238200" y="3590640"/>
            <a:ext cx="7487280" cy="10080"/>
          </a:xfrm>
          <a:custGeom>
            <a:avLst/>
            <a:gdLst/>
            <a:ahLst/>
            <a:cxnLst/>
            <a:rect l="0" t="0" r="r" b="b"/>
            <a:pathLst>
              <a:path w="20798" h="28">
                <a:moveTo>
                  <a:pt x="0" y="0"/>
                </a:moveTo>
                <a:lnTo>
                  <a:pt x="20798" y="0"/>
                </a:lnTo>
                <a:lnTo>
                  <a:pt x="2079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Forma libre 473"/>
          <p:cNvSpPr/>
          <p:nvPr/>
        </p:nvSpPr>
        <p:spPr>
          <a:xfrm>
            <a:off x="10715400" y="36003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Forma libre 474"/>
          <p:cNvSpPr/>
          <p:nvPr/>
        </p:nvSpPr>
        <p:spPr>
          <a:xfrm>
            <a:off x="666720" y="4009680"/>
            <a:ext cx="2571840" cy="10080"/>
          </a:xfrm>
          <a:custGeom>
            <a:avLst/>
            <a:gdLst/>
            <a:ahLst/>
            <a:cxnLst/>
            <a:rect l="0" t="0" r="r" b="b"/>
            <a:pathLst>
              <a:path w="7144" h="28">
                <a:moveTo>
                  <a:pt x="0" y="0"/>
                </a:moveTo>
                <a:lnTo>
                  <a:pt x="7144" y="0"/>
                </a:lnTo>
                <a:lnTo>
                  <a:pt x="7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Forma libre 475"/>
          <p:cNvSpPr/>
          <p:nvPr/>
        </p:nvSpPr>
        <p:spPr>
          <a:xfrm>
            <a:off x="3238200" y="4009680"/>
            <a:ext cx="7487280" cy="10080"/>
          </a:xfrm>
          <a:custGeom>
            <a:avLst/>
            <a:gdLst/>
            <a:ahLst/>
            <a:cxnLst/>
            <a:rect l="0" t="0" r="r" b="b"/>
            <a:pathLst>
              <a:path w="20798" h="28">
                <a:moveTo>
                  <a:pt x="0" y="0"/>
                </a:moveTo>
                <a:lnTo>
                  <a:pt x="20798" y="0"/>
                </a:lnTo>
                <a:lnTo>
                  <a:pt x="2079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CuadroTexto 476"/>
          <p:cNvSpPr txBox="1"/>
          <p:nvPr/>
        </p:nvSpPr>
        <p:spPr>
          <a:xfrm>
            <a:off x="666720" y="1215720"/>
            <a:ext cx="59119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Spot: barato, a cambio de que te la quiten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CuadroTexto 480"/>
          <p:cNvSpPr txBox="1"/>
          <p:nvPr/>
        </p:nvSpPr>
        <p:spPr>
          <a:xfrm>
            <a:off x="1610280" y="2447640"/>
            <a:ext cx="681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Modelo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CuadroTexto 481"/>
          <p:cNvSpPr txBox="1"/>
          <p:nvPr/>
        </p:nvSpPr>
        <p:spPr>
          <a:xfrm>
            <a:off x="6658560" y="2447640"/>
            <a:ext cx="635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CuadroTexto 482"/>
          <p:cNvSpPr txBox="1"/>
          <p:nvPr/>
        </p:nvSpPr>
        <p:spPr>
          <a:xfrm>
            <a:off x="799920" y="2856960"/>
            <a:ext cx="1076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On-demand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CuadroTexto 483"/>
          <p:cNvSpPr txBox="1"/>
          <p:nvPr/>
        </p:nvSpPr>
        <p:spPr>
          <a:xfrm>
            <a:off x="3358080" y="2856960"/>
            <a:ext cx="2671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pagas por hora, sin compromiso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CuadroTexto 484"/>
          <p:cNvSpPr txBox="1"/>
          <p:nvPr/>
        </p:nvSpPr>
        <p:spPr>
          <a:xfrm>
            <a:off x="799920" y="3276360"/>
            <a:ext cx="424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Spot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CuadroTexto 485"/>
          <p:cNvSpPr txBox="1"/>
          <p:nvPr/>
        </p:nvSpPr>
        <p:spPr>
          <a:xfrm>
            <a:off x="3358080" y="3276360"/>
            <a:ext cx="7237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capacidad sobrante, mucho más barata,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te la pueden quitar con 2 minutos de aviso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CuadroTexto 486"/>
          <p:cNvSpPr txBox="1"/>
          <p:nvPr/>
        </p:nvSpPr>
        <p:spPr>
          <a:xfrm>
            <a:off x="799920" y="3695400"/>
            <a:ext cx="2301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Savings Plans / Reserved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Forma libre 487"/>
          <p:cNvSpPr/>
          <p:nvPr/>
        </p:nvSpPr>
        <p:spPr>
          <a:xfrm>
            <a:off x="914040" y="43243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CuadroTexto 488"/>
          <p:cNvSpPr txBox="1"/>
          <p:nvPr/>
        </p:nvSpPr>
        <p:spPr>
          <a:xfrm>
            <a:off x="3358080" y="3695400"/>
            <a:ext cx="4154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te comprometes 1–3 años a cambio de descuento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CuadroTexto 489"/>
          <p:cNvSpPr txBox="1"/>
          <p:nvPr/>
        </p:nvSpPr>
        <p:spPr>
          <a:xfrm>
            <a:off x="1123920" y="4211640"/>
            <a:ext cx="10346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AWS anuncia hasta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90 %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descuento en spot; en la práctica depende del tipo y la región — consúltalo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Forma libre 490"/>
          <p:cNvSpPr/>
          <p:nvPr/>
        </p:nvSpPr>
        <p:spPr>
          <a:xfrm>
            <a:off x="914040" y="50670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CuadroTexto 491"/>
          <p:cNvSpPr txBox="1"/>
          <p:nvPr/>
        </p:nvSpPr>
        <p:spPr>
          <a:xfrm>
            <a:off x="1123920" y="4554360"/>
            <a:ext cx="1821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antes, no después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Forma libre 492"/>
          <p:cNvSpPr/>
          <p:nvPr/>
        </p:nvSpPr>
        <p:spPr>
          <a:xfrm>
            <a:off x="914040" y="54673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CuadroTexto 493"/>
          <p:cNvSpPr txBox="1"/>
          <p:nvPr/>
        </p:nvSpPr>
        <p:spPr>
          <a:xfrm>
            <a:off x="1123920" y="4954320"/>
            <a:ext cx="7380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Spot sirve si tu trabajo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tolera interrupción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guarda </a:t>
            </a:r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checkpoints 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y reanuda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CuadroTexto 494"/>
          <p:cNvSpPr txBox="1"/>
          <p:nvPr/>
        </p:nvSpPr>
        <p:spPr>
          <a:xfrm>
            <a:off x="1123920" y="5354640"/>
            <a:ext cx="7029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Para una tesis: on-demand o spot.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Nunca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te comprometas a tres años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CuadroTexto 49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CuadroTexto 49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CuadroTexto 49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Forma libre 4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Forma libre 4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Forma libre 5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Forma libre 501"/>
          <p:cNvSpPr/>
          <p:nvPr/>
        </p:nvSpPr>
        <p:spPr>
          <a:xfrm>
            <a:off x="671400" y="207144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200"/>
                </a:lnTo>
                <a:cubicBezTo>
                  <a:pt x="0" y="187"/>
                  <a:pt x="1" y="174"/>
                  <a:pt x="4" y="161"/>
                </a:cubicBezTo>
                <a:cubicBezTo>
                  <a:pt x="6" y="148"/>
                  <a:pt x="10" y="136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6"/>
                  <a:pt x="30130" y="148"/>
                  <a:pt x="30133" y="161"/>
                </a:cubicBezTo>
                <a:cubicBezTo>
                  <a:pt x="30136" y="174"/>
                  <a:pt x="30137" y="187"/>
                  <a:pt x="30137" y="200"/>
                </a:cubicBezTo>
                <a:lnTo>
                  <a:pt x="30137" y="2158"/>
                </a:lnTo>
                <a:cubicBezTo>
                  <a:pt x="30137" y="2171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Forma libre 502"/>
          <p:cNvSpPr/>
          <p:nvPr/>
        </p:nvSpPr>
        <p:spPr>
          <a:xfrm>
            <a:off x="671400" y="207144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200"/>
                </a:lnTo>
                <a:cubicBezTo>
                  <a:pt x="0" y="187"/>
                  <a:pt x="1" y="174"/>
                  <a:pt x="4" y="161"/>
                </a:cubicBezTo>
                <a:cubicBezTo>
                  <a:pt x="6" y="148"/>
                  <a:pt x="10" y="136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6"/>
                  <a:pt x="30130" y="148"/>
                  <a:pt x="30133" y="161"/>
                </a:cubicBezTo>
                <a:cubicBezTo>
                  <a:pt x="30136" y="174"/>
                  <a:pt x="30137" y="187"/>
                  <a:pt x="30137" y="200"/>
                </a:cubicBezTo>
                <a:lnTo>
                  <a:pt x="30137" y="2158"/>
                </a:lnTo>
                <a:cubicBezTo>
                  <a:pt x="30137" y="2171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Forma libre 503"/>
          <p:cNvSpPr/>
          <p:nvPr/>
        </p:nvSpPr>
        <p:spPr>
          <a:xfrm>
            <a:off x="666720" y="486720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Forma libre 504"/>
          <p:cNvSpPr/>
          <p:nvPr/>
        </p:nvSpPr>
        <p:spPr>
          <a:xfrm>
            <a:off x="666720" y="486720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CuadroTexto 505"/>
          <p:cNvSpPr txBox="1"/>
          <p:nvPr/>
        </p:nvSpPr>
        <p:spPr>
          <a:xfrm>
            <a:off x="666720" y="1434600"/>
            <a:ext cx="42944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Apagar es gratis. Olvidarlo, no.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CuadroTexto 506"/>
          <p:cNvSpPr txBox="1"/>
          <p:nvPr/>
        </p:nvSpPr>
        <p:spPr>
          <a:xfrm>
            <a:off x="866880" y="2251440"/>
            <a:ext cx="7097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instancia detenida   →  NO pagas cómputo   (pero SÍ el disco EBS)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CuadroTexto 507"/>
          <p:cNvSpPr txBox="1"/>
          <p:nvPr/>
        </p:nvSpPr>
        <p:spPr>
          <a:xfrm>
            <a:off x="866880" y="2518200"/>
            <a:ext cx="8953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instancia terminada  →  no pagas nada      (y pierdes el disco, si no lo marcaste)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CuadroTexto 508"/>
          <p:cNvSpPr txBox="1"/>
          <p:nvPr/>
        </p:nvSpPr>
        <p:spPr>
          <a:xfrm>
            <a:off x="666720" y="3116160"/>
            <a:ext cx="4665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Las tres cosas que hay que hacer siempre: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CuadroTexto 509"/>
          <p:cNvSpPr txBox="1"/>
          <p:nvPr/>
        </p:nvSpPr>
        <p:spPr>
          <a:xfrm>
            <a:off x="869760" y="3611520"/>
            <a:ext cx="8345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Una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alarma de CloudWatch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que apague la instancia si la CPU está baja N horas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CuadroTexto 510"/>
          <p:cNvSpPr txBox="1"/>
          <p:nvPr/>
        </p:nvSpPr>
        <p:spPr>
          <a:xfrm>
            <a:off x="869760" y="4011480"/>
            <a:ext cx="5864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Revisar la consola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antes de cerrar la laptop el viernes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CuadroTexto 511"/>
          <p:cNvSpPr txBox="1"/>
          <p:nvPr/>
        </p:nvSpPr>
        <p:spPr>
          <a:xfrm>
            <a:off x="869760" y="4411440"/>
            <a:ext cx="5573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Dejar el presupuesto de la sesión 19 activo, con alerta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CuadroTexto 512"/>
          <p:cNvSpPr txBox="1"/>
          <p:nvPr/>
        </p:nvSpPr>
        <p:spPr>
          <a:xfrm>
            <a:off x="905040" y="5021280"/>
            <a:ext cx="10307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La factura sorpresa casi nunca es un ataque. Es una instancia grande encendida un ﬁn de semana largo.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CuadroTexto 5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CuadroTexto 5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CuadroTexto 51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Forma libre 5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Forma libre 5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Forma libre 51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CuadroTexto 519"/>
          <p:cNvSpPr txBox="1"/>
          <p:nvPr/>
        </p:nvSpPr>
        <p:spPr>
          <a:xfrm>
            <a:off x="3978000" y="3063960"/>
            <a:ext cx="43326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Más allá de EC2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CuadroTexto 52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CuadroTexto 52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CuadroTexto 52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Forma libre 5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Forma libre 5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Forma libre 52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Forma libre 526"/>
          <p:cNvSpPr/>
          <p:nvPr/>
        </p:nvSpPr>
        <p:spPr>
          <a:xfrm>
            <a:off x="676080" y="2180880"/>
            <a:ext cx="1419480" cy="410040"/>
          </a:xfrm>
          <a:custGeom>
            <a:avLst/>
            <a:gdLst/>
            <a:ahLst/>
            <a:cxnLst/>
            <a:rect l="0" t="0" r="r" b="b"/>
            <a:pathLst>
              <a:path w="3943" h="1139">
                <a:moveTo>
                  <a:pt x="0" y="0"/>
                </a:moveTo>
                <a:lnTo>
                  <a:pt x="3943" y="0"/>
                </a:lnTo>
                <a:lnTo>
                  <a:pt x="394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Forma libre 527"/>
          <p:cNvSpPr/>
          <p:nvPr/>
        </p:nvSpPr>
        <p:spPr>
          <a:xfrm>
            <a:off x="2095200" y="2180880"/>
            <a:ext cx="4677120" cy="410040"/>
          </a:xfrm>
          <a:custGeom>
            <a:avLst/>
            <a:gdLst/>
            <a:ahLst/>
            <a:cxnLst/>
            <a:rect l="0" t="0" r="r" b="b"/>
            <a:pathLst>
              <a:path w="12992" h="1139">
                <a:moveTo>
                  <a:pt x="0" y="0"/>
                </a:moveTo>
                <a:lnTo>
                  <a:pt x="12992" y="0"/>
                </a:lnTo>
                <a:lnTo>
                  <a:pt x="1299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Forma libre 528"/>
          <p:cNvSpPr/>
          <p:nvPr/>
        </p:nvSpPr>
        <p:spPr>
          <a:xfrm>
            <a:off x="676080" y="2180880"/>
            <a:ext cx="1419480" cy="410040"/>
          </a:xfrm>
          <a:custGeom>
            <a:avLst/>
            <a:gdLst/>
            <a:ahLst/>
            <a:cxnLst/>
            <a:rect l="0" t="0" r="r" b="b"/>
            <a:pathLst>
              <a:path w="3943" h="1139">
                <a:moveTo>
                  <a:pt x="0" y="0"/>
                </a:moveTo>
                <a:lnTo>
                  <a:pt x="3943" y="0"/>
                </a:lnTo>
                <a:lnTo>
                  <a:pt x="394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Forma libre 529"/>
          <p:cNvSpPr/>
          <p:nvPr/>
        </p:nvSpPr>
        <p:spPr>
          <a:xfrm>
            <a:off x="2095200" y="2180880"/>
            <a:ext cx="4677120" cy="410040"/>
          </a:xfrm>
          <a:custGeom>
            <a:avLst/>
            <a:gdLst/>
            <a:ahLst/>
            <a:cxnLst/>
            <a:rect l="0" t="0" r="r" b="b"/>
            <a:pathLst>
              <a:path w="12992" h="1139">
                <a:moveTo>
                  <a:pt x="0" y="0"/>
                </a:moveTo>
                <a:lnTo>
                  <a:pt x="12992" y="0"/>
                </a:lnTo>
                <a:lnTo>
                  <a:pt x="1299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Forma libre 530"/>
          <p:cNvSpPr/>
          <p:nvPr/>
        </p:nvSpPr>
        <p:spPr>
          <a:xfrm>
            <a:off x="676080" y="2590560"/>
            <a:ext cx="1419480" cy="419400"/>
          </a:xfrm>
          <a:custGeom>
            <a:avLst/>
            <a:gdLst/>
            <a:ahLst/>
            <a:cxnLst/>
            <a:rect l="0" t="0" r="r" b="b"/>
            <a:pathLst>
              <a:path w="3943" h="1165">
                <a:moveTo>
                  <a:pt x="0" y="0"/>
                </a:moveTo>
                <a:lnTo>
                  <a:pt x="3943" y="0"/>
                </a:lnTo>
                <a:lnTo>
                  <a:pt x="394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Forma libre 531"/>
          <p:cNvSpPr/>
          <p:nvPr/>
        </p:nvSpPr>
        <p:spPr>
          <a:xfrm>
            <a:off x="2095200" y="2590560"/>
            <a:ext cx="4677120" cy="419400"/>
          </a:xfrm>
          <a:custGeom>
            <a:avLst/>
            <a:gdLst/>
            <a:ahLst/>
            <a:cxnLst/>
            <a:rect l="0" t="0" r="r" b="b"/>
            <a:pathLst>
              <a:path w="12992" h="1165">
                <a:moveTo>
                  <a:pt x="0" y="0"/>
                </a:moveTo>
                <a:lnTo>
                  <a:pt x="12992" y="0"/>
                </a:lnTo>
                <a:lnTo>
                  <a:pt x="1299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Forma libre 532"/>
          <p:cNvSpPr/>
          <p:nvPr/>
        </p:nvSpPr>
        <p:spPr>
          <a:xfrm>
            <a:off x="676080" y="3009600"/>
            <a:ext cx="1419480" cy="419400"/>
          </a:xfrm>
          <a:custGeom>
            <a:avLst/>
            <a:gdLst/>
            <a:ahLst/>
            <a:cxnLst/>
            <a:rect l="0" t="0" r="r" b="b"/>
            <a:pathLst>
              <a:path w="3943" h="1165">
                <a:moveTo>
                  <a:pt x="0" y="0"/>
                </a:moveTo>
                <a:lnTo>
                  <a:pt x="3943" y="0"/>
                </a:lnTo>
                <a:lnTo>
                  <a:pt x="394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Forma libre 533"/>
          <p:cNvSpPr/>
          <p:nvPr/>
        </p:nvSpPr>
        <p:spPr>
          <a:xfrm>
            <a:off x="2095200" y="3009600"/>
            <a:ext cx="4677120" cy="419400"/>
          </a:xfrm>
          <a:custGeom>
            <a:avLst/>
            <a:gdLst/>
            <a:ahLst/>
            <a:cxnLst/>
            <a:rect l="0" t="0" r="r" b="b"/>
            <a:pathLst>
              <a:path w="12992" h="1165">
                <a:moveTo>
                  <a:pt x="0" y="0"/>
                </a:moveTo>
                <a:lnTo>
                  <a:pt x="12992" y="0"/>
                </a:lnTo>
                <a:lnTo>
                  <a:pt x="1299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Forma libre 534"/>
          <p:cNvSpPr/>
          <p:nvPr/>
        </p:nvSpPr>
        <p:spPr>
          <a:xfrm>
            <a:off x="676080" y="3428640"/>
            <a:ext cx="1419480" cy="419760"/>
          </a:xfrm>
          <a:custGeom>
            <a:avLst/>
            <a:gdLst/>
            <a:ahLst/>
            <a:cxnLst/>
            <a:rect l="0" t="0" r="r" b="b"/>
            <a:pathLst>
              <a:path w="3943" h="1166">
                <a:moveTo>
                  <a:pt x="0" y="0"/>
                </a:moveTo>
                <a:lnTo>
                  <a:pt x="3943" y="0"/>
                </a:lnTo>
                <a:lnTo>
                  <a:pt x="3943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Forma libre 535"/>
          <p:cNvSpPr/>
          <p:nvPr/>
        </p:nvSpPr>
        <p:spPr>
          <a:xfrm>
            <a:off x="2095200" y="3428640"/>
            <a:ext cx="4677120" cy="419760"/>
          </a:xfrm>
          <a:custGeom>
            <a:avLst/>
            <a:gdLst/>
            <a:ahLst/>
            <a:cxnLst/>
            <a:rect l="0" t="0" r="r" b="b"/>
            <a:pathLst>
              <a:path w="12992" h="1166">
                <a:moveTo>
                  <a:pt x="0" y="0"/>
                </a:moveTo>
                <a:lnTo>
                  <a:pt x="12992" y="0"/>
                </a:lnTo>
                <a:lnTo>
                  <a:pt x="12992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Forma libre 536"/>
          <p:cNvSpPr/>
          <p:nvPr/>
        </p:nvSpPr>
        <p:spPr>
          <a:xfrm>
            <a:off x="676080" y="3848040"/>
            <a:ext cx="1419480" cy="419400"/>
          </a:xfrm>
          <a:custGeom>
            <a:avLst/>
            <a:gdLst/>
            <a:ahLst/>
            <a:cxnLst/>
            <a:rect l="0" t="0" r="r" b="b"/>
            <a:pathLst>
              <a:path w="3943" h="1165">
                <a:moveTo>
                  <a:pt x="0" y="0"/>
                </a:moveTo>
                <a:lnTo>
                  <a:pt x="3943" y="0"/>
                </a:lnTo>
                <a:lnTo>
                  <a:pt x="394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Forma libre 537"/>
          <p:cNvSpPr/>
          <p:nvPr/>
        </p:nvSpPr>
        <p:spPr>
          <a:xfrm>
            <a:off x="2095200" y="3848040"/>
            <a:ext cx="4677120" cy="419400"/>
          </a:xfrm>
          <a:custGeom>
            <a:avLst/>
            <a:gdLst/>
            <a:ahLst/>
            <a:cxnLst/>
            <a:rect l="0" t="0" r="r" b="b"/>
            <a:pathLst>
              <a:path w="12992" h="1165">
                <a:moveTo>
                  <a:pt x="0" y="0"/>
                </a:moveTo>
                <a:lnTo>
                  <a:pt x="12992" y="0"/>
                </a:lnTo>
                <a:lnTo>
                  <a:pt x="1299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Forma libre 538"/>
          <p:cNvSpPr/>
          <p:nvPr/>
        </p:nvSpPr>
        <p:spPr>
          <a:xfrm>
            <a:off x="666720" y="2171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Forma libre 539"/>
          <p:cNvSpPr/>
          <p:nvPr/>
        </p:nvSpPr>
        <p:spPr>
          <a:xfrm>
            <a:off x="666720" y="2171520"/>
            <a:ext cx="1438560" cy="9720"/>
          </a:xfrm>
          <a:custGeom>
            <a:avLst/>
            <a:gdLst/>
            <a:ahLst/>
            <a:cxnLst/>
            <a:rect l="0" t="0" r="r" b="b"/>
            <a:pathLst>
              <a:path w="3996" h="27">
                <a:moveTo>
                  <a:pt x="0" y="0"/>
                </a:moveTo>
                <a:lnTo>
                  <a:pt x="3996" y="0"/>
                </a:lnTo>
                <a:lnTo>
                  <a:pt x="39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Forma libre 540"/>
          <p:cNvSpPr/>
          <p:nvPr/>
        </p:nvSpPr>
        <p:spPr>
          <a:xfrm>
            <a:off x="2095200" y="2171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Forma libre 541"/>
          <p:cNvSpPr/>
          <p:nvPr/>
        </p:nvSpPr>
        <p:spPr>
          <a:xfrm>
            <a:off x="2104920" y="2171520"/>
            <a:ext cx="4677120" cy="9720"/>
          </a:xfrm>
          <a:custGeom>
            <a:avLst/>
            <a:gdLst/>
            <a:ahLst/>
            <a:cxnLst/>
            <a:rect l="0" t="0" r="r" b="b"/>
            <a:pathLst>
              <a:path w="12992" h="27">
                <a:moveTo>
                  <a:pt x="0" y="0"/>
                </a:moveTo>
                <a:lnTo>
                  <a:pt x="12992" y="0"/>
                </a:lnTo>
                <a:lnTo>
                  <a:pt x="12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Forma libre 542"/>
          <p:cNvSpPr/>
          <p:nvPr/>
        </p:nvSpPr>
        <p:spPr>
          <a:xfrm>
            <a:off x="6771960" y="2171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Forma libre 543"/>
          <p:cNvSpPr/>
          <p:nvPr/>
        </p:nvSpPr>
        <p:spPr>
          <a:xfrm>
            <a:off x="666720" y="2581200"/>
            <a:ext cx="1438560" cy="9720"/>
          </a:xfrm>
          <a:custGeom>
            <a:avLst/>
            <a:gdLst/>
            <a:ahLst/>
            <a:cxnLst/>
            <a:rect l="0" t="0" r="r" b="b"/>
            <a:pathLst>
              <a:path w="3996" h="27">
                <a:moveTo>
                  <a:pt x="0" y="0"/>
                </a:moveTo>
                <a:lnTo>
                  <a:pt x="3996" y="0"/>
                </a:lnTo>
                <a:lnTo>
                  <a:pt x="39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Forma libre 544"/>
          <p:cNvSpPr/>
          <p:nvPr/>
        </p:nvSpPr>
        <p:spPr>
          <a:xfrm>
            <a:off x="2104920" y="2581200"/>
            <a:ext cx="4677120" cy="9720"/>
          </a:xfrm>
          <a:custGeom>
            <a:avLst/>
            <a:gdLst/>
            <a:ahLst/>
            <a:cxnLst/>
            <a:rect l="0" t="0" r="r" b="b"/>
            <a:pathLst>
              <a:path w="12992" h="27">
                <a:moveTo>
                  <a:pt x="0" y="0"/>
                </a:moveTo>
                <a:lnTo>
                  <a:pt x="12992" y="0"/>
                </a:lnTo>
                <a:lnTo>
                  <a:pt x="12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Forma libre 545"/>
          <p:cNvSpPr/>
          <p:nvPr/>
        </p:nvSpPr>
        <p:spPr>
          <a:xfrm>
            <a:off x="666720" y="2590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Forma libre 546"/>
          <p:cNvSpPr/>
          <p:nvPr/>
        </p:nvSpPr>
        <p:spPr>
          <a:xfrm>
            <a:off x="2095200" y="2590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Forma libre 547"/>
          <p:cNvSpPr/>
          <p:nvPr/>
        </p:nvSpPr>
        <p:spPr>
          <a:xfrm>
            <a:off x="6771960" y="2590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Forma libre 548"/>
          <p:cNvSpPr/>
          <p:nvPr/>
        </p:nvSpPr>
        <p:spPr>
          <a:xfrm>
            <a:off x="666720" y="3009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Forma libre 549"/>
          <p:cNvSpPr/>
          <p:nvPr/>
        </p:nvSpPr>
        <p:spPr>
          <a:xfrm>
            <a:off x="666720" y="3000240"/>
            <a:ext cx="1438560" cy="9720"/>
          </a:xfrm>
          <a:custGeom>
            <a:avLst/>
            <a:gdLst/>
            <a:ahLst/>
            <a:cxnLst/>
            <a:rect l="0" t="0" r="r" b="b"/>
            <a:pathLst>
              <a:path w="3996" h="27">
                <a:moveTo>
                  <a:pt x="0" y="0"/>
                </a:moveTo>
                <a:lnTo>
                  <a:pt x="3996" y="0"/>
                </a:lnTo>
                <a:lnTo>
                  <a:pt x="39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Forma libre 550"/>
          <p:cNvSpPr/>
          <p:nvPr/>
        </p:nvSpPr>
        <p:spPr>
          <a:xfrm>
            <a:off x="2095200" y="3009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Forma libre 551"/>
          <p:cNvSpPr/>
          <p:nvPr/>
        </p:nvSpPr>
        <p:spPr>
          <a:xfrm>
            <a:off x="2104920" y="3000240"/>
            <a:ext cx="4677120" cy="9720"/>
          </a:xfrm>
          <a:custGeom>
            <a:avLst/>
            <a:gdLst/>
            <a:ahLst/>
            <a:cxnLst/>
            <a:rect l="0" t="0" r="r" b="b"/>
            <a:pathLst>
              <a:path w="12992" h="27">
                <a:moveTo>
                  <a:pt x="0" y="0"/>
                </a:moveTo>
                <a:lnTo>
                  <a:pt x="12992" y="0"/>
                </a:lnTo>
                <a:lnTo>
                  <a:pt x="12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Forma libre 552"/>
          <p:cNvSpPr/>
          <p:nvPr/>
        </p:nvSpPr>
        <p:spPr>
          <a:xfrm>
            <a:off x="6771960" y="3009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Forma libre 553"/>
          <p:cNvSpPr/>
          <p:nvPr/>
        </p:nvSpPr>
        <p:spPr>
          <a:xfrm>
            <a:off x="666720" y="34286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Forma libre 554"/>
          <p:cNvSpPr/>
          <p:nvPr/>
        </p:nvSpPr>
        <p:spPr>
          <a:xfrm>
            <a:off x="666720" y="3419280"/>
            <a:ext cx="1438560" cy="9720"/>
          </a:xfrm>
          <a:custGeom>
            <a:avLst/>
            <a:gdLst/>
            <a:ahLst/>
            <a:cxnLst/>
            <a:rect l="0" t="0" r="r" b="b"/>
            <a:pathLst>
              <a:path w="3996" h="27">
                <a:moveTo>
                  <a:pt x="0" y="0"/>
                </a:moveTo>
                <a:lnTo>
                  <a:pt x="3996" y="0"/>
                </a:lnTo>
                <a:lnTo>
                  <a:pt x="39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Forma libre 555"/>
          <p:cNvSpPr/>
          <p:nvPr/>
        </p:nvSpPr>
        <p:spPr>
          <a:xfrm>
            <a:off x="2095200" y="342864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Forma libre 556"/>
          <p:cNvSpPr/>
          <p:nvPr/>
        </p:nvSpPr>
        <p:spPr>
          <a:xfrm>
            <a:off x="2104920" y="3419280"/>
            <a:ext cx="4677120" cy="9720"/>
          </a:xfrm>
          <a:custGeom>
            <a:avLst/>
            <a:gdLst/>
            <a:ahLst/>
            <a:cxnLst/>
            <a:rect l="0" t="0" r="r" b="b"/>
            <a:pathLst>
              <a:path w="12992" h="27">
                <a:moveTo>
                  <a:pt x="0" y="0"/>
                </a:moveTo>
                <a:lnTo>
                  <a:pt x="12992" y="0"/>
                </a:lnTo>
                <a:lnTo>
                  <a:pt x="12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Forma libre 557"/>
          <p:cNvSpPr/>
          <p:nvPr/>
        </p:nvSpPr>
        <p:spPr>
          <a:xfrm>
            <a:off x="6771960" y="342864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Forma libre 558"/>
          <p:cNvSpPr/>
          <p:nvPr/>
        </p:nvSpPr>
        <p:spPr>
          <a:xfrm>
            <a:off x="666720" y="3848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Forma libre 559"/>
          <p:cNvSpPr/>
          <p:nvPr/>
        </p:nvSpPr>
        <p:spPr>
          <a:xfrm>
            <a:off x="666720" y="3838320"/>
            <a:ext cx="1438560" cy="10080"/>
          </a:xfrm>
          <a:custGeom>
            <a:avLst/>
            <a:gdLst/>
            <a:ahLst/>
            <a:cxnLst/>
            <a:rect l="0" t="0" r="r" b="b"/>
            <a:pathLst>
              <a:path w="3996" h="28">
                <a:moveTo>
                  <a:pt x="0" y="0"/>
                </a:moveTo>
                <a:lnTo>
                  <a:pt x="3996" y="0"/>
                </a:lnTo>
                <a:lnTo>
                  <a:pt x="39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Forma libre 560"/>
          <p:cNvSpPr/>
          <p:nvPr/>
        </p:nvSpPr>
        <p:spPr>
          <a:xfrm>
            <a:off x="2095200" y="38480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Forma libre 561"/>
          <p:cNvSpPr/>
          <p:nvPr/>
        </p:nvSpPr>
        <p:spPr>
          <a:xfrm>
            <a:off x="2104920" y="3838320"/>
            <a:ext cx="4677120" cy="10080"/>
          </a:xfrm>
          <a:custGeom>
            <a:avLst/>
            <a:gdLst/>
            <a:ahLst/>
            <a:cxnLst/>
            <a:rect l="0" t="0" r="r" b="b"/>
            <a:pathLst>
              <a:path w="12992" h="28">
                <a:moveTo>
                  <a:pt x="0" y="0"/>
                </a:moveTo>
                <a:lnTo>
                  <a:pt x="12992" y="0"/>
                </a:lnTo>
                <a:lnTo>
                  <a:pt x="129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Forma libre 562"/>
          <p:cNvSpPr/>
          <p:nvPr/>
        </p:nvSpPr>
        <p:spPr>
          <a:xfrm>
            <a:off x="6771960" y="38480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Forma libre 563"/>
          <p:cNvSpPr/>
          <p:nvPr/>
        </p:nvSpPr>
        <p:spPr>
          <a:xfrm>
            <a:off x="666720" y="4257360"/>
            <a:ext cx="1438560" cy="10080"/>
          </a:xfrm>
          <a:custGeom>
            <a:avLst/>
            <a:gdLst/>
            <a:ahLst/>
            <a:cxnLst/>
            <a:rect l="0" t="0" r="r" b="b"/>
            <a:pathLst>
              <a:path w="3996" h="28">
                <a:moveTo>
                  <a:pt x="0" y="0"/>
                </a:moveTo>
                <a:lnTo>
                  <a:pt x="3996" y="0"/>
                </a:lnTo>
                <a:lnTo>
                  <a:pt x="39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Forma libre 564"/>
          <p:cNvSpPr/>
          <p:nvPr/>
        </p:nvSpPr>
        <p:spPr>
          <a:xfrm>
            <a:off x="2104920" y="4257360"/>
            <a:ext cx="4677120" cy="10080"/>
          </a:xfrm>
          <a:custGeom>
            <a:avLst/>
            <a:gdLst/>
            <a:ahLst/>
            <a:cxnLst/>
            <a:rect l="0" t="0" r="r" b="b"/>
            <a:pathLst>
              <a:path w="12992" h="28">
                <a:moveTo>
                  <a:pt x="0" y="0"/>
                </a:moveTo>
                <a:lnTo>
                  <a:pt x="12992" y="0"/>
                </a:lnTo>
                <a:lnTo>
                  <a:pt x="129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Forma libre 565"/>
          <p:cNvSpPr/>
          <p:nvPr/>
        </p:nvSpPr>
        <p:spPr>
          <a:xfrm>
            <a:off x="666720" y="441936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Forma libre 566"/>
          <p:cNvSpPr/>
          <p:nvPr/>
        </p:nvSpPr>
        <p:spPr>
          <a:xfrm>
            <a:off x="666720" y="441936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CuadroTexto 567"/>
          <p:cNvSpPr txBox="1"/>
          <p:nvPr/>
        </p:nvSpPr>
        <p:spPr>
          <a:xfrm>
            <a:off x="666720" y="1539720"/>
            <a:ext cx="52441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que vas a encontrar en la industria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CuadroTexto 568"/>
          <p:cNvSpPr txBox="1"/>
          <p:nvPr/>
        </p:nvSpPr>
        <p:spPr>
          <a:xfrm>
            <a:off x="1020240" y="2275920"/>
            <a:ext cx="730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Servicio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CuadroTexto 569"/>
          <p:cNvSpPr txBox="1"/>
          <p:nvPr/>
        </p:nvSpPr>
        <p:spPr>
          <a:xfrm>
            <a:off x="4030920" y="2275920"/>
            <a:ext cx="812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Para qué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CuadroTexto 570"/>
          <p:cNvSpPr txBox="1"/>
          <p:nvPr/>
        </p:nvSpPr>
        <p:spPr>
          <a:xfrm>
            <a:off x="799920" y="2685600"/>
            <a:ext cx="1020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AWS Batch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CuadroTexto 571"/>
          <p:cNvSpPr txBox="1"/>
          <p:nvPr/>
        </p:nvSpPr>
        <p:spPr>
          <a:xfrm>
            <a:off x="2228040" y="2685600"/>
            <a:ext cx="4214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miles de trabajos en lote, con contenedores y colas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CuadroTexto 572"/>
          <p:cNvSpPr txBox="1"/>
          <p:nvPr/>
        </p:nvSpPr>
        <p:spPr>
          <a:xfrm>
            <a:off x="799920" y="3104640"/>
            <a:ext cx="699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Fargate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CuadroTexto 573"/>
          <p:cNvSpPr txBox="1"/>
          <p:nvPr/>
        </p:nvSpPr>
        <p:spPr>
          <a:xfrm>
            <a:off x="2228040" y="3104640"/>
            <a:ext cx="3264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contenedores sin administrar servidores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CuadroTexto 574"/>
          <p:cNvSpPr txBox="1"/>
          <p:nvPr/>
        </p:nvSpPr>
        <p:spPr>
          <a:xfrm>
            <a:off x="799920" y="3524040"/>
            <a:ext cx="1034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SageMaker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CuadroTexto 575"/>
          <p:cNvSpPr txBox="1"/>
          <p:nvPr/>
        </p:nvSpPr>
        <p:spPr>
          <a:xfrm>
            <a:off x="2228040" y="3524040"/>
            <a:ext cx="4221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entrenar, versionar y desplegar modelos (sesión 26)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CuadroTexto 576"/>
          <p:cNvSpPr txBox="1"/>
          <p:nvPr/>
        </p:nvSpPr>
        <p:spPr>
          <a:xfrm>
            <a:off x="799920" y="3943080"/>
            <a:ext cx="1171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HealthOmics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CuadroTexto 577"/>
          <p:cNvSpPr txBox="1"/>
          <p:nvPr/>
        </p:nvSpPr>
        <p:spPr>
          <a:xfrm>
            <a:off x="2228040" y="3943080"/>
            <a:ext cx="4418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pipelines genómicos en Nextﬂow o WDL, gestionados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CuadroTexto 578"/>
          <p:cNvSpPr txBox="1"/>
          <p:nvPr/>
        </p:nvSpPr>
        <p:spPr>
          <a:xfrm>
            <a:off x="905040" y="4573440"/>
            <a:ext cx="10049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Todos corren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sobre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lo que viste hoy. Entender EC2 es entender qué están haciendo por ti — y qué 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CuadroTexto 579"/>
          <p:cNvSpPr txBox="1"/>
          <p:nvPr/>
        </p:nvSpPr>
        <p:spPr>
          <a:xfrm>
            <a:off x="905040" y="4916520"/>
            <a:ext cx="1932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cobran por hacerlo.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CuadroTexto 58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CuadroTexto 58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CuadroTexto 58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Forma libre 5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Forma libre 5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Forma libre 58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CuadroTexto 586"/>
          <p:cNvSpPr txBox="1"/>
          <p:nvPr/>
        </p:nvSpPr>
        <p:spPr>
          <a:xfrm>
            <a:off x="666720" y="220644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CuadroTexto 587"/>
          <p:cNvSpPr txBox="1"/>
          <p:nvPr/>
        </p:nvSpPr>
        <p:spPr>
          <a:xfrm>
            <a:off x="869760" y="2877840"/>
            <a:ext cx="9703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Pregunta antes de encender.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Lambda, Batch, Fargate o SageMaker suelen resolverlo sin que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CuadroTexto 588"/>
          <p:cNvSpPr txBox="1"/>
          <p:nvPr/>
        </p:nvSpPr>
        <p:spPr>
          <a:xfrm>
            <a:off x="1123920" y="3220920"/>
            <a:ext cx="2528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administres una máquina.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CuadroTexto 589"/>
          <p:cNvSpPr txBox="1"/>
          <p:nvPr/>
        </p:nvSpPr>
        <p:spPr>
          <a:xfrm>
            <a:off x="869760" y="3716280"/>
            <a:ext cx="9852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Roles, nunca llaves en la instancia.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 alguien entra, que se lleve lo mínimo y por poco tiempo.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CuadroTexto 590"/>
          <p:cNvSpPr txBox="1"/>
          <p:nvPr/>
        </p:nvSpPr>
        <p:spPr>
          <a:xfrm>
            <a:off x="869760" y="4211640"/>
            <a:ext cx="8926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instancia es desechable; S3 es la verdad.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apagar es gratis: lo caro es olvidarlo.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CuadroTexto 59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CuadroTexto 59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CuadroTexto 59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Forma libre 5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Forma libre 5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Forma libre 5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CuadroTexto 597"/>
          <p:cNvSpPr txBox="1"/>
          <p:nvPr/>
        </p:nvSpPr>
        <p:spPr>
          <a:xfrm>
            <a:off x="666720" y="183492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CuadroTexto 598"/>
          <p:cNvSpPr txBox="1"/>
          <p:nvPr/>
        </p:nvSpPr>
        <p:spPr>
          <a:xfrm>
            <a:off x="666720" y="2545920"/>
            <a:ext cx="33400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Ejecutar un análisis en la nube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Forma libre 599"/>
          <p:cNvSpPr/>
          <p:nvPr/>
        </p:nvSpPr>
        <p:spPr>
          <a:xfrm>
            <a:off x="4095720" y="3076560"/>
            <a:ext cx="1162080" cy="266760"/>
          </a:xfrm>
          <a:custGeom>
            <a:avLst/>
            <a:gdLst/>
            <a:ahLst/>
            <a:cxnLst/>
            <a:rect l="0" t="0" r="r" b="b"/>
            <a:pathLst>
              <a:path w="3228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3122" y="0"/>
                </a:lnTo>
                <a:cubicBezTo>
                  <a:pt x="3136" y="0"/>
                  <a:pt x="3150" y="2"/>
                  <a:pt x="3163" y="8"/>
                </a:cubicBezTo>
                <a:cubicBezTo>
                  <a:pt x="3176" y="13"/>
                  <a:pt x="3188" y="21"/>
                  <a:pt x="3198" y="31"/>
                </a:cubicBezTo>
                <a:cubicBezTo>
                  <a:pt x="3207" y="40"/>
                  <a:pt x="3215" y="52"/>
                  <a:pt x="3220" y="65"/>
                </a:cubicBezTo>
                <a:cubicBezTo>
                  <a:pt x="3226" y="78"/>
                  <a:pt x="3228" y="91"/>
                  <a:pt x="3228" y="105"/>
                </a:cubicBezTo>
                <a:lnTo>
                  <a:pt x="3228" y="635"/>
                </a:lnTo>
                <a:cubicBezTo>
                  <a:pt x="3228" y="649"/>
                  <a:pt x="3226" y="662"/>
                  <a:pt x="3220" y="675"/>
                </a:cubicBezTo>
                <a:cubicBezTo>
                  <a:pt x="3215" y="688"/>
                  <a:pt x="3207" y="699"/>
                  <a:pt x="3198" y="710"/>
                </a:cubicBezTo>
                <a:cubicBezTo>
                  <a:pt x="3188" y="720"/>
                  <a:pt x="3176" y="728"/>
                  <a:pt x="3163" y="733"/>
                </a:cubicBezTo>
                <a:cubicBezTo>
                  <a:pt x="3150" y="739"/>
                  <a:pt x="3136" y="741"/>
                  <a:pt x="3122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699"/>
                  <a:pt x="13" y="688"/>
                  <a:pt x="8" y="675"/>
                </a:cubicBezTo>
                <a:cubicBezTo>
                  <a:pt x="2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CuadroTexto 600"/>
          <p:cNvSpPr txBox="1"/>
          <p:nvPr/>
        </p:nvSpPr>
        <p:spPr>
          <a:xfrm>
            <a:off x="666720" y="3058920"/>
            <a:ext cx="3432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Lanzar una instancia con rol IAM 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CuadroTexto 601"/>
          <p:cNvSpPr txBox="1"/>
          <p:nvPr/>
        </p:nvSpPr>
        <p:spPr>
          <a:xfrm>
            <a:off x="4151520" y="309636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user data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CuadroTexto 602"/>
          <p:cNvSpPr txBox="1"/>
          <p:nvPr/>
        </p:nvSpPr>
        <p:spPr>
          <a:xfrm>
            <a:off x="5261400" y="3058920"/>
            <a:ext cx="6022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SSH sólo desde tu IP, correr tu imagen de la sesión 6 sobre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CuadroTexto 603"/>
          <p:cNvSpPr txBox="1"/>
          <p:nvPr/>
        </p:nvSpPr>
        <p:spPr>
          <a:xfrm>
            <a:off x="666720" y="3402000"/>
            <a:ext cx="10511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datos de tu bucket, llegar a Jupyter por túnel, repetir con spot y comparar, y dejar todo apagado con 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CuadroTexto 604"/>
          <p:cNvSpPr txBox="1"/>
          <p:nvPr/>
        </p:nvSpPr>
        <p:spPr>
          <a:xfrm>
            <a:off x="666720" y="3744720"/>
            <a:ext cx="2054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costo documentado.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Forma libre 605"/>
          <p:cNvSpPr/>
          <p:nvPr/>
        </p:nvSpPr>
        <p:spPr>
          <a:xfrm>
            <a:off x="1971360" y="4257360"/>
            <a:ext cx="1286280" cy="267120"/>
          </a:xfrm>
          <a:custGeom>
            <a:avLst/>
            <a:gdLst/>
            <a:ahLst/>
            <a:cxnLst/>
            <a:rect l="0" t="0" r="r" b="b"/>
            <a:pathLst>
              <a:path w="357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3"/>
                  <a:pt x="3508" y="8"/>
                </a:cubicBezTo>
                <a:cubicBezTo>
                  <a:pt x="3521" y="14"/>
                  <a:pt x="3532" y="21"/>
                  <a:pt x="3542" y="31"/>
                </a:cubicBezTo>
                <a:cubicBezTo>
                  <a:pt x="3552" y="41"/>
                  <a:pt x="3560" y="53"/>
                  <a:pt x="3565" y="66"/>
                </a:cubicBezTo>
                <a:cubicBezTo>
                  <a:pt x="3571" y="79"/>
                  <a:pt x="3573" y="92"/>
                  <a:pt x="3573" y="106"/>
                </a:cubicBezTo>
                <a:lnTo>
                  <a:pt x="3573" y="636"/>
                </a:lnTo>
                <a:cubicBezTo>
                  <a:pt x="3573" y="650"/>
                  <a:pt x="3571" y="664"/>
                  <a:pt x="3565" y="677"/>
                </a:cubicBezTo>
                <a:cubicBezTo>
                  <a:pt x="3560" y="690"/>
                  <a:pt x="3552" y="701"/>
                  <a:pt x="3542" y="711"/>
                </a:cubicBezTo>
                <a:cubicBezTo>
                  <a:pt x="3532" y="721"/>
                  <a:pt x="3521" y="729"/>
                  <a:pt x="3508" y="734"/>
                </a:cubicBezTo>
                <a:cubicBezTo>
                  <a:pt x="3495" y="740"/>
                  <a:pt x="3481" y="742"/>
                  <a:pt x="3467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CuadroTexto 606"/>
          <p:cNvSpPr txBox="1"/>
          <p:nvPr/>
        </p:nvSpPr>
        <p:spPr>
          <a:xfrm>
            <a:off x="666720" y="4240080"/>
            <a:ext cx="1312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CuadroTexto 607"/>
          <p:cNvSpPr txBox="1"/>
          <p:nvPr/>
        </p:nvSpPr>
        <p:spPr>
          <a:xfrm>
            <a:off x="2032200" y="427752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ec2-lab.md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Forma libre 608"/>
          <p:cNvSpPr/>
          <p:nvPr/>
        </p:nvSpPr>
        <p:spPr>
          <a:xfrm>
            <a:off x="5152680" y="4257360"/>
            <a:ext cx="1162440" cy="267120"/>
          </a:xfrm>
          <a:custGeom>
            <a:avLst/>
            <a:gdLst/>
            <a:ahLst/>
            <a:cxnLst/>
            <a:rect l="0" t="0" r="r" b="b"/>
            <a:pathLst>
              <a:path w="322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124" y="0"/>
                </a:lnTo>
                <a:cubicBezTo>
                  <a:pt x="3138" y="0"/>
                  <a:pt x="3151" y="3"/>
                  <a:pt x="3164" y="8"/>
                </a:cubicBezTo>
                <a:cubicBezTo>
                  <a:pt x="3177" y="14"/>
                  <a:pt x="3188" y="21"/>
                  <a:pt x="3198" y="31"/>
                </a:cubicBezTo>
                <a:cubicBezTo>
                  <a:pt x="3208" y="41"/>
                  <a:pt x="3216" y="53"/>
                  <a:pt x="3221" y="66"/>
                </a:cubicBezTo>
                <a:cubicBezTo>
                  <a:pt x="3227" y="79"/>
                  <a:pt x="3229" y="92"/>
                  <a:pt x="3229" y="106"/>
                </a:cubicBezTo>
                <a:lnTo>
                  <a:pt x="3229" y="636"/>
                </a:lnTo>
                <a:cubicBezTo>
                  <a:pt x="3229" y="650"/>
                  <a:pt x="3227" y="664"/>
                  <a:pt x="3221" y="677"/>
                </a:cubicBezTo>
                <a:cubicBezTo>
                  <a:pt x="3216" y="690"/>
                  <a:pt x="3208" y="701"/>
                  <a:pt x="3198" y="711"/>
                </a:cubicBezTo>
                <a:cubicBezTo>
                  <a:pt x="3188" y="721"/>
                  <a:pt x="3177" y="729"/>
                  <a:pt x="3164" y="734"/>
                </a:cubicBezTo>
                <a:cubicBezTo>
                  <a:pt x="3151" y="740"/>
                  <a:pt x="3138" y="742"/>
                  <a:pt x="3124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2" y="701"/>
                  <a:pt x="14" y="690"/>
                  <a:pt x="9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CuadroTexto 609"/>
          <p:cNvSpPr txBox="1"/>
          <p:nvPr/>
        </p:nvSpPr>
        <p:spPr>
          <a:xfrm>
            <a:off x="3259080" y="4240080"/>
            <a:ext cx="1893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comandos, el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CuadroTexto 610"/>
          <p:cNvSpPr txBox="1"/>
          <p:nvPr/>
        </p:nvSpPr>
        <p:spPr>
          <a:xfrm>
            <a:off x="5209560" y="427752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user data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Forma libre 611"/>
          <p:cNvSpPr/>
          <p:nvPr/>
        </p:nvSpPr>
        <p:spPr>
          <a:xfrm>
            <a:off x="666720" y="4752720"/>
            <a:ext cx="3152880" cy="267120"/>
          </a:xfrm>
          <a:custGeom>
            <a:avLst/>
            <a:gdLst/>
            <a:ahLst/>
            <a:cxnLst/>
            <a:rect l="0" t="0" r="r" b="b"/>
            <a:pathLst>
              <a:path w="875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8652" y="0"/>
                </a:lnTo>
                <a:cubicBezTo>
                  <a:pt x="8666" y="0"/>
                  <a:pt x="8680" y="3"/>
                  <a:pt x="8693" y="8"/>
                </a:cubicBezTo>
                <a:cubicBezTo>
                  <a:pt x="8706" y="14"/>
                  <a:pt x="8717" y="21"/>
                  <a:pt x="8727" y="31"/>
                </a:cubicBezTo>
                <a:cubicBezTo>
                  <a:pt x="8737" y="41"/>
                  <a:pt x="8745" y="53"/>
                  <a:pt x="8750" y="66"/>
                </a:cubicBezTo>
                <a:cubicBezTo>
                  <a:pt x="8756" y="79"/>
                  <a:pt x="8758" y="92"/>
                  <a:pt x="8758" y="106"/>
                </a:cubicBezTo>
                <a:lnTo>
                  <a:pt x="8758" y="636"/>
                </a:lnTo>
                <a:cubicBezTo>
                  <a:pt x="8758" y="650"/>
                  <a:pt x="8756" y="664"/>
                  <a:pt x="8750" y="677"/>
                </a:cubicBezTo>
                <a:cubicBezTo>
                  <a:pt x="8745" y="690"/>
                  <a:pt x="8737" y="701"/>
                  <a:pt x="8727" y="711"/>
                </a:cubicBezTo>
                <a:cubicBezTo>
                  <a:pt x="8717" y="721"/>
                  <a:pt x="8706" y="729"/>
                  <a:pt x="8693" y="734"/>
                </a:cubicBezTo>
                <a:cubicBezTo>
                  <a:pt x="8680" y="739"/>
                  <a:pt x="8666" y="742"/>
                  <a:pt x="8652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CuadroTexto 612"/>
          <p:cNvSpPr txBox="1"/>
          <p:nvPr/>
        </p:nvSpPr>
        <p:spPr>
          <a:xfrm>
            <a:off x="6319440" y="4240080"/>
            <a:ext cx="4396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el costo medido y la evidencia de apagado.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CuadroTexto 61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CuadroTexto 61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CuadroTexto 61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Forma libre 6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Forma libre 61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Forma libre 61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CuadroTexto 620"/>
          <p:cNvSpPr txBox="1"/>
          <p:nvPr/>
        </p:nvSpPr>
        <p:spPr>
          <a:xfrm>
            <a:off x="4672800" y="269244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CuadroTexto 6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CuadroTexto 6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CuadroTexto 62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Words>1828</Words>
  <Application>Microsoft Macintosh PowerPoint</Application>
  <PresentationFormat>Panorámica</PresentationFormat>
  <Paragraphs>254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5</cp:revision>
  <dcterms:modified xsi:type="dcterms:W3CDTF">2026-10-13T13:04:40Z</dcterms:modified>
  <dc:language>es-ES</dc:language>
</cp:coreProperties>
</file>