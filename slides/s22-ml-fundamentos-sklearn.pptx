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2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4" r:id="rId18"/>
    <p:sldId id="276" r:id="rId19"/>
    <p:sldId id="277" r:id="rId20"/>
    <p:sldId id="278" r:id="rId21"/>
    <p:sldId id="283" r:id="rId22"/>
    <p:sldId id="279" r:id="rId23"/>
    <p:sldId id="280" r:id="rId24"/>
    <p:sldId id="281" r:id="rId25"/>
  </p:sldIdLst>
  <p:sldSz cx="12192000" cy="6858000"/>
  <p:notesSz cx="7772400" cy="100584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11"/>
    <p:restoredTop sz="94638"/>
  </p:normalViewPr>
  <p:slideViewPr>
    <p:cSldViewPr snapToGrid="0">
      <p:cViewPr varScale="1">
        <p:scale>
          <a:sx n="133" d="100"/>
          <a:sy n="133" d="100"/>
        </p:scale>
        <p:origin x="4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 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Forma libre 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Forma libre 7"/>
          <p:cNvSpPr/>
          <p:nvPr/>
        </p:nvSpPr>
        <p:spPr>
          <a:xfrm>
            <a:off x="-12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Forma libre 8"/>
          <p:cNvSpPr/>
          <p:nvPr/>
        </p:nvSpPr>
        <p:spPr>
          <a:xfrm>
            <a:off x="666720" y="2904840"/>
            <a:ext cx="10858680" cy="38520"/>
          </a:xfrm>
          <a:custGeom>
            <a:avLst/>
            <a:gdLst/>
            <a:ahLst/>
            <a:cxnLst/>
            <a:rect l="0" t="0" r="r" b="b"/>
            <a:pathLst>
              <a:path w="30163" h="107">
                <a:moveTo>
                  <a:pt x="0" y="0"/>
                </a:moveTo>
                <a:lnTo>
                  <a:pt x="30163" y="0"/>
                </a:lnTo>
                <a:lnTo>
                  <a:pt x="3016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666720" y="2203920"/>
            <a:ext cx="2050920" cy="56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37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Sesión 22</a:t>
            </a:r>
            <a:endParaRPr lang="es-ES" sz="3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666720" y="3187440"/>
            <a:ext cx="6845400" cy="3924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 dirty="0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Machine </a:t>
            </a:r>
            <a:r>
              <a:rPr lang="es-ES" sz="2550" b="0" u="none" strike="noStrike" dirty="0" err="1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Learning</a:t>
            </a:r>
            <a:r>
              <a:rPr lang="es-ES" sz="2550" b="0" u="none" strike="noStrike" dirty="0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: Fundamentos</a:t>
            </a:r>
            <a:r>
              <a:rPr lang="es-ES" sz="2550" dirty="0">
                <a:solidFill>
                  <a:srgbClr val="1B7CA8"/>
                </a:solidFill>
                <a:latin typeface="HelveticaNeue"/>
                <a:ea typeface="HelveticaNeue"/>
              </a:rPr>
              <a:t> </a:t>
            </a:r>
            <a:r>
              <a:rPr lang="es-ES" sz="2550" b="0" u="none" strike="noStrike" dirty="0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y </a:t>
            </a:r>
            <a:r>
              <a:rPr lang="es-ES" sz="2550" b="0" u="none" strike="noStrike" dirty="0" err="1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scikit-learn</a:t>
            </a:r>
            <a:endParaRPr lang="es-ES" sz="25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666720" y="3868560"/>
            <a:ext cx="4059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Bloque V — Machine Learning clínico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666720" y="4363920"/>
            <a:ext cx="6235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Dr. Antonio Daniel Martínez Gutiérrez Semestre 2027-1 · 1:30 h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rma libre 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Forma libre 1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Forma libre 1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666720" y="2101680"/>
            <a:ext cx="30488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Objetivos de la sesión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666720" y="2773080"/>
            <a:ext cx="3854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Al terminar esta sesión serás capaz de: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869760" y="3268440"/>
            <a:ext cx="83332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Ubicar qué es machine learning: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supervisado, no supervisado y deep learning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869760" y="3668400"/>
            <a:ext cx="67464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Reconocer que el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preprocesamiento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es la parte larga, y por qué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869760" y="4068720"/>
            <a:ext cx="6721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Construir un modelo con scikit-learn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 lo simple a lo complejo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869760" y="4468680"/>
            <a:ext cx="79059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Elegir la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métrica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correcta, y saber por qué hay que poder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explicar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el modelo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orma libre 2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Forma libre 2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Forma libre 2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Forma libre 30"/>
          <p:cNvSpPr/>
          <p:nvPr/>
        </p:nvSpPr>
        <p:spPr>
          <a:xfrm>
            <a:off x="666720" y="4714560"/>
            <a:ext cx="10858680" cy="572040"/>
          </a:xfrm>
          <a:custGeom>
            <a:avLst/>
            <a:gdLst/>
            <a:ahLst/>
            <a:cxnLst/>
            <a:rect l="0" t="0" r="r" b="b"/>
            <a:pathLst>
              <a:path w="30163" h="1589">
                <a:moveTo>
                  <a:pt x="0" y="0"/>
                </a:moveTo>
                <a:lnTo>
                  <a:pt x="30163" y="0"/>
                </a:lnTo>
                <a:lnTo>
                  <a:pt x="3016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Forma libre 31"/>
          <p:cNvSpPr/>
          <p:nvPr/>
        </p:nvSpPr>
        <p:spPr>
          <a:xfrm>
            <a:off x="666720" y="4714560"/>
            <a:ext cx="47880" cy="572040"/>
          </a:xfrm>
          <a:custGeom>
            <a:avLst/>
            <a:gdLst/>
            <a:ahLst/>
            <a:cxnLst/>
            <a:rect l="0" t="0" r="r" b="b"/>
            <a:pathLst>
              <a:path w="133" h="1589">
                <a:moveTo>
                  <a:pt x="0" y="0"/>
                </a:moveTo>
                <a:lnTo>
                  <a:pt x="133" y="0"/>
                </a:lnTo>
                <a:lnTo>
                  <a:pt x="13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CuadroTexto 32"/>
          <p:cNvSpPr txBox="1"/>
          <p:nvPr/>
        </p:nvSpPr>
        <p:spPr>
          <a:xfrm>
            <a:off x="666720" y="1587240"/>
            <a:ext cx="10832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Agenda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869760" y="2259000"/>
            <a:ext cx="2685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Qué es machine learning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869760" y="2658960"/>
            <a:ext cx="4671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Supervisado, no supervisado y deep learning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CuadroTexto 35"/>
          <p:cNvSpPr txBox="1"/>
          <p:nvPr/>
        </p:nvSpPr>
        <p:spPr>
          <a:xfrm>
            <a:off x="869760" y="3058920"/>
            <a:ext cx="48484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Dónde se va el tiempo de verdad: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los datos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CuadroTexto 36"/>
          <p:cNvSpPr txBox="1"/>
          <p:nvPr/>
        </p:nvSpPr>
        <p:spPr>
          <a:xfrm>
            <a:off x="869760" y="3458880"/>
            <a:ext cx="3993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scikit-learn: de lo simple a lo complejo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CuadroTexto 37"/>
          <p:cNvSpPr txBox="1"/>
          <p:nvPr/>
        </p:nvSpPr>
        <p:spPr>
          <a:xfrm>
            <a:off x="869760" y="3859200"/>
            <a:ext cx="2694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5. Evaluar: con qué métrica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CuadroTexto 38"/>
          <p:cNvSpPr txBox="1"/>
          <p:nvPr/>
        </p:nvSpPr>
        <p:spPr>
          <a:xfrm>
            <a:off x="869760" y="4259160"/>
            <a:ext cx="2050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6. Explicar el modelo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CuadroTexto 39"/>
          <p:cNvSpPr txBox="1"/>
          <p:nvPr/>
        </p:nvSpPr>
        <p:spPr>
          <a:xfrm>
            <a:off x="905040" y="4868640"/>
            <a:ext cx="7317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Laboratorio: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tu primer modelo predictivo sobre la cohorte de la sesión 17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CuadroTexto 4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CuadroTexto 4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CuadroTexto 42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orma libre 4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Forma libre 4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Forma libre 4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CuadroTexto 46"/>
          <p:cNvSpPr txBox="1"/>
          <p:nvPr/>
        </p:nvSpPr>
        <p:spPr>
          <a:xfrm>
            <a:off x="3027960" y="3063960"/>
            <a:ext cx="626544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1. Qué es machine learning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orma libre 5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Forma libre 5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Forma libre 5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Forma libre 53"/>
          <p:cNvSpPr/>
          <p:nvPr/>
        </p:nvSpPr>
        <p:spPr>
          <a:xfrm>
            <a:off x="671400" y="1766880"/>
            <a:ext cx="10849320" cy="847800"/>
          </a:xfrm>
          <a:custGeom>
            <a:avLst/>
            <a:gdLst/>
            <a:ahLst/>
            <a:cxnLst/>
            <a:rect l="0" t="0" r="r" b="b"/>
            <a:pathLst>
              <a:path w="30137" h="2355">
                <a:moveTo>
                  <a:pt x="0" y="2157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6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6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157"/>
                </a:lnTo>
                <a:cubicBezTo>
                  <a:pt x="30137" y="2170"/>
                  <a:pt x="30136" y="2183"/>
                  <a:pt x="30133" y="2196"/>
                </a:cubicBezTo>
                <a:cubicBezTo>
                  <a:pt x="30130" y="2208"/>
                  <a:pt x="30127" y="2221"/>
                  <a:pt x="30122" y="2233"/>
                </a:cubicBezTo>
                <a:cubicBezTo>
                  <a:pt x="30117" y="2245"/>
                  <a:pt x="30111" y="2256"/>
                  <a:pt x="30103" y="2267"/>
                </a:cubicBezTo>
                <a:cubicBezTo>
                  <a:pt x="30096" y="2278"/>
                  <a:pt x="30088" y="2288"/>
                  <a:pt x="30079" y="2297"/>
                </a:cubicBezTo>
                <a:cubicBezTo>
                  <a:pt x="30070" y="2306"/>
                  <a:pt x="30059" y="2315"/>
                  <a:pt x="30049" y="2322"/>
                </a:cubicBezTo>
                <a:cubicBezTo>
                  <a:pt x="30038" y="2329"/>
                  <a:pt x="30026" y="2335"/>
                  <a:pt x="30014" y="2340"/>
                </a:cubicBezTo>
                <a:cubicBezTo>
                  <a:pt x="30002" y="2345"/>
                  <a:pt x="29990" y="2349"/>
                  <a:pt x="29977" y="2351"/>
                </a:cubicBezTo>
                <a:cubicBezTo>
                  <a:pt x="29964" y="2354"/>
                  <a:pt x="29951" y="2355"/>
                  <a:pt x="29938" y="2355"/>
                </a:cubicBezTo>
                <a:lnTo>
                  <a:pt x="198" y="2355"/>
                </a:lnTo>
                <a:cubicBezTo>
                  <a:pt x="185" y="2355"/>
                  <a:pt x="172" y="2354"/>
                  <a:pt x="160" y="2351"/>
                </a:cubicBezTo>
                <a:cubicBezTo>
                  <a:pt x="147" y="2349"/>
                  <a:pt x="134" y="2345"/>
                  <a:pt x="122" y="2340"/>
                </a:cubicBezTo>
                <a:cubicBezTo>
                  <a:pt x="110" y="2335"/>
                  <a:pt x="99" y="2329"/>
                  <a:pt x="88" y="2322"/>
                </a:cubicBezTo>
                <a:cubicBezTo>
                  <a:pt x="77" y="2315"/>
                  <a:pt x="67" y="2306"/>
                  <a:pt x="58" y="2297"/>
                </a:cubicBezTo>
                <a:cubicBezTo>
                  <a:pt x="49" y="2288"/>
                  <a:pt x="40" y="2278"/>
                  <a:pt x="33" y="2267"/>
                </a:cubicBezTo>
                <a:cubicBezTo>
                  <a:pt x="26" y="2256"/>
                  <a:pt x="20" y="2245"/>
                  <a:pt x="15" y="2233"/>
                </a:cubicBezTo>
                <a:cubicBezTo>
                  <a:pt x="10" y="2221"/>
                  <a:pt x="6" y="2208"/>
                  <a:pt x="4" y="2196"/>
                </a:cubicBezTo>
                <a:cubicBezTo>
                  <a:pt x="1" y="2183"/>
                  <a:pt x="0" y="2170"/>
                  <a:pt x="0" y="215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Forma libre 54"/>
          <p:cNvSpPr/>
          <p:nvPr/>
        </p:nvSpPr>
        <p:spPr>
          <a:xfrm>
            <a:off x="671400" y="1766880"/>
            <a:ext cx="10849320" cy="847800"/>
          </a:xfrm>
          <a:custGeom>
            <a:avLst/>
            <a:gdLst/>
            <a:ahLst/>
            <a:cxnLst/>
            <a:rect l="0" t="0" r="r" b="b"/>
            <a:pathLst>
              <a:path w="30137" h="2355">
                <a:moveTo>
                  <a:pt x="0" y="2157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6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6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157"/>
                </a:lnTo>
                <a:cubicBezTo>
                  <a:pt x="30137" y="2170"/>
                  <a:pt x="30136" y="2183"/>
                  <a:pt x="30133" y="2196"/>
                </a:cubicBezTo>
                <a:cubicBezTo>
                  <a:pt x="30130" y="2208"/>
                  <a:pt x="30127" y="2221"/>
                  <a:pt x="30122" y="2233"/>
                </a:cubicBezTo>
                <a:cubicBezTo>
                  <a:pt x="30117" y="2245"/>
                  <a:pt x="30111" y="2256"/>
                  <a:pt x="30103" y="2267"/>
                </a:cubicBezTo>
                <a:cubicBezTo>
                  <a:pt x="30096" y="2278"/>
                  <a:pt x="30088" y="2288"/>
                  <a:pt x="30079" y="2297"/>
                </a:cubicBezTo>
                <a:cubicBezTo>
                  <a:pt x="30070" y="2306"/>
                  <a:pt x="30059" y="2315"/>
                  <a:pt x="30049" y="2322"/>
                </a:cubicBezTo>
                <a:cubicBezTo>
                  <a:pt x="30038" y="2329"/>
                  <a:pt x="30026" y="2335"/>
                  <a:pt x="30014" y="2340"/>
                </a:cubicBezTo>
                <a:cubicBezTo>
                  <a:pt x="30002" y="2345"/>
                  <a:pt x="29990" y="2349"/>
                  <a:pt x="29977" y="2351"/>
                </a:cubicBezTo>
                <a:cubicBezTo>
                  <a:pt x="29964" y="2354"/>
                  <a:pt x="29951" y="2355"/>
                  <a:pt x="29938" y="2355"/>
                </a:cubicBezTo>
                <a:lnTo>
                  <a:pt x="198" y="2355"/>
                </a:lnTo>
                <a:cubicBezTo>
                  <a:pt x="185" y="2355"/>
                  <a:pt x="172" y="2354"/>
                  <a:pt x="160" y="2351"/>
                </a:cubicBezTo>
                <a:cubicBezTo>
                  <a:pt x="147" y="2349"/>
                  <a:pt x="134" y="2345"/>
                  <a:pt x="122" y="2340"/>
                </a:cubicBezTo>
                <a:cubicBezTo>
                  <a:pt x="110" y="2335"/>
                  <a:pt x="99" y="2329"/>
                  <a:pt x="88" y="2322"/>
                </a:cubicBezTo>
                <a:cubicBezTo>
                  <a:pt x="77" y="2315"/>
                  <a:pt x="67" y="2306"/>
                  <a:pt x="58" y="2297"/>
                </a:cubicBezTo>
                <a:cubicBezTo>
                  <a:pt x="49" y="2288"/>
                  <a:pt x="40" y="2278"/>
                  <a:pt x="33" y="2267"/>
                </a:cubicBezTo>
                <a:cubicBezTo>
                  <a:pt x="26" y="2256"/>
                  <a:pt x="20" y="2245"/>
                  <a:pt x="15" y="2233"/>
                </a:cubicBezTo>
                <a:cubicBezTo>
                  <a:pt x="10" y="2221"/>
                  <a:pt x="6" y="2208"/>
                  <a:pt x="4" y="2196"/>
                </a:cubicBezTo>
                <a:cubicBezTo>
                  <a:pt x="1" y="2183"/>
                  <a:pt x="0" y="2170"/>
                  <a:pt x="0" y="215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Forma libre 55"/>
          <p:cNvSpPr/>
          <p:nvPr/>
        </p:nvSpPr>
        <p:spPr>
          <a:xfrm>
            <a:off x="690480" y="3609720"/>
            <a:ext cx="10834920" cy="1067400"/>
          </a:xfrm>
          <a:custGeom>
            <a:avLst/>
            <a:gdLst/>
            <a:ahLst/>
            <a:cxnLst/>
            <a:rect l="0" t="0" r="r" b="b"/>
            <a:pathLst>
              <a:path w="30097" h="2965">
                <a:moveTo>
                  <a:pt x="0" y="2965"/>
                </a:moveTo>
                <a:lnTo>
                  <a:pt x="0" y="0"/>
                </a:lnTo>
                <a:lnTo>
                  <a:pt x="29938" y="0"/>
                </a:lnTo>
                <a:cubicBezTo>
                  <a:pt x="29949" y="0"/>
                  <a:pt x="29959" y="1"/>
                  <a:pt x="29969" y="3"/>
                </a:cubicBezTo>
                <a:cubicBezTo>
                  <a:pt x="29980" y="5"/>
                  <a:pt x="29989" y="8"/>
                  <a:pt x="29999" y="12"/>
                </a:cubicBezTo>
                <a:cubicBezTo>
                  <a:pt x="30009" y="16"/>
                  <a:pt x="30018" y="21"/>
                  <a:pt x="30027" y="27"/>
                </a:cubicBezTo>
                <a:cubicBezTo>
                  <a:pt x="30035" y="33"/>
                  <a:pt x="30043" y="39"/>
                  <a:pt x="30051" y="47"/>
                </a:cubicBezTo>
                <a:cubicBezTo>
                  <a:pt x="30058" y="54"/>
                  <a:pt x="30065" y="62"/>
                  <a:pt x="30070" y="71"/>
                </a:cubicBezTo>
                <a:cubicBezTo>
                  <a:pt x="30076" y="79"/>
                  <a:pt x="30081" y="89"/>
                  <a:pt x="30085" y="98"/>
                </a:cubicBezTo>
                <a:cubicBezTo>
                  <a:pt x="30089" y="108"/>
                  <a:pt x="30092" y="118"/>
                  <a:pt x="30094" y="128"/>
                </a:cubicBezTo>
                <a:cubicBezTo>
                  <a:pt x="30096" y="138"/>
                  <a:pt x="30097" y="149"/>
                  <a:pt x="30097" y="159"/>
                </a:cubicBezTo>
                <a:lnTo>
                  <a:pt x="30097" y="2806"/>
                </a:lnTo>
                <a:cubicBezTo>
                  <a:pt x="30097" y="2816"/>
                  <a:pt x="30096" y="2827"/>
                  <a:pt x="30094" y="2837"/>
                </a:cubicBezTo>
                <a:cubicBezTo>
                  <a:pt x="30092" y="2847"/>
                  <a:pt x="30089" y="2857"/>
                  <a:pt x="30085" y="2867"/>
                </a:cubicBezTo>
                <a:cubicBezTo>
                  <a:pt x="30081" y="2876"/>
                  <a:pt x="30076" y="2885"/>
                  <a:pt x="30070" y="2894"/>
                </a:cubicBezTo>
                <a:cubicBezTo>
                  <a:pt x="30065" y="2903"/>
                  <a:pt x="30058" y="2911"/>
                  <a:pt x="30051" y="2918"/>
                </a:cubicBezTo>
                <a:cubicBezTo>
                  <a:pt x="30043" y="2925"/>
                  <a:pt x="30035" y="2932"/>
                  <a:pt x="30027" y="2938"/>
                </a:cubicBezTo>
                <a:cubicBezTo>
                  <a:pt x="30018" y="2944"/>
                  <a:pt x="30009" y="2948"/>
                  <a:pt x="29999" y="2952"/>
                </a:cubicBezTo>
                <a:cubicBezTo>
                  <a:pt x="29989" y="2956"/>
                  <a:pt x="29980" y="2959"/>
                  <a:pt x="29969" y="2961"/>
                </a:cubicBezTo>
                <a:cubicBezTo>
                  <a:pt x="29959" y="2964"/>
                  <a:pt x="29949" y="2965"/>
                  <a:pt x="29938" y="2965"/>
                </a:cubicBezTo>
                <a:lnTo>
                  <a:pt x="0" y="2965"/>
                </a:lnTo>
                <a:close/>
              </a:path>
            </a:pathLst>
          </a:custGeom>
          <a:solidFill>
            <a:srgbClr val="FFF6E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Forma libre 56"/>
          <p:cNvSpPr/>
          <p:nvPr/>
        </p:nvSpPr>
        <p:spPr>
          <a:xfrm>
            <a:off x="666720" y="3609720"/>
            <a:ext cx="47880" cy="1067400"/>
          </a:xfrm>
          <a:custGeom>
            <a:avLst/>
            <a:gdLst/>
            <a:ahLst/>
            <a:cxnLst/>
            <a:rect l="0" t="0" r="r" b="b"/>
            <a:pathLst>
              <a:path w="133" h="2965">
                <a:moveTo>
                  <a:pt x="0" y="0"/>
                </a:moveTo>
                <a:lnTo>
                  <a:pt x="133" y="0"/>
                </a:lnTo>
                <a:lnTo>
                  <a:pt x="133" y="2965"/>
                </a:lnTo>
                <a:lnTo>
                  <a:pt x="0" y="2965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Forma libre 57"/>
          <p:cNvSpPr/>
          <p:nvPr/>
        </p:nvSpPr>
        <p:spPr>
          <a:xfrm>
            <a:off x="666720" y="482904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Forma libre 58"/>
          <p:cNvSpPr/>
          <p:nvPr/>
        </p:nvSpPr>
        <p:spPr>
          <a:xfrm>
            <a:off x="666720" y="482904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CuadroTexto 59"/>
          <p:cNvSpPr txBox="1"/>
          <p:nvPr/>
        </p:nvSpPr>
        <p:spPr>
          <a:xfrm>
            <a:off x="666720" y="1130040"/>
            <a:ext cx="70848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Aprender de ejemplos, en vez de programar reglas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CuadroTexto 60"/>
          <p:cNvSpPr txBox="1"/>
          <p:nvPr/>
        </p:nvSpPr>
        <p:spPr>
          <a:xfrm>
            <a:off x="866880" y="1946520"/>
            <a:ext cx="64425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Programación clásica    reglas  +  datos      →  respuestas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CuadroTexto 61"/>
          <p:cNvSpPr txBox="1"/>
          <p:nvPr/>
        </p:nvSpPr>
        <p:spPr>
          <a:xfrm>
            <a:off x="866880" y="2213280"/>
            <a:ext cx="60058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Machine learning        datos   +  respuestas →  REGLAS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CuadroTexto 62"/>
          <p:cNvSpPr txBox="1"/>
          <p:nvPr/>
        </p:nvSpPr>
        <p:spPr>
          <a:xfrm>
            <a:off x="666720" y="2811240"/>
            <a:ext cx="9887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Tú no le dices al modelo qué variables importan ni cómo combinarlas. Le das ejemplos resueltos y él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CuadroTexto 63"/>
          <p:cNvSpPr txBox="1"/>
          <p:nvPr/>
        </p:nvSpPr>
        <p:spPr>
          <a:xfrm>
            <a:off x="666720" y="3154320"/>
            <a:ext cx="1974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encuentra el patrón.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CuadroTexto 64"/>
          <p:cNvSpPr txBox="1"/>
          <p:nvPr/>
        </p:nvSpPr>
        <p:spPr>
          <a:xfrm>
            <a:off x="885960" y="3763800"/>
            <a:ext cx="101757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Corolario incómodo: el modelo aprende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 que haya en tus datos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incluidos los sesgos de quién pidió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CuadroTexto 65"/>
          <p:cNvSpPr txBox="1"/>
          <p:nvPr/>
        </p:nvSpPr>
        <p:spPr>
          <a:xfrm>
            <a:off x="885960" y="4106880"/>
            <a:ext cx="5467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qué estudio, a quién se le dio seguimiento y a quién no.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CuadroTexto 66"/>
          <p:cNvSpPr txBox="1"/>
          <p:nvPr/>
        </p:nvSpPr>
        <p:spPr>
          <a:xfrm>
            <a:off x="905040" y="4983120"/>
            <a:ext cx="104083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Y una advertencia desde el principio: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predecir no es explicar. Un AUC de 0.90 no te autoriza a leer los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CuadroTexto 67"/>
          <p:cNvSpPr txBox="1"/>
          <p:nvPr/>
        </p:nvSpPr>
        <p:spPr>
          <a:xfrm>
            <a:off x="905040" y="5325840"/>
            <a:ext cx="6886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coeﬁcientes como efectos causales. Para eso existe todo el bloque III.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CuadroTexto 6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CuadroTexto 6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CuadroTexto 70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Forma libre 7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Forma libre 7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Forma libre 7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CuadroTexto 74"/>
          <p:cNvSpPr txBox="1"/>
          <p:nvPr/>
        </p:nvSpPr>
        <p:spPr>
          <a:xfrm>
            <a:off x="764640" y="3063960"/>
            <a:ext cx="108990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2. Supervisado, no supervisado y deep learning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CuadroTexto 7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CuadroTexto 7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CuadroTexto 77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Forma libre 81"/>
          <p:cNvSpPr/>
          <p:nvPr/>
        </p:nvSpPr>
        <p:spPr>
          <a:xfrm>
            <a:off x="676080" y="2638080"/>
            <a:ext cx="1667160" cy="410040"/>
          </a:xfrm>
          <a:custGeom>
            <a:avLst/>
            <a:gdLst/>
            <a:ahLst/>
            <a:cxnLst/>
            <a:rect l="0" t="0" r="r" b="b"/>
            <a:pathLst>
              <a:path w="4631" h="1139">
                <a:moveTo>
                  <a:pt x="0" y="0"/>
                </a:moveTo>
                <a:lnTo>
                  <a:pt x="4631" y="0"/>
                </a:lnTo>
                <a:lnTo>
                  <a:pt x="463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Forma libre 82"/>
          <p:cNvSpPr/>
          <p:nvPr/>
        </p:nvSpPr>
        <p:spPr>
          <a:xfrm>
            <a:off x="2342880" y="2638080"/>
            <a:ext cx="1953000" cy="410040"/>
          </a:xfrm>
          <a:custGeom>
            <a:avLst/>
            <a:gdLst/>
            <a:ahLst/>
            <a:cxnLst/>
            <a:rect l="0" t="0" r="r" b="b"/>
            <a:pathLst>
              <a:path w="5425" h="1139">
                <a:moveTo>
                  <a:pt x="0" y="0"/>
                </a:moveTo>
                <a:lnTo>
                  <a:pt x="5425" y="0"/>
                </a:lnTo>
                <a:lnTo>
                  <a:pt x="542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Forma libre 83"/>
          <p:cNvSpPr/>
          <p:nvPr/>
        </p:nvSpPr>
        <p:spPr>
          <a:xfrm>
            <a:off x="4295520" y="2638080"/>
            <a:ext cx="2486520" cy="410040"/>
          </a:xfrm>
          <a:custGeom>
            <a:avLst/>
            <a:gdLst/>
            <a:ahLst/>
            <a:cxnLst/>
            <a:rect l="0" t="0" r="r" b="b"/>
            <a:pathLst>
              <a:path w="6907" h="1139">
                <a:moveTo>
                  <a:pt x="0" y="0"/>
                </a:moveTo>
                <a:lnTo>
                  <a:pt x="6907" y="0"/>
                </a:lnTo>
                <a:lnTo>
                  <a:pt x="690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Forma libre 84"/>
          <p:cNvSpPr/>
          <p:nvPr/>
        </p:nvSpPr>
        <p:spPr>
          <a:xfrm>
            <a:off x="6781680" y="2638080"/>
            <a:ext cx="3629160" cy="410040"/>
          </a:xfrm>
          <a:custGeom>
            <a:avLst/>
            <a:gdLst/>
            <a:ahLst/>
            <a:cxnLst/>
            <a:rect l="0" t="0" r="r" b="b"/>
            <a:pathLst>
              <a:path w="10081" h="1139">
                <a:moveTo>
                  <a:pt x="0" y="0"/>
                </a:moveTo>
                <a:lnTo>
                  <a:pt x="10081" y="0"/>
                </a:lnTo>
                <a:lnTo>
                  <a:pt x="1008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Forma libre 85"/>
          <p:cNvSpPr/>
          <p:nvPr/>
        </p:nvSpPr>
        <p:spPr>
          <a:xfrm>
            <a:off x="676080" y="2638080"/>
            <a:ext cx="1667160" cy="410040"/>
          </a:xfrm>
          <a:custGeom>
            <a:avLst/>
            <a:gdLst/>
            <a:ahLst/>
            <a:cxnLst/>
            <a:rect l="0" t="0" r="r" b="b"/>
            <a:pathLst>
              <a:path w="4631" h="1139">
                <a:moveTo>
                  <a:pt x="0" y="0"/>
                </a:moveTo>
                <a:lnTo>
                  <a:pt x="4631" y="0"/>
                </a:lnTo>
                <a:lnTo>
                  <a:pt x="463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Forma libre 86"/>
          <p:cNvSpPr/>
          <p:nvPr/>
        </p:nvSpPr>
        <p:spPr>
          <a:xfrm>
            <a:off x="2342880" y="2638080"/>
            <a:ext cx="1953000" cy="410040"/>
          </a:xfrm>
          <a:custGeom>
            <a:avLst/>
            <a:gdLst/>
            <a:ahLst/>
            <a:cxnLst/>
            <a:rect l="0" t="0" r="r" b="b"/>
            <a:pathLst>
              <a:path w="5425" h="1139">
                <a:moveTo>
                  <a:pt x="0" y="0"/>
                </a:moveTo>
                <a:lnTo>
                  <a:pt x="5425" y="0"/>
                </a:lnTo>
                <a:lnTo>
                  <a:pt x="542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Forma libre 87"/>
          <p:cNvSpPr/>
          <p:nvPr/>
        </p:nvSpPr>
        <p:spPr>
          <a:xfrm>
            <a:off x="4295520" y="2638080"/>
            <a:ext cx="2486520" cy="410040"/>
          </a:xfrm>
          <a:custGeom>
            <a:avLst/>
            <a:gdLst/>
            <a:ahLst/>
            <a:cxnLst/>
            <a:rect l="0" t="0" r="r" b="b"/>
            <a:pathLst>
              <a:path w="6907" h="1139">
                <a:moveTo>
                  <a:pt x="0" y="0"/>
                </a:moveTo>
                <a:lnTo>
                  <a:pt x="6907" y="0"/>
                </a:lnTo>
                <a:lnTo>
                  <a:pt x="690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Forma libre 88"/>
          <p:cNvSpPr/>
          <p:nvPr/>
        </p:nvSpPr>
        <p:spPr>
          <a:xfrm>
            <a:off x="6781680" y="2638080"/>
            <a:ext cx="3629160" cy="410040"/>
          </a:xfrm>
          <a:custGeom>
            <a:avLst/>
            <a:gdLst/>
            <a:ahLst/>
            <a:cxnLst/>
            <a:rect l="0" t="0" r="r" b="b"/>
            <a:pathLst>
              <a:path w="10081" h="1139">
                <a:moveTo>
                  <a:pt x="0" y="0"/>
                </a:moveTo>
                <a:lnTo>
                  <a:pt x="10081" y="0"/>
                </a:lnTo>
                <a:lnTo>
                  <a:pt x="1008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Forma libre 89"/>
          <p:cNvSpPr/>
          <p:nvPr/>
        </p:nvSpPr>
        <p:spPr>
          <a:xfrm>
            <a:off x="676080" y="3047760"/>
            <a:ext cx="1667160" cy="419400"/>
          </a:xfrm>
          <a:custGeom>
            <a:avLst/>
            <a:gdLst/>
            <a:ahLst/>
            <a:cxnLst/>
            <a:rect l="0" t="0" r="r" b="b"/>
            <a:pathLst>
              <a:path w="4631" h="1165">
                <a:moveTo>
                  <a:pt x="0" y="0"/>
                </a:moveTo>
                <a:lnTo>
                  <a:pt x="4631" y="0"/>
                </a:lnTo>
                <a:lnTo>
                  <a:pt x="463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Forma libre 90"/>
          <p:cNvSpPr/>
          <p:nvPr/>
        </p:nvSpPr>
        <p:spPr>
          <a:xfrm>
            <a:off x="2342880" y="3047760"/>
            <a:ext cx="1953000" cy="419400"/>
          </a:xfrm>
          <a:custGeom>
            <a:avLst/>
            <a:gdLst/>
            <a:ahLst/>
            <a:cxnLst/>
            <a:rect l="0" t="0" r="r" b="b"/>
            <a:pathLst>
              <a:path w="5425" h="1165">
                <a:moveTo>
                  <a:pt x="0" y="0"/>
                </a:moveTo>
                <a:lnTo>
                  <a:pt x="5425" y="0"/>
                </a:lnTo>
                <a:lnTo>
                  <a:pt x="5425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Forma libre 91"/>
          <p:cNvSpPr/>
          <p:nvPr/>
        </p:nvSpPr>
        <p:spPr>
          <a:xfrm>
            <a:off x="4295520" y="3047760"/>
            <a:ext cx="2486520" cy="419400"/>
          </a:xfrm>
          <a:custGeom>
            <a:avLst/>
            <a:gdLst/>
            <a:ahLst/>
            <a:cxnLst/>
            <a:rect l="0" t="0" r="r" b="b"/>
            <a:pathLst>
              <a:path w="6907" h="1165">
                <a:moveTo>
                  <a:pt x="0" y="0"/>
                </a:moveTo>
                <a:lnTo>
                  <a:pt x="6907" y="0"/>
                </a:lnTo>
                <a:lnTo>
                  <a:pt x="690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Forma libre 92"/>
          <p:cNvSpPr/>
          <p:nvPr/>
        </p:nvSpPr>
        <p:spPr>
          <a:xfrm>
            <a:off x="6781680" y="3047760"/>
            <a:ext cx="3629160" cy="419400"/>
          </a:xfrm>
          <a:custGeom>
            <a:avLst/>
            <a:gdLst/>
            <a:ahLst/>
            <a:cxnLst/>
            <a:rect l="0" t="0" r="r" b="b"/>
            <a:pathLst>
              <a:path w="10081" h="1165">
                <a:moveTo>
                  <a:pt x="0" y="0"/>
                </a:moveTo>
                <a:lnTo>
                  <a:pt x="10081" y="0"/>
                </a:lnTo>
                <a:lnTo>
                  <a:pt x="1008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Forma libre 93"/>
          <p:cNvSpPr/>
          <p:nvPr/>
        </p:nvSpPr>
        <p:spPr>
          <a:xfrm>
            <a:off x="676080" y="3466800"/>
            <a:ext cx="1667160" cy="419400"/>
          </a:xfrm>
          <a:custGeom>
            <a:avLst/>
            <a:gdLst/>
            <a:ahLst/>
            <a:cxnLst/>
            <a:rect l="0" t="0" r="r" b="b"/>
            <a:pathLst>
              <a:path w="4631" h="1165">
                <a:moveTo>
                  <a:pt x="0" y="0"/>
                </a:moveTo>
                <a:lnTo>
                  <a:pt x="4631" y="0"/>
                </a:lnTo>
                <a:lnTo>
                  <a:pt x="463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Forma libre 94"/>
          <p:cNvSpPr/>
          <p:nvPr/>
        </p:nvSpPr>
        <p:spPr>
          <a:xfrm>
            <a:off x="2342880" y="3466800"/>
            <a:ext cx="1953000" cy="419400"/>
          </a:xfrm>
          <a:custGeom>
            <a:avLst/>
            <a:gdLst/>
            <a:ahLst/>
            <a:cxnLst/>
            <a:rect l="0" t="0" r="r" b="b"/>
            <a:pathLst>
              <a:path w="5425" h="1165">
                <a:moveTo>
                  <a:pt x="0" y="0"/>
                </a:moveTo>
                <a:lnTo>
                  <a:pt x="5425" y="0"/>
                </a:lnTo>
                <a:lnTo>
                  <a:pt x="5425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Forma libre 95"/>
          <p:cNvSpPr/>
          <p:nvPr/>
        </p:nvSpPr>
        <p:spPr>
          <a:xfrm>
            <a:off x="4295520" y="3466800"/>
            <a:ext cx="2486520" cy="419400"/>
          </a:xfrm>
          <a:custGeom>
            <a:avLst/>
            <a:gdLst/>
            <a:ahLst/>
            <a:cxnLst/>
            <a:rect l="0" t="0" r="r" b="b"/>
            <a:pathLst>
              <a:path w="6907" h="1165">
                <a:moveTo>
                  <a:pt x="0" y="0"/>
                </a:moveTo>
                <a:lnTo>
                  <a:pt x="6907" y="0"/>
                </a:lnTo>
                <a:lnTo>
                  <a:pt x="690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Forma libre 96"/>
          <p:cNvSpPr/>
          <p:nvPr/>
        </p:nvSpPr>
        <p:spPr>
          <a:xfrm>
            <a:off x="6781680" y="3466800"/>
            <a:ext cx="3629160" cy="419400"/>
          </a:xfrm>
          <a:custGeom>
            <a:avLst/>
            <a:gdLst/>
            <a:ahLst/>
            <a:cxnLst/>
            <a:rect l="0" t="0" r="r" b="b"/>
            <a:pathLst>
              <a:path w="10081" h="1165">
                <a:moveTo>
                  <a:pt x="0" y="0"/>
                </a:moveTo>
                <a:lnTo>
                  <a:pt x="10081" y="0"/>
                </a:lnTo>
                <a:lnTo>
                  <a:pt x="1008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Forma libre 101"/>
          <p:cNvSpPr/>
          <p:nvPr/>
        </p:nvSpPr>
        <p:spPr>
          <a:xfrm>
            <a:off x="666720" y="26287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Forma libre 102"/>
          <p:cNvSpPr/>
          <p:nvPr/>
        </p:nvSpPr>
        <p:spPr>
          <a:xfrm>
            <a:off x="666720" y="2628720"/>
            <a:ext cx="1686240" cy="9720"/>
          </a:xfrm>
          <a:custGeom>
            <a:avLst/>
            <a:gdLst/>
            <a:ahLst/>
            <a:cxnLst/>
            <a:rect l="0" t="0" r="r" b="b"/>
            <a:pathLst>
              <a:path w="4684" h="27">
                <a:moveTo>
                  <a:pt x="0" y="0"/>
                </a:moveTo>
                <a:lnTo>
                  <a:pt x="4684" y="0"/>
                </a:lnTo>
                <a:lnTo>
                  <a:pt x="46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Forma libre 103"/>
          <p:cNvSpPr/>
          <p:nvPr/>
        </p:nvSpPr>
        <p:spPr>
          <a:xfrm>
            <a:off x="2342880" y="26287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Forma libre 104"/>
          <p:cNvSpPr/>
          <p:nvPr/>
        </p:nvSpPr>
        <p:spPr>
          <a:xfrm>
            <a:off x="2352600" y="2628720"/>
            <a:ext cx="1953000" cy="9720"/>
          </a:xfrm>
          <a:custGeom>
            <a:avLst/>
            <a:gdLst/>
            <a:ahLst/>
            <a:cxnLst/>
            <a:rect l="0" t="0" r="r" b="b"/>
            <a:pathLst>
              <a:path w="5425" h="27">
                <a:moveTo>
                  <a:pt x="0" y="0"/>
                </a:moveTo>
                <a:lnTo>
                  <a:pt x="5425" y="0"/>
                </a:lnTo>
                <a:lnTo>
                  <a:pt x="54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Forma libre 105"/>
          <p:cNvSpPr/>
          <p:nvPr/>
        </p:nvSpPr>
        <p:spPr>
          <a:xfrm>
            <a:off x="4295520" y="26287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Forma libre 106"/>
          <p:cNvSpPr/>
          <p:nvPr/>
        </p:nvSpPr>
        <p:spPr>
          <a:xfrm>
            <a:off x="4305240" y="2628720"/>
            <a:ext cx="2476800" cy="9720"/>
          </a:xfrm>
          <a:custGeom>
            <a:avLst/>
            <a:gdLst/>
            <a:ahLst/>
            <a:cxnLst/>
            <a:rect l="0" t="0" r="r" b="b"/>
            <a:pathLst>
              <a:path w="6880" h="27">
                <a:moveTo>
                  <a:pt x="0" y="0"/>
                </a:moveTo>
                <a:lnTo>
                  <a:pt x="6880" y="0"/>
                </a:lnTo>
                <a:lnTo>
                  <a:pt x="68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Forma libre 107"/>
          <p:cNvSpPr/>
          <p:nvPr/>
        </p:nvSpPr>
        <p:spPr>
          <a:xfrm>
            <a:off x="6771960" y="26287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Forma libre 108"/>
          <p:cNvSpPr/>
          <p:nvPr/>
        </p:nvSpPr>
        <p:spPr>
          <a:xfrm>
            <a:off x="6781680" y="2628720"/>
            <a:ext cx="3629160" cy="9720"/>
          </a:xfrm>
          <a:custGeom>
            <a:avLst/>
            <a:gdLst/>
            <a:ahLst/>
            <a:cxnLst/>
            <a:rect l="0" t="0" r="r" b="b"/>
            <a:pathLst>
              <a:path w="10081" h="27">
                <a:moveTo>
                  <a:pt x="0" y="0"/>
                </a:moveTo>
                <a:lnTo>
                  <a:pt x="10081" y="0"/>
                </a:lnTo>
                <a:lnTo>
                  <a:pt x="100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Forma libre 109"/>
          <p:cNvSpPr/>
          <p:nvPr/>
        </p:nvSpPr>
        <p:spPr>
          <a:xfrm>
            <a:off x="10401120" y="26287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Forma libre 110"/>
          <p:cNvSpPr/>
          <p:nvPr/>
        </p:nvSpPr>
        <p:spPr>
          <a:xfrm>
            <a:off x="666720" y="3038400"/>
            <a:ext cx="1686240" cy="9720"/>
          </a:xfrm>
          <a:custGeom>
            <a:avLst/>
            <a:gdLst/>
            <a:ahLst/>
            <a:cxnLst/>
            <a:rect l="0" t="0" r="r" b="b"/>
            <a:pathLst>
              <a:path w="4684" h="27">
                <a:moveTo>
                  <a:pt x="0" y="0"/>
                </a:moveTo>
                <a:lnTo>
                  <a:pt x="4684" y="0"/>
                </a:lnTo>
                <a:lnTo>
                  <a:pt x="46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Forma libre 111"/>
          <p:cNvSpPr/>
          <p:nvPr/>
        </p:nvSpPr>
        <p:spPr>
          <a:xfrm>
            <a:off x="2352600" y="3038400"/>
            <a:ext cx="1953000" cy="9720"/>
          </a:xfrm>
          <a:custGeom>
            <a:avLst/>
            <a:gdLst/>
            <a:ahLst/>
            <a:cxnLst/>
            <a:rect l="0" t="0" r="r" b="b"/>
            <a:pathLst>
              <a:path w="5425" h="27">
                <a:moveTo>
                  <a:pt x="0" y="0"/>
                </a:moveTo>
                <a:lnTo>
                  <a:pt x="5425" y="0"/>
                </a:lnTo>
                <a:lnTo>
                  <a:pt x="54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Forma libre 112"/>
          <p:cNvSpPr/>
          <p:nvPr/>
        </p:nvSpPr>
        <p:spPr>
          <a:xfrm>
            <a:off x="4305240" y="3038400"/>
            <a:ext cx="2476800" cy="9720"/>
          </a:xfrm>
          <a:custGeom>
            <a:avLst/>
            <a:gdLst/>
            <a:ahLst/>
            <a:cxnLst/>
            <a:rect l="0" t="0" r="r" b="b"/>
            <a:pathLst>
              <a:path w="6880" h="27">
                <a:moveTo>
                  <a:pt x="0" y="0"/>
                </a:moveTo>
                <a:lnTo>
                  <a:pt x="6880" y="0"/>
                </a:lnTo>
                <a:lnTo>
                  <a:pt x="68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Forma libre 113"/>
          <p:cNvSpPr/>
          <p:nvPr/>
        </p:nvSpPr>
        <p:spPr>
          <a:xfrm>
            <a:off x="6781680" y="3038400"/>
            <a:ext cx="3629160" cy="9720"/>
          </a:xfrm>
          <a:custGeom>
            <a:avLst/>
            <a:gdLst/>
            <a:ahLst/>
            <a:cxnLst/>
            <a:rect l="0" t="0" r="r" b="b"/>
            <a:pathLst>
              <a:path w="10081" h="27">
                <a:moveTo>
                  <a:pt x="0" y="0"/>
                </a:moveTo>
                <a:lnTo>
                  <a:pt x="10081" y="0"/>
                </a:lnTo>
                <a:lnTo>
                  <a:pt x="100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Forma libre 114"/>
          <p:cNvSpPr/>
          <p:nvPr/>
        </p:nvSpPr>
        <p:spPr>
          <a:xfrm>
            <a:off x="666720" y="30477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Forma libre 115"/>
          <p:cNvSpPr/>
          <p:nvPr/>
        </p:nvSpPr>
        <p:spPr>
          <a:xfrm>
            <a:off x="2342880" y="30477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Forma libre 116"/>
          <p:cNvSpPr/>
          <p:nvPr/>
        </p:nvSpPr>
        <p:spPr>
          <a:xfrm>
            <a:off x="4295520" y="30477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Forma libre 117"/>
          <p:cNvSpPr/>
          <p:nvPr/>
        </p:nvSpPr>
        <p:spPr>
          <a:xfrm>
            <a:off x="6771960" y="30477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Forma libre 118"/>
          <p:cNvSpPr/>
          <p:nvPr/>
        </p:nvSpPr>
        <p:spPr>
          <a:xfrm>
            <a:off x="10401120" y="30477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Forma libre 119"/>
          <p:cNvSpPr/>
          <p:nvPr/>
        </p:nvSpPr>
        <p:spPr>
          <a:xfrm>
            <a:off x="666720" y="34668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Forma libre 120"/>
          <p:cNvSpPr/>
          <p:nvPr/>
        </p:nvSpPr>
        <p:spPr>
          <a:xfrm>
            <a:off x="666720" y="3457440"/>
            <a:ext cx="1686240" cy="9720"/>
          </a:xfrm>
          <a:custGeom>
            <a:avLst/>
            <a:gdLst/>
            <a:ahLst/>
            <a:cxnLst/>
            <a:rect l="0" t="0" r="r" b="b"/>
            <a:pathLst>
              <a:path w="4684" h="27">
                <a:moveTo>
                  <a:pt x="0" y="0"/>
                </a:moveTo>
                <a:lnTo>
                  <a:pt x="4684" y="0"/>
                </a:lnTo>
                <a:lnTo>
                  <a:pt x="46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Forma libre 121"/>
          <p:cNvSpPr/>
          <p:nvPr/>
        </p:nvSpPr>
        <p:spPr>
          <a:xfrm>
            <a:off x="2342880" y="34668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Forma libre 122"/>
          <p:cNvSpPr/>
          <p:nvPr/>
        </p:nvSpPr>
        <p:spPr>
          <a:xfrm>
            <a:off x="2352600" y="3457440"/>
            <a:ext cx="1953000" cy="9720"/>
          </a:xfrm>
          <a:custGeom>
            <a:avLst/>
            <a:gdLst/>
            <a:ahLst/>
            <a:cxnLst/>
            <a:rect l="0" t="0" r="r" b="b"/>
            <a:pathLst>
              <a:path w="5425" h="27">
                <a:moveTo>
                  <a:pt x="0" y="0"/>
                </a:moveTo>
                <a:lnTo>
                  <a:pt x="5425" y="0"/>
                </a:lnTo>
                <a:lnTo>
                  <a:pt x="54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Forma libre 123"/>
          <p:cNvSpPr/>
          <p:nvPr/>
        </p:nvSpPr>
        <p:spPr>
          <a:xfrm>
            <a:off x="4295520" y="34668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Forma libre 124"/>
          <p:cNvSpPr/>
          <p:nvPr/>
        </p:nvSpPr>
        <p:spPr>
          <a:xfrm>
            <a:off x="4305240" y="3457440"/>
            <a:ext cx="2476800" cy="9720"/>
          </a:xfrm>
          <a:custGeom>
            <a:avLst/>
            <a:gdLst/>
            <a:ahLst/>
            <a:cxnLst/>
            <a:rect l="0" t="0" r="r" b="b"/>
            <a:pathLst>
              <a:path w="6880" h="27">
                <a:moveTo>
                  <a:pt x="0" y="0"/>
                </a:moveTo>
                <a:lnTo>
                  <a:pt x="6880" y="0"/>
                </a:lnTo>
                <a:lnTo>
                  <a:pt x="68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Forma libre 125"/>
          <p:cNvSpPr/>
          <p:nvPr/>
        </p:nvSpPr>
        <p:spPr>
          <a:xfrm>
            <a:off x="6771960" y="34668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Forma libre 126"/>
          <p:cNvSpPr/>
          <p:nvPr/>
        </p:nvSpPr>
        <p:spPr>
          <a:xfrm>
            <a:off x="6781680" y="3457440"/>
            <a:ext cx="3629160" cy="9720"/>
          </a:xfrm>
          <a:custGeom>
            <a:avLst/>
            <a:gdLst/>
            <a:ahLst/>
            <a:cxnLst/>
            <a:rect l="0" t="0" r="r" b="b"/>
            <a:pathLst>
              <a:path w="10081" h="27">
                <a:moveTo>
                  <a:pt x="0" y="0"/>
                </a:moveTo>
                <a:lnTo>
                  <a:pt x="10081" y="0"/>
                </a:lnTo>
                <a:lnTo>
                  <a:pt x="100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Forma libre 127"/>
          <p:cNvSpPr/>
          <p:nvPr/>
        </p:nvSpPr>
        <p:spPr>
          <a:xfrm>
            <a:off x="10401120" y="34668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Forma libre 129"/>
          <p:cNvSpPr/>
          <p:nvPr/>
        </p:nvSpPr>
        <p:spPr>
          <a:xfrm>
            <a:off x="666720" y="3876480"/>
            <a:ext cx="1686240" cy="9720"/>
          </a:xfrm>
          <a:custGeom>
            <a:avLst/>
            <a:gdLst/>
            <a:ahLst/>
            <a:cxnLst/>
            <a:rect l="0" t="0" r="r" b="b"/>
            <a:pathLst>
              <a:path w="4684" h="27">
                <a:moveTo>
                  <a:pt x="0" y="0"/>
                </a:moveTo>
                <a:lnTo>
                  <a:pt x="4684" y="0"/>
                </a:lnTo>
                <a:lnTo>
                  <a:pt x="46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Forma libre 131"/>
          <p:cNvSpPr/>
          <p:nvPr/>
        </p:nvSpPr>
        <p:spPr>
          <a:xfrm>
            <a:off x="2352600" y="3876480"/>
            <a:ext cx="1953000" cy="9720"/>
          </a:xfrm>
          <a:custGeom>
            <a:avLst/>
            <a:gdLst/>
            <a:ahLst/>
            <a:cxnLst/>
            <a:rect l="0" t="0" r="r" b="b"/>
            <a:pathLst>
              <a:path w="5425" h="27">
                <a:moveTo>
                  <a:pt x="0" y="0"/>
                </a:moveTo>
                <a:lnTo>
                  <a:pt x="5425" y="0"/>
                </a:lnTo>
                <a:lnTo>
                  <a:pt x="54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Forma libre 133"/>
          <p:cNvSpPr/>
          <p:nvPr/>
        </p:nvSpPr>
        <p:spPr>
          <a:xfrm>
            <a:off x="4305240" y="3876480"/>
            <a:ext cx="2476800" cy="9720"/>
          </a:xfrm>
          <a:custGeom>
            <a:avLst/>
            <a:gdLst/>
            <a:ahLst/>
            <a:cxnLst/>
            <a:rect l="0" t="0" r="r" b="b"/>
            <a:pathLst>
              <a:path w="6880" h="27">
                <a:moveTo>
                  <a:pt x="0" y="0"/>
                </a:moveTo>
                <a:lnTo>
                  <a:pt x="6880" y="0"/>
                </a:lnTo>
                <a:lnTo>
                  <a:pt x="68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Forma libre 135"/>
          <p:cNvSpPr/>
          <p:nvPr/>
        </p:nvSpPr>
        <p:spPr>
          <a:xfrm>
            <a:off x="6781680" y="3876480"/>
            <a:ext cx="3629160" cy="9720"/>
          </a:xfrm>
          <a:custGeom>
            <a:avLst/>
            <a:gdLst/>
            <a:ahLst/>
            <a:cxnLst/>
            <a:rect l="0" t="0" r="r" b="b"/>
            <a:pathLst>
              <a:path w="10081" h="27">
                <a:moveTo>
                  <a:pt x="0" y="0"/>
                </a:moveTo>
                <a:lnTo>
                  <a:pt x="10081" y="0"/>
                </a:lnTo>
                <a:lnTo>
                  <a:pt x="100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Forma libre 141"/>
          <p:cNvSpPr/>
          <p:nvPr/>
        </p:nvSpPr>
        <p:spPr>
          <a:xfrm>
            <a:off x="666720" y="445752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Forma libre 142"/>
          <p:cNvSpPr/>
          <p:nvPr/>
        </p:nvSpPr>
        <p:spPr>
          <a:xfrm>
            <a:off x="666720" y="445752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CuadroTexto 143"/>
          <p:cNvSpPr txBox="1"/>
          <p:nvPr/>
        </p:nvSpPr>
        <p:spPr>
          <a:xfrm>
            <a:off x="666720" y="1501560"/>
            <a:ext cx="6052939" cy="3924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Modelos supervisados y no supervisados</a:t>
            </a:r>
            <a:endParaRPr lang="es-ES" sz="25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CuadroTexto 147"/>
          <p:cNvSpPr txBox="1"/>
          <p:nvPr/>
        </p:nvSpPr>
        <p:spPr>
          <a:xfrm>
            <a:off x="2886840" y="2733120"/>
            <a:ext cx="8719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Qué tiene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CuadroTexto 148"/>
          <p:cNvSpPr txBox="1"/>
          <p:nvPr/>
        </p:nvSpPr>
        <p:spPr>
          <a:xfrm>
            <a:off x="5105520" y="2733120"/>
            <a:ext cx="8650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Qué hace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CuadroTexto 149"/>
          <p:cNvSpPr txBox="1"/>
          <p:nvPr/>
        </p:nvSpPr>
        <p:spPr>
          <a:xfrm>
            <a:off x="7898760" y="2733120"/>
            <a:ext cx="13896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Ejemplo clínico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CuadroTexto 150"/>
          <p:cNvSpPr txBox="1"/>
          <p:nvPr/>
        </p:nvSpPr>
        <p:spPr>
          <a:xfrm>
            <a:off x="799920" y="3142800"/>
            <a:ext cx="1129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Supervisado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CuadroTexto 151"/>
          <p:cNvSpPr txBox="1"/>
          <p:nvPr/>
        </p:nvSpPr>
        <p:spPr>
          <a:xfrm>
            <a:off x="2475720" y="3142800"/>
            <a:ext cx="15638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datos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con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etiqueta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CuadroTexto 152"/>
          <p:cNvSpPr txBox="1"/>
          <p:nvPr/>
        </p:nvSpPr>
        <p:spPr>
          <a:xfrm>
            <a:off x="4426920" y="3142800"/>
            <a:ext cx="15076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predice la etiqueta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CuadroTexto 153"/>
          <p:cNvSpPr txBox="1"/>
          <p:nvPr/>
        </p:nvSpPr>
        <p:spPr>
          <a:xfrm>
            <a:off x="6906600" y="3142800"/>
            <a:ext cx="20829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«¿reingresará a 30 días?»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CuadroTexto 154"/>
          <p:cNvSpPr txBox="1"/>
          <p:nvPr/>
        </p:nvSpPr>
        <p:spPr>
          <a:xfrm>
            <a:off x="799920" y="3561840"/>
            <a:ext cx="14191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No supervisado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CuadroTexto 155"/>
          <p:cNvSpPr txBox="1"/>
          <p:nvPr/>
        </p:nvSpPr>
        <p:spPr>
          <a:xfrm>
            <a:off x="2475720" y="3561840"/>
            <a:ext cx="1489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datos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sin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etiqueta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CuadroTexto 156"/>
          <p:cNvSpPr txBox="1"/>
          <p:nvPr/>
        </p:nvSpPr>
        <p:spPr>
          <a:xfrm>
            <a:off x="4426920" y="3561840"/>
            <a:ext cx="16981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encuentra estructura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CuadroTexto 157"/>
          <p:cNvSpPr txBox="1"/>
          <p:nvPr/>
        </p:nvSpPr>
        <p:spPr>
          <a:xfrm>
            <a:off x="6906600" y="3561840"/>
            <a:ext cx="33739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fenotipos de pacientes por agrupamiento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CuadroTexto 162"/>
          <p:cNvSpPr txBox="1"/>
          <p:nvPr/>
        </p:nvSpPr>
        <p:spPr>
          <a:xfrm>
            <a:off x="905040" y="4611600"/>
            <a:ext cx="104086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Lo supervisado es el 90 % de lo que harás en una tesis clínica. Lo no supervisado sirve para </a:t>
            </a:r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explorar</a:t>
            </a:r>
            <a:r>
              <a:rPr lang="es-ES" sz="1800" b="0" u="none" strike="noStrike" dirty="0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, no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CuadroTexto 163"/>
          <p:cNvSpPr txBox="1"/>
          <p:nvPr/>
        </p:nvSpPr>
        <p:spPr>
          <a:xfrm>
            <a:off x="905040" y="4954320"/>
            <a:ext cx="1334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para concluir.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CuadroTexto 16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CuadroTexto 16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CuadroTexto 166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upervised vs. Unsupervised Learning: Key Differences">
            <a:extLst>
              <a:ext uri="{FF2B5EF4-FFF2-40B4-BE49-F238E27FC236}">
                <a16:creationId xmlns:a16="http://schemas.microsoft.com/office/drawing/2014/main" id="{6F999C56-B871-B6CC-2C37-06A40AE03E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93"/>
          <a:stretch/>
        </p:blipFill>
        <p:spPr bwMode="auto">
          <a:xfrm>
            <a:off x="2483101" y="153529"/>
            <a:ext cx="6689775" cy="6550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048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Forma libre 22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Forma libre 22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Forma libre 228"/>
          <p:cNvSpPr/>
          <p:nvPr/>
        </p:nvSpPr>
        <p:spPr>
          <a:xfrm>
            <a:off x="-12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CuadroTexto 229"/>
          <p:cNvSpPr txBox="1"/>
          <p:nvPr/>
        </p:nvSpPr>
        <p:spPr>
          <a:xfrm>
            <a:off x="2095560" y="3063960"/>
            <a:ext cx="8096640" cy="6463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 dirty="0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3. Preprocesamiento de los datos</a:t>
            </a:r>
            <a:endParaRPr lang="es-ES" sz="4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CuadroTexto 23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CuadroTexto 23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CuadroTexto 232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Forma libre 23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Forma libre 23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Forma libre 23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Forma libre 236"/>
          <p:cNvSpPr/>
          <p:nvPr/>
        </p:nvSpPr>
        <p:spPr>
          <a:xfrm>
            <a:off x="671400" y="232884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2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3612"/>
                </a:lnTo>
                <a:cubicBezTo>
                  <a:pt x="30137" y="3625"/>
                  <a:pt x="30136" y="3638"/>
                  <a:pt x="30133" y="3651"/>
                </a:cubicBezTo>
                <a:cubicBezTo>
                  <a:pt x="30130" y="3664"/>
                  <a:pt x="30127" y="3676"/>
                  <a:pt x="30122" y="3688"/>
                </a:cubicBezTo>
                <a:cubicBezTo>
                  <a:pt x="30117" y="3700"/>
                  <a:pt x="30111" y="3712"/>
                  <a:pt x="30103" y="3722"/>
                </a:cubicBezTo>
                <a:cubicBezTo>
                  <a:pt x="30096" y="3733"/>
                  <a:pt x="30088" y="3743"/>
                  <a:pt x="30079" y="3752"/>
                </a:cubicBezTo>
                <a:cubicBezTo>
                  <a:pt x="30070" y="3762"/>
                  <a:pt x="30059" y="3770"/>
                  <a:pt x="30049" y="3777"/>
                </a:cubicBezTo>
                <a:cubicBezTo>
                  <a:pt x="30038" y="3784"/>
                  <a:pt x="30026" y="3790"/>
                  <a:pt x="30014" y="3795"/>
                </a:cubicBezTo>
                <a:cubicBezTo>
                  <a:pt x="30002" y="3800"/>
                  <a:pt x="29990" y="3804"/>
                  <a:pt x="29977" y="3807"/>
                </a:cubicBezTo>
                <a:cubicBezTo>
                  <a:pt x="29964" y="3809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09"/>
                  <a:pt x="160" y="3807"/>
                </a:cubicBezTo>
                <a:cubicBezTo>
                  <a:pt x="147" y="3804"/>
                  <a:pt x="134" y="3800"/>
                  <a:pt x="122" y="3795"/>
                </a:cubicBezTo>
                <a:cubicBezTo>
                  <a:pt x="110" y="3790"/>
                  <a:pt x="99" y="3784"/>
                  <a:pt x="88" y="3777"/>
                </a:cubicBezTo>
                <a:cubicBezTo>
                  <a:pt x="77" y="3770"/>
                  <a:pt x="67" y="3762"/>
                  <a:pt x="58" y="3752"/>
                </a:cubicBezTo>
                <a:cubicBezTo>
                  <a:pt x="49" y="3743"/>
                  <a:pt x="40" y="3733"/>
                  <a:pt x="33" y="3722"/>
                </a:cubicBezTo>
                <a:cubicBezTo>
                  <a:pt x="26" y="3712"/>
                  <a:pt x="20" y="3700"/>
                  <a:pt x="15" y="3688"/>
                </a:cubicBezTo>
                <a:cubicBezTo>
                  <a:pt x="10" y="3676"/>
                  <a:pt x="6" y="3664"/>
                  <a:pt x="4" y="3651"/>
                </a:cubicBezTo>
                <a:cubicBezTo>
                  <a:pt x="1" y="3638"/>
                  <a:pt x="0" y="3625"/>
                  <a:pt x="0" y="361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Forma libre 237"/>
          <p:cNvSpPr/>
          <p:nvPr/>
        </p:nvSpPr>
        <p:spPr>
          <a:xfrm>
            <a:off x="671400" y="232884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2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3612"/>
                </a:lnTo>
                <a:cubicBezTo>
                  <a:pt x="30137" y="3625"/>
                  <a:pt x="30136" y="3638"/>
                  <a:pt x="30133" y="3651"/>
                </a:cubicBezTo>
                <a:cubicBezTo>
                  <a:pt x="30130" y="3664"/>
                  <a:pt x="30127" y="3676"/>
                  <a:pt x="30122" y="3688"/>
                </a:cubicBezTo>
                <a:cubicBezTo>
                  <a:pt x="30117" y="3700"/>
                  <a:pt x="30111" y="3712"/>
                  <a:pt x="30103" y="3722"/>
                </a:cubicBezTo>
                <a:cubicBezTo>
                  <a:pt x="30096" y="3733"/>
                  <a:pt x="30088" y="3743"/>
                  <a:pt x="30079" y="3752"/>
                </a:cubicBezTo>
                <a:cubicBezTo>
                  <a:pt x="30070" y="3762"/>
                  <a:pt x="30059" y="3770"/>
                  <a:pt x="30049" y="3777"/>
                </a:cubicBezTo>
                <a:cubicBezTo>
                  <a:pt x="30038" y="3784"/>
                  <a:pt x="30026" y="3790"/>
                  <a:pt x="30014" y="3795"/>
                </a:cubicBezTo>
                <a:cubicBezTo>
                  <a:pt x="30002" y="3800"/>
                  <a:pt x="29990" y="3804"/>
                  <a:pt x="29977" y="3807"/>
                </a:cubicBezTo>
                <a:cubicBezTo>
                  <a:pt x="29964" y="3809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09"/>
                  <a:pt x="160" y="3807"/>
                </a:cubicBezTo>
                <a:cubicBezTo>
                  <a:pt x="147" y="3804"/>
                  <a:pt x="134" y="3800"/>
                  <a:pt x="122" y="3795"/>
                </a:cubicBezTo>
                <a:cubicBezTo>
                  <a:pt x="110" y="3790"/>
                  <a:pt x="99" y="3784"/>
                  <a:pt x="88" y="3777"/>
                </a:cubicBezTo>
                <a:cubicBezTo>
                  <a:pt x="77" y="3770"/>
                  <a:pt x="67" y="3762"/>
                  <a:pt x="58" y="3752"/>
                </a:cubicBezTo>
                <a:cubicBezTo>
                  <a:pt x="49" y="3743"/>
                  <a:pt x="40" y="3733"/>
                  <a:pt x="33" y="3722"/>
                </a:cubicBezTo>
                <a:cubicBezTo>
                  <a:pt x="26" y="3712"/>
                  <a:pt x="20" y="3700"/>
                  <a:pt x="15" y="3688"/>
                </a:cubicBezTo>
                <a:cubicBezTo>
                  <a:pt x="10" y="3676"/>
                  <a:pt x="6" y="3664"/>
                  <a:pt x="4" y="3651"/>
                </a:cubicBezTo>
                <a:cubicBezTo>
                  <a:pt x="1" y="3638"/>
                  <a:pt x="0" y="3625"/>
                  <a:pt x="0" y="361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CuadroTexto 238"/>
          <p:cNvSpPr txBox="1"/>
          <p:nvPr/>
        </p:nvSpPr>
        <p:spPr>
          <a:xfrm>
            <a:off x="666720" y="1187280"/>
            <a:ext cx="37411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modelo es la parte corta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CuadroTexto 242"/>
          <p:cNvSpPr txBox="1"/>
          <p:nvPr/>
        </p:nvSpPr>
        <p:spPr>
          <a:xfrm>
            <a:off x="866880" y="2508480"/>
            <a:ext cx="4368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definir la pregunta y el desenlace   ███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CuadroTexto 243"/>
          <p:cNvSpPr txBox="1"/>
          <p:nvPr/>
        </p:nvSpPr>
        <p:spPr>
          <a:xfrm>
            <a:off x="866880" y="2775240"/>
            <a:ext cx="62244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construir y limpiar los datos        ████████████████████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CuadroTexto 244"/>
          <p:cNvSpPr txBox="1"/>
          <p:nvPr/>
        </p:nvSpPr>
        <p:spPr>
          <a:xfrm>
            <a:off x="866880" y="3032280"/>
            <a:ext cx="4258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entrenar el modelo                   ██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Forma libre 245"/>
          <p:cNvSpPr/>
          <p:nvPr/>
        </p:nvSpPr>
        <p:spPr>
          <a:xfrm>
            <a:off x="914040" y="40096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CuadroTexto 246"/>
          <p:cNvSpPr txBox="1"/>
          <p:nvPr/>
        </p:nvSpPr>
        <p:spPr>
          <a:xfrm>
            <a:off x="866880" y="3299040"/>
            <a:ext cx="4695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evaluar e interpretar                ██████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Forma libre 247"/>
          <p:cNvSpPr/>
          <p:nvPr/>
        </p:nvSpPr>
        <p:spPr>
          <a:xfrm>
            <a:off x="914040" y="441000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CuadroTexto 248"/>
          <p:cNvSpPr txBox="1"/>
          <p:nvPr/>
        </p:nvSpPr>
        <p:spPr>
          <a:xfrm>
            <a:off x="1123920" y="3897000"/>
            <a:ext cx="54162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Entrenar un modelo son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tres líneas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 Siempre lo fueron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CuadroTexto 249"/>
          <p:cNvSpPr txBox="1"/>
          <p:nvPr/>
        </p:nvSpPr>
        <p:spPr>
          <a:xfrm>
            <a:off x="1123920" y="4297320"/>
            <a:ext cx="100108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 que toma meses es decidir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qué es una variable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de qué ventana, con qué deﬁnición, y qué hacer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Forma libre 250"/>
          <p:cNvSpPr/>
          <p:nvPr/>
        </p:nvSpPr>
        <p:spPr>
          <a:xfrm>
            <a:off x="914040" y="51526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CuadroTexto 251"/>
          <p:cNvSpPr txBox="1"/>
          <p:nvPr/>
        </p:nvSpPr>
        <p:spPr>
          <a:xfrm>
            <a:off x="1123920" y="4640040"/>
            <a:ext cx="1508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con lo que falta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CuadroTexto 252"/>
          <p:cNvSpPr txBox="1"/>
          <p:nvPr/>
        </p:nvSpPr>
        <p:spPr>
          <a:xfrm>
            <a:off x="1123920" y="5040000"/>
            <a:ext cx="9422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modelo mediocre sobre buenas variables le gana a un modelo excelente sobre variables mal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CuadroTexto 253"/>
          <p:cNvSpPr txBox="1"/>
          <p:nvPr/>
        </p:nvSpPr>
        <p:spPr>
          <a:xfrm>
            <a:off x="1123920" y="5383080"/>
            <a:ext cx="1143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construidas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CuadroTexto 25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CuadroTexto 25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CuadroTexto 256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Forma libre 25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Forma libre 25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Forma libre 25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Forma libre 260"/>
          <p:cNvSpPr/>
          <p:nvPr/>
        </p:nvSpPr>
        <p:spPr>
          <a:xfrm>
            <a:off x="676080" y="1971360"/>
            <a:ext cx="2038680" cy="410040"/>
          </a:xfrm>
          <a:custGeom>
            <a:avLst/>
            <a:gdLst/>
            <a:ahLst/>
            <a:cxnLst/>
            <a:rect l="0" t="0" r="r" b="b"/>
            <a:pathLst>
              <a:path w="5663" h="1139">
                <a:moveTo>
                  <a:pt x="0" y="0"/>
                </a:moveTo>
                <a:lnTo>
                  <a:pt x="5663" y="0"/>
                </a:lnTo>
                <a:lnTo>
                  <a:pt x="566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Forma libre 261"/>
          <p:cNvSpPr/>
          <p:nvPr/>
        </p:nvSpPr>
        <p:spPr>
          <a:xfrm>
            <a:off x="2714400" y="1971360"/>
            <a:ext cx="5086800" cy="410040"/>
          </a:xfrm>
          <a:custGeom>
            <a:avLst/>
            <a:gdLst/>
            <a:ahLst/>
            <a:cxnLst/>
            <a:rect l="0" t="0" r="r" b="b"/>
            <a:pathLst>
              <a:path w="14130" h="1139">
                <a:moveTo>
                  <a:pt x="0" y="0"/>
                </a:moveTo>
                <a:lnTo>
                  <a:pt x="14130" y="0"/>
                </a:lnTo>
                <a:lnTo>
                  <a:pt x="1413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Forma libre 262"/>
          <p:cNvSpPr/>
          <p:nvPr/>
        </p:nvSpPr>
        <p:spPr>
          <a:xfrm>
            <a:off x="676080" y="1971360"/>
            <a:ext cx="2038680" cy="410040"/>
          </a:xfrm>
          <a:custGeom>
            <a:avLst/>
            <a:gdLst/>
            <a:ahLst/>
            <a:cxnLst/>
            <a:rect l="0" t="0" r="r" b="b"/>
            <a:pathLst>
              <a:path w="5663" h="1139">
                <a:moveTo>
                  <a:pt x="0" y="0"/>
                </a:moveTo>
                <a:lnTo>
                  <a:pt x="5663" y="0"/>
                </a:lnTo>
                <a:lnTo>
                  <a:pt x="566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Forma libre 263"/>
          <p:cNvSpPr/>
          <p:nvPr/>
        </p:nvSpPr>
        <p:spPr>
          <a:xfrm>
            <a:off x="2714400" y="1971360"/>
            <a:ext cx="5086800" cy="410040"/>
          </a:xfrm>
          <a:custGeom>
            <a:avLst/>
            <a:gdLst/>
            <a:ahLst/>
            <a:cxnLst/>
            <a:rect l="0" t="0" r="r" b="b"/>
            <a:pathLst>
              <a:path w="14130" h="1139">
                <a:moveTo>
                  <a:pt x="0" y="0"/>
                </a:moveTo>
                <a:lnTo>
                  <a:pt x="14130" y="0"/>
                </a:lnTo>
                <a:lnTo>
                  <a:pt x="1413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Forma libre 264"/>
          <p:cNvSpPr/>
          <p:nvPr/>
        </p:nvSpPr>
        <p:spPr>
          <a:xfrm>
            <a:off x="676080" y="2381040"/>
            <a:ext cx="2038680" cy="419400"/>
          </a:xfrm>
          <a:custGeom>
            <a:avLst/>
            <a:gdLst/>
            <a:ahLst/>
            <a:cxnLst/>
            <a:rect l="0" t="0" r="r" b="b"/>
            <a:pathLst>
              <a:path w="5663" h="1165">
                <a:moveTo>
                  <a:pt x="0" y="0"/>
                </a:moveTo>
                <a:lnTo>
                  <a:pt x="5663" y="0"/>
                </a:lnTo>
                <a:lnTo>
                  <a:pt x="566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Forma libre 265"/>
          <p:cNvSpPr/>
          <p:nvPr/>
        </p:nvSpPr>
        <p:spPr>
          <a:xfrm>
            <a:off x="2714400" y="2381040"/>
            <a:ext cx="5086800" cy="419400"/>
          </a:xfrm>
          <a:custGeom>
            <a:avLst/>
            <a:gdLst/>
            <a:ahLst/>
            <a:cxnLst/>
            <a:rect l="0" t="0" r="r" b="b"/>
            <a:pathLst>
              <a:path w="14130" h="1165">
                <a:moveTo>
                  <a:pt x="0" y="0"/>
                </a:moveTo>
                <a:lnTo>
                  <a:pt x="14130" y="0"/>
                </a:lnTo>
                <a:lnTo>
                  <a:pt x="1413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Forma libre 266"/>
          <p:cNvSpPr/>
          <p:nvPr/>
        </p:nvSpPr>
        <p:spPr>
          <a:xfrm>
            <a:off x="676080" y="2800080"/>
            <a:ext cx="2038680" cy="419400"/>
          </a:xfrm>
          <a:custGeom>
            <a:avLst/>
            <a:gdLst/>
            <a:ahLst/>
            <a:cxnLst/>
            <a:rect l="0" t="0" r="r" b="b"/>
            <a:pathLst>
              <a:path w="5663" h="1165">
                <a:moveTo>
                  <a:pt x="0" y="0"/>
                </a:moveTo>
                <a:lnTo>
                  <a:pt x="5663" y="0"/>
                </a:lnTo>
                <a:lnTo>
                  <a:pt x="566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Forma libre 267"/>
          <p:cNvSpPr/>
          <p:nvPr/>
        </p:nvSpPr>
        <p:spPr>
          <a:xfrm>
            <a:off x="2714400" y="2800080"/>
            <a:ext cx="5086800" cy="419400"/>
          </a:xfrm>
          <a:custGeom>
            <a:avLst/>
            <a:gdLst/>
            <a:ahLst/>
            <a:cxnLst/>
            <a:rect l="0" t="0" r="r" b="b"/>
            <a:pathLst>
              <a:path w="14130" h="1165">
                <a:moveTo>
                  <a:pt x="0" y="0"/>
                </a:moveTo>
                <a:lnTo>
                  <a:pt x="14130" y="0"/>
                </a:lnTo>
                <a:lnTo>
                  <a:pt x="1413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Forma libre 268"/>
          <p:cNvSpPr/>
          <p:nvPr/>
        </p:nvSpPr>
        <p:spPr>
          <a:xfrm>
            <a:off x="676080" y="3219120"/>
            <a:ext cx="2038680" cy="419760"/>
          </a:xfrm>
          <a:custGeom>
            <a:avLst/>
            <a:gdLst/>
            <a:ahLst/>
            <a:cxnLst/>
            <a:rect l="0" t="0" r="r" b="b"/>
            <a:pathLst>
              <a:path w="5663" h="1166">
                <a:moveTo>
                  <a:pt x="0" y="0"/>
                </a:moveTo>
                <a:lnTo>
                  <a:pt x="5663" y="0"/>
                </a:lnTo>
                <a:lnTo>
                  <a:pt x="5663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Forma libre 269"/>
          <p:cNvSpPr/>
          <p:nvPr/>
        </p:nvSpPr>
        <p:spPr>
          <a:xfrm>
            <a:off x="2714400" y="3219120"/>
            <a:ext cx="5086800" cy="419760"/>
          </a:xfrm>
          <a:custGeom>
            <a:avLst/>
            <a:gdLst/>
            <a:ahLst/>
            <a:cxnLst/>
            <a:rect l="0" t="0" r="r" b="b"/>
            <a:pathLst>
              <a:path w="14130" h="1166">
                <a:moveTo>
                  <a:pt x="0" y="0"/>
                </a:moveTo>
                <a:lnTo>
                  <a:pt x="14130" y="0"/>
                </a:lnTo>
                <a:lnTo>
                  <a:pt x="14130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Forma libre 270"/>
          <p:cNvSpPr/>
          <p:nvPr/>
        </p:nvSpPr>
        <p:spPr>
          <a:xfrm>
            <a:off x="676080" y="3638520"/>
            <a:ext cx="2038680" cy="419400"/>
          </a:xfrm>
          <a:custGeom>
            <a:avLst/>
            <a:gdLst/>
            <a:ahLst/>
            <a:cxnLst/>
            <a:rect l="0" t="0" r="r" b="b"/>
            <a:pathLst>
              <a:path w="5663" h="1165">
                <a:moveTo>
                  <a:pt x="0" y="0"/>
                </a:moveTo>
                <a:lnTo>
                  <a:pt x="5663" y="0"/>
                </a:lnTo>
                <a:lnTo>
                  <a:pt x="566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Forma libre 271"/>
          <p:cNvSpPr/>
          <p:nvPr/>
        </p:nvSpPr>
        <p:spPr>
          <a:xfrm>
            <a:off x="2714400" y="3638520"/>
            <a:ext cx="5086800" cy="419400"/>
          </a:xfrm>
          <a:custGeom>
            <a:avLst/>
            <a:gdLst/>
            <a:ahLst/>
            <a:cxnLst/>
            <a:rect l="0" t="0" r="r" b="b"/>
            <a:pathLst>
              <a:path w="14130" h="1165">
                <a:moveTo>
                  <a:pt x="0" y="0"/>
                </a:moveTo>
                <a:lnTo>
                  <a:pt x="14130" y="0"/>
                </a:lnTo>
                <a:lnTo>
                  <a:pt x="1413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Forma libre 272"/>
          <p:cNvSpPr/>
          <p:nvPr/>
        </p:nvSpPr>
        <p:spPr>
          <a:xfrm>
            <a:off x="676080" y="4057560"/>
            <a:ext cx="2038680" cy="419400"/>
          </a:xfrm>
          <a:custGeom>
            <a:avLst/>
            <a:gdLst/>
            <a:ahLst/>
            <a:cxnLst/>
            <a:rect l="0" t="0" r="r" b="b"/>
            <a:pathLst>
              <a:path w="5663" h="1165">
                <a:moveTo>
                  <a:pt x="0" y="0"/>
                </a:moveTo>
                <a:lnTo>
                  <a:pt x="5663" y="0"/>
                </a:lnTo>
                <a:lnTo>
                  <a:pt x="566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Forma libre 273"/>
          <p:cNvSpPr/>
          <p:nvPr/>
        </p:nvSpPr>
        <p:spPr>
          <a:xfrm>
            <a:off x="2714400" y="4057560"/>
            <a:ext cx="5086800" cy="419400"/>
          </a:xfrm>
          <a:custGeom>
            <a:avLst/>
            <a:gdLst/>
            <a:ahLst/>
            <a:cxnLst/>
            <a:rect l="0" t="0" r="r" b="b"/>
            <a:pathLst>
              <a:path w="14130" h="1165">
                <a:moveTo>
                  <a:pt x="0" y="0"/>
                </a:moveTo>
                <a:lnTo>
                  <a:pt x="14130" y="0"/>
                </a:lnTo>
                <a:lnTo>
                  <a:pt x="1413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Forma libre 274"/>
          <p:cNvSpPr/>
          <p:nvPr/>
        </p:nvSpPr>
        <p:spPr>
          <a:xfrm>
            <a:off x="666720" y="19620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Forma libre 275"/>
          <p:cNvSpPr/>
          <p:nvPr/>
        </p:nvSpPr>
        <p:spPr>
          <a:xfrm>
            <a:off x="666720" y="1962000"/>
            <a:ext cx="2048040" cy="9720"/>
          </a:xfrm>
          <a:custGeom>
            <a:avLst/>
            <a:gdLst/>
            <a:ahLst/>
            <a:cxnLst/>
            <a:rect l="0" t="0" r="r" b="b"/>
            <a:pathLst>
              <a:path w="5689" h="27">
                <a:moveTo>
                  <a:pt x="0" y="0"/>
                </a:moveTo>
                <a:lnTo>
                  <a:pt x="5689" y="0"/>
                </a:lnTo>
                <a:lnTo>
                  <a:pt x="56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Forma libre 276"/>
          <p:cNvSpPr/>
          <p:nvPr/>
        </p:nvSpPr>
        <p:spPr>
          <a:xfrm>
            <a:off x="2705040" y="19620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Forma libre 277"/>
          <p:cNvSpPr/>
          <p:nvPr/>
        </p:nvSpPr>
        <p:spPr>
          <a:xfrm>
            <a:off x="2714400" y="1962000"/>
            <a:ext cx="5096160" cy="9720"/>
          </a:xfrm>
          <a:custGeom>
            <a:avLst/>
            <a:gdLst/>
            <a:ahLst/>
            <a:cxnLst/>
            <a:rect l="0" t="0" r="r" b="b"/>
            <a:pathLst>
              <a:path w="14156" h="27">
                <a:moveTo>
                  <a:pt x="0" y="0"/>
                </a:moveTo>
                <a:lnTo>
                  <a:pt x="14156" y="0"/>
                </a:lnTo>
                <a:lnTo>
                  <a:pt x="141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Forma libre 278"/>
          <p:cNvSpPr/>
          <p:nvPr/>
        </p:nvSpPr>
        <p:spPr>
          <a:xfrm>
            <a:off x="7800840" y="19620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Forma libre 279"/>
          <p:cNvSpPr/>
          <p:nvPr/>
        </p:nvSpPr>
        <p:spPr>
          <a:xfrm>
            <a:off x="666720" y="2371680"/>
            <a:ext cx="2048040" cy="9720"/>
          </a:xfrm>
          <a:custGeom>
            <a:avLst/>
            <a:gdLst/>
            <a:ahLst/>
            <a:cxnLst/>
            <a:rect l="0" t="0" r="r" b="b"/>
            <a:pathLst>
              <a:path w="5689" h="27">
                <a:moveTo>
                  <a:pt x="0" y="0"/>
                </a:moveTo>
                <a:lnTo>
                  <a:pt x="5689" y="0"/>
                </a:lnTo>
                <a:lnTo>
                  <a:pt x="56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Forma libre 280"/>
          <p:cNvSpPr/>
          <p:nvPr/>
        </p:nvSpPr>
        <p:spPr>
          <a:xfrm>
            <a:off x="2714400" y="2371680"/>
            <a:ext cx="5096160" cy="9720"/>
          </a:xfrm>
          <a:custGeom>
            <a:avLst/>
            <a:gdLst/>
            <a:ahLst/>
            <a:cxnLst/>
            <a:rect l="0" t="0" r="r" b="b"/>
            <a:pathLst>
              <a:path w="14156" h="27">
                <a:moveTo>
                  <a:pt x="0" y="0"/>
                </a:moveTo>
                <a:lnTo>
                  <a:pt x="14156" y="0"/>
                </a:lnTo>
                <a:lnTo>
                  <a:pt x="141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Forma libre 281"/>
          <p:cNvSpPr/>
          <p:nvPr/>
        </p:nvSpPr>
        <p:spPr>
          <a:xfrm>
            <a:off x="666720" y="2381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Forma libre 282"/>
          <p:cNvSpPr/>
          <p:nvPr/>
        </p:nvSpPr>
        <p:spPr>
          <a:xfrm>
            <a:off x="2705040" y="2381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Forma libre 283"/>
          <p:cNvSpPr/>
          <p:nvPr/>
        </p:nvSpPr>
        <p:spPr>
          <a:xfrm>
            <a:off x="7800840" y="2381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Forma libre 284"/>
          <p:cNvSpPr/>
          <p:nvPr/>
        </p:nvSpPr>
        <p:spPr>
          <a:xfrm>
            <a:off x="666720" y="2800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Forma libre 285"/>
          <p:cNvSpPr/>
          <p:nvPr/>
        </p:nvSpPr>
        <p:spPr>
          <a:xfrm>
            <a:off x="666720" y="2790720"/>
            <a:ext cx="2048040" cy="9720"/>
          </a:xfrm>
          <a:custGeom>
            <a:avLst/>
            <a:gdLst/>
            <a:ahLst/>
            <a:cxnLst/>
            <a:rect l="0" t="0" r="r" b="b"/>
            <a:pathLst>
              <a:path w="5689" h="27">
                <a:moveTo>
                  <a:pt x="0" y="0"/>
                </a:moveTo>
                <a:lnTo>
                  <a:pt x="5689" y="0"/>
                </a:lnTo>
                <a:lnTo>
                  <a:pt x="56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Forma libre 286"/>
          <p:cNvSpPr/>
          <p:nvPr/>
        </p:nvSpPr>
        <p:spPr>
          <a:xfrm>
            <a:off x="2705040" y="2800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Forma libre 287"/>
          <p:cNvSpPr/>
          <p:nvPr/>
        </p:nvSpPr>
        <p:spPr>
          <a:xfrm>
            <a:off x="2714400" y="2790720"/>
            <a:ext cx="5096160" cy="9720"/>
          </a:xfrm>
          <a:custGeom>
            <a:avLst/>
            <a:gdLst/>
            <a:ahLst/>
            <a:cxnLst/>
            <a:rect l="0" t="0" r="r" b="b"/>
            <a:pathLst>
              <a:path w="14156" h="27">
                <a:moveTo>
                  <a:pt x="0" y="0"/>
                </a:moveTo>
                <a:lnTo>
                  <a:pt x="14156" y="0"/>
                </a:lnTo>
                <a:lnTo>
                  <a:pt x="141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Forma libre 288"/>
          <p:cNvSpPr/>
          <p:nvPr/>
        </p:nvSpPr>
        <p:spPr>
          <a:xfrm>
            <a:off x="7800840" y="2800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Forma libre 289"/>
          <p:cNvSpPr/>
          <p:nvPr/>
        </p:nvSpPr>
        <p:spPr>
          <a:xfrm>
            <a:off x="666720" y="32191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Forma libre 290"/>
          <p:cNvSpPr/>
          <p:nvPr/>
        </p:nvSpPr>
        <p:spPr>
          <a:xfrm>
            <a:off x="666720" y="3209760"/>
            <a:ext cx="2048040" cy="9720"/>
          </a:xfrm>
          <a:custGeom>
            <a:avLst/>
            <a:gdLst/>
            <a:ahLst/>
            <a:cxnLst/>
            <a:rect l="0" t="0" r="r" b="b"/>
            <a:pathLst>
              <a:path w="5689" h="27">
                <a:moveTo>
                  <a:pt x="0" y="0"/>
                </a:moveTo>
                <a:lnTo>
                  <a:pt x="5689" y="0"/>
                </a:lnTo>
                <a:lnTo>
                  <a:pt x="56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Forma libre 291"/>
          <p:cNvSpPr/>
          <p:nvPr/>
        </p:nvSpPr>
        <p:spPr>
          <a:xfrm>
            <a:off x="2705040" y="32191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Forma libre 292"/>
          <p:cNvSpPr/>
          <p:nvPr/>
        </p:nvSpPr>
        <p:spPr>
          <a:xfrm>
            <a:off x="2714400" y="3209760"/>
            <a:ext cx="5096160" cy="9720"/>
          </a:xfrm>
          <a:custGeom>
            <a:avLst/>
            <a:gdLst/>
            <a:ahLst/>
            <a:cxnLst/>
            <a:rect l="0" t="0" r="r" b="b"/>
            <a:pathLst>
              <a:path w="14156" h="27">
                <a:moveTo>
                  <a:pt x="0" y="0"/>
                </a:moveTo>
                <a:lnTo>
                  <a:pt x="14156" y="0"/>
                </a:lnTo>
                <a:lnTo>
                  <a:pt x="141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Forma libre 293"/>
          <p:cNvSpPr/>
          <p:nvPr/>
        </p:nvSpPr>
        <p:spPr>
          <a:xfrm>
            <a:off x="7800840" y="32191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Forma libre 294"/>
          <p:cNvSpPr/>
          <p:nvPr/>
        </p:nvSpPr>
        <p:spPr>
          <a:xfrm>
            <a:off x="666720" y="3638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Forma libre 295"/>
          <p:cNvSpPr/>
          <p:nvPr/>
        </p:nvSpPr>
        <p:spPr>
          <a:xfrm>
            <a:off x="666720" y="3628800"/>
            <a:ext cx="2048040" cy="10080"/>
          </a:xfrm>
          <a:custGeom>
            <a:avLst/>
            <a:gdLst/>
            <a:ahLst/>
            <a:cxnLst/>
            <a:rect l="0" t="0" r="r" b="b"/>
            <a:pathLst>
              <a:path w="5689" h="28">
                <a:moveTo>
                  <a:pt x="0" y="0"/>
                </a:moveTo>
                <a:lnTo>
                  <a:pt x="5689" y="0"/>
                </a:lnTo>
                <a:lnTo>
                  <a:pt x="568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Forma libre 296"/>
          <p:cNvSpPr/>
          <p:nvPr/>
        </p:nvSpPr>
        <p:spPr>
          <a:xfrm>
            <a:off x="2705040" y="3638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Forma libre 297"/>
          <p:cNvSpPr/>
          <p:nvPr/>
        </p:nvSpPr>
        <p:spPr>
          <a:xfrm>
            <a:off x="2714400" y="3628800"/>
            <a:ext cx="5096160" cy="10080"/>
          </a:xfrm>
          <a:custGeom>
            <a:avLst/>
            <a:gdLst/>
            <a:ahLst/>
            <a:cxnLst/>
            <a:rect l="0" t="0" r="r" b="b"/>
            <a:pathLst>
              <a:path w="14156" h="28">
                <a:moveTo>
                  <a:pt x="0" y="0"/>
                </a:moveTo>
                <a:lnTo>
                  <a:pt x="14156" y="0"/>
                </a:lnTo>
                <a:lnTo>
                  <a:pt x="1415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Forma libre 298"/>
          <p:cNvSpPr/>
          <p:nvPr/>
        </p:nvSpPr>
        <p:spPr>
          <a:xfrm>
            <a:off x="7800840" y="3638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Forma libre 299"/>
          <p:cNvSpPr/>
          <p:nvPr/>
        </p:nvSpPr>
        <p:spPr>
          <a:xfrm>
            <a:off x="666720" y="4057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Forma libre 300"/>
          <p:cNvSpPr/>
          <p:nvPr/>
        </p:nvSpPr>
        <p:spPr>
          <a:xfrm>
            <a:off x="666720" y="4047840"/>
            <a:ext cx="2048040" cy="10440"/>
          </a:xfrm>
          <a:custGeom>
            <a:avLst/>
            <a:gdLst/>
            <a:ahLst/>
            <a:cxnLst/>
            <a:rect l="0" t="0" r="r" b="b"/>
            <a:pathLst>
              <a:path w="5689" h="29">
                <a:moveTo>
                  <a:pt x="0" y="0"/>
                </a:moveTo>
                <a:lnTo>
                  <a:pt x="5689" y="0"/>
                </a:lnTo>
                <a:lnTo>
                  <a:pt x="5689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Forma libre 301"/>
          <p:cNvSpPr/>
          <p:nvPr/>
        </p:nvSpPr>
        <p:spPr>
          <a:xfrm>
            <a:off x="2705040" y="4057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Forma libre 302"/>
          <p:cNvSpPr/>
          <p:nvPr/>
        </p:nvSpPr>
        <p:spPr>
          <a:xfrm>
            <a:off x="2714400" y="4047840"/>
            <a:ext cx="5096160" cy="10440"/>
          </a:xfrm>
          <a:custGeom>
            <a:avLst/>
            <a:gdLst/>
            <a:ahLst/>
            <a:cxnLst/>
            <a:rect l="0" t="0" r="r" b="b"/>
            <a:pathLst>
              <a:path w="14156" h="29">
                <a:moveTo>
                  <a:pt x="0" y="0"/>
                </a:moveTo>
                <a:lnTo>
                  <a:pt x="14156" y="0"/>
                </a:lnTo>
                <a:lnTo>
                  <a:pt x="14156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Forma libre 303"/>
          <p:cNvSpPr/>
          <p:nvPr/>
        </p:nvSpPr>
        <p:spPr>
          <a:xfrm>
            <a:off x="7800840" y="4057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Forma libre 304"/>
          <p:cNvSpPr/>
          <p:nvPr/>
        </p:nvSpPr>
        <p:spPr>
          <a:xfrm>
            <a:off x="666720" y="4466880"/>
            <a:ext cx="2048040" cy="10080"/>
          </a:xfrm>
          <a:custGeom>
            <a:avLst/>
            <a:gdLst/>
            <a:ahLst/>
            <a:cxnLst/>
            <a:rect l="0" t="0" r="r" b="b"/>
            <a:pathLst>
              <a:path w="5689" h="28">
                <a:moveTo>
                  <a:pt x="0" y="0"/>
                </a:moveTo>
                <a:lnTo>
                  <a:pt x="5689" y="0"/>
                </a:lnTo>
                <a:lnTo>
                  <a:pt x="568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Forma libre 305"/>
          <p:cNvSpPr/>
          <p:nvPr/>
        </p:nvSpPr>
        <p:spPr>
          <a:xfrm>
            <a:off x="2714400" y="4466880"/>
            <a:ext cx="5096160" cy="10080"/>
          </a:xfrm>
          <a:custGeom>
            <a:avLst/>
            <a:gdLst/>
            <a:ahLst/>
            <a:cxnLst/>
            <a:rect l="0" t="0" r="r" b="b"/>
            <a:pathLst>
              <a:path w="14156" h="28">
                <a:moveTo>
                  <a:pt x="0" y="0"/>
                </a:moveTo>
                <a:lnTo>
                  <a:pt x="14156" y="0"/>
                </a:lnTo>
                <a:lnTo>
                  <a:pt x="1415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Forma libre 306"/>
          <p:cNvSpPr/>
          <p:nvPr/>
        </p:nvSpPr>
        <p:spPr>
          <a:xfrm>
            <a:off x="666720" y="462888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Forma libre 307"/>
          <p:cNvSpPr/>
          <p:nvPr/>
        </p:nvSpPr>
        <p:spPr>
          <a:xfrm>
            <a:off x="666720" y="462888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CuadroTexto 308"/>
          <p:cNvSpPr txBox="1"/>
          <p:nvPr/>
        </p:nvSpPr>
        <p:spPr>
          <a:xfrm>
            <a:off x="666720" y="1329840"/>
            <a:ext cx="36871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Qué incluye «preprocesar»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CuadroTexto 309"/>
          <p:cNvSpPr txBox="1"/>
          <p:nvPr/>
        </p:nvSpPr>
        <p:spPr>
          <a:xfrm>
            <a:off x="1464480" y="2066400"/>
            <a:ext cx="455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Paso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CuadroTexto 310"/>
          <p:cNvSpPr txBox="1"/>
          <p:nvPr/>
        </p:nvSpPr>
        <p:spPr>
          <a:xfrm>
            <a:off x="3347280" y="2066400"/>
            <a:ext cx="38239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La decisión que escondes si no lo piensas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CuadroTexto 311"/>
          <p:cNvSpPr txBox="1"/>
          <p:nvPr/>
        </p:nvSpPr>
        <p:spPr>
          <a:xfrm>
            <a:off x="799920" y="2476080"/>
            <a:ext cx="1784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Deﬁnición temporal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CuadroTexto 312"/>
          <p:cNvSpPr txBox="1"/>
          <p:nvPr/>
        </p:nvSpPr>
        <p:spPr>
          <a:xfrm>
            <a:off x="2841480" y="2476080"/>
            <a:ext cx="42598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¿de qué ventana antes del índice sale esta variable?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CuadroTexto 313"/>
          <p:cNvSpPr txBox="1"/>
          <p:nvPr/>
        </p:nvSpPr>
        <p:spPr>
          <a:xfrm>
            <a:off x="799920" y="2895120"/>
            <a:ext cx="840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Faltantes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CuadroTexto 314"/>
          <p:cNvSpPr txBox="1"/>
          <p:nvPr/>
        </p:nvSpPr>
        <p:spPr>
          <a:xfrm>
            <a:off x="2841480" y="2895120"/>
            <a:ext cx="42811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¿imputo, o el hecho de que falte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ya es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información?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CuadroTexto 315"/>
          <p:cNvSpPr txBox="1"/>
          <p:nvPr/>
        </p:nvSpPr>
        <p:spPr>
          <a:xfrm>
            <a:off x="799920" y="3314160"/>
            <a:ext cx="11466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Codiﬁcación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CuadroTexto 316"/>
          <p:cNvSpPr txBox="1"/>
          <p:nvPr/>
        </p:nvSpPr>
        <p:spPr>
          <a:xfrm>
            <a:off x="2841480" y="3314160"/>
            <a:ext cx="48420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categóricas a números, sin inventar un orden que no existe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CuadroTexto 317"/>
          <p:cNvSpPr txBox="1"/>
          <p:nvPr/>
        </p:nvSpPr>
        <p:spPr>
          <a:xfrm>
            <a:off x="799920" y="3733560"/>
            <a:ext cx="8362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Escalado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CuadroTexto 318"/>
          <p:cNvSpPr txBox="1"/>
          <p:nvPr/>
        </p:nvSpPr>
        <p:spPr>
          <a:xfrm>
            <a:off x="2841480" y="3733560"/>
            <a:ext cx="45705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para modelos que lo necesitan (regresión sí, árboles no)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CuadroTexto 319"/>
          <p:cNvSpPr txBox="1"/>
          <p:nvPr/>
        </p:nvSpPr>
        <p:spPr>
          <a:xfrm>
            <a:off x="799920" y="4152600"/>
            <a:ext cx="10447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Agregación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CuadroTexto 320"/>
          <p:cNvSpPr txBox="1"/>
          <p:nvPr/>
        </p:nvSpPr>
        <p:spPr>
          <a:xfrm>
            <a:off x="2841480" y="4152600"/>
            <a:ext cx="47109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«tuvo hipertensión» vs «cuántas veces» vs «la última cifra»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CuadroTexto 321"/>
          <p:cNvSpPr txBox="1"/>
          <p:nvPr/>
        </p:nvSpPr>
        <p:spPr>
          <a:xfrm>
            <a:off x="905040" y="4782960"/>
            <a:ext cx="97401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En datos clínicos, que un laboratorio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falte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casi nunca es aleatorio: no se pidió porque el médico no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CuadroTexto 322"/>
          <p:cNvSpPr txBox="1"/>
          <p:nvPr/>
        </p:nvSpPr>
        <p:spPr>
          <a:xfrm>
            <a:off x="905040" y="5126040"/>
            <a:ext cx="3574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sospechaba. Eso es señal, no ruido.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CuadroTexto 32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CuadroTexto 32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CuadroTexto 325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Forma libre 34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Forma libre 35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Forma libre 35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Forma libre 352"/>
          <p:cNvSpPr/>
          <p:nvPr/>
        </p:nvSpPr>
        <p:spPr>
          <a:xfrm>
            <a:off x="676080" y="2219040"/>
            <a:ext cx="4629600" cy="410040"/>
          </a:xfrm>
          <a:custGeom>
            <a:avLst/>
            <a:gdLst/>
            <a:ahLst/>
            <a:cxnLst/>
            <a:rect l="0" t="0" r="r" b="b"/>
            <a:pathLst>
              <a:path w="12860" h="1139">
                <a:moveTo>
                  <a:pt x="0" y="0"/>
                </a:moveTo>
                <a:lnTo>
                  <a:pt x="12860" y="0"/>
                </a:lnTo>
                <a:lnTo>
                  <a:pt x="1286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Forma libre 353"/>
          <p:cNvSpPr/>
          <p:nvPr/>
        </p:nvSpPr>
        <p:spPr>
          <a:xfrm>
            <a:off x="5305320" y="2219040"/>
            <a:ext cx="3258000" cy="410040"/>
          </a:xfrm>
          <a:custGeom>
            <a:avLst/>
            <a:gdLst/>
            <a:ahLst/>
            <a:cxnLst/>
            <a:rect l="0" t="0" r="r" b="b"/>
            <a:pathLst>
              <a:path w="9050" h="1139">
                <a:moveTo>
                  <a:pt x="0" y="0"/>
                </a:moveTo>
                <a:lnTo>
                  <a:pt x="9050" y="0"/>
                </a:lnTo>
                <a:lnTo>
                  <a:pt x="905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Forma libre 354"/>
          <p:cNvSpPr/>
          <p:nvPr/>
        </p:nvSpPr>
        <p:spPr>
          <a:xfrm>
            <a:off x="676080" y="2219040"/>
            <a:ext cx="4629600" cy="410040"/>
          </a:xfrm>
          <a:custGeom>
            <a:avLst/>
            <a:gdLst/>
            <a:ahLst/>
            <a:cxnLst/>
            <a:rect l="0" t="0" r="r" b="b"/>
            <a:pathLst>
              <a:path w="12860" h="1139">
                <a:moveTo>
                  <a:pt x="0" y="0"/>
                </a:moveTo>
                <a:lnTo>
                  <a:pt x="12860" y="0"/>
                </a:lnTo>
                <a:lnTo>
                  <a:pt x="1286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Forma libre 355"/>
          <p:cNvSpPr/>
          <p:nvPr/>
        </p:nvSpPr>
        <p:spPr>
          <a:xfrm>
            <a:off x="5305320" y="2219040"/>
            <a:ext cx="3258000" cy="410040"/>
          </a:xfrm>
          <a:custGeom>
            <a:avLst/>
            <a:gdLst/>
            <a:ahLst/>
            <a:cxnLst/>
            <a:rect l="0" t="0" r="r" b="b"/>
            <a:pathLst>
              <a:path w="9050" h="1139">
                <a:moveTo>
                  <a:pt x="0" y="0"/>
                </a:moveTo>
                <a:lnTo>
                  <a:pt x="9050" y="0"/>
                </a:lnTo>
                <a:lnTo>
                  <a:pt x="905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Forma libre 356"/>
          <p:cNvSpPr/>
          <p:nvPr/>
        </p:nvSpPr>
        <p:spPr>
          <a:xfrm>
            <a:off x="676080" y="2628720"/>
            <a:ext cx="4629600" cy="419400"/>
          </a:xfrm>
          <a:custGeom>
            <a:avLst/>
            <a:gdLst/>
            <a:ahLst/>
            <a:cxnLst/>
            <a:rect l="0" t="0" r="r" b="b"/>
            <a:pathLst>
              <a:path w="12860" h="1165">
                <a:moveTo>
                  <a:pt x="0" y="0"/>
                </a:moveTo>
                <a:lnTo>
                  <a:pt x="12860" y="0"/>
                </a:lnTo>
                <a:lnTo>
                  <a:pt x="1286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Forma libre 357"/>
          <p:cNvSpPr/>
          <p:nvPr/>
        </p:nvSpPr>
        <p:spPr>
          <a:xfrm>
            <a:off x="5305320" y="2628720"/>
            <a:ext cx="3258000" cy="419400"/>
          </a:xfrm>
          <a:custGeom>
            <a:avLst/>
            <a:gdLst/>
            <a:ahLst/>
            <a:cxnLst/>
            <a:rect l="0" t="0" r="r" b="b"/>
            <a:pathLst>
              <a:path w="9050" h="1165">
                <a:moveTo>
                  <a:pt x="0" y="0"/>
                </a:moveTo>
                <a:lnTo>
                  <a:pt x="9050" y="0"/>
                </a:lnTo>
                <a:lnTo>
                  <a:pt x="905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Forma libre 358"/>
          <p:cNvSpPr/>
          <p:nvPr/>
        </p:nvSpPr>
        <p:spPr>
          <a:xfrm>
            <a:off x="676080" y="3047760"/>
            <a:ext cx="4629600" cy="419400"/>
          </a:xfrm>
          <a:custGeom>
            <a:avLst/>
            <a:gdLst/>
            <a:ahLst/>
            <a:cxnLst/>
            <a:rect l="0" t="0" r="r" b="b"/>
            <a:pathLst>
              <a:path w="12860" h="1165">
                <a:moveTo>
                  <a:pt x="0" y="0"/>
                </a:moveTo>
                <a:lnTo>
                  <a:pt x="12860" y="0"/>
                </a:lnTo>
                <a:lnTo>
                  <a:pt x="1286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Forma libre 359"/>
          <p:cNvSpPr/>
          <p:nvPr/>
        </p:nvSpPr>
        <p:spPr>
          <a:xfrm>
            <a:off x="5305320" y="3047760"/>
            <a:ext cx="3258000" cy="419400"/>
          </a:xfrm>
          <a:custGeom>
            <a:avLst/>
            <a:gdLst/>
            <a:ahLst/>
            <a:cxnLst/>
            <a:rect l="0" t="0" r="r" b="b"/>
            <a:pathLst>
              <a:path w="9050" h="1165">
                <a:moveTo>
                  <a:pt x="0" y="0"/>
                </a:moveTo>
                <a:lnTo>
                  <a:pt x="9050" y="0"/>
                </a:lnTo>
                <a:lnTo>
                  <a:pt x="905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Forma libre 360"/>
          <p:cNvSpPr/>
          <p:nvPr/>
        </p:nvSpPr>
        <p:spPr>
          <a:xfrm>
            <a:off x="676080" y="3466800"/>
            <a:ext cx="4629600" cy="419400"/>
          </a:xfrm>
          <a:custGeom>
            <a:avLst/>
            <a:gdLst/>
            <a:ahLst/>
            <a:cxnLst/>
            <a:rect l="0" t="0" r="r" b="b"/>
            <a:pathLst>
              <a:path w="12860" h="1165">
                <a:moveTo>
                  <a:pt x="0" y="0"/>
                </a:moveTo>
                <a:lnTo>
                  <a:pt x="12860" y="0"/>
                </a:lnTo>
                <a:lnTo>
                  <a:pt x="1286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Forma libre 361"/>
          <p:cNvSpPr/>
          <p:nvPr/>
        </p:nvSpPr>
        <p:spPr>
          <a:xfrm>
            <a:off x="5305320" y="3466800"/>
            <a:ext cx="3258000" cy="419400"/>
          </a:xfrm>
          <a:custGeom>
            <a:avLst/>
            <a:gdLst/>
            <a:ahLst/>
            <a:cxnLst/>
            <a:rect l="0" t="0" r="r" b="b"/>
            <a:pathLst>
              <a:path w="9050" h="1165">
                <a:moveTo>
                  <a:pt x="0" y="0"/>
                </a:moveTo>
                <a:lnTo>
                  <a:pt x="9050" y="0"/>
                </a:lnTo>
                <a:lnTo>
                  <a:pt x="905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Forma libre 362"/>
          <p:cNvSpPr/>
          <p:nvPr/>
        </p:nvSpPr>
        <p:spPr>
          <a:xfrm>
            <a:off x="666720" y="22096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Forma libre 363"/>
          <p:cNvSpPr/>
          <p:nvPr/>
        </p:nvSpPr>
        <p:spPr>
          <a:xfrm>
            <a:off x="666720" y="2209680"/>
            <a:ext cx="4648320" cy="9720"/>
          </a:xfrm>
          <a:custGeom>
            <a:avLst/>
            <a:gdLst/>
            <a:ahLst/>
            <a:cxnLst/>
            <a:rect l="0" t="0" r="r" b="b"/>
            <a:pathLst>
              <a:path w="12912" h="27">
                <a:moveTo>
                  <a:pt x="0" y="0"/>
                </a:moveTo>
                <a:lnTo>
                  <a:pt x="12912" y="0"/>
                </a:lnTo>
                <a:lnTo>
                  <a:pt x="129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Forma libre 364"/>
          <p:cNvSpPr/>
          <p:nvPr/>
        </p:nvSpPr>
        <p:spPr>
          <a:xfrm>
            <a:off x="5305320" y="22096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Forma libre 365"/>
          <p:cNvSpPr/>
          <p:nvPr/>
        </p:nvSpPr>
        <p:spPr>
          <a:xfrm>
            <a:off x="5314680" y="2209680"/>
            <a:ext cx="3258000" cy="9720"/>
          </a:xfrm>
          <a:custGeom>
            <a:avLst/>
            <a:gdLst/>
            <a:ahLst/>
            <a:cxnLst/>
            <a:rect l="0" t="0" r="r" b="b"/>
            <a:pathLst>
              <a:path w="9050" h="27">
                <a:moveTo>
                  <a:pt x="0" y="0"/>
                </a:moveTo>
                <a:lnTo>
                  <a:pt x="9050" y="0"/>
                </a:lnTo>
                <a:lnTo>
                  <a:pt x="90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Forma libre 366"/>
          <p:cNvSpPr/>
          <p:nvPr/>
        </p:nvSpPr>
        <p:spPr>
          <a:xfrm>
            <a:off x="8562960" y="22096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Forma libre 367"/>
          <p:cNvSpPr/>
          <p:nvPr/>
        </p:nvSpPr>
        <p:spPr>
          <a:xfrm>
            <a:off x="666720" y="2619360"/>
            <a:ext cx="4648320" cy="9720"/>
          </a:xfrm>
          <a:custGeom>
            <a:avLst/>
            <a:gdLst/>
            <a:ahLst/>
            <a:cxnLst/>
            <a:rect l="0" t="0" r="r" b="b"/>
            <a:pathLst>
              <a:path w="12912" h="27">
                <a:moveTo>
                  <a:pt x="0" y="0"/>
                </a:moveTo>
                <a:lnTo>
                  <a:pt x="12912" y="0"/>
                </a:lnTo>
                <a:lnTo>
                  <a:pt x="129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Forma libre 368"/>
          <p:cNvSpPr/>
          <p:nvPr/>
        </p:nvSpPr>
        <p:spPr>
          <a:xfrm>
            <a:off x="5314680" y="2619360"/>
            <a:ext cx="3258000" cy="9720"/>
          </a:xfrm>
          <a:custGeom>
            <a:avLst/>
            <a:gdLst/>
            <a:ahLst/>
            <a:cxnLst/>
            <a:rect l="0" t="0" r="r" b="b"/>
            <a:pathLst>
              <a:path w="9050" h="27">
                <a:moveTo>
                  <a:pt x="0" y="0"/>
                </a:moveTo>
                <a:lnTo>
                  <a:pt x="9050" y="0"/>
                </a:lnTo>
                <a:lnTo>
                  <a:pt x="90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Forma libre 369"/>
          <p:cNvSpPr/>
          <p:nvPr/>
        </p:nvSpPr>
        <p:spPr>
          <a:xfrm>
            <a:off x="666720" y="26287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Forma libre 370"/>
          <p:cNvSpPr/>
          <p:nvPr/>
        </p:nvSpPr>
        <p:spPr>
          <a:xfrm>
            <a:off x="5305320" y="26287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Forma libre 371"/>
          <p:cNvSpPr/>
          <p:nvPr/>
        </p:nvSpPr>
        <p:spPr>
          <a:xfrm>
            <a:off x="8562960" y="26287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Forma libre 372"/>
          <p:cNvSpPr/>
          <p:nvPr/>
        </p:nvSpPr>
        <p:spPr>
          <a:xfrm>
            <a:off x="666720" y="30477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Forma libre 373"/>
          <p:cNvSpPr/>
          <p:nvPr/>
        </p:nvSpPr>
        <p:spPr>
          <a:xfrm>
            <a:off x="666720" y="3038400"/>
            <a:ext cx="4648320" cy="9720"/>
          </a:xfrm>
          <a:custGeom>
            <a:avLst/>
            <a:gdLst/>
            <a:ahLst/>
            <a:cxnLst/>
            <a:rect l="0" t="0" r="r" b="b"/>
            <a:pathLst>
              <a:path w="12912" h="27">
                <a:moveTo>
                  <a:pt x="0" y="0"/>
                </a:moveTo>
                <a:lnTo>
                  <a:pt x="12912" y="0"/>
                </a:lnTo>
                <a:lnTo>
                  <a:pt x="129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Forma libre 374"/>
          <p:cNvSpPr/>
          <p:nvPr/>
        </p:nvSpPr>
        <p:spPr>
          <a:xfrm>
            <a:off x="5305320" y="30477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Forma libre 375"/>
          <p:cNvSpPr/>
          <p:nvPr/>
        </p:nvSpPr>
        <p:spPr>
          <a:xfrm>
            <a:off x="5314680" y="3038400"/>
            <a:ext cx="3258000" cy="9720"/>
          </a:xfrm>
          <a:custGeom>
            <a:avLst/>
            <a:gdLst/>
            <a:ahLst/>
            <a:cxnLst/>
            <a:rect l="0" t="0" r="r" b="b"/>
            <a:pathLst>
              <a:path w="9050" h="27">
                <a:moveTo>
                  <a:pt x="0" y="0"/>
                </a:moveTo>
                <a:lnTo>
                  <a:pt x="9050" y="0"/>
                </a:lnTo>
                <a:lnTo>
                  <a:pt x="90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Forma libre 376"/>
          <p:cNvSpPr/>
          <p:nvPr/>
        </p:nvSpPr>
        <p:spPr>
          <a:xfrm>
            <a:off x="8562960" y="30477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Forma libre 377"/>
          <p:cNvSpPr/>
          <p:nvPr/>
        </p:nvSpPr>
        <p:spPr>
          <a:xfrm>
            <a:off x="666720" y="34668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Forma libre 378"/>
          <p:cNvSpPr/>
          <p:nvPr/>
        </p:nvSpPr>
        <p:spPr>
          <a:xfrm>
            <a:off x="666720" y="3457440"/>
            <a:ext cx="4648320" cy="9720"/>
          </a:xfrm>
          <a:custGeom>
            <a:avLst/>
            <a:gdLst/>
            <a:ahLst/>
            <a:cxnLst/>
            <a:rect l="0" t="0" r="r" b="b"/>
            <a:pathLst>
              <a:path w="12912" h="27">
                <a:moveTo>
                  <a:pt x="0" y="0"/>
                </a:moveTo>
                <a:lnTo>
                  <a:pt x="12912" y="0"/>
                </a:lnTo>
                <a:lnTo>
                  <a:pt x="129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Forma libre 379"/>
          <p:cNvSpPr/>
          <p:nvPr/>
        </p:nvSpPr>
        <p:spPr>
          <a:xfrm>
            <a:off x="5305320" y="34668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Forma libre 380"/>
          <p:cNvSpPr/>
          <p:nvPr/>
        </p:nvSpPr>
        <p:spPr>
          <a:xfrm>
            <a:off x="5314680" y="3457440"/>
            <a:ext cx="3258000" cy="9720"/>
          </a:xfrm>
          <a:custGeom>
            <a:avLst/>
            <a:gdLst/>
            <a:ahLst/>
            <a:cxnLst/>
            <a:rect l="0" t="0" r="r" b="b"/>
            <a:pathLst>
              <a:path w="9050" h="27">
                <a:moveTo>
                  <a:pt x="0" y="0"/>
                </a:moveTo>
                <a:lnTo>
                  <a:pt x="9050" y="0"/>
                </a:lnTo>
                <a:lnTo>
                  <a:pt x="90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Forma libre 381"/>
          <p:cNvSpPr/>
          <p:nvPr/>
        </p:nvSpPr>
        <p:spPr>
          <a:xfrm>
            <a:off x="8562960" y="34668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Forma libre 382"/>
          <p:cNvSpPr/>
          <p:nvPr/>
        </p:nvSpPr>
        <p:spPr>
          <a:xfrm>
            <a:off x="666720" y="3876480"/>
            <a:ext cx="4648320" cy="9720"/>
          </a:xfrm>
          <a:custGeom>
            <a:avLst/>
            <a:gdLst/>
            <a:ahLst/>
            <a:cxnLst/>
            <a:rect l="0" t="0" r="r" b="b"/>
            <a:pathLst>
              <a:path w="12912" h="27">
                <a:moveTo>
                  <a:pt x="0" y="0"/>
                </a:moveTo>
                <a:lnTo>
                  <a:pt x="12912" y="0"/>
                </a:lnTo>
                <a:lnTo>
                  <a:pt x="129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Forma libre 383"/>
          <p:cNvSpPr/>
          <p:nvPr/>
        </p:nvSpPr>
        <p:spPr>
          <a:xfrm>
            <a:off x="5314680" y="3876480"/>
            <a:ext cx="3258000" cy="9720"/>
          </a:xfrm>
          <a:custGeom>
            <a:avLst/>
            <a:gdLst/>
            <a:ahLst/>
            <a:cxnLst/>
            <a:rect l="0" t="0" r="r" b="b"/>
            <a:pathLst>
              <a:path w="9050" h="27">
                <a:moveTo>
                  <a:pt x="0" y="0"/>
                </a:moveTo>
                <a:lnTo>
                  <a:pt x="9050" y="0"/>
                </a:lnTo>
                <a:lnTo>
                  <a:pt x="90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Forma libre 384"/>
          <p:cNvSpPr/>
          <p:nvPr/>
        </p:nvSpPr>
        <p:spPr>
          <a:xfrm>
            <a:off x="666720" y="487656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Forma libre 385"/>
          <p:cNvSpPr/>
          <p:nvPr/>
        </p:nvSpPr>
        <p:spPr>
          <a:xfrm>
            <a:off x="666720" y="487656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CuadroTexto 386"/>
          <p:cNvSpPr txBox="1"/>
          <p:nvPr/>
        </p:nvSpPr>
        <p:spPr>
          <a:xfrm>
            <a:off x="666720" y="1082520"/>
            <a:ext cx="28569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Fuga de información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CuadroTexto 390"/>
          <p:cNvSpPr txBox="1"/>
          <p:nvPr/>
        </p:nvSpPr>
        <p:spPr>
          <a:xfrm>
            <a:off x="2477880" y="2314080"/>
            <a:ext cx="1023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Qué hiciste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CuadroTexto 391"/>
          <p:cNvSpPr txBox="1"/>
          <p:nvPr/>
        </p:nvSpPr>
        <p:spPr>
          <a:xfrm>
            <a:off x="6222960" y="2314080"/>
            <a:ext cx="14295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Por qué es fuga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CuadroTexto 392"/>
          <p:cNvSpPr txBox="1"/>
          <p:nvPr/>
        </p:nvSpPr>
        <p:spPr>
          <a:xfrm>
            <a:off x="799920" y="2723760"/>
            <a:ext cx="30952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escalar o imputar con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todo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el dataset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CuadroTexto 393"/>
          <p:cNvSpPr txBox="1"/>
          <p:nvPr/>
        </p:nvSpPr>
        <p:spPr>
          <a:xfrm>
            <a:off x="5436000" y="2723760"/>
            <a:ext cx="3007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prueba inﬂuyó en el entrenamiento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CuadroTexto 394"/>
          <p:cNvSpPr txBox="1"/>
          <p:nvPr/>
        </p:nvSpPr>
        <p:spPr>
          <a:xfrm>
            <a:off x="799920" y="3142800"/>
            <a:ext cx="4379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una variable que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sólo existe después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del desenlace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CuadroTexto 395"/>
          <p:cNvSpPr txBox="1"/>
          <p:nvPr/>
        </p:nvSpPr>
        <p:spPr>
          <a:xfrm>
            <a:off x="5436000" y="3142800"/>
            <a:ext cx="19944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futuro entró al pasado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CuadroTexto 396"/>
          <p:cNvSpPr txBox="1"/>
          <p:nvPr/>
        </p:nvSpPr>
        <p:spPr>
          <a:xfrm>
            <a:off x="799920" y="3561840"/>
            <a:ext cx="4009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mismo paciente en entrenamiento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y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en prueba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CuadroTexto 397"/>
          <p:cNvSpPr txBox="1"/>
          <p:nvPr/>
        </p:nvSpPr>
        <p:spPr>
          <a:xfrm>
            <a:off x="5436000" y="3561840"/>
            <a:ext cx="18604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modelo lo memorizó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CuadroTexto 398"/>
          <p:cNvSpPr txBox="1"/>
          <p:nvPr/>
        </p:nvSpPr>
        <p:spPr>
          <a:xfrm>
            <a:off x="666720" y="4078080"/>
            <a:ext cx="10644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caso clínico clásico: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usar un laboratorio tomado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día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del diagnóstico para predecirlo. Se pidió </a:t>
            </a:r>
            <a:r>
              <a:rPr lang="es-ES" sz="1800" b="0" i="1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porque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CuadroTexto 399"/>
          <p:cNvSpPr txBox="1"/>
          <p:nvPr/>
        </p:nvSpPr>
        <p:spPr>
          <a:xfrm>
            <a:off x="666720" y="4421160"/>
            <a:ext cx="2575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médico ya sospechaba.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CuadroTexto 400"/>
          <p:cNvSpPr txBox="1"/>
          <p:nvPr/>
        </p:nvSpPr>
        <p:spPr>
          <a:xfrm>
            <a:off x="905040" y="5030640"/>
            <a:ext cx="10329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Si tu AUC pasa de 0.95 con datos clínicos reales, búscale la fuga antes de celebrar. Kapoor y Narayanan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CuadroTexto 401"/>
          <p:cNvSpPr txBox="1"/>
          <p:nvPr/>
        </p:nvSpPr>
        <p:spPr>
          <a:xfrm>
            <a:off x="905040" y="5373720"/>
            <a:ext cx="45010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la encontraron en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294 artículos publicados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CuadroTexto 40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CuadroTexto 40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CuadroTexto 404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Forma libre 40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Forma libre 40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Forma libre 40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CuadroTexto 408"/>
          <p:cNvSpPr txBox="1"/>
          <p:nvPr/>
        </p:nvSpPr>
        <p:spPr>
          <a:xfrm>
            <a:off x="4604760" y="3063960"/>
            <a:ext cx="305352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4. scikit-learn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CuadroTexto 40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CuadroTexto 41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CuadroTexto 41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Forma libre 41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Forma libre 41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Forma libre 41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Forma libre 415"/>
          <p:cNvSpPr/>
          <p:nvPr/>
        </p:nvSpPr>
        <p:spPr>
          <a:xfrm>
            <a:off x="671400" y="165240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4"/>
                  <a:pt x="4" y="161"/>
                </a:cubicBezTo>
                <a:cubicBezTo>
                  <a:pt x="6" y="148"/>
                  <a:pt x="10" y="136"/>
                  <a:pt x="15" y="124"/>
                </a:cubicBezTo>
                <a:cubicBezTo>
                  <a:pt x="20" y="111"/>
                  <a:pt x="26" y="100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50"/>
                  <a:pt x="77" y="42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6"/>
                </a:cubicBezTo>
                <a:cubicBezTo>
                  <a:pt x="30026" y="21"/>
                  <a:pt x="30038" y="27"/>
                  <a:pt x="30049" y="34"/>
                </a:cubicBezTo>
                <a:cubicBezTo>
                  <a:pt x="30059" y="42"/>
                  <a:pt x="30070" y="50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100"/>
                  <a:pt x="30117" y="111"/>
                  <a:pt x="30122" y="124"/>
                </a:cubicBezTo>
                <a:cubicBezTo>
                  <a:pt x="30127" y="136"/>
                  <a:pt x="30130" y="148"/>
                  <a:pt x="30133" y="161"/>
                </a:cubicBezTo>
                <a:cubicBezTo>
                  <a:pt x="30136" y="174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0"/>
                </a:cubicBezTo>
                <a:cubicBezTo>
                  <a:pt x="30130" y="2923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1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1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3"/>
                  <a:pt x="4" y="2910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Forma libre 416"/>
          <p:cNvSpPr/>
          <p:nvPr/>
        </p:nvSpPr>
        <p:spPr>
          <a:xfrm>
            <a:off x="671400" y="165240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4"/>
                  <a:pt x="4" y="161"/>
                </a:cubicBezTo>
                <a:cubicBezTo>
                  <a:pt x="6" y="148"/>
                  <a:pt x="10" y="136"/>
                  <a:pt x="15" y="124"/>
                </a:cubicBezTo>
                <a:cubicBezTo>
                  <a:pt x="20" y="111"/>
                  <a:pt x="26" y="100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50"/>
                  <a:pt x="77" y="42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6"/>
                </a:cubicBezTo>
                <a:cubicBezTo>
                  <a:pt x="30026" y="21"/>
                  <a:pt x="30038" y="27"/>
                  <a:pt x="30049" y="34"/>
                </a:cubicBezTo>
                <a:cubicBezTo>
                  <a:pt x="30059" y="42"/>
                  <a:pt x="30070" y="50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100"/>
                  <a:pt x="30117" y="111"/>
                  <a:pt x="30122" y="124"/>
                </a:cubicBezTo>
                <a:cubicBezTo>
                  <a:pt x="30127" y="136"/>
                  <a:pt x="30130" y="148"/>
                  <a:pt x="30133" y="161"/>
                </a:cubicBezTo>
                <a:cubicBezTo>
                  <a:pt x="30136" y="174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0"/>
                </a:cubicBezTo>
                <a:cubicBezTo>
                  <a:pt x="30130" y="2923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1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1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3"/>
                  <a:pt x="4" y="2910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Forma libre 417"/>
          <p:cNvSpPr/>
          <p:nvPr/>
        </p:nvSpPr>
        <p:spPr>
          <a:xfrm>
            <a:off x="671400" y="341460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2"/>
                </a:moveTo>
                <a:lnTo>
                  <a:pt x="0" y="199"/>
                </a:lnTo>
                <a:cubicBezTo>
                  <a:pt x="0" y="186"/>
                  <a:pt x="1" y="173"/>
                  <a:pt x="4" y="161"/>
                </a:cubicBezTo>
                <a:cubicBezTo>
                  <a:pt x="6" y="148"/>
                  <a:pt x="10" y="135"/>
                  <a:pt x="15" y="123"/>
                </a:cubicBezTo>
                <a:cubicBezTo>
                  <a:pt x="20" y="111"/>
                  <a:pt x="26" y="100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50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50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100"/>
                  <a:pt x="30117" y="111"/>
                  <a:pt x="30122" y="123"/>
                </a:cubicBezTo>
                <a:cubicBezTo>
                  <a:pt x="30127" y="135"/>
                  <a:pt x="30130" y="148"/>
                  <a:pt x="30133" y="161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3612"/>
                </a:lnTo>
                <a:cubicBezTo>
                  <a:pt x="30137" y="3625"/>
                  <a:pt x="30136" y="3638"/>
                  <a:pt x="30133" y="3651"/>
                </a:cubicBezTo>
                <a:cubicBezTo>
                  <a:pt x="30130" y="3664"/>
                  <a:pt x="30127" y="3676"/>
                  <a:pt x="30122" y="3688"/>
                </a:cubicBezTo>
                <a:cubicBezTo>
                  <a:pt x="30117" y="3700"/>
                  <a:pt x="30111" y="3712"/>
                  <a:pt x="30103" y="3723"/>
                </a:cubicBezTo>
                <a:cubicBezTo>
                  <a:pt x="30096" y="3733"/>
                  <a:pt x="30088" y="3743"/>
                  <a:pt x="30079" y="3753"/>
                </a:cubicBezTo>
                <a:cubicBezTo>
                  <a:pt x="30070" y="3762"/>
                  <a:pt x="30059" y="3770"/>
                  <a:pt x="30049" y="3777"/>
                </a:cubicBezTo>
                <a:cubicBezTo>
                  <a:pt x="30038" y="3785"/>
                  <a:pt x="30026" y="3791"/>
                  <a:pt x="30014" y="3796"/>
                </a:cubicBezTo>
                <a:cubicBezTo>
                  <a:pt x="30002" y="3801"/>
                  <a:pt x="29990" y="3804"/>
                  <a:pt x="29977" y="3807"/>
                </a:cubicBezTo>
                <a:cubicBezTo>
                  <a:pt x="29964" y="3810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10"/>
                  <a:pt x="160" y="3807"/>
                </a:cubicBezTo>
                <a:cubicBezTo>
                  <a:pt x="147" y="3804"/>
                  <a:pt x="134" y="3801"/>
                  <a:pt x="122" y="3796"/>
                </a:cubicBezTo>
                <a:cubicBezTo>
                  <a:pt x="110" y="3791"/>
                  <a:pt x="99" y="3785"/>
                  <a:pt x="88" y="3777"/>
                </a:cubicBezTo>
                <a:cubicBezTo>
                  <a:pt x="77" y="3770"/>
                  <a:pt x="67" y="3762"/>
                  <a:pt x="58" y="3753"/>
                </a:cubicBezTo>
                <a:cubicBezTo>
                  <a:pt x="49" y="3743"/>
                  <a:pt x="40" y="3733"/>
                  <a:pt x="33" y="3723"/>
                </a:cubicBezTo>
                <a:cubicBezTo>
                  <a:pt x="26" y="3712"/>
                  <a:pt x="20" y="3700"/>
                  <a:pt x="15" y="3688"/>
                </a:cubicBezTo>
                <a:cubicBezTo>
                  <a:pt x="10" y="3676"/>
                  <a:pt x="6" y="3664"/>
                  <a:pt x="4" y="3651"/>
                </a:cubicBezTo>
                <a:cubicBezTo>
                  <a:pt x="1" y="3638"/>
                  <a:pt x="0" y="3625"/>
                  <a:pt x="0" y="361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Forma libre 418"/>
          <p:cNvSpPr/>
          <p:nvPr/>
        </p:nvSpPr>
        <p:spPr>
          <a:xfrm>
            <a:off x="671400" y="341460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2"/>
                </a:moveTo>
                <a:lnTo>
                  <a:pt x="0" y="199"/>
                </a:lnTo>
                <a:cubicBezTo>
                  <a:pt x="0" y="186"/>
                  <a:pt x="1" y="173"/>
                  <a:pt x="4" y="161"/>
                </a:cubicBezTo>
                <a:cubicBezTo>
                  <a:pt x="6" y="148"/>
                  <a:pt x="10" y="135"/>
                  <a:pt x="15" y="123"/>
                </a:cubicBezTo>
                <a:cubicBezTo>
                  <a:pt x="20" y="111"/>
                  <a:pt x="26" y="100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50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50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100"/>
                  <a:pt x="30117" y="111"/>
                  <a:pt x="30122" y="123"/>
                </a:cubicBezTo>
                <a:cubicBezTo>
                  <a:pt x="30127" y="135"/>
                  <a:pt x="30130" y="148"/>
                  <a:pt x="30133" y="161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3612"/>
                </a:lnTo>
                <a:cubicBezTo>
                  <a:pt x="30137" y="3625"/>
                  <a:pt x="30136" y="3638"/>
                  <a:pt x="30133" y="3651"/>
                </a:cubicBezTo>
                <a:cubicBezTo>
                  <a:pt x="30130" y="3664"/>
                  <a:pt x="30127" y="3676"/>
                  <a:pt x="30122" y="3688"/>
                </a:cubicBezTo>
                <a:cubicBezTo>
                  <a:pt x="30117" y="3700"/>
                  <a:pt x="30111" y="3712"/>
                  <a:pt x="30103" y="3723"/>
                </a:cubicBezTo>
                <a:cubicBezTo>
                  <a:pt x="30096" y="3733"/>
                  <a:pt x="30088" y="3743"/>
                  <a:pt x="30079" y="3753"/>
                </a:cubicBezTo>
                <a:cubicBezTo>
                  <a:pt x="30070" y="3762"/>
                  <a:pt x="30059" y="3770"/>
                  <a:pt x="30049" y="3777"/>
                </a:cubicBezTo>
                <a:cubicBezTo>
                  <a:pt x="30038" y="3785"/>
                  <a:pt x="30026" y="3791"/>
                  <a:pt x="30014" y="3796"/>
                </a:cubicBezTo>
                <a:cubicBezTo>
                  <a:pt x="30002" y="3801"/>
                  <a:pt x="29990" y="3804"/>
                  <a:pt x="29977" y="3807"/>
                </a:cubicBezTo>
                <a:cubicBezTo>
                  <a:pt x="29964" y="3810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10"/>
                  <a:pt x="160" y="3807"/>
                </a:cubicBezTo>
                <a:cubicBezTo>
                  <a:pt x="147" y="3804"/>
                  <a:pt x="134" y="3801"/>
                  <a:pt x="122" y="3796"/>
                </a:cubicBezTo>
                <a:cubicBezTo>
                  <a:pt x="110" y="3791"/>
                  <a:pt x="99" y="3785"/>
                  <a:pt x="88" y="3777"/>
                </a:cubicBezTo>
                <a:cubicBezTo>
                  <a:pt x="77" y="3770"/>
                  <a:pt x="67" y="3762"/>
                  <a:pt x="58" y="3753"/>
                </a:cubicBezTo>
                <a:cubicBezTo>
                  <a:pt x="49" y="3743"/>
                  <a:pt x="40" y="3733"/>
                  <a:pt x="33" y="3723"/>
                </a:cubicBezTo>
                <a:cubicBezTo>
                  <a:pt x="26" y="3712"/>
                  <a:pt x="20" y="3700"/>
                  <a:pt x="15" y="3688"/>
                </a:cubicBezTo>
                <a:cubicBezTo>
                  <a:pt x="10" y="3676"/>
                  <a:pt x="6" y="3664"/>
                  <a:pt x="4" y="3651"/>
                </a:cubicBezTo>
                <a:cubicBezTo>
                  <a:pt x="1" y="3638"/>
                  <a:pt x="0" y="3625"/>
                  <a:pt x="0" y="361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Forma libre 419"/>
          <p:cNvSpPr/>
          <p:nvPr/>
        </p:nvSpPr>
        <p:spPr>
          <a:xfrm>
            <a:off x="666720" y="494316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Forma libre 420"/>
          <p:cNvSpPr/>
          <p:nvPr/>
        </p:nvSpPr>
        <p:spPr>
          <a:xfrm>
            <a:off x="666720" y="494316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CuadroTexto 421"/>
          <p:cNvSpPr txBox="1"/>
          <p:nvPr/>
        </p:nvSpPr>
        <p:spPr>
          <a:xfrm>
            <a:off x="666720" y="1015560"/>
            <a:ext cx="41018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 API que aprendes una vez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CuadroTexto 422"/>
          <p:cNvSpPr txBox="1"/>
          <p:nvPr/>
        </p:nvSpPr>
        <p:spPr>
          <a:xfrm>
            <a:off x="866880" y="1832400"/>
            <a:ext cx="4150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estimador.fit(X, y)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aprende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CuadroTexto 423"/>
          <p:cNvSpPr txBox="1"/>
          <p:nvPr/>
        </p:nvSpPr>
        <p:spPr>
          <a:xfrm>
            <a:off x="866880" y="2099160"/>
            <a:ext cx="8299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estimador.predict_proba(X)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predice la probabilidad   ← casi siempre ésta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CuadroTexto 424"/>
          <p:cNvSpPr txBox="1"/>
          <p:nvPr/>
        </p:nvSpPr>
        <p:spPr>
          <a:xfrm>
            <a:off x="866880" y="2356200"/>
            <a:ext cx="4477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transformador.transform(X)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transforma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CuadroTexto 425"/>
          <p:cNvSpPr txBox="1"/>
          <p:nvPr/>
        </p:nvSpPr>
        <p:spPr>
          <a:xfrm>
            <a:off x="666720" y="2954160"/>
            <a:ext cx="4663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Y la herramienta que previene casi toda la fuga: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CuadroTexto 426"/>
          <p:cNvSpPr txBox="1"/>
          <p:nvPr/>
        </p:nvSpPr>
        <p:spPr>
          <a:xfrm>
            <a:off x="866880" y="3594600"/>
            <a:ext cx="10926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Pipeline([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CuadroTexto 427"/>
          <p:cNvSpPr txBox="1"/>
          <p:nvPr/>
        </p:nvSpPr>
        <p:spPr>
          <a:xfrm>
            <a:off x="866880" y="3861000"/>
            <a:ext cx="79714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(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"prep"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  ColumnTransformer([...])),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imputar, escalar, codificar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CuadroTexto 428"/>
          <p:cNvSpPr txBox="1"/>
          <p:nvPr/>
        </p:nvSpPr>
        <p:spPr>
          <a:xfrm>
            <a:off x="866880" y="4118400"/>
            <a:ext cx="40402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(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"modelo"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LogisticRegression()),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CuadroTexto 429"/>
          <p:cNvSpPr txBox="1"/>
          <p:nvPr/>
        </p:nvSpPr>
        <p:spPr>
          <a:xfrm>
            <a:off x="866880" y="4385160"/>
            <a:ext cx="219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CuadroTexto 430"/>
          <p:cNvSpPr txBox="1"/>
          <p:nvPr/>
        </p:nvSpPr>
        <p:spPr>
          <a:xfrm>
            <a:off x="905040" y="5097240"/>
            <a:ext cx="94316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El preprocesamiento vive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dentro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. En cada pliegue de la validación cruzada se ajusta sólo con 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CuadroTexto 431"/>
          <p:cNvSpPr txBox="1"/>
          <p:nvPr/>
        </p:nvSpPr>
        <p:spPr>
          <a:xfrm>
            <a:off x="905040" y="5440320"/>
            <a:ext cx="8592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entrenamiento de ese pliegue. Imposible escalar con la media de todo sin darte cuenta.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CuadroTexto 43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CuadroTexto 43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CuadroTexto 434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Forma libre 43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Forma libre 43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Forma libre 438"/>
          <p:cNvSpPr/>
          <p:nvPr/>
        </p:nvSpPr>
        <p:spPr>
          <a:xfrm>
            <a:off x="671400" y="225252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3612"/>
                </a:lnTo>
                <a:cubicBezTo>
                  <a:pt x="30137" y="3625"/>
                  <a:pt x="30136" y="3638"/>
                  <a:pt x="30133" y="3651"/>
                </a:cubicBezTo>
                <a:cubicBezTo>
                  <a:pt x="30130" y="3664"/>
                  <a:pt x="30127" y="3676"/>
                  <a:pt x="30122" y="3688"/>
                </a:cubicBezTo>
                <a:cubicBezTo>
                  <a:pt x="30117" y="3700"/>
                  <a:pt x="30111" y="3712"/>
                  <a:pt x="30103" y="3723"/>
                </a:cubicBezTo>
                <a:cubicBezTo>
                  <a:pt x="30096" y="3734"/>
                  <a:pt x="30088" y="3744"/>
                  <a:pt x="30079" y="3753"/>
                </a:cubicBezTo>
                <a:cubicBezTo>
                  <a:pt x="30070" y="3762"/>
                  <a:pt x="30059" y="3770"/>
                  <a:pt x="30049" y="3777"/>
                </a:cubicBezTo>
                <a:cubicBezTo>
                  <a:pt x="30038" y="3785"/>
                  <a:pt x="30026" y="3791"/>
                  <a:pt x="30014" y="3796"/>
                </a:cubicBezTo>
                <a:cubicBezTo>
                  <a:pt x="30002" y="3801"/>
                  <a:pt x="29990" y="3805"/>
                  <a:pt x="29977" y="3807"/>
                </a:cubicBezTo>
                <a:cubicBezTo>
                  <a:pt x="29964" y="3810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10"/>
                  <a:pt x="160" y="3807"/>
                </a:cubicBezTo>
                <a:cubicBezTo>
                  <a:pt x="147" y="3805"/>
                  <a:pt x="134" y="3801"/>
                  <a:pt x="122" y="3796"/>
                </a:cubicBezTo>
                <a:cubicBezTo>
                  <a:pt x="110" y="3791"/>
                  <a:pt x="99" y="3785"/>
                  <a:pt x="88" y="3777"/>
                </a:cubicBezTo>
                <a:cubicBezTo>
                  <a:pt x="77" y="3770"/>
                  <a:pt x="67" y="3762"/>
                  <a:pt x="58" y="3753"/>
                </a:cubicBezTo>
                <a:cubicBezTo>
                  <a:pt x="49" y="3744"/>
                  <a:pt x="40" y="3734"/>
                  <a:pt x="33" y="3723"/>
                </a:cubicBezTo>
                <a:cubicBezTo>
                  <a:pt x="26" y="3712"/>
                  <a:pt x="20" y="3700"/>
                  <a:pt x="15" y="3688"/>
                </a:cubicBezTo>
                <a:cubicBezTo>
                  <a:pt x="10" y="3676"/>
                  <a:pt x="6" y="3664"/>
                  <a:pt x="4" y="3651"/>
                </a:cubicBezTo>
                <a:cubicBezTo>
                  <a:pt x="1" y="3638"/>
                  <a:pt x="0" y="3625"/>
                  <a:pt x="0" y="361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Forma libre 439"/>
          <p:cNvSpPr/>
          <p:nvPr/>
        </p:nvSpPr>
        <p:spPr>
          <a:xfrm>
            <a:off x="671400" y="225252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3612"/>
                </a:lnTo>
                <a:cubicBezTo>
                  <a:pt x="30137" y="3625"/>
                  <a:pt x="30136" y="3638"/>
                  <a:pt x="30133" y="3651"/>
                </a:cubicBezTo>
                <a:cubicBezTo>
                  <a:pt x="30130" y="3664"/>
                  <a:pt x="30127" y="3676"/>
                  <a:pt x="30122" y="3688"/>
                </a:cubicBezTo>
                <a:cubicBezTo>
                  <a:pt x="30117" y="3700"/>
                  <a:pt x="30111" y="3712"/>
                  <a:pt x="30103" y="3723"/>
                </a:cubicBezTo>
                <a:cubicBezTo>
                  <a:pt x="30096" y="3734"/>
                  <a:pt x="30088" y="3744"/>
                  <a:pt x="30079" y="3753"/>
                </a:cubicBezTo>
                <a:cubicBezTo>
                  <a:pt x="30070" y="3762"/>
                  <a:pt x="30059" y="3770"/>
                  <a:pt x="30049" y="3777"/>
                </a:cubicBezTo>
                <a:cubicBezTo>
                  <a:pt x="30038" y="3785"/>
                  <a:pt x="30026" y="3791"/>
                  <a:pt x="30014" y="3796"/>
                </a:cubicBezTo>
                <a:cubicBezTo>
                  <a:pt x="30002" y="3801"/>
                  <a:pt x="29990" y="3805"/>
                  <a:pt x="29977" y="3807"/>
                </a:cubicBezTo>
                <a:cubicBezTo>
                  <a:pt x="29964" y="3810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10"/>
                  <a:pt x="160" y="3807"/>
                </a:cubicBezTo>
                <a:cubicBezTo>
                  <a:pt x="147" y="3805"/>
                  <a:pt x="134" y="3801"/>
                  <a:pt x="122" y="3796"/>
                </a:cubicBezTo>
                <a:cubicBezTo>
                  <a:pt x="110" y="3791"/>
                  <a:pt x="99" y="3785"/>
                  <a:pt x="88" y="3777"/>
                </a:cubicBezTo>
                <a:cubicBezTo>
                  <a:pt x="77" y="3770"/>
                  <a:pt x="67" y="3762"/>
                  <a:pt x="58" y="3753"/>
                </a:cubicBezTo>
                <a:cubicBezTo>
                  <a:pt x="49" y="3744"/>
                  <a:pt x="40" y="3734"/>
                  <a:pt x="33" y="3723"/>
                </a:cubicBezTo>
                <a:cubicBezTo>
                  <a:pt x="26" y="3712"/>
                  <a:pt x="20" y="3700"/>
                  <a:pt x="15" y="3688"/>
                </a:cubicBezTo>
                <a:cubicBezTo>
                  <a:pt x="10" y="3676"/>
                  <a:pt x="6" y="3664"/>
                  <a:pt x="4" y="3651"/>
                </a:cubicBezTo>
                <a:cubicBezTo>
                  <a:pt x="1" y="3638"/>
                  <a:pt x="0" y="3625"/>
                  <a:pt x="0" y="361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CuadroTexto 440"/>
          <p:cNvSpPr txBox="1"/>
          <p:nvPr/>
        </p:nvSpPr>
        <p:spPr>
          <a:xfrm>
            <a:off x="666720" y="1606320"/>
            <a:ext cx="54068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 escalera: de lo simple a lo complejo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CuadroTexto 441"/>
          <p:cNvSpPr txBox="1"/>
          <p:nvPr/>
        </p:nvSpPr>
        <p:spPr>
          <a:xfrm>
            <a:off x="866880" y="2432520"/>
            <a:ext cx="91724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1.  DummyClassifier          el piso. Si no le ganas, el problema está en los datos.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CuadroTexto 442"/>
          <p:cNvSpPr txBox="1"/>
          <p:nvPr/>
        </p:nvSpPr>
        <p:spPr>
          <a:xfrm>
            <a:off x="866880" y="2698920"/>
            <a:ext cx="9281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2.  Regresión logística      regularizada. Interpretable, rápida, difícil de superar.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CuadroTexto 443"/>
          <p:cNvSpPr txBox="1"/>
          <p:nvPr/>
        </p:nvSpPr>
        <p:spPr>
          <a:xfrm>
            <a:off x="866880" y="2956320"/>
            <a:ext cx="81896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3.  Árboles / bosques        no necesitan escalado, capturan interacciones.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Forma libre 444"/>
          <p:cNvSpPr/>
          <p:nvPr/>
        </p:nvSpPr>
        <p:spPr>
          <a:xfrm>
            <a:off x="914040" y="393372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60"/>
                  <a:pt x="192" y="172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2"/>
                  <a:pt x="14" y="160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CuadroTexto 445"/>
          <p:cNvSpPr txBox="1"/>
          <p:nvPr/>
        </p:nvSpPr>
        <p:spPr>
          <a:xfrm>
            <a:off x="866880" y="3223080"/>
            <a:ext cx="8844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4.  Gradient boosting        el estándar en datos tabulares.          → sesión 24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Forma libre 446"/>
          <p:cNvSpPr/>
          <p:nvPr/>
        </p:nvSpPr>
        <p:spPr>
          <a:xfrm>
            <a:off x="914040" y="43336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CuadroTexto 447"/>
          <p:cNvSpPr txBox="1"/>
          <p:nvPr/>
        </p:nvSpPr>
        <p:spPr>
          <a:xfrm>
            <a:off x="1123920" y="3821040"/>
            <a:ext cx="6915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Cada escalón cuesta: tiempo, cómputo, explicabilidad, mantenimiento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CuadroTexto 449"/>
          <p:cNvSpPr txBox="1"/>
          <p:nvPr/>
        </p:nvSpPr>
        <p:spPr>
          <a:xfrm>
            <a:off x="1123920" y="4221000"/>
            <a:ext cx="7926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modelo complejo tiene que ganarle al simple por un margen que valga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CuadroTexto 45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CuadroTexto 45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CuadroTexto 454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Forma libre 45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Forma libre 45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Forma libre 45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CuadroTexto 458"/>
          <p:cNvSpPr txBox="1"/>
          <p:nvPr/>
        </p:nvSpPr>
        <p:spPr>
          <a:xfrm>
            <a:off x="3025440" y="3063960"/>
            <a:ext cx="62856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5. Evaluar: con qué métrica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CuadroTexto 45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CuadroTexto 46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CuadroTexto 46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Forma libre 52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Forma libre 52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Forma libre 52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Forma libre 525"/>
          <p:cNvSpPr/>
          <p:nvPr/>
        </p:nvSpPr>
        <p:spPr>
          <a:xfrm>
            <a:off x="671400" y="175716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5"/>
                  <a:pt x="30137" y="198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3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1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1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3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Forma libre 526"/>
          <p:cNvSpPr/>
          <p:nvPr/>
        </p:nvSpPr>
        <p:spPr>
          <a:xfrm>
            <a:off x="671400" y="175716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5"/>
                  <a:pt x="30137" y="198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3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1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1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3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Forma libre 527"/>
          <p:cNvSpPr/>
          <p:nvPr/>
        </p:nvSpPr>
        <p:spPr>
          <a:xfrm>
            <a:off x="676080" y="3019320"/>
            <a:ext cx="1095840" cy="409680"/>
          </a:xfrm>
          <a:custGeom>
            <a:avLst/>
            <a:gdLst/>
            <a:ahLst/>
            <a:cxnLst/>
            <a:rect l="0" t="0" r="r" b="b"/>
            <a:pathLst>
              <a:path w="3044" h="1138">
                <a:moveTo>
                  <a:pt x="0" y="0"/>
                </a:moveTo>
                <a:lnTo>
                  <a:pt x="3044" y="0"/>
                </a:lnTo>
                <a:lnTo>
                  <a:pt x="3044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Forma libre 528"/>
          <p:cNvSpPr/>
          <p:nvPr/>
        </p:nvSpPr>
        <p:spPr>
          <a:xfrm>
            <a:off x="1771560" y="3019320"/>
            <a:ext cx="1571760" cy="409680"/>
          </a:xfrm>
          <a:custGeom>
            <a:avLst/>
            <a:gdLst/>
            <a:ahLst/>
            <a:cxnLst/>
            <a:rect l="0" t="0" r="r" b="b"/>
            <a:pathLst>
              <a:path w="4366" h="1138">
                <a:moveTo>
                  <a:pt x="0" y="0"/>
                </a:moveTo>
                <a:lnTo>
                  <a:pt x="4366" y="0"/>
                </a:lnTo>
                <a:lnTo>
                  <a:pt x="4366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Forma libre 529"/>
          <p:cNvSpPr/>
          <p:nvPr/>
        </p:nvSpPr>
        <p:spPr>
          <a:xfrm>
            <a:off x="3342960" y="3019320"/>
            <a:ext cx="4077360" cy="409680"/>
          </a:xfrm>
          <a:custGeom>
            <a:avLst/>
            <a:gdLst/>
            <a:ahLst/>
            <a:cxnLst/>
            <a:rect l="0" t="0" r="r" b="b"/>
            <a:pathLst>
              <a:path w="11326" h="1138">
                <a:moveTo>
                  <a:pt x="0" y="0"/>
                </a:moveTo>
                <a:lnTo>
                  <a:pt x="11326" y="0"/>
                </a:lnTo>
                <a:lnTo>
                  <a:pt x="11326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Forma libre 530"/>
          <p:cNvSpPr/>
          <p:nvPr/>
        </p:nvSpPr>
        <p:spPr>
          <a:xfrm>
            <a:off x="676080" y="3019320"/>
            <a:ext cx="1095840" cy="409680"/>
          </a:xfrm>
          <a:custGeom>
            <a:avLst/>
            <a:gdLst/>
            <a:ahLst/>
            <a:cxnLst/>
            <a:rect l="0" t="0" r="r" b="b"/>
            <a:pathLst>
              <a:path w="3044" h="1138">
                <a:moveTo>
                  <a:pt x="0" y="0"/>
                </a:moveTo>
                <a:lnTo>
                  <a:pt x="3044" y="0"/>
                </a:lnTo>
                <a:lnTo>
                  <a:pt x="3044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Forma libre 531"/>
          <p:cNvSpPr/>
          <p:nvPr/>
        </p:nvSpPr>
        <p:spPr>
          <a:xfrm>
            <a:off x="1771560" y="3019320"/>
            <a:ext cx="1571760" cy="409680"/>
          </a:xfrm>
          <a:custGeom>
            <a:avLst/>
            <a:gdLst/>
            <a:ahLst/>
            <a:cxnLst/>
            <a:rect l="0" t="0" r="r" b="b"/>
            <a:pathLst>
              <a:path w="4366" h="1138">
                <a:moveTo>
                  <a:pt x="0" y="0"/>
                </a:moveTo>
                <a:lnTo>
                  <a:pt x="4366" y="0"/>
                </a:lnTo>
                <a:lnTo>
                  <a:pt x="4366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Forma libre 532"/>
          <p:cNvSpPr/>
          <p:nvPr/>
        </p:nvSpPr>
        <p:spPr>
          <a:xfrm>
            <a:off x="3342960" y="3019320"/>
            <a:ext cx="4077360" cy="409680"/>
          </a:xfrm>
          <a:custGeom>
            <a:avLst/>
            <a:gdLst/>
            <a:ahLst/>
            <a:cxnLst/>
            <a:rect l="0" t="0" r="r" b="b"/>
            <a:pathLst>
              <a:path w="11326" h="1138">
                <a:moveTo>
                  <a:pt x="0" y="0"/>
                </a:moveTo>
                <a:lnTo>
                  <a:pt x="11326" y="0"/>
                </a:lnTo>
                <a:lnTo>
                  <a:pt x="11326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Forma libre 533"/>
          <p:cNvSpPr/>
          <p:nvPr/>
        </p:nvSpPr>
        <p:spPr>
          <a:xfrm>
            <a:off x="676080" y="3428640"/>
            <a:ext cx="1095840" cy="419760"/>
          </a:xfrm>
          <a:custGeom>
            <a:avLst/>
            <a:gdLst/>
            <a:ahLst/>
            <a:cxnLst/>
            <a:rect l="0" t="0" r="r" b="b"/>
            <a:pathLst>
              <a:path w="3044" h="1166">
                <a:moveTo>
                  <a:pt x="0" y="0"/>
                </a:moveTo>
                <a:lnTo>
                  <a:pt x="3044" y="0"/>
                </a:lnTo>
                <a:lnTo>
                  <a:pt x="3044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Forma libre 534"/>
          <p:cNvSpPr/>
          <p:nvPr/>
        </p:nvSpPr>
        <p:spPr>
          <a:xfrm>
            <a:off x="1771560" y="3428640"/>
            <a:ext cx="1571760" cy="419760"/>
          </a:xfrm>
          <a:custGeom>
            <a:avLst/>
            <a:gdLst/>
            <a:ahLst/>
            <a:cxnLst/>
            <a:rect l="0" t="0" r="r" b="b"/>
            <a:pathLst>
              <a:path w="4366" h="1166">
                <a:moveTo>
                  <a:pt x="0" y="0"/>
                </a:moveTo>
                <a:lnTo>
                  <a:pt x="4366" y="0"/>
                </a:lnTo>
                <a:lnTo>
                  <a:pt x="4366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Forma libre 535"/>
          <p:cNvSpPr/>
          <p:nvPr/>
        </p:nvSpPr>
        <p:spPr>
          <a:xfrm>
            <a:off x="3342960" y="3428640"/>
            <a:ext cx="4077360" cy="419760"/>
          </a:xfrm>
          <a:custGeom>
            <a:avLst/>
            <a:gdLst/>
            <a:ahLst/>
            <a:cxnLst/>
            <a:rect l="0" t="0" r="r" b="b"/>
            <a:pathLst>
              <a:path w="11326" h="1166">
                <a:moveTo>
                  <a:pt x="0" y="0"/>
                </a:moveTo>
                <a:lnTo>
                  <a:pt x="11326" y="0"/>
                </a:lnTo>
                <a:lnTo>
                  <a:pt x="11326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Forma libre 536"/>
          <p:cNvSpPr/>
          <p:nvPr/>
        </p:nvSpPr>
        <p:spPr>
          <a:xfrm>
            <a:off x="676080" y="3848040"/>
            <a:ext cx="1095840" cy="419400"/>
          </a:xfrm>
          <a:custGeom>
            <a:avLst/>
            <a:gdLst/>
            <a:ahLst/>
            <a:cxnLst/>
            <a:rect l="0" t="0" r="r" b="b"/>
            <a:pathLst>
              <a:path w="3044" h="1165">
                <a:moveTo>
                  <a:pt x="0" y="0"/>
                </a:moveTo>
                <a:lnTo>
                  <a:pt x="3044" y="0"/>
                </a:lnTo>
                <a:lnTo>
                  <a:pt x="304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Forma libre 537"/>
          <p:cNvSpPr/>
          <p:nvPr/>
        </p:nvSpPr>
        <p:spPr>
          <a:xfrm>
            <a:off x="1771560" y="3848040"/>
            <a:ext cx="1571760" cy="419400"/>
          </a:xfrm>
          <a:custGeom>
            <a:avLst/>
            <a:gdLst/>
            <a:ahLst/>
            <a:cxnLst/>
            <a:rect l="0" t="0" r="r" b="b"/>
            <a:pathLst>
              <a:path w="4366" h="1165">
                <a:moveTo>
                  <a:pt x="0" y="0"/>
                </a:moveTo>
                <a:lnTo>
                  <a:pt x="4366" y="0"/>
                </a:lnTo>
                <a:lnTo>
                  <a:pt x="436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Forma libre 538"/>
          <p:cNvSpPr/>
          <p:nvPr/>
        </p:nvSpPr>
        <p:spPr>
          <a:xfrm>
            <a:off x="3342960" y="3848040"/>
            <a:ext cx="4077360" cy="419400"/>
          </a:xfrm>
          <a:custGeom>
            <a:avLst/>
            <a:gdLst/>
            <a:ahLst/>
            <a:cxnLst/>
            <a:rect l="0" t="0" r="r" b="b"/>
            <a:pathLst>
              <a:path w="11326" h="1165">
                <a:moveTo>
                  <a:pt x="0" y="0"/>
                </a:moveTo>
                <a:lnTo>
                  <a:pt x="11326" y="0"/>
                </a:lnTo>
                <a:lnTo>
                  <a:pt x="1132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Forma libre 539"/>
          <p:cNvSpPr/>
          <p:nvPr/>
        </p:nvSpPr>
        <p:spPr>
          <a:xfrm>
            <a:off x="676080" y="4267080"/>
            <a:ext cx="1095840" cy="419400"/>
          </a:xfrm>
          <a:custGeom>
            <a:avLst/>
            <a:gdLst/>
            <a:ahLst/>
            <a:cxnLst/>
            <a:rect l="0" t="0" r="r" b="b"/>
            <a:pathLst>
              <a:path w="3044" h="1165">
                <a:moveTo>
                  <a:pt x="0" y="0"/>
                </a:moveTo>
                <a:lnTo>
                  <a:pt x="3044" y="0"/>
                </a:lnTo>
                <a:lnTo>
                  <a:pt x="304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Forma libre 540"/>
          <p:cNvSpPr/>
          <p:nvPr/>
        </p:nvSpPr>
        <p:spPr>
          <a:xfrm>
            <a:off x="1771560" y="4267080"/>
            <a:ext cx="1571760" cy="419400"/>
          </a:xfrm>
          <a:custGeom>
            <a:avLst/>
            <a:gdLst/>
            <a:ahLst/>
            <a:cxnLst/>
            <a:rect l="0" t="0" r="r" b="b"/>
            <a:pathLst>
              <a:path w="4366" h="1165">
                <a:moveTo>
                  <a:pt x="0" y="0"/>
                </a:moveTo>
                <a:lnTo>
                  <a:pt x="4366" y="0"/>
                </a:lnTo>
                <a:lnTo>
                  <a:pt x="436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Forma libre 541"/>
          <p:cNvSpPr/>
          <p:nvPr/>
        </p:nvSpPr>
        <p:spPr>
          <a:xfrm>
            <a:off x="3342960" y="4267080"/>
            <a:ext cx="4077360" cy="419400"/>
          </a:xfrm>
          <a:custGeom>
            <a:avLst/>
            <a:gdLst/>
            <a:ahLst/>
            <a:cxnLst/>
            <a:rect l="0" t="0" r="r" b="b"/>
            <a:pathLst>
              <a:path w="11326" h="1165">
                <a:moveTo>
                  <a:pt x="0" y="0"/>
                </a:moveTo>
                <a:lnTo>
                  <a:pt x="11326" y="0"/>
                </a:lnTo>
                <a:lnTo>
                  <a:pt x="1132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Forma libre 542"/>
          <p:cNvSpPr/>
          <p:nvPr/>
        </p:nvSpPr>
        <p:spPr>
          <a:xfrm>
            <a:off x="666720" y="30193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Forma libre 543"/>
          <p:cNvSpPr/>
          <p:nvPr/>
        </p:nvSpPr>
        <p:spPr>
          <a:xfrm>
            <a:off x="666720" y="3019320"/>
            <a:ext cx="1114560" cy="9720"/>
          </a:xfrm>
          <a:custGeom>
            <a:avLst/>
            <a:gdLst/>
            <a:ahLst/>
            <a:cxnLst/>
            <a:rect l="0" t="0" r="r" b="b"/>
            <a:pathLst>
              <a:path w="3096" h="27">
                <a:moveTo>
                  <a:pt x="0" y="0"/>
                </a:moveTo>
                <a:lnTo>
                  <a:pt x="3096" y="0"/>
                </a:lnTo>
                <a:lnTo>
                  <a:pt x="30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Forma libre 544"/>
          <p:cNvSpPr/>
          <p:nvPr/>
        </p:nvSpPr>
        <p:spPr>
          <a:xfrm>
            <a:off x="1771560" y="30193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Forma libre 545"/>
          <p:cNvSpPr/>
          <p:nvPr/>
        </p:nvSpPr>
        <p:spPr>
          <a:xfrm>
            <a:off x="1780920" y="3019320"/>
            <a:ext cx="1572120" cy="9720"/>
          </a:xfrm>
          <a:custGeom>
            <a:avLst/>
            <a:gdLst/>
            <a:ahLst/>
            <a:cxnLst/>
            <a:rect l="0" t="0" r="r" b="b"/>
            <a:pathLst>
              <a:path w="4367" h="27">
                <a:moveTo>
                  <a:pt x="0" y="0"/>
                </a:moveTo>
                <a:lnTo>
                  <a:pt x="4367" y="0"/>
                </a:lnTo>
                <a:lnTo>
                  <a:pt x="43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Forma libre 546"/>
          <p:cNvSpPr/>
          <p:nvPr/>
        </p:nvSpPr>
        <p:spPr>
          <a:xfrm>
            <a:off x="3342960" y="30193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Forma libre 547"/>
          <p:cNvSpPr/>
          <p:nvPr/>
        </p:nvSpPr>
        <p:spPr>
          <a:xfrm>
            <a:off x="3352680" y="3019320"/>
            <a:ext cx="4077000" cy="9720"/>
          </a:xfrm>
          <a:custGeom>
            <a:avLst/>
            <a:gdLst/>
            <a:ahLst/>
            <a:cxnLst/>
            <a:rect l="0" t="0" r="r" b="b"/>
            <a:pathLst>
              <a:path w="11325" h="27">
                <a:moveTo>
                  <a:pt x="0" y="0"/>
                </a:moveTo>
                <a:lnTo>
                  <a:pt x="11325" y="0"/>
                </a:lnTo>
                <a:lnTo>
                  <a:pt x="113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Forma libre 548"/>
          <p:cNvSpPr/>
          <p:nvPr/>
        </p:nvSpPr>
        <p:spPr>
          <a:xfrm>
            <a:off x="7419960" y="30193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Forma libre 549"/>
          <p:cNvSpPr/>
          <p:nvPr/>
        </p:nvSpPr>
        <p:spPr>
          <a:xfrm>
            <a:off x="666720" y="3428640"/>
            <a:ext cx="1114560" cy="10080"/>
          </a:xfrm>
          <a:custGeom>
            <a:avLst/>
            <a:gdLst/>
            <a:ahLst/>
            <a:cxnLst/>
            <a:rect l="0" t="0" r="r" b="b"/>
            <a:pathLst>
              <a:path w="3096" h="28">
                <a:moveTo>
                  <a:pt x="0" y="0"/>
                </a:moveTo>
                <a:lnTo>
                  <a:pt x="3096" y="0"/>
                </a:lnTo>
                <a:lnTo>
                  <a:pt x="30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Forma libre 550"/>
          <p:cNvSpPr/>
          <p:nvPr/>
        </p:nvSpPr>
        <p:spPr>
          <a:xfrm>
            <a:off x="1780920" y="3428640"/>
            <a:ext cx="1572120" cy="10080"/>
          </a:xfrm>
          <a:custGeom>
            <a:avLst/>
            <a:gdLst/>
            <a:ahLst/>
            <a:cxnLst/>
            <a:rect l="0" t="0" r="r" b="b"/>
            <a:pathLst>
              <a:path w="4367" h="28">
                <a:moveTo>
                  <a:pt x="0" y="0"/>
                </a:moveTo>
                <a:lnTo>
                  <a:pt x="4367" y="0"/>
                </a:lnTo>
                <a:lnTo>
                  <a:pt x="43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Forma libre 551"/>
          <p:cNvSpPr/>
          <p:nvPr/>
        </p:nvSpPr>
        <p:spPr>
          <a:xfrm>
            <a:off x="3352680" y="3428640"/>
            <a:ext cx="4077000" cy="10080"/>
          </a:xfrm>
          <a:custGeom>
            <a:avLst/>
            <a:gdLst/>
            <a:ahLst/>
            <a:cxnLst/>
            <a:rect l="0" t="0" r="r" b="b"/>
            <a:pathLst>
              <a:path w="11325" h="28">
                <a:moveTo>
                  <a:pt x="0" y="0"/>
                </a:moveTo>
                <a:lnTo>
                  <a:pt x="11325" y="0"/>
                </a:lnTo>
                <a:lnTo>
                  <a:pt x="1132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Forma libre 552"/>
          <p:cNvSpPr/>
          <p:nvPr/>
        </p:nvSpPr>
        <p:spPr>
          <a:xfrm>
            <a:off x="666720" y="34383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Forma libre 553"/>
          <p:cNvSpPr/>
          <p:nvPr/>
        </p:nvSpPr>
        <p:spPr>
          <a:xfrm>
            <a:off x="1771560" y="34383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Forma libre 554"/>
          <p:cNvSpPr/>
          <p:nvPr/>
        </p:nvSpPr>
        <p:spPr>
          <a:xfrm>
            <a:off x="3342960" y="34383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Forma libre 555"/>
          <p:cNvSpPr/>
          <p:nvPr/>
        </p:nvSpPr>
        <p:spPr>
          <a:xfrm>
            <a:off x="7419960" y="34383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Forma libre 556"/>
          <p:cNvSpPr/>
          <p:nvPr/>
        </p:nvSpPr>
        <p:spPr>
          <a:xfrm>
            <a:off x="666720" y="38574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Forma libre 557"/>
          <p:cNvSpPr/>
          <p:nvPr/>
        </p:nvSpPr>
        <p:spPr>
          <a:xfrm>
            <a:off x="666720" y="3848040"/>
            <a:ext cx="1114560" cy="9720"/>
          </a:xfrm>
          <a:custGeom>
            <a:avLst/>
            <a:gdLst/>
            <a:ahLst/>
            <a:cxnLst/>
            <a:rect l="0" t="0" r="r" b="b"/>
            <a:pathLst>
              <a:path w="3096" h="27">
                <a:moveTo>
                  <a:pt x="0" y="0"/>
                </a:moveTo>
                <a:lnTo>
                  <a:pt x="3096" y="0"/>
                </a:lnTo>
                <a:lnTo>
                  <a:pt x="30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Forma libre 558"/>
          <p:cNvSpPr/>
          <p:nvPr/>
        </p:nvSpPr>
        <p:spPr>
          <a:xfrm>
            <a:off x="1771560" y="38574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Forma libre 559"/>
          <p:cNvSpPr/>
          <p:nvPr/>
        </p:nvSpPr>
        <p:spPr>
          <a:xfrm>
            <a:off x="1780920" y="3848040"/>
            <a:ext cx="1572120" cy="9720"/>
          </a:xfrm>
          <a:custGeom>
            <a:avLst/>
            <a:gdLst/>
            <a:ahLst/>
            <a:cxnLst/>
            <a:rect l="0" t="0" r="r" b="b"/>
            <a:pathLst>
              <a:path w="4367" h="27">
                <a:moveTo>
                  <a:pt x="0" y="0"/>
                </a:moveTo>
                <a:lnTo>
                  <a:pt x="4367" y="0"/>
                </a:lnTo>
                <a:lnTo>
                  <a:pt x="43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Forma libre 560"/>
          <p:cNvSpPr/>
          <p:nvPr/>
        </p:nvSpPr>
        <p:spPr>
          <a:xfrm>
            <a:off x="3342960" y="38574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Forma libre 561"/>
          <p:cNvSpPr/>
          <p:nvPr/>
        </p:nvSpPr>
        <p:spPr>
          <a:xfrm>
            <a:off x="3352680" y="3848040"/>
            <a:ext cx="4077000" cy="9720"/>
          </a:xfrm>
          <a:custGeom>
            <a:avLst/>
            <a:gdLst/>
            <a:ahLst/>
            <a:cxnLst/>
            <a:rect l="0" t="0" r="r" b="b"/>
            <a:pathLst>
              <a:path w="11325" h="27">
                <a:moveTo>
                  <a:pt x="0" y="0"/>
                </a:moveTo>
                <a:lnTo>
                  <a:pt x="11325" y="0"/>
                </a:lnTo>
                <a:lnTo>
                  <a:pt x="113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Forma libre 562"/>
          <p:cNvSpPr/>
          <p:nvPr/>
        </p:nvSpPr>
        <p:spPr>
          <a:xfrm>
            <a:off x="7419960" y="38574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Forma libre 563"/>
          <p:cNvSpPr/>
          <p:nvPr/>
        </p:nvSpPr>
        <p:spPr>
          <a:xfrm>
            <a:off x="666720" y="42764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Forma libre 564"/>
          <p:cNvSpPr/>
          <p:nvPr/>
        </p:nvSpPr>
        <p:spPr>
          <a:xfrm>
            <a:off x="666720" y="4267080"/>
            <a:ext cx="1114560" cy="9720"/>
          </a:xfrm>
          <a:custGeom>
            <a:avLst/>
            <a:gdLst/>
            <a:ahLst/>
            <a:cxnLst/>
            <a:rect l="0" t="0" r="r" b="b"/>
            <a:pathLst>
              <a:path w="3096" h="27">
                <a:moveTo>
                  <a:pt x="0" y="0"/>
                </a:moveTo>
                <a:lnTo>
                  <a:pt x="3096" y="0"/>
                </a:lnTo>
                <a:lnTo>
                  <a:pt x="30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Forma libre 565"/>
          <p:cNvSpPr/>
          <p:nvPr/>
        </p:nvSpPr>
        <p:spPr>
          <a:xfrm>
            <a:off x="1771560" y="42764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Forma libre 566"/>
          <p:cNvSpPr/>
          <p:nvPr/>
        </p:nvSpPr>
        <p:spPr>
          <a:xfrm>
            <a:off x="1780920" y="4267080"/>
            <a:ext cx="1572120" cy="9720"/>
          </a:xfrm>
          <a:custGeom>
            <a:avLst/>
            <a:gdLst/>
            <a:ahLst/>
            <a:cxnLst/>
            <a:rect l="0" t="0" r="r" b="b"/>
            <a:pathLst>
              <a:path w="4367" h="27">
                <a:moveTo>
                  <a:pt x="0" y="0"/>
                </a:moveTo>
                <a:lnTo>
                  <a:pt x="4367" y="0"/>
                </a:lnTo>
                <a:lnTo>
                  <a:pt x="43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Forma libre 567"/>
          <p:cNvSpPr/>
          <p:nvPr/>
        </p:nvSpPr>
        <p:spPr>
          <a:xfrm>
            <a:off x="3342960" y="42764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Forma libre 568"/>
          <p:cNvSpPr/>
          <p:nvPr/>
        </p:nvSpPr>
        <p:spPr>
          <a:xfrm>
            <a:off x="3352680" y="4267080"/>
            <a:ext cx="4077000" cy="9720"/>
          </a:xfrm>
          <a:custGeom>
            <a:avLst/>
            <a:gdLst/>
            <a:ahLst/>
            <a:cxnLst/>
            <a:rect l="0" t="0" r="r" b="b"/>
            <a:pathLst>
              <a:path w="11325" h="27">
                <a:moveTo>
                  <a:pt x="0" y="0"/>
                </a:moveTo>
                <a:lnTo>
                  <a:pt x="11325" y="0"/>
                </a:lnTo>
                <a:lnTo>
                  <a:pt x="113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Forma libre 569"/>
          <p:cNvSpPr/>
          <p:nvPr/>
        </p:nvSpPr>
        <p:spPr>
          <a:xfrm>
            <a:off x="7419960" y="42764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Forma libre 570"/>
          <p:cNvSpPr/>
          <p:nvPr/>
        </p:nvSpPr>
        <p:spPr>
          <a:xfrm>
            <a:off x="666720" y="4686120"/>
            <a:ext cx="1114560" cy="9720"/>
          </a:xfrm>
          <a:custGeom>
            <a:avLst/>
            <a:gdLst/>
            <a:ahLst/>
            <a:cxnLst/>
            <a:rect l="0" t="0" r="r" b="b"/>
            <a:pathLst>
              <a:path w="3096" h="27">
                <a:moveTo>
                  <a:pt x="0" y="0"/>
                </a:moveTo>
                <a:lnTo>
                  <a:pt x="3096" y="0"/>
                </a:lnTo>
                <a:lnTo>
                  <a:pt x="30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Forma libre 571"/>
          <p:cNvSpPr/>
          <p:nvPr/>
        </p:nvSpPr>
        <p:spPr>
          <a:xfrm>
            <a:off x="1780920" y="4686120"/>
            <a:ext cx="1572120" cy="9720"/>
          </a:xfrm>
          <a:custGeom>
            <a:avLst/>
            <a:gdLst/>
            <a:ahLst/>
            <a:cxnLst/>
            <a:rect l="0" t="0" r="r" b="b"/>
            <a:pathLst>
              <a:path w="4367" h="27">
                <a:moveTo>
                  <a:pt x="0" y="0"/>
                </a:moveTo>
                <a:lnTo>
                  <a:pt x="4367" y="0"/>
                </a:lnTo>
                <a:lnTo>
                  <a:pt x="43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Forma libre 572"/>
          <p:cNvSpPr/>
          <p:nvPr/>
        </p:nvSpPr>
        <p:spPr>
          <a:xfrm>
            <a:off x="3352680" y="4686120"/>
            <a:ext cx="4077000" cy="9720"/>
          </a:xfrm>
          <a:custGeom>
            <a:avLst/>
            <a:gdLst/>
            <a:ahLst/>
            <a:cxnLst/>
            <a:rect l="0" t="0" r="r" b="b"/>
            <a:pathLst>
              <a:path w="11325" h="27">
                <a:moveTo>
                  <a:pt x="0" y="0"/>
                </a:moveTo>
                <a:lnTo>
                  <a:pt x="11325" y="0"/>
                </a:lnTo>
                <a:lnTo>
                  <a:pt x="113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Forma libre 573"/>
          <p:cNvSpPr/>
          <p:nvPr/>
        </p:nvSpPr>
        <p:spPr>
          <a:xfrm>
            <a:off x="666720" y="484812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Forma libre 574"/>
          <p:cNvSpPr/>
          <p:nvPr/>
        </p:nvSpPr>
        <p:spPr>
          <a:xfrm>
            <a:off x="666720" y="484812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CuadroTexto 575"/>
          <p:cNvSpPr txBox="1"/>
          <p:nvPr/>
        </p:nvSpPr>
        <p:spPr>
          <a:xfrm>
            <a:off x="666720" y="1110960"/>
            <a:ext cx="27190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Precisión, recall, F1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CuadroTexto 576"/>
          <p:cNvSpPr txBox="1"/>
          <p:nvPr/>
        </p:nvSpPr>
        <p:spPr>
          <a:xfrm>
            <a:off x="866880" y="1937160"/>
            <a:ext cx="5023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       predijo SÍ      predijo NO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CuadroTexto 577"/>
          <p:cNvSpPr txBox="1"/>
          <p:nvPr/>
        </p:nvSpPr>
        <p:spPr>
          <a:xfrm>
            <a:off x="866880" y="2203920"/>
            <a:ext cx="78620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realidad SÍ            VP              FN        ← los que se te escapan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CuadroTexto 578"/>
          <p:cNvSpPr txBox="1"/>
          <p:nvPr/>
        </p:nvSpPr>
        <p:spPr>
          <a:xfrm>
            <a:off x="866880" y="2460960"/>
            <a:ext cx="75344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realidad NO            FP              VN        ← las falsas alarmas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CuadroTexto 579"/>
          <p:cNvSpPr txBox="1"/>
          <p:nvPr/>
        </p:nvSpPr>
        <p:spPr>
          <a:xfrm>
            <a:off x="877680" y="3123720"/>
            <a:ext cx="6919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Métrica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CuadroTexto 580"/>
          <p:cNvSpPr txBox="1"/>
          <p:nvPr/>
        </p:nvSpPr>
        <p:spPr>
          <a:xfrm>
            <a:off x="2186280" y="3123720"/>
            <a:ext cx="7480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Fórmula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CuadroTexto 581"/>
          <p:cNvSpPr txBox="1"/>
          <p:nvPr/>
        </p:nvSpPr>
        <p:spPr>
          <a:xfrm>
            <a:off x="4188240" y="3123720"/>
            <a:ext cx="2396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La pregunta que responde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CuadroTexto 582"/>
          <p:cNvSpPr txBox="1"/>
          <p:nvPr/>
        </p:nvSpPr>
        <p:spPr>
          <a:xfrm>
            <a:off x="799920" y="3533400"/>
            <a:ext cx="850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Precisión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CuadroTexto 583"/>
          <p:cNvSpPr txBox="1"/>
          <p:nvPr/>
        </p:nvSpPr>
        <p:spPr>
          <a:xfrm>
            <a:off x="1903680" y="3524040"/>
            <a:ext cx="10645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VP / (VP+FP)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CuadroTexto 584"/>
          <p:cNvSpPr txBox="1"/>
          <p:nvPr/>
        </p:nvSpPr>
        <p:spPr>
          <a:xfrm>
            <a:off x="3473640" y="3524040"/>
            <a:ext cx="29188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 los que marqué, ¿cuántos eran?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CuadroTexto 585"/>
          <p:cNvSpPr txBox="1"/>
          <p:nvPr/>
        </p:nvSpPr>
        <p:spPr>
          <a:xfrm>
            <a:off x="799920" y="3952440"/>
            <a:ext cx="564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Recall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CuadroTexto 586"/>
          <p:cNvSpPr txBox="1"/>
          <p:nvPr/>
        </p:nvSpPr>
        <p:spPr>
          <a:xfrm>
            <a:off x="1903680" y="3943080"/>
            <a:ext cx="10785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VP / (VP+FN)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CuadroTexto 587"/>
          <p:cNvSpPr txBox="1"/>
          <p:nvPr/>
        </p:nvSpPr>
        <p:spPr>
          <a:xfrm>
            <a:off x="3473640" y="3943080"/>
            <a:ext cx="31662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 los que eran, ¿a cuántos encontré?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CuadroTexto 588"/>
          <p:cNvSpPr txBox="1"/>
          <p:nvPr/>
        </p:nvSpPr>
        <p:spPr>
          <a:xfrm>
            <a:off x="799920" y="4371480"/>
            <a:ext cx="2196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F1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CuadroTexto 589"/>
          <p:cNvSpPr txBox="1"/>
          <p:nvPr/>
        </p:nvSpPr>
        <p:spPr>
          <a:xfrm>
            <a:off x="1903680" y="4362120"/>
            <a:ext cx="13132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media armónica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CuadroTexto 590"/>
          <p:cNvSpPr txBox="1"/>
          <p:nvPr/>
        </p:nvSpPr>
        <p:spPr>
          <a:xfrm>
            <a:off x="3473640" y="4362120"/>
            <a:ext cx="38221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solo número, cuando ambas importan igual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CuadroTexto 591"/>
          <p:cNvSpPr txBox="1"/>
          <p:nvPr/>
        </p:nvSpPr>
        <p:spPr>
          <a:xfrm>
            <a:off x="905040" y="5002200"/>
            <a:ext cx="10366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Precisión y recall se compran una a la otra. Cuál pesa más lo decide la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clínica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: no es lo mismo una alerta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CuadroTexto 592"/>
          <p:cNvSpPr txBox="1"/>
          <p:nvPr/>
        </p:nvSpPr>
        <p:spPr>
          <a:xfrm>
            <a:off x="905040" y="5344920"/>
            <a:ext cx="3367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falsa que un cáncer no detectado.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CuadroTexto 59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CuadroTexto 59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CuadroTexto 595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7F78D90-C5A8-C94A-4B1B-40FB82FC0162}"/>
              </a:ext>
            </a:extLst>
          </p:cNvPr>
          <p:cNvSpPr txBox="1"/>
          <p:nvPr/>
        </p:nvSpPr>
        <p:spPr>
          <a:xfrm>
            <a:off x="7461417" y="3405240"/>
            <a:ext cx="31568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dirty="0"/>
              <a:t>Que tan confiables son las predicciones positivas del modelo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0BA28E1-5A20-713B-67A0-6B627F13CDAA}"/>
              </a:ext>
            </a:extLst>
          </p:cNvPr>
          <p:cNvSpPr txBox="1"/>
          <p:nvPr/>
        </p:nvSpPr>
        <p:spPr>
          <a:xfrm>
            <a:off x="7439040" y="3866145"/>
            <a:ext cx="31568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dirty="0"/>
              <a:t>Mide la capacidad del modelo para encontrar todos los casos positivos reales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Forma libre 62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Forma libre 62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Forma libre 62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CuadroTexto 624"/>
          <p:cNvSpPr txBox="1"/>
          <p:nvPr/>
        </p:nvSpPr>
        <p:spPr>
          <a:xfrm>
            <a:off x="3760560" y="3063960"/>
            <a:ext cx="478332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6. Explicar el modelo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CuadroTexto 62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CuadroTexto 62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CuadroTexto 627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Forma libre 62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Forma libre 62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Forma libre 63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Forma libre 631"/>
          <p:cNvSpPr/>
          <p:nvPr/>
        </p:nvSpPr>
        <p:spPr>
          <a:xfrm>
            <a:off x="671400" y="402408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3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1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1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3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Forma libre 632"/>
          <p:cNvSpPr/>
          <p:nvPr/>
        </p:nvSpPr>
        <p:spPr>
          <a:xfrm>
            <a:off x="671400" y="402408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3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1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1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3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Forma libre 633"/>
          <p:cNvSpPr/>
          <p:nvPr/>
        </p:nvSpPr>
        <p:spPr>
          <a:xfrm>
            <a:off x="914040" y="25333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2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CuadroTexto 634"/>
          <p:cNvSpPr txBox="1"/>
          <p:nvPr/>
        </p:nvSpPr>
        <p:spPr>
          <a:xfrm>
            <a:off x="666720" y="1739520"/>
            <a:ext cx="63381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 modelo que no puedes explicar no se usa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Forma libre 635"/>
          <p:cNvSpPr/>
          <p:nvPr/>
        </p:nvSpPr>
        <p:spPr>
          <a:xfrm>
            <a:off x="914040" y="293364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0"/>
                  <a:pt x="182" y="180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0"/>
                </a:cubicBezTo>
                <a:cubicBezTo>
                  <a:pt x="22" y="170"/>
                  <a:pt x="14" y="159"/>
                  <a:pt x="9" y="146"/>
                </a:cubicBezTo>
                <a:cubicBezTo>
                  <a:pt x="3" y="133"/>
                  <a:pt x="0" y="120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CuadroTexto 636"/>
          <p:cNvSpPr txBox="1"/>
          <p:nvPr/>
        </p:nvSpPr>
        <p:spPr>
          <a:xfrm>
            <a:off x="1123920" y="2420640"/>
            <a:ext cx="6721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clínico no va a actuar sobre una recomendación que no entiende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Forma libre 637"/>
          <p:cNvSpPr/>
          <p:nvPr/>
        </p:nvSpPr>
        <p:spPr>
          <a:xfrm>
            <a:off x="914040" y="33336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CuadroTexto 638"/>
          <p:cNvSpPr txBox="1"/>
          <p:nvPr/>
        </p:nvSpPr>
        <p:spPr>
          <a:xfrm>
            <a:off x="1123920" y="2820960"/>
            <a:ext cx="59338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comité de ética y un regulador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van a preguntar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por qué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CuadroTexto 639"/>
          <p:cNvSpPr txBox="1"/>
          <p:nvPr/>
        </p:nvSpPr>
        <p:spPr>
          <a:xfrm>
            <a:off x="1123920" y="3220920"/>
            <a:ext cx="101876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Y tú necesitas explicarlo para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detectar que está mal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muchas fugas se descubren viendo qué variable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CuadroTexto 640"/>
          <p:cNvSpPr txBox="1"/>
          <p:nvPr/>
        </p:nvSpPr>
        <p:spPr>
          <a:xfrm>
            <a:off x="1123920" y="3563640"/>
            <a:ext cx="2291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pesa de forma absurda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CuadroTexto 641"/>
          <p:cNvSpPr txBox="1"/>
          <p:nvPr/>
        </p:nvSpPr>
        <p:spPr>
          <a:xfrm>
            <a:off x="866880" y="4204080"/>
            <a:ext cx="70977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"El modelo predice sepsis con AUC 0.91."       →  nadie lo adopta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CuadroTexto 642"/>
          <p:cNvSpPr txBox="1"/>
          <p:nvPr/>
        </p:nvSpPr>
        <p:spPr>
          <a:xfrm>
            <a:off x="866880" y="4470840"/>
            <a:ext cx="44773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"...y pesa sobre todo lactato, frecuencia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CuadroTexto 643"/>
          <p:cNvSpPr txBox="1"/>
          <p:nvPr/>
        </p:nvSpPr>
        <p:spPr>
          <a:xfrm>
            <a:off x="866880" y="4727880"/>
            <a:ext cx="80805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cardiaca y leucocitos."                        →  ahora se puede discutir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CuadroTexto 64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CuadroTexto 64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CuadroTexto 646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Forma libre 64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Forma libre 64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Forma libre 64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Forma libre 650"/>
          <p:cNvSpPr/>
          <p:nvPr/>
        </p:nvSpPr>
        <p:spPr>
          <a:xfrm>
            <a:off x="666720" y="411444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Forma libre 651"/>
          <p:cNvSpPr/>
          <p:nvPr/>
        </p:nvSpPr>
        <p:spPr>
          <a:xfrm>
            <a:off x="666720" y="411444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Forma libre 652"/>
          <p:cNvSpPr/>
          <p:nvPr/>
        </p:nvSpPr>
        <p:spPr>
          <a:xfrm>
            <a:off x="914040" y="26287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1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1"/>
                </a:cubicBezTo>
                <a:cubicBezTo>
                  <a:pt x="22" y="171"/>
                  <a:pt x="14" y="159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CuadroTexto 653"/>
          <p:cNvSpPr txBox="1"/>
          <p:nvPr/>
        </p:nvSpPr>
        <p:spPr>
          <a:xfrm>
            <a:off x="666720" y="1844280"/>
            <a:ext cx="49262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SHAP: cuánto aportó cada variable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CuadroTexto 654"/>
          <p:cNvSpPr txBox="1"/>
          <p:nvPr/>
        </p:nvSpPr>
        <p:spPr>
          <a:xfrm>
            <a:off x="1123920" y="2516040"/>
            <a:ext cx="101937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Reparte la predicción de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 paciente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entre sus variables: cuánto empujó cada una hacia arriba o hacia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Forma libre 655"/>
          <p:cNvSpPr/>
          <p:nvPr/>
        </p:nvSpPr>
        <p:spPr>
          <a:xfrm>
            <a:off x="914040" y="33717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CuadroTexto 656"/>
          <p:cNvSpPr txBox="1"/>
          <p:nvPr/>
        </p:nvSpPr>
        <p:spPr>
          <a:xfrm>
            <a:off x="1123920" y="2859120"/>
            <a:ext cx="538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abajo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Forma libre 657"/>
          <p:cNvSpPr/>
          <p:nvPr/>
        </p:nvSpPr>
        <p:spPr>
          <a:xfrm>
            <a:off x="914040" y="37717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1"/>
                  <a:pt x="14" y="159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CuadroTexto 658"/>
          <p:cNvSpPr txBox="1"/>
          <p:nvPr/>
        </p:nvSpPr>
        <p:spPr>
          <a:xfrm>
            <a:off x="1123920" y="3259080"/>
            <a:ext cx="59328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Funciona con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cualquier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modelo, incluidos los de caja negra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CuadroTexto 659"/>
          <p:cNvSpPr txBox="1"/>
          <p:nvPr/>
        </p:nvSpPr>
        <p:spPr>
          <a:xfrm>
            <a:off x="1123920" y="3659040"/>
            <a:ext cx="84816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Sirve en dos niveles: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global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(qué importa en promedio) y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local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(por qué este paciente)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CuadroTexto 660"/>
          <p:cNvSpPr txBox="1"/>
          <p:nvPr/>
        </p:nvSpPr>
        <p:spPr>
          <a:xfrm>
            <a:off x="905040" y="4268520"/>
            <a:ext cx="9145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 que SHAP no es: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una explicación causal. Dice qué usó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modelo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, no cómo funciona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CuadroTexto 661"/>
          <p:cNvSpPr txBox="1"/>
          <p:nvPr/>
        </p:nvSpPr>
        <p:spPr>
          <a:xfrm>
            <a:off x="905040" y="4611600"/>
            <a:ext cx="41331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enfermedad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. La sesión 25 entra a fondo.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CuadroTexto 66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CuadroTexto 66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CuadroTexto 664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 gentle introduction to SHAP values in R | R-bloggers">
            <a:extLst>
              <a:ext uri="{FF2B5EF4-FFF2-40B4-BE49-F238E27FC236}">
                <a16:creationId xmlns:a16="http://schemas.microsoft.com/office/drawing/2014/main" id="{BC39CE08-F80E-B790-425F-F779C7CD2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563" y="268122"/>
            <a:ext cx="7134726" cy="6321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41497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Forma libre 66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Forma libre 66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Forma libre 66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CuadroTexto 668"/>
          <p:cNvSpPr txBox="1"/>
          <p:nvPr/>
        </p:nvSpPr>
        <p:spPr>
          <a:xfrm>
            <a:off x="666720" y="2034720"/>
            <a:ext cx="14443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Para llevar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CuadroTexto 669"/>
          <p:cNvSpPr txBox="1"/>
          <p:nvPr/>
        </p:nvSpPr>
        <p:spPr>
          <a:xfrm>
            <a:off x="869760" y="2706480"/>
            <a:ext cx="10297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modelo es la parte corta.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Los meses se van en deﬁnir variables, ventanas y qué hacer con lo que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CuadroTexto 670"/>
          <p:cNvSpPr txBox="1"/>
          <p:nvPr/>
        </p:nvSpPr>
        <p:spPr>
          <a:xfrm>
            <a:off x="1123920" y="3049560"/>
            <a:ext cx="470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falta.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Forma libre 671"/>
          <p:cNvSpPr/>
          <p:nvPr/>
        </p:nvSpPr>
        <p:spPr>
          <a:xfrm>
            <a:off x="4524120" y="3562200"/>
            <a:ext cx="1867320" cy="267120"/>
          </a:xfrm>
          <a:custGeom>
            <a:avLst/>
            <a:gdLst/>
            <a:ahLst/>
            <a:cxnLst/>
            <a:rect l="0" t="0" r="r" b="b"/>
            <a:pathLst>
              <a:path w="5187" h="742">
                <a:moveTo>
                  <a:pt x="0" y="636"/>
                </a:moveTo>
                <a:lnTo>
                  <a:pt x="0" y="107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5081" y="0"/>
                </a:lnTo>
                <a:cubicBezTo>
                  <a:pt x="5095" y="0"/>
                  <a:pt x="5109" y="3"/>
                  <a:pt x="5122" y="8"/>
                </a:cubicBezTo>
                <a:cubicBezTo>
                  <a:pt x="5135" y="13"/>
                  <a:pt x="5146" y="21"/>
                  <a:pt x="5156" y="31"/>
                </a:cubicBezTo>
                <a:cubicBezTo>
                  <a:pt x="5166" y="41"/>
                  <a:pt x="5174" y="52"/>
                  <a:pt x="5179" y="65"/>
                </a:cubicBezTo>
                <a:cubicBezTo>
                  <a:pt x="5184" y="78"/>
                  <a:pt x="5187" y="92"/>
                  <a:pt x="5187" y="107"/>
                </a:cubicBezTo>
                <a:lnTo>
                  <a:pt x="5187" y="636"/>
                </a:lnTo>
                <a:cubicBezTo>
                  <a:pt x="5187" y="650"/>
                  <a:pt x="5184" y="663"/>
                  <a:pt x="5179" y="676"/>
                </a:cubicBezTo>
                <a:cubicBezTo>
                  <a:pt x="5174" y="689"/>
                  <a:pt x="5166" y="701"/>
                  <a:pt x="5156" y="711"/>
                </a:cubicBezTo>
                <a:cubicBezTo>
                  <a:pt x="5146" y="721"/>
                  <a:pt x="5135" y="728"/>
                  <a:pt x="5122" y="734"/>
                </a:cubicBezTo>
                <a:cubicBezTo>
                  <a:pt x="5109" y="739"/>
                  <a:pt x="5095" y="742"/>
                  <a:pt x="5081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8"/>
                  <a:pt x="41" y="721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CuadroTexto 672"/>
          <p:cNvSpPr txBox="1"/>
          <p:nvPr/>
        </p:nvSpPr>
        <p:spPr>
          <a:xfrm>
            <a:off x="869760" y="3544920"/>
            <a:ext cx="36522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Empieza simple y mide bien.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El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CuadroTexto 673"/>
          <p:cNvSpPr txBox="1"/>
          <p:nvPr/>
        </p:nvSpPr>
        <p:spPr>
          <a:xfrm>
            <a:off x="4578840" y="3582000"/>
            <a:ext cx="17622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DummyClassifier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CuadroTexto 674"/>
          <p:cNvSpPr txBox="1"/>
          <p:nvPr/>
        </p:nvSpPr>
        <p:spPr>
          <a:xfrm>
            <a:off x="6390720" y="3544920"/>
            <a:ext cx="4430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te dice dónde está el piso; AUPRC te dice la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CuadroTexto 675"/>
          <p:cNvSpPr txBox="1"/>
          <p:nvPr/>
        </p:nvSpPr>
        <p:spPr>
          <a:xfrm>
            <a:off x="1123920" y="3887640"/>
            <a:ext cx="3579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verdad cuando el desenlace es raro.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CuadroTexto 676"/>
          <p:cNvSpPr txBox="1"/>
          <p:nvPr/>
        </p:nvSpPr>
        <p:spPr>
          <a:xfrm>
            <a:off x="869760" y="4383000"/>
            <a:ext cx="105771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Si no lo puedes explicar, no se usa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y explicarlo es, además, como vas a descubrir que estaba mal.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CuadroTexto 67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CuadroTexto 67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CuadroTexto 679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Forma libre 68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Forma libre 68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Forma libre 68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CuadroTexto 683"/>
          <p:cNvSpPr txBox="1"/>
          <p:nvPr/>
        </p:nvSpPr>
        <p:spPr>
          <a:xfrm>
            <a:off x="666720" y="1834920"/>
            <a:ext cx="1600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CuadroTexto 684"/>
          <p:cNvSpPr txBox="1"/>
          <p:nvPr/>
        </p:nvSpPr>
        <p:spPr>
          <a:xfrm>
            <a:off x="666720" y="2545920"/>
            <a:ext cx="35359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02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Primer modelo predictivo clínico</a:t>
            </a:r>
            <a:endParaRPr lang="es-ES" sz="20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Forma libre 685"/>
          <p:cNvSpPr/>
          <p:nvPr/>
        </p:nvSpPr>
        <p:spPr>
          <a:xfrm>
            <a:off x="9181800" y="3076560"/>
            <a:ext cx="1048320" cy="266760"/>
          </a:xfrm>
          <a:custGeom>
            <a:avLst/>
            <a:gdLst/>
            <a:ahLst/>
            <a:cxnLst/>
            <a:rect l="0" t="0" r="r" b="b"/>
            <a:pathLst>
              <a:path w="2912" h="741">
                <a:moveTo>
                  <a:pt x="0" y="635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2806" y="0"/>
                </a:lnTo>
                <a:cubicBezTo>
                  <a:pt x="2820" y="0"/>
                  <a:pt x="2833" y="2"/>
                  <a:pt x="2846" y="8"/>
                </a:cubicBezTo>
                <a:cubicBezTo>
                  <a:pt x="2859" y="13"/>
                  <a:pt x="2871" y="21"/>
                  <a:pt x="2881" y="31"/>
                </a:cubicBezTo>
                <a:cubicBezTo>
                  <a:pt x="2891" y="40"/>
                  <a:pt x="2898" y="52"/>
                  <a:pt x="2904" y="65"/>
                </a:cubicBezTo>
                <a:cubicBezTo>
                  <a:pt x="2909" y="78"/>
                  <a:pt x="2912" y="91"/>
                  <a:pt x="2912" y="105"/>
                </a:cubicBezTo>
                <a:lnTo>
                  <a:pt x="2912" y="635"/>
                </a:lnTo>
                <a:cubicBezTo>
                  <a:pt x="2912" y="649"/>
                  <a:pt x="2909" y="662"/>
                  <a:pt x="2904" y="675"/>
                </a:cubicBezTo>
                <a:cubicBezTo>
                  <a:pt x="2898" y="688"/>
                  <a:pt x="2891" y="699"/>
                  <a:pt x="2881" y="710"/>
                </a:cubicBezTo>
                <a:cubicBezTo>
                  <a:pt x="2871" y="720"/>
                  <a:pt x="2859" y="728"/>
                  <a:pt x="2846" y="733"/>
                </a:cubicBezTo>
                <a:cubicBezTo>
                  <a:pt x="2833" y="739"/>
                  <a:pt x="2820" y="741"/>
                  <a:pt x="2806" y="741"/>
                </a:cubicBezTo>
                <a:lnTo>
                  <a:pt x="106" y="741"/>
                </a:lnTo>
                <a:cubicBezTo>
                  <a:pt x="92" y="741"/>
                  <a:pt x="79" y="739"/>
                  <a:pt x="66" y="733"/>
                </a:cubicBezTo>
                <a:cubicBezTo>
                  <a:pt x="53" y="728"/>
                  <a:pt x="41" y="720"/>
                  <a:pt x="31" y="710"/>
                </a:cubicBezTo>
                <a:cubicBezTo>
                  <a:pt x="21" y="699"/>
                  <a:pt x="14" y="688"/>
                  <a:pt x="8" y="675"/>
                </a:cubicBezTo>
                <a:cubicBezTo>
                  <a:pt x="3" y="662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CuadroTexto 686"/>
          <p:cNvSpPr txBox="1"/>
          <p:nvPr/>
        </p:nvSpPr>
        <p:spPr>
          <a:xfrm>
            <a:off x="666720" y="3058920"/>
            <a:ext cx="8515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Construir la matriz de features desde tu cohorte con sus ventanas explícitas, armar un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CuadroTexto 687"/>
          <p:cNvSpPr txBox="1"/>
          <p:nvPr/>
        </p:nvSpPr>
        <p:spPr>
          <a:xfrm>
            <a:off x="9234720" y="3096360"/>
            <a:ext cx="940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Pipeline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CuadroTexto 688"/>
          <p:cNvSpPr txBox="1"/>
          <p:nvPr/>
        </p:nvSpPr>
        <p:spPr>
          <a:xfrm>
            <a:off x="10227960" y="3058920"/>
            <a:ext cx="1050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completo,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Forma libre 689"/>
          <p:cNvSpPr/>
          <p:nvPr/>
        </p:nvSpPr>
        <p:spPr>
          <a:xfrm>
            <a:off x="5848200" y="3419280"/>
            <a:ext cx="1286280" cy="267120"/>
          </a:xfrm>
          <a:custGeom>
            <a:avLst/>
            <a:gdLst/>
            <a:ahLst/>
            <a:cxnLst/>
            <a:rect l="0" t="0" r="r" b="b"/>
            <a:pathLst>
              <a:path w="3573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3467" y="0"/>
                </a:lnTo>
                <a:cubicBezTo>
                  <a:pt x="3481" y="0"/>
                  <a:pt x="3494" y="3"/>
                  <a:pt x="3507" y="8"/>
                </a:cubicBezTo>
                <a:cubicBezTo>
                  <a:pt x="3520" y="13"/>
                  <a:pt x="3532" y="21"/>
                  <a:pt x="3542" y="31"/>
                </a:cubicBezTo>
                <a:cubicBezTo>
                  <a:pt x="3552" y="41"/>
                  <a:pt x="3559" y="52"/>
                  <a:pt x="3565" y="65"/>
                </a:cubicBezTo>
                <a:cubicBezTo>
                  <a:pt x="3570" y="78"/>
                  <a:pt x="3573" y="92"/>
                  <a:pt x="3573" y="106"/>
                </a:cubicBezTo>
                <a:lnTo>
                  <a:pt x="3573" y="636"/>
                </a:lnTo>
                <a:cubicBezTo>
                  <a:pt x="3573" y="650"/>
                  <a:pt x="3570" y="664"/>
                  <a:pt x="3565" y="677"/>
                </a:cubicBezTo>
                <a:cubicBezTo>
                  <a:pt x="3559" y="690"/>
                  <a:pt x="3552" y="701"/>
                  <a:pt x="3542" y="711"/>
                </a:cubicBezTo>
                <a:cubicBezTo>
                  <a:pt x="3532" y="721"/>
                  <a:pt x="3520" y="728"/>
                  <a:pt x="3507" y="734"/>
                </a:cubicBezTo>
                <a:cubicBezTo>
                  <a:pt x="3494" y="739"/>
                  <a:pt x="3481" y="742"/>
                  <a:pt x="3467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CuadroTexto 690"/>
          <p:cNvSpPr txBox="1"/>
          <p:nvPr/>
        </p:nvSpPr>
        <p:spPr>
          <a:xfrm>
            <a:off x="666720" y="3402000"/>
            <a:ext cx="5179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subir la escalera desde el baseline tonto, validar con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CuadroTexto 691"/>
          <p:cNvSpPr txBox="1"/>
          <p:nvPr/>
        </p:nvSpPr>
        <p:spPr>
          <a:xfrm>
            <a:off x="5902920" y="3439080"/>
            <a:ext cx="1175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GroupKFold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CuadroTexto 692"/>
          <p:cNvSpPr txBox="1"/>
          <p:nvPr/>
        </p:nvSpPr>
        <p:spPr>
          <a:xfrm>
            <a:off x="7130160" y="3402000"/>
            <a:ext cx="4032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reportar AUROC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y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AUPRC, y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provocar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CuadroTexto 693"/>
          <p:cNvSpPr txBox="1"/>
          <p:nvPr/>
        </p:nvSpPr>
        <p:spPr>
          <a:xfrm>
            <a:off x="666720" y="3744720"/>
            <a:ext cx="5830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una fuga a propósito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para medir cuánto inﬂa el resultado.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Forma libre 694"/>
          <p:cNvSpPr/>
          <p:nvPr/>
        </p:nvSpPr>
        <p:spPr>
          <a:xfrm>
            <a:off x="1971360" y="4257360"/>
            <a:ext cx="2105640" cy="267120"/>
          </a:xfrm>
          <a:custGeom>
            <a:avLst/>
            <a:gdLst/>
            <a:ahLst/>
            <a:cxnLst/>
            <a:rect l="0" t="0" r="r" b="b"/>
            <a:pathLst>
              <a:path w="5849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5743" y="0"/>
                </a:lnTo>
                <a:cubicBezTo>
                  <a:pt x="5757" y="0"/>
                  <a:pt x="5770" y="3"/>
                  <a:pt x="5783" y="8"/>
                </a:cubicBezTo>
                <a:cubicBezTo>
                  <a:pt x="5796" y="14"/>
                  <a:pt x="5808" y="21"/>
                  <a:pt x="5818" y="31"/>
                </a:cubicBezTo>
                <a:cubicBezTo>
                  <a:pt x="5828" y="41"/>
                  <a:pt x="5835" y="53"/>
                  <a:pt x="5841" y="66"/>
                </a:cubicBezTo>
                <a:cubicBezTo>
                  <a:pt x="5846" y="79"/>
                  <a:pt x="5849" y="92"/>
                  <a:pt x="5849" y="106"/>
                </a:cubicBezTo>
                <a:lnTo>
                  <a:pt x="5849" y="636"/>
                </a:lnTo>
                <a:cubicBezTo>
                  <a:pt x="5849" y="650"/>
                  <a:pt x="5846" y="664"/>
                  <a:pt x="5841" y="677"/>
                </a:cubicBezTo>
                <a:cubicBezTo>
                  <a:pt x="5835" y="690"/>
                  <a:pt x="5828" y="701"/>
                  <a:pt x="5818" y="711"/>
                </a:cubicBezTo>
                <a:cubicBezTo>
                  <a:pt x="5808" y="721"/>
                  <a:pt x="5796" y="729"/>
                  <a:pt x="5783" y="734"/>
                </a:cubicBezTo>
                <a:cubicBezTo>
                  <a:pt x="5770" y="740"/>
                  <a:pt x="5757" y="742"/>
                  <a:pt x="5743" y="742"/>
                </a:cubicBezTo>
                <a:lnTo>
                  <a:pt x="106" y="742"/>
                </a:lnTo>
                <a:cubicBezTo>
                  <a:pt x="92" y="742"/>
                  <a:pt x="79" y="740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CuadroTexto 695"/>
          <p:cNvSpPr txBox="1"/>
          <p:nvPr/>
        </p:nvSpPr>
        <p:spPr>
          <a:xfrm>
            <a:off x="666720" y="4240080"/>
            <a:ext cx="1312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Entregable: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CuadroTexto 696"/>
          <p:cNvSpPr txBox="1"/>
          <p:nvPr/>
        </p:nvSpPr>
        <p:spPr>
          <a:xfrm>
            <a:off x="2032200" y="4277520"/>
            <a:ext cx="19972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modelo_base.ipynb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Forma libre 697"/>
          <p:cNvSpPr/>
          <p:nvPr/>
        </p:nvSpPr>
        <p:spPr>
          <a:xfrm>
            <a:off x="4343040" y="4257360"/>
            <a:ext cx="1400760" cy="267120"/>
          </a:xfrm>
          <a:custGeom>
            <a:avLst/>
            <a:gdLst/>
            <a:ahLst/>
            <a:cxnLst/>
            <a:rect l="0" t="0" r="r" b="b"/>
            <a:pathLst>
              <a:path w="3891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3785" y="0"/>
                </a:lnTo>
                <a:cubicBezTo>
                  <a:pt x="3799" y="0"/>
                  <a:pt x="3813" y="3"/>
                  <a:pt x="3826" y="8"/>
                </a:cubicBezTo>
                <a:cubicBezTo>
                  <a:pt x="3839" y="14"/>
                  <a:pt x="3850" y="21"/>
                  <a:pt x="3860" y="31"/>
                </a:cubicBezTo>
                <a:cubicBezTo>
                  <a:pt x="3870" y="41"/>
                  <a:pt x="3877" y="53"/>
                  <a:pt x="3883" y="66"/>
                </a:cubicBezTo>
                <a:cubicBezTo>
                  <a:pt x="3888" y="79"/>
                  <a:pt x="3891" y="92"/>
                  <a:pt x="3891" y="106"/>
                </a:cubicBezTo>
                <a:lnTo>
                  <a:pt x="3891" y="636"/>
                </a:lnTo>
                <a:cubicBezTo>
                  <a:pt x="3891" y="650"/>
                  <a:pt x="3888" y="664"/>
                  <a:pt x="3883" y="677"/>
                </a:cubicBezTo>
                <a:cubicBezTo>
                  <a:pt x="3877" y="690"/>
                  <a:pt x="3870" y="701"/>
                  <a:pt x="3860" y="711"/>
                </a:cubicBezTo>
                <a:cubicBezTo>
                  <a:pt x="3850" y="721"/>
                  <a:pt x="3839" y="729"/>
                  <a:pt x="3826" y="734"/>
                </a:cubicBezTo>
                <a:cubicBezTo>
                  <a:pt x="3813" y="740"/>
                  <a:pt x="3799" y="742"/>
                  <a:pt x="3785" y="742"/>
                </a:cubicBezTo>
                <a:lnTo>
                  <a:pt x="106" y="742"/>
                </a:lnTo>
                <a:cubicBezTo>
                  <a:pt x="92" y="742"/>
                  <a:pt x="79" y="740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2" y="701"/>
                  <a:pt x="14" y="690"/>
                  <a:pt x="9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CuadroTexto 698"/>
          <p:cNvSpPr txBox="1"/>
          <p:nvPr/>
        </p:nvSpPr>
        <p:spPr>
          <a:xfrm>
            <a:off x="4078080" y="4240080"/>
            <a:ext cx="264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+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CuadroTexto 699"/>
          <p:cNvSpPr txBox="1"/>
          <p:nvPr/>
        </p:nvSpPr>
        <p:spPr>
          <a:xfrm>
            <a:off x="4399560" y="4277520"/>
            <a:ext cx="1292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features.md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Forma libre 700"/>
          <p:cNvSpPr/>
          <p:nvPr/>
        </p:nvSpPr>
        <p:spPr>
          <a:xfrm>
            <a:off x="666720" y="4752720"/>
            <a:ext cx="4915080" cy="267120"/>
          </a:xfrm>
          <a:custGeom>
            <a:avLst/>
            <a:gdLst/>
            <a:ahLst/>
            <a:cxnLst/>
            <a:rect l="0" t="0" r="r" b="b"/>
            <a:pathLst>
              <a:path w="13653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3547" y="0"/>
                </a:lnTo>
                <a:cubicBezTo>
                  <a:pt x="13561" y="0"/>
                  <a:pt x="13575" y="3"/>
                  <a:pt x="13588" y="8"/>
                </a:cubicBezTo>
                <a:cubicBezTo>
                  <a:pt x="13601" y="14"/>
                  <a:pt x="13612" y="21"/>
                  <a:pt x="13622" y="31"/>
                </a:cubicBezTo>
                <a:cubicBezTo>
                  <a:pt x="13632" y="41"/>
                  <a:pt x="13640" y="53"/>
                  <a:pt x="13645" y="66"/>
                </a:cubicBezTo>
                <a:cubicBezTo>
                  <a:pt x="13650" y="79"/>
                  <a:pt x="13653" y="92"/>
                  <a:pt x="13653" y="106"/>
                </a:cubicBezTo>
                <a:lnTo>
                  <a:pt x="13653" y="636"/>
                </a:lnTo>
                <a:cubicBezTo>
                  <a:pt x="13653" y="650"/>
                  <a:pt x="13650" y="664"/>
                  <a:pt x="13645" y="677"/>
                </a:cubicBezTo>
                <a:cubicBezTo>
                  <a:pt x="13640" y="690"/>
                  <a:pt x="13632" y="701"/>
                  <a:pt x="13622" y="711"/>
                </a:cubicBezTo>
                <a:cubicBezTo>
                  <a:pt x="13612" y="721"/>
                  <a:pt x="13601" y="729"/>
                  <a:pt x="13588" y="734"/>
                </a:cubicBezTo>
                <a:cubicBezTo>
                  <a:pt x="13575" y="739"/>
                  <a:pt x="13561" y="742"/>
                  <a:pt x="13547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CuadroTexto 701"/>
          <p:cNvSpPr txBox="1"/>
          <p:nvPr/>
        </p:nvSpPr>
        <p:spPr>
          <a:xfrm>
            <a:off x="5743440" y="4240080"/>
            <a:ext cx="4320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con la deﬁnición temporal de cada variable.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CuadroTexto 702"/>
          <p:cNvSpPr txBox="1"/>
          <p:nvPr/>
        </p:nvSpPr>
        <p:spPr>
          <a:xfrm>
            <a:off x="723960" y="4772520"/>
            <a:ext cx="48157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labs/s22-ml-fundamentos-sklearn/README.md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CuadroTexto 70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CuadroTexto 70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CuadroTexto 705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Forma libre 70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Forma libre 70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Forma libre 70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CuadroTexto 709"/>
          <p:cNvSpPr txBox="1"/>
          <p:nvPr/>
        </p:nvSpPr>
        <p:spPr>
          <a:xfrm>
            <a:off x="4672800" y="2482920"/>
            <a:ext cx="29152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¿Preguntas?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CuadroTexto 71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CuadroTexto 71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CuadroTexto 717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Words>1718</Words>
  <Application>Microsoft Macintosh PowerPoint</Application>
  <PresentationFormat>Panorámica</PresentationFormat>
  <Paragraphs>227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1" baseType="lpstr">
      <vt:lpstr>Arial</vt:lpstr>
      <vt:lpstr>HelveticaNeue</vt:lpstr>
      <vt:lpstr>Menlo</vt:lpstr>
      <vt:lpstr>Symbol</vt:lpstr>
      <vt:lpstr>Times New Roman</vt:lpstr>
      <vt:lpstr>Wingdings</vt:lpstr>
      <vt:lpstr>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dc:description/>
  <cp:lastModifiedBy>Antonio Daniel Martinez Gutierrez</cp:lastModifiedBy>
  <cp:revision>14</cp:revision>
  <dcterms:modified xsi:type="dcterms:W3CDTF">2026-10-16T14:57:39Z</dcterms:modified>
  <dc:language>es-ES</dc:language>
</cp:coreProperties>
</file>